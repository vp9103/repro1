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4"/>
    <p:sldMasterId id="2147483686" r:id="rId5"/>
  </p:sldMasterIdLst>
  <p:notesMasterIdLst>
    <p:notesMasterId r:id="rId18"/>
  </p:notesMasterIdLst>
  <p:sldIdLst>
    <p:sldId id="283" r:id="rId6"/>
    <p:sldId id="302" r:id="rId7"/>
    <p:sldId id="266" r:id="rId8"/>
    <p:sldId id="305" r:id="rId9"/>
    <p:sldId id="310" r:id="rId10"/>
    <p:sldId id="314" r:id="rId11"/>
    <p:sldId id="312" r:id="rId12"/>
    <p:sldId id="311" r:id="rId13"/>
    <p:sldId id="315" r:id="rId14"/>
    <p:sldId id="316" r:id="rId15"/>
    <p:sldId id="317" r:id="rId16"/>
    <p:sldId id="319" r:id="rId17"/>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B11136"/>
    <a:srgbClr val="1328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35" autoAdjust="0"/>
    <p:restoredTop sz="79374" autoAdjust="0"/>
  </p:normalViewPr>
  <p:slideViewPr>
    <p:cSldViewPr snapToGrid="0" snapToObjects="1">
      <p:cViewPr varScale="1">
        <p:scale>
          <a:sx n="75" d="100"/>
          <a:sy n="75" d="100"/>
        </p:scale>
        <p:origin x="1290" y="54"/>
      </p:cViewPr>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7FA9FE3E-3DAE-E846-B427-0C6FF2ADC3FA}" type="datetimeFigureOut">
              <a:rPr lang="en-US" smtClean="0"/>
              <a:t>9/22/2026</a:t>
            </a:fld>
            <a:endParaRPr lang="en-US" dirty="0"/>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36CDFED2-1420-0840-A62B-489AF258C319}" type="slidenum">
              <a:rPr lang="en-US" smtClean="0"/>
              <a:t>‹#›</a:t>
            </a:fld>
            <a:endParaRPr lang="en-US" dirty="0"/>
          </a:p>
        </p:txBody>
      </p:sp>
    </p:spTree>
    <p:extLst>
      <p:ext uri="{BB962C8B-B14F-4D97-AF65-F5344CB8AC3E}">
        <p14:creationId xmlns:p14="http://schemas.microsoft.com/office/powerpoint/2010/main" val="1132208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6CDFED2-1420-0840-A62B-489AF258C319}" type="slidenum">
              <a:rPr lang="en-US" smtClean="0"/>
              <a:t>1</a:t>
            </a:fld>
            <a:endParaRPr lang="en-US" dirty="0"/>
          </a:p>
        </p:txBody>
      </p:sp>
    </p:spTree>
    <p:extLst>
      <p:ext uri="{BB962C8B-B14F-4D97-AF65-F5344CB8AC3E}">
        <p14:creationId xmlns:p14="http://schemas.microsoft.com/office/powerpoint/2010/main" val="3532447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6CDFED2-1420-0840-A62B-489AF258C319}" type="slidenum">
              <a:rPr lang="en-US" smtClean="0"/>
              <a:t>2</a:t>
            </a:fld>
            <a:endParaRPr lang="en-US" dirty="0"/>
          </a:p>
        </p:txBody>
      </p:sp>
    </p:spTree>
    <p:extLst>
      <p:ext uri="{BB962C8B-B14F-4D97-AF65-F5344CB8AC3E}">
        <p14:creationId xmlns:p14="http://schemas.microsoft.com/office/powerpoint/2010/main" val="3035522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she pregnant? </a:t>
            </a:r>
          </a:p>
          <a:p>
            <a:pPr defTabSz="931774">
              <a:defRPr/>
            </a:pPr>
            <a:r>
              <a:rPr lang="en-US" dirty="0"/>
              <a:t>How pregnant is she? What assumptions are being made if pregnancy dating relies only on the </a:t>
            </a:r>
            <a:r>
              <a:rPr lang="en-US" dirty="0" err="1"/>
              <a:t>LMP</a:t>
            </a:r>
            <a:r>
              <a:rPr lang="en-US" dirty="0"/>
              <a:t>?</a:t>
            </a:r>
          </a:p>
          <a:p>
            <a:r>
              <a:rPr lang="en-US" dirty="0"/>
              <a:t>Why did you get an ultrasound?  She’s not having any </a:t>
            </a:r>
            <a:r>
              <a:rPr lang="en-US" dirty="0" err="1"/>
              <a:t>sx</a:t>
            </a:r>
            <a:r>
              <a:rPr lang="en-US" dirty="0"/>
              <a:t> that would signal this as an </a:t>
            </a:r>
            <a:r>
              <a:rPr lang="en-US" dirty="0" err="1"/>
              <a:t>abnl</a:t>
            </a:r>
            <a:r>
              <a:rPr lang="en-US" dirty="0"/>
              <a:t> pregnancy.  Is her B-</a:t>
            </a:r>
            <a:r>
              <a:rPr lang="en-US" dirty="0" err="1"/>
              <a:t>hcg</a:t>
            </a:r>
            <a:r>
              <a:rPr lang="en-US" dirty="0"/>
              <a:t> level what you would expect? </a:t>
            </a:r>
          </a:p>
          <a:p>
            <a:pPr lvl="0" fontAlgn="t"/>
            <a:r>
              <a:rPr lang="en-US" dirty="0"/>
              <a:t>What additional information would be most useful?</a:t>
            </a:r>
          </a:p>
          <a:p>
            <a:pPr lvl="0" fontAlgn="t"/>
            <a:r>
              <a:rPr lang="en-US" dirty="0"/>
              <a:t>What is the most appropriate next step?</a:t>
            </a:r>
          </a:p>
          <a:p>
            <a:endParaRPr lang="en-US" dirty="0"/>
          </a:p>
        </p:txBody>
      </p:sp>
      <p:sp>
        <p:nvSpPr>
          <p:cNvPr id="4" name="Slide Number Placeholder 3"/>
          <p:cNvSpPr>
            <a:spLocks noGrp="1"/>
          </p:cNvSpPr>
          <p:nvPr>
            <p:ph type="sldNum" sz="quarter" idx="5"/>
          </p:nvPr>
        </p:nvSpPr>
        <p:spPr/>
        <p:txBody>
          <a:bodyPr/>
          <a:lstStyle/>
          <a:p>
            <a:fld id="{36CDFED2-1420-0840-A62B-489AF258C319}" type="slidenum">
              <a:rPr lang="en-US" smtClean="0"/>
              <a:t>3</a:t>
            </a:fld>
            <a:endParaRPr lang="en-US" dirty="0"/>
          </a:p>
        </p:txBody>
      </p:sp>
    </p:spTree>
    <p:extLst>
      <p:ext uri="{BB962C8B-B14F-4D97-AF65-F5344CB8AC3E}">
        <p14:creationId xmlns:p14="http://schemas.microsoft.com/office/powerpoint/2010/main" val="2172505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Yes</a:t>
            </a:r>
          </a:p>
          <a:p>
            <a:pPr defTabSz="931774">
              <a:defRPr/>
            </a:pPr>
            <a:r>
              <a:rPr lang="en-US" dirty="0"/>
              <a:t>Q2: 5ish wks. Is her B-</a:t>
            </a:r>
            <a:r>
              <a:rPr lang="en-US" dirty="0" err="1"/>
              <a:t>hcg</a:t>
            </a:r>
            <a:r>
              <a:rPr lang="en-US" dirty="0"/>
              <a:t> level what you would expect?  What assumptions are being made if pregnancy dating relies only on the </a:t>
            </a:r>
            <a:r>
              <a:rPr lang="en-US" dirty="0" err="1"/>
              <a:t>LMP</a:t>
            </a:r>
            <a:r>
              <a:rPr lang="en-US" dirty="0"/>
              <a:t>? (that this is an </a:t>
            </a:r>
            <a:r>
              <a:rPr lang="en-US" dirty="0" err="1"/>
              <a:t>abnl</a:t>
            </a:r>
            <a:r>
              <a:rPr lang="en-US" dirty="0"/>
              <a:t> pregnancy, etc.) </a:t>
            </a:r>
          </a:p>
          <a:p>
            <a:r>
              <a:rPr lang="en-US" dirty="0"/>
              <a:t>Q3: Why did you get an ultrasound?  She’s not having any </a:t>
            </a:r>
            <a:r>
              <a:rPr lang="en-US" dirty="0" err="1"/>
              <a:t>sx</a:t>
            </a:r>
            <a:r>
              <a:rPr lang="en-US" dirty="0"/>
              <a:t> that would signal this as an </a:t>
            </a:r>
            <a:r>
              <a:rPr lang="en-US" dirty="0" err="1"/>
              <a:t>abnl</a:t>
            </a:r>
            <a:r>
              <a:rPr lang="en-US" dirty="0"/>
              <a:t> pregnancy so what is the purpose of the ultrasound?  (given her </a:t>
            </a:r>
            <a:r>
              <a:rPr lang="en-US" dirty="0" err="1"/>
              <a:t>LMP</a:t>
            </a:r>
            <a:r>
              <a:rPr lang="en-US" dirty="0"/>
              <a:t> and her </a:t>
            </a:r>
            <a:r>
              <a:rPr lang="en-US" dirty="0" err="1"/>
              <a:t>BHCG</a:t>
            </a:r>
            <a:r>
              <a:rPr lang="en-US" dirty="0"/>
              <a:t>, she’s not as pregnant as we would expect, etc.)  </a:t>
            </a:r>
          </a:p>
          <a:p>
            <a:pPr defTabSz="931774" fontAlgn="t">
              <a:defRPr/>
            </a:pPr>
            <a:r>
              <a:rPr lang="en-US" dirty="0"/>
              <a:t>Q4: What is the most appropriate next step? What additional information would be most useful?</a:t>
            </a:r>
          </a:p>
          <a:p>
            <a:pPr lvl="0" fontAlgn="t"/>
            <a:endParaRPr lang="en-US" dirty="0"/>
          </a:p>
          <a:p>
            <a:endParaRPr lang="en-US" dirty="0"/>
          </a:p>
        </p:txBody>
      </p:sp>
      <p:sp>
        <p:nvSpPr>
          <p:cNvPr id="4" name="Slide Number Placeholder 3"/>
          <p:cNvSpPr>
            <a:spLocks noGrp="1"/>
          </p:cNvSpPr>
          <p:nvPr>
            <p:ph type="sldNum" sz="quarter" idx="5"/>
          </p:nvPr>
        </p:nvSpPr>
        <p:spPr/>
        <p:txBody>
          <a:bodyPr/>
          <a:lstStyle/>
          <a:p>
            <a:fld id="{36CDFED2-1420-0840-A62B-489AF258C319}" type="slidenum">
              <a:rPr lang="en-US" smtClean="0"/>
              <a:t>4</a:t>
            </a:fld>
            <a:endParaRPr lang="en-US" dirty="0"/>
          </a:p>
        </p:txBody>
      </p:sp>
    </p:spTree>
    <p:extLst>
      <p:ext uri="{BB962C8B-B14F-4D97-AF65-F5344CB8AC3E}">
        <p14:creationId xmlns:p14="http://schemas.microsoft.com/office/powerpoint/2010/main" val="2337693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CDFED2-1420-0840-A62B-489AF258C319}" type="slidenum">
              <a:rPr lang="en-US" smtClean="0"/>
              <a:t>5</a:t>
            </a:fld>
            <a:endParaRPr lang="en-US" dirty="0"/>
          </a:p>
        </p:txBody>
      </p:sp>
    </p:spTree>
    <p:extLst>
      <p:ext uri="{BB962C8B-B14F-4D97-AF65-F5344CB8AC3E}">
        <p14:creationId xmlns:p14="http://schemas.microsoft.com/office/powerpoint/2010/main" val="24113080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r>
              <a:rPr lang="en-US" dirty="0"/>
              <a:t>Q1: Is the pt pregnant?  </a:t>
            </a:r>
          </a:p>
          <a:p>
            <a:pPr defTabSz="931774">
              <a:defRPr/>
            </a:pPr>
            <a:r>
              <a:rPr lang="en-US" dirty="0"/>
              <a:t>Q2: How pregnant? Based on </a:t>
            </a:r>
            <a:r>
              <a:rPr lang="en-US" dirty="0" err="1"/>
              <a:t>LMP</a:t>
            </a:r>
            <a:r>
              <a:rPr lang="en-US" dirty="0"/>
              <a:t>? (8wks)  Based on </a:t>
            </a:r>
            <a:r>
              <a:rPr lang="en-US" dirty="0" err="1"/>
              <a:t>BHCG</a:t>
            </a:r>
            <a:r>
              <a:rPr lang="en-US" dirty="0"/>
              <a:t>?  (5-6 wks) so Is it normal?  (probably not) </a:t>
            </a:r>
          </a:p>
          <a:p>
            <a:pPr defTabSz="931774">
              <a:defRPr/>
            </a:pPr>
            <a:r>
              <a:rPr lang="en-US" dirty="0"/>
              <a:t>Q3: What additional information would be helpful? [Are her periods normal and how long is her menstrual cycle? (28-30 days) Has she had any </a:t>
            </a:r>
            <a:r>
              <a:rPr lang="en-US" dirty="0" err="1"/>
              <a:t>sti</a:t>
            </a:r>
            <a:r>
              <a:rPr lang="en-US" dirty="0"/>
              <a:t> infections in the past? Chlamydia in college) Has she ever been pregnant before? (Yes – 1 SAB, 1 ectopic s/p methotrexate and her current pregnancy)  Is she stable?  What are her vitals? (Pain is mild, she is not hypotensive, abdominal exam does not demonstrate guarding, normal pulse)]. </a:t>
            </a:r>
          </a:p>
          <a:p>
            <a:pPr defTabSz="931774">
              <a:defRPr/>
            </a:pPr>
            <a:r>
              <a:rPr lang="en-US" dirty="0"/>
              <a:t>Q4: What is on the DDx?  </a:t>
            </a:r>
          </a:p>
          <a:p>
            <a:pPr defTabSz="931774">
              <a:defRPr/>
            </a:pPr>
            <a:r>
              <a:rPr lang="en-US" dirty="0"/>
              <a:t>Q5: Next best step?  Serial b-</a:t>
            </a:r>
            <a:r>
              <a:rPr lang="en-US" dirty="0" err="1"/>
              <a:t>hcg</a:t>
            </a:r>
            <a:r>
              <a:rPr lang="en-US" dirty="0"/>
              <a:t> vs f/u ultrasound?  At what point do you move from observation to </a:t>
            </a:r>
            <a:r>
              <a:rPr lang="en-US" dirty="0" err="1"/>
              <a:t>tx</a:t>
            </a:r>
            <a:r>
              <a:rPr lang="en-US" dirty="0"/>
              <a:t>? </a:t>
            </a:r>
          </a:p>
          <a:p>
            <a:pPr defTabSz="931774">
              <a:defRPr/>
            </a:pPr>
            <a:endParaRPr lang="en-US" dirty="0"/>
          </a:p>
          <a:p>
            <a:pPr defTabSz="931774">
              <a:defRPr/>
            </a:pPr>
            <a:r>
              <a:rPr lang="en-US" dirty="0"/>
              <a:t>Teaching Tip: the object of this question is NOT to recognize an ectopic pregnancy but rather to manage diagnostic uncertainty while avoiding harm from both missed ectopic pregnancy and premature treatment of a potentially viable intrauterine pregnancy.</a:t>
            </a:r>
          </a:p>
          <a:p>
            <a:pPr defTabSz="931774">
              <a:defRPr/>
            </a:pPr>
            <a:endParaRPr lang="en-US" dirty="0"/>
          </a:p>
          <a:p>
            <a:endParaRPr lang="en-US" dirty="0"/>
          </a:p>
        </p:txBody>
      </p:sp>
      <p:sp>
        <p:nvSpPr>
          <p:cNvPr id="4" name="Slide Number Placeholder 3"/>
          <p:cNvSpPr>
            <a:spLocks noGrp="1"/>
          </p:cNvSpPr>
          <p:nvPr>
            <p:ph type="sldNum" sz="quarter" idx="5"/>
          </p:nvPr>
        </p:nvSpPr>
        <p:spPr/>
        <p:txBody>
          <a:bodyPr/>
          <a:lstStyle/>
          <a:p>
            <a:fld id="{36CDFED2-1420-0840-A62B-489AF258C319}" type="slidenum">
              <a:rPr lang="en-US" smtClean="0"/>
              <a:t>6</a:t>
            </a:fld>
            <a:endParaRPr lang="en-US" dirty="0"/>
          </a:p>
        </p:txBody>
      </p:sp>
    </p:spTree>
    <p:extLst>
      <p:ext uri="{BB962C8B-B14F-4D97-AF65-F5344CB8AC3E}">
        <p14:creationId xmlns:p14="http://schemas.microsoft.com/office/powerpoint/2010/main" val="18350961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6CDFED2-1420-0840-A62B-489AF258C319}" type="slidenum">
              <a:rPr lang="en-US" smtClean="0"/>
              <a:t>7</a:t>
            </a:fld>
            <a:endParaRPr lang="en-US" dirty="0"/>
          </a:p>
        </p:txBody>
      </p:sp>
    </p:spTree>
    <p:extLst>
      <p:ext uri="{BB962C8B-B14F-4D97-AF65-F5344CB8AC3E}">
        <p14:creationId xmlns:p14="http://schemas.microsoft.com/office/powerpoint/2010/main" val="3007009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32943" indent="-232943" defTabSz="931774">
              <a:buFont typeface="+mj-lt"/>
              <a:buAutoNum type="arabicPeriod"/>
              <a:defRPr/>
            </a:pPr>
            <a:r>
              <a:rPr lang="en-US" b="1" i="0" dirty="0">
                <a:solidFill>
                  <a:srgbClr val="000000"/>
                </a:solidFill>
                <a:effectLst/>
                <a:latin typeface="UICTFontTextStyleBody"/>
              </a:rPr>
              <a:t>Is the pt  pregnant </a:t>
            </a:r>
          </a:p>
          <a:p>
            <a:pPr marL="232943" indent="-232943" defTabSz="931774">
              <a:buFont typeface="+mj-lt"/>
              <a:buAutoNum type="arabicPeriod"/>
              <a:defRPr/>
            </a:pPr>
            <a:r>
              <a:rPr lang="en-US" b="1" i="0" dirty="0">
                <a:solidFill>
                  <a:srgbClr val="000000"/>
                </a:solidFill>
                <a:effectLst/>
                <a:latin typeface="UICTFontTextStyleBody"/>
              </a:rPr>
              <a:t>How pregnant? </a:t>
            </a:r>
          </a:p>
          <a:p>
            <a:pPr marL="232943" indent="-232943" defTabSz="931774">
              <a:buFont typeface="+mj-lt"/>
              <a:buAutoNum type="arabicPeriod"/>
              <a:defRPr/>
            </a:pPr>
            <a:r>
              <a:rPr lang="en-US" b="1" i="0" dirty="0">
                <a:solidFill>
                  <a:srgbClr val="000000"/>
                </a:solidFill>
                <a:effectLst/>
                <a:latin typeface="UICTFontTextStyleBody"/>
              </a:rPr>
              <a:t>What pieces of information are most important in determining whether this pregnancy is viable? Another </a:t>
            </a:r>
            <a:r>
              <a:rPr lang="en-US" b="1" i="0" dirty="0" err="1">
                <a:solidFill>
                  <a:srgbClr val="000000"/>
                </a:solidFill>
                <a:effectLst/>
                <a:latin typeface="UICTFontTextStyleBody"/>
              </a:rPr>
              <a:t>bhcg</a:t>
            </a:r>
            <a:r>
              <a:rPr lang="en-US" b="1" i="0" dirty="0">
                <a:solidFill>
                  <a:srgbClr val="000000"/>
                </a:solidFill>
                <a:effectLst/>
                <a:latin typeface="UICTFontTextStyleBody"/>
              </a:rPr>
              <a:t>? Ultrasound? </a:t>
            </a:r>
          </a:p>
          <a:p>
            <a:pPr marL="232943" indent="-232943" defTabSz="931774">
              <a:buFont typeface="+mj-lt"/>
              <a:buAutoNum type="arabicPeriod"/>
              <a:defRPr/>
            </a:pPr>
            <a:r>
              <a:rPr lang="en-US" b="1" i="0" dirty="0">
                <a:solidFill>
                  <a:srgbClr val="000000"/>
                </a:solidFill>
                <a:effectLst/>
                <a:latin typeface="UICTFontTextStyleBody"/>
              </a:rPr>
              <a:t>What is the most likely diagnosis?</a:t>
            </a:r>
          </a:p>
          <a:p>
            <a:pPr marL="232943" indent="-232943" defTabSz="931774">
              <a:buFont typeface="+mj-lt"/>
              <a:buAutoNum type="arabicPeriod"/>
              <a:defRPr/>
            </a:pPr>
            <a:endParaRPr lang="en-US" b="1" i="0" dirty="0">
              <a:solidFill>
                <a:srgbClr val="000000"/>
              </a:solidFill>
              <a:effectLst/>
              <a:latin typeface="UICTFontTextStyleBody"/>
            </a:endParaRPr>
          </a:p>
          <a:p>
            <a:pPr marL="232943" indent="-232943" defTabSz="931774">
              <a:buFont typeface="+mj-lt"/>
              <a:buAutoNum type="arabicPeriod"/>
              <a:defRPr/>
            </a:pPr>
            <a:endParaRPr lang="en-US" b="1" i="0" dirty="0">
              <a:solidFill>
                <a:srgbClr val="000000"/>
              </a:solidFill>
              <a:effectLst/>
              <a:latin typeface="UICTFontTextStyleBody"/>
            </a:endParaRPr>
          </a:p>
          <a:p>
            <a:r>
              <a:rPr lang="en-US" b="1" i="0" dirty="0">
                <a:solidFill>
                  <a:srgbClr val="000000"/>
                </a:solidFill>
                <a:effectLst/>
                <a:latin typeface="UICTFontTextStyleTitle2"/>
              </a:rPr>
              <a:t>Discussion Points</a:t>
            </a:r>
            <a:endParaRPr lang="en-US" dirty="0">
              <a:solidFill>
                <a:srgbClr val="000000"/>
              </a:solidFill>
              <a:effectLst/>
              <a:latin typeface=".AppleSystemUIFont"/>
            </a:endParaRPr>
          </a:p>
          <a:p>
            <a:r>
              <a:rPr lang="en-US" b="1" i="0" dirty="0">
                <a:solidFill>
                  <a:srgbClr val="000000"/>
                </a:solidFill>
                <a:effectLst/>
                <a:latin typeface="UICTFontTextStyleBody"/>
              </a:rPr>
              <a:t>Students frequently struggle with:</a:t>
            </a:r>
            <a:endParaRPr lang="en-US" dirty="0">
              <a:solidFill>
                <a:srgbClr val="000000"/>
              </a:solidFill>
              <a:effectLst/>
              <a:latin typeface=".AppleSystemUIFont"/>
            </a:endParaRPr>
          </a:p>
          <a:p>
            <a:r>
              <a:rPr lang="en-US" b="1" i="0" dirty="0">
                <a:solidFill>
                  <a:srgbClr val="000000"/>
                </a:solidFill>
                <a:effectLst/>
                <a:latin typeface=".SFUI-Black"/>
              </a:rPr>
              <a:t>• </a:t>
            </a:r>
            <a:r>
              <a:rPr lang="en-US" b="1" i="0" dirty="0">
                <a:solidFill>
                  <a:srgbClr val="000000"/>
                </a:solidFill>
                <a:effectLst/>
                <a:latin typeface="UICTFontTextStyleBody"/>
              </a:rPr>
              <a:t>Distinguishing bleeding from pregnancy loss</a:t>
            </a:r>
            <a:endParaRPr lang="en-US" dirty="0">
              <a:solidFill>
                <a:srgbClr val="000000"/>
              </a:solidFill>
              <a:effectLst/>
              <a:latin typeface=".AppleSystemUIFont"/>
            </a:endParaRPr>
          </a:p>
          <a:p>
            <a:r>
              <a:rPr lang="en-US" b="1" i="0" dirty="0">
                <a:solidFill>
                  <a:srgbClr val="000000"/>
                </a:solidFill>
                <a:effectLst/>
                <a:latin typeface=".SFUI-Black"/>
              </a:rPr>
              <a:t>• </a:t>
            </a:r>
            <a:r>
              <a:rPr lang="en-US" b="1" i="0" dirty="0">
                <a:solidFill>
                  <a:srgbClr val="000000"/>
                </a:solidFill>
                <a:effectLst/>
                <a:latin typeface="UICTFontTextStyleBody"/>
              </a:rPr>
              <a:t>Understanding that fetal cardiac activity may later cease</a:t>
            </a:r>
            <a:endParaRPr lang="en-US" dirty="0">
              <a:solidFill>
                <a:srgbClr val="000000"/>
              </a:solidFill>
              <a:effectLst/>
              <a:latin typeface=".AppleSystemUIFont"/>
            </a:endParaRPr>
          </a:p>
          <a:p>
            <a:r>
              <a:rPr lang="en-US" b="1" i="0" dirty="0">
                <a:solidFill>
                  <a:srgbClr val="000000"/>
                </a:solidFill>
                <a:effectLst/>
                <a:latin typeface=".SFUI-Black"/>
              </a:rPr>
              <a:t>• </a:t>
            </a:r>
            <a:r>
              <a:rPr lang="en-US" b="1" i="0" dirty="0">
                <a:solidFill>
                  <a:srgbClr val="000000"/>
                </a:solidFill>
                <a:effectLst/>
                <a:latin typeface="UICTFontTextStyleBody"/>
              </a:rPr>
              <a:t>Communicating certainty and uncertainty compassionately</a:t>
            </a:r>
            <a:endParaRPr lang="en-US" dirty="0">
              <a:solidFill>
                <a:srgbClr val="000000"/>
              </a:solidFill>
              <a:effectLst/>
              <a:latin typeface=".AppleSystemUIFont"/>
            </a:endParaRPr>
          </a:p>
          <a:p>
            <a:pPr defTabSz="931774">
              <a:defRPr/>
            </a:pPr>
            <a:endParaRPr lang="en-US" dirty="0">
              <a:solidFill>
                <a:srgbClr val="000000"/>
              </a:solidFill>
              <a:effectLst/>
              <a:latin typeface=".AppleSystemUIFont"/>
            </a:endParaRPr>
          </a:p>
          <a:p>
            <a:endParaRPr lang="en-US" dirty="0"/>
          </a:p>
        </p:txBody>
      </p:sp>
      <p:sp>
        <p:nvSpPr>
          <p:cNvPr id="4" name="Slide Number Placeholder 3"/>
          <p:cNvSpPr>
            <a:spLocks noGrp="1"/>
          </p:cNvSpPr>
          <p:nvPr>
            <p:ph type="sldNum" sz="quarter" idx="5"/>
          </p:nvPr>
        </p:nvSpPr>
        <p:spPr/>
        <p:txBody>
          <a:bodyPr/>
          <a:lstStyle/>
          <a:p>
            <a:fld id="{36CDFED2-1420-0840-A62B-489AF258C319}" type="slidenum">
              <a:rPr lang="en-US" smtClean="0"/>
              <a:t>8</a:t>
            </a:fld>
            <a:endParaRPr lang="en-US"/>
          </a:p>
        </p:txBody>
      </p:sp>
    </p:spTree>
    <p:extLst>
      <p:ext uri="{BB962C8B-B14F-4D97-AF65-F5344CB8AC3E}">
        <p14:creationId xmlns:p14="http://schemas.microsoft.com/office/powerpoint/2010/main" val="4115057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6CDFED2-1420-0840-A62B-489AF258C319}" type="slidenum">
              <a:rPr lang="en-US" smtClean="0"/>
              <a:t>9</a:t>
            </a:fld>
            <a:endParaRPr lang="en-US" dirty="0"/>
          </a:p>
        </p:txBody>
      </p:sp>
    </p:spTree>
    <p:extLst>
      <p:ext uri="{BB962C8B-B14F-4D97-AF65-F5344CB8AC3E}">
        <p14:creationId xmlns:p14="http://schemas.microsoft.com/office/powerpoint/2010/main" val="3748290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32943" indent="-232943">
              <a:buFont typeface="+mj-lt"/>
              <a:buAutoNum type="arabicPeriod"/>
            </a:pPr>
            <a:r>
              <a:rPr lang="en-US" dirty="0"/>
              <a:t>Is she pregnant?  Yes</a:t>
            </a:r>
          </a:p>
          <a:p>
            <a:pPr marL="232943" indent="-232943">
              <a:buFont typeface="+mj-lt"/>
              <a:buAutoNum type="arabicPeriod"/>
            </a:pPr>
            <a:r>
              <a:rPr lang="en-US" dirty="0"/>
              <a:t>How pregnant?  </a:t>
            </a:r>
          </a:p>
          <a:p>
            <a:pPr marL="232943" indent="-232943">
              <a:buFont typeface="+mj-lt"/>
              <a:buAutoNum type="arabicPeriod"/>
            </a:pPr>
            <a:r>
              <a:rPr lang="en-US" dirty="0"/>
              <a:t>What aspect of this is the most concerning?  BP? Spotting? N/V?</a:t>
            </a:r>
          </a:p>
          <a:p>
            <a:pPr marL="232943" indent="-232943">
              <a:buFont typeface="+mj-lt"/>
              <a:buAutoNum type="arabicPeriod"/>
            </a:pPr>
            <a:r>
              <a:rPr lang="en-US" dirty="0"/>
              <a:t>What’s the diagnosis?  Gestational trophoblastic disease</a:t>
            </a:r>
          </a:p>
          <a:p>
            <a:pPr marL="232943" indent="-232943">
              <a:buFont typeface="+mj-lt"/>
              <a:buAutoNum type="arabicPeriod"/>
            </a:pPr>
            <a:r>
              <a:rPr lang="en-US" dirty="0"/>
              <a:t>Why are the </a:t>
            </a:r>
            <a:r>
              <a:rPr lang="en-US" dirty="0" err="1"/>
              <a:t>hCG</a:t>
            </a:r>
            <a:r>
              <a:rPr lang="en-US" dirty="0"/>
              <a:t> levels so high? Excess trophoblastic proliferation</a:t>
            </a:r>
          </a:p>
          <a:p>
            <a:pPr marL="232943" indent="-232943">
              <a:buFont typeface="+mj-lt"/>
              <a:buAutoNum type="arabicPeriod"/>
            </a:pPr>
            <a:r>
              <a:rPr lang="en-US" dirty="0"/>
              <a:t>What part of embryology has gone awry? </a:t>
            </a:r>
          </a:p>
          <a:p>
            <a:pPr marL="232943" indent="-232943">
              <a:buFont typeface="+mj-lt"/>
              <a:buAutoNum type="arabicPeriod"/>
            </a:pPr>
            <a:r>
              <a:rPr lang="en-US" dirty="0"/>
              <a:t>Why do you have to follow the </a:t>
            </a:r>
            <a:r>
              <a:rPr lang="en-US" dirty="0" err="1"/>
              <a:t>hcg</a:t>
            </a:r>
            <a:r>
              <a:rPr lang="en-US" dirty="0"/>
              <a:t> to 0 even after she’s had a </a:t>
            </a:r>
            <a:r>
              <a:rPr lang="en-US" dirty="0" err="1"/>
              <a:t>d&amp;c</a:t>
            </a:r>
            <a:r>
              <a:rPr lang="en-US" dirty="0"/>
              <a:t>? </a:t>
            </a:r>
          </a:p>
          <a:p>
            <a:pPr marL="232943" indent="-232943">
              <a:buFont typeface="+mj-lt"/>
              <a:buAutoNum type="arabicPeriod"/>
            </a:pPr>
            <a:endParaRPr lang="en-US" dirty="0"/>
          </a:p>
          <a:p>
            <a:pPr marL="232943" indent="-232943">
              <a:buFont typeface="+mj-lt"/>
              <a:buAutoNum type="arabicPeriod"/>
            </a:pPr>
            <a:endParaRPr lang="en-US" dirty="0"/>
          </a:p>
          <a:p>
            <a:pPr marL="232943" indent="-232943">
              <a:buFont typeface="+mj-lt"/>
              <a:buAutoNum type="arabicPeriod"/>
            </a:pPr>
            <a:endParaRPr lang="en-US" dirty="0"/>
          </a:p>
        </p:txBody>
      </p:sp>
      <p:sp>
        <p:nvSpPr>
          <p:cNvPr id="4" name="Slide Number Placeholder 3"/>
          <p:cNvSpPr>
            <a:spLocks noGrp="1"/>
          </p:cNvSpPr>
          <p:nvPr>
            <p:ph type="sldNum" sz="quarter" idx="5"/>
          </p:nvPr>
        </p:nvSpPr>
        <p:spPr/>
        <p:txBody>
          <a:bodyPr/>
          <a:lstStyle/>
          <a:p>
            <a:fld id="{36CDFED2-1420-0840-A62B-489AF258C319}" type="slidenum">
              <a:rPr lang="en-US" smtClean="0"/>
              <a:t>10</a:t>
            </a:fld>
            <a:endParaRPr lang="en-US" dirty="0"/>
          </a:p>
        </p:txBody>
      </p:sp>
    </p:spTree>
    <p:extLst>
      <p:ext uri="{BB962C8B-B14F-4D97-AF65-F5344CB8AC3E}">
        <p14:creationId xmlns:p14="http://schemas.microsoft.com/office/powerpoint/2010/main" val="13147216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me what you’re looking for</a:t>
            </a:r>
          </a:p>
        </p:txBody>
      </p:sp>
      <p:sp>
        <p:nvSpPr>
          <p:cNvPr id="4" name="Slide Number Placeholder 3"/>
          <p:cNvSpPr>
            <a:spLocks noGrp="1"/>
          </p:cNvSpPr>
          <p:nvPr>
            <p:ph type="sldNum" sz="quarter" idx="5"/>
          </p:nvPr>
        </p:nvSpPr>
        <p:spPr/>
        <p:txBody>
          <a:bodyPr/>
          <a:lstStyle/>
          <a:p>
            <a:fld id="{36CDFED2-1420-0840-A62B-489AF258C319}" type="slidenum">
              <a:rPr lang="en-US" smtClean="0"/>
              <a:t>11</a:t>
            </a:fld>
            <a:endParaRPr lang="en-US" dirty="0"/>
          </a:p>
        </p:txBody>
      </p:sp>
    </p:spTree>
    <p:extLst>
      <p:ext uri="{BB962C8B-B14F-4D97-AF65-F5344CB8AC3E}">
        <p14:creationId xmlns:p14="http://schemas.microsoft.com/office/powerpoint/2010/main" val="12580652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5"/>
                </a:solidFill>
              </a:rPr>
              <a:t>What recommendations do you have?  </a:t>
            </a:r>
          </a:p>
          <a:p>
            <a:endParaRPr lang="en-US" dirty="0">
              <a:solidFill>
                <a:schemeClr val="accent5"/>
              </a:solidFill>
            </a:endParaRPr>
          </a:p>
          <a:p>
            <a:r>
              <a:rPr lang="en-US" dirty="0">
                <a:solidFill>
                  <a:schemeClr val="accent5"/>
                </a:solidFill>
              </a:rPr>
              <a:t>What impact do her pregnancies have on her future health?  </a:t>
            </a:r>
          </a:p>
          <a:p>
            <a:endParaRPr lang="en-US" dirty="0">
              <a:solidFill>
                <a:schemeClr val="accent5"/>
              </a:solidFill>
            </a:endParaRPr>
          </a:p>
          <a:p>
            <a:r>
              <a:rPr lang="en-US" dirty="0">
                <a:solidFill>
                  <a:schemeClr val="accent5"/>
                </a:solidFill>
              </a:rPr>
              <a:t>What impact does the pregnancy of a child’s mother have on their future health?  </a:t>
            </a:r>
          </a:p>
          <a:p>
            <a:endParaRPr lang="en-US" dirty="0"/>
          </a:p>
        </p:txBody>
      </p:sp>
      <p:sp>
        <p:nvSpPr>
          <p:cNvPr id="4" name="Slide Number Placeholder 3"/>
          <p:cNvSpPr>
            <a:spLocks noGrp="1"/>
          </p:cNvSpPr>
          <p:nvPr>
            <p:ph type="sldNum" sz="quarter" idx="5"/>
          </p:nvPr>
        </p:nvSpPr>
        <p:spPr/>
        <p:txBody>
          <a:bodyPr/>
          <a:lstStyle/>
          <a:p>
            <a:fld id="{36CDFED2-1420-0840-A62B-489AF258C319}" type="slidenum">
              <a:rPr lang="en-US" smtClean="0"/>
              <a:t>12</a:t>
            </a:fld>
            <a:endParaRPr lang="en-US" dirty="0"/>
          </a:p>
        </p:txBody>
      </p:sp>
    </p:spTree>
    <p:extLst>
      <p:ext uri="{BB962C8B-B14F-4D97-AF65-F5344CB8AC3E}">
        <p14:creationId xmlns:p14="http://schemas.microsoft.com/office/powerpoint/2010/main" val="1451439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2C860-9D46-CE49-A462-6E0B969BA45D}"/>
              </a:ext>
            </a:extLst>
          </p:cNvPr>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0592EC77-DDA9-C941-9CE4-09B68BEA58B9}"/>
              </a:ext>
            </a:extLst>
          </p:cNvPr>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D79F07BC-9F2C-5740-A305-249412C3EB48}"/>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9/22/2026</a:t>
            </a:fld>
            <a:endParaRPr lang="en-US" dirty="0"/>
          </a:p>
        </p:txBody>
      </p:sp>
      <p:sp>
        <p:nvSpPr>
          <p:cNvPr id="5" name="Footer Placeholder 4">
            <a:extLst>
              <a:ext uri="{FF2B5EF4-FFF2-40B4-BE49-F238E27FC236}">
                <a16:creationId xmlns:a16="http://schemas.microsoft.com/office/drawing/2014/main" id="{8169C20A-1AA8-474F-9EBB-3D13F1B4B305}"/>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CB83C561-313A-C540-9FB7-5F3E293487B9}"/>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3683189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850A2-0333-4F48-8C80-7F9E79918826}"/>
              </a:ext>
            </a:extLst>
          </p:cNvPr>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D2A9F88-C25F-CE47-9E90-3873DCCF6BB1}"/>
              </a:ext>
            </a:extLst>
          </p:cNvPr>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55206E-458C-3B4E-AA29-E7703D3AC024}"/>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9/22/2026</a:t>
            </a:fld>
            <a:endParaRPr lang="en-US" dirty="0"/>
          </a:p>
        </p:txBody>
      </p:sp>
      <p:sp>
        <p:nvSpPr>
          <p:cNvPr id="5" name="Footer Placeholder 4">
            <a:extLst>
              <a:ext uri="{FF2B5EF4-FFF2-40B4-BE49-F238E27FC236}">
                <a16:creationId xmlns:a16="http://schemas.microsoft.com/office/drawing/2014/main" id="{572AC6E1-B413-8A4E-8DA4-CEC68B2A35D6}"/>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ACC4A72B-357E-AC46-A685-7C28DD1590BA}"/>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2974781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A6A26-5D1B-5A42-A21D-51F91BFE1C64}"/>
              </a:ext>
            </a:extLst>
          </p:cNvPr>
          <p:cNvSpPr>
            <a:spLocks noGrp="1"/>
          </p:cNvSpPr>
          <p:nvPr>
            <p:ph type="title"/>
          </p:nvPr>
        </p:nvSpPr>
        <p:spPr>
          <a:xfrm>
            <a:off x="623888" y="1709739"/>
            <a:ext cx="7886700" cy="2852737"/>
          </a:xfrm>
          <a:prstGeom prst="rect">
            <a:avLst/>
          </a:prstGeo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5C7D7840-F727-C342-BB73-DADAA4397F3C}"/>
              </a:ext>
            </a:extLst>
          </p:cNvPr>
          <p:cNvSpPr>
            <a:spLocks noGrp="1"/>
          </p:cNvSpPr>
          <p:nvPr>
            <p:ph type="body" idx="1"/>
          </p:nvPr>
        </p:nvSpPr>
        <p:spPr>
          <a:xfrm>
            <a:off x="623888" y="4589464"/>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75061D6-8DE6-0842-AA47-154187647E19}"/>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9/22/2026</a:t>
            </a:fld>
            <a:endParaRPr lang="en-US" dirty="0"/>
          </a:p>
        </p:txBody>
      </p:sp>
      <p:sp>
        <p:nvSpPr>
          <p:cNvPr id="5" name="Footer Placeholder 4">
            <a:extLst>
              <a:ext uri="{FF2B5EF4-FFF2-40B4-BE49-F238E27FC236}">
                <a16:creationId xmlns:a16="http://schemas.microsoft.com/office/drawing/2014/main" id="{BA6112FA-4C01-144A-8BAC-833AA152D51D}"/>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236B7354-5CD3-064D-AC70-47E2EE0E2EAF}"/>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2437464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A2F16-2EDD-1C4F-B6D4-1DCD78026AC1}"/>
              </a:ext>
            </a:extLst>
          </p:cNvPr>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8C05F492-6A10-5F48-A913-FFE10725D33A}"/>
              </a:ext>
            </a:extLst>
          </p:cNvPr>
          <p:cNvSpPr>
            <a:spLocks noGrp="1"/>
          </p:cNvSpPr>
          <p:nvPr>
            <p:ph sz="half" idx="1"/>
          </p:nvPr>
        </p:nvSpPr>
        <p:spPr>
          <a:xfrm>
            <a:off x="6286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F1DC50-54AA-B240-ACF1-E3C812038151}"/>
              </a:ext>
            </a:extLst>
          </p:cNvPr>
          <p:cNvSpPr>
            <a:spLocks noGrp="1"/>
          </p:cNvSpPr>
          <p:nvPr>
            <p:ph sz="half" idx="2"/>
          </p:nvPr>
        </p:nvSpPr>
        <p:spPr>
          <a:xfrm>
            <a:off x="46291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B656337-3C20-E34C-97EC-81D7ED6B6B5D}"/>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9/22/2026</a:t>
            </a:fld>
            <a:endParaRPr lang="en-US" dirty="0"/>
          </a:p>
        </p:txBody>
      </p:sp>
      <p:sp>
        <p:nvSpPr>
          <p:cNvPr id="6" name="Footer Placeholder 5">
            <a:extLst>
              <a:ext uri="{FF2B5EF4-FFF2-40B4-BE49-F238E27FC236}">
                <a16:creationId xmlns:a16="http://schemas.microsoft.com/office/drawing/2014/main" id="{7A619EDF-D74F-E949-8617-CDD6477F6E33}"/>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F77285ED-83FE-0249-A524-132320253EB0}"/>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2582568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C1DAA-2CD2-5F4F-9241-A0C11C60C1B4}"/>
              </a:ext>
            </a:extLst>
          </p:cNvPr>
          <p:cNvSpPr>
            <a:spLocks noGrp="1"/>
          </p:cNvSpPr>
          <p:nvPr>
            <p:ph type="title"/>
          </p:nvPr>
        </p:nvSpPr>
        <p:spPr>
          <a:xfrm>
            <a:off x="629841" y="365126"/>
            <a:ext cx="78867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B384657-9D11-B34A-8CF6-E8ECAAC3A97D}"/>
              </a:ext>
            </a:extLst>
          </p:cNvPr>
          <p:cNvSpPr>
            <a:spLocks noGrp="1"/>
          </p:cNvSpPr>
          <p:nvPr>
            <p:ph type="body" idx="1"/>
          </p:nvPr>
        </p:nvSpPr>
        <p:spPr>
          <a:xfrm>
            <a:off x="629842"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24F8C9C4-6D21-9E46-BB5C-FFC6D219EC10}"/>
              </a:ext>
            </a:extLst>
          </p:cNvPr>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BEFDFE-67E1-8747-B2B3-E0272D321BDC}"/>
              </a:ext>
            </a:extLst>
          </p:cNvPr>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B4CDCDC0-C030-6440-8E2E-B86007F8C44A}"/>
              </a:ext>
            </a:extLst>
          </p:cNvPr>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1B3F91-E48A-FF44-A798-15670425E0ED}"/>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9/22/2026</a:t>
            </a:fld>
            <a:endParaRPr lang="en-US" dirty="0"/>
          </a:p>
        </p:txBody>
      </p:sp>
      <p:sp>
        <p:nvSpPr>
          <p:cNvPr id="8" name="Footer Placeholder 7">
            <a:extLst>
              <a:ext uri="{FF2B5EF4-FFF2-40B4-BE49-F238E27FC236}">
                <a16:creationId xmlns:a16="http://schemas.microsoft.com/office/drawing/2014/main" id="{13C8EE1B-D129-8F45-A852-40CBA8A97B41}"/>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722F0B99-7A45-C74D-BD3A-5FC92BD83F45}"/>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2767048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123DD-D8E8-424A-B891-18CF5DC0505F}"/>
              </a:ext>
            </a:extLst>
          </p:cNvPr>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AE3A84B3-ABC4-C74F-A68C-B4E6187069B2}"/>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9/22/2026</a:t>
            </a:fld>
            <a:endParaRPr lang="en-US" dirty="0"/>
          </a:p>
        </p:txBody>
      </p:sp>
      <p:sp>
        <p:nvSpPr>
          <p:cNvPr id="4" name="Footer Placeholder 3">
            <a:extLst>
              <a:ext uri="{FF2B5EF4-FFF2-40B4-BE49-F238E27FC236}">
                <a16:creationId xmlns:a16="http://schemas.microsoft.com/office/drawing/2014/main" id="{CEA30122-39CE-FE41-8DE7-1035E0FC6D82}"/>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27216F83-C7E1-F44E-9D92-66F730BF6821}"/>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2303574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3C54CD-0395-2442-B28E-D950481048CB}"/>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9/22/2026</a:t>
            </a:fld>
            <a:endParaRPr lang="en-US" dirty="0"/>
          </a:p>
        </p:txBody>
      </p:sp>
      <p:sp>
        <p:nvSpPr>
          <p:cNvPr id="3" name="Footer Placeholder 2">
            <a:extLst>
              <a:ext uri="{FF2B5EF4-FFF2-40B4-BE49-F238E27FC236}">
                <a16:creationId xmlns:a16="http://schemas.microsoft.com/office/drawing/2014/main" id="{E41CDDF9-4A91-B043-8361-1BFB3FBE0398}"/>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7C38CCA3-A0EB-1D47-9D48-AB11A5453357}"/>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1431671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4A0C6-20FA-AE41-9597-B2B589927D5F}"/>
              </a:ext>
            </a:extLst>
          </p:cNvPr>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51AEC23D-F858-F74D-B72B-D744AB09D54F}"/>
              </a:ext>
            </a:extLst>
          </p:cNvPr>
          <p:cNvSpPr>
            <a:spLocks noGrp="1"/>
          </p:cNvSpPr>
          <p:nvPr>
            <p:ph idx="1"/>
          </p:nvPr>
        </p:nvSpPr>
        <p:spPr>
          <a:xfrm>
            <a:off x="3887391" y="987426"/>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00CA90-0C53-B54A-99A5-1C9D24EDEFB0}"/>
              </a:ext>
            </a:extLst>
          </p:cNvPr>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F01A7AFA-D618-C441-BCDF-56302A7EE7BC}"/>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9/22/2026</a:t>
            </a:fld>
            <a:endParaRPr lang="en-US" dirty="0"/>
          </a:p>
        </p:txBody>
      </p:sp>
      <p:sp>
        <p:nvSpPr>
          <p:cNvPr id="6" name="Footer Placeholder 5">
            <a:extLst>
              <a:ext uri="{FF2B5EF4-FFF2-40B4-BE49-F238E27FC236}">
                <a16:creationId xmlns:a16="http://schemas.microsoft.com/office/drawing/2014/main" id="{DBB38D21-F074-4E46-BD67-F3C77B090BB7}"/>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8FEE9508-74BC-9949-9F85-9A66FE3ED505}"/>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1486133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8E7DD-ED92-AB4B-959A-60886D346947}"/>
              </a:ext>
            </a:extLst>
          </p:cNvPr>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7D3CF4C7-E75C-C043-9057-D890754E49B5}"/>
              </a:ext>
            </a:extLst>
          </p:cNvPr>
          <p:cNvSpPr>
            <a:spLocks noGrp="1"/>
          </p:cNvSpPr>
          <p:nvPr>
            <p:ph type="pic" idx="1"/>
          </p:nvPr>
        </p:nvSpPr>
        <p:spPr>
          <a:xfrm>
            <a:off x="3887391" y="987426"/>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a:extLst>
              <a:ext uri="{FF2B5EF4-FFF2-40B4-BE49-F238E27FC236}">
                <a16:creationId xmlns:a16="http://schemas.microsoft.com/office/drawing/2014/main" id="{AE3C0FA4-C76F-C54F-8EF2-F58E0C646AEF}"/>
              </a:ext>
            </a:extLst>
          </p:cNvPr>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01C06FFB-2452-F048-9DDB-D89F5AF81C2F}"/>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9/22/2026</a:t>
            </a:fld>
            <a:endParaRPr lang="en-US" dirty="0"/>
          </a:p>
        </p:txBody>
      </p:sp>
      <p:sp>
        <p:nvSpPr>
          <p:cNvPr id="6" name="Footer Placeholder 5">
            <a:extLst>
              <a:ext uri="{FF2B5EF4-FFF2-40B4-BE49-F238E27FC236}">
                <a16:creationId xmlns:a16="http://schemas.microsoft.com/office/drawing/2014/main" id="{4298C228-3CB2-2A44-97F8-86CEB86D6AF1}"/>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FBAF3494-ED72-0942-BFE5-79CE95C0B8F7}"/>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1507277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65F62-04B0-9A46-9674-559169D6C936}"/>
              </a:ext>
            </a:extLst>
          </p:cNvPr>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C2E6C2-7151-B043-A359-F9F22D0C92E2}"/>
              </a:ext>
            </a:extLst>
          </p:cNvPr>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DA1B0A-90C2-E44C-90D5-BA5DB320B520}"/>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9/22/2026</a:t>
            </a:fld>
            <a:endParaRPr lang="en-US" dirty="0"/>
          </a:p>
        </p:txBody>
      </p:sp>
      <p:sp>
        <p:nvSpPr>
          <p:cNvPr id="5" name="Footer Placeholder 4">
            <a:extLst>
              <a:ext uri="{FF2B5EF4-FFF2-40B4-BE49-F238E27FC236}">
                <a16:creationId xmlns:a16="http://schemas.microsoft.com/office/drawing/2014/main" id="{7B30DA3B-4182-1247-AC5F-B785FAE40BA6}"/>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FBD4CE28-DDDB-C644-BBD2-96C6127D4DE9}"/>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2243586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FF3343-4BBD-3242-8226-3F4F09A61B58}"/>
              </a:ext>
            </a:extLst>
          </p:cNvPr>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6314B7-325B-494B-9EE1-A61B9030050E}"/>
              </a:ext>
            </a:extLst>
          </p:cNvPr>
          <p:cNvSpPr>
            <a:spLocks noGrp="1"/>
          </p:cNvSpPr>
          <p:nvPr>
            <p:ph type="body" orient="vert" idx="1"/>
          </p:nvPr>
        </p:nvSpPr>
        <p:spPr>
          <a:xfrm>
            <a:off x="628650"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D158EA-37D7-E949-BF3E-4AD02BAC70A1}"/>
              </a:ext>
            </a:extLst>
          </p:cNvPr>
          <p:cNvSpPr>
            <a:spLocks noGrp="1"/>
          </p:cNvSpPr>
          <p:nvPr>
            <p:ph type="dt" sz="half" idx="10"/>
          </p:nvPr>
        </p:nvSpPr>
        <p:spPr>
          <a:xfrm>
            <a:off x="628650" y="6356351"/>
            <a:ext cx="2057400" cy="365125"/>
          </a:xfrm>
          <a:prstGeom prst="rect">
            <a:avLst/>
          </a:prstGeom>
        </p:spPr>
        <p:txBody>
          <a:bodyPr/>
          <a:lstStyle/>
          <a:p>
            <a:fld id="{765FD587-C8EE-684B-9EC2-FE16E0C3FD99}" type="datetimeFigureOut">
              <a:rPr lang="en-US" smtClean="0"/>
              <a:t>9/22/2026</a:t>
            </a:fld>
            <a:endParaRPr lang="en-US" dirty="0"/>
          </a:p>
        </p:txBody>
      </p:sp>
      <p:sp>
        <p:nvSpPr>
          <p:cNvPr id="5" name="Footer Placeholder 4">
            <a:extLst>
              <a:ext uri="{FF2B5EF4-FFF2-40B4-BE49-F238E27FC236}">
                <a16:creationId xmlns:a16="http://schemas.microsoft.com/office/drawing/2014/main" id="{6F8BFDEB-5EDA-C04E-BD4C-FB149467AC59}"/>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004E0750-45E7-4640-849C-7DE4BBDD7E27}"/>
              </a:ext>
            </a:extLst>
          </p:cNvPr>
          <p:cNvSpPr>
            <a:spLocks noGrp="1"/>
          </p:cNvSpPr>
          <p:nvPr>
            <p:ph type="sldNum" sz="quarter" idx="12"/>
          </p:nvPr>
        </p:nvSpPr>
        <p:spPr>
          <a:xfrm>
            <a:off x="6457950" y="6356351"/>
            <a:ext cx="2057400" cy="365125"/>
          </a:xfrm>
          <a:prstGeom prst="rect">
            <a:avLst/>
          </a:prstGeom>
        </p:spPr>
        <p:txBody>
          <a:bodyPr/>
          <a:lstStyle/>
          <a:p>
            <a:fld id="{73097DE2-C03F-5844-A05A-54100FEE6C64}" type="slidenum">
              <a:rPr lang="en-US" smtClean="0"/>
              <a:t>‹#›</a:t>
            </a:fld>
            <a:endParaRPr lang="en-US" dirty="0"/>
          </a:p>
        </p:txBody>
      </p:sp>
    </p:spTree>
    <p:extLst>
      <p:ext uri="{BB962C8B-B14F-4D97-AF65-F5344CB8AC3E}">
        <p14:creationId xmlns:p14="http://schemas.microsoft.com/office/powerpoint/2010/main" val="23126427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tatistics 1">
    <p:spTree>
      <p:nvGrpSpPr>
        <p:cNvPr id="1" name=""/>
        <p:cNvGrpSpPr/>
        <p:nvPr/>
      </p:nvGrpSpPr>
      <p:grpSpPr>
        <a:xfrm>
          <a:off x="0" y="0"/>
          <a:ext cx="0" cy="0"/>
          <a:chOff x="0" y="0"/>
          <a:chExt cx="0" cy="0"/>
        </a:xfrm>
      </p:grpSpPr>
      <p:sp>
        <p:nvSpPr>
          <p:cNvPr id="5" name="Shape 82"/>
          <p:cNvSpPr/>
          <p:nvPr userDrawn="1"/>
        </p:nvSpPr>
        <p:spPr>
          <a:xfrm>
            <a:off x="0" y="-1"/>
            <a:ext cx="9144000" cy="3314267"/>
          </a:xfrm>
          <a:prstGeom prst="rect">
            <a:avLst/>
          </a:prstGeom>
          <a:solidFill>
            <a:srgbClr val="FFFFFF"/>
          </a:solidFill>
          <a:ln>
            <a:noFill/>
          </a:ln>
        </p:spPr>
        <p:txBody>
          <a:bodyPr wrap="square" lIns="68569" tIns="68569" rIns="68569" bIns="68569" anchor="ctr" anchorCtr="0">
            <a:noAutofit/>
          </a:bodyPr>
          <a:lstStyle/>
          <a:p>
            <a:pPr lvl="0">
              <a:spcBef>
                <a:spcPts val="0"/>
              </a:spcBef>
              <a:buNone/>
            </a:pPr>
            <a:endParaRPr sz="1350" dirty="0"/>
          </a:p>
        </p:txBody>
      </p:sp>
    </p:spTree>
    <p:extLst>
      <p:ext uri="{BB962C8B-B14F-4D97-AF65-F5344CB8AC3E}">
        <p14:creationId xmlns:p14="http://schemas.microsoft.com/office/powerpoint/2010/main" val="4219584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Break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51509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and Single image - no bullets">
    <p:spTree>
      <p:nvGrpSpPr>
        <p:cNvPr id="1" name=""/>
        <p:cNvGrpSpPr/>
        <p:nvPr/>
      </p:nvGrpSpPr>
      <p:grpSpPr>
        <a:xfrm>
          <a:off x="0" y="0"/>
          <a:ext cx="0" cy="0"/>
          <a:chOff x="0" y="0"/>
          <a:chExt cx="0" cy="0"/>
        </a:xfrm>
      </p:grpSpPr>
      <p:cxnSp>
        <p:nvCxnSpPr>
          <p:cNvPr id="8" name="Straight Connector 7"/>
          <p:cNvCxnSpPr/>
          <p:nvPr userDrawn="1"/>
        </p:nvCxnSpPr>
        <p:spPr>
          <a:xfrm>
            <a:off x="-792605" y="1560086"/>
            <a:ext cx="0" cy="48075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04175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ICOM Model">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6978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only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3969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only 2">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66659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ultiple Image and Text 1">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2426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ultiple Images and Text 2">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5365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0657B-4719-A74F-B648-38F863C54EFE}"/>
              </a:ext>
            </a:extLst>
          </p:cNvPr>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B3EA0B8-571D-4741-87E9-A325E69E08BA}"/>
              </a:ext>
            </a:extLst>
          </p:cNvPr>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BBADD624-F446-8E4F-8325-E014A6B2EA71}"/>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9/22/2026</a:t>
            </a:fld>
            <a:endParaRPr lang="en-US" dirty="0"/>
          </a:p>
        </p:txBody>
      </p:sp>
      <p:sp>
        <p:nvSpPr>
          <p:cNvPr id="5" name="Footer Placeholder 4">
            <a:extLst>
              <a:ext uri="{FF2B5EF4-FFF2-40B4-BE49-F238E27FC236}">
                <a16:creationId xmlns:a16="http://schemas.microsoft.com/office/drawing/2014/main" id="{7B4AA4AA-0C11-8940-9D08-AE6E6239E420}"/>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8A9E369E-599F-494C-9DC3-9229AEBCA30C}"/>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7912537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F599-B0D5-984E-A492-00ED395EA396}"/>
              </a:ext>
            </a:extLst>
          </p:cNvPr>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EE1B932-7C8A-4D49-A3FE-D416F3EA9FA8}"/>
              </a:ext>
            </a:extLst>
          </p:cNvPr>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393A45-9103-1A48-A8F3-895CF18C3D1E}"/>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9/22/2026</a:t>
            </a:fld>
            <a:endParaRPr lang="en-US" dirty="0"/>
          </a:p>
        </p:txBody>
      </p:sp>
      <p:sp>
        <p:nvSpPr>
          <p:cNvPr id="5" name="Footer Placeholder 4">
            <a:extLst>
              <a:ext uri="{FF2B5EF4-FFF2-40B4-BE49-F238E27FC236}">
                <a16:creationId xmlns:a16="http://schemas.microsoft.com/office/drawing/2014/main" id="{1BA32C3E-3627-AB4E-8AAC-E1FCEDF38C8B}"/>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81A73B51-1A8F-C44C-95B5-79164DFC8C74}"/>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21126320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7B620-C8D6-A44B-AF93-D9B61DAE809F}"/>
              </a:ext>
            </a:extLst>
          </p:cNvPr>
          <p:cNvSpPr>
            <a:spLocks noGrp="1"/>
          </p:cNvSpPr>
          <p:nvPr>
            <p:ph type="title"/>
          </p:nvPr>
        </p:nvSpPr>
        <p:spPr>
          <a:xfrm>
            <a:off x="623888" y="1709739"/>
            <a:ext cx="7886700" cy="2852737"/>
          </a:xfrm>
          <a:prstGeom prst="rect">
            <a:avLst/>
          </a:prstGeo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B9384405-6A36-8846-A419-36DF8518B587}"/>
              </a:ext>
            </a:extLst>
          </p:cNvPr>
          <p:cNvSpPr>
            <a:spLocks noGrp="1"/>
          </p:cNvSpPr>
          <p:nvPr>
            <p:ph type="body" idx="1"/>
          </p:nvPr>
        </p:nvSpPr>
        <p:spPr>
          <a:xfrm>
            <a:off x="623888" y="4589464"/>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2A08C0F-844C-1540-BA42-9B875940860C}"/>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9/22/2026</a:t>
            </a:fld>
            <a:endParaRPr lang="en-US" dirty="0"/>
          </a:p>
        </p:txBody>
      </p:sp>
      <p:sp>
        <p:nvSpPr>
          <p:cNvPr id="5" name="Footer Placeholder 4">
            <a:extLst>
              <a:ext uri="{FF2B5EF4-FFF2-40B4-BE49-F238E27FC236}">
                <a16:creationId xmlns:a16="http://schemas.microsoft.com/office/drawing/2014/main" id="{BC2E5BC7-DA5D-8847-BCE6-68535B8F377E}"/>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AF0AF86A-28D2-094A-89A1-7798525579F0}"/>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26553379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30701-AE44-BD4E-A0B5-78A44B14A09C}"/>
              </a:ext>
            </a:extLst>
          </p:cNvPr>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AB30FDD-AE22-9146-B143-69CB6BBA6470}"/>
              </a:ext>
            </a:extLst>
          </p:cNvPr>
          <p:cNvSpPr>
            <a:spLocks noGrp="1"/>
          </p:cNvSpPr>
          <p:nvPr>
            <p:ph sz="half" idx="1"/>
          </p:nvPr>
        </p:nvSpPr>
        <p:spPr>
          <a:xfrm>
            <a:off x="6286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D4BF0D-DD38-364B-8190-1F1BE2B5C48E}"/>
              </a:ext>
            </a:extLst>
          </p:cNvPr>
          <p:cNvSpPr>
            <a:spLocks noGrp="1"/>
          </p:cNvSpPr>
          <p:nvPr>
            <p:ph sz="half" idx="2"/>
          </p:nvPr>
        </p:nvSpPr>
        <p:spPr>
          <a:xfrm>
            <a:off x="46291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17FC9E-B235-404D-9DC8-A9CC409777DE}"/>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9/22/2026</a:t>
            </a:fld>
            <a:endParaRPr lang="en-US" dirty="0"/>
          </a:p>
        </p:txBody>
      </p:sp>
      <p:sp>
        <p:nvSpPr>
          <p:cNvPr id="6" name="Footer Placeholder 5">
            <a:extLst>
              <a:ext uri="{FF2B5EF4-FFF2-40B4-BE49-F238E27FC236}">
                <a16:creationId xmlns:a16="http://schemas.microsoft.com/office/drawing/2014/main" id="{5D2BE16F-9DB7-5149-8184-98A6E77234F9}"/>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E3285864-2EDA-BD4F-960D-AB441A9ACBE4}"/>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1250395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DCDC7-E005-A949-8331-ECA88DD214CE}"/>
              </a:ext>
            </a:extLst>
          </p:cNvPr>
          <p:cNvSpPr>
            <a:spLocks noGrp="1"/>
          </p:cNvSpPr>
          <p:nvPr>
            <p:ph type="title"/>
          </p:nvPr>
        </p:nvSpPr>
        <p:spPr>
          <a:xfrm>
            <a:off x="629841" y="365126"/>
            <a:ext cx="78867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49A8616-47E9-7B41-9670-90E36F01651C}"/>
              </a:ext>
            </a:extLst>
          </p:cNvPr>
          <p:cNvSpPr>
            <a:spLocks noGrp="1"/>
          </p:cNvSpPr>
          <p:nvPr>
            <p:ph type="body" idx="1"/>
          </p:nvPr>
        </p:nvSpPr>
        <p:spPr>
          <a:xfrm>
            <a:off x="629842"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E05F1CE8-B4CF-EE44-A689-BBBCBADDC5E0}"/>
              </a:ext>
            </a:extLst>
          </p:cNvPr>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D94CFE-F5D4-534C-A33D-E87A46A4BD84}"/>
              </a:ext>
            </a:extLst>
          </p:cNvPr>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4E91C505-1A7B-6B44-B27F-69521ABD8528}"/>
              </a:ext>
            </a:extLst>
          </p:cNvPr>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B8578F-5F58-284A-960E-03735A51DB63}"/>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9/22/2026</a:t>
            </a:fld>
            <a:endParaRPr lang="en-US" dirty="0"/>
          </a:p>
        </p:txBody>
      </p:sp>
      <p:sp>
        <p:nvSpPr>
          <p:cNvPr id="8" name="Footer Placeholder 7">
            <a:extLst>
              <a:ext uri="{FF2B5EF4-FFF2-40B4-BE49-F238E27FC236}">
                <a16:creationId xmlns:a16="http://schemas.microsoft.com/office/drawing/2014/main" id="{A7A50961-DE11-2240-A97A-BC934E6F62DF}"/>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3D12D114-28E9-4E48-84F6-E021466EF875}"/>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31533261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00806-D7FD-4840-8367-F63106C35741}"/>
              </a:ext>
            </a:extLst>
          </p:cNvPr>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16B84EA4-2BD1-1D41-970A-4B3AC649337E}"/>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9/22/2026</a:t>
            </a:fld>
            <a:endParaRPr lang="en-US" dirty="0"/>
          </a:p>
        </p:txBody>
      </p:sp>
      <p:sp>
        <p:nvSpPr>
          <p:cNvPr id="4" name="Footer Placeholder 3">
            <a:extLst>
              <a:ext uri="{FF2B5EF4-FFF2-40B4-BE49-F238E27FC236}">
                <a16:creationId xmlns:a16="http://schemas.microsoft.com/office/drawing/2014/main" id="{851D9438-9C06-B74F-BD28-737E4528EA4F}"/>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8F472F14-442C-FD48-9293-31242E99A0B9}"/>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3366185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CFF7BF-BA53-F241-B8E0-19F87F9C6E31}"/>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9/22/2026</a:t>
            </a:fld>
            <a:endParaRPr lang="en-US" dirty="0"/>
          </a:p>
        </p:txBody>
      </p:sp>
      <p:sp>
        <p:nvSpPr>
          <p:cNvPr id="3" name="Footer Placeholder 2">
            <a:extLst>
              <a:ext uri="{FF2B5EF4-FFF2-40B4-BE49-F238E27FC236}">
                <a16:creationId xmlns:a16="http://schemas.microsoft.com/office/drawing/2014/main" id="{C0B6394C-3B4B-9344-BDFF-7020DF1EC35F}"/>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75EBB53-6266-FB4E-A101-E6EBDAAF9E9F}"/>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29360624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2EE7E-C084-BC4F-99FF-6AA90A4A6492}"/>
              </a:ext>
            </a:extLst>
          </p:cNvPr>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DDAEE4AB-550C-3440-880F-6A0B957D5F98}"/>
              </a:ext>
            </a:extLst>
          </p:cNvPr>
          <p:cNvSpPr>
            <a:spLocks noGrp="1"/>
          </p:cNvSpPr>
          <p:nvPr>
            <p:ph idx="1"/>
          </p:nvPr>
        </p:nvSpPr>
        <p:spPr>
          <a:xfrm>
            <a:off x="3887391" y="987426"/>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78A60FD-C853-F24D-B65F-54DD144DCC08}"/>
              </a:ext>
            </a:extLst>
          </p:cNvPr>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7F19D6F7-3A67-9D49-9F58-5D9E735F11EF}"/>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9/22/2026</a:t>
            </a:fld>
            <a:endParaRPr lang="en-US" dirty="0"/>
          </a:p>
        </p:txBody>
      </p:sp>
      <p:sp>
        <p:nvSpPr>
          <p:cNvPr id="6" name="Footer Placeholder 5">
            <a:extLst>
              <a:ext uri="{FF2B5EF4-FFF2-40B4-BE49-F238E27FC236}">
                <a16:creationId xmlns:a16="http://schemas.microsoft.com/office/drawing/2014/main" id="{6764200C-8FAC-C946-AF60-B7CF72A5B417}"/>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9D15963A-2905-744B-A1CB-924E25AEF797}"/>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6985834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6405E-EF49-4C43-9074-909A6AA819FF}"/>
              </a:ext>
            </a:extLst>
          </p:cNvPr>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30190071-035A-4B44-99A9-F840D1892B7B}"/>
              </a:ext>
            </a:extLst>
          </p:cNvPr>
          <p:cNvSpPr>
            <a:spLocks noGrp="1"/>
          </p:cNvSpPr>
          <p:nvPr>
            <p:ph type="pic" idx="1"/>
          </p:nvPr>
        </p:nvSpPr>
        <p:spPr>
          <a:xfrm>
            <a:off x="3887391" y="987426"/>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a:extLst>
              <a:ext uri="{FF2B5EF4-FFF2-40B4-BE49-F238E27FC236}">
                <a16:creationId xmlns:a16="http://schemas.microsoft.com/office/drawing/2014/main" id="{FA0F6A45-5BE4-D44D-BBB6-85EE6C7CCCB3}"/>
              </a:ext>
            </a:extLst>
          </p:cNvPr>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DCC2EEC7-A25A-6142-85BF-BE6528550F99}"/>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9/22/2026</a:t>
            </a:fld>
            <a:endParaRPr lang="en-US" dirty="0"/>
          </a:p>
        </p:txBody>
      </p:sp>
      <p:sp>
        <p:nvSpPr>
          <p:cNvPr id="6" name="Footer Placeholder 5">
            <a:extLst>
              <a:ext uri="{FF2B5EF4-FFF2-40B4-BE49-F238E27FC236}">
                <a16:creationId xmlns:a16="http://schemas.microsoft.com/office/drawing/2014/main" id="{5FD50E63-7011-A047-B8AF-00FC54769D87}"/>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0F54B68B-87E9-194E-84B4-232DD0166B2B}"/>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32406247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9162F-F357-EA41-8E14-E2E96BC619F8}"/>
              </a:ext>
            </a:extLst>
          </p:cNvPr>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958E52B-F9B7-C641-B817-D01DDA63FCF8}"/>
              </a:ext>
            </a:extLst>
          </p:cNvPr>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4B940B-7E4A-4E4C-AA21-8ED7064A1973}"/>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9/22/2026</a:t>
            </a:fld>
            <a:endParaRPr lang="en-US" dirty="0"/>
          </a:p>
        </p:txBody>
      </p:sp>
      <p:sp>
        <p:nvSpPr>
          <p:cNvPr id="5" name="Footer Placeholder 4">
            <a:extLst>
              <a:ext uri="{FF2B5EF4-FFF2-40B4-BE49-F238E27FC236}">
                <a16:creationId xmlns:a16="http://schemas.microsoft.com/office/drawing/2014/main" id="{1943A704-0834-0A46-A531-AFE8B30454AB}"/>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D0B1DB4A-81AA-524F-8968-2F1F931B926E}"/>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41041097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532087-06F1-0E43-8458-793019D600C1}"/>
              </a:ext>
            </a:extLst>
          </p:cNvPr>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23B06C-2484-7944-B893-9AA6051ADCC7}"/>
              </a:ext>
            </a:extLst>
          </p:cNvPr>
          <p:cNvSpPr>
            <a:spLocks noGrp="1"/>
          </p:cNvSpPr>
          <p:nvPr>
            <p:ph type="body" orient="vert" idx="1"/>
          </p:nvPr>
        </p:nvSpPr>
        <p:spPr>
          <a:xfrm>
            <a:off x="628650"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C6C461-BB65-144E-8CC3-EA9517551E0C}"/>
              </a:ext>
            </a:extLst>
          </p:cNvPr>
          <p:cNvSpPr>
            <a:spLocks noGrp="1"/>
          </p:cNvSpPr>
          <p:nvPr>
            <p:ph type="dt" sz="half" idx="10"/>
          </p:nvPr>
        </p:nvSpPr>
        <p:spPr>
          <a:xfrm>
            <a:off x="628650" y="6356351"/>
            <a:ext cx="2057400" cy="365125"/>
          </a:xfrm>
          <a:prstGeom prst="rect">
            <a:avLst/>
          </a:prstGeom>
        </p:spPr>
        <p:txBody>
          <a:bodyPr/>
          <a:lstStyle/>
          <a:p>
            <a:fld id="{12DDC86E-7F6A-8847-BE10-53E5F8454BA4}" type="datetimeFigureOut">
              <a:rPr lang="en-US" smtClean="0"/>
              <a:t>9/22/2026</a:t>
            </a:fld>
            <a:endParaRPr lang="en-US" dirty="0"/>
          </a:p>
        </p:txBody>
      </p:sp>
      <p:sp>
        <p:nvSpPr>
          <p:cNvPr id="5" name="Footer Placeholder 4">
            <a:extLst>
              <a:ext uri="{FF2B5EF4-FFF2-40B4-BE49-F238E27FC236}">
                <a16:creationId xmlns:a16="http://schemas.microsoft.com/office/drawing/2014/main" id="{3B7609BD-A584-6849-AC27-63D67D2E9A9E}"/>
              </a:ext>
            </a:extLst>
          </p:cNvPr>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8DA9AC4F-E299-F542-999F-3AA00686F83A}"/>
              </a:ext>
            </a:extLst>
          </p:cNvPr>
          <p:cNvSpPr>
            <a:spLocks noGrp="1"/>
          </p:cNvSpPr>
          <p:nvPr>
            <p:ph type="sldNum" sz="quarter" idx="12"/>
          </p:nvPr>
        </p:nvSpPr>
        <p:spPr>
          <a:xfrm>
            <a:off x="6457950" y="6356351"/>
            <a:ext cx="2057400" cy="365125"/>
          </a:xfrm>
          <a:prstGeom prst="rect">
            <a:avLst/>
          </a:prstGeom>
        </p:spPr>
        <p:txBody>
          <a:bodyPr/>
          <a:lstStyle/>
          <a:p>
            <a:fld id="{F462887E-0C4E-EF4C-B5B1-16971EA59E94}" type="slidenum">
              <a:rPr lang="en-US" smtClean="0"/>
              <a:t>‹#›</a:t>
            </a:fld>
            <a:endParaRPr lang="en-US" dirty="0"/>
          </a:p>
        </p:txBody>
      </p:sp>
    </p:spTree>
    <p:extLst>
      <p:ext uri="{BB962C8B-B14F-4D97-AF65-F5344CB8AC3E}">
        <p14:creationId xmlns:p14="http://schemas.microsoft.com/office/powerpoint/2010/main" val="20128687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Slide with Bullet points">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13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theme" Target="../theme/theme2.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6" Type="http://schemas.openxmlformats.org/officeDocument/2006/relationships/image" Target="../media/image4.emf"/><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image" Target="../media/image2.emf"/><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CD2098B-2466-0442-A16D-F8837046996A}"/>
              </a:ext>
            </a:extLst>
          </p:cNvPr>
          <p:cNvPicPr>
            <a:picLocks noChangeAspect="1"/>
          </p:cNvPicPr>
          <p:nvPr userDrawn="1"/>
        </p:nvPicPr>
        <p:blipFill rotWithShape="1">
          <a:blip r:embed="rId22"/>
          <a:srcRect t="49150" b="41700"/>
          <a:stretch/>
        </p:blipFill>
        <p:spPr>
          <a:xfrm>
            <a:off x="0" y="6371765"/>
            <a:ext cx="9144000" cy="486236"/>
          </a:xfrm>
          <a:prstGeom prst="rect">
            <a:avLst/>
          </a:prstGeom>
        </p:spPr>
      </p:pic>
      <p:pic>
        <p:nvPicPr>
          <p:cNvPr id="2" name="Picture 1">
            <a:extLst>
              <a:ext uri="{FF2B5EF4-FFF2-40B4-BE49-F238E27FC236}">
                <a16:creationId xmlns:a16="http://schemas.microsoft.com/office/drawing/2014/main" id="{3D2021AA-BEA6-F84B-8C8C-EBFA2BEC71F7}"/>
              </a:ext>
            </a:extLst>
          </p:cNvPr>
          <p:cNvPicPr>
            <a:picLocks noChangeAspect="1"/>
          </p:cNvPicPr>
          <p:nvPr userDrawn="1"/>
        </p:nvPicPr>
        <p:blipFill>
          <a:blip r:embed="rId23"/>
          <a:stretch>
            <a:fillRect/>
          </a:stretch>
        </p:blipFill>
        <p:spPr>
          <a:xfrm>
            <a:off x="3491753" y="6512675"/>
            <a:ext cx="2160494" cy="204416"/>
          </a:xfrm>
          <a:prstGeom prst="rect">
            <a:avLst/>
          </a:prstGeom>
        </p:spPr>
      </p:pic>
      <p:pic>
        <p:nvPicPr>
          <p:cNvPr id="3" name="Picture 2">
            <a:extLst>
              <a:ext uri="{FF2B5EF4-FFF2-40B4-BE49-F238E27FC236}">
                <a16:creationId xmlns:a16="http://schemas.microsoft.com/office/drawing/2014/main" id="{2B374FA8-4706-694B-8CFB-7CC9A6A893E5}"/>
              </a:ext>
            </a:extLst>
          </p:cNvPr>
          <p:cNvPicPr>
            <a:picLocks noChangeAspect="1"/>
          </p:cNvPicPr>
          <p:nvPr userDrawn="1"/>
        </p:nvPicPr>
        <p:blipFill>
          <a:blip r:embed="rId24"/>
          <a:stretch>
            <a:fillRect/>
          </a:stretch>
        </p:blipFill>
        <p:spPr>
          <a:xfrm>
            <a:off x="7909923" y="229285"/>
            <a:ext cx="1023478" cy="460998"/>
          </a:xfrm>
          <a:prstGeom prst="rect">
            <a:avLst/>
          </a:prstGeom>
        </p:spPr>
      </p:pic>
    </p:spTree>
    <p:extLst>
      <p:ext uri="{BB962C8B-B14F-4D97-AF65-F5344CB8AC3E}">
        <p14:creationId xmlns:p14="http://schemas.microsoft.com/office/powerpoint/2010/main" val="364019530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81" r:id="rId12"/>
    <p:sldLayoutId id="2147483682" r:id="rId13"/>
    <p:sldLayoutId id="2147483653" r:id="rId14"/>
    <p:sldLayoutId id="2147483654" r:id="rId15"/>
    <p:sldLayoutId id="2147483655" r:id="rId16"/>
    <p:sldLayoutId id="2147483656" r:id="rId17"/>
    <p:sldLayoutId id="2147483657" r:id="rId18"/>
    <p:sldLayoutId id="2147483658" r:id="rId19"/>
    <p:sldLayoutId id="2147483660" r:id="rId20"/>
  </p:sldLayoutIdLst>
  <p:txStyles>
    <p:titleStyle>
      <a:lvl1pPr algn="l" defTabSz="685800" rtl="0" eaLnBrk="1" latinLnBrk="0" hangingPunct="1">
        <a:lnSpc>
          <a:spcPct val="90000"/>
        </a:lnSpc>
        <a:spcBef>
          <a:spcPct val="0"/>
        </a:spcBef>
        <a:buNone/>
        <a:defRPr sz="3300" b="0" i="0" kern="1200">
          <a:solidFill>
            <a:schemeClr val="tx1"/>
          </a:solidFill>
          <a:latin typeface="Gotham Light" pitchFamily="2"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Gotham Book" pitchFamily="2"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Gotham Book"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Gotham Book"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Gotham Book"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Gotham Book"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BA22FA0-9C03-4349-AB08-7943D18406BC}"/>
              </a:ext>
            </a:extLst>
          </p:cNvPr>
          <p:cNvPicPr>
            <a:picLocks noChangeAspect="1"/>
          </p:cNvPicPr>
          <p:nvPr userDrawn="1"/>
        </p:nvPicPr>
        <p:blipFill rotWithShape="1">
          <a:blip r:embed="rId14"/>
          <a:srcRect t="49150" b="41700"/>
          <a:stretch/>
        </p:blipFill>
        <p:spPr>
          <a:xfrm>
            <a:off x="0" y="6371765"/>
            <a:ext cx="9144000" cy="486236"/>
          </a:xfrm>
          <a:prstGeom prst="rect">
            <a:avLst/>
          </a:prstGeom>
        </p:spPr>
      </p:pic>
      <p:pic>
        <p:nvPicPr>
          <p:cNvPr id="4" name="Picture 3">
            <a:extLst>
              <a:ext uri="{FF2B5EF4-FFF2-40B4-BE49-F238E27FC236}">
                <a16:creationId xmlns:a16="http://schemas.microsoft.com/office/drawing/2014/main" id="{C1C91800-E687-C54C-BC0A-25EE702E1A4B}"/>
              </a:ext>
            </a:extLst>
          </p:cNvPr>
          <p:cNvPicPr>
            <a:picLocks noChangeAspect="1"/>
          </p:cNvPicPr>
          <p:nvPr userDrawn="1"/>
        </p:nvPicPr>
        <p:blipFill>
          <a:blip r:embed="rId15"/>
          <a:stretch>
            <a:fillRect/>
          </a:stretch>
        </p:blipFill>
        <p:spPr>
          <a:xfrm>
            <a:off x="7512424" y="6553287"/>
            <a:ext cx="1367118" cy="129350"/>
          </a:xfrm>
          <a:prstGeom prst="rect">
            <a:avLst/>
          </a:prstGeom>
        </p:spPr>
      </p:pic>
      <p:pic>
        <p:nvPicPr>
          <p:cNvPr id="2" name="Picture 1">
            <a:extLst>
              <a:ext uri="{FF2B5EF4-FFF2-40B4-BE49-F238E27FC236}">
                <a16:creationId xmlns:a16="http://schemas.microsoft.com/office/drawing/2014/main" id="{7F6AB714-90C7-B64F-A7FC-DACF86995471}"/>
              </a:ext>
            </a:extLst>
          </p:cNvPr>
          <p:cNvPicPr>
            <a:picLocks noChangeAspect="1"/>
          </p:cNvPicPr>
          <p:nvPr userDrawn="1"/>
        </p:nvPicPr>
        <p:blipFill>
          <a:blip r:embed="rId16"/>
          <a:stretch>
            <a:fillRect/>
          </a:stretch>
        </p:blipFill>
        <p:spPr>
          <a:xfrm>
            <a:off x="242049" y="6496683"/>
            <a:ext cx="1541930" cy="240863"/>
          </a:xfrm>
          <a:prstGeom prst="rect">
            <a:avLst/>
          </a:prstGeom>
        </p:spPr>
      </p:pic>
    </p:spTree>
    <p:extLst>
      <p:ext uri="{BB962C8B-B14F-4D97-AF65-F5344CB8AC3E}">
        <p14:creationId xmlns:p14="http://schemas.microsoft.com/office/powerpoint/2010/main" val="1630416805"/>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emf"/><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5F9A3F1-8F04-9B40-A392-5C3AF851FE2F}"/>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 y="1"/>
            <a:ext cx="9144000" cy="6858000"/>
          </a:xfrm>
          <a:prstGeom prst="rect">
            <a:avLst/>
          </a:prstGeom>
        </p:spPr>
      </p:pic>
      <p:sp>
        <p:nvSpPr>
          <p:cNvPr id="4" name="Rectangle 3">
            <a:extLst>
              <a:ext uri="{FF2B5EF4-FFF2-40B4-BE49-F238E27FC236}">
                <a16:creationId xmlns:a16="http://schemas.microsoft.com/office/drawing/2014/main" id="{DD9BDD69-E7AD-C74F-87CA-CA3545F7B089}"/>
              </a:ext>
            </a:extLst>
          </p:cNvPr>
          <p:cNvSpPr/>
          <p:nvPr/>
        </p:nvSpPr>
        <p:spPr>
          <a:xfrm>
            <a:off x="2" y="2"/>
            <a:ext cx="9144000" cy="6857998"/>
          </a:xfrm>
          <a:prstGeom prst="rect">
            <a:avLst/>
          </a:prstGeom>
          <a:solidFill>
            <a:schemeClr val="tx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chemeClr val="bg1"/>
              </a:solidFill>
            </a:endParaRPr>
          </a:p>
        </p:txBody>
      </p:sp>
      <p:sp>
        <p:nvSpPr>
          <p:cNvPr id="5" name="TextBox 4">
            <a:extLst>
              <a:ext uri="{FF2B5EF4-FFF2-40B4-BE49-F238E27FC236}">
                <a16:creationId xmlns:a16="http://schemas.microsoft.com/office/drawing/2014/main" id="{2C29DC5D-7397-8C4B-BFE0-D118EF0415F0}"/>
              </a:ext>
            </a:extLst>
          </p:cNvPr>
          <p:cNvSpPr txBox="1"/>
          <p:nvPr/>
        </p:nvSpPr>
        <p:spPr>
          <a:xfrm>
            <a:off x="473969" y="2834714"/>
            <a:ext cx="5176060" cy="1569660"/>
          </a:xfrm>
          <a:prstGeom prst="rect">
            <a:avLst/>
          </a:prstGeom>
          <a:noFill/>
        </p:spPr>
        <p:txBody>
          <a:bodyPr wrap="square" rtlCol="0">
            <a:spAutoFit/>
          </a:bodyPr>
          <a:lstStyle/>
          <a:p>
            <a:r>
              <a:rPr lang="en-US" sz="4800" dirty="0">
                <a:solidFill>
                  <a:schemeClr val="bg1"/>
                </a:solidFill>
                <a:latin typeface="Gotham Book"/>
                <a:cs typeface="Gotham Bold" pitchFamily="2" charset="0"/>
              </a:rPr>
              <a:t>Early Pregnancy</a:t>
            </a:r>
          </a:p>
          <a:p>
            <a:r>
              <a:rPr lang="en-US" sz="4800" dirty="0">
                <a:solidFill>
                  <a:schemeClr val="bg1"/>
                </a:solidFill>
                <a:latin typeface="Gotham Book" pitchFamily="2" charset="0"/>
                <a:cs typeface="Gotham Book" pitchFamily="2" charset="0"/>
              </a:rPr>
              <a:t>TBL</a:t>
            </a:r>
          </a:p>
        </p:txBody>
      </p:sp>
      <p:pic>
        <p:nvPicPr>
          <p:cNvPr id="6" name="Picture 5">
            <a:extLst>
              <a:ext uri="{FF2B5EF4-FFF2-40B4-BE49-F238E27FC236}">
                <a16:creationId xmlns:a16="http://schemas.microsoft.com/office/drawing/2014/main" id="{7B5537B7-37D3-8441-B615-956A4378C3FC}"/>
              </a:ext>
            </a:extLst>
          </p:cNvPr>
          <p:cNvPicPr>
            <a:picLocks noChangeAspect="1"/>
          </p:cNvPicPr>
          <p:nvPr/>
        </p:nvPicPr>
        <p:blipFill>
          <a:blip r:embed="rId4"/>
          <a:stretch>
            <a:fillRect/>
          </a:stretch>
        </p:blipFill>
        <p:spPr>
          <a:xfrm>
            <a:off x="6462899" y="6314174"/>
            <a:ext cx="2357252" cy="223032"/>
          </a:xfrm>
          <a:prstGeom prst="rect">
            <a:avLst/>
          </a:prstGeom>
        </p:spPr>
      </p:pic>
      <p:pic>
        <p:nvPicPr>
          <p:cNvPr id="7" name="Picture 6">
            <a:extLst>
              <a:ext uri="{FF2B5EF4-FFF2-40B4-BE49-F238E27FC236}">
                <a16:creationId xmlns:a16="http://schemas.microsoft.com/office/drawing/2014/main" id="{1F13C2BF-B38E-5B4B-BE35-5E676FB50F63}"/>
              </a:ext>
            </a:extLst>
          </p:cNvPr>
          <p:cNvPicPr>
            <a:picLocks noChangeAspect="1"/>
          </p:cNvPicPr>
          <p:nvPr/>
        </p:nvPicPr>
        <p:blipFill>
          <a:blip r:embed="rId5"/>
          <a:stretch>
            <a:fillRect/>
          </a:stretch>
        </p:blipFill>
        <p:spPr>
          <a:xfrm>
            <a:off x="586979" y="634821"/>
            <a:ext cx="2898891" cy="452834"/>
          </a:xfrm>
          <a:prstGeom prst="rect">
            <a:avLst/>
          </a:prstGeom>
        </p:spPr>
      </p:pic>
    </p:spTree>
    <p:extLst>
      <p:ext uri="{BB962C8B-B14F-4D97-AF65-F5344CB8AC3E}">
        <p14:creationId xmlns:p14="http://schemas.microsoft.com/office/powerpoint/2010/main" val="2809863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7530CC-E909-D841-9D88-2BCF1630C83A}"/>
              </a:ext>
            </a:extLst>
          </p:cNvPr>
          <p:cNvPicPr>
            <a:picLocks noChangeAspect="1"/>
          </p:cNvPicPr>
          <p:nvPr/>
        </p:nvPicPr>
        <p:blipFill rotWithShape="1">
          <a:blip r:embed="rId3" cstate="email">
            <a:alphaModFix amt="25000"/>
            <a:extLst>
              <a:ext uri="{28A0092B-C50C-407E-A947-70E740481C1C}">
                <a14:useLocalDpi xmlns:a14="http://schemas.microsoft.com/office/drawing/2010/main"/>
              </a:ext>
            </a:extLst>
          </a:blip>
          <a:srcRect/>
          <a:stretch/>
        </p:blipFill>
        <p:spPr>
          <a:xfrm>
            <a:off x="0" y="0"/>
            <a:ext cx="9144000" cy="6367345"/>
          </a:xfrm>
          <a:prstGeom prst="rect">
            <a:avLst/>
          </a:prstGeom>
        </p:spPr>
      </p:pic>
      <p:sp>
        <p:nvSpPr>
          <p:cNvPr id="4" name="TextBox 3">
            <a:extLst>
              <a:ext uri="{FF2B5EF4-FFF2-40B4-BE49-F238E27FC236}">
                <a16:creationId xmlns:a16="http://schemas.microsoft.com/office/drawing/2014/main" id="{1AFE25AE-CD5A-2047-B819-FE5D0CDC512D}"/>
              </a:ext>
            </a:extLst>
          </p:cNvPr>
          <p:cNvSpPr txBox="1"/>
          <p:nvPr/>
        </p:nvSpPr>
        <p:spPr>
          <a:xfrm>
            <a:off x="2358099" y="2791257"/>
            <a:ext cx="5186084" cy="784830"/>
          </a:xfrm>
          <a:prstGeom prst="rect">
            <a:avLst/>
          </a:prstGeom>
          <a:noFill/>
        </p:spPr>
        <p:txBody>
          <a:bodyPr wrap="square" rtlCol="0">
            <a:spAutoFit/>
          </a:bodyPr>
          <a:lstStyle/>
          <a:p>
            <a:r>
              <a:rPr lang="en-US" sz="4500" b="1" dirty="0">
                <a:solidFill>
                  <a:schemeClr val="bg2">
                    <a:lumMod val="25000"/>
                  </a:schemeClr>
                </a:solidFill>
                <a:latin typeface="Gotham Bold" pitchFamily="2" charset="0"/>
                <a:cs typeface="Gotham Bold" pitchFamily="2" charset="0"/>
              </a:rPr>
              <a:t>APPLICATIONS</a:t>
            </a:r>
            <a:endParaRPr lang="en-US" sz="4500" dirty="0">
              <a:solidFill>
                <a:schemeClr val="bg2">
                  <a:lumMod val="25000"/>
                </a:schemeClr>
              </a:solidFill>
              <a:latin typeface="Gotham Book" pitchFamily="2" charset="0"/>
              <a:cs typeface="Gotham Book" pitchFamily="2" charset="0"/>
            </a:endParaRPr>
          </a:p>
        </p:txBody>
      </p:sp>
    </p:spTree>
    <p:extLst>
      <p:ext uri="{BB962C8B-B14F-4D97-AF65-F5344CB8AC3E}">
        <p14:creationId xmlns:p14="http://schemas.microsoft.com/office/powerpoint/2010/main" val="1969218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585FCB7-89FF-F442-848F-3A5B4F4EADD3}"/>
              </a:ext>
            </a:extLst>
          </p:cNvPr>
          <p:cNvSpPr/>
          <p:nvPr/>
        </p:nvSpPr>
        <p:spPr>
          <a:xfrm>
            <a:off x="2292351" y="415764"/>
            <a:ext cx="4597400" cy="7649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solidFill>
                <a:schemeClr val="tx2"/>
              </a:solidFill>
            </a:endParaRPr>
          </a:p>
        </p:txBody>
      </p:sp>
      <p:sp>
        <p:nvSpPr>
          <p:cNvPr id="5" name="Shape 116"/>
          <p:cNvSpPr txBox="1"/>
          <p:nvPr/>
        </p:nvSpPr>
        <p:spPr>
          <a:xfrm>
            <a:off x="3110656" y="415764"/>
            <a:ext cx="2660518" cy="564949"/>
          </a:xfrm>
          <a:prstGeom prst="rect">
            <a:avLst/>
          </a:prstGeom>
          <a:noFill/>
          <a:ln>
            <a:noFill/>
          </a:ln>
        </p:spPr>
        <p:txBody>
          <a:bodyPr wrap="square" lIns="68569" tIns="68569" rIns="68569" bIns="68569" anchor="t" anchorCtr="0">
            <a:noAutofit/>
          </a:bodyPr>
          <a:lstStyle/>
          <a:p>
            <a:pPr algn="ctr"/>
            <a:r>
              <a:rPr lang="en-US" sz="3600" dirty="0">
                <a:solidFill>
                  <a:schemeClr val="bg1"/>
                </a:solidFill>
                <a:latin typeface="Gotham Light" charset="0"/>
                <a:ea typeface="Gotham Light" charset="0"/>
                <a:cs typeface="Gotham Light" charset="0"/>
                <a:sym typeface="Source Sans Pro"/>
              </a:rPr>
              <a:t>CASE 1 </a:t>
            </a:r>
          </a:p>
        </p:txBody>
      </p:sp>
      <p:sp>
        <p:nvSpPr>
          <p:cNvPr id="9" name="Shape 116"/>
          <p:cNvSpPr txBox="1"/>
          <p:nvPr/>
        </p:nvSpPr>
        <p:spPr>
          <a:xfrm>
            <a:off x="799778" y="7111609"/>
            <a:ext cx="1164414" cy="303517"/>
          </a:xfrm>
          <a:prstGeom prst="rect">
            <a:avLst/>
          </a:prstGeom>
          <a:noFill/>
          <a:ln>
            <a:noFill/>
          </a:ln>
        </p:spPr>
        <p:txBody>
          <a:bodyPr wrap="square" lIns="68569" tIns="68569" rIns="68569" bIns="68569" anchor="t" anchorCtr="0">
            <a:noAutofit/>
          </a:bodyPr>
          <a:lstStyle/>
          <a:p>
            <a:r>
              <a:rPr lang="en-US" sz="1200" i="1" dirty="0">
                <a:solidFill>
                  <a:srgbClr val="434343"/>
                </a:solidFill>
                <a:latin typeface="Gotham Book Italic" charset="0"/>
                <a:ea typeface="Gotham Book Italic" charset="0"/>
                <a:cs typeface="Gotham Book Italic" charset="0"/>
                <a:sym typeface="Source Sans Pro"/>
              </a:rPr>
              <a:t>Sources, date</a:t>
            </a:r>
          </a:p>
        </p:txBody>
      </p:sp>
      <p:sp>
        <p:nvSpPr>
          <p:cNvPr id="3" name="Shape 117">
            <a:extLst>
              <a:ext uri="{FF2B5EF4-FFF2-40B4-BE49-F238E27FC236}">
                <a16:creationId xmlns:a16="http://schemas.microsoft.com/office/drawing/2014/main" id="{3F9A39A4-08AA-DD25-5FAE-0BE08458F8C3}"/>
              </a:ext>
            </a:extLst>
          </p:cNvPr>
          <p:cNvSpPr txBox="1"/>
          <p:nvPr/>
        </p:nvSpPr>
        <p:spPr>
          <a:xfrm>
            <a:off x="292608" y="1425389"/>
            <a:ext cx="8244781" cy="4565275"/>
          </a:xfrm>
          <a:prstGeom prst="rect">
            <a:avLst/>
          </a:prstGeom>
          <a:noFill/>
          <a:ln>
            <a:noFill/>
          </a:ln>
        </p:spPr>
        <p:txBody>
          <a:bodyPr wrap="square" lIns="68569" tIns="68569" rIns="68569" bIns="68569" anchor="t" anchorCtr="0">
            <a:noAutofit/>
          </a:bodyPr>
          <a:lstStyle/>
          <a:p>
            <a:r>
              <a:rPr lang="en-US" dirty="0"/>
              <a:t>A 25 year old G1P0 comes to see you after having a positive home pregnancy test.  She notes that her last menstrual period was approximately 8 weeks ago.  She notes that she gets a normal period every 5-7 weeks.  She has been having some mild nausea and breast tenderness but otherwise feels well.  She denies any pain or bleeding.  </a:t>
            </a:r>
          </a:p>
          <a:p>
            <a:endParaRPr lang="en-US" dirty="0"/>
          </a:p>
          <a:p>
            <a:r>
              <a:rPr lang="en-US" dirty="0"/>
              <a:t>Her β-</a:t>
            </a:r>
            <a:r>
              <a:rPr lang="en-US" dirty="0" err="1"/>
              <a:t>hCG</a:t>
            </a:r>
            <a:r>
              <a:rPr lang="en-US" dirty="0"/>
              <a:t> is 2,400 </a:t>
            </a:r>
            <a:r>
              <a:rPr lang="en-US" dirty="0" err="1"/>
              <a:t>mIU</a:t>
            </a:r>
            <a:r>
              <a:rPr lang="en-US" dirty="0"/>
              <a:t>/</a:t>
            </a:r>
            <a:r>
              <a:rPr lang="en-US" dirty="0" err="1"/>
              <a:t>mL.</a:t>
            </a:r>
            <a:r>
              <a:rPr lang="en-US" dirty="0"/>
              <a:t>  You get an ultrasound and it shows a gestational sac but no fetal pole.  </a:t>
            </a:r>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406886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CA8C0B-D433-EA4C-BC35-F8964AB65146}"/>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7392202" cy="6380042"/>
          </a:xfrm>
          <a:prstGeom prst="rect">
            <a:avLst/>
          </a:prstGeom>
        </p:spPr>
      </p:pic>
      <p:sp>
        <p:nvSpPr>
          <p:cNvPr id="2" name="Shape 116"/>
          <p:cNvSpPr txBox="1"/>
          <p:nvPr/>
        </p:nvSpPr>
        <p:spPr>
          <a:xfrm>
            <a:off x="501302" y="359633"/>
            <a:ext cx="3629753" cy="1317860"/>
          </a:xfrm>
          <a:prstGeom prst="rect">
            <a:avLst/>
          </a:prstGeom>
          <a:noFill/>
          <a:ln>
            <a:noFill/>
          </a:ln>
        </p:spPr>
        <p:txBody>
          <a:bodyPr wrap="square" lIns="68569" tIns="68569" rIns="68569" bIns="68569" anchor="t" anchorCtr="0">
            <a:noAutofit/>
          </a:bodyPr>
          <a:lstStyle/>
          <a:p>
            <a:r>
              <a:rPr lang="en-US" sz="3600" dirty="0">
                <a:solidFill>
                  <a:schemeClr val="bg1"/>
                </a:solidFill>
                <a:latin typeface="Gotham Light" charset="0"/>
                <a:ea typeface="Gotham Light" charset="0"/>
                <a:cs typeface="Gotham Light" charset="0"/>
                <a:sym typeface="Source Sans Pro"/>
              </a:rPr>
              <a:t>QUESTIONS </a:t>
            </a:r>
          </a:p>
          <a:p>
            <a:r>
              <a:rPr lang="en-US" sz="3600" b="1" dirty="0">
                <a:solidFill>
                  <a:schemeClr val="bg1"/>
                </a:solidFill>
                <a:latin typeface="Gotham" charset="0"/>
                <a:ea typeface="Gotham" charset="0"/>
                <a:cs typeface="Gotham" charset="0"/>
                <a:sym typeface="Source Sans Pro"/>
              </a:rPr>
              <a:t>TO ANSWER</a:t>
            </a:r>
          </a:p>
        </p:txBody>
      </p:sp>
      <p:sp>
        <p:nvSpPr>
          <p:cNvPr id="8" name="Rectangle 7">
            <a:extLst>
              <a:ext uri="{FF2B5EF4-FFF2-40B4-BE49-F238E27FC236}">
                <a16:creationId xmlns:a16="http://schemas.microsoft.com/office/drawing/2014/main" id="{8D38F223-FDE1-3647-82FE-72C5F9F5866A}"/>
              </a:ext>
            </a:extLst>
          </p:cNvPr>
          <p:cNvSpPr/>
          <p:nvPr/>
        </p:nvSpPr>
        <p:spPr>
          <a:xfrm>
            <a:off x="3827722" y="2165349"/>
            <a:ext cx="4728830" cy="355600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400050" indent="-342900">
              <a:lnSpc>
                <a:spcPct val="150000"/>
              </a:lnSpc>
              <a:buClr>
                <a:schemeClr val="bg1"/>
              </a:buClr>
              <a:buFont typeface="+mj-lt"/>
              <a:buAutoNum type="arabicPeriod"/>
            </a:pPr>
            <a:r>
              <a:rPr lang="en-US" dirty="0">
                <a:solidFill>
                  <a:schemeClr val="bg1"/>
                </a:solidFill>
                <a:latin typeface="Gotham Light" charset="0"/>
                <a:ea typeface="Gotham Light" charset="0"/>
                <a:cs typeface="Gotham Light" charset="0"/>
                <a:sym typeface="Source Sans Pro"/>
              </a:rPr>
              <a:t>Is she pregnant?</a:t>
            </a:r>
          </a:p>
          <a:p>
            <a:pPr marL="400050" indent="-342900">
              <a:lnSpc>
                <a:spcPct val="150000"/>
              </a:lnSpc>
              <a:buClr>
                <a:schemeClr val="bg1"/>
              </a:buClr>
              <a:buFont typeface="+mj-lt"/>
              <a:buAutoNum type="arabicPeriod"/>
            </a:pPr>
            <a:r>
              <a:rPr lang="en-US" dirty="0">
                <a:solidFill>
                  <a:schemeClr val="bg1"/>
                </a:solidFill>
                <a:latin typeface="Gotham Light" charset="0"/>
                <a:ea typeface="Gotham Light" charset="0"/>
                <a:cs typeface="Gotham Light" charset="0"/>
                <a:sym typeface="Source Sans Pro"/>
              </a:rPr>
              <a:t>How pregnant is she?</a:t>
            </a:r>
          </a:p>
          <a:p>
            <a:pPr marL="400050" indent="-342900">
              <a:lnSpc>
                <a:spcPct val="150000"/>
              </a:lnSpc>
              <a:buClr>
                <a:schemeClr val="bg1"/>
              </a:buClr>
              <a:buFont typeface="+mj-lt"/>
              <a:buAutoNum type="arabicPeriod"/>
            </a:pPr>
            <a:r>
              <a:rPr lang="en-US" dirty="0">
                <a:solidFill>
                  <a:schemeClr val="bg1"/>
                </a:solidFill>
                <a:latin typeface="Gotham Light" charset="0"/>
                <a:ea typeface="Gotham Light" charset="0"/>
                <a:cs typeface="Gotham Light" charset="0"/>
                <a:sym typeface="Source Sans Pro"/>
              </a:rPr>
              <a:t>Why did you get an ultrasound? </a:t>
            </a:r>
          </a:p>
          <a:p>
            <a:pPr marL="400050" indent="-342900">
              <a:lnSpc>
                <a:spcPct val="150000"/>
              </a:lnSpc>
              <a:buClr>
                <a:schemeClr val="bg1"/>
              </a:buClr>
              <a:buFont typeface="+mj-lt"/>
              <a:buAutoNum type="arabicPeriod"/>
            </a:pPr>
            <a:r>
              <a:rPr lang="en-US" dirty="0">
                <a:solidFill>
                  <a:schemeClr val="bg1"/>
                </a:solidFill>
                <a:latin typeface="Gotham Light" charset="0"/>
                <a:ea typeface="Gotham Light" charset="0"/>
                <a:cs typeface="Gotham Light" charset="0"/>
                <a:sym typeface="Source Sans Pro"/>
              </a:rPr>
              <a:t>What is the next best step? </a:t>
            </a:r>
          </a:p>
        </p:txBody>
      </p:sp>
    </p:spTree>
    <p:extLst>
      <p:ext uri="{BB962C8B-B14F-4D97-AF65-F5344CB8AC3E}">
        <p14:creationId xmlns:p14="http://schemas.microsoft.com/office/powerpoint/2010/main" val="3405905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585FCB7-89FF-F442-848F-3A5B4F4EADD3}"/>
              </a:ext>
            </a:extLst>
          </p:cNvPr>
          <p:cNvSpPr/>
          <p:nvPr/>
        </p:nvSpPr>
        <p:spPr>
          <a:xfrm>
            <a:off x="2292351" y="415764"/>
            <a:ext cx="4578350" cy="7649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solidFill>
                <a:schemeClr val="tx2"/>
              </a:solidFill>
            </a:endParaRPr>
          </a:p>
        </p:txBody>
      </p:sp>
      <p:sp>
        <p:nvSpPr>
          <p:cNvPr id="5" name="Shape 116"/>
          <p:cNvSpPr txBox="1"/>
          <p:nvPr/>
        </p:nvSpPr>
        <p:spPr>
          <a:xfrm>
            <a:off x="3110656" y="415764"/>
            <a:ext cx="2660518" cy="564949"/>
          </a:xfrm>
          <a:prstGeom prst="rect">
            <a:avLst/>
          </a:prstGeom>
          <a:noFill/>
          <a:ln>
            <a:noFill/>
          </a:ln>
        </p:spPr>
        <p:txBody>
          <a:bodyPr wrap="square" lIns="68569" tIns="68569" rIns="68569" bIns="68569" anchor="t" anchorCtr="0">
            <a:noAutofit/>
          </a:bodyPr>
          <a:lstStyle/>
          <a:p>
            <a:pPr algn="ctr"/>
            <a:r>
              <a:rPr lang="en-US" sz="3600" dirty="0">
                <a:solidFill>
                  <a:schemeClr val="bg1"/>
                </a:solidFill>
                <a:latin typeface="Gotham Light" charset="0"/>
                <a:ea typeface="Gotham Light" charset="0"/>
                <a:cs typeface="Gotham Light" charset="0"/>
                <a:sym typeface="Source Sans Pro"/>
              </a:rPr>
              <a:t>CASE 2 </a:t>
            </a:r>
          </a:p>
        </p:txBody>
      </p:sp>
      <p:sp>
        <p:nvSpPr>
          <p:cNvPr id="9" name="Shape 116"/>
          <p:cNvSpPr txBox="1"/>
          <p:nvPr/>
        </p:nvSpPr>
        <p:spPr>
          <a:xfrm>
            <a:off x="799778" y="7111609"/>
            <a:ext cx="1164414" cy="303517"/>
          </a:xfrm>
          <a:prstGeom prst="rect">
            <a:avLst/>
          </a:prstGeom>
          <a:noFill/>
          <a:ln>
            <a:noFill/>
          </a:ln>
        </p:spPr>
        <p:txBody>
          <a:bodyPr wrap="square" lIns="68569" tIns="68569" rIns="68569" bIns="68569" anchor="t" anchorCtr="0">
            <a:noAutofit/>
          </a:bodyPr>
          <a:lstStyle/>
          <a:p>
            <a:r>
              <a:rPr lang="en-US" sz="1200" i="1" dirty="0">
                <a:solidFill>
                  <a:srgbClr val="434343"/>
                </a:solidFill>
                <a:latin typeface="Gotham Book Italic" charset="0"/>
                <a:ea typeface="Gotham Book Italic" charset="0"/>
                <a:cs typeface="Gotham Book Italic" charset="0"/>
                <a:sym typeface="Source Sans Pro"/>
              </a:rPr>
              <a:t>Sources, date</a:t>
            </a:r>
          </a:p>
        </p:txBody>
      </p:sp>
      <p:sp>
        <p:nvSpPr>
          <p:cNvPr id="10" name="Shape 117">
            <a:extLst>
              <a:ext uri="{FF2B5EF4-FFF2-40B4-BE49-F238E27FC236}">
                <a16:creationId xmlns:a16="http://schemas.microsoft.com/office/drawing/2014/main" id="{D1408849-1B77-5549-9ABB-EEB3102B29BF}"/>
              </a:ext>
            </a:extLst>
          </p:cNvPr>
          <p:cNvSpPr txBox="1"/>
          <p:nvPr/>
        </p:nvSpPr>
        <p:spPr>
          <a:xfrm>
            <a:off x="292608" y="1425389"/>
            <a:ext cx="8244781" cy="4565275"/>
          </a:xfrm>
          <a:prstGeom prst="rect">
            <a:avLst/>
          </a:prstGeom>
          <a:noFill/>
          <a:ln>
            <a:noFill/>
          </a:ln>
        </p:spPr>
        <p:txBody>
          <a:bodyPr wrap="square" lIns="68569" tIns="68569" rIns="68569" bIns="68569" anchor="t" anchorCtr="0">
            <a:noAutofit/>
          </a:bodyPr>
          <a:lstStyle/>
          <a:p>
            <a:r>
              <a:rPr lang="en-US" dirty="0"/>
              <a:t>A 30 year old G3P0020 comes to see you for an appointment.  </a:t>
            </a:r>
            <a:r>
              <a:rPr lang="en-US" dirty="0" err="1"/>
              <a:t>LMP</a:t>
            </a:r>
            <a:r>
              <a:rPr lang="en-US" dirty="0"/>
              <a:t> was 6 weeks ago so she took a pregnancy test and it was positive.  She has also been having some left abdominal pain but no vaginal bleeding.  Her β-</a:t>
            </a:r>
            <a:r>
              <a:rPr lang="en-US" dirty="0" err="1"/>
              <a:t>hCG</a:t>
            </a:r>
            <a:r>
              <a:rPr lang="en-US" dirty="0"/>
              <a:t> level is 1,500 </a:t>
            </a:r>
            <a:r>
              <a:rPr lang="en-US" dirty="0" err="1"/>
              <a:t>mIU</a:t>
            </a:r>
            <a:r>
              <a:rPr lang="en-US" dirty="0"/>
              <a:t>/</a:t>
            </a:r>
            <a:r>
              <a:rPr lang="en-US" dirty="0" err="1"/>
              <a:t>mL.</a:t>
            </a:r>
            <a:r>
              <a:rPr lang="en-US" dirty="0"/>
              <a:t>  She has a transvaginal ultrasound that demonstrates no intrauterine pregnancy.  You get a repeat β-</a:t>
            </a:r>
            <a:r>
              <a:rPr lang="en-US" dirty="0" err="1"/>
              <a:t>hCG</a:t>
            </a:r>
            <a:r>
              <a:rPr lang="en-US" dirty="0"/>
              <a:t> 48 hours later and it is now 1,850 </a:t>
            </a:r>
            <a:r>
              <a:rPr lang="en-US" dirty="0" err="1"/>
              <a:t>mIU</a:t>
            </a:r>
            <a:r>
              <a:rPr lang="en-US" dirty="0"/>
              <a:t>/</a:t>
            </a:r>
            <a:r>
              <a:rPr lang="en-US" dirty="0" err="1"/>
              <a:t>mL.</a:t>
            </a:r>
            <a:r>
              <a:rPr lang="en-US" dirty="0"/>
              <a:t>  </a:t>
            </a:r>
          </a:p>
          <a:p>
            <a:endParaRPr lang="en-US" dirty="0"/>
          </a:p>
          <a:p>
            <a:endParaRPr lang="en-US" dirty="0"/>
          </a:p>
          <a:p>
            <a:r>
              <a:rPr lang="en-US" dirty="0"/>
              <a:t>  </a:t>
            </a:r>
          </a:p>
        </p:txBody>
      </p:sp>
    </p:spTree>
    <p:extLst>
      <p:ext uri="{BB962C8B-B14F-4D97-AF65-F5344CB8AC3E}">
        <p14:creationId xmlns:p14="http://schemas.microsoft.com/office/powerpoint/2010/main" val="957919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CA8C0B-D433-EA4C-BC35-F8964AB65146}"/>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7392202" cy="6380042"/>
          </a:xfrm>
          <a:prstGeom prst="rect">
            <a:avLst/>
          </a:prstGeom>
        </p:spPr>
      </p:pic>
      <p:sp>
        <p:nvSpPr>
          <p:cNvPr id="2" name="Shape 116"/>
          <p:cNvSpPr txBox="1"/>
          <p:nvPr/>
        </p:nvSpPr>
        <p:spPr>
          <a:xfrm>
            <a:off x="942247" y="477957"/>
            <a:ext cx="3629753" cy="1317860"/>
          </a:xfrm>
          <a:prstGeom prst="rect">
            <a:avLst/>
          </a:prstGeom>
          <a:noFill/>
          <a:ln>
            <a:noFill/>
          </a:ln>
        </p:spPr>
        <p:txBody>
          <a:bodyPr wrap="square" lIns="68569" tIns="68569" rIns="68569" bIns="68569" anchor="t" anchorCtr="0">
            <a:noAutofit/>
          </a:bodyPr>
          <a:lstStyle/>
          <a:p>
            <a:r>
              <a:rPr lang="en-US" sz="3600" dirty="0">
                <a:solidFill>
                  <a:schemeClr val="bg1"/>
                </a:solidFill>
                <a:latin typeface="Gotham Light" charset="0"/>
                <a:ea typeface="Gotham Light" charset="0"/>
                <a:cs typeface="Gotham Light" charset="0"/>
                <a:sym typeface="Source Sans Pro"/>
              </a:rPr>
              <a:t>QUESTION </a:t>
            </a:r>
          </a:p>
          <a:p>
            <a:r>
              <a:rPr lang="en-US" sz="3600" b="1" dirty="0">
                <a:solidFill>
                  <a:schemeClr val="bg1"/>
                </a:solidFill>
                <a:latin typeface="Gotham" charset="0"/>
                <a:ea typeface="Gotham" charset="0"/>
                <a:cs typeface="Gotham" charset="0"/>
                <a:sym typeface="Source Sans Pro"/>
              </a:rPr>
              <a:t>TO ANSWER</a:t>
            </a:r>
          </a:p>
        </p:txBody>
      </p:sp>
      <p:sp>
        <p:nvSpPr>
          <p:cNvPr id="8" name="Rectangle 7">
            <a:extLst>
              <a:ext uri="{FF2B5EF4-FFF2-40B4-BE49-F238E27FC236}">
                <a16:creationId xmlns:a16="http://schemas.microsoft.com/office/drawing/2014/main" id="{8D38F223-FDE1-3647-82FE-72C5F9F5866A}"/>
              </a:ext>
            </a:extLst>
          </p:cNvPr>
          <p:cNvSpPr/>
          <p:nvPr/>
        </p:nvSpPr>
        <p:spPr>
          <a:xfrm>
            <a:off x="3835800" y="2098674"/>
            <a:ext cx="5041500" cy="3192993"/>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631825" indent="-342900">
              <a:lnSpc>
                <a:spcPct val="150000"/>
              </a:lnSpc>
              <a:buClr>
                <a:schemeClr val="bg1"/>
              </a:buClr>
              <a:buFont typeface="+mj-lt"/>
              <a:buAutoNum type="arabicPeriod"/>
            </a:pPr>
            <a:r>
              <a:rPr lang="en-US" dirty="0">
                <a:solidFill>
                  <a:schemeClr val="lt1"/>
                </a:solidFill>
                <a:latin typeface="Gotham Light" charset="0"/>
                <a:ea typeface="Gotham Light" charset="0"/>
                <a:cs typeface="Gotham Light" charset="0"/>
                <a:sym typeface="Source Sans Pro"/>
              </a:rPr>
              <a:t>Is the pt pregnant? </a:t>
            </a:r>
          </a:p>
          <a:p>
            <a:pPr marL="631825" indent="-342900">
              <a:lnSpc>
                <a:spcPct val="150000"/>
              </a:lnSpc>
              <a:buClr>
                <a:schemeClr val="bg1"/>
              </a:buClr>
              <a:buFont typeface="+mj-lt"/>
              <a:buAutoNum type="arabicPeriod"/>
            </a:pPr>
            <a:r>
              <a:rPr lang="en-US" dirty="0">
                <a:latin typeface="Gotham Light" charset="0"/>
                <a:ea typeface="Gotham Light" charset="0"/>
                <a:cs typeface="Gotham Light" charset="0"/>
                <a:sym typeface="Source Sans Pro"/>
              </a:rPr>
              <a:t>How pregnant? </a:t>
            </a:r>
          </a:p>
          <a:p>
            <a:pPr marL="631825" indent="-342900">
              <a:lnSpc>
                <a:spcPct val="150000"/>
              </a:lnSpc>
              <a:buClr>
                <a:schemeClr val="bg1"/>
              </a:buClr>
              <a:buFont typeface="+mj-lt"/>
              <a:buAutoNum type="arabicPeriod"/>
            </a:pPr>
            <a:r>
              <a:rPr lang="en-US" dirty="0">
                <a:solidFill>
                  <a:schemeClr val="lt1"/>
                </a:solidFill>
                <a:latin typeface="Gotham Light" charset="0"/>
                <a:ea typeface="Gotham Light" charset="0"/>
                <a:cs typeface="Gotham Light" charset="0"/>
                <a:sym typeface="Source Sans Pro"/>
              </a:rPr>
              <a:t>What additional information do you need?</a:t>
            </a:r>
          </a:p>
          <a:p>
            <a:pPr marL="631825" indent="-342900">
              <a:lnSpc>
                <a:spcPct val="150000"/>
              </a:lnSpc>
              <a:buClr>
                <a:schemeClr val="bg1"/>
              </a:buClr>
              <a:buFont typeface="+mj-lt"/>
              <a:buAutoNum type="arabicPeriod"/>
            </a:pPr>
            <a:r>
              <a:rPr lang="en-US" dirty="0">
                <a:latin typeface="Gotham Light" charset="0"/>
                <a:ea typeface="Gotham Light" charset="0"/>
                <a:cs typeface="Gotham Light" charset="0"/>
                <a:sym typeface="Source Sans Pro"/>
              </a:rPr>
              <a:t>What is the differential diagnosis? </a:t>
            </a:r>
            <a:r>
              <a:rPr lang="en-US" dirty="0">
                <a:solidFill>
                  <a:schemeClr val="lt1"/>
                </a:solidFill>
                <a:latin typeface="Gotham Light" charset="0"/>
                <a:ea typeface="Gotham Light" charset="0"/>
                <a:cs typeface="Gotham Light" charset="0"/>
                <a:sym typeface="Source Sans Pro"/>
              </a:rPr>
              <a:t> </a:t>
            </a:r>
          </a:p>
          <a:p>
            <a:pPr marL="631825" indent="-342900">
              <a:lnSpc>
                <a:spcPct val="150000"/>
              </a:lnSpc>
              <a:buClr>
                <a:schemeClr val="bg1"/>
              </a:buClr>
              <a:buFont typeface="+mj-lt"/>
              <a:buAutoNum type="arabicPeriod"/>
            </a:pPr>
            <a:r>
              <a:rPr lang="en-US" dirty="0">
                <a:latin typeface="Gotham Light" charset="0"/>
                <a:ea typeface="Gotham Light" charset="0"/>
                <a:cs typeface="Gotham Light" charset="0"/>
                <a:sym typeface="Source Sans Pro"/>
              </a:rPr>
              <a:t>What is the next best step? </a:t>
            </a:r>
            <a:endParaRPr lang="en-US" dirty="0">
              <a:solidFill>
                <a:schemeClr val="lt1"/>
              </a:solidFill>
              <a:latin typeface="Gotham Light" charset="0"/>
              <a:ea typeface="Gotham Light" charset="0"/>
              <a:cs typeface="Gotham Light" charset="0"/>
              <a:sym typeface="Source Sans Pro"/>
            </a:endParaRPr>
          </a:p>
        </p:txBody>
      </p:sp>
    </p:spTree>
    <p:extLst>
      <p:ext uri="{BB962C8B-B14F-4D97-AF65-F5344CB8AC3E}">
        <p14:creationId xmlns:p14="http://schemas.microsoft.com/office/powerpoint/2010/main" val="1282812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585FCB7-89FF-F442-848F-3A5B4F4EADD3}"/>
              </a:ext>
            </a:extLst>
          </p:cNvPr>
          <p:cNvSpPr/>
          <p:nvPr/>
        </p:nvSpPr>
        <p:spPr>
          <a:xfrm>
            <a:off x="2292350" y="415764"/>
            <a:ext cx="4584700" cy="7649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solidFill>
                <a:schemeClr val="tx2"/>
              </a:solidFill>
            </a:endParaRPr>
          </a:p>
        </p:txBody>
      </p:sp>
      <p:sp>
        <p:nvSpPr>
          <p:cNvPr id="5" name="Shape 116"/>
          <p:cNvSpPr txBox="1"/>
          <p:nvPr/>
        </p:nvSpPr>
        <p:spPr>
          <a:xfrm>
            <a:off x="3072556" y="409414"/>
            <a:ext cx="2660518" cy="764931"/>
          </a:xfrm>
          <a:prstGeom prst="rect">
            <a:avLst/>
          </a:prstGeom>
          <a:noFill/>
          <a:ln>
            <a:noFill/>
          </a:ln>
        </p:spPr>
        <p:txBody>
          <a:bodyPr wrap="square" lIns="68569" tIns="68569" rIns="68569" bIns="68569" anchor="t" anchorCtr="0">
            <a:noAutofit/>
          </a:bodyPr>
          <a:lstStyle/>
          <a:p>
            <a:pPr algn="ctr"/>
            <a:r>
              <a:rPr lang="en-US" sz="3600" dirty="0">
                <a:solidFill>
                  <a:schemeClr val="bg1"/>
                </a:solidFill>
                <a:latin typeface="Gotham Light" charset="0"/>
                <a:ea typeface="Gotham Light" charset="0"/>
                <a:cs typeface="Gotham Light" charset="0"/>
                <a:sym typeface="Source Sans Pro"/>
              </a:rPr>
              <a:t>CASE 3</a:t>
            </a:r>
          </a:p>
        </p:txBody>
      </p:sp>
      <p:sp>
        <p:nvSpPr>
          <p:cNvPr id="9" name="Shape 116"/>
          <p:cNvSpPr txBox="1"/>
          <p:nvPr/>
        </p:nvSpPr>
        <p:spPr>
          <a:xfrm>
            <a:off x="799778" y="7111609"/>
            <a:ext cx="1164414" cy="303517"/>
          </a:xfrm>
          <a:prstGeom prst="rect">
            <a:avLst/>
          </a:prstGeom>
          <a:noFill/>
          <a:ln>
            <a:noFill/>
          </a:ln>
        </p:spPr>
        <p:txBody>
          <a:bodyPr wrap="square" lIns="68569" tIns="68569" rIns="68569" bIns="68569" anchor="t" anchorCtr="0">
            <a:noAutofit/>
          </a:bodyPr>
          <a:lstStyle/>
          <a:p>
            <a:r>
              <a:rPr lang="en-US" sz="1200" i="1" dirty="0">
                <a:solidFill>
                  <a:srgbClr val="434343"/>
                </a:solidFill>
                <a:latin typeface="Gotham Book Italic" charset="0"/>
                <a:ea typeface="Gotham Book Italic" charset="0"/>
                <a:cs typeface="Gotham Book Italic" charset="0"/>
                <a:sym typeface="Source Sans Pro"/>
              </a:rPr>
              <a:t>Sources, date</a:t>
            </a:r>
          </a:p>
        </p:txBody>
      </p:sp>
      <p:sp>
        <p:nvSpPr>
          <p:cNvPr id="10" name="Shape 117">
            <a:extLst>
              <a:ext uri="{FF2B5EF4-FFF2-40B4-BE49-F238E27FC236}">
                <a16:creationId xmlns:a16="http://schemas.microsoft.com/office/drawing/2014/main" id="{D1408849-1B77-5549-9ABB-EEB3102B29BF}"/>
              </a:ext>
            </a:extLst>
          </p:cNvPr>
          <p:cNvSpPr txBox="1"/>
          <p:nvPr/>
        </p:nvSpPr>
        <p:spPr>
          <a:xfrm>
            <a:off x="799778" y="1475539"/>
            <a:ext cx="7245350" cy="3504482"/>
          </a:xfrm>
          <a:prstGeom prst="rect">
            <a:avLst/>
          </a:prstGeom>
          <a:noFill/>
          <a:ln>
            <a:noFill/>
          </a:ln>
        </p:spPr>
        <p:txBody>
          <a:bodyPr wrap="square" lIns="68569" tIns="68569" rIns="68569" bIns="68569" anchor="t" anchorCtr="0">
            <a:noAutofit/>
          </a:bodyPr>
          <a:lstStyle/>
          <a:p>
            <a:r>
              <a:rPr lang="en-US" i="0" dirty="0">
                <a:solidFill>
                  <a:srgbClr val="000000"/>
                </a:solidFill>
                <a:effectLst/>
                <a:latin typeface="UICTFontTextStyleBody"/>
              </a:rPr>
              <a:t>34-year-old </a:t>
            </a:r>
            <a:r>
              <a:rPr lang="en-US" i="0" dirty="0">
                <a:solidFill>
                  <a:srgbClr val="000000"/>
                </a:solidFill>
                <a:effectLst/>
                <a:latin typeface="UICTFontTextStyleEmphasizedBody"/>
              </a:rPr>
              <a:t>G4P1021</a:t>
            </a:r>
            <a:r>
              <a:rPr lang="en-US" i="0" dirty="0">
                <a:solidFill>
                  <a:srgbClr val="000000"/>
                </a:solidFill>
                <a:effectLst/>
                <a:latin typeface="UICTFontTextStyleBody"/>
              </a:rPr>
              <a:t> presents to clinic with vaginal bleeding and clots with cramping for the past 24 hrs</a:t>
            </a:r>
            <a:r>
              <a:rPr lang="en-US" b="1" i="0" dirty="0">
                <a:solidFill>
                  <a:srgbClr val="000000"/>
                </a:solidFill>
                <a:effectLst/>
                <a:latin typeface="UICTFontTextStyleBody"/>
              </a:rPr>
              <a:t>.</a:t>
            </a:r>
            <a:r>
              <a:rPr lang="en-US" i="0" dirty="0">
                <a:solidFill>
                  <a:srgbClr val="000000"/>
                </a:solidFill>
                <a:effectLst/>
                <a:latin typeface="UICTFontTextStyleBody"/>
              </a:rPr>
              <a:t>  </a:t>
            </a:r>
            <a:r>
              <a:rPr lang="en-US" i="0" dirty="0" err="1">
                <a:solidFill>
                  <a:srgbClr val="000000"/>
                </a:solidFill>
                <a:effectLst/>
                <a:latin typeface="UICTFontTextStyleBody"/>
              </a:rPr>
              <a:t>LMP</a:t>
            </a:r>
            <a:r>
              <a:rPr lang="en-US" i="0" dirty="0">
                <a:solidFill>
                  <a:srgbClr val="000000"/>
                </a:solidFill>
                <a:effectLst/>
                <a:latin typeface="UICTFontTextStyleBody"/>
              </a:rPr>
              <a:t> was 10 wks ago.  </a:t>
            </a:r>
            <a:r>
              <a:rPr lang="en-US" dirty="0">
                <a:solidFill>
                  <a:srgbClr val="000000"/>
                </a:solidFill>
                <a:latin typeface="UICTFontTextStyleBody"/>
              </a:rPr>
              <a:t>She was seen 2 weeks ago and at that visit had an ultrasound that confirmed an intrauterine pregnancy with a </a:t>
            </a:r>
            <a:r>
              <a:rPr lang="en-US" i="0" dirty="0" err="1">
                <a:solidFill>
                  <a:srgbClr val="000000"/>
                </a:solidFill>
                <a:effectLst/>
                <a:latin typeface="UICTFontTextStyleBody"/>
              </a:rPr>
              <a:t>CRL</a:t>
            </a:r>
            <a:r>
              <a:rPr lang="en-US" i="0" dirty="0">
                <a:solidFill>
                  <a:srgbClr val="000000"/>
                </a:solidFill>
                <a:effectLst/>
                <a:latin typeface="UICTFontTextStyleBody"/>
              </a:rPr>
              <a:t> consistent with 8 weeks</a:t>
            </a:r>
            <a:r>
              <a:rPr lang="en-US" i="0" dirty="0">
                <a:solidFill>
                  <a:srgbClr val="000000"/>
                </a:solidFill>
                <a:latin typeface=".AppleSystemUIFont"/>
              </a:rPr>
              <a:t> and </a:t>
            </a:r>
            <a:r>
              <a:rPr lang="en-US" dirty="0">
                <a:solidFill>
                  <a:srgbClr val="000000"/>
                </a:solidFill>
                <a:latin typeface=".AppleSystemUIFont"/>
              </a:rPr>
              <a:t>a fetal heart rate of 160</a:t>
            </a:r>
            <a:r>
              <a:rPr lang="en-US" i="0" dirty="0">
                <a:solidFill>
                  <a:srgbClr val="000000"/>
                </a:solidFill>
                <a:latin typeface=".AppleSystemUIFont"/>
              </a:rPr>
              <a:t>. </a:t>
            </a:r>
          </a:p>
          <a:p>
            <a:endParaRPr lang="en-US" dirty="0">
              <a:solidFill>
                <a:srgbClr val="000000"/>
              </a:solidFill>
              <a:latin typeface=".AppleSystemUIFont"/>
            </a:endParaRPr>
          </a:p>
          <a:p>
            <a:r>
              <a:rPr lang="en-US" dirty="0">
                <a:solidFill>
                  <a:srgbClr val="000000"/>
                </a:solidFill>
                <a:latin typeface=".AppleSystemUIFont"/>
              </a:rPr>
              <a:t>Today is a febrile, has a BP of</a:t>
            </a:r>
            <a:r>
              <a:rPr lang="en-US" i="0" dirty="0">
                <a:solidFill>
                  <a:srgbClr val="000000"/>
                </a:solidFill>
                <a:latin typeface=".AppleSystemUIFont"/>
              </a:rPr>
              <a:t> 118/72 and pulse of 84.  </a:t>
            </a:r>
          </a:p>
          <a:p>
            <a:r>
              <a:rPr lang="en-US" i="0" dirty="0">
                <a:solidFill>
                  <a:srgbClr val="000000"/>
                </a:solidFill>
                <a:effectLst/>
                <a:latin typeface="UICTFontTextStyleBody"/>
              </a:rPr>
              <a:t>β-</a:t>
            </a:r>
            <a:r>
              <a:rPr lang="en-US" i="0" dirty="0" err="1">
                <a:solidFill>
                  <a:srgbClr val="000000"/>
                </a:solidFill>
                <a:effectLst/>
                <a:latin typeface="UICTFontTextStyleBody"/>
              </a:rPr>
              <a:t>hCG</a:t>
            </a:r>
            <a:r>
              <a:rPr lang="en-US" i="0" dirty="0">
                <a:solidFill>
                  <a:srgbClr val="000000"/>
                </a:solidFill>
                <a:effectLst/>
                <a:latin typeface="UICTFontTextStyleBody"/>
              </a:rPr>
              <a:t>:</a:t>
            </a:r>
            <a:endParaRPr lang="en-US" dirty="0">
              <a:solidFill>
                <a:srgbClr val="000000"/>
              </a:solidFill>
              <a:effectLst/>
              <a:latin typeface=".AppleSystemUIFont"/>
            </a:endParaRPr>
          </a:p>
          <a:p>
            <a:r>
              <a:rPr lang="en-US" i="0" dirty="0">
                <a:solidFill>
                  <a:srgbClr val="000000"/>
                </a:solidFill>
                <a:effectLst/>
                <a:latin typeface=".SFUI-Black"/>
              </a:rPr>
              <a:t>• </a:t>
            </a:r>
            <a:r>
              <a:rPr lang="en-US" i="0" dirty="0">
                <a:solidFill>
                  <a:srgbClr val="000000"/>
                </a:solidFill>
                <a:effectLst/>
                <a:latin typeface="UICTFontTextStyleBody"/>
              </a:rPr>
              <a:t>2 weeks ago: 38,000 </a:t>
            </a:r>
            <a:r>
              <a:rPr lang="en-US" i="0" dirty="0" err="1">
                <a:solidFill>
                  <a:srgbClr val="000000"/>
                </a:solidFill>
                <a:effectLst/>
                <a:latin typeface="UICTFontTextStyleBody"/>
              </a:rPr>
              <a:t>mIU</a:t>
            </a:r>
            <a:r>
              <a:rPr lang="en-US" i="0" dirty="0">
                <a:solidFill>
                  <a:srgbClr val="000000"/>
                </a:solidFill>
                <a:effectLst/>
                <a:latin typeface="UICTFontTextStyleBody"/>
              </a:rPr>
              <a:t>/mL</a:t>
            </a:r>
            <a:endParaRPr lang="en-US" dirty="0">
              <a:solidFill>
                <a:srgbClr val="000000"/>
              </a:solidFill>
              <a:effectLst/>
              <a:latin typeface=".AppleSystemUIFont"/>
            </a:endParaRPr>
          </a:p>
          <a:p>
            <a:r>
              <a:rPr lang="en-US" i="0" dirty="0">
                <a:solidFill>
                  <a:srgbClr val="000000"/>
                </a:solidFill>
                <a:effectLst/>
                <a:latin typeface=".SFUI-Black"/>
              </a:rPr>
              <a:t>• </a:t>
            </a:r>
            <a:r>
              <a:rPr lang="en-US" i="0" dirty="0">
                <a:solidFill>
                  <a:srgbClr val="000000"/>
                </a:solidFill>
                <a:effectLst/>
                <a:latin typeface="UICTFontTextStyleBody"/>
              </a:rPr>
              <a:t>Today: 24,500 </a:t>
            </a:r>
            <a:r>
              <a:rPr lang="en-US" i="0" dirty="0" err="1">
                <a:solidFill>
                  <a:srgbClr val="000000"/>
                </a:solidFill>
                <a:effectLst/>
                <a:latin typeface="UICTFontTextStyleBody"/>
              </a:rPr>
              <a:t>mIU</a:t>
            </a:r>
            <a:r>
              <a:rPr lang="en-US" i="0" dirty="0">
                <a:solidFill>
                  <a:srgbClr val="000000"/>
                </a:solidFill>
                <a:effectLst/>
                <a:latin typeface="UICTFontTextStyleBody"/>
              </a:rPr>
              <a:t>/mL</a:t>
            </a:r>
            <a:endParaRPr lang="en-US" dirty="0">
              <a:solidFill>
                <a:srgbClr val="000000"/>
              </a:solidFill>
              <a:effectLst/>
              <a:latin typeface=".AppleSystemUIFont"/>
            </a:endParaRPr>
          </a:p>
          <a:p>
            <a:endParaRPr lang="en-US" i="0" dirty="0">
              <a:solidFill>
                <a:srgbClr val="000000"/>
              </a:solidFill>
              <a:effectLst/>
              <a:latin typeface="UICTFontTextStyleBody"/>
            </a:endParaRPr>
          </a:p>
          <a:p>
            <a:r>
              <a:rPr lang="en-US" i="0" dirty="0">
                <a:solidFill>
                  <a:srgbClr val="000000"/>
                </a:solidFill>
                <a:effectLst/>
                <a:latin typeface="UICTFontTextStyleBody"/>
              </a:rPr>
              <a:t>Ultrasound today:</a:t>
            </a:r>
            <a:r>
              <a:rPr lang="en-US" dirty="0">
                <a:solidFill>
                  <a:srgbClr val="000000"/>
                </a:solidFill>
                <a:latin typeface=".AppleSystemUIFont"/>
              </a:rPr>
              <a:t> </a:t>
            </a:r>
            <a:r>
              <a:rPr lang="en-US" i="0" dirty="0">
                <a:solidFill>
                  <a:srgbClr val="000000"/>
                </a:solidFill>
                <a:effectLst/>
                <a:latin typeface="UICTFontTextStyleBody"/>
              </a:rPr>
              <a:t>Intrauterine gestational sac present, </a:t>
            </a:r>
            <a:r>
              <a:rPr lang="en-US" i="0" dirty="0">
                <a:solidFill>
                  <a:srgbClr val="000000"/>
                </a:solidFill>
                <a:effectLst/>
                <a:latin typeface=".AppleSystemUIFont"/>
              </a:rPr>
              <a:t>e</a:t>
            </a:r>
            <a:r>
              <a:rPr lang="en-US" i="0" dirty="0">
                <a:solidFill>
                  <a:srgbClr val="000000"/>
                </a:solidFill>
                <a:effectLst/>
                <a:latin typeface="UICTFontTextStyleBody"/>
              </a:rPr>
              <a:t>mbryo measures 8 weeks 2 days</a:t>
            </a:r>
            <a:r>
              <a:rPr lang="en-US" dirty="0">
                <a:solidFill>
                  <a:srgbClr val="000000"/>
                </a:solidFill>
                <a:latin typeface=".AppleSystemUIFont"/>
              </a:rPr>
              <a:t>, n</a:t>
            </a:r>
            <a:r>
              <a:rPr lang="en-US" i="0" dirty="0">
                <a:solidFill>
                  <a:srgbClr val="000000"/>
                </a:solidFill>
                <a:effectLst/>
                <a:latin typeface="UICTFontTextStyleBody"/>
              </a:rPr>
              <a:t>o cardiac activity identified.</a:t>
            </a:r>
            <a:endParaRPr lang="en-US" dirty="0">
              <a:solidFill>
                <a:srgbClr val="000000"/>
              </a:solidFill>
              <a:effectLst/>
              <a:latin typeface=".AppleSystemUIFont"/>
            </a:endParaRPr>
          </a:p>
          <a:p>
            <a:endParaRPr lang="en-US" b="1" dirty="0">
              <a:solidFill>
                <a:srgbClr val="000000"/>
              </a:solidFill>
              <a:latin typeface="UICTFontTextStyleBody"/>
            </a:endParaRPr>
          </a:p>
          <a:p>
            <a:pPr marL="285750" indent="-285750">
              <a:buFont typeface="Arial" panose="020B0604020202020204" pitchFamily="34" charset="0"/>
              <a:buChar char="•"/>
            </a:pPr>
            <a:endParaRPr lang="en-US" dirty="0">
              <a:solidFill>
                <a:srgbClr val="000000"/>
              </a:solidFill>
              <a:effectLst/>
              <a:latin typeface=".AppleSystemUIFont"/>
            </a:endParaRPr>
          </a:p>
          <a:p>
            <a:endParaRPr lang="en-US" dirty="0">
              <a:solidFill>
                <a:srgbClr val="000000"/>
              </a:solidFill>
              <a:effectLst/>
              <a:latin typeface=".AppleSystemUIFont"/>
            </a:endParaRPr>
          </a:p>
        </p:txBody>
      </p:sp>
    </p:spTree>
    <p:extLst>
      <p:ext uri="{BB962C8B-B14F-4D97-AF65-F5344CB8AC3E}">
        <p14:creationId xmlns:p14="http://schemas.microsoft.com/office/powerpoint/2010/main" val="765896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CA8C0B-D433-EA4C-BC35-F8964AB65146}"/>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7392202" cy="6380042"/>
          </a:xfrm>
          <a:prstGeom prst="rect">
            <a:avLst/>
          </a:prstGeom>
        </p:spPr>
      </p:pic>
      <p:sp>
        <p:nvSpPr>
          <p:cNvPr id="2" name="Shape 116"/>
          <p:cNvSpPr txBox="1"/>
          <p:nvPr/>
        </p:nvSpPr>
        <p:spPr>
          <a:xfrm>
            <a:off x="773372" y="489376"/>
            <a:ext cx="3629753" cy="1317860"/>
          </a:xfrm>
          <a:prstGeom prst="rect">
            <a:avLst/>
          </a:prstGeom>
          <a:noFill/>
          <a:ln>
            <a:noFill/>
          </a:ln>
        </p:spPr>
        <p:txBody>
          <a:bodyPr wrap="square" lIns="68569" tIns="68569" rIns="68569" bIns="68569" anchor="t" anchorCtr="0">
            <a:noAutofit/>
          </a:bodyPr>
          <a:lstStyle/>
          <a:p>
            <a:r>
              <a:rPr lang="en-US" sz="3600" dirty="0">
                <a:solidFill>
                  <a:schemeClr val="bg1"/>
                </a:solidFill>
                <a:latin typeface="Gotham Light" charset="0"/>
                <a:ea typeface="Gotham Light" charset="0"/>
                <a:cs typeface="Gotham Light" charset="0"/>
                <a:sym typeface="Source Sans Pro"/>
              </a:rPr>
              <a:t>QUESTIONS </a:t>
            </a:r>
          </a:p>
          <a:p>
            <a:r>
              <a:rPr lang="en-US" sz="3600" b="1" dirty="0">
                <a:solidFill>
                  <a:schemeClr val="bg1"/>
                </a:solidFill>
                <a:latin typeface="Gotham" charset="0"/>
                <a:ea typeface="Gotham" charset="0"/>
                <a:cs typeface="Gotham" charset="0"/>
                <a:sym typeface="Source Sans Pro"/>
              </a:rPr>
              <a:t>TO ANSWER</a:t>
            </a:r>
          </a:p>
        </p:txBody>
      </p:sp>
      <p:sp>
        <p:nvSpPr>
          <p:cNvPr id="8" name="Rectangle 7">
            <a:extLst>
              <a:ext uri="{FF2B5EF4-FFF2-40B4-BE49-F238E27FC236}">
                <a16:creationId xmlns:a16="http://schemas.microsoft.com/office/drawing/2014/main" id="{8D38F223-FDE1-3647-82FE-72C5F9F5866A}"/>
              </a:ext>
            </a:extLst>
          </p:cNvPr>
          <p:cNvSpPr/>
          <p:nvPr/>
        </p:nvSpPr>
        <p:spPr>
          <a:xfrm>
            <a:off x="3716959" y="1807236"/>
            <a:ext cx="4653669" cy="351901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631825" indent="-342900">
              <a:lnSpc>
                <a:spcPct val="150000"/>
              </a:lnSpc>
              <a:buClr>
                <a:schemeClr val="bg1"/>
              </a:buClr>
              <a:buFont typeface="+mj-lt"/>
              <a:buAutoNum type="arabicPeriod"/>
            </a:pPr>
            <a:r>
              <a:rPr lang="en-US" dirty="0">
                <a:solidFill>
                  <a:schemeClr val="lt1"/>
                </a:solidFill>
                <a:latin typeface="Gotham Light" charset="0"/>
                <a:ea typeface="Gotham Light" charset="0"/>
                <a:cs typeface="Gotham Light" charset="0"/>
                <a:sym typeface="Source Sans Pro"/>
              </a:rPr>
              <a:t>Is the pt pregnant? </a:t>
            </a:r>
          </a:p>
          <a:p>
            <a:pPr marL="631825" indent="-342900">
              <a:lnSpc>
                <a:spcPct val="150000"/>
              </a:lnSpc>
              <a:buClr>
                <a:schemeClr val="bg1"/>
              </a:buClr>
              <a:buFont typeface="+mj-lt"/>
              <a:buAutoNum type="arabicPeriod"/>
            </a:pPr>
            <a:r>
              <a:rPr lang="en-US" dirty="0">
                <a:latin typeface="Gotham Light" charset="0"/>
                <a:ea typeface="Gotham Light" charset="0"/>
                <a:cs typeface="Gotham Light" charset="0"/>
                <a:sym typeface="Source Sans Pro"/>
              </a:rPr>
              <a:t>How pregnant? </a:t>
            </a:r>
          </a:p>
          <a:p>
            <a:pPr marL="631825" indent="-342900">
              <a:lnSpc>
                <a:spcPct val="150000"/>
              </a:lnSpc>
              <a:buClr>
                <a:schemeClr val="bg1"/>
              </a:buClr>
              <a:buFont typeface="+mj-lt"/>
              <a:buAutoNum type="arabicPeriod"/>
            </a:pPr>
            <a:r>
              <a:rPr lang="en-US" dirty="0">
                <a:latin typeface="Gotham Light" charset="0"/>
                <a:ea typeface="Gotham Light" charset="0"/>
                <a:cs typeface="Gotham Light" charset="0"/>
                <a:sym typeface="Source Sans Pro"/>
              </a:rPr>
              <a:t>What other information do you need?</a:t>
            </a:r>
          </a:p>
          <a:p>
            <a:pPr marL="631825" indent="-342900">
              <a:lnSpc>
                <a:spcPct val="150000"/>
              </a:lnSpc>
              <a:buClr>
                <a:schemeClr val="bg1"/>
              </a:buClr>
              <a:buFont typeface="+mj-lt"/>
              <a:buAutoNum type="arabicPeriod"/>
            </a:pPr>
            <a:r>
              <a:rPr lang="en-US" dirty="0">
                <a:latin typeface="Gotham Light" charset="0"/>
                <a:ea typeface="Gotham Light" charset="0"/>
                <a:cs typeface="Gotham Light" charset="0"/>
                <a:sym typeface="Source Sans Pro"/>
              </a:rPr>
              <a:t>What is the probable diagnosis?</a:t>
            </a:r>
          </a:p>
          <a:p>
            <a:pPr marL="631825" indent="-342900">
              <a:lnSpc>
                <a:spcPct val="150000"/>
              </a:lnSpc>
              <a:buClr>
                <a:schemeClr val="bg1"/>
              </a:buClr>
              <a:buFont typeface="+mj-lt"/>
              <a:buAutoNum type="arabicPeriod"/>
            </a:pPr>
            <a:r>
              <a:rPr lang="en-US" dirty="0">
                <a:latin typeface="Gotham Light" charset="0"/>
                <a:ea typeface="Gotham Light" charset="0"/>
                <a:cs typeface="Gotham Light" charset="0"/>
                <a:sym typeface="Source Sans Pro"/>
              </a:rPr>
              <a:t>What do you tell the patient and her partner when they say “But we saw a heartbeat 2 wks ago.”  </a:t>
            </a:r>
          </a:p>
          <a:p>
            <a:pPr marL="631825" indent="-342900">
              <a:lnSpc>
                <a:spcPct val="150000"/>
              </a:lnSpc>
              <a:buClr>
                <a:schemeClr val="bg1"/>
              </a:buClr>
              <a:buFont typeface="+mj-lt"/>
              <a:buAutoNum type="arabicPeriod"/>
            </a:pPr>
            <a:endParaRPr lang="en-US" dirty="0">
              <a:solidFill>
                <a:schemeClr val="lt1"/>
              </a:solidFill>
              <a:latin typeface="Gotham Light" charset="0"/>
              <a:ea typeface="Gotham Light" charset="0"/>
              <a:cs typeface="Gotham Light" charset="0"/>
              <a:sym typeface="Source Sans Pro"/>
            </a:endParaRPr>
          </a:p>
        </p:txBody>
      </p:sp>
    </p:spTree>
    <p:extLst>
      <p:ext uri="{BB962C8B-B14F-4D97-AF65-F5344CB8AC3E}">
        <p14:creationId xmlns:p14="http://schemas.microsoft.com/office/powerpoint/2010/main" val="628403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BCCCACE-052E-4204-9CE8-81C666EA5EC9}"/>
              </a:ext>
            </a:extLst>
          </p:cNvPr>
          <p:cNvSpPr/>
          <p:nvPr/>
        </p:nvSpPr>
        <p:spPr>
          <a:xfrm>
            <a:off x="2292350" y="415764"/>
            <a:ext cx="4584700" cy="7649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solidFill>
                <a:schemeClr val="tx2"/>
              </a:solidFill>
            </a:endParaRPr>
          </a:p>
        </p:txBody>
      </p:sp>
      <p:sp>
        <p:nvSpPr>
          <p:cNvPr id="5" name="Shape 116">
            <a:extLst>
              <a:ext uri="{FF2B5EF4-FFF2-40B4-BE49-F238E27FC236}">
                <a16:creationId xmlns:a16="http://schemas.microsoft.com/office/drawing/2014/main" id="{46AA8A89-F530-EB52-0298-943280DA8BEC}"/>
              </a:ext>
            </a:extLst>
          </p:cNvPr>
          <p:cNvSpPr txBox="1"/>
          <p:nvPr/>
        </p:nvSpPr>
        <p:spPr>
          <a:xfrm>
            <a:off x="3072556" y="409414"/>
            <a:ext cx="2660518" cy="764931"/>
          </a:xfrm>
          <a:prstGeom prst="rect">
            <a:avLst/>
          </a:prstGeom>
          <a:noFill/>
          <a:ln>
            <a:noFill/>
          </a:ln>
        </p:spPr>
        <p:txBody>
          <a:bodyPr wrap="square" lIns="68569" tIns="68569" rIns="68569" bIns="68569" anchor="t" anchorCtr="0">
            <a:noAutofit/>
          </a:bodyPr>
          <a:lstStyle/>
          <a:p>
            <a:pPr algn="ctr"/>
            <a:r>
              <a:rPr lang="en-US" sz="3600">
                <a:solidFill>
                  <a:schemeClr val="bg1"/>
                </a:solidFill>
                <a:latin typeface="Gotham Light" charset="0"/>
                <a:ea typeface="Gotham Light" charset="0"/>
                <a:cs typeface="Gotham Light" charset="0"/>
                <a:sym typeface="Source Sans Pro"/>
              </a:rPr>
              <a:t>CASE 4</a:t>
            </a:r>
          </a:p>
        </p:txBody>
      </p:sp>
      <p:sp>
        <p:nvSpPr>
          <p:cNvPr id="9" name="TextBox 8">
            <a:extLst>
              <a:ext uri="{FF2B5EF4-FFF2-40B4-BE49-F238E27FC236}">
                <a16:creationId xmlns:a16="http://schemas.microsoft.com/office/drawing/2014/main" id="{23A51D8B-B807-4CBF-0568-5264D6E70A6A}"/>
              </a:ext>
            </a:extLst>
          </p:cNvPr>
          <p:cNvSpPr txBox="1"/>
          <p:nvPr/>
        </p:nvSpPr>
        <p:spPr>
          <a:xfrm>
            <a:off x="441739" y="1283804"/>
            <a:ext cx="8282609" cy="5055230"/>
          </a:xfrm>
          <a:prstGeom prst="rect">
            <a:avLst/>
          </a:prstGeom>
          <a:noFill/>
        </p:spPr>
        <p:txBody>
          <a:bodyPr wrap="square">
            <a:spAutoFit/>
          </a:bodyPr>
          <a:lstStyle/>
          <a:p>
            <a:pPr>
              <a:spcAft>
                <a:spcPts val="900"/>
              </a:spcAft>
              <a:buNone/>
            </a:pPr>
            <a:r>
              <a:rPr lang="en-US" i="0" dirty="0">
                <a:solidFill>
                  <a:srgbClr val="000000"/>
                </a:solidFill>
                <a:effectLst/>
                <a:latin typeface="UICTFontTextStyleBody"/>
              </a:rPr>
              <a:t>A 21-year-old </a:t>
            </a:r>
            <a:r>
              <a:rPr lang="en-US" i="0" dirty="0">
                <a:solidFill>
                  <a:srgbClr val="000000"/>
                </a:solidFill>
                <a:effectLst/>
                <a:latin typeface="UICTFontTextStyleEmphasizedBody"/>
              </a:rPr>
              <a:t>G1P0</a:t>
            </a:r>
            <a:r>
              <a:rPr lang="en-US" i="0" dirty="0">
                <a:solidFill>
                  <a:srgbClr val="000000"/>
                </a:solidFill>
                <a:effectLst/>
                <a:latin typeface="UICTFontTextStyleBody"/>
              </a:rPr>
              <a:t> presents to the emergency department for severe nausea and vaginal spotting</a:t>
            </a:r>
            <a:r>
              <a:rPr lang="en-US" b="1" i="0" dirty="0">
                <a:solidFill>
                  <a:srgbClr val="000000"/>
                </a:solidFill>
                <a:effectLst/>
                <a:latin typeface="UICTFontTextStyleBody"/>
              </a:rPr>
              <a:t>.</a:t>
            </a:r>
            <a:r>
              <a:rPr lang="en-US" i="0" dirty="0">
                <a:solidFill>
                  <a:srgbClr val="000000"/>
                </a:solidFill>
                <a:effectLst/>
                <a:latin typeface="UICTFontTextStyleBody"/>
              </a:rPr>
              <a:t>  </a:t>
            </a:r>
            <a:r>
              <a:rPr lang="en-US" i="0" dirty="0" err="1">
                <a:solidFill>
                  <a:srgbClr val="000000"/>
                </a:solidFill>
                <a:effectLst/>
                <a:latin typeface="UICTFontTextStyleBody"/>
              </a:rPr>
              <a:t>LMP</a:t>
            </a:r>
            <a:r>
              <a:rPr lang="en-US" i="0" dirty="0">
                <a:solidFill>
                  <a:srgbClr val="000000"/>
                </a:solidFill>
                <a:effectLst/>
                <a:latin typeface="UICTFontTextStyleBody"/>
              </a:rPr>
              <a:t> was 11 weeks ago. She had a positive pregnancy test 7 wks ago.  </a:t>
            </a:r>
          </a:p>
          <a:p>
            <a:pPr>
              <a:spcAft>
                <a:spcPts val="900"/>
              </a:spcAft>
              <a:buNone/>
            </a:pPr>
            <a:endParaRPr lang="en-US" dirty="0">
              <a:solidFill>
                <a:srgbClr val="000000"/>
              </a:solidFill>
              <a:latin typeface="UICTFontTextStyleBody"/>
            </a:endParaRPr>
          </a:p>
          <a:p>
            <a:pPr>
              <a:spcAft>
                <a:spcPts val="900"/>
              </a:spcAft>
              <a:buNone/>
            </a:pPr>
            <a:r>
              <a:rPr lang="en-US" dirty="0">
                <a:solidFill>
                  <a:srgbClr val="000000"/>
                </a:solidFill>
                <a:effectLst/>
                <a:latin typeface="UICTFontTextStyleBody"/>
              </a:rPr>
              <a:t>Over the past month she has had progressively worsening nausea and vomiting so much so she is having problems holding down even water, much less food. She has also had some intermittent vaginal bleeding but is not having any cramping.  </a:t>
            </a:r>
          </a:p>
          <a:p>
            <a:pPr>
              <a:spcAft>
                <a:spcPts val="900"/>
              </a:spcAft>
              <a:buNone/>
            </a:pPr>
            <a:endParaRPr lang="en-US" dirty="0">
              <a:solidFill>
                <a:srgbClr val="000000"/>
              </a:solidFill>
              <a:latin typeface="UICTFontTextStyleBody"/>
            </a:endParaRPr>
          </a:p>
          <a:p>
            <a:pPr>
              <a:spcAft>
                <a:spcPts val="900"/>
              </a:spcAft>
              <a:buNone/>
            </a:pPr>
            <a:r>
              <a:rPr lang="en-US" dirty="0">
                <a:solidFill>
                  <a:srgbClr val="000000"/>
                </a:solidFill>
                <a:latin typeface="UICTFontTextStyleBody"/>
              </a:rPr>
              <a:t>Today she is afebrile, BP 148/92 and a pulse of 110.  You do a bimanual exam and feel like her uterus is larger than you would expect for what you would expect based on her </a:t>
            </a:r>
            <a:r>
              <a:rPr lang="en-US" dirty="0" err="1">
                <a:solidFill>
                  <a:srgbClr val="000000"/>
                </a:solidFill>
                <a:latin typeface="UICTFontTextStyleBody"/>
              </a:rPr>
              <a:t>LMP</a:t>
            </a:r>
            <a:r>
              <a:rPr lang="en-US" dirty="0">
                <a:solidFill>
                  <a:srgbClr val="000000"/>
                </a:solidFill>
                <a:latin typeface="UICTFontTextStyleBody"/>
              </a:rPr>
              <a:t>. </a:t>
            </a:r>
          </a:p>
          <a:p>
            <a:pPr>
              <a:spcAft>
                <a:spcPts val="900"/>
              </a:spcAft>
              <a:buNone/>
            </a:pPr>
            <a:endParaRPr lang="en-US" dirty="0">
              <a:solidFill>
                <a:srgbClr val="000000"/>
              </a:solidFill>
              <a:effectLst/>
              <a:latin typeface="UICTFontTextStyleBody"/>
            </a:endParaRPr>
          </a:p>
          <a:p>
            <a:pPr>
              <a:spcAft>
                <a:spcPts val="900"/>
              </a:spcAft>
            </a:pPr>
            <a:r>
              <a:rPr lang="en-US" dirty="0">
                <a:solidFill>
                  <a:srgbClr val="000000"/>
                </a:solidFill>
                <a:effectLst/>
                <a:latin typeface=".AppleSystemUIFont"/>
              </a:rPr>
              <a:t>You get a </a:t>
            </a:r>
            <a:r>
              <a:rPr lang="en-US" dirty="0">
                <a:solidFill>
                  <a:schemeClr val="accent5"/>
                </a:solidFill>
              </a:rPr>
              <a:t>β-</a:t>
            </a:r>
            <a:r>
              <a:rPr lang="en-US" dirty="0" err="1">
                <a:solidFill>
                  <a:schemeClr val="accent5"/>
                </a:solidFill>
              </a:rPr>
              <a:t>hCG</a:t>
            </a:r>
            <a:r>
              <a:rPr lang="en-US" dirty="0">
                <a:solidFill>
                  <a:schemeClr val="accent5"/>
                </a:solidFill>
              </a:rPr>
              <a:t> and it is 250,000 IU and an ultrasound demonstrates “heterogeneous intrauterine material with multiple cystic spaces.”  No fetus is identified within the uterine cavity. </a:t>
            </a:r>
          </a:p>
          <a:p>
            <a:pPr>
              <a:spcAft>
                <a:spcPts val="900"/>
              </a:spcAft>
              <a:buNone/>
            </a:pPr>
            <a:endParaRPr lang="en-US" dirty="0">
              <a:solidFill>
                <a:srgbClr val="000000"/>
              </a:solidFill>
              <a:effectLst/>
              <a:latin typeface=".AppleSystemUIFont"/>
            </a:endParaRPr>
          </a:p>
        </p:txBody>
      </p:sp>
    </p:spTree>
    <p:extLst>
      <p:ext uri="{BB962C8B-B14F-4D97-AF65-F5344CB8AC3E}">
        <p14:creationId xmlns:p14="http://schemas.microsoft.com/office/powerpoint/2010/main" val="4279464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CA8C0B-D433-EA4C-BC35-F8964AB65146}"/>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7392202" cy="6380042"/>
          </a:xfrm>
          <a:prstGeom prst="rect">
            <a:avLst/>
          </a:prstGeom>
        </p:spPr>
      </p:pic>
      <p:sp>
        <p:nvSpPr>
          <p:cNvPr id="2" name="Shape 116"/>
          <p:cNvSpPr txBox="1"/>
          <p:nvPr/>
        </p:nvSpPr>
        <p:spPr>
          <a:xfrm>
            <a:off x="773372" y="489376"/>
            <a:ext cx="3629753" cy="1317860"/>
          </a:xfrm>
          <a:prstGeom prst="rect">
            <a:avLst/>
          </a:prstGeom>
          <a:noFill/>
          <a:ln>
            <a:noFill/>
          </a:ln>
        </p:spPr>
        <p:txBody>
          <a:bodyPr wrap="square" lIns="68569" tIns="68569" rIns="68569" bIns="68569" anchor="t" anchorCtr="0">
            <a:noAutofit/>
          </a:bodyPr>
          <a:lstStyle/>
          <a:p>
            <a:r>
              <a:rPr lang="en-US" sz="3600">
                <a:solidFill>
                  <a:schemeClr val="bg1"/>
                </a:solidFill>
                <a:latin typeface="Gotham Light" charset="0"/>
                <a:ea typeface="Gotham Light" charset="0"/>
                <a:cs typeface="Gotham Light" charset="0"/>
                <a:sym typeface="Source Sans Pro"/>
              </a:rPr>
              <a:t>QUESTIONS </a:t>
            </a:r>
          </a:p>
          <a:p>
            <a:r>
              <a:rPr lang="en-US" sz="3600" b="1">
                <a:solidFill>
                  <a:schemeClr val="bg1"/>
                </a:solidFill>
                <a:latin typeface="Gotham" charset="0"/>
                <a:ea typeface="Gotham" charset="0"/>
                <a:cs typeface="Gotham" charset="0"/>
                <a:sym typeface="Source Sans Pro"/>
              </a:rPr>
              <a:t>TO ANSWER</a:t>
            </a:r>
          </a:p>
        </p:txBody>
      </p:sp>
      <p:sp>
        <p:nvSpPr>
          <p:cNvPr id="8" name="Rectangle 7">
            <a:extLst>
              <a:ext uri="{FF2B5EF4-FFF2-40B4-BE49-F238E27FC236}">
                <a16:creationId xmlns:a16="http://schemas.microsoft.com/office/drawing/2014/main" id="{8D38F223-FDE1-3647-82FE-72C5F9F5866A}"/>
              </a:ext>
            </a:extLst>
          </p:cNvPr>
          <p:cNvSpPr/>
          <p:nvPr/>
        </p:nvSpPr>
        <p:spPr>
          <a:xfrm>
            <a:off x="3955524" y="2120892"/>
            <a:ext cx="5151178" cy="4000507"/>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631825" indent="-342900">
              <a:lnSpc>
                <a:spcPct val="150000"/>
              </a:lnSpc>
              <a:buClr>
                <a:schemeClr val="bg1"/>
              </a:buClr>
              <a:buFont typeface="+mj-lt"/>
              <a:buAutoNum type="arabicPeriod"/>
            </a:pPr>
            <a:r>
              <a:rPr lang="en-US" dirty="0">
                <a:solidFill>
                  <a:schemeClr val="lt1"/>
                </a:solidFill>
                <a:latin typeface="Gotham Light" charset="0"/>
                <a:ea typeface="Gotham Light" charset="0"/>
                <a:cs typeface="Gotham Light" charset="0"/>
                <a:sym typeface="Source Sans Pro"/>
              </a:rPr>
              <a:t>Is the pt pregnant? </a:t>
            </a:r>
          </a:p>
          <a:p>
            <a:pPr marL="631825" indent="-342900">
              <a:lnSpc>
                <a:spcPct val="150000"/>
              </a:lnSpc>
              <a:buClr>
                <a:schemeClr val="bg1"/>
              </a:buClr>
              <a:buFont typeface="+mj-lt"/>
              <a:buAutoNum type="arabicPeriod"/>
            </a:pPr>
            <a:r>
              <a:rPr lang="en-US" dirty="0">
                <a:latin typeface="Gotham Light" charset="0"/>
                <a:ea typeface="Gotham Light" charset="0"/>
                <a:cs typeface="Gotham Light" charset="0"/>
                <a:sym typeface="Source Sans Pro"/>
              </a:rPr>
              <a:t>How pregnant?</a:t>
            </a:r>
          </a:p>
          <a:p>
            <a:pPr marL="631825" indent="-342900">
              <a:lnSpc>
                <a:spcPct val="150000"/>
              </a:lnSpc>
              <a:buClr>
                <a:schemeClr val="bg1"/>
              </a:buClr>
              <a:buFont typeface="+mj-lt"/>
              <a:buAutoNum type="arabicPeriod"/>
            </a:pPr>
            <a:r>
              <a:rPr lang="en-US" dirty="0">
                <a:latin typeface="Gotham Light" charset="0"/>
                <a:ea typeface="Gotham Light" charset="0"/>
                <a:cs typeface="Gotham Light" charset="0"/>
                <a:sym typeface="Source Sans Pro"/>
              </a:rPr>
              <a:t>What aspect of this pt’s presentation to your clinic is the most concerning? </a:t>
            </a:r>
          </a:p>
          <a:p>
            <a:pPr marL="631825" indent="-342900">
              <a:lnSpc>
                <a:spcPct val="150000"/>
              </a:lnSpc>
              <a:buClr>
                <a:schemeClr val="bg1"/>
              </a:buClr>
              <a:buFont typeface="+mj-lt"/>
              <a:buAutoNum type="arabicPeriod"/>
            </a:pPr>
            <a:r>
              <a:rPr lang="en-US" dirty="0">
                <a:latin typeface="Gotham Light" charset="0"/>
                <a:ea typeface="Gotham Light" charset="0"/>
                <a:cs typeface="Gotham Light" charset="0"/>
                <a:sym typeface="Source Sans Pro"/>
              </a:rPr>
              <a:t>What’s the diagnosis? </a:t>
            </a:r>
          </a:p>
          <a:p>
            <a:pPr marL="631825" indent="-342900">
              <a:lnSpc>
                <a:spcPct val="150000"/>
              </a:lnSpc>
              <a:buClr>
                <a:schemeClr val="bg1"/>
              </a:buClr>
              <a:buFont typeface="+mj-lt"/>
              <a:buAutoNum type="arabicPeriod"/>
            </a:pPr>
            <a:r>
              <a:rPr lang="en-US" dirty="0">
                <a:latin typeface="Gotham Light" charset="0"/>
                <a:ea typeface="Gotham Light" charset="0"/>
                <a:cs typeface="Gotham Light" charset="0"/>
                <a:sym typeface="Source Sans Pro"/>
              </a:rPr>
              <a:t> Why are the </a:t>
            </a:r>
            <a:r>
              <a:rPr lang="en-US" dirty="0" err="1">
                <a:latin typeface="Gotham Light" charset="0"/>
                <a:ea typeface="Gotham Light" charset="0"/>
                <a:cs typeface="Gotham Light" charset="0"/>
                <a:sym typeface="Source Sans Pro"/>
              </a:rPr>
              <a:t>hCG</a:t>
            </a:r>
            <a:r>
              <a:rPr lang="en-US" dirty="0">
                <a:latin typeface="Gotham Light" charset="0"/>
                <a:ea typeface="Gotham Light" charset="0"/>
                <a:cs typeface="Gotham Light" charset="0"/>
                <a:sym typeface="Source Sans Pro"/>
              </a:rPr>
              <a:t> levels so high? </a:t>
            </a:r>
          </a:p>
          <a:p>
            <a:pPr marL="631825" indent="-342900">
              <a:lnSpc>
                <a:spcPct val="150000"/>
              </a:lnSpc>
              <a:buClr>
                <a:schemeClr val="bg1"/>
              </a:buClr>
              <a:buFont typeface="+mj-lt"/>
              <a:buAutoNum type="arabicPeriod"/>
            </a:pPr>
            <a:r>
              <a:rPr lang="en-US" dirty="0">
                <a:latin typeface="Gotham Light" charset="0"/>
                <a:ea typeface="Gotham Light" charset="0"/>
                <a:cs typeface="Gotham Light" charset="0"/>
                <a:sym typeface="Source Sans Pro"/>
              </a:rPr>
              <a:t>What part of embryology has gone awry?</a:t>
            </a:r>
          </a:p>
          <a:p>
            <a:pPr marL="288925">
              <a:lnSpc>
                <a:spcPct val="150000"/>
              </a:lnSpc>
              <a:buClr>
                <a:schemeClr val="bg1"/>
              </a:buClr>
            </a:pPr>
            <a:endParaRPr lang="en-US" dirty="0">
              <a:latin typeface="Gotham Light" charset="0"/>
              <a:ea typeface="Gotham Light" charset="0"/>
              <a:cs typeface="Gotham Light" charset="0"/>
              <a:sym typeface="Source Sans Pro"/>
            </a:endParaRPr>
          </a:p>
          <a:p>
            <a:pPr marL="631825" indent="-342900">
              <a:lnSpc>
                <a:spcPct val="150000"/>
              </a:lnSpc>
              <a:buClr>
                <a:schemeClr val="bg1"/>
              </a:buClr>
              <a:buFont typeface="+mj-lt"/>
              <a:buAutoNum type="arabicPeriod"/>
            </a:pPr>
            <a:endParaRPr lang="en-US" dirty="0">
              <a:solidFill>
                <a:schemeClr val="lt1"/>
              </a:solidFill>
              <a:latin typeface="Gotham Light" charset="0"/>
              <a:ea typeface="Gotham Light" charset="0"/>
              <a:cs typeface="Gotham Light" charset="0"/>
              <a:sym typeface="Source Sans Pro"/>
            </a:endParaRPr>
          </a:p>
        </p:txBody>
      </p:sp>
      <p:sp>
        <p:nvSpPr>
          <p:cNvPr id="3" name="Rectangle 2">
            <a:extLst>
              <a:ext uri="{FF2B5EF4-FFF2-40B4-BE49-F238E27FC236}">
                <a16:creationId xmlns:a16="http://schemas.microsoft.com/office/drawing/2014/main" id="{9111FA09-682D-5560-DDE3-F84D9CC3D02F}"/>
              </a:ext>
            </a:extLst>
          </p:cNvPr>
          <p:cNvSpPr/>
          <p:nvPr/>
        </p:nvSpPr>
        <p:spPr>
          <a:xfrm rot="20786196">
            <a:off x="1758515" y="2068912"/>
            <a:ext cx="6852085" cy="3416320"/>
          </a:xfrm>
          <a:prstGeom prst="rect">
            <a:avLst/>
          </a:prstGeom>
          <a:ln>
            <a:noFill/>
          </a:ln>
          <a:effectLst>
            <a:outerShdw blurRad="225425" dist="50800" dir="5220000" algn="ctr">
              <a:srgbClr val="000000">
                <a:alpha val="33000"/>
              </a:srgbClr>
            </a:outerShdw>
          </a:effectLst>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algn="ctr"/>
            <a:r>
              <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You must  ALWAYS follow the </a:t>
            </a:r>
            <a:r>
              <a:rPr lang="en-US" sz="5400" b="1" cap="none" spc="0" dirty="0" err="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hCG</a:t>
            </a:r>
            <a:r>
              <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 to zero in gestational trophoblastic disease</a:t>
            </a:r>
          </a:p>
        </p:txBody>
      </p:sp>
    </p:spTree>
    <p:extLst>
      <p:ext uri="{BB962C8B-B14F-4D97-AF65-F5344CB8AC3E}">
        <p14:creationId xmlns:p14="http://schemas.microsoft.com/office/powerpoint/2010/main" val="3819347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AA05F81-5CA5-7109-DF23-9CCC4DCD8949}"/>
              </a:ext>
            </a:extLst>
          </p:cNvPr>
          <p:cNvSpPr/>
          <p:nvPr/>
        </p:nvSpPr>
        <p:spPr>
          <a:xfrm>
            <a:off x="2292350" y="415764"/>
            <a:ext cx="4584700" cy="7649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solidFill>
                <a:schemeClr val="tx2"/>
              </a:solidFill>
            </a:endParaRPr>
          </a:p>
        </p:txBody>
      </p:sp>
      <p:sp>
        <p:nvSpPr>
          <p:cNvPr id="5" name="Shape 116">
            <a:extLst>
              <a:ext uri="{FF2B5EF4-FFF2-40B4-BE49-F238E27FC236}">
                <a16:creationId xmlns:a16="http://schemas.microsoft.com/office/drawing/2014/main" id="{D8B0B9DC-CCD2-5F63-BE80-CA1186F3B7FB}"/>
              </a:ext>
            </a:extLst>
          </p:cNvPr>
          <p:cNvSpPr txBox="1"/>
          <p:nvPr/>
        </p:nvSpPr>
        <p:spPr>
          <a:xfrm>
            <a:off x="3072556" y="409414"/>
            <a:ext cx="2660518" cy="764931"/>
          </a:xfrm>
          <a:prstGeom prst="rect">
            <a:avLst/>
          </a:prstGeom>
          <a:noFill/>
          <a:ln>
            <a:noFill/>
          </a:ln>
        </p:spPr>
        <p:txBody>
          <a:bodyPr wrap="square" lIns="68569" tIns="68569" rIns="68569" bIns="68569" anchor="t" anchorCtr="0">
            <a:noAutofit/>
          </a:bodyPr>
          <a:lstStyle/>
          <a:p>
            <a:pPr algn="ctr"/>
            <a:r>
              <a:rPr lang="en-US" sz="3600">
                <a:solidFill>
                  <a:schemeClr val="bg1"/>
                </a:solidFill>
                <a:latin typeface="Gotham Light" charset="0"/>
                <a:ea typeface="Gotham Light" charset="0"/>
                <a:cs typeface="Gotham Light" charset="0"/>
                <a:sym typeface="Source Sans Pro"/>
              </a:rPr>
              <a:t>CASE 5</a:t>
            </a:r>
          </a:p>
        </p:txBody>
      </p:sp>
      <p:sp>
        <p:nvSpPr>
          <p:cNvPr id="4" name="TextBox 3">
            <a:extLst>
              <a:ext uri="{FF2B5EF4-FFF2-40B4-BE49-F238E27FC236}">
                <a16:creationId xmlns:a16="http://schemas.microsoft.com/office/drawing/2014/main" id="{728CCD93-0CFB-D18D-2CC8-CA6C5BC3680F}"/>
              </a:ext>
            </a:extLst>
          </p:cNvPr>
          <p:cNvSpPr txBox="1"/>
          <p:nvPr/>
        </p:nvSpPr>
        <p:spPr>
          <a:xfrm>
            <a:off x="711200" y="1498600"/>
            <a:ext cx="7861300" cy="1477328"/>
          </a:xfrm>
          <a:prstGeom prst="rect">
            <a:avLst/>
          </a:prstGeom>
          <a:noFill/>
        </p:spPr>
        <p:txBody>
          <a:bodyPr wrap="square" rtlCol="0">
            <a:spAutoFit/>
          </a:bodyPr>
          <a:lstStyle/>
          <a:p>
            <a:r>
              <a:rPr lang="en-US" dirty="0">
                <a:solidFill>
                  <a:schemeClr val="accent5"/>
                </a:solidFill>
              </a:rPr>
              <a:t>29-year-old </a:t>
            </a:r>
            <a:r>
              <a:rPr lang="en-US" b="1" dirty="0">
                <a:solidFill>
                  <a:schemeClr val="accent5"/>
                </a:solidFill>
              </a:rPr>
              <a:t>G2P1102</a:t>
            </a:r>
            <a:r>
              <a:rPr lang="en-US" dirty="0">
                <a:solidFill>
                  <a:schemeClr val="accent5"/>
                </a:solidFill>
              </a:rPr>
              <a:t> presents for early prenatal care.  First pregnancy was complicated by gestational diabetes, 2</a:t>
            </a:r>
            <a:r>
              <a:rPr lang="en-US" baseline="30000" dirty="0">
                <a:solidFill>
                  <a:schemeClr val="accent5"/>
                </a:solidFill>
              </a:rPr>
              <a:t>nd</a:t>
            </a:r>
            <a:r>
              <a:rPr lang="en-US" dirty="0">
                <a:solidFill>
                  <a:schemeClr val="accent5"/>
                </a:solidFill>
              </a:rPr>
              <a:t> pregnancy was complicated by gestational diabetes, preeclampsia and preterm delivery.  </a:t>
            </a:r>
          </a:p>
          <a:p>
            <a:endParaRPr lang="en-US" dirty="0">
              <a:solidFill>
                <a:schemeClr val="accent5"/>
              </a:solidFill>
            </a:endParaRPr>
          </a:p>
          <a:p>
            <a:r>
              <a:rPr lang="en-US" dirty="0">
                <a:solidFill>
                  <a:schemeClr val="accent5"/>
                </a:solidFill>
              </a:rPr>
              <a:t>She comes in today for pregestational counseling.  </a:t>
            </a:r>
            <a:endParaRPr lang="en-US" dirty="0"/>
          </a:p>
        </p:txBody>
      </p:sp>
    </p:spTree>
    <p:extLst>
      <p:ext uri="{BB962C8B-B14F-4D97-AF65-F5344CB8AC3E}">
        <p14:creationId xmlns:p14="http://schemas.microsoft.com/office/powerpoint/2010/main" val="2059478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CA8C0B-D433-EA4C-BC35-F8964AB65146}"/>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7392202" cy="6380042"/>
          </a:xfrm>
          <a:prstGeom prst="rect">
            <a:avLst/>
          </a:prstGeom>
        </p:spPr>
      </p:pic>
      <p:sp>
        <p:nvSpPr>
          <p:cNvPr id="2" name="Shape 116"/>
          <p:cNvSpPr txBox="1"/>
          <p:nvPr/>
        </p:nvSpPr>
        <p:spPr>
          <a:xfrm>
            <a:off x="773372" y="489376"/>
            <a:ext cx="3629753" cy="1317860"/>
          </a:xfrm>
          <a:prstGeom prst="rect">
            <a:avLst/>
          </a:prstGeom>
          <a:noFill/>
          <a:ln>
            <a:noFill/>
          </a:ln>
        </p:spPr>
        <p:txBody>
          <a:bodyPr wrap="square" lIns="68569" tIns="68569" rIns="68569" bIns="68569" anchor="t" anchorCtr="0">
            <a:noAutofit/>
          </a:bodyPr>
          <a:lstStyle/>
          <a:p>
            <a:r>
              <a:rPr lang="en-US" sz="3600">
                <a:solidFill>
                  <a:schemeClr val="bg1"/>
                </a:solidFill>
                <a:latin typeface="Gotham Light" charset="0"/>
                <a:ea typeface="Gotham Light" charset="0"/>
                <a:cs typeface="Gotham Light" charset="0"/>
                <a:sym typeface="Source Sans Pro"/>
              </a:rPr>
              <a:t>QUESTIONS </a:t>
            </a:r>
          </a:p>
          <a:p>
            <a:r>
              <a:rPr lang="en-US" sz="3600" b="1">
                <a:solidFill>
                  <a:schemeClr val="bg1"/>
                </a:solidFill>
                <a:latin typeface="Gotham" charset="0"/>
                <a:ea typeface="Gotham" charset="0"/>
                <a:cs typeface="Gotham" charset="0"/>
                <a:sym typeface="Source Sans Pro"/>
              </a:rPr>
              <a:t>TO ANSWER</a:t>
            </a:r>
          </a:p>
        </p:txBody>
      </p:sp>
      <p:sp>
        <p:nvSpPr>
          <p:cNvPr id="8" name="Rectangle 7">
            <a:extLst>
              <a:ext uri="{FF2B5EF4-FFF2-40B4-BE49-F238E27FC236}">
                <a16:creationId xmlns:a16="http://schemas.microsoft.com/office/drawing/2014/main" id="{8D38F223-FDE1-3647-82FE-72C5F9F5866A}"/>
              </a:ext>
            </a:extLst>
          </p:cNvPr>
          <p:cNvSpPr/>
          <p:nvPr/>
        </p:nvSpPr>
        <p:spPr>
          <a:xfrm>
            <a:off x="3696100" y="1930393"/>
            <a:ext cx="5219299" cy="3588760"/>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631825" indent="-342900">
              <a:lnSpc>
                <a:spcPct val="150000"/>
              </a:lnSpc>
              <a:buClr>
                <a:schemeClr val="bg1"/>
              </a:buClr>
              <a:buFont typeface="+mj-lt"/>
              <a:buAutoNum type="arabicPeriod"/>
            </a:pPr>
            <a:r>
              <a:rPr lang="en-US" dirty="0">
                <a:solidFill>
                  <a:schemeClr val="lt1"/>
                </a:solidFill>
                <a:latin typeface="Gotham Light" charset="0"/>
                <a:ea typeface="Gotham Light" charset="0"/>
                <a:cs typeface="Gotham Light" charset="0"/>
                <a:sym typeface="Source Sans Pro"/>
              </a:rPr>
              <a:t>How can the patient best prepare for another pregnancy?</a:t>
            </a:r>
          </a:p>
          <a:p>
            <a:pPr marL="631825" indent="-342900">
              <a:lnSpc>
                <a:spcPct val="150000"/>
              </a:lnSpc>
              <a:buClr>
                <a:schemeClr val="bg1"/>
              </a:buClr>
              <a:buFont typeface="+mj-lt"/>
              <a:buAutoNum type="arabicPeriod"/>
            </a:pPr>
            <a:r>
              <a:rPr lang="en-US" dirty="0">
                <a:latin typeface="Gotham Light" charset="0"/>
                <a:ea typeface="Gotham Light" charset="0"/>
                <a:cs typeface="Gotham Light" charset="0"/>
                <a:sym typeface="Source Sans Pro"/>
              </a:rPr>
              <a:t>What impact does pregnancy have on the patient’s future health?  </a:t>
            </a:r>
          </a:p>
          <a:p>
            <a:pPr marL="631825" indent="-342900">
              <a:lnSpc>
                <a:spcPct val="150000"/>
              </a:lnSpc>
              <a:buClr>
                <a:schemeClr val="bg1"/>
              </a:buClr>
              <a:buFont typeface="+mj-lt"/>
              <a:buAutoNum type="arabicPeriod"/>
            </a:pPr>
            <a:r>
              <a:rPr lang="en-US" dirty="0">
                <a:solidFill>
                  <a:schemeClr val="lt1"/>
                </a:solidFill>
                <a:latin typeface="Gotham Light" charset="0"/>
                <a:ea typeface="Gotham Light" charset="0"/>
                <a:cs typeface="Gotham Light" charset="0"/>
                <a:sym typeface="Source Sans Pro"/>
              </a:rPr>
              <a:t>What impact does the pregnancy have on </a:t>
            </a:r>
            <a:r>
              <a:rPr lang="en-US" dirty="0">
                <a:latin typeface="Gotham Light" charset="0"/>
                <a:ea typeface="Gotham Light" charset="0"/>
                <a:cs typeface="Gotham Light" charset="0"/>
                <a:sym typeface="Source Sans Pro"/>
              </a:rPr>
              <a:t>the health of the child with whom they were pregnant?  </a:t>
            </a:r>
            <a:endParaRPr lang="en-US" dirty="0">
              <a:solidFill>
                <a:schemeClr val="lt1"/>
              </a:solidFill>
              <a:latin typeface="Gotham Light" charset="0"/>
              <a:ea typeface="Gotham Light" charset="0"/>
              <a:cs typeface="Gotham Light" charset="0"/>
              <a:sym typeface="Source Sans Pro"/>
            </a:endParaRPr>
          </a:p>
        </p:txBody>
      </p:sp>
    </p:spTree>
    <p:extLst>
      <p:ext uri="{BB962C8B-B14F-4D97-AF65-F5344CB8AC3E}">
        <p14:creationId xmlns:p14="http://schemas.microsoft.com/office/powerpoint/2010/main" val="3322135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I MED">
  <a:themeElements>
    <a:clrScheme name="CI MED">
      <a:dk1>
        <a:srgbClr val="767676"/>
      </a:dk1>
      <a:lt1>
        <a:srgbClr val="FFFFFF"/>
      </a:lt1>
      <a:dk2>
        <a:srgbClr val="13284A"/>
      </a:dk2>
      <a:lt2>
        <a:srgbClr val="E7E6E6"/>
      </a:lt2>
      <a:accent1>
        <a:srgbClr val="E54D24"/>
      </a:accent1>
      <a:accent2>
        <a:srgbClr val="B11136"/>
      </a:accent2>
      <a:accent3>
        <a:srgbClr val="A5A5A5"/>
      </a:accent3>
      <a:accent4>
        <a:srgbClr val="80061D"/>
      </a:accent4>
      <a:accent5>
        <a:srgbClr val="0E1E37"/>
      </a:accent5>
      <a:accent6>
        <a:srgbClr val="610316"/>
      </a:accent6>
      <a:hlink>
        <a:srgbClr val="E54D24"/>
      </a:hlink>
      <a:folHlink>
        <a:srgbClr val="B11136"/>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 MED" id="{28F869B3-CC09-2945-B0EF-ABE2EA36043A}" vid="{A5B8CDBD-34C4-E84A-AD31-BA9E42C06F70}"/>
    </a:ext>
  </a:extLst>
</a:theme>
</file>

<file path=ppt/theme/theme2.xml><?xml version="1.0" encoding="utf-8"?>
<a:theme xmlns:a="http://schemas.openxmlformats.org/drawingml/2006/main" name="Custom Design">
  <a:themeElements>
    <a:clrScheme name="CI MED">
      <a:dk1>
        <a:srgbClr val="767676"/>
      </a:dk1>
      <a:lt1>
        <a:srgbClr val="FFFFFF"/>
      </a:lt1>
      <a:dk2>
        <a:srgbClr val="13284A"/>
      </a:dk2>
      <a:lt2>
        <a:srgbClr val="E7E6E6"/>
      </a:lt2>
      <a:accent1>
        <a:srgbClr val="E54D24"/>
      </a:accent1>
      <a:accent2>
        <a:srgbClr val="B11136"/>
      </a:accent2>
      <a:accent3>
        <a:srgbClr val="A5A5A5"/>
      </a:accent3>
      <a:accent4>
        <a:srgbClr val="80061D"/>
      </a:accent4>
      <a:accent5>
        <a:srgbClr val="0E1E37"/>
      </a:accent5>
      <a:accent6>
        <a:srgbClr val="610316"/>
      </a:accent6>
      <a:hlink>
        <a:srgbClr val="E54D24"/>
      </a:hlink>
      <a:folHlink>
        <a:srgbClr val="B1113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92BFAE54C51DC4388D24493E3918A2E" ma:contentTypeVersion="17" ma:contentTypeDescription="Create a new document." ma:contentTypeScope="" ma:versionID="dc9f1a2e5c02f0ca66a63fd49135dca2">
  <xsd:schema xmlns:xsd="http://www.w3.org/2001/XMLSchema" xmlns:xs="http://www.w3.org/2001/XMLSchema" xmlns:p="http://schemas.microsoft.com/office/2006/metadata/properties" xmlns:ns3="818fe7f4-2608-4b41-901e-1e230c4ee0f5" xmlns:ns4="d3750d0b-b252-45a4-b251-0f27a23014ac" targetNamespace="http://schemas.microsoft.com/office/2006/metadata/properties" ma:root="true" ma:fieldsID="8dc15a2badd45ac0887511c02d07ae61" ns3:_="" ns4:_="">
    <xsd:import namespace="818fe7f4-2608-4b41-901e-1e230c4ee0f5"/>
    <xsd:import namespace="d3750d0b-b252-45a4-b251-0f27a23014ac"/>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LengthInSeconds" minOccurs="0"/>
                <xsd:element ref="ns3:_activity" minOccurs="0"/>
                <xsd:element ref="ns3:MediaServiceObjectDetectorVersions" minOccurs="0"/>
                <xsd:element ref="ns3:MediaServiceGenerationTime" minOccurs="0"/>
                <xsd:element ref="ns3:MediaServiceEventHashCode" minOccurs="0"/>
                <xsd:element ref="ns3:MediaServiceAutoTags" minOccurs="0"/>
                <xsd:element ref="ns3:MediaServiceSearchProperties" minOccurs="0"/>
                <xsd:element ref="ns3:MediaServiceBillingMetadata"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8fe7f4-2608-4b41-901e-1e230c4ee0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_activity" ma:index="17" nillable="true" ma:displayName="_activity" ma:hidden="true" ma:internalName="_activity">
      <xsd:simpleType>
        <xsd:restriction base="dms:Note"/>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Tags" ma:index="21" nillable="true" ma:displayName="Tags" ma:internalName="MediaServiceAutoTag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3750d0b-b252-45a4-b251-0f27a23014a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18fe7f4-2608-4b41-901e-1e230c4ee0f5" xsi:nil="true"/>
  </documentManagement>
</p:properties>
</file>

<file path=customXml/itemProps1.xml><?xml version="1.0" encoding="utf-8"?>
<ds:datastoreItem xmlns:ds="http://schemas.openxmlformats.org/officeDocument/2006/customXml" ds:itemID="{3216A865-D719-41A9-8948-25DB99B6B0BA}">
  <ds:schemaRefs>
    <ds:schemaRef ds:uri="818fe7f4-2608-4b41-901e-1e230c4ee0f5"/>
    <ds:schemaRef ds:uri="d3750d0b-b252-45a4-b251-0f27a23014ac"/>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1548AD4-6BD9-4DDC-B343-63574D34360F}">
  <ds:schemaRefs>
    <ds:schemaRef ds:uri="http://schemas.microsoft.com/sharepoint/v3/contenttype/forms"/>
  </ds:schemaRefs>
</ds:datastoreItem>
</file>

<file path=customXml/itemProps3.xml><?xml version="1.0" encoding="utf-8"?>
<ds:datastoreItem xmlns:ds="http://schemas.openxmlformats.org/officeDocument/2006/customXml" ds:itemID="{66666E7F-BD69-40DF-87E7-67118A653D14}">
  <ds:schemaRefs>
    <ds:schemaRef ds:uri="http://www.w3.org/XML/1998/namespace"/>
    <ds:schemaRef ds:uri="http://schemas.microsoft.com/office/2006/metadata/properties"/>
    <ds:schemaRef ds:uri="http://purl.org/dc/dcmitype/"/>
    <ds:schemaRef ds:uri="http://schemas.microsoft.com/office/2006/documentManagement/types"/>
    <ds:schemaRef ds:uri="http://purl.org/dc/elements/1.1/"/>
    <ds:schemaRef ds:uri="818fe7f4-2608-4b41-901e-1e230c4ee0f5"/>
    <ds:schemaRef ds:uri="http://purl.org/dc/terms/"/>
    <ds:schemaRef ds:uri="d3750d0b-b252-45a4-b251-0f27a23014ac"/>
    <ds:schemaRef ds:uri="http://schemas.microsoft.com/office/infopath/2007/PartnerControls"/>
    <ds:schemaRef ds:uri="http://schemas.openxmlformats.org/package/2006/metadata/core-properties"/>
  </ds:schemaRefs>
</ds:datastoreItem>
</file>

<file path=docMetadata/LabelInfo.xml><?xml version="1.0" encoding="utf-8"?>
<clbl:labelList xmlns:clbl="http://schemas.microsoft.com/office/2020/mipLabelMetadata">
  <clbl:label id="{94a8a5ac-570d-43cf-ac05-cdcba6f188a7}" enabled="0" method="" siteId="{94a8a5ac-570d-43cf-ac05-cdcba6f188a7}" removed="1"/>
</clbl:labelList>
</file>

<file path=docProps/app.xml><?xml version="1.0" encoding="utf-8"?>
<Properties xmlns="http://schemas.openxmlformats.org/officeDocument/2006/extended-properties" xmlns:vt="http://schemas.openxmlformats.org/officeDocument/2006/docPropsVTypes">
  <Template/>
  <TotalTime>19642</TotalTime>
  <Words>1246</Words>
  <Application>Microsoft Office PowerPoint</Application>
  <PresentationFormat>On-screen Show (4:3)</PresentationFormat>
  <Paragraphs>125</Paragraphs>
  <Slides>12</Slides>
  <Notes>12</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12</vt:i4>
      </vt:variant>
    </vt:vector>
  </HeadingPairs>
  <TitlesOfParts>
    <vt:vector size="26" baseType="lpstr">
      <vt:lpstr>.AppleSystemUIFont</vt:lpstr>
      <vt:lpstr>.SFUI-Black</vt:lpstr>
      <vt:lpstr>Arial</vt:lpstr>
      <vt:lpstr>Calibri</vt:lpstr>
      <vt:lpstr>Gotham</vt:lpstr>
      <vt:lpstr>Gotham Bold</vt:lpstr>
      <vt:lpstr>Gotham Book</vt:lpstr>
      <vt:lpstr>Gotham Book Italic</vt:lpstr>
      <vt:lpstr>Gotham Light</vt:lpstr>
      <vt:lpstr>UICTFontTextStyleBody</vt:lpstr>
      <vt:lpstr>UICTFontTextStyleEmphasizedBody</vt:lpstr>
      <vt:lpstr>UICTFontTextStyleTitle2</vt:lpstr>
      <vt:lpstr>CI MED</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Annie Durling</dc:creator>
  <cp:lastModifiedBy>Simone.Hampton</cp:lastModifiedBy>
  <cp:revision>176</cp:revision>
  <cp:lastPrinted>2026-09-22T17:08:20Z</cp:lastPrinted>
  <dcterms:created xsi:type="dcterms:W3CDTF">2017-09-13T18:59:31Z</dcterms:created>
  <dcterms:modified xsi:type="dcterms:W3CDTF">2026-09-22T18:13:53Z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0x010100592BFAE54C51DC4388D24493E3918A2E</vt:lpwstr>
  </property>
</Properties>
</file>