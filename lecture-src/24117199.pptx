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1" r:id="rId7"/>
    <p:sldId id="281" r:id="rId8"/>
    <p:sldId id="271" r:id="rId9"/>
    <p:sldId id="260" r:id="rId10"/>
    <p:sldId id="294" r:id="rId11"/>
    <p:sldId id="262" r:id="rId12"/>
    <p:sldId id="272" r:id="rId13"/>
    <p:sldId id="295" r:id="rId14"/>
    <p:sldId id="273" r:id="rId15"/>
    <p:sldId id="276" r:id="rId16"/>
    <p:sldId id="302" r:id="rId17"/>
    <p:sldId id="284" r:id="rId18"/>
    <p:sldId id="274" r:id="rId19"/>
    <p:sldId id="277" r:id="rId20"/>
    <p:sldId id="278" r:id="rId21"/>
    <p:sldId id="279" r:id="rId22"/>
    <p:sldId id="296" r:id="rId23"/>
    <p:sldId id="285" r:id="rId24"/>
    <p:sldId id="297" r:id="rId25"/>
    <p:sldId id="286" r:id="rId26"/>
    <p:sldId id="275" r:id="rId27"/>
    <p:sldId id="280" r:id="rId28"/>
    <p:sldId id="263" r:id="rId29"/>
    <p:sldId id="264" r:id="rId30"/>
    <p:sldId id="265" r:id="rId31"/>
    <p:sldId id="298" r:id="rId32"/>
    <p:sldId id="266" r:id="rId33"/>
    <p:sldId id="299" r:id="rId34"/>
    <p:sldId id="300" r:id="rId35"/>
    <p:sldId id="301" r:id="rId36"/>
    <p:sldId id="268" r:id="rId37"/>
    <p:sldId id="282" r:id="rId38"/>
    <p:sldId id="283" r:id="rId39"/>
    <p:sldId id="267" r:id="rId40"/>
    <p:sldId id="287" r:id="rId41"/>
    <p:sldId id="288" r:id="rId42"/>
    <p:sldId id="289" r:id="rId43"/>
    <p:sldId id="290" r:id="rId44"/>
    <p:sldId id="291" r:id="rId45"/>
    <p:sldId id="293" r:id="rId46"/>
    <p:sldId id="292" r:id="rId47"/>
    <p:sldId id="303" r:id="rId48"/>
    <p:sldId id="269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7" d="100"/>
          <a:sy n="97" d="100"/>
        </p:scale>
        <p:origin x="4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B711-3F8C-A072-AD4D-B04A90151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005DD-9E09-E355-1E27-86B25F1CB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8FD01-6E0C-81EA-32B9-E430C030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26715-C634-22AE-9F3E-40EF8925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54E46-B758-F4B4-B1FC-7E094CBD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F5DA5-D5D0-2E13-68A5-C711269E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D8266-A413-5D7F-EE55-72B53E20A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E6EE3-05FA-6405-4111-F2E1BC98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550B2-F80F-07E5-7EC1-764A6CE9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608D8-7855-9084-DCC1-B56F58C1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9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5CD0-A8C0-D93F-FCA4-5AA0836B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0C7AD-0290-3D92-0861-FC8DEDE3F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C2B31-F85F-3670-2FED-DDBFDC4D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522E8-6F92-CC05-A244-6B172A91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0F009-D5E0-6136-651B-98825894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F263-EBAE-FBB8-A3B3-225C9E6B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3CA20-A1E6-55B1-AE77-EEC6FD769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44AAD-CBC1-A4EC-39C3-B6CCC509B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8FC81-E85A-3A69-4D83-DC5C0134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B9171-99AD-21C0-C794-D41C496F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77156-6C60-1FA8-2882-7E12C0B3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8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A59C-D866-00EB-4CBF-8002618A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F4DC8-E03A-E95B-519B-E1835BC7F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CD3AE-7EF4-00FE-26BB-0574D8A07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6A4211-4318-C030-B505-E9F9D2C1B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3A1044-D608-E336-0C2D-0C2F133F7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80F83-D0FB-1930-2EB8-BD30B79E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6FD6C-A208-21FE-7392-4CA60666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9416C7-E163-9A24-BC68-E5A394E6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59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ECAA4-7983-0E61-1F1C-C8369D5D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61D6C-DC18-1BFD-75AD-C232C356A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01CD1-D4D0-3D70-5796-2B4FAB077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DB6149-9A81-5BA6-BE9C-A38964BF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0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311A0-F18F-7B42-866B-5520BB72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C688F-B4FD-A80E-3DA0-3684F4B2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72416-E60D-D484-C399-8A3EB7823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2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9745-CD61-4390-3F74-814981FC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62A28-5CD4-6139-05AE-D8CF6D38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04255-96B6-2ABE-E243-B0132452A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0A124-D0AB-1080-C11F-014BEB3F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D35BC-E056-6D5C-F715-EDFEB8576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2E3A0-543D-F38E-B86C-C1BFF6AE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9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5B8C-8480-E6E0-A510-8AC4AEFD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1E8E1-718C-1034-3705-EC0416295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25308-3762-7640-5826-9A3E95D57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5F8B0-8FD3-5643-5190-FDE7E608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58F9F-3B4B-419F-4034-47962927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503A5-F1EB-CC7F-EAD6-2F23C110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1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B119-A7AE-5F08-42B6-5D4ACA58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D47FF-3BA6-963E-365B-6FB8E5CDF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34AE5-F60A-57C0-50B6-D1BB6E624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75F1-DA11-611D-962D-11901385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003BF-1866-1892-3BBD-9F75EE77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73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A4CFE6-B77E-60C6-7C29-E238C3E73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DF7E9-2D6C-D532-F9C0-E829234DB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57415-0856-3069-899A-C18F9426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B50A0-3F6E-43FA-226B-DC34284E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989BC-ABAA-645F-9180-1957DC0B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8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F8A83-0475-3E08-C941-61AD5661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A661A-34E3-26ED-8505-4847B84C0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4B53-F755-6A87-337A-93AA4FAE8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3C346-8CF2-4390-8D21-C4BF7B21638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1137C-6EC0-6799-D81F-1583C6EA0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0EDED-BBE2-0725-3022-4E6BDFCA3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31BBA-320C-49DE-91C2-DE2C627AB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0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thophys.org/menopause/" TargetMode="External"/><Relationship Id="rId2" Type="http://schemas.openxmlformats.org/officeDocument/2006/relationships/hyperlink" Target="https://www.ncbi.nlm.nih.gov/books/NBK50782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8EF03-40B8-29AB-690D-EC5D15CDD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42454"/>
          </a:xfrm>
        </p:spPr>
        <p:txBody>
          <a:bodyPr/>
          <a:lstStyle/>
          <a:p>
            <a:r>
              <a:rPr lang="en-US" dirty="0"/>
              <a:t>Menopause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076FC3-EDFB-054A-3825-C80E57CB6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800" dirty="0"/>
              <a:t>Carla Rafferty, MD</a:t>
            </a:r>
          </a:p>
          <a:p>
            <a:r>
              <a:rPr lang="en-US" dirty="0"/>
              <a:t>Family Medicine Physician</a:t>
            </a:r>
          </a:p>
          <a:p>
            <a:r>
              <a:rPr lang="en-US" dirty="0"/>
              <a:t>Course Director for Human Development &amp; Reproduction</a:t>
            </a:r>
          </a:p>
          <a:p>
            <a:r>
              <a:rPr lang="en-US" dirty="0"/>
              <a:t>Clinical Associate Professor CICOM</a:t>
            </a:r>
          </a:p>
        </p:txBody>
      </p:sp>
    </p:spTree>
    <p:extLst>
      <p:ext uri="{BB962C8B-B14F-4D97-AF65-F5344CB8AC3E}">
        <p14:creationId xmlns:p14="http://schemas.microsoft.com/office/powerpoint/2010/main" val="3930373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B27B-D932-122A-ACAF-0C1C2DCAF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252" y="264225"/>
            <a:ext cx="10515600" cy="1325563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53977-F554-C81A-E79B-BD58EF633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52" y="1463040"/>
            <a:ext cx="10792548" cy="519000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Define the stages of the reproductive life cycle</a:t>
            </a:r>
          </a:p>
          <a:p>
            <a:r>
              <a:rPr lang="en-US" dirty="0"/>
              <a:t>Explain the pathophysiology of common menopausal symptoms (vasomotor, genitourinary, sleep, mood, cognition, and sexual dysfunction)</a:t>
            </a:r>
          </a:p>
          <a:p>
            <a:r>
              <a:rPr lang="en-US" dirty="0"/>
              <a:t>Explain the health effects of estrogen deficiency on bone health, cardiovascular health, cognition, and GU health</a:t>
            </a:r>
          </a:p>
          <a:p>
            <a:r>
              <a:rPr lang="en-US" dirty="0"/>
              <a:t>Describe pathophysiology of osteoporosis</a:t>
            </a:r>
          </a:p>
          <a:p>
            <a:r>
              <a:rPr lang="en-US" dirty="0"/>
              <a:t>Describe bleeding pattern changes during perimenopause &amp; menopause</a:t>
            </a:r>
          </a:p>
          <a:p>
            <a:r>
              <a:rPr lang="en-US" dirty="0"/>
              <a:t>Characterize the evidence-based medicine </a:t>
            </a:r>
            <a:r>
              <a:rPr lang="en-US" dirty="0" err="1"/>
              <a:t>labwork</a:t>
            </a:r>
            <a:r>
              <a:rPr lang="en-US" dirty="0"/>
              <a:t> in menopause diagnosis/care</a:t>
            </a:r>
          </a:p>
          <a:p>
            <a:r>
              <a:rPr lang="en-US" dirty="0"/>
              <a:t>Explain preventative health items in menopause: osteoporosis prevention &amp; monitoring, cardiovascular risk reduction, cancer screening and immunizations.</a:t>
            </a:r>
          </a:p>
          <a:p>
            <a:r>
              <a:rPr lang="en-US" dirty="0"/>
              <a:t>Describe how to evaluate postmenopausal bleeding</a:t>
            </a:r>
          </a:p>
          <a:p>
            <a:r>
              <a:rPr lang="en-US" dirty="0"/>
              <a:t>Describe menopause mimics and other conditions to rule out</a:t>
            </a:r>
          </a:p>
          <a:p>
            <a:r>
              <a:rPr lang="en-US" dirty="0"/>
              <a:t>Explore the impact of the Women’s Health Initiative study on menopause education &amp; training and subsequent care of menopausal women</a:t>
            </a:r>
          </a:p>
          <a:p>
            <a:r>
              <a:rPr lang="en-US" dirty="0"/>
              <a:t>Describe disparities in the care of menopausal symptoms</a:t>
            </a:r>
          </a:p>
          <a:p>
            <a:r>
              <a:rPr lang="en-US" dirty="0"/>
              <a:t>Explore how the impact of wellness/influencers intersects with evidenced based medicine</a:t>
            </a:r>
          </a:p>
        </p:txBody>
      </p:sp>
    </p:spTree>
    <p:extLst>
      <p:ext uri="{BB962C8B-B14F-4D97-AF65-F5344CB8AC3E}">
        <p14:creationId xmlns:p14="http://schemas.microsoft.com/office/powerpoint/2010/main" val="3880872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B869-6DB5-2803-A3CD-B6349116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E5513-EF9D-72AF-4217-307C26728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809530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3E94-4E07-9E02-8CD5-1C667368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561" y="432593"/>
            <a:ext cx="10515600" cy="1325563"/>
          </a:xfrm>
        </p:spPr>
        <p:txBody>
          <a:bodyPr/>
          <a:lstStyle/>
          <a:p>
            <a:r>
              <a:rPr lang="en-US" dirty="0"/>
              <a:t>Stages of the Reproductive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966D-0708-B292-2042-6800D7E98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49" y="1758156"/>
            <a:ext cx="10515600" cy="49264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Prepubertal – the time period between birth and when puberty ends &amp; menses start, fertility is not yet started </a:t>
            </a:r>
          </a:p>
          <a:p>
            <a:pPr lvl="1"/>
            <a:r>
              <a:rPr lang="en-US" dirty="0"/>
              <a:t>Ages 0 going up to about 9-14 yrs of age</a:t>
            </a:r>
          </a:p>
          <a:p>
            <a:pPr lvl="1"/>
            <a:r>
              <a:rPr lang="en-US" dirty="0"/>
              <a:t>About 1 million follicles are present at birth</a:t>
            </a:r>
          </a:p>
          <a:p>
            <a:r>
              <a:rPr lang="en-US" dirty="0"/>
              <a:t>Fertile – the time period in which a pregnancy could occur and is from the start of the first menses to 1 year after the last menses</a:t>
            </a:r>
          </a:p>
          <a:p>
            <a:pPr lvl="1"/>
            <a:r>
              <a:rPr lang="en-US" dirty="0"/>
              <a:t>About 10-14 yrs of age going up to about 45-56 yrs of age</a:t>
            </a:r>
          </a:p>
          <a:p>
            <a:pPr lvl="1"/>
            <a:r>
              <a:rPr lang="en-US" dirty="0"/>
              <a:t>250,000-400,000 follicles remain at puberty</a:t>
            </a:r>
          </a:p>
          <a:p>
            <a:r>
              <a:rPr lang="en-US" dirty="0"/>
              <a:t>Postmenopausal – </a:t>
            </a:r>
            <a:r>
              <a:rPr lang="en-US" b="1" dirty="0"/>
              <a:t>1 year after the last menses </a:t>
            </a:r>
            <a:r>
              <a:rPr lang="en-US" dirty="0"/>
              <a:t>until death, fertility has ended during this time period</a:t>
            </a:r>
          </a:p>
          <a:p>
            <a:pPr lvl="1"/>
            <a:r>
              <a:rPr lang="en-US" dirty="0"/>
              <a:t>About 45-56 yrs age until death</a:t>
            </a:r>
          </a:p>
          <a:p>
            <a:pPr lvl="1"/>
            <a:r>
              <a:rPr lang="en-US" dirty="0"/>
              <a:t>Medium age in the US is 51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C35E92-3039-5BA7-DD98-CE3F51CC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293" y="56269"/>
            <a:ext cx="3359323" cy="17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3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CA0B-ECF3-92D3-6BD4-99877E87A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23" y="237476"/>
            <a:ext cx="6154858" cy="715969"/>
          </a:xfrm>
        </p:spPr>
        <p:txBody>
          <a:bodyPr/>
          <a:lstStyle/>
          <a:p>
            <a:r>
              <a:rPr lang="en-US" dirty="0"/>
              <a:t>Physiology of Menopause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14B29-4B3E-014A-8FE7-A54F6D8208D0}"/>
              </a:ext>
            </a:extLst>
          </p:cNvPr>
          <p:cNvSpPr txBox="1"/>
          <p:nvPr/>
        </p:nvSpPr>
        <p:spPr>
          <a:xfrm>
            <a:off x="1304003" y="1163021"/>
            <a:ext cx="3104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Depletion of Ovarian Follicles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4FBD14F-F1CA-48DD-8463-32253FA260C2}"/>
              </a:ext>
            </a:extLst>
          </p:cNvPr>
          <p:cNvSpPr/>
          <p:nvPr/>
        </p:nvSpPr>
        <p:spPr>
          <a:xfrm rot="5400000">
            <a:off x="2572636" y="1891682"/>
            <a:ext cx="567559" cy="12612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F0C26-EB4B-7AB4-A1BB-DEC590C04304}"/>
              </a:ext>
            </a:extLst>
          </p:cNvPr>
          <p:cNvSpPr txBox="1"/>
          <p:nvPr/>
        </p:nvSpPr>
        <p:spPr>
          <a:xfrm>
            <a:off x="1217698" y="2286340"/>
            <a:ext cx="3403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Reduces Granulosa Cell Activity</a:t>
            </a:r>
          </a:p>
          <a:p>
            <a:r>
              <a:rPr lang="en-US" dirty="0"/>
              <a:t>Lowers Estradiol, Inhibin, &amp; AMH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D62FA29-C91F-2704-9008-73EDEB4677EE}"/>
              </a:ext>
            </a:extLst>
          </p:cNvPr>
          <p:cNvSpPr/>
          <p:nvPr/>
        </p:nvSpPr>
        <p:spPr>
          <a:xfrm rot="5400000">
            <a:off x="1663210" y="3296046"/>
            <a:ext cx="567559" cy="12612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C20D8A-271B-E97D-4B10-F3F6D983F713}"/>
              </a:ext>
            </a:extLst>
          </p:cNvPr>
          <p:cNvSpPr txBox="1"/>
          <p:nvPr/>
        </p:nvSpPr>
        <p:spPr>
          <a:xfrm>
            <a:off x="3200035" y="3769908"/>
            <a:ext cx="28424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Disruption of HPO axis</a:t>
            </a:r>
          </a:p>
          <a:p>
            <a:r>
              <a:rPr lang="en-US" dirty="0"/>
              <a:t>Impair normal endometrial</a:t>
            </a:r>
          </a:p>
          <a:p>
            <a:r>
              <a:rPr lang="en-US" dirty="0"/>
              <a:t>     development</a:t>
            </a:r>
          </a:p>
        </p:txBody>
      </p:sp>
      <p:pic>
        <p:nvPicPr>
          <p:cNvPr id="13" name="Picture 12" descr="Pathophysiology of menopausal transition">
            <a:extLst>
              <a:ext uri="{FF2B5EF4-FFF2-40B4-BE49-F238E27FC236}">
                <a16:creationId xmlns:a16="http://schemas.microsoft.com/office/drawing/2014/main" id="{47DA7679-E81B-5397-BBB7-33DB7A76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56" y="22704"/>
            <a:ext cx="5408921" cy="6775387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ACF0094E-6F66-79B8-73F9-25D25E0B5474}"/>
              </a:ext>
            </a:extLst>
          </p:cNvPr>
          <p:cNvSpPr/>
          <p:nvPr/>
        </p:nvSpPr>
        <p:spPr>
          <a:xfrm rot="5400000">
            <a:off x="3562570" y="3296046"/>
            <a:ext cx="567559" cy="12612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DA53C0-82ED-EED3-1812-902D48EAF405}"/>
              </a:ext>
            </a:extLst>
          </p:cNvPr>
          <p:cNvSpPr txBox="1"/>
          <p:nvPr/>
        </p:nvSpPr>
        <p:spPr>
          <a:xfrm>
            <a:off x="719773" y="3862241"/>
            <a:ext cx="2199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Increasing FSH &amp; LH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27A4DF6-DACA-2A58-2498-41936D2A16CE}"/>
              </a:ext>
            </a:extLst>
          </p:cNvPr>
          <p:cNvSpPr/>
          <p:nvPr/>
        </p:nvSpPr>
        <p:spPr>
          <a:xfrm rot="5400000">
            <a:off x="3886962" y="4913956"/>
            <a:ext cx="567559" cy="126124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04DD1-7D69-F69D-B5FE-F93C5A2E8AC3}"/>
              </a:ext>
            </a:extLst>
          </p:cNvPr>
          <p:cNvSpPr txBox="1"/>
          <p:nvPr/>
        </p:nvSpPr>
        <p:spPr>
          <a:xfrm>
            <a:off x="3070888" y="5361970"/>
            <a:ext cx="3332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Irregular Cycles &amp;</a:t>
            </a:r>
          </a:p>
          <a:p>
            <a:r>
              <a:rPr lang="en-US" dirty="0"/>
              <a:t>Ultimately Cessation of </a:t>
            </a:r>
            <a:r>
              <a:rPr lang="en-US" dirty="0" err="1"/>
              <a:t>Menses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09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C370-FF13-5D14-6C0D-CE1AE742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Menopause Hormone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C9497-F242-6F3A-D762-F8A1DC470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6728" cy="4351338"/>
          </a:xfrm>
        </p:spPr>
        <p:txBody>
          <a:bodyPr/>
          <a:lstStyle/>
          <a:p>
            <a:r>
              <a:rPr lang="en-US" dirty="0"/>
              <a:t>Ovarian reserve also drops and can be measured by Anti-Mullerian Hormone (AMH) which will be low</a:t>
            </a:r>
          </a:p>
          <a:p>
            <a:r>
              <a:rPr lang="en-US" dirty="0"/>
              <a:t>Estradiol falls</a:t>
            </a:r>
          </a:p>
          <a:p>
            <a:r>
              <a:rPr lang="en-US" dirty="0"/>
              <a:t>Follicle Stimulating Hormone (FSH) increases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10B71-0520-28D6-8046-4DE9DE270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903" y="1944682"/>
            <a:ext cx="6458282" cy="38292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4C9B12-1E4D-E50C-5C0D-3F4558E3FC7D}"/>
              </a:ext>
            </a:extLst>
          </p:cNvPr>
          <p:cNvSpPr txBox="1"/>
          <p:nvPr/>
        </p:nvSpPr>
        <p:spPr>
          <a:xfrm>
            <a:off x="6926957" y="6027923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https://gpexams.com/menopause/</a:t>
            </a:r>
          </a:p>
        </p:txBody>
      </p:sp>
    </p:spTree>
    <p:extLst>
      <p:ext uri="{BB962C8B-B14F-4D97-AF65-F5344CB8AC3E}">
        <p14:creationId xmlns:p14="http://schemas.microsoft.com/office/powerpoint/2010/main" val="90789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6AF3-16FF-745A-F7BE-0E43F704B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467" y="297718"/>
            <a:ext cx="3226654" cy="1325563"/>
          </a:xfrm>
        </p:spPr>
        <p:txBody>
          <a:bodyPr/>
          <a:lstStyle/>
          <a:p>
            <a:pPr algn="ctr"/>
            <a:r>
              <a:rPr lang="en-US" dirty="0"/>
              <a:t>Staging of 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B4071-E5FB-9130-746B-60FB50453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91" y="2021117"/>
            <a:ext cx="336496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STRAW +10 staging system with Menopause designated as 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3DE40-898A-B09F-FC64-ACEEFC2B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21" y="0"/>
            <a:ext cx="887767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142DEB-0728-465E-D620-74C78A384491}"/>
              </a:ext>
            </a:extLst>
          </p:cNvPr>
          <p:cNvSpPr txBox="1"/>
          <p:nvPr/>
        </p:nvSpPr>
        <p:spPr>
          <a:xfrm>
            <a:off x="63062" y="6430561"/>
            <a:ext cx="621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https://www.herstasis.com/menopause-primer/</a:t>
            </a:r>
          </a:p>
        </p:txBody>
      </p:sp>
    </p:spTree>
    <p:extLst>
      <p:ext uri="{BB962C8B-B14F-4D97-AF65-F5344CB8AC3E}">
        <p14:creationId xmlns:p14="http://schemas.microsoft.com/office/powerpoint/2010/main" val="237690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52E4-C67B-187D-9098-93BEBD5D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of 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0AD99-91CF-0D3A-6CA7-E2FEC7D07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715" y="1522970"/>
            <a:ext cx="10515600" cy="47012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Natural</a:t>
            </a:r>
          </a:p>
          <a:p>
            <a:r>
              <a:rPr lang="en-US" dirty="0"/>
              <a:t>Surgical (removal of ovaries)</a:t>
            </a:r>
          </a:p>
          <a:p>
            <a:r>
              <a:rPr lang="en-US" dirty="0"/>
              <a:t>Chemotherapy or Radiation Therapy related to cancer treatments</a:t>
            </a:r>
          </a:p>
          <a:p>
            <a:r>
              <a:rPr lang="en-US" dirty="0"/>
              <a:t>Chronic illnesses like HIV-AIDs</a:t>
            </a:r>
          </a:p>
          <a:p>
            <a:r>
              <a:rPr lang="en-US" dirty="0"/>
              <a:t>Anti-estrogenic agents</a:t>
            </a:r>
          </a:p>
          <a:p>
            <a:endParaRPr lang="en-US" dirty="0"/>
          </a:p>
          <a:p>
            <a:r>
              <a:rPr lang="en-US" dirty="0"/>
              <a:t>Remember Primary Ovarian Insufficiency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Note:</a:t>
            </a:r>
          </a:p>
          <a:p>
            <a:r>
              <a:rPr lang="en-US" i="1" dirty="0"/>
              <a:t>MHT = Hormone Therapy started after natural menopause</a:t>
            </a:r>
          </a:p>
          <a:p>
            <a:r>
              <a:rPr lang="en-US" i="1" dirty="0"/>
              <a:t>HRT = Hormone Replacement Therapy started when menopause comes early for whatever reason</a:t>
            </a:r>
          </a:p>
        </p:txBody>
      </p:sp>
    </p:spTree>
    <p:extLst>
      <p:ext uri="{BB962C8B-B14F-4D97-AF65-F5344CB8AC3E}">
        <p14:creationId xmlns:p14="http://schemas.microsoft.com/office/powerpoint/2010/main" val="100474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60A3-832C-5E5D-341E-A1CA881C8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88" y="365126"/>
            <a:ext cx="10515600" cy="903444"/>
          </a:xfrm>
        </p:spPr>
        <p:txBody>
          <a:bodyPr/>
          <a:lstStyle/>
          <a:p>
            <a:r>
              <a:rPr lang="en-US" dirty="0"/>
              <a:t>Perimenopause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96701-5A97-627C-C090-04A0A5D7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8" y="1326524"/>
            <a:ext cx="11323937" cy="5166350"/>
          </a:xfrm>
        </p:spPr>
        <p:txBody>
          <a:bodyPr>
            <a:normAutofit/>
          </a:bodyPr>
          <a:lstStyle/>
          <a:p>
            <a:r>
              <a:rPr lang="en-US" dirty="0"/>
              <a:t>Can occur 10 years before an individual is considered postmenopausal</a:t>
            </a:r>
          </a:p>
          <a:p>
            <a:r>
              <a:rPr lang="en-US" dirty="0"/>
              <a:t>Hormones fluctuate in irregular patterns causing symptoms</a:t>
            </a:r>
          </a:p>
          <a:p>
            <a:pPr lvl="1"/>
            <a:r>
              <a:rPr lang="en-US" dirty="0" err="1"/>
              <a:t>Menses</a:t>
            </a:r>
            <a:r>
              <a:rPr lang="en-US" dirty="0"/>
              <a:t> can be variable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Usually follicular phase is shortened which leads to frequent menses then longer cycles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Cycles are anovulatory</a:t>
            </a:r>
          </a:p>
          <a:p>
            <a:pPr lvl="1"/>
            <a:r>
              <a:rPr lang="en-US" dirty="0"/>
              <a:t>Vasomotor - hot flashes, night sweats</a:t>
            </a:r>
          </a:p>
          <a:p>
            <a:pPr lvl="1"/>
            <a:r>
              <a:rPr lang="en-US" dirty="0"/>
              <a:t>Genitourinary - vaginal dryness, itching, painful intercourse, urinary incontinence, nocturia, frequent UTIs </a:t>
            </a:r>
          </a:p>
          <a:p>
            <a:pPr lvl="1"/>
            <a:r>
              <a:rPr lang="en-US" dirty="0"/>
              <a:t>Emotional lability - anxiety, depression </a:t>
            </a:r>
          </a:p>
          <a:p>
            <a:pPr lvl="1"/>
            <a:r>
              <a:rPr lang="en-US" dirty="0"/>
              <a:t>Low libido</a:t>
            </a:r>
          </a:p>
          <a:p>
            <a:pPr lvl="1"/>
            <a:r>
              <a:rPr lang="en-US" dirty="0"/>
              <a:t>Sleep disturbances - fatigue</a:t>
            </a:r>
          </a:p>
          <a:p>
            <a:pPr lvl="1"/>
            <a:r>
              <a:rPr lang="en-US" dirty="0"/>
              <a:t>Cognitive decline - brain fog, memory impairment</a:t>
            </a:r>
          </a:p>
        </p:txBody>
      </p:sp>
    </p:spTree>
    <p:extLst>
      <p:ext uri="{BB962C8B-B14F-4D97-AF65-F5344CB8AC3E}">
        <p14:creationId xmlns:p14="http://schemas.microsoft.com/office/powerpoint/2010/main" val="4004365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02D2-D127-306D-90D7-96EEF1CF6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3661" y="592783"/>
            <a:ext cx="3948953" cy="23382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Estrogen Receptors </a:t>
            </a:r>
            <a:br>
              <a:rPr lang="en-US" dirty="0"/>
            </a:br>
            <a:r>
              <a:rPr lang="en-US" dirty="0"/>
              <a:t>are </a:t>
            </a:r>
            <a:br>
              <a:rPr lang="en-US" dirty="0"/>
            </a:br>
            <a:r>
              <a:rPr lang="en-US" dirty="0"/>
              <a:t>Everywhere!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3F1F1-F177-ACE0-8168-36E3D55FB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9" y="15368"/>
            <a:ext cx="6321981" cy="67907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6418BC4-674B-EFEB-590E-6B2789C43CA1}"/>
              </a:ext>
            </a:extLst>
          </p:cNvPr>
          <p:cNvSpPr txBox="1">
            <a:spLocks/>
          </p:cNvSpPr>
          <p:nvPr/>
        </p:nvSpPr>
        <p:spPr>
          <a:xfrm>
            <a:off x="7443659" y="4450583"/>
            <a:ext cx="3948953" cy="17484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Symptoms</a:t>
            </a:r>
          </a:p>
          <a:p>
            <a:pPr algn="ctr"/>
            <a:r>
              <a:rPr lang="en-US" dirty="0"/>
              <a:t>are </a:t>
            </a:r>
          </a:p>
          <a:p>
            <a:pPr algn="ctr"/>
            <a:r>
              <a:rPr lang="en-US" dirty="0"/>
              <a:t>Everywhere!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A72577A-7798-A304-D5E1-24E9AB5893FC}"/>
              </a:ext>
            </a:extLst>
          </p:cNvPr>
          <p:cNvSpPr/>
          <p:nvPr/>
        </p:nvSpPr>
        <p:spPr>
          <a:xfrm>
            <a:off x="9175819" y="3201585"/>
            <a:ext cx="484632" cy="97840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6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247F-9634-B37A-21DD-39F5C26F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0209"/>
          </a:xfrm>
        </p:spPr>
        <p:txBody>
          <a:bodyPr/>
          <a:lstStyle/>
          <a:p>
            <a:r>
              <a:rPr lang="en-US" dirty="0"/>
              <a:t>Symptoms of 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B747-1250-6142-F3DC-A74CC353E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81059"/>
            <a:ext cx="10960713" cy="511181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Menses</a:t>
            </a:r>
            <a:r>
              <a:rPr lang="en-US" dirty="0"/>
              <a:t> have stopped for 12 months</a:t>
            </a:r>
          </a:p>
          <a:p>
            <a:r>
              <a:rPr lang="en-US" dirty="0"/>
              <a:t>Vasomotor Symptoms (VMS) - hot flashes, night sweats</a:t>
            </a:r>
          </a:p>
          <a:p>
            <a:pPr lvl="1"/>
            <a:r>
              <a:rPr lang="en-US" dirty="0"/>
              <a:t>80% of women worldwide</a:t>
            </a:r>
          </a:p>
          <a:p>
            <a:pPr lvl="1"/>
            <a:r>
              <a:rPr lang="en-US" dirty="0"/>
              <a:t>Can last 7-8 years</a:t>
            </a:r>
          </a:p>
          <a:p>
            <a:r>
              <a:rPr lang="en-US" dirty="0"/>
              <a:t>Genitourinary Symptoms of Menopause (GSM) - vaginal dryness, itching, painful intercourse, urinary incontinence, nocturia, </a:t>
            </a:r>
            <a:r>
              <a:rPr lang="en-US" dirty="0" err="1"/>
              <a:t>freq</a:t>
            </a:r>
            <a:r>
              <a:rPr lang="en-US" dirty="0"/>
              <a:t> UTIs </a:t>
            </a:r>
          </a:p>
          <a:p>
            <a:pPr lvl="1"/>
            <a:r>
              <a:rPr lang="en-US" dirty="0"/>
              <a:t>50% of women worldwide</a:t>
            </a:r>
          </a:p>
          <a:p>
            <a:pPr lvl="1"/>
            <a:r>
              <a:rPr lang="en-US" dirty="0"/>
              <a:t>Progressive if left untreated</a:t>
            </a:r>
          </a:p>
          <a:p>
            <a:r>
              <a:rPr lang="en-US" dirty="0"/>
              <a:t>Emotional lability - anxiety, depression</a:t>
            </a:r>
          </a:p>
          <a:p>
            <a:pPr lvl="1"/>
            <a:r>
              <a:rPr lang="en-US" dirty="0"/>
              <a:t>70% of women</a:t>
            </a:r>
          </a:p>
          <a:p>
            <a:r>
              <a:rPr lang="en-US" dirty="0"/>
              <a:t>Low libido</a:t>
            </a:r>
          </a:p>
          <a:p>
            <a:r>
              <a:rPr lang="en-US" dirty="0"/>
              <a:t>Sleep disturbances - fatigue</a:t>
            </a:r>
          </a:p>
        </p:txBody>
      </p:sp>
    </p:spTree>
    <p:extLst>
      <p:ext uri="{BB962C8B-B14F-4D97-AF65-F5344CB8AC3E}">
        <p14:creationId xmlns:p14="http://schemas.microsoft.com/office/powerpoint/2010/main" val="628707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547F-CD82-D702-37C9-0F2C6836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083"/>
            <a:ext cx="10515600" cy="757380"/>
          </a:xfrm>
        </p:spPr>
        <p:txBody>
          <a:bodyPr/>
          <a:lstStyle/>
          <a:p>
            <a:r>
              <a:rPr lang="en-US" dirty="0"/>
              <a:t>Vasomotor Symptoms of Menopause (VMS)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471EF-F86D-2791-14CB-09422883E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78" y="3511893"/>
            <a:ext cx="10515600" cy="2491615"/>
          </a:xfrm>
        </p:spPr>
        <p:txBody>
          <a:bodyPr>
            <a:normAutofit/>
          </a:bodyPr>
          <a:lstStyle/>
          <a:p>
            <a:r>
              <a:rPr lang="en-US" dirty="0"/>
              <a:t>Upper temp limit decreases so small increases in core temp trigger mechanisms to dissipate heat (</a:t>
            </a:r>
            <a:r>
              <a:rPr lang="en-US" dirty="0" err="1"/>
              <a:t>ie</a:t>
            </a:r>
            <a:r>
              <a:rPr lang="en-US" dirty="0"/>
              <a:t> vasodilation &amp; sweating)</a:t>
            </a:r>
          </a:p>
          <a:p>
            <a:endParaRPr lang="en-US" dirty="0"/>
          </a:p>
          <a:p>
            <a:r>
              <a:rPr lang="en-US" dirty="0"/>
              <a:t>Lower temp limit increases so small drops in core temp trigger mechanisms to preserve heat (</a:t>
            </a:r>
            <a:r>
              <a:rPr lang="en-US" dirty="0" err="1"/>
              <a:t>ie</a:t>
            </a:r>
            <a:r>
              <a:rPr lang="en-US" dirty="0"/>
              <a:t> shiver &amp; chills)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3FE2A-4800-97E1-3435-7EF925ABC5F4}"/>
              </a:ext>
            </a:extLst>
          </p:cNvPr>
          <p:cNvSpPr txBox="1"/>
          <p:nvPr/>
        </p:nvSpPr>
        <p:spPr>
          <a:xfrm>
            <a:off x="555945" y="1416114"/>
            <a:ext cx="1286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Rapid decreases in estrogen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4752E-0146-CCB3-1B06-AFD1A4E2287A}"/>
              </a:ext>
            </a:extLst>
          </p:cNvPr>
          <p:cNvSpPr txBox="1"/>
          <p:nvPr/>
        </p:nvSpPr>
        <p:spPr>
          <a:xfrm>
            <a:off x="1842411" y="2088155"/>
            <a:ext cx="161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WITHDRAWAL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04FD0-C0AF-9FCD-3F2B-305F4AF6EB9D}"/>
              </a:ext>
            </a:extLst>
          </p:cNvPr>
          <p:cNvSpPr txBox="1"/>
          <p:nvPr/>
        </p:nvSpPr>
        <p:spPr>
          <a:xfrm>
            <a:off x="3462055" y="1477872"/>
            <a:ext cx="4250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Increased norepinephrine stimulation</a:t>
            </a:r>
          </a:p>
          <a:p>
            <a:r>
              <a:rPr lang="en-US" dirty="0"/>
              <a:t>Increased serotonin activation</a:t>
            </a:r>
          </a:p>
          <a:p>
            <a:r>
              <a:rPr lang="en-US" dirty="0"/>
              <a:t>Increased central opioid peptide activity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6D985B5-18CA-6AFB-53BE-D5F912CB0275}"/>
              </a:ext>
            </a:extLst>
          </p:cNvPr>
          <p:cNvSpPr/>
          <p:nvPr/>
        </p:nvSpPr>
        <p:spPr>
          <a:xfrm rot="16200000">
            <a:off x="7839665" y="1437280"/>
            <a:ext cx="484632" cy="97840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052F7-B93A-C972-7EEA-660AA3DA33BA}"/>
              </a:ext>
            </a:extLst>
          </p:cNvPr>
          <p:cNvSpPr txBox="1"/>
          <p:nvPr/>
        </p:nvSpPr>
        <p:spPr>
          <a:xfrm>
            <a:off x="8667355" y="1394081"/>
            <a:ext cx="2907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Narrows the thermoneutral zone (range of core temps) in the thermoregulatory center (hypothalamus) 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8FADD73-E0D6-4B6E-9D82-E39DE2D70844}"/>
              </a:ext>
            </a:extLst>
          </p:cNvPr>
          <p:cNvSpPr/>
          <p:nvPr/>
        </p:nvSpPr>
        <p:spPr>
          <a:xfrm rot="16200000">
            <a:off x="2361045" y="1356635"/>
            <a:ext cx="484632" cy="97840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95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EC55-A555-A6ED-587C-B6CB4C375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4403"/>
          </a:xfrm>
        </p:spPr>
        <p:txBody>
          <a:bodyPr/>
          <a:lstStyle/>
          <a:p>
            <a:r>
              <a:rPr lang="en-US" dirty="0"/>
              <a:t>VMS </a:t>
            </a:r>
            <a:r>
              <a:rPr lang="en-US" dirty="0" err="1"/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C4F04-6DB7-4D02-546A-C951F5886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00" y="1415721"/>
            <a:ext cx="10979631" cy="507715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Hot flashes can be unpredictable &amp; occur day &amp; night</a:t>
            </a:r>
          </a:p>
          <a:p>
            <a:r>
              <a:rPr lang="en-US" dirty="0"/>
              <a:t>Typically last 3-4 minutes</a:t>
            </a:r>
          </a:p>
          <a:p>
            <a:r>
              <a:rPr lang="en-US" dirty="0"/>
              <a:t>Begin with a sensation of hot flushing that spreads across the upper body 	               followed by chills</a:t>
            </a:r>
          </a:p>
          <a:p>
            <a:r>
              <a:rPr lang="en-US" dirty="0"/>
              <a:t>Persist for 1-6 yrs most commonly, but can go 15 yrs in 10-15%</a:t>
            </a:r>
          </a:p>
          <a:p>
            <a:r>
              <a:rPr lang="en-US" dirty="0"/>
              <a:t>Factors that worsen </a:t>
            </a:r>
            <a:r>
              <a:rPr lang="en-US" dirty="0" err="1"/>
              <a:t>symp</a:t>
            </a:r>
            <a:endParaRPr lang="en-US" dirty="0"/>
          </a:p>
          <a:p>
            <a:pPr lvl="1"/>
            <a:r>
              <a:rPr lang="en-US" dirty="0"/>
              <a:t>EtOH, Tobacco, </a:t>
            </a:r>
          </a:p>
          <a:p>
            <a:pPr lvl="1"/>
            <a:r>
              <a:rPr lang="en-US" dirty="0"/>
              <a:t>Obesity, Sedentary, </a:t>
            </a:r>
          </a:p>
          <a:p>
            <a:pPr lvl="1"/>
            <a:r>
              <a:rPr lang="en-US" dirty="0"/>
              <a:t>Emotional Stress, Mood Disorder</a:t>
            </a:r>
          </a:p>
          <a:p>
            <a:pPr lvl="1"/>
            <a:r>
              <a:rPr lang="en-US" dirty="0"/>
              <a:t>Black, Lower SES, Lower Edu</a:t>
            </a:r>
          </a:p>
          <a:p>
            <a:r>
              <a:rPr lang="en-US" dirty="0"/>
              <a:t>Women with greater VMS burden have</a:t>
            </a:r>
          </a:p>
          <a:p>
            <a:pPr lvl="1"/>
            <a:r>
              <a:rPr lang="en-US" dirty="0"/>
              <a:t>More adverse lipid profiles, greater insulin resistance, elevated risk of HTN &amp; DM, great atherosclerosis (carotids, aorta, cerebral small vessels), increased risk of dementia, OSA</a:t>
            </a:r>
          </a:p>
          <a:p>
            <a:r>
              <a:rPr lang="en-US" dirty="0"/>
              <a:t>Migraines can be triggered by estrogen fluctuations so they can worsen in early menopause &amp; resolve later in menopause</a:t>
            </a:r>
          </a:p>
          <a:p>
            <a:r>
              <a:rPr lang="en-US" dirty="0"/>
              <a:t>When symptoms can affect sleep (</a:t>
            </a:r>
            <a:r>
              <a:rPr lang="en-US" dirty="0" err="1"/>
              <a:t>ie</a:t>
            </a:r>
            <a:r>
              <a:rPr lang="en-US" dirty="0"/>
              <a:t> insomnia), there is an </a:t>
            </a:r>
            <a:r>
              <a:rPr lang="en-US" dirty="0" err="1"/>
              <a:t>assoc</a:t>
            </a:r>
            <a:r>
              <a:rPr lang="en-US" dirty="0"/>
              <a:t> with negative CVD outcomes</a:t>
            </a:r>
          </a:p>
          <a:p>
            <a:r>
              <a:rPr lang="en-US" dirty="0"/>
              <a:t>MHT leads to 70-80 % improvement in VMS, relief starts within 2-4 </a:t>
            </a:r>
            <a:r>
              <a:rPr lang="en-US" dirty="0" err="1"/>
              <a:t>wks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Conquer Hot Flashes: 5 Proven Paths to Relief">
            <a:extLst>
              <a:ext uri="{FF2B5EF4-FFF2-40B4-BE49-F238E27FC236}">
                <a16:creationId xmlns:a16="http://schemas.microsoft.com/office/drawing/2014/main" id="{6EFF9863-EF35-63D1-F5AA-C19223029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411" y="103274"/>
            <a:ext cx="2394777" cy="319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54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19F2-E622-977E-1AC2-772762B6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22" y="175940"/>
            <a:ext cx="10691648" cy="965484"/>
          </a:xfrm>
        </p:spPr>
        <p:txBody>
          <a:bodyPr/>
          <a:lstStyle/>
          <a:p>
            <a:r>
              <a:rPr lang="en-US" dirty="0"/>
              <a:t>Genitourinary Symptoms of Menopause (GSM)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FCCC4-DE71-4B6D-4DCB-243148169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22" y="1141424"/>
            <a:ext cx="11080530" cy="528460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Declining estrogen levels cause thinning of the vaginal mucosa &amp; reduced elasticity via decreased muscle &amp; increased fatty deposits leading to Dryness, Burning, Itching, &amp; Irritation of the vagina</a:t>
            </a:r>
          </a:p>
          <a:p>
            <a:r>
              <a:rPr lang="en-US" dirty="0"/>
              <a:t>Urinary frequency, urgency, dysuria, &amp; nocturia can occur as there are estrogen receptors in the bladder &amp; urethra</a:t>
            </a:r>
          </a:p>
          <a:p>
            <a:r>
              <a:rPr lang="en-US" dirty="0"/>
              <a:t>Vaginal &amp; Urethral atrophy can occur as well</a:t>
            </a:r>
          </a:p>
          <a:p>
            <a:r>
              <a:rPr lang="en-US" dirty="0"/>
              <a:t>Declining estrogen levels lead to less glycogen &amp; lactic acid increasing the vaginal pH (4.5 -&gt; 7.0) promoting bacterial colonization of the vagina </a:t>
            </a:r>
          </a:p>
          <a:p>
            <a:r>
              <a:rPr lang="en-US" dirty="0"/>
              <a:t>Increases risk &amp; frequency of UTIs</a:t>
            </a:r>
          </a:p>
          <a:p>
            <a:pPr lvl="1"/>
            <a:r>
              <a:rPr lang="en-US" dirty="0"/>
              <a:t>MHT (vaginal estrogen) confers relative risk reduction of 42% in UTIs</a:t>
            </a:r>
          </a:p>
          <a:p>
            <a:r>
              <a:rPr lang="en-US" dirty="0"/>
              <a:t>Urinary incontinence &amp; pelvic structure prolapse due to muscle weakness &amp; reduction in ligamentous laxity affecting pelvic floor muscles</a:t>
            </a:r>
          </a:p>
          <a:p>
            <a:r>
              <a:rPr lang="en-US" dirty="0"/>
              <a:t>These symptoms can affect sleep</a:t>
            </a:r>
          </a:p>
          <a:p>
            <a:r>
              <a:rPr lang="en-US" dirty="0"/>
              <a:t>Vaginal estrogen is 1</a:t>
            </a:r>
            <a:r>
              <a:rPr lang="en-US" baseline="30000" dirty="0"/>
              <a:t>st</a:t>
            </a:r>
            <a:r>
              <a:rPr lang="en-US" dirty="0"/>
              <a:t> line &amp; may be needed even with systemic MHT</a:t>
            </a:r>
          </a:p>
          <a:p>
            <a:pPr lvl="1"/>
            <a:r>
              <a:rPr lang="en-US" dirty="0"/>
              <a:t>Vaginal estrogen has little systemic absorption &amp; can be used in women in which system MHT is contraindicated</a:t>
            </a:r>
          </a:p>
        </p:txBody>
      </p:sp>
    </p:spTree>
    <p:extLst>
      <p:ext uri="{BB962C8B-B14F-4D97-AF65-F5344CB8AC3E}">
        <p14:creationId xmlns:p14="http://schemas.microsoft.com/office/powerpoint/2010/main" val="224005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27D3B-91E2-F841-EBC3-3158CFC2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Sexual Dysfunction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ACBF-84E3-7391-F4CB-7D838FEBB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204"/>
            <a:ext cx="10515600" cy="4751760"/>
          </a:xfrm>
        </p:spPr>
        <p:txBody>
          <a:bodyPr/>
          <a:lstStyle/>
          <a:p>
            <a:r>
              <a:rPr lang="en-US" dirty="0"/>
              <a:t>Estrogen decline leads to </a:t>
            </a:r>
          </a:p>
          <a:p>
            <a:pPr lvl="1"/>
            <a:r>
              <a:rPr lang="en-US" dirty="0"/>
              <a:t>Reduced sexual desire</a:t>
            </a:r>
          </a:p>
          <a:p>
            <a:pPr lvl="1"/>
            <a:r>
              <a:rPr lang="en-US" dirty="0"/>
              <a:t>Diminished sexual function</a:t>
            </a:r>
          </a:p>
          <a:p>
            <a:pPr lvl="1"/>
            <a:r>
              <a:rPr lang="en-US" dirty="0"/>
              <a:t>GSM causing pain with intercourse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i="1" dirty="0"/>
              <a:t>MHT is not contraception so if there is a pregnancy risk, can use COC or estrogen MHT + Mirena IUD</a:t>
            </a:r>
          </a:p>
        </p:txBody>
      </p:sp>
    </p:spTree>
    <p:extLst>
      <p:ext uri="{BB962C8B-B14F-4D97-AF65-F5344CB8AC3E}">
        <p14:creationId xmlns:p14="http://schemas.microsoft.com/office/powerpoint/2010/main" val="42059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enitourinary Syndrome of Menopause (GSM): Symptoms, Causes, Diagnosis,  Treatment, and Prevention">
            <a:extLst>
              <a:ext uri="{FF2B5EF4-FFF2-40B4-BE49-F238E27FC236}">
                <a16:creationId xmlns:a16="http://schemas.microsoft.com/office/drawing/2014/main" id="{A87E9755-7838-3891-A4E7-2578996F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826" y="101813"/>
            <a:ext cx="6654373" cy="6654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973FF3-5D0F-7D25-5F89-E4B46F28164E}"/>
              </a:ext>
            </a:extLst>
          </p:cNvPr>
          <p:cNvSpPr txBox="1"/>
          <p:nvPr/>
        </p:nvSpPr>
        <p:spPr>
          <a:xfrm>
            <a:off x="7354614" y="6109855"/>
            <a:ext cx="4837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https://www.everydayhealth.com/womens-health/genitourinary-syndrome-of-menopause/</a:t>
            </a:r>
          </a:p>
        </p:txBody>
      </p:sp>
    </p:spTree>
    <p:extLst>
      <p:ext uri="{BB962C8B-B14F-4D97-AF65-F5344CB8AC3E}">
        <p14:creationId xmlns:p14="http://schemas.microsoft.com/office/powerpoint/2010/main" val="3093534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9F9B-EAB7-615E-6F6A-320E2D64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Breast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0282A-841D-9491-C4AD-4D72EE01E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246"/>
            <a:ext cx="10515600" cy="4606717"/>
          </a:xfrm>
        </p:spPr>
        <p:txBody>
          <a:bodyPr/>
          <a:lstStyle/>
          <a:p>
            <a:r>
              <a:rPr lang="en-US" dirty="0"/>
              <a:t>Volume loss due to decreasing levels of estrogen which affects ductal structures and decreasing levels of progesterone which affects lobular structures</a:t>
            </a:r>
          </a:p>
          <a:p>
            <a:r>
              <a:rPr lang="en-US" dirty="0"/>
              <a:t>Ultimately replacement of dense breast tissue with soft adipose tissue</a:t>
            </a:r>
          </a:p>
        </p:txBody>
      </p:sp>
    </p:spTree>
    <p:extLst>
      <p:ext uri="{BB962C8B-B14F-4D97-AF65-F5344CB8AC3E}">
        <p14:creationId xmlns:p14="http://schemas.microsoft.com/office/powerpoint/2010/main" val="3689745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020B-7DF4-7E23-B4EC-716DD2BB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Mood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BB24D-D7BA-4461-5560-3FB1FAF5F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183"/>
            <a:ext cx="10515600" cy="4669780"/>
          </a:xfrm>
        </p:spPr>
        <p:txBody>
          <a:bodyPr/>
          <a:lstStyle/>
          <a:p>
            <a:r>
              <a:rPr lang="en-US" dirty="0"/>
              <a:t>Anger or irritability, Anxiety or tension, Depression, Reduced Self Esteem or confidence, Impaired Concentration</a:t>
            </a:r>
          </a:p>
          <a:p>
            <a:r>
              <a:rPr lang="en-US" dirty="0"/>
              <a:t>Estrogen receptors are also present in the brain regions involved in mood &amp; cognitive regulation</a:t>
            </a:r>
          </a:p>
          <a:p>
            <a:r>
              <a:rPr lang="en-US" dirty="0"/>
              <a:t>Estrogen also modulates serotonin &amp; noradrenaline secretion</a:t>
            </a:r>
          </a:p>
          <a:p>
            <a:r>
              <a:rPr lang="en-US" dirty="0"/>
              <a:t>These symptoms can affect sleep</a:t>
            </a:r>
          </a:p>
          <a:p>
            <a:r>
              <a:rPr lang="en-US" dirty="0"/>
              <a:t>MHT is just as effective as antidepressants in perimenopause, but not in </a:t>
            </a:r>
            <a:r>
              <a:rPr lang="en-US" dirty="0" err="1"/>
              <a:t>postmenopause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990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2E7E-0802-DF86-3C71-51666981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 disturbance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29F9-7578-7788-B2A1-E9A00C47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939"/>
            <a:ext cx="10515600" cy="4613024"/>
          </a:xfrm>
        </p:spPr>
        <p:txBody>
          <a:bodyPr/>
          <a:lstStyle/>
          <a:p>
            <a:r>
              <a:rPr lang="en-US" dirty="0"/>
              <a:t>Difficulty falling asleep</a:t>
            </a:r>
          </a:p>
          <a:p>
            <a:r>
              <a:rPr lang="en-US" dirty="0"/>
              <a:t>Early morning awakening</a:t>
            </a:r>
          </a:p>
          <a:p>
            <a:r>
              <a:rPr lang="en-US" dirty="0"/>
              <a:t>Repeated nighttime awakening</a:t>
            </a:r>
          </a:p>
          <a:p>
            <a:pPr lvl="1"/>
            <a:r>
              <a:rPr lang="en-US" dirty="0"/>
              <a:t>Hot flashes?</a:t>
            </a:r>
          </a:p>
          <a:p>
            <a:pPr lvl="1"/>
            <a:r>
              <a:rPr lang="en-US" dirty="0"/>
              <a:t>Night sweats?</a:t>
            </a:r>
          </a:p>
          <a:p>
            <a:pPr lvl="1"/>
            <a:r>
              <a:rPr lang="en-US" dirty="0"/>
              <a:t>Nocturia?</a:t>
            </a:r>
          </a:p>
        </p:txBody>
      </p:sp>
    </p:spTree>
    <p:extLst>
      <p:ext uri="{BB962C8B-B14F-4D97-AF65-F5344CB8AC3E}">
        <p14:creationId xmlns:p14="http://schemas.microsoft.com/office/powerpoint/2010/main" val="413781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F5A6-B9D0-AE68-099B-84A2EB92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Decline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F2169-49A7-94DD-66D0-1A147C89A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939"/>
            <a:ext cx="10515600" cy="4613024"/>
          </a:xfrm>
        </p:spPr>
        <p:txBody>
          <a:bodyPr/>
          <a:lstStyle/>
          <a:p>
            <a:r>
              <a:rPr lang="en-US" dirty="0"/>
              <a:t>Temporary decline during perimenopause, but improves in postmenopausal years</a:t>
            </a:r>
          </a:p>
          <a:p>
            <a:r>
              <a:rPr lang="en-US" dirty="0"/>
              <a:t>In women who undergo early surgical menopause, HRT does seem to have a protective effect when started immediately</a:t>
            </a:r>
          </a:p>
        </p:txBody>
      </p:sp>
    </p:spTree>
    <p:extLst>
      <p:ext uri="{BB962C8B-B14F-4D97-AF65-F5344CB8AC3E}">
        <p14:creationId xmlns:p14="http://schemas.microsoft.com/office/powerpoint/2010/main" val="3431522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C83F-E5E7-C77E-CB1E-4516F321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Cardiovascular 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3FB1-68C1-BD5B-E9C3-6280491A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266"/>
            <a:ext cx="10515600" cy="4688698"/>
          </a:xfrm>
        </p:spPr>
        <p:txBody>
          <a:bodyPr>
            <a:normAutofit fontScale="92500"/>
          </a:bodyPr>
          <a:lstStyle/>
          <a:p>
            <a:r>
              <a:rPr lang="en-US" dirty="0"/>
              <a:t>Alterations in autonomic regulation</a:t>
            </a:r>
          </a:p>
          <a:p>
            <a:r>
              <a:rPr lang="en-US" dirty="0"/>
              <a:t>Relative high proportion of androgens leads to truncal obesity which is an independent CV risk (decreased estrogen + insulin resistance)</a:t>
            </a:r>
          </a:p>
          <a:p>
            <a:r>
              <a:rPr lang="en-US" dirty="0"/>
              <a:t>Estrogen is cardioprotective as it increases HDL &amp; decreases LDL so a drop in estrogen reverses this</a:t>
            </a:r>
          </a:p>
          <a:p>
            <a:r>
              <a:rPr lang="en-US" dirty="0"/>
              <a:t>Impaired arterial endothelial function &amp; renin-angiotensin system activation</a:t>
            </a:r>
          </a:p>
          <a:p>
            <a:r>
              <a:rPr lang="en-US" dirty="0"/>
              <a:t>CAD rates 2-3x higher than same aged premenopausal women</a:t>
            </a:r>
          </a:p>
          <a:p>
            <a:r>
              <a:rPr lang="en-US" dirty="0"/>
              <a:t>Oral MHT can increase risk of VTE – thought to be related to 1</a:t>
            </a:r>
            <a:r>
              <a:rPr lang="en-US" baseline="30000" dirty="0"/>
              <a:t>st</a:t>
            </a:r>
            <a:r>
              <a:rPr lang="en-US" dirty="0"/>
              <a:t> pass effect &amp; activation of coagulation system increasing liver biosynthesis of procoagulant factors – however transdermal does not appear to </a:t>
            </a:r>
          </a:p>
        </p:txBody>
      </p:sp>
    </p:spTree>
    <p:extLst>
      <p:ext uri="{BB962C8B-B14F-4D97-AF65-F5344CB8AC3E}">
        <p14:creationId xmlns:p14="http://schemas.microsoft.com/office/powerpoint/2010/main" val="3645301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A0B6-012D-B9F2-1733-F3C615BD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033" y="281678"/>
            <a:ext cx="10515600" cy="784071"/>
          </a:xfrm>
        </p:spPr>
        <p:txBody>
          <a:bodyPr/>
          <a:lstStyle/>
          <a:p>
            <a:r>
              <a:rPr lang="en-US" dirty="0"/>
              <a:t>Bone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8966F-F775-76FC-C07C-DAB500E7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53" y="1253331"/>
            <a:ext cx="10515600" cy="4351338"/>
          </a:xfrm>
        </p:spPr>
        <p:txBody>
          <a:bodyPr/>
          <a:lstStyle/>
          <a:p>
            <a:r>
              <a:rPr lang="en-US" dirty="0"/>
              <a:t>Osteoporosis increases – thinning of the bones</a:t>
            </a:r>
          </a:p>
          <a:p>
            <a:pPr lvl="1"/>
            <a:r>
              <a:rPr lang="en-US" dirty="0"/>
              <a:t>This process can start years before menopause</a:t>
            </a:r>
          </a:p>
          <a:p>
            <a:pPr lvl="1"/>
            <a:r>
              <a:rPr lang="en-US" dirty="0"/>
              <a:t>Estrogen decline increases osteoclastic activity compared to osteoblastic activity (so bone is broken down faster than it is rebuilt)</a:t>
            </a:r>
          </a:p>
          <a:p>
            <a:pPr lvl="1"/>
            <a:r>
              <a:rPr lang="en-US" dirty="0"/>
              <a:t>Increases risk of fracture</a:t>
            </a:r>
          </a:p>
          <a:p>
            <a:r>
              <a:rPr lang="en-US" dirty="0"/>
              <a:t>Joint pain &amp; stiffness</a:t>
            </a:r>
          </a:p>
          <a:p>
            <a:pPr lvl="1"/>
            <a:r>
              <a:rPr lang="en-US" dirty="0"/>
              <a:t>Women with longer 							reproductive life spans 								have reduced risk of total 							knee replacements</a:t>
            </a:r>
          </a:p>
        </p:txBody>
      </p:sp>
      <p:pic>
        <p:nvPicPr>
          <p:cNvPr id="4" name="Picture 3" descr="Osteoporosis Infographic Images – Browse 7,313 Stock Photos, Vectors, and  Video | Adobe Stock">
            <a:extLst>
              <a:ext uri="{FF2B5EF4-FFF2-40B4-BE49-F238E27FC236}">
                <a16:creationId xmlns:a16="http://schemas.microsoft.com/office/drawing/2014/main" id="{B93F06FF-DF4D-3AD1-41E7-14AAE14D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517" y="3006484"/>
            <a:ext cx="6759401" cy="37726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EF8F2D-0A7A-F5C4-1D6B-8DC10C1694FE}"/>
              </a:ext>
            </a:extLst>
          </p:cNvPr>
          <p:cNvSpPr txBox="1"/>
          <p:nvPr/>
        </p:nvSpPr>
        <p:spPr>
          <a:xfrm>
            <a:off x="84082" y="6488668"/>
            <a:ext cx="6241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https://stock.adobe.com/search?k=osteoporosis+infographic</a:t>
            </a:r>
          </a:p>
        </p:txBody>
      </p:sp>
    </p:spTree>
    <p:extLst>
      <p:ext uri="{BB962C8B-B14F-4D97-AF65-F5344CB8AC3E}">
        <p14:creationId xmlns:p14="http://schemas.microsoft.com/office/powerpoint/2010/main" val="2744002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B806-E18A-7362-6733-D6686F52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Skin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0CCD-6F58-1F70-4B3C-AD98BE85C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Thinning of skin &amp; loss of elasticity due to decreased collagen</a:t>
            </a:r>
          </a:p>
          <a:p>
            <a:r>
              <a:rPr lang="en-US" dirty="0"/>
              <a:t>Thinning hair/hair loss could be due to decreased collagen, less oil from sebaceous glands, reduction in estrogen without similar reduction in testosterone or DHT</a:t>
            </a:r>
          </a:p>
        </p:txBody>
      </p:sp>
    </p:spTree>
    <p:extLst>
      <p:ext uri="{BB962C8B-B14F-4D97-AF65-F5344CB8AC3E}">
        <p14:creationId xmlns:p14="http://schemas.microsoft.com/office/powerpoint/2010/main" val="3587497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8B3A-BD69-407A-9B9E-7FC538B1C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Gastrointestinal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02949-EC23-BA60-3153-645B64BFD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Oral estrogen, but not transdermal estrogen, increases risk of symptomatic gallstones</a:t>
            </a:r>
          </a:p>
          <a:p>
            <a:r>
              <a:rPr lang="en-US" dirty="0"/>
              <a:t>Remember the 4 Fs?</a:t>
            </a:r>
          </a:p>
        </p:txBody>
      </p:sp>
    </p:spTree>
    <p:extLst>
      <p:ext uri="{BB962C8B-B14F-4D97-AF65-F5344CB8AC3E}">
        <p14:creationId xmlns:p14="http://schemas.microsoft.com/office/powerpoint/2010/main" val="3762492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athophysiology of menopause organ changes">
            <a:extLst>
              <a:ext uri="{FF2B5EF4-FFF2-40B4-BE49-F238E27FC236}">
                <a16:creationId xmlns:a16="http://schemas.microsoft.com/office/drawing/2014/main" id="{420693D3-DF97-7A8A-4E9C-30C2AB6E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02" y="0"/>
            <a:ext cx="9031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27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967A-32B6-A9FE-B0CC-96462C93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Exam in 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F6ED-9BA1-C45F-DDAC-09F8D6A34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BP due to arterial constriction</a:t>
            </a:r>
          </a:p>
          <a:p>
            <a:r>
              <a:rPr lang="en-US" dirty="0"/>
              <a:t>Weight gain (avg 5 </a:t>
            </a:r>
            <a:r>
              <a:rPr lang="en-US" dirty="0" err="1"/>
              <a:t>lbs</a:t>
            </a:r>
            <a:r>
              <a:rPr lang="en-US" dirty="0"/>
              <a:t>/2kg)</a:t>
            </a:r>
          </a:p>
          <a:p>
            <a:r>
              <a:rPr lang="en-US" dirty="0"/>
              <a:t>Height reduction (related to BMD loss)</a:t>
            </a:r>
          </a:p>
          <a:p>
            <a:r>
              <a:rPr lang="en-US" dirty="0"/>
              <a:t>Fatty deposition of breast tissue</a:t>
            </a:r>
          </a:p>
          <a:p>
            <a:r>
              <a:rPr lang="en-US" dirty="0"/>
              <a:t>Thinning hair</a:t>
            </a:r>
          </a:p>
          <a:p>
            <a:r>
              <a:rPr lang="en-US" dirty="0"/>
              <a:t>Vaginal dryness &amp; urogenital atrophy</a:t>
            </a:r>
          </a:p>
        </p:txBody>
      </p:sp>
    </p:spTree>
    <p:extLst>
      <p:ext uri="{BB962C8B-B14F-4D97-AF65-F5344CB8AC3E}">
        <p14:creationId xmlns:p14="http://schemas.microsoft.com/office/powerpoint/2010/main" val="734075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AE62-361A-46A1-A7C4-2144718A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13" y="352513"/>
            <a:ext cx="10515600" cy="952872"/>
          </a:xfrm>
        </p:spPr>
        <p:txBody>
          <a:bodyPr/>
          <a:lstStyle/>
          <a:p>
            <a:r>
              <a:rPr lang="en-US" dirty="0"/>
              <a:t>Evaluation of 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7E95C-2CBF-AE57-5137-E5CE00BDD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913" y="1387365"/>
            <a:ext cx="10515600" cy="4587799"/>
          </a:xfrm>
        </p:spPr>
        <p:txBody>
          <a:bodyPr/>
          <a:lstStyle/>
          <a:p>
            <a:r>
              <a:rPr lang="en-US" dirty="0"/>
              <a:t>Clinical diagnosis – based on history &gt;&gt; physical exam</a:t>
            </a:r>
          </a:p>
          <a:p>
            <a:r>
              <a:rPr lang="en-US" dirty="0"/>
              <a:t>Laboratory evaluation is unnecessary in most cases</a:t>
            </a:r>
          </a:p>
          <a:p>
            <a:pPr lvl="1"/>
            <a:r>
              <a:rPr lang="en-US" dirty="0"/>
              <a:t>FSH &gt; 30</a:t>
            </a:r>
          </a:p>
          <a:p>
            <a:pPr lvl="2"/>
            <a:r>
              <a:rPr lang="en-US" dirty="0"/>
              <a:t>May transiently rise after pelvic surgery, wait 3 </a:t>
            </a:r>
            <a:r>
              <a:rPr lang="en-US" dirty="0" err="1"/>
              <a:t>mon</a:t>
            </a:r>
            <a:r>
              <a:rPr lang="en-US" dirty="0"/>
              <a:t> to test</a:t>
            </a:r>
          </a:p>
          <a:p>
            <a:pPr lvl="2"/>
            <a:r>
              <a:rPr lang="en-US" dirty="0"/>
              <a:t>Hormonal medications can alter values, wait 2 </a:t>
            </a:r>
            <a:r>
              <a:rPr lang="en-US" dirty="0" err="1"/>
              <a:t>wks</a:t>
            </a:r>
            <a:r>
              <a:rPr lang="en-US" dirty="0"/>
              <a:t> after discontinuation</a:t>
            </a:r>
          </a:p>
          <a:p>
            <a:pPr lvl="1"/>
            <a:r>
              <a:rPr lang="en-US" dirty="0"/>
              <a:t>Estradiol? &lt; 20</a:t>
            </a:r>
          </a:p>
          <a:p>
            <a:pPr lvl="2"/>
            <a:r>
              <a:rPr lang="en-US" dirty="0"/>
              <a:t>Rises in perimenopause</a:t>
            </a:r>
          </a:p>
          <a:p>
            <a:pPr lvl="2"/>
            <a:r>
              <a:rPr lang="en-US" dirty="0"/>
              <a:t>Hormonal medications can alter values, wait 2 </a:t>
            </a:r>
            <a:r>
              <a:rPr lang="en-US" dirty="0" err="1"/>
              <a:t>wks</a:t>
            </a:r>
            <a:r>
              <a:rPr lang="en-US" dirty="0"/>
              <a:t> after discontinuation</a:t>
            </a:r>
          </a:p>
          <a:p>
            <a:pPr lvl="1"/>
            <a:r>
              <a:rPr lang="en-US" dirty="0"/>
              <a:t>AMH??</a:t>
            </a:r>
          </a:p>
          <a:p>
            <a:pPr lvl="2"/>
            <a:r>
              <a:rPr lang="en-US" dirty="0"/>
              <a:t>The variation of decline between individuals makes reliable values difficult to determine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88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8FF2-8D6F-1872-2E4C-56A2ADAA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0D375-CEB7-4F37-9903-37FD53B8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946"/>
            <a:ext cx="10515600" cy="470760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Pregnancy</a:t>
            </a:r>
          </a:p>
          <a:p>
            <a:r>
              <a:rPr lang="en-US" dirty="0"/>
              <a:t>Thyroid disorders</a:t>
            </a:r>
          </a:p>
          <a:p>
            <a:r>
              <a:rPr lang="en-US" dirty="0"/>
              <a:t>PMOS (PCOS)</a:t>
            </a:r>
          </a:p>
          <a:p>
            <a:r>
              <a:rPr lang="en-US" dirty="0"/>
              <a:t>Depression, Anxiety, Eating disorders</a:t>
            </a:r>
          </a:p>
          <a:p>
            <a:r>
              <a:rPr lang="en-US" dirty="0"/>
              <a:t>Chronic Illnesses – IBD, CKD, Cancer</a:t>
            </a:r>
          </a:p>
          <a:p>
            <a:r>
              <a:rPr lang="en-US" dirty="0"/>
              <a:t>Poor nutrition or excessive exercise</a:t>
            </a:r>
          </a:p>
          <a:p>
            <a:r>
              <a:rPr lang="en-US" dirty="0"/>
              <a:t>Stress</a:t>
            </a:r>
          </a:p>
          <a:p>
            <a:r>
              <a:rPr lang="en-US" dirty="0"/>
              <a:t>UTIs</a:t>
            </a:r>
          </a:p>
          <a:p>
            <a:r>
              <a:rPr lang="en-US" dirty="0"/>
              <a:t>Sheehan Syndrome or Pituitary adenoma</a:t>
            </a:r>
          </a:p>
          <a:p>
            <a:r>
              <a:rPr lang="en-US" dirty="0"/>
              <a:t>Ovarian tumors</a:t>
            </a:r>
          </a:p>
          <a:p>
            <a:r>
              <a:rPr lang="en-US" dirty="0"/>
              <a:t>Premature Ovarian Insufficiency</a:t>
            </a:r>
          </a:p>
        </p:txBody>
      </p:sp>
    </p:spTree>
    <p:extLst>
      <p:ext uri="{BB962C8B-B14F-4D97-AF65-F5344CB8AC3E}">
        <p14:creationId xmlns:p14="http://schemas.microsoft.com/office/powerpoint/2010/main" val="4210536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3C01-F22F-CEDB-CBDC-4F25C494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Treatments for Menopause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D2C5D-731F-7215-B054-32E141A7F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494571"/>
            <a:ext cx="5157787" cy="469509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Hormone Therapy (MHT)</a:t>
            </a:r>
          </a:p>
          <a:p>
            <a:pPr lvl="1"/>
            <a:r>
              <a:rPr lang="en-US" dirty="0"/>
              <a:t>Estrogen is first line therapy</a:t>
            </a:r>
          </a:p>
          <a:p>
            <a:pPr lvl="1"/>
            <a:r>
              <a:rPr lang="en-US" dirty="0"/>
              <a:t>Must add progesterone if the individual still has a uterus </a:t>
            </a:r>
            <a:r>
              <a:rPr lang="en-US" i="1" dirty="0"/>
              <a:t>OR endometriosis even s/p hysterectomy </a:t>
            </a:r>
            <a:r>
              <a:rPr lang="en-US" dirty="0"/>
              <a:t>(reduces risk of endometrial cancer)</a:t>
            </a:r>
          </a:p>
          <a:p>
            <a:pPr lvl="1"/>
            <a:r>
              <a:rPr lang="en-US" dirty="0"/>
              <a:t>Testosterone is needed for treatment of low libido &amp; other sexual dysfunction</a:t>
            </a:r>
          </a:p>
          <a:p>
            <a:r>
              <a:rPr lang="en-US" dirty="0"/>
              <a:t>SSRIs/SNRIs - Citalopram, Escitalopram, Paroxetine, Desvenlafaxine, Venlafaxine</a:t>
            </a:r>
          </a:p>
          <a:p>
            <a:r>
              <a:rPr lang="en-US" dirty="0"/>
              <a:t>Selective Estrogen Receptor Modulator (SERMs) - Ospemifene, Tamoxifen, </a:t>
            </a:r>
            <a:r>
              <a:rPr lang="en-US" dirty="0" err="1"/>
              <a:t>Bazodoxifene</a:t>
            </a:r>
            <a:r>
              <a:rPr lang="en-US" dirty="0"/>
              <a:t>, Raloxifene</a:t>
            </a:r>
          </a:p>
          <a:p>
            <a:r>
              <a:rPr lang="en-US" dirty="0"/>
              <a:t>Neurokinin 3 Receptor Antagonist - </a:t>
            </a:r>
            <a:r>
              <a:rPr lang="en-US" dirty="0" err="1"/>
              <a:t>Fezolinetant</a:t>
            </a:r>
            <a:endParaRPr lang="en-US" dirty="0"/>
          </a:p>
          <a:p>
            <a:r>
              <a:rPr lang="en-US" dirty="0"/>
              <a:t>Gabapentin/Pregabalin</a:t>
            </a:r>
          </a:p>
          <a:p>
            <a:r>
              <a:rPr lang="en-US" dirty="0"/>
              <a:t>Clonidine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F8A1E-367B-115B-11C9-04FC76891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494571"/>
            <a:ext cx="5183188" cy="469509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Cognitive Behavioral Therapy (CBT)</a:t>
            </a:r>
          </a:p>
          <a:p>
            <a:r>
              <a:rPr lang="en-US" dirty="0"/>
              <a:t>Hypnosis</a:t>
            </a:r>
          </a:p>
          <a:p>
            <a:r>
              <a:rPr lang="en-US" dirty="0"/>
              <a:t>Black cohosh</a:t>
            </a:r>
          </a:p>
          <a:p>
            <a:r>
              <a:rPr lang="en-US" dirty="0"/>
              <a:t>Soy/isoflavones</a:t>
            </a:r>
          </a:p>
          <a:p>
            <a:r>
              <a:rPr lang="en-US" dirty="0"/>
              <a:t>DHEA</a:t>
            </a:r>
          </a:p>
          <a:p>
            <a:r>
              <a:rPr lang="en-US" dirty="0"/>
              <a:t>Oxybutynin</a:t>
            </a:r>
          </a:p>
          <a:p>
            <a:r>
              <a:rPr lang="en-US" dirty="0"/>
              <a:t>Vaginal moisturizers/lubricants</a:t>
            </a:r>
          </a:p>
          <a:p>
            <a:r>
              <a:rPr lang="en-US" dirty="0"/>
              <a:t>Bisphosphonates – alendronate</a:t>
            </a:r>
          </a:p>
          <a:p>
            <a:r>
              <a:rPr lang="en-US" dirty="0"/>
              <a:t>Denosumab</a:t>
            </a:r>
          </a:p>
          <a:p>
            <a:r>
              <a:rPr lang="en-US" dirty="0"/>
              <a:t>Calcium + Vitamin 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887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FEE3-C164-35BB-3E55-DFA70FFCB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97" y="245308"/>
            <a:ext cx="10515600" cy="959178"/>
          </a:xfrm>
        </p:spPr>
        <p:txBody>
          <a:bodyPr/>
          <a:lstStyle/>
          <a:p>
            <a:r>
              <a:rPr lang="en-US" dirty="0"/>
              <a:t>Treatment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93A81-8436-169F-6218-624351FC8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7" y="1034218"/>
            <a:ext cx="11111536" cy="5458658"/>
          </a:xfrm>
        </p:spPr>
        <p:txBody>
          <a:bodyPr>
            <a:normAutofit fontScale="62500" lnSpcReduction="20000"/>
          </a:bodyPr>
          <a:lstStyle/>
          <a:p>
            <a:r>
              <a:rPr lang="en-US" sz="3800" dirty="0"/>
              <a:t>Consider what symptom(s) need treating &amp; which treatment provides most benefit with least risk</a:t>
            </a:r>
          </a:p>
          <a:p>
            <a:r>
              <a:rPr lang="en-US" sz="3800" dirty="0"/>
              <a:t>Initiate hormone therapy near onset of symptoms, delayed initiation of therapy increases risk</a:t>
            </a:r>
          </a:p>
          <a:p>
            <a:pPr lvl="1"/>
            <a:r>
              <a:rPr lang="en-US" sz="3100" dirty="0"/>
              <a:t>Generally within 10 years of symptoms onset and ideally younger than 60</a:t>
            </a:r>
          </a:p>
          <a:p>
            <a:pPr lvl="1"/>
            <a:r>
              <a:rPr lang="en-US" sz="3100" dirty="0"/>
              <a:t>Risk/Benefit eval for continuing past 60 yrs of age</a:t>
            </a:r>
          </a:p>
          <a:p>
            <a:pPr lvl="1"/>
            <a:r>
              <a:rPr lang="en-US" sz="3100" dirty="0"/>
              <a:t>No universal recommendation for when to discontinue HT</a:t>
            </a:r>
          </a:p>
          <a:p>
            <a:r>
              <a:rPr lang="en-US" sz="3800" dirty="0"/>
              <a:t>Estrogen-only therapy may reduce risk of breast cancer in women w/o a uterus while </a:t>
            </a:r>
            <a:r>
              <a:rPr lang="en-US" sz="3800" dirty="0" err="1"/>
              <a:t>Estrogen+Progesterone</a:t>
            </a:r>
            <a:r>
              <a:rPr lang="en-US" sz="3800" dirty="0"/>
              <a:t> therapy may increase the risk of breast cancer in women with a uterus</a:t>
            </a:r>
          </a:p>
          <a:p>
            <a:r>
              <a:rPr lang="en-US" sz="3800" dirty="0"/>
              <a:t>Smoking with estrogen therapy increases risk</a:t>
            </a:r>
          </a:p>
          <a:p>
            <a:r>
              <a:rPr lang="en-US" sz="3800" dirty="0"/>
              <a:t>Nov 2025, FDA recommended removal of black box warning for estrogen therapy for CV disease, breast cancer, and dementia while maintaining warning for endometrial cancer with estrogen only therapy</a:t>
            </a:r>
          </a:p>
          <a:p>
            <a:r>
              <a:rPr lang="en-US" sz="3800" dirty="0"/>
              <a:t>Sequential MHT (daily estrogen + progesterone 12-14 days/</a:t>
            </a:r>
            <a:r>
              <a:rPr lang="en-US" sz="3800" dirty="0" err="1"/>
              <a:t>mon</a:t>
            </a:r>
            <a:r>
              <a:rPr lang="en-US" sz="3800" dirty="0"/>
              <a:t>) vs Continuous (combined) MHT</a:t>
            </a:r>
          </a:p>
          <a:p>
            <a:pPr lvl="1"/>
            <a:r>
              <a:rPr lang="en-US" sz="3400" dirty="0"/>
              <a:t>Produces predictable withdrawal bleeding with the former vs breakthrough bleeding with the latter (transdermal&gt;oral)</a:t>
            </a:r>
          </a:p>
        </p:txBody>
      </p:sp>
    </p:spTree>
    <p:extLst>
      <p:ext uri="{BB962C8B-B14F-4D97-AF65-F5344CB8AC3E}">
        <p14:creationId xmlns:p14="http://schemas.microsoft.com/office/powerpoint/2010/main" val="17705721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2BF5-8A3F-E794-0E2F-DB176FAF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Considerations </a:t>
            </a:r>
            <a:r>
              <a:rPr lang="en-US" dirty="0" err="1"/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915D-7936-89FD-0C20-FA83C3FBB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Bioidenticals have no evidence to suggest superiority &amp; may be riskier as they are compounded in small batches and not regulated for safety or effectiveness</a:t>
            </a:r>
          </a:p>
          <a:p>
            <a:r>
              <a:rPr lang="en-US" dirty="0"/>
              <a:t>CBT &amp; Hypnosis – evidence for short term efficacy for VMS &amp; sleep</a:t>
            </a:r>
          </a:p>
          <a:p>
            <a:r>
              <a:rPr lang="en-US" dirty="0"/>
              <a:t>Supplements – effective compared to placebo, but not superior to HT &amp; there are concerns for safety due to lack of standardization &amp; regulatory oversight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90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7CC5-06E2-A290-0528-2A588BF7B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838" y="365125"/>
            <a:ext cx="5429645" cy="1325563"/>
          </a:xfrm>
        </p:spPr>
        <p:txBody>
          <a:bodyPr/>
          <a:lstStyle/>
          <a:p>
            <a:pPr algn="ctr"/>
            <a:r>
              <a:rPr lang="en-US" dirty="0"/>
              <a:t>Benefits/Harms of MHT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C398F-6E7A-8AA0-B8C3-E98F1414F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4043" y="1825625"/>
            <a:ext cx="532243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reviewed in 2022 from 20 RCTs &amp; 3 large Cohort studies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F8C29-8F5C-E210-4D48-11B141D9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76" y="233330"/>
            <a:ext cx="5780270" cy="654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CB0E-A503-51EC-B76D-6CCE8232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14" y="251613"/>
            <a:ext cx="10515600" cy="738461"/>
          </a:xfrm>
        </p:spPr>
        <p:txBody>
          <a:bodyPr/>
          <a:lstStyle/>
          <a:p>
            <a:r>
              <a:rPr lang="en-US" dirty="0"/>
              <a:t>Treatment Guidelines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8A8554C-6AD1-2DC6-EAF8-5292606F1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671461"/>
              </p:ext>
            </p:extLst>
          </p:nvPr>
        </p:nvGraphicFramePr>
        <p:xfrm>
          <a:off x="264857" y="1091133"/>
          <a:ext cx="11536064" cy="4932160"/>
        </p:xfrm>
        <a:graphic>
          <a:graphicData uri="http://schemas.openxmlformats.org/drawingml/2006/table">
            <a:tbl>
              <a:tblPr/>
              <a:tblGrid>
                <a:gridCol w="1557633">
                  <a:extLst>
                    <a:ext uri="{9D8B030D-6E8A-4147-A177-3AD203B41FA5}">
                      <a16:colId xmlns:a16="http://schemas.microsoft.com/office/drawing/2014/main" val="3008650025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1561027322"/>
                    </a:ext>
                  </a:extLst>
                </a:gridCol>
                <a:gridCol w="1702676">
                  <a:extLst>
                    <a:ext uri="{9D8B030D-6E8A-4147-A177-3AD203B41FA5}">
                      <a16:colId xmlns:a16="http://schemas.microsoft.com/office/drawing/2014/main" val="2643156553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075069384"/>
                    </a:ext>
                  </a:extLst>
                </a:gridCol>
                <a:gridCol w="2656925">
                  <a:extLst>
                    <a:ext uri="{9D8B030D-6E8A-4147-A177-3AD203B41FA5}">
                      <a16:colId xmlns:a16="http://schemas.microsoft.com/office/drawing/2014/main" val="3150122816"/>
                    </a:ext>
                  </a:extLst>
                </a:gridCol>
              </a:tblGrid>
              <a:tr h="636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Society/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Guideline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Yr/Latest Update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Main Indications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Key Recommendations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Warnings/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Contraindications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804402"/>
                  </a:ext>
                </a:extLst>
              </a:tr>
              <a:tr h="33747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>
                          <a:effectLst/>
                        </a:rPr>
                        <a:t>NAMS</a:t>
                      </a:r>
                      <a:r>
                        <a:rPr lang="en-US" sz="2000">
                          <a:effectLst/>
                        </a:rPr>
                        <a:t> (The Menopause Society)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2022–2024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Moderate–severe VMS, GSM, prevention of bone loss and fractures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Initiation &lt;60 years or &lt;10 years since menopause </a:t>
                      </a:r>
                      <a:r>
                        <a:rPr lang="en-US" sz="2000" dirty="0">
                          <a:effectLst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2000" dirty="0">
                          <a:effectLst/>
                        </a:rPr>
                        <a:t> best benefit–risk ratio ('timing hypothesis’)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MHT is most effective treatment for VMS &amp; GSM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Prefer transdermal route in women at increased VTE risk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Progestogen required if uterus present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Continuation &gt;65 years may be acceptable in selected women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Periodic benefit–risk 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re-assessment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Avoid oral estrogen in active/recent VTE, stroke, or breast cancer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45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633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7197E2-9089-86C2-4F16-1B7CD4280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620825"/>
              </p:ext>
            </p:extLst>
          </p:nvPr>
        </p:nvGraphicFramePr>
        <p:xfrm>
          <a:off x="453522" y="261686"/>
          <a:ext cx="11536064" cy="637280"/>
        </p:xfrm>
        <a:graphic>
          <a:graphicData uri="http://schemas.openxmlformats.org/drawingml/2006/table">
            <a:tbl>
              <a:tblPr/>
              <a:tblGrid>
                <a:gridCol w="1557633">
                  <a:extLst>
                    <a:ext uri="{9D8B030D-6E8A-4147-A177-3AD203B41FA5}">
                      <a16:colId xmlns:a16="http://schemas.microsoft.com/office/drawing/2014/main" val="2898878599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1234348583"/>
                    </a:ext>
                  </a:extLst>
                </a:gridCol>
                <a:gridCol w="1841938">
                  <a:extLst>
                    <a:ext uri="{9D8B030D-6E8A-4147-A177-3AD203B41FA5}">
                      <a16:colId xmlns:a16="http://schemas.microsoft.com/office/drawing/2014/main" val="4257762361"/>
                    </a:ext>
                  </a:extLst>
                </a:gridCol>
                <a:gridCol w="3985523">
                  <a:extLst>
                    <a:ext uri="{9D8B030D-6E8A-4147-A177-3AD203B41FA5}">
                      <a16:colId xmlns:a16="http://schemas.microsoft.com/office/drawing/2014/main" val="1608773180"/>
                    </a:ext>
                  </a:extLst>
                </a:gridCol>
                <a:gridCol w="3104140">
                  <a:extLst>
                    <a:ext uri="{9D8B030D-6E8A-4147-A177-3AD203B41FA5}">
                      <a16:colId xmlns:a16="http://schemas.microsoft.com/office/drawing/2014/main" val="3666999725"/>
                    </a:ext>
                  </a:extLst>
                </a:gridCol>
              </a:tblGrid>
              <a:tr h="63620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Society/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Guideline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Yr/Latest Update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Main Indications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Key Recommendations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Warnings/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Contraindications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145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9B9322-2121-2E4C-C378-9D706C15D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344278"/>
              </p:ext>
            </p:extLst>
          </p:nvPr>
        </p:nvGraphicFramePr>
        <p:xfrm>
          <a:off x="453522" y="898966"/>
          <a:ext cx="11536064" cy="3075680"/>
        </p:xfrm>
        <a:graphic>
          <a:graphicData uri="http://schemas.openxmlformats.org/drawingml/2006/table">
            <a:tbl>
              <a:tblPr/>
              <a:tblGrid>
                <a:gridCol w="1557633">
                  <a:extLst>
                    <a:ext uri="{9D8B030D-6E8A-4147-A177-3AD203B41FA5}">
                      <a16:colId xmlns:a16="http://schemas.microsoft.com/office/drawing/2014/main" val="2332602811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845859481"/>
                    </a:ext>
                  </a:extLst>
                </a:gridCol>
                <a:gridCol w="1848244">
                  <a:extLst>
                    <a:ext uri="{9D8B030D-6E8A-4147-A177-3AD203B41FA5}">
                      <a16:colId xmlns:a16="http://schemas.microsoft.com/office/drawing/2014/main" val="1964043791"/>
                    </a:ext>
                  </a:extLst>
                </a:gridCol>
                <a:gridCol w="3985523">
                  <a:extLst>
                    <a:ext uri="{9D8B030D-6E8A-4147-A177-3AD203B41FA5}">
                      <a16:colId xmlns:a16="http://schemas.microsoft.com/office/drawing/2014/main" val="3951905523"/>
                    </a:ext>
                  </a:extLst>
                </a:gridCol>
                <a:gridCol w="3097834">
                  <a:extLst>
                    <a:ext uri="{9D8B030D-6E8A-4147-A177-3AD203B41FA5}">
                      <a16:colId xmlns:a16="http://schemas.microsoft.com/office/drawing/2014/main" val="283175694"/>
                    </a:ext>
                  </a:extLst>
                </a:gridCol>
              </a:tblGrid>
              <a:tr h="24619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dirty="0">
                          <a:effectLst/>
                        </a:rPr>
                        <a:t>IMS</a:t>
                      </a:r>
                      <a:r>
                        <a:rPr lang="en-US" sz="2000" dirty="0">
                          <a:effectLst/>
                        </a:rPr>
                        <a:t> (International Menopause Society)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2016–2024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Relief of menopausal symptoms, prevention of osteoporosis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MHT is most effective for VMS &amp; GSM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Benefits outweigh risks when started before age 60 or within 10 years of menopause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Transdermal minimizes VTE risk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Tailor dose &amp; duration individually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Unexplained vaginal bleeding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Acute liver disease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Active or recent VTE, ischemic heart disease, or breast cancer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7615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6AF0AC-E4F8-3855-5780-00E7006D6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692802"/>
              </p:ext>
            </p:extLst>
          </p:nvPr>
        </p:nvGraphicFramePr>
        <p:xfrm>
          <a:off x="453522" y="3974646"/>
          <a:ext cx="11536064" cy="2770880"/>
        </p:xfrm>
        <a:graphic>
          <a:graphicData uri="http://schemas.openxmlformats.org/drawingml/2006/table">
            <a:tbl>
              <a:tblPr/>
              <a:tblGrid>
                <a:gridCol w="1557633">
                  <a:extLst>
                    <a:ext uri="{9D8B030D-6E8A-4147-A177-3AD203B41FA5}">
                      <a16:colId xmlns:a16="http://schemas.microsoft.com/office/drawing/2014/main" val="2537984029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4232678620"/>
                    </a:ext>
                  </a:extLst>
                </a:gridCol>
                <a:gridCol w="1848769">
                  <a:extLst>
                    <a:ext uri="{9D8B030D-6E8A-4147-A177-3AD203B41FA5}">
                      <a16:colId xmlns:a16="http://schemas.microsoft.com/office/drawing/2014/main" val="1801424707"/>
                    </a:ext>
                  </a:extLst>
                </a:gridCol>
                <a:gridCol w="3991829">
                  <a:extLst>
                    <a:ext uri="{9D8B030D-6E8A-4147-A177-3AD203B41FA5}">
                      <a16:colId xmlns:a16="http://schemas.microsoft.com/office/drawing/2014/main" val="1759498493"/>
                    </a:ext>
                  </a:extLst>
                </a:gridCol>
                <a:gridCol w="3091003">
                  <a:extLst>
                    <a:ext uri="{9D8B030D-6E8A-4147-A177-3AD203B41FA5}">
                      <a16:colId xmlns:a16="http://schemas.microsoft.com/office/drawing/2014/main" val="2099364011"/>
                    </a:ext>
                  </a:extLst>
                </a:gridCol>
              </a:tblGrid>
              <a:tr h="24619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 dirty="0">
                          <a:effectLst/>
                        </a:rPr>
                        <a:t>ACOG</a:t>
                      </a:r>
                      <a:r>
                        <a:rPr lang="en-US" sz="2000" dirty="0">
                          <a:effectLst/>
                        </a:rPr>
                        <a:t> (American College of Obstetricians &amp; Gynecologists)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2014–2021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Vasomotor symptoms, genitourinary symptoms, prevention of bone loss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Individualize treatment based on risk profile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Use lowest effective dose for shortest duration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Transdermal route preferred for women with hypertension or high VTE risk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History of breast cancer or estrogen-dependent neoplasia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Active VTE or arterial thromboembolic disease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869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890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EC2D75-A038-813D-7871-C9F04AD3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475895"/>
              </p:ext>
            </p:extLst>
          </p:nvPr>
        </p:nvGraphicFramePr>
        <p:xfrm>
          <a:off x="327968" y="120898"/>
          <a:ext cx="11536064" cy="644366"/>
        </p:xfrm>
        <a:graphic>
          <a:graphicData uri="http://schemas.openxmlformats.org/drawingml/2006/table">
            <a:tbl>
              <a:tblPr/>
              <a:tblGrid>
                <a:gridCol w="1557633">
                  <a:extLst>
                    <a:ext uri="{9D8B030D-6E8A-4147-A177-3AD203B41FA5}">
                      <a16:colId xmlns:a16="http://schemas.microsoft.com/office/drawing/2014/main" val="499445216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2232175239"/>
                    </a:ext>
                  </a:extLst>
                </a:gridCol>
                <a:gridCol w="2125147">
                  <a:extLst>
                    <a:ext uri="{9D8B030D-6E8A-4147-A177-3AD203B41FA5}">
                      <a16:colId xmlns:a16="http://schemas.microsoft.com/office/drawing/2014/main" val="1070526551"/>
                    </a:ext>
                  </a:extLst>
                </a:gridCol>
                <a:gridCol w="4080116">
                  <a:extLst>
                    <a:ext uri="{9D8B030D-6E8A-4147-A177-3AD203B41FA5}">
                      <a16:colId xmlns:a16="http://schemas.microsoft.com/office/drawing/2014/main" val="4066753532"/>
                    </a:ext>
                  </a:extLst>
                </a:gridCol>
                <a:gridCol w="2726338">
                  <a:extLst>
                    <a:ext uri="{9D8B030D-6E8A-4147-A177-3AD203B41FA5}">
                      <a16:colId xmlns:a16="http://schemas.microsoft.com/office/drawing/2014/main" val="2198303869"/>
                    </a:ext>
                  </a:extLst>
                </a:gridCol>
              </a:tblGrid>
              <a:tr h="6443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Society/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Guideline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Yr/Latest Update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Main Indications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Key Recommendations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Warnings/</a:t>
                      </a: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Contraindications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643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DC09E4-2427-2343-2DC7-4EE4BC4A2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819981"/>
              </p:ext>
            </p:extLst>
          </p:nvPr>
        </p:nvGraphicFramePr>
        <p:xfrm>
          <a:off x="327968" y="765264"/>
          <a:ext cx="11536064" cy="6151360"/>
        </p:xfrm>
        <a:graphic>
          <a:graphicData uri="http://schemas.openxmlformats.org/drawingml/2006/table">
            <a:tbl>
              <a:tblPr/>
              <a:tblGrid>
                <a:gridCol w="1557633">
                  <a:extLst>
                    <a:ext uri="{9D8B030D-6E8A-4147-A177-3AD203B41FA5}">
                      <a16:colId xmlns:a16="http://schemas.microsoft.com/office/drawing/2014/main" val="1472593330"/>
                    </a:ext>
                  </a:extLst>
                </a:gridCol>
                <a:gridCol w="1046830">
                  <a:extLst>
                    <a:ext uri="{9D8B030D-6E8A-4147-A177-3AD203B41FA5}">
                      <a16:colId xmlns:a16="http://schemas.microsoft.com/office/drawing/2014/main" val="3189111517"/>
                    </a:ext>
                  </a:extLst>
                </a:gridCol>
                <a:gridCol w="2118841">
                  <a:extLst>
                    <a:ext uri="{9D8B030D-6E8A-4147-A177-3AD203B41FA5}">
                      <a16:colId xmlns:a16="http://schemas.microsoft.com/office/drawing/2014/main" val="614438523"/>
                    </a:ext>
                  </a:extLst>
                </a:gridCol>
                <a:gridCol w="4099034">
                  <a:extLst>
                    <a:ext uri="{9D8B030D-6E8A-4147-A177-3AD203B41FA5}">
                      <a16:colId xmlns:a16="http://schemas.microsoft.com/office/drawing/2014/main" val="808820255"/>
                    </a:ext>
                  </a:extLst>
                </a:gridCol>
                <a:gridCol w="2713726">
                  <a:extLst>
                    <a:ext uri="{9D8B030D-6E8A-4147-A177-3AD203B41FA5}">
                      <a16:colId xmlns:a16="http://schemas.microsoft.com/office/drawing/2014/main" val="2308543091"/>
                    </a:ext>
                  </a:extLst>
                </a:gridCol>
              </a:tblGrid>
              <a:tr h="31231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>
                          <a:effectLst/>
                        </a:rPr>
                        <a:t>BMS / WHC</a:t>
                      </a:r>
                      <a:r>
                        <a:rPr lang="en-US" sz="2000">
                          <a:effectLst/>
                        </a:rPr>
                        <a:t> (British Menopause Society / Women's Health Concern)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2020–2024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Control of menopausal symptoms, prevention of osteoporosis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Optimize lifestyle factors alongside MHT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No arbitrary limits on treatment duration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Annual review required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Transdermal estrogen + micronized progesterone represents safest profile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Active thromboembolic or cardiovascular disease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Current or suspected breast or endometrial cancer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209874"/>
                  </a:ext>
                </a:extLst>
              </a:tr>
              <a:tr h="25439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b="1">
                          <a:effectLst/>
                        </a:rPr>
                        <a:t>EMAS</a:t>
                      </a:r>
                      <a:r>
                        <a:rPr lang="en-US" sz="2000">
                          <a:effectLst/>
                        </a:rPr>
                        <a:t> (European Menopause and Andropause Society)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>
                          <a:effectLst/>
                        </a:rPr>
                        <a:t>2022–2024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Vasomotor symptoms, prevention of bone loss, management of premature ovarian insufficiency (POI)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Early initiation maximizes cardioprotective &amp; bone benefits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Transdermal therapy is the safer first-line approach for metabolic risks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Non-hormonal options recommended if MHT contraindicated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Prior estrogen-dependent malignancies</a:t>
                      </a:r>
                    </a:p>
                    <a:p>
                      <a:pPr algn="l" fontAlgn="t"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Active liver disease or high-risk thrombophilia</a:t>
                      </a:r>
                    </a:p>
                  </a:txBody>
                  <a:tcPr marL="13840" marR="13840" marT="13840" marB="1384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91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222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06A9D-2A97-89B6-55DB-4314903E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treatments that don’t work for 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C46CD-8FAE-CD98-FDBB-48721CB3C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  <a:p>
            <a:r>
              <a:rPr lang="en-US" dirty="0"/>
              <a:t>Yoga</a:t>
            </a:r>
          </a:p>
          <a:p>
            <a:r>
              <a:rPr lang="en-US" dirty="0"/>
              <a:t>Cooling solutions</a:t>
            </a:r>
          </a:p>
          <a:p>
            <a:r>
              <a:rPr lang="en-US" dirty="0"/>
              <a:t>Cannabinoids</a:t>
            </a:r>
          </a:p>
          <a:p>
            <a:r>
              <a:rPr lang="en-US" dirty="0" err="1"/>
              <a:t>Acupunction</a:t>
            </a:r>
            <a:endParaRPr lang="en-US" dirty="0"/>
          </a:p>
          <a:p>
            <a:r>
              <a:rPr lang="en-US" dirty="0"/>
              <a:t>Primrose Oil</a:t>
            </a:r>
          </a:p>
          <a:p>
            <a:r>
              <a:rPr lang="en-US" dirty="0"/>
              <a:t>Ginseng</a:t>
            </a:r>
          </a:p>
          <a:p>
            <a:r>
              <a:rPr lang="en-US" dirty="0"/>
              <a:t>Relaxation Therapy</a:t>
            </a:r>
          </a:p>
        </p:txBody>
      </p:sp>
      <p:pic>
        <p:nvPicPr>
          <p:cNvPr id="4" name="Picture 3" descr="Yoga Poses Vector Art, Icons, and Graphics for Free Download">
            <a:extLst>
              <a:ext uri="{FF2B5EF4-FFF2-40B4-BE49-F238E27FC236}">
                <a16:creationId xmlns:a16="http://schemas.microsoft.com/office/drawing/2014/main" id="{74C8BF04-8969-4549-0858-7ADF15DF9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433" y="1172030"/>
            <a:ext cx="2036367" cy="1532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23A871-9809-23B5-A7EE-FB4EC90AC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467" y="1998131"/>
            <a:ext cx="1435030" cy="1847494"/>
          </a:xfrm>
          <a:prstGeom prst="rect">
            <a:avLst/>
          </a:prstGeom>
        </p:spPr>
      </p:pic>
      <p:pic>
        <p:nvPicPr>
          <p:cNvPr id="8" name="Picture 7" descr="Smiling Acupuncture People Stock Illustrations – 3 Smiling Acupuncture People Stock Illustrations, Vectors &amp; Clipart - Dreamstime">
            <a:extLst>
              <a:ext uri="{FF2B5EF4-FFF2-40B4-BE49-F238E27FC236}">
                <a16:creationId xmlns:a16="http://schemas.microsoft.com/office/drawing/2014/main" id="{26709CFE-C520-3B0A-75A0-6F979A082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951" y="3511684"/>
            <a:ext cx="2146727" cy="2146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34F6A0-34AA-C032-9372-A0745A9B0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935" y="4389264"/>
            <a:ext cx="2146728" cy="1922636"/>
          </a:xfrm>
          <a:prstGeom prst="rect">
            <a:avLst/>
          </a:prstGeom>
        </p:spPr>
      </p:pic>
      <p:pic>
        <p:nvPicPr>
          <p:cNvPr id="12" name="Picture 11" descr="Amazon.com: Nature's Bounty Evening Primrose Oil, Cold Pressed, 1000mg, 60 Count | Promotes Women's Health, Herbal Supplement, Gluten Free, 60 Rapid Release Softgels : Health &amp; Household">
            <a:extLst>
              <a:ext uri="{FF2B5EF4-FFF2-40B4-BE49-F238E27FC236}">
                <a16:creationId xmlns:a16="http://schemas.microsoft.com/office/drawing/2014/main" id="{02F46132-AA9C-901E-A717-1066EB252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899" y="1405301"/>
            <a:ext cx="1356072" cy="2712144"/>
          </a:xfrm>
          <a:prstGeom prst="rect">
            <a:avLst/>
          </a:prstGeom>
        </p:spPr>
      </p:pic>
      <p:pic>
        <p:nvPicPr>
          <p:cNvPr id="13" name="Picture 12" descr="Swanson Vitamins Dual Ginseng Plus Vitamin | 60 Caps">
            <a:extLst>
              <a:ext uri="{FF2B5EF4-FFF2-40B4-BE49-F238E27FC236}">
                <a16:creationId xmlns:a16="http://schemas.microsoft.com/office/drawing/2014/main" id="{AD5EBF8F-4421-8BAB-57E2-BD3808035F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4767" y="2761373"/>
            <a:ext cx="1759884" cy="23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71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F075-301B-BC18-4AFB-6CAD2310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3" y="100264"/>
            <a:ext cx="11888514" cy="1325563"/>
          </a:xfrm>
        </p:spPr>
        <p:txBody>
          <a:bodyPr/>
          <a:lstStyle/>
          <a:p>
            <a:r>
              <a:rPr lang="en-US" dirty="0"/>
              <a:t>Preventative Care Recommendations in Menopause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B8CAF-DF15-D905-5A1D-4091161AD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15" y="1557633"/>
            <a:ext cx="10803058" cy="46256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Stop smoking, especially if considering MHT/HRT</a:t>
            </a:r>
          </a:p>
          <a:p>
            <a:r>
              <a:rPr lang="en-US" dirty="0"/>
              <a:t>Exercise can reduce CV risk (150 min/</a:t>
            </a:r>
            <a:r>
              <a:rPr lang="en-US" dirty="0" err="1"/>
              <a:t>wk</a:t>
            </a:r>
            <a:r>
              <a:rPr lang="en-US" dirty="0"/>
              <a:t>)</a:t>
            </a:r>
          </a:p>
          <a:p>
            <a:r>
              <a:rPr lang="en-US" dirty="0"/>
              <a:t>Weight bearing exercise can reduce Osteoporosis risk (2-3 days/</a:t>
            </a:r>
            <a:r>
              <a:rPr lang="en-US" dirty="0" err="1"/>
              <a:t>wk</a:t>
            </a:r>
            <a:r>
              <a:rPr lang="en-US" dirty="0"/>
              <a:t>)</a:t>
            </a:r>
          </a:p>
          <a:p>
            <a:r>
              <a:rPr lang="en-US" dirty="0"/>
              <a:t>Heart healthy diet (Mediterranean diet low in saturated fats, DASH)</a:t>
            </a:r>
          </a:p>
          <a:p>
            <a:r>
              <a:rPr lang="en-US" dirty="0"/>
              <a:t>Contraception is recommended until menopause (MHT is not contraception)</a:t>
            </a:r>
          </a:p>
          <a:p>
            <a:r>
              <a:rPr lang="en-US" dirty="0"/>
              <a:t>Screening tests like Bone Mineral Density, Mammography, Colon Cancer Screening, Cervical Cancer Screening</a:t>
            </a:r>
          </a:p>
          <a:p>
            <a:r>
              <a:rPr lang="en-US" dirty="0"/>
              <a:t>Clinician should survey perimenopause/menopause symptoms as not all women will report symptoms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66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D1B9-AEA2-67C4-1F3A-D24C8D782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75" y="2357886"/>
            <a:ext cx="309634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Menopause Symptom Survey</a:t>
            </a:r>
          </a:p>
        </p:txBody>
      </p:sp>
      <p:pic>
        <p:nvPicPr>
          <p:cNvPr id="4" name="Picture 3" descr="Perimenopause and Menopause Checklist">
            <a:extLst>
              <a:ext uri="{FF2B5EF4-FFF2-40B4-BE49-F238E27FC236}">
                <a16:creationId xmlns:a16="http://schemas.microsoft.com/office/drawing/2014/main" id="{A568C2F1-5EBB-6F0D-774A-093E2A45B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5" y="64493"/>
            <a:ext cx="4707786" cy="6662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BE2BB7-EBD6-FF53-1244-AC4FC7DACFB9}"/>
              </a:ext>
            </a:extLst>
          </p:cNvPr>
          <p:cNvSpPr txBox="1"/>
          <p:nvPr/>
        </p:nvSpPr>
        <p:spPr>
          <a:xfrm>
            <a:off x="4864827" y="6169709"/>
            <a:ext cx="6940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https://menopausealliance.au/menopause/menopause-symptoms-checklist2/</a:t>
            </a:r>
          </a:p>
        </p:txBody>
      </p:sp>
    </p:spTree>
    <p:extLst>
      <p:ext uri="{BB962C8B-B14F-4D97-AF65-F5344CB8AC3E}">
        <p14:creationId xmlns:p14="http://schemas.microsoft.com/office/powerpoint/2010/main" val="1578664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D51EA-0BE9-4390-6580-95256FFA8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08" y="283145"/>
            <a:ext cx="10515600" cy="1072690"/>
          </a:xfrm>
        </p:spPr>
        <p:txBody>
          <a:bodyPr/>
          <a:lstStyle/>
          <a:p>
            <a:r>
              <a:rPr lang="en-US" dirty="0"/>
              <a:t>Women’s Health Initiative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2EB1C-27B8-B611-7406-854CA3865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08" y="1229710"/>
            <a:ext cx="10735792" cy="494725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1992-2005, recruitment of 161,000 postmenopausal women between 1993-1998 with an age range of 50-79</a:t>
            </a:r>
          </a:p>
          <a:p>
            <a:pPr lvl="1"/>
            <a:r>
              <a:rPr lang="en-US" dirty="0"/>
              <a:t>Mean age was 63-64 yrs old</a:t>
            </a:r>
          </a:p>
          <a:p>
            <a:r>
              <a:rPr lang="en-US" dirty="0"/>
              <a:t>40 centers across the US</a:t>
            </a:r>
          </a:p>
          <a:p>
            <a:pPr lvl="1"/>
            <a:r>
              <a:rPr lang="en-US" dirty="0"/>
              <a:t>68,000 in RCTs &amp; 93,676 in observational study</a:t>
            </a:r>
          </a:p>
          <a:p>
            <a:r>
              <a:rPr lang="en-US" dirty="0"/>
              <a:t>HT included conjugated equine estrogen (0.625 mg/day) +/- </a:t>
            </a:r>
            <a:r>
              <a:rPr lang="en-US" dirty="0" err="1"/>
              <a:t>medroxyprogesteone</a:t>
            </a:r>
            <a:r>
              <a:rPr lang="en-US" dirty="0"/>
              <a:t> acetate (2.5 mg/day) &amp; measured as it’s end point</a:t>
            </a:r>
          </a:p>
          <a:p>
            <a:pPr lvl="1"/>
            <a:r>
              <a:rPr lang="en-US" dirty="0"/>
              <a:t>Coronary Heart Disease</a:t>
            </a:r>
          </a:p>
          <a:p>
            <a:pPr lvl="1"/>
            <a:r>
              <a:rPr lang="en-US" dirty="0"/>
              <a:t>Breast Cancer</a:t>
            </a:r>
          </a:p>
          <a:p>
            <a:pPr lvl="1"/>
            <a:r>
              <a:rPr lang="en-US" dirty="0"/>
              <a:t>Stroke</a:t>
            </a:r>
          </a:p>
          <a:p>
            <a:pPr lvl="1"/>
            <a:r>
              <a:rPr lang="en-US" dirty="0"/>
              <a:t>Pulmonary Embolism</a:t>
            </a:r>
          </a:p>
          <a:p>
            <a:pPr lvl="1"/>
            <a:r>
              <a:rPr lang="en-US" dirty="0"/>
              <a:t>Endometrial Cancer</a:t>
            </a:r>
          </a:p>
          <a:p>
            <a:pPr lvl="1"/>
            <a:r>
              <a:rPr lang="en-US" dirty="0"/>
              <a:t>Colorectal Cancer</a:t>
            </a:r>
          </a:p>
          <a:p>
            <a:pPr lvl="1"/>
            <a:r>
              <a:rPr lang="en-US" dirty="0"/>
              <a:t>Hip Fracture</a:t>
            </a:r>
          </a:p>
          <a:p>
            <a:pPr lvl="1"/>
            <a:r>
              <a:rPr lang="en-US" dirty="0"/>
              <a:t>Death from other causes</a:t>
            </a:r>
          </a:p>
        </p:txBody>
      </p:sp>
    </p:spTree>
    <p:extLst>
      <p:ext uri="{BB962C8B-B14F-4D97-AF65-F5344CB8AC3E}">
        <p14:creationId xmlns:p14="http://schemas.microsoft.com/office/powerpoint/2010/main" val="4998759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9D224-273D-8372-0562-01AFAA326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39" y="1229710"/>
            <a:ext cx="10704261" cy="526316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Trial stopped early in 2002 because risks were higher than benefits in combined therapy group vs placebo</a:t>
            </a:r>
          </a:p>
          <a:p>
            <a:pPr lvl="1"/>
            <a:r>
              <a:rPr lang="en-US" dirty="0"/>
              <a:t>29% higher CHD risk</a:t>
            </a:r>
          </a:p>
          <a:p>
            <a:pPr lvl="1"/>
            <a:r>
              <a:rPr lang="en-US" dirty="0"/>
              <a:t>41% higher CVA risk</a:t>
            </a:r>
          </a:p>
          <a:p>
            <a:pPr lvl="1"/>
            <a:r>
              <a:rPr lang="en-US" dirty="0"/>
              <a:t>2+ higher risk of PE</a:t>
            </a:r>
          </a:p>
          <a:p>
            <a:pPr lvl="1"/>
            <a:r>
              <a:rPr lang="en-US" dirty="0"/>
              <a:t>26% higher breast cancer risk</a:t>
            </a:r>
          </a:p>
          <a:p>
            <a:pPr lvl="1"/>
            <a:r>
              <a:rPr lang="en-US" dirty="0"/>
              <a:t>37% fewer colorectal cancers</a:t>
            </a:r>
          </a:p>
          <a:p>
            <a:pPr lvl="1"/>
            <a:r>
              <a:rPr lang="en-US" dirty="0"/>
              <a:t>34% fewer hip fractures</a:t>
            </a:r>
          </a:p>
          <a:p>
            <a:r>
              <a:rPr lang="en-US" dirty="0"/>
              <a:t>Trial stopped in 2004 for estrogen only arm vs placebo</a:t>
            </a:r>
          </a:p>
          <a:p>
            <a:pPr lvl="1"/>
            <a:r>
              <a:rPr lang="en-US" dirty="0"/>
              <a:t>No significant CHD reduction</a:t>
            </a:r>
          </a:p>
          <a:p>
            <a:pPr lvl="1"/>
            <a:r>
              <a:rPr lang="en-US" dirty="0"/>
              <a:t>39% higher CVA risk</a:t>
            </a:r>
          </a:p>
          <a:p>
            <a:pPr lvl="1"/>
            <a:r>
              <a:rPr lang="en-US" dirty="0"/>
              <a:t>39% fewer hip fractures</a:t>
            </a:r>
          </a:p>
          <a:p>
            <a:pPr lvl="1"/>
            <a:r>
              <a:rPr lang="en-US" dirty="0"/>
              <a:t>Lower incidence of breast cancer (no defined stat given) &amp; was later found to have significantly lower incidence and mortality</a:t>
            </a:r>
          </a:p>
          <a:p>
            <a:pPr lvl="1"/>
            <a:r>
              <a:rPr lang="en-US" dirty="0"/>
              <a:t>No significant total mortality difference</a:t>
            </a:r>
          </a:p>
          <a:p>
            <a:r>
              <a:rPr lang="en-US" dirty="0"/>
              <a:t>Lots of confounding factors</a:t>
            </a:r>
          </a:p>
          <a:p>
            <a:pPr lvl="1"/>
            <a:r>
              <a:rPr lang="en-US" dirty="0"/>
              <a:t>Age, time since menopause, duration of treatment, baseline CV risk, &amp; hormone types &amp; route of administration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6E6CB5-6996-90E6-50CC-D19A0742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585"/>
          </a:xfrm>
        </p:spPr>
        <p:txBody>
          <a:bodyPr/>
          <a:lstStyle/>
          <a:p>
            <a:r>
              <a:rPr lang="en-US" dirty="0"/>
              <a:t>Women’s Health Initiative - Outcomes</a:t>
            </a:r>
          </a:p>
        </p:txBody>
      </p:sp>
    </p:spTree>
    <p:extLst>
      <p:ext uri="{BB962C8B-B14F-4D97-AF65-F5344CB8AC3E}">
        <p14:creationId xmlns:p14="http://schemas.microsoft.com/office/powerpoint/2010/main" val="21908384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BF08-E89B-24C1-0E39-531728603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Women’s Health Initiative -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31D0-FD6B-03FB-A639-E456C56A7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20" y="1475652"/>
            <a:ext cx="11074225" cy="4764373"/>
          </a:xfrm>
        </p:spPr>
        <p:txBody>
          <a:bodyPr>
            <a:normAutofit/>
          </a:bodyPr>
          <a:lstStyle/>
          <a:p>
            <a:r>
              <a:rPr lang="en-US" dirty="0"/>
              <a:t>Average age of women was 63, older than the start of menopause</a:t>
            </a:r>
          </a:p>
          <a:p>
            <a:pPr lvl="1"/>
            <a:r>
              <a:rPr lang="en-US" dirty="0"/>
              <a:t>1/5 to 1/4 were 70-79 yrs old which possibly contributed to increase in CV risk</a:t>
            </a:r>
          </a:p>
          <a:p>
            <a:r>
              <a:rPr lang="en-US" dirty="0"/>
              <a:t>Only oral MHT was tested &amp; only 1 estrogen &amp; 1 progesterone</a:t>
            </a:r>
          </a:p>
          <a:p>
            <a:pPr lvl="1"/>
            <a:r>
              <a:rPr lang="en-US" dirty="0"/>
              <a:t>Transdermal estrogen has been shown to be safer</a:t>
            </a:r>
          </a:p>
          <a:p>
            <a:pPr lvl="1"/>
            <a:r>
              <a:rPr lang="en-US" dirty="0"/>
              <a:t>Multiple doses of each hormone are available &amp; multiple types</a:t>
            </a:r>
          </a:p>
          <a:p>
            <a:pPr lvl="1"/>
            <a:r>
              <a:rPr lang="en-US" dirty="0"/>
              <a:t>Current research suggests this matters particularly for VTE risk</a:t>
            </a:r>
          </a:p>
          <a:p>
            <a:r>
              <a:rPr lang="en-US" dirty="0"/>
              <a:t>The basis for WHI was to see if HT could prevent disease &amp; did not really test if MHT was effective at treatment of symptoms</a:t>
            </a:r>
          </a:p>
          <a:p>
            <a:pPr lvl="1"/>
            <a:r>
              <a:rPr lang="en-US" dirty="0"/>
              <a:t>Don’t use MHT to reduce CV risk or as 1</a:t>
            </a:r>
            <a:r>
              <a:rPr lang="en-US" baseline="30000" dirty="0"/>
              <a:t>st</a:t>
            </a:r>
            <a:r>
              <a:rPr lang="en-US" dirty="0"/>
              <a:t> line for Osteoporosis treatment</a:t>
            </a:r>
          </a:p>
          <a:p>
            <a:pPr lvl="1"/>
            <a:r>
              <a:rPr lang="en-US" dirty="0"/>
              <a:t>Timing matters, starting earlier at onset may not increase risks as high</a:t>
            </a:r>
          </a:p>
          <a:p>
            <a:pPr lvl="1"/>
            <a:r>
              <a:rPr lang="en-US" dirty="0"/>
              <a:t>Dose, route, and type of hormone also matters</a:t>
            </a:r>
          </a:p>
        </p:txBody>
      </p:sp>
    </p:spTree>
    <p:extLst>
      <p:ext uri="{BB962C8B-B14F-4D97-AF65-F5344CB8AC3E}">
        <p14:creationId xmlns:p14="http://schemas.microsoft.com/office/powerpoint/2010/main" val="4037713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64C3D-59EC-E68E-D52E-D21D18D5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Combating Misinformation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5FF23-156F-754B-017B-87D718F49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428"/>
            <a:ext cx="10515600" cy="4726535"/>
          </a:xfrm>
        </p:spPr>
        <p:txBody>
          <a:bodyPr/>
          <a:lstStyle/>
          <a:p>
            <a:r>
              <a:rPr lang="en-US" dirty="0"/>
              <a:t>Wellness influencers</a:t>
            </a:r>
          </a:p>
          <a:p>
            <a:pPr lvl="1"/>
            <a:r>
              <a:rPr lang="en-US" dirty="0"/>
              <a:t>Credentials, Evidence, Regulation</a:t>
            </a:r>
          </a:p>
          <a:p>
            <a:r>
              <a:rPr lang="en-US" dirty="0"/>
              <a:t>Supplement industry</a:t>
            </a:r>
          </a:p>
          <a:p>
            <a:pPr lvl="1"/>
            <a:r>
              <a:rPr lang="en-US" dirty="0"/>
              <a:t>Evidence, Regulation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3BB45-6898-0F02-1F72-C52143C97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" y="3323042"/>
            <a:ext cx="12002117" cy="34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655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0C74-1D8C-D3D2-90AC-8D10DC5E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38" y="226812"/>
            <a:ext cx="10515600" cy="964213"/>
          </a:xfrm>
        </p:spPr>
        <p:txBody>
          <a:bodyPr/>
          <a:lstStyle/>
          <a:p>
            <a:r>
              <a:rPr lang="en-US" dirty="0"/>
              <a:t>Postmenopausal Bleeding (PMB)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803E-7AAC-B83B-7C85-DAC34BA5E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838" y="1398494"/>
            <a:ext cx="10515600" cy="49868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Uterine bleeding 12 months or more after their final menses (</a:t>
            </a:r>
            <a:r>
              <a:rPr lang="en-US" dirty="0" err="1"/>
              <a:t>ie</a:t>
            </a:r>
            <a:r>
              <a:rPr lang="en-US" dirty="0"/>
              <a:t> menopause) </a:t>
            </a:r>
          </a:p>
          <a:p>
            <a:r>
              <a:rPr lang="en-US" dirty="0"/>
              <a:t>90% of patients diagnosed with endometrial cancer have PMB</a:t>
            </a:r>
          </a:p>
          <a:p>
            <a:r>
              <a:rPr lang="en-US" i="1" dirty="0"/>
              <a:t>2026 updated ACOG guideline</a:t>
            </a:r>
          </a:p>
          <a:p>
            <a:pPr lvl="1"/>
            <a:r>
              <a:rPr lang="en-US" i="1" dirty="0"/>
              <a:t>Combination of both transvaginal US and endometrial tissue sampling is recommended as part of the initial eval in most patients with PMB</a:t>
            </a:r>
          </a:p>
          <a:p>
            <a:pPr lvl="1"/>
            <a:r>
              <a:rPr lang="en-US" i="1" dirty="0"/>
              <a:t>Transvaginal US w/o endometrial biopsy may be used during the initial eval of select patients with a single episode of PMB &amp; US showing a fully visualized endometrium that is &lt;4mm in thickness &amp; no risk factors for endometrial cancer, educated on f/u for recurrent bleeding, &amp; no barriers to f/u</a:t>
            </a:r>
          </a:p>
          <a:p>
            <a:r>
              <a:rPr lang="en-US" dirty="0"/>
              <a:t>Risk factors - HT, SERM, BMI&gt;30, G0, AA, DM, or genetic (</a:t>
            </a:r>
            <a:r>
              <a:rPr lang="en-US" dirty="0" err="1"/>
              <a:t>ie</a:t>
            </a:r>
            <a:r>
              <a:rPr lang="en-US" dirty="0"/>
              <a:t> Lynch or Cowden syndromes or FH of endometrial cancer),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86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FC3B-2C17-A458-C4F3-DF591633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2423"/>
          </a:xfrm>
        </p:spPr>
        <p:txBody>
          <a:bodyPr/>
          <a:lstStyle/>
          <a:p>
            <a:r>
              <a:rPr lang="en-US" dirty="0"/>
              <a:t>Guideline Rational for PMB workup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7A99-C01B-7BC0-F736-E37EF7C2E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26" y="1449107"/>
            <a:ext cx="11279521" cy="5043768"/>
          </a:xfrm>
        </p:spPr>
        <p:txBody>
          <a:bodyPr/>
          <a:lstStyle/>
          <a:p>
            <a:r>
              <a:rPr lang="en-US" dirty="0"/>
              <a:t>Incidence increased from 23.5/100,000 women in 2000 to 28.8 in 2022</a:t>
            </a:r>
          </a:p>
          <a:p>
            <a:r>
              <a:rPr lang="en-US" dirty="0"/>
              <a:t>Death rate increased from 4.1/100,000 women per year in 2019 to 5.3 in 2023</a:t>
            </a:r>
          </a:p>
          <a:p>
            <a:r>
              <a:rPr lang="en-US" dirty="0"/>
              <a:t>Incidence role disproportionately for non-Hispanic Black women at 2.7% per yr through 2022 compared to 0.7% increase for white women</a:t>
            </a:r>
          </a:p>
          <a:p>
            <a:r>
              <a:rPr lang="en-US" dirty="0"/>
              <a:t>Death rate in non-Hispanic Black women was 9.8/100,000 women per year compared to 4.8/100,000 women per year in non-Hispanic White</a:t>
            </a:r>
          </a:p>
          <a:p>
            <a:r>
              <a:rPr lang="en-US" dirty="0"/>
              <a:t>Technique requires cervical to fundal measurement &amp; measurement could be affected by uterine orientation, adenomyosis, and leiomyomas (the latter </a:t>
            </a:r>
            <a:r>
              <a:rPr lang="en-US" dirty="0" err="1"/>
              <a:t>assoc</a:t>
            </a:r>
            <a:r>
              <a:rPr lang="en-US" dirty="0"/>
              <a:t> with higher incidence in Black women)</a:t>
            </a:r>
          </a:p>
        </p:txBody>
      </p:sp>
    </p:spTree>
    <p:extLst>
      <p:ext uri="{BB962C8B-B14F-4D97-AF65-F5344CB8AC3E}">
        <p14:creationId xmlns:p14="http://schemas.microsoft.com/office/powerpoint/2010/main" val="2643053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2C20-7EF0-7546-D116-DCB1C477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932" y="333595"/>
            <a:ext cx="10515600" cy="883504"/>
          </a:xfrm>
        </p:spPr>
        <p:txBody>
          <a:bodyPr/>
          <a:lstStyle/>
          <a:p>
            <a:r>
              <a:rPr lang="en-US" dirty="0"/>
              <a:t>Differential Diagnosis for PMB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C836E-AFDE-1E39-FD3F-8B5A2F578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96" y="1387366"/>
            <a:ext cx="10748404" cy="520262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GU Atrophy</a:t>
            </a:r>
          </a:p>
          <a:p>
            <a:r>
              <a:rPr lang="en-US" dirty="0"/>
              <a:t>Polyps, either Endometrial or Cervical</a:t>
            </a:r>
          </a:p>
          <a:p>
            <a:r>
              <a:rPr lang="en-US" dirty="0"/>
              <a:t>Uterine leiomyomas</a:t>
            </a:r>
          </a:p>
          <a:p>
            <a:r>
              <a:rPr lang="en-US" dirty="0"/>
              <a:t>Endometrial Hyperplasia with or without atypia</a:t>
            </a:r>
          </a:p>
          <a:p>
            <a:r>
              <a:rPr lang="en-US" dirty="0"/>
              <a:t>Exogenous HT</a:t>
            </a:r>
          </a:p>
          <a:p>
            <a:r>
              <a:rPr lang="en-US" dirty="0"/>
              <a:t>Endometrial Cancer (DO NOT MISS!)</a:t>
            </a:r>
          </a:p>
          <a:p>
            <a:r>
              <a:rPr lang="en-US" dirty="0"/>
              <a:t>Cervical Cancer</a:t>
            </a:r>
          </a:p>
          <a:p>
            <a:r>
              <a:rPr lang="en-US" dirty="0"/>
              <a:t>Other Cancers of the Genital Tract</a:t>
            </a:r>
          </a:p>
          <a:p>
            <a:r>
              <a:rPr lang="en-US" dirty="0"/>
              <a:t>Infections – endometritis, cervicitis, vaginitis, cystitis</a:t>
            </a:r>
          </a:p>
          <a:p>
            <a:r>
              <a:rPr lang="en-US" dirty="0"/>
              <a:t>Medications – anticoagulants, HT, SERMs</a:t>
            </a:r>
          </a:p>
          <a:p>
            <a:r>
              <a:rPr lang="en-US" dirty="0"/>
              <a:t>GI causes or Urinary causes</a:t>
            </a:r>
          </a:p>
        </p:txBody>
      </p:sp>
    </p:spTree>
    <p:extLst>
      <p:ext uri="{BB962C8B-B14F-4D97-AF65-F5344CB8AC3E}">
        <p14:creationId xmlns:p14="http://schemas.microsoft.com/office/powerpoint/2010/main" val="13331180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8B1B-62E2-B934-7679-C37B6804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4676"/>
            <a:ext cx="10515600" cy="902423"/>
          </a:xfrm>
        </p:spPr>
        <p:txBody>
          <a:bodyPr/>
          <a:lstStyle/>
          <a:p>
            <a:pPr algn="ctr"/>
            <a:r>
              <a:rPr lang="en-US" dirty="0"/>
              <a:t>Diagnostic workup &amp; Treatment for PMB</a:t>
            </a:r>
          </a:p>
        </p:txBody>
      </p:sp>
      <p:pic>
        <p:nvPicPr>
          <p:cNvPr id="4" name="Picture 3" descr="Diagnostic Options for Assessment of Postmenopausal Bleeding - Mayo Clinic  Proceedings">
            <a:extLst>
              <a:ext uri="{FF2B5EF4-FFF2-40B4-BE49-F238E27FC236}">
                <a16:creationId xmlns:a16="http://schemas.microsoft.com/office/drawing/2014/main" id="{5DC882C4-AE00-5CAD-3FD4-056BEC6B8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91" y="1267548"/>
            <a:ext cx="9551818" cy="4912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4A0752-6EFC-369A-EAFA-C977CB2D77C3}"/>
              </a:ext>
            </a:extLst>
          </p:cNvPr>
          <p:cNvSpPr txBox="1"/>
          <p:nvPr/>
        </p:nvSpPr>
        <p:spPr>
          <a:xfrm>
            <a:off x="1554069" y="6392331"/>
            <a:ext cx="992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https://www.mayoclinicproceedings.org/article/S0025-6196%2811%2963335-1/fulltext</a:t>
            </a:r>
          </a:p>
        </p:txBody>
      </p:sp>
    </p:spTree>
    <p:extLst>
      <p:ext uri="{BB962C8B-B14F-4D97-AF65-F5344CB8AC3E}">
        <p14:creationId xmlns:p14="http://schemas.microsoft.com/office/powerpoint/2010/main" val="769315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516CB6-B750-24C8-19D6-42191E57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473316-2342-CC5E-8E23-ED0C0DA86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3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B4BE-6B88-D672-0678-3B1CFE4E8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EEAB-5514-29B4-891C-020214086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American Academy of Family Physicians (AAFP)</a:t>
            </a:r>
          </a:p>
          <a:p>
            <a:r>
              <a:rPr lang="en-US" dirty="0">
                <a:hlinkClick r:id="rId2"/>
              </a:rPr>
              <a:t>https://www.ncbi.nlm.nih.gov/books/NBK507826/</a:t>
            </a:r>
            <a:endParaRPr lang="en-US" dirty="0"/>
          </a:p>
          <a:p>
            <a:r>
              <a:rPr lang="en-US" dirty="0"/>
              <a:t>https://pmc.ncbi.nlm.nih.gov/articles/PMC12652300/</a:t>
            </a:r>
          </a:p>
          <a:p>
            <a:r>
              <a:rPr lang="en-US" dirty="0">
                <a:hlinkClick r:id="rId3"/>
              </a:rPr>
              <a:t>https://www.pathophys.org/menopause/</a:t>
            </a:r>
            <a:endParaRPr lang="en-US" dirty="0"/>
          </a:p>
          <a:p>
            <a:r>
              <a:rPr lang="en-US" dirty="0"/>
              <a:t>American College of Obstetrics and Gynecology (ACOG)</a:t>
            </a:r>
          </a:p>
        </p:txBody>
      </p:sp>
    </p:spTree>
    <p:extLst>
      <p:ext uri="{BB962C8B-B14F-4D97-AF65-F5344CB8AC3E}">
        <p14:creationId xmlns:p14="http://schemas.microsoft.com/office/powerpoint/2010/main" val="300996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3232</Words>
  <Application>Microsoft Office PowerPoint</Application>
  <PresentationFormat>Widescreen</PresentationFormat>
  <Paragraphs>427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Courier New</vt:lpstr>
      <vt:lpstr>Wingdings</vt:lpstr>
      <vt:lpstr>Office Theme</vt:lpstr>
      <vt:lpstr>Menopause</vt:lpstr>
      <vt:lpstr>Objectives</vt:lpstr>
      <vt:lpstr>Disclosures</vt:lpstr>
      <vt:lpstr>Stages of the Reproductive Cycle</vt:lpstr>
      <vt:lpstr>Physiology of Menopause</vt:lpstr>
      <vt:lpstr>Menopause Hormone Changes</vt:lpstr>
      <vt:lpstr>Staging of Menopause</vt:lpstr>
      <vt:lpstr>Causes of Menopause</vt:lpstr>
      <vt:lpstr>Perimenopause</vt:lpstr>
      <vt:lpstr>Estrogen Receptors  are  Everywhere!</vt:lpstr>
      <vt:lpstr>Symptoms of Menopause</vt:lpstr>
      <vt:lpstr>Vasomotor Symptoms of Menopause (VMS)</vt:lpstr>
      <vt:lpstr>VMS cont</vt:lpstr>
      <vt:lpstr>Genitourinary Symptoms of Menopause (GSM)</vt:lpstr>
      <vt:lpstr>Sexual Dysfunction</vt:lpstr>
      <vt:lpstr>PowerPoint Presentation</vt:lpstr>
      <vt:lpstr>Breast changes</vt:lpstr>
      <vt:lpstr>Mood disorders</vt:lpstr>
      <vt:lpstr>Sleep disturbance</vt:lpstr>
      <vt:lpstr>Cognitive Decline</vt:lpstr>
      <vt:lpstr>Cardiovascular Complications</vt:lpstr>
      <vt:lpstr>Bone changes</vt:lpstr>
      <vt:lpstr>Skin changes</vt:lpstr>
      <vt:lpstr>Gastrointestinal changes</vt:lpstr>
      <vt:lpstr>PowerPoint Presentation</vt:lpstr>
      <vt:lpstr>Physical Exam in Menopause</vt:lpstr>
      <vt:lpstr>Evaluation of Menopause</vt:lpstr>
      <vt:lpstr>Differential Diagnosis</vt:lpstr>
      <vt:lpstr>Treatments for Menopause Symptoms</vt:lpstr>
      <vt:lpstr>Treatment Considerations</vt:lpstr>
      <vt:lpstr>Treatment Considerations cont</vt:lpstr>
      <vt:lpstr>Benefits/Harms of MHT</vt:lpstr>
      <vt:lpstr>Treatment Guidelines</vt:lpstr>
      <vt:lpstr>PowerPoint Presentation</vt:lpstr>
      <vt:lpstr>PowerPoint Presentation</vt:lpstr>
      <vt:lpstr>Notable treatments that don’t work for Menopause</vt:lpstr>
      <vt:lpstr>Preventative Care Recommendations in Menopause</vt:lpstr>
      <vt:lpstr>Menopause Symptom Survey</vt:lpstr>
      <vt:lpstr>Women’s Health Initiative - Background</vt:lpstr>
      <vt:lpstr>Women’s Health Initiative - Outcomes</vt:lpstr>
      <vt:lpstr>Women’s Health Initiative - Review</vt:lpstr>
      <vt:lpstr>Combating Misinformation</vt:lpstr>
      <vt:lpstr>Postmenopausal Bleeding (PMB)</vt:lpstr>
      <vt:lpstr>Guideline Rational for PMB workup</vt:lpstr>
      <vt:lpstr>Differential Diagnosis for PMB</vt:lpstr>
      <vt:lpstr>Diagnostic workup &amp; Treatment for PMB</vt:lpstr>
      <vt:lpstr>Questions?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Carla Rafferty</dc:creator>
  <cp:lastModifiedBy>Carla Rafferty</cp:lastModifiedBy>
  <cp:revision>15</cp:revision>
  <dcterms:created xsi:type="dcterms:W3CDTF">2026-09-06T03:26:28Z</dcterms:created>
  <dcterms:modified xsi:type="dcterms:W3CDTF">2026-09-13T13:40:14Z</dcterms:modified>
</cp:coreProperties>
</file>