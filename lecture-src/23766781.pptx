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7.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8.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9.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10.xml" ContentType="application/vnd.openxmlformats-officedocument.theme+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11.xml" ContentType="application/vnd.openxmlformats-officedocument.theme+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91" r:id="rId5"/>
    <p:sldMasterId id="2147483743" r:id="rId6"/>
    <p:sldMasterId id="2147483682" r:id="rId7"/>
    <p:sldMasterId id="2147483695" r:id="rId8"/>
    <p:sldMasterId id="2147483658" r:id="rId9"/>
    <p:sldMasterId id="2147483707" r:id="rId10"/>
    <p:sldMasterId id="2147483719" r:id="rId11"/>
    <p:sldMasterId id="2147483731" r:id="rId12"/>
    <p:sldMasterId id="2147483755" r:id="rId13"/>
    <p:sldMasterId id="2147483767" r:id="rId14"/>
    <p:sldMasterId id="2147483779" r:id="rId15"/>
  </p:sldMasterIdLst>
  <p:notesMasterIdLst>
    <p:notesMasterId r:id="rId111"/>
  </p:notesMasterIdLst>
  <p:sldIdLst>
    <p:sldId id="256" r:id="rId16"/>
    <p:sldId id="257" r:id="rId17"/>
    <p:sldId id="258" r:id="rId18"/>
    <p:sldId id="259" r:id="rId19"/>
    <p:sldId id="260"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78" r:id="rId38"/>
    <p:sldId id="279" r:id="rId39"/>
    <p:sldId id="280" r:id="rId40"/>
    <p:sldId id="281" r:id="rId41"/>
    <p:sldId id="282" r:id="rId42"/>
    <p:sldId id="283" r:id="rId43"/>
    <p:sldId id="284" r:id="rId44"/>
    <p:sldId id="285" r:id="rId45"/>
    <p:sldId id="286" r:id="rId46"/>
    <p:sldId id="287" r:id="rId47"/>
    <p:sldId id="288" r:id="rId48"/>
    <p:sldId id="289" r:id="rId49"/>
    <p:sldId id="290" r:id="rId50"/>
    <p:sldId id="291" r:id="rId51"/>
    <p:sldId id="292" r:id="rId52"/>
    <p:sldId id="293" r:id="rId53"/>
    <p:sldId id="294" r:id="rId54"/>
    <p:sldId id="295" r:id="rId55"/>
    <p:sldId id="296" r:id="rId56"/>
    <p:sldId id="297" r:id="rId57"/>
    <p:sldId id="298" r:id="rId58"/>
    <p:sldId id="299" r:id="rId59"/>
    <p:sldId id="300" r:id="rId60"/>
    <p:sldId id="301" r:id="rId61"/>
    <p:sldId id="302" r:id="rId62"/>
    <p:sldId id="303" r:id="rId63"/>
    <p:sldId id="304" r:id="rId64"/>
    <p:sldId id="305" r:id="rId65"/>
    <p:sldId id="306" r:id="rId66"/>
    <p:sldId id="307" r:id="rId67"/>
    <p:sldId id="308" r:id="rId68"/>
    <p:sldId id="309" r:id="rId69"/>
    <p:sldId id="310" r:id="rId70"/>
    <p:sldId id="311" r:id="rId71"/>
    <p:sldId id="312" r:id="rId72"/>
    <p:sldId id="313" r:id="rId73"/>
    <p:sldId id="314" r:id="rId74"/>
    <p:sldId id="315" r:id="rId75"/>
    <p:sldId id="316" r:id="rId76"/>
    <p:sldId id="317" r:id="rId77"/>
    <p:sldId id="318" r:id="rId78"/>
    <p:sldId id="319" r:id="rId79"/>
    <p:sldId id="320" r:id="rId80"/>
    <p:sldId id="321" r:id="rId81"/>
    <p:sldId id="322" r:id="rId82"/>
    <p:sldId id="323" r:id="rId83"/>
    <p:sldId id="324" r:id="rId84"/>
    <p:sldId id="325" r:id="rId85"/>
    <p:sldId id="326" r:id="rId86"/>
    <p:sldId id="327" r:id="rId87"/>
    <p:sldId id="328" r:id="rId88"/>
    <p:sldId id="329" r:id="rId89"/>
    <p:sldId id="330" r:id="rId90"/>
    <p:sldId id="331" r:id="rId91"/>
    <p:sldId id="332" r:id="rId92"/>
    <p:sldId id="349" r:id="rId93"/>
    <p:sldId id="333" r:id="rId94"/>
    <p:sldId id="334" r:id="rId95"/>
    <p:sldId id="335" r:id="rId96"/>
    <p:sldId id="350" r:id="rId97"/>
    <p:sldId id="336" r:id="rId98"/>
    <p:sldId id="337" r:id="rId99"/>
    <p:sldId id="338" r:id="rId100"/>
    <p:sldId id="339" r:id="rId101"/>
    <p:sldId id="340" r:id="rId102"/>
    <p:sldId id="341" r:id="rId103"/>
    <p:sldId id="342" r:id="rId104"/>
    <p:sldId id="343" r:id="rId105"/>
    <p:sldId id="344" r:id="rId106"/>
    <p:sldId id="345" r:id="rId107"/>
    <p:sldId id="346" r:id="rId108"/>
    <p:sldId id="347" r:id="rId109"/>
    <p:sldId id="348" r:id="rId1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819DCD6F-9709-BE49-821A-3A15ADCEE3C2}">
          <p14:sldIdLst>
            <p14:sldId id="256"/>
            <p14:sldId id="257"/>
            <p14:sldId id="258"/>
            <p14:sldId id="259"/>
          </p14:sldIdLst>
        </p14:section>
        <p14:section name="Divider/Chapter Slides" id="{8DD0001E-584A-9B43-B7F4-6CF5CB29167A}">
          <p14:sldIdLst>
            <p14:sldId id="260"/>
            <p14:sldId id="261"/>
            <p14:sldId id="262"/>
            <p14:sldId id="263"/>
            <p14:sldId id="264"/>
            <p14:sldId id="265"/>
          </p14:sldIdLst>
        </p14:section>
        <p14:section name="Call Out Interior Slides" id="{37D377E1-D6F0-1B49-826C-A7E135B0EDD1}">
          <p14:sldIdLst>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Lst>
        </p14:section>
        <p14:section name="Interior Slides" id="{4A54D738-BDCB-2844-B97F-BFB6C786485D}">
          <p14:sldIdLst>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49"/>
            <p14:sldId id="333"/>
            <p14:sldId id="334"/>
            <p14:sldId id="335"/>
            <p14:sldId id="350"/>
            <p14:sldId id="336"/>
            <p14:sldId id="337"/>
            <p14:sldId id="338"/>
            <p14:sldId id="339"/>
            <p14:sldId id="340"/>
            <p14:sldId id="341"/>
            <p14:sldId id="342"/>
            <p14:sldId id="343"/>
            <p14:sldId id="344"/>
            <p14:sldId id="345"/>
            <p14:sldId id="346"/>
            <p14:sldId id="347"/>
            <p14:sldId id="34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30" autoAdjust="0"/>
    <p:restoredTop sz="80675"/>
  </p:normalViewPr>
  <p:slideViewPr>
    <p:cSldViewPr snapToGrid="0">
      <p:cViewPr varScale="1">
        <p:scale>
          <a:sx n="90" d="100"/>
          <a:sy n="90" d="100"/>
        </p:scale>
        <p:origin x="1624" y="1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36" d="100"/>
          <a:sy n="136" d="100"/>
        </p:scale>
        <p:origin x="5600" y="20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1.xml"/><Relationship Id="rId21" Type="http://schemas.openxmlformats.org/officeDocument/2006/relationships/slide" Target="slides/slide6.xml"/><Relationship Id="rId42" Type="http://schemas.openxmlformats.org/officeDocument/2006/relationships/slide" Target="slides/slide27.xml"/><Relationship Id="rId47" Type="http://schemas.openxmlformats.org/officeDocument/2006/relationships/slide" Target="slides/slide32.xml"/><Relationship Id="rId63" Type="http://schemas.openxmlformats.org/officeDocument/2006/relationships/slide" Target="slides/slide48.xml"/><Relationship Id="rId68" Type="http://schemas.openxmlformats.org/officeDocument/2006/relationships/slide" Target="slides/slide53.xml"/><Relationship Id="rId84" Type="http://schemas.openxmlformats.org/officeDocument/2006/relationships/slide" Target="slides/slide69.xml"/><Relationship Id="rId89" Type="http://schemas.openxmlformats.org/officeDocument/2006/relationships/slide" Target="slides/slide74.xml"/><Relationship Id="rId112" Type="http://schemas.openxmlformats.org/officeDocument/2006/relationships/presProps" Target="presProps.xml"/><Relationship Id="rId16" Type="http://schemas.openxmlformats.org/officeDocument/2006/relationships/slide" Target="slides/slide1.xml"/><Relationship Id="rId107" Type="http://schemas.openxmlformats.org/officeDocument/2006/relationships/slide" Target="slides/slide92.xml"/><Relationship Id="rId11" Type="http://schemas.openxmlformats.org/officeDocument/2006/relationships/slideMaster" Target="slideMasters/slideMaster8.xml"/><Relationship Id="rId32" Type="http://schemas.openxmlformats.org/officeDocument/2006/relationships/slide" Target="slides/slide17.xml"/><Relationship Id="rId37" Type="http://schemas.openxmlformats.org/officeDocument/2006/relationships/slide" Target="slides/slide22.xml"/><Relationship Id="rId53" Type="http://schemas.openxmlformats.org/officeDocument/2006/relationships/slide" Target="slides/slide38.xml"/><Relationship Id="rId58" Type="http://schemas.openxmlformats.org/officeDocument/2006/relationships/slide" Target="slides/slide43.xml"/><Relationship Id="rId74" Type="http://schemas.openxmlformats.org/officeDocument/2006/relationships/slide" Target="slides/slide59.xml"/><Relationship Id="rId79" Type="http://schemas.openxmlformats.org/officeDocument/2006/relationships/slide" Target="slides/slide64.xml"/><Relationship Id="rId102" Type="http://schemas.openxmlformats.org/officeDocument/2006/relationships/slide" Target="slides/slide87.xml"/><Relationship Id="rId5" Type="http://schemas.openxmlformats.org/officeDocument/2006/relationships/slideMaster" Target="slideMasters/slideMaster2.xml"/><Relationship Id="rId90" Type="http://schemas.openxmlformats.org/officeDocument/2006/relationships/slide" Target="slides/slide75.xml"/><Relationship Id="rId95" Type="http://schemas.openxmlformats.org/officeDocument/2006/relationships/slide" Target="slides/slide80.xml"/><Relationship Id="rId22" Type="http://schemas.openxmlformats.org/officeDocument/2006/relationships/slide" Target="slides/slide7.xml"/><Relationship Id="rId27" Type="http://schemas.openxmlformats.org/officeDocument/2006/relationships/slide" Target="slides/slide12.xml"/><Relationship Id="rId43" Type="http://schemas.openxmlformats.org/officeDocument/2006/relationships/slide" Target="slides/slide28.xml"/><Relationship Id="rId48" Type="http://schemas.openxmlformats.org/officeDocument/2006/relationships/slide" Target="slides/slide33.xml"/><Relationship Id="rId64" Type="http://schemas.openxmlformats.org/officeDocument/2006/relationships/slide" Target="slides/slide49.xml"/><Relationship Id="rId69" Type="http://schemas.openxmlformats.org/officeDocument/2006/relationships/slide" Target="slides/slide54.xml"/><Relationship Id="rId113" Type="http://schemas.openxmlformats.org/officeDocument/2006/relationships/viewProps" Target="viewProps.xml"/><Relationship Id="rId80" Type="http://schemas.openxmlformats.org/officeDocument/2006/relationships/slide" Target="slides/slide65.xml"/><Relationship Id="rId85" Type="http://schemas.openxmlformats.org/officeDocument/2006/relationships/slide" Target="slides/slide70.xml"/><Relationship Id="rId12" Type="http://schemas.openxmlformats.org/officeDocument/2006/relationships/slideMaster" Target="slideMasters/slideMaster9.xml"/><Relationship Id="rId17" Type="http://schemas.openxmlformats.org/officeDocument/2006/relationships/slide" Target="slides/slide2.xml"/><Relationship Id="rId33" Type="http://schemas.openxmlformats.org/officeDocument/2006/relationships/slide" Target="slides/slide18.xml"/><Relationship Id="rId38" Type="http://schemas.openxmlformats.org/officeDocument/2006/relationships/slide" Target="slides/slide23.xml"/><Relationship Id="rId59" Type="http://schemas.openxmlformats.org/officeDocument/2006/relationships/slide" Target="slides/slide44.xml"/><Relationship Id="rId103" Type="http://schemas.openxmlformats.org/officeDocument/2006/relationships/slide" Target="slides/slide88.xml"/><Relationship Id="rId108" Type="http://schemas.openxmlformats.org/officeDocument/2006/relationships/slide" Target="slides/slide93.xml"/><Relationship Id="rId54" Type="http://schemas.openxmlformats.org/officeDocument/2006/relationships/slide" Target="slides/slide39.xml"/><Relationship Id="rId70" Type="http://schemas.openxmlformats.org/officeDocument/2006/relationships/slide" Target="slides/slide55.xml"/><Relationship Id="rId75" Type="http://schemas.openxmlformats.org/officeDocument/2006/relationships/slide" Target="slides/slide60.xml"/><Relationship Id="rId91" Type="http://schemas.openxmlformats.org/officeDocument/2006/relationships/slide" Target="slides/slide76.xml"/><Relationship Id="rId96" Type="http://schemas.openxmlformats.org/officeDocument/2006/relationships/slide" Target="slides/slide8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Master" Target="slideMasters/slideMaster12.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49" Type="http://schemas.openxmlformats.org/officeDocument/2006/relationships/slide" Target="slides/slide34.xml"/><Relationship Id="rId57" Type="http://schemas.openxmlformats.org/officeDocument/2006/relationships/slide" Target="slides/slide42.xml"/><Relationship Id="rId106" Type="http://schemas.openxmlformats.org/officeDocument/2006/relationships/slide" Target="slides/slide91.xml"/><Relationship Id="rId114" Type="http://schemas.openxmlformats.org/officeDocument/2006/relationships/theme" Target="theme/theme1.xml"/><Relationship Id="rId10" Type="http://schemas.openxmlformats.org/officeDocument/2006/relationships/slideMaster" Target="slideMasters/slideMaster7.xml"/><Relationship Id="rId31" Type="http://schemas.openxmlformats.org/officeDocument/2006/relationships/slide" Target="slides/slide16.xml"/><Relationship Id="rId44" Type="http://schemas.openxmlformats.org/officeDocument/2006/relationships/slide" Target="slides/slide29.xml"/><Relationship Id="rId52" Type="http://schemas.openxmlformats.org/officeDocument/2006/relationships/slide" Target="slides/slide37.xml"/><Relationship Id="rId60" Type="http://schemas.openxmlformats.org/officeDocument/2006/relationships/slide" Target="slides/slide45.xml"/><Relationship Id="rId65" Type="http://schemas.openxmlformats.org/officeDocument/2006/relationships/slide" Target="slides/slide50.xml"/><Relationship Id="rId73" Type="http://schemas.openxmlformats.org/officeDocument/2006/relationships/slide" Target="slides/slide58.xml"/><Relationship Id="rId78" Type="http://schemas.openxmlformats.org/officeDocument/2006/relationships/slide" Target="slides/slide63.xml"/><Relationship Id="rId81" Type="http://schemas.openxmlformats.org/officeDocument/2006/relationships/slide" Target="slides/slide66.xml"/><Relationship Id="rId86" Type="http://schemas.openxmlformats.org/officeDocument/2006/relationships/slide" Target="slides/slide71.xml"/><Relationship Id="rId94" Type="http://schemas.openxmlformats.org/officeDocument/2006/relationships/slide" Target="slides/slide79.xml"/><Relationship Id="rId99" Type="http://schemas.openxmlformats.org/officeDocument/2006/relationships/slide" Target="slides/slide84.xml"/><Relationship Id="rId101" Type="http://schemas.openxmlformats.org/officeDocument/2006/relationships/slide" Target="slides/slide86.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3.xml"/><Relationship Id="rId39" Type="http://schemas.openxmlformats.org/officeDocument/2006/relationships/slide" Target="slides/slide24.xml"/><Relationship Id="rId109" Type="http://schemas.openxmlformats.org/officeDocument/2006/relationships/slide" Target="slides/slide94.xml"/><Relationship Id="rId34" Type="http://schemas.openxmlformats.org/officeDocument/2006/relationships/slide" Target="slides/slide19.xml"/><Relationship Id="rId50" Type="http://schemas.openxmlformats.org/officeDocument/2006/relationships/slide" Target="slides/slide35.xml"/><Relationship Id="rId55" Type="http://schemas.openxmlformats.org/officeDocument/2006/relationships/slide" Target="slides/slide40.xml"/><Relationship Id="rId76" Type="http://schemas.openxmlformats.org/officeDocument/2006/relationships/slide" Target="slides/slide61.xml"/><Relationship Id="rId97" Type="http://schemas.openxmlformats.org/officeDocument/2006/relationships/slide" Target="slides/slide82.xml"/><Relationship Id="rId104" Type="http://schemas.openxmlformats.org/officeDocument/2006/relationships/slide" Target="slides/slide89.xml"/><Relationship Id="rId7" Type="http://schemas.openxmlformats.org/officeDocument/2006/relationships/slideMaster" Target="slideMasters/slideMaster4.xml"/><Relationship Id="rId71" Type="http://schemas.openxmlformats.org/officeDocument/2006/relationships/slide" Target="slides/slide56.xml"/><Relationship Id="rId92" Type="http://schemas.openxmlformats.org/officeDocument/2006/relationships/slide" Target="slides/slide77.xml"/><Relationship Id="rId2" Type="http://schemas.openxmlformats.org/officeDocument/2006/relationships/customXml" Target="../customXml/item2.xml"/><Relationship Id="rId29" Type="http://schemas.openxmlformats.org/officeDocument/2006/relationships/slide" Target="slides/slide14.xml"/><Relationship Id="rId24" Type="http://schemas.openxmlformats.org/officeDocument/2006/relationships/slide" Target="slides/slide9.xml"/><Relationship Id="rId40" Type="http://schemas.openxmlformats.org/officeDocument/2006/relationships/slide" Target="slides/slide25.xml"/><Relationship Id="rId45" Type="http://schemas.openxmlformats.org/officeDocument/2006/relationships/slide" Target="slides/slide30.xml"/><Relationship Id="rId66" Type="http://schemas.openxmlformats.org/officeDocument/2006/relationships/slide" Target="slides/slide51.xml"/><Relationship Id="rId87" Type="http://schemas.openxmlformats.org/officeDocument/2006/relationships/slide" Target="slides/slide72.xml"/><Relationship Id="rId110" Type="http://schemas.openxmlformats.org/officeDocument/2006/relationships/slide" Target="slides/slide95.xml"/><Relationship Id="rId115" Type="http://schemas.openxmlformats.org/officeDocument/2006/relationships/tableStyles" Target="tableStyles.xml"/><Relationship Id="rId61" Type="http://schemas.openxmlformats.org/officeDocument/2006/relationships/slide" Target="slides/slide46.xml"/><Relationship Id="rId82" Type="http://schemas.openxmlformats.org/officeDocument/2006/relationships/slide" Target="slides/slide67.xml"/><Relationship Id="rId19" Type="http://schemas.openxmlformats.org/officeDocument/2006/relationships/slide" Target="slides/slide4.xml"/><Relationship Id="rId14" Type="http://schemas.openxmlformats.org/officeDocument/2006/relationships/slideMaster" Target="slideMasters/slideMaster11.xml"/><Relationship Id="rId30" Type="http://schemas.openxmlformats.org/officeDocument/2006/relationships/slide" Target="slides/slide15.xml"/><Relationship Id="rId35" Type="http://schemas.openxmlformats.org/officeDocument/2006/relationships/slide" Target="slides/slide20.xml"/><Relationship Id="rId56" Type="http://schemas.openxmlformats.org/officeDocument/2006/relationships/slide" Target="slides/slide41.xml"/><Relationship Id="rId77" Type="http://schemas.openxmlformats.org/officeDocument/2006/relationships/slide" Target="slides/slide62.xml"/><Relationship Id="rId100" Type="http://schemas.openxmlformats.org/officeDocument/2006/relationships/slide" Target="slides/slide85.xml"/><Relationship Id="rId105" Type="http://schemas.openxmlformats.org/officeDocument/2006/relationships/slide" Target="slides/slide90.xml"/><Relationship Id="rId8" Type="http://schemas.openxmlformats.org/officeDocument/2006/relationships/slideMaster" Target="slideMasters/slideMaster5.xml"/><Relationship Id="rId51" Type="http://schemas.openxmlformats.org/officeDocument/2006/relationships/slide" Target="slides/slide36.xml"/><Relationship Id="rId72" Type="http://schemas.openxmlformats.org/officeDocument/2006/relationships/slide" Target="slides/slide57.xml"/><Relationship Id="rId93" Type="http://schemas.openxmlformats.org/officeDocument/2006/relationships/slide" Target="slides/slide78.xml"/><Relationship Id="rId98" Type="http://schemas.openxmlformats.org/officeDocument/2006/relationships/slide" Target="slides/slide83.xml"/><Relationship Id="rId3" Type="http://schemas.openxmlformats.org/officeDocument/2006/relationships/customXml" Target="../customXml/item3.xml"/><Relationship Id="rId25" Type="http://schemas.openxmlformats.org/officeDocument/2006/relationships/slide" Target="slides/slide10.xml"/><Relationship Id="rId46" Type="http://schemas.openxmlformats.org/officeDocument/2006/relationships/slide" Target="slides/slide31.xml"/><Relationship Id="rId67" Type="http://schemas.openxmlformats.org/officeDocument/2006/relationships/slide" Target="slides/slide52.xml"/><Relationship Id="rId20" Type="http://schemas.openxmlformats.org/officeDocument/2006/relationships/slide" Target="slides/slide5.xml"/><Relationship Id="rId41" Type="http://schemas.openxmlformats.org/officeDocument/2006/relationships/slide" Target="slides/slide26.xml"/><Relationship Id="rId62" Type="http://schemas.openxmlformats.org/officeDocument/2006/relationships/slide" Target="slides/slide47.xml"/><Relationship Id="rId83" Type="http://schemas.openxmlformats.org/officeDocument/2006/relationships/slide" Target="slides/slide68.xml"/><Relationship Id="rId88" Type="http://schemas.openxmlformats.org/officeDocument/2006/relationships/slide" Target="slides/slide73.xml"/><Relationship Id="rId11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CD3B20-9325-D045-9153-5A3CA37AEA2D}" type="datetimeFigureOut">
              <a:rPr lang="en-US" smtClean="0"/>
              <a:t>8/24/26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19F20F-784E-CF46-9373-09716C0B416A}" type="slidenum">
              <a:rPr lang="en-US" smtClean="0"/>
              <a:t>‹#›</a:t>
            </a:fld>
            <a:endParaRPr lang="en-US"/>
          </a:p>
        </p:txBody>
      </p:sp>
    </p:spTree>
    <p:extLst>
      <p:ext uri="{BB962C8B-B14F-4D97-AF65-F5344CB8AC3E}">
        <p14:creationId xmlns:p14="http://schemas.microsoft.com/office/powerpoint/2010/main" val="3236815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Full wording is on the Canvas session sheet.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Build the two-compartment concept: inside the barrier (germ cells, Sertoli) vs outside (Leydig, vessels).</a:t>
            </a:r>
            <a:endParaRPr lang="en-US" dirty="0"/>
          </a:p>
          <a:p>
            <a:endParaRPr lang="en-US" dirty="0"/>
          </a:p>
          <a:p>
            <a:r>
              <a:rPr lang="en-US" sz="1200" b="0" i="0" kern="1200" dirty="0">
                <a:solidFill>
                  <a:schemeClr val="tx1"/>
                </a:solidFill>
                <a:effectLst/>
                <a:latin typeface="+mn-lt"/>
                <a:ea typeface="+mn-ea"/>
                <a:cs typeface="+mn-cs"/>
              </a:rPr>
              <a:t>The tunica albuginea is the capsule; it sends in septa; the septa carve out ~250 lobules; each lobule packs 1–4 seminiferous tubules where Sertoli cells shepherd germ cells through spermatogenesis, while Leydig cells in the interstitium between tubules make testosterone. [1][3][6]</a:t>
            </a:r>
          </a:p>
          <a:p>
            <a:br>
              <a:rPr lang="en-US" dirty="0"/>
            </a:b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Say the mnemonic aloud. Retained quiz item.</a:t>
            </a:r>
            <a:endParaRPr lang="en-US" dirty="0"/>
          </a:p>
          <a:p>
            <a:endParaRPr lang="en-US" dirty="0"/>
          </a:p>
          <a:p>
            <a:r>
              <a:rPr lang="en-US" sz="1200" b="0" i="0" kern="1200" dirty="0">
                <a:solidFill>
                  <a:schemeClr val="tx1"/>
                </a:solidFill>
                <a:effectLst/>
                <a:latin typeface="+mn-lt"/>
                <a:ea typeface="+mn-ea"/>
                <a:cs typeface="+mn-cs"/>
              </a:rPr>
              <a:t>The seminiferous tubules empty into the rete testis, which channels sperm through ~12 efferent </a:t>
            </a:r>
            <a:r>
              <a:rPr lang="en-US" sz="1200" b="0" i="0" kern="1200" dirty="0" err="1">
                <a:solidFill>
                  <a:schemeClr val="tx1"/>
                </a:solidFill>
                <a:effectLst/>
                <a:latin typeface="+mn-lt"/>
                <a:ea typeface="+mn-ea"/>
                <a:cs typeface="+mn-cs"/>
              </a:rPr>
              <a:t>ductules</a:t>
            </a:r>
            <a:r>
              <a:rPr lang="en-US" sz="1200" b="0" i="0" kern="1200" dirty="0">
                <a:solidFill>
                  <a:schemeClr val="tx1"/>
                </a:solidFill>
                <a:effectLst/>
                <a:latin typeface="+mn-lt"/>
                <a:ea typeface="+mn-ea"/>
                <a:cs typeface="+mn-cs"/>
              </a:rPr>
              <a:t> that reabsorb &gt;90% of testicular fluid; the </a:t>
            </a:r>
            <a:r>
              <a:rPr lang="en-US" sz="1200" b="0" i="0" kern="1200" dirty="0" err="1">
                <a:solidFill>
                  <a:schemeClr val="tx1"/>
                </a:solidFill>
                <a:effectLst/>
                <a:latin typeface="+mn-lt"/>
                <a:ea typeface="+mn-ea"/>
                <a:cs typeface="+mn-cs"/>
              </a:rPr>
              <a:t>ductules</a:t>
            </a:r>
            <a:r>
              <a:rPr lang="en-US" sz="1200" b="0" i="0" kern="1200" dirty="0">
                <a:solidFill>
                  <a:schemeClr val="tx1"/>
                </a:solidFill>
                <a:effectLst/>
                <a:latin typeface="+mn-lt"/>
                <a:ea typeface="+mn-ea"/>
                <a:cs typeface="+mn-cs"/>
              </a:rPr>
              <a:t> merge into the single epididymal duct, where sperm mature (caput → corpus) and are then stored quiescent in the cauda until ejaculation — all while the sperm themselves remain passive passengers.</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The fructose point returns in the azoospermia workup.</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Flag the tunica three-appearances arc explicitly.</a:t>
            </a:r>
            <a:endParaRPr lang="en-US" dirty="0"/>
          </a:p>
          <a:p>
            <a:endParaRPr lang="en-US" dirty="0"/>
          </a:p>
          <a:p>
            <a:r>
              <a:rPr lang="en-US" sz="1200" b="1" i="0" kern="1200" dirty="0">
                <a:solidFill>
                  <a:schemeClr val="tx1"/>
                </a:solidFill>
                <a:effectLst/>
                <a:latin typeface="+mn-lt"/>
                <a:ea typeface="+mn-ea"/>
                <a:cs typeface="+mn-cs"/>
              </a:rPr>
              <a:t>Helicine arteries are the terminal, coiled branches of the deep (</a:t>
            </a:r>
            <a:r>
              <a:rPr lang="en-US" sz="1200" b="1" i="0" kern="1200" dirty="0" err="1">
                <a:solidFill>
                  <a:schemeClr val="tx1"/>
                </a:solidFill>
                <a:effectLst/>
                <a:latin typeface="+mn-lt"/>
                <a:ea typeface="+mn-ea"/>
                <a:cs typeface="+mn-cs"/>
              </a:rPr>
              <a:t>cavernosal</a:t>
            </a:r>
            <a:r>
              <a:rPr lang="en-US" sz="1200" b="1" i="0" kern="1200" dirty="0">
                <a:solidFill>
                  <a:schemeClr val="tx1"/>
                </a:solidFill>
                <a:effectLst/>
                <a:latin typeface="+mn-lt"/>
                <a:ea typeface="+mn-ea"/>
                <a:cs typeface="+mn-cs"/>
              </a:rPr>
              <a:t>) artery that open directly into the sinusoidal (lacunar) spaces of the corpus cavernosum — they are the final arterial gateway controlling penile erection.</a:t>
            </a:r>
            <a:r>
              <a:rPr lang="en-US" sz="1200" b="0" i="0" kern="1200" dirty="0">
                <a:solidFill>
                  <a:schemeClr val="tx1"/>
                </a:solidFill>
                <a:effectLst/>
                <a:latin typeface="+mn-lt"/>
                <a:ea typeface="+mn-ea"/>
                <a:cs typeface="+mn-cs"/>
              </a:rPr>
              <a:t> The name "helicine" reflects their tortuous, corkscrew-like course in the flaccid state, which straightens and dilates during erection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extent of bruising localizes the plane of injury. </a:t>
            </a:r>
            <a:r>
              <a:rPr lang="en-US" sz="1200" b="1" i="0" kern="1200" dirty="0">
                <a:solidFill>
                  <a:schemeClr val="tx1"/>
                </a:solidFill>
                <a:effectLst/>
                <a:latin typeface="+mn-lt"/>
                <a:ea typeface="+mn-ea"/>
                <a:cs typeface="+mn-cs"/>
              </a:rPr>
              <a:t>Confined to the shaft = Buck's fascia intact</a:t>
            </a:r>
            <a:r>
              <a:rPr lang="en-US" sz="1200" b="0" i="0" kern="1200" dirty="0">
                <a:solidFill>
                  <a:schemeClr val="tx1"/>
                </a:solidFill>
                <a:effectLst/>
                <a:latin typeface="+mn-lt"/>
                <a:ea typeface="+mn-ea"/>
                <a:cs typeface="+mn-cs"/>
              </a:rPr>
              <a:t> (isolated </a:t>
            </a:r>
            <a:r>
              <a:rPr lang="en-US" sz="1200" b="0" i="0" kern="1200" dirty="0" err="1">
                <a:solidFill>
                  <a:schemeClr val="tx1"/>
                </a:solidFill>
                <a:effectLst/>
                <a:latin typeface="+mn-lt"/>
                <a:ea typeface="+mn-ea"/>
                <a:cs typeface="+mn-cs"/>
              </a:rPr>
              <a:t>tunical</a:t>
            </a:r>
            <a:r>
              <a:rPr lang="en-US" sz="1200" b="0" i="0" kern="1200" dirty="0">
                <a:solidFill>
                  <a:schemeClr val="tx1"/>
                </a:solidFill>
                <a:effectLst/>
                <a:latin typeface="+mn-lt"/>
                <a:ea typeface="+mn-ea"/>
                <a:cs typeface="+mn-cs"/>
              </a:rPr>
              <a:t>/corporal injury). </a:t>
            </a:r>
            <a:r>
              <a:rPr lang="en-US" sz="1200" b="1" i="0" kern="1200" dirty="0">
                <a:solidFill>
                  <a:schemeClr val="tx1"/>
                </a:solidFill>
                <a:effectLst/>
                <a:latin typeface="+mn-lt"/>
                <a:ea typeface="+mn-ea"/>
                <a:cs typeface="+mn-cs"/>
              </a:rPr>
              <a:t>Butterfly perineal + scrotal + suprapubic spread = Buck's fascia breached</a:t>
            </a:r>
            <a:r>
              <a:rPr lang="en-US" sz="1200" b="0" i="0" kern="1200" dirty="0">
                <a:solidFill>
                  <a:schemeClr val="tx1"/>
                </a:solidFill>
                <a:effectLst/>
                <a:latin typeface="+mn-lt"/>
                <a:ea typeface="+mn-ea"/>
                <a:cs typeface="+mn-cs"/>
              </a:rPr>
              <a:t>, which should raise concern for </a:t>
            </a:r>
            <a:r>
              <a:rPr lang="en-US" sz="1200" b="1" i="0" kern="1200" dirty="0">
                <a:solidFill>
                  <a:schemeClr val="tx1"/>
                </a:solidFill>
                <a:effectLst/>
                <a:latin typeface="+mn-lt"/>
                <a:ea typeface="+mn-ea"/>
                <a:cs typeface="+mn-cs"/>
              </a:rPr>
              <a:t>anterior (bulbar) urethral injury</a:t>
            </a:r>
            <a:r>
              <a:rPr lang="en-US" sz="1200" b="0" i="0" kern="1200" dirty="0">
                <a:solidFill>
                  <a:schemeClr val="tx1"/>
                </a:solidFill>
                <a:effectLst/>
                <a:latin typeface="+mn-lt"/>
                <a:ea typeface="+mn-ea"/>
                <a:cs typeface="+mn-cs"/>
              </a:rPr>
              <a:t> and prompt retrograde urethrography before catheterization</a:t>
            </a:r>
          </a:p>
          <a:p>
            <a:endParaRPr lang="en-US" sz="1200" b="0" i="0" kern="1200" dirty="0">
              <a:solidFill>
                <a:schemeClr val="tx1"/>
              </a:solidFill>
              <a:effectLst/>
              <a:latin typeface="+mn-lt"/>
              <a:ea typeface="+mn-ea"/>
              <a:cs typeface="+mn-cs"/>
            </a:endParaRPr>
          </a:p>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lvl="0"/>
            <a:r>
              <a:rPr lang="en-US" sz="1200" b="1" i="0" kern="1200" dirty="0">
                <a:solidFill>
                  <a:schemeClr val="tx1"/>
                </a:solidFill>
                <a:effectLst/>
                <a:latin typeface="+mn-lt"/>
                <a:ea typeface="+mn-ea"/>
                <a:cs typeface="+mn-cs"/>
              </a:rPr>
              <a:t>Tunica vaginalis / processus vaginalis → hydrocele &amp; hernia.</a:t>
            </a:r>
            <a:r>
              <a:rPr lang="en-US" sz="1200" b="0" i="0" kern="1200" dirty="0">
                <a:solidFill>
                  <a:schemeClr val="tx1"/>
                </a:solidFill>
                <a:effectLst/>
                <a:latin typeface="+mn-lt"/>
                <a:ea typeface="+mn-ea"/>
                <a:cs typeface="+mn-cs"/>
              </a:rPr>
              <a:t> The tunica vaginalis is the peritoneal remnant left after the processus vaginalis (which the descending testis drags into the scrotum) normally obliterates; fluid trapped in a closed remnant is a simple (non-communicating) </a:t>
            </a:r>
            <a:r>
              <a:rPr lang="en-US" sz="1200" b="1" i="0" kern="1200" dirty="0">
                <a:solidFill>
                  <a:schemeClr val="tx1"/>
                </a:solidFill>
                <a:effectLst/>
                <a:latin typeface="+mn-lt"/>
                <a:ea typeface="+mn-ea"/>
                <a:cs typeface="+mn-cs"/>
              </a:rPr>
              <a:t>hydrocele</a:t>
            </a:r>
            <a:r>
              <a:rPr lang="en-US" sz="1200" b="0" i="0" kern="1200" dirty="0">
                <a:solidFill>
                  <a:schemeClr val="tx1"/>
                </a:solidFill>
                <a:effectLst/>
                <a:latin typeface="+mn-lt"/>
                <a:ea typeface="+mn-ea"/>
                <a:cs typeface="+mn-cs"/>
              </a:rPr>
              <a:t>, whereas a persistently </a:t>
            </a:r>
            <a:r>
              <a:rPr lang="en-US" sz="1200" b="1" i="0" kern="1200" dirty="0">
                <a:solidFill>
                  <a:schemeClr val="tx1"/>
                </a:solidFill>
                <a:effectLst/>
                <a:latin typeface="+mn-lt"/>
                <a:ea typeface="+mn-ea"/>
                <a:cs typeface="+mn-cs"/>
              </a:rPr>
              <a:t>patent processus</a:t>
            </a:r>
            <a:r>
              <a:rPr lang="en-US" sz="1200" b="0" i="0" kern="1200" dirty="0">
                <a:solidFill>
                  <a:schemeClr val="tx1"/>
                </a:solidFill>
                <a:effectLst/>
                <a:latin typeface="+mn-lt"/>
                <a:ea typeface="+mn-ea"/>
                <a:cs typeface="+mn-cs"/>
              </a:rPr>
              <a:t> allows peritoneal fluid down to give a </a:t>
            </a:r>
            <a:r>
              <a:rPr lang="en-US" sz="1200" b="1" i="0" kern="1200" dirty="0">
                <a:solidFill>
                  <a:schemeClr val="tx1"/>
                </a:solidFill>
                <a:effectLst/>
                <a:latin typeface="+mn-lt"/>
                <a:ea typeface="+mn-ea"/>
                <a:cs typeface="+mn-cs"/>
              </a:rPr>
              <a:t>communicating hydrocele</a:t>
            </a:r>
            <a:r>
              <a:rPr lang="en-US" sz="1200" b="0" i="0" kern="1200" dirty="0">
                <a:solidFill>
                  <a:schemeClr val="tx1"/>
                </a:solidFill>
                <a:effectLst/>
                <a:latin typeface="+mn-lt"/>
                <a:ea typeface="+mn-ea"/>
                <a:cs typeface="+mn-cs"/>
              </a:rPr>
              <a:t> and, if wide enough for bowel, an </a:t>
            </a:r>
            <a:r>
              <a:rPr lang="en-US" sz="1200" b="1" i="0" kern="1200" dirty="0">
                <a:solidFill>
                  <a:schemeClr val="tx1"/>
                </a:solidFill>
                <a:effectLst/>
                <a:latin typeface="+mn-lt"/>
                <a:ea typeface="+mn-ea"/>
                <a:cs typeface="+mn-cs"/>
              </a:rPr>
              <a:t>indirect inguinal hernia</a:t>
            </a:r>
            <a:r>
              <a:rPr lang="en-US" sz="1200" b="0" i="0" kern="1200" dirty="0">
                <a:solidFill>
                  <a:schemeClr val="tx1"/>
                </a:solidFill>
                <a:effectLst/>
                <a:latin typeface="+mn-lt"/>
                <a:ea typeface="+mn-ea"/>
                <a:cs typeface="+mn-cs"/>
              </a:rPr>
              <a:t>. </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Cremaster (from internal oblique) → cremasteric reflex.</a:t>
            </a:r>
            <a:r>
              <a:rPr lang="en-US" sz="1200" b="0" i="0" kern="1200" dirty="0">
                <a:solidFill>
                  <a:schemeClr val="tx1"/>
                </a:solidFill>
                <a:effectLst/>
                <a:latin typeface="+mn-lt"/>
                <a:ea typeface="+mn-ea"/>
                <a:cs typeface="+mn-cs"/>
              </a:rPr>
              <a:t> Stroking the medial thigh sends afferents up the </a:t>
            </a:r>
            <a:r>
              <a:rPr lang="en-US" sz="1200" b="1" i="0" kern="1200" dirty="0">
                <a:solidFill>
                  <a:schemeClr val="tx1"/>
                </a:solidFill>
                <a:effectLst/>
                <a:latin typeface="+mn-lt"/>
                <a:ea typeface="+mn-ea"/>
                <a:cs typeface="+mn-cs"/>
              </a:rPr>
              <a:t>femoral branch</a:t>
            </a:r>
            <a:r>
              <a:rPr lang="en-US" sz="1200" b="0" i="0" kern="1200" dirty="0">
                <a:solidFill>
                  <a:schemeClr val="tx1"/>
                </a:solidFill>
                <a:effectLst/>
                <a:latin typeface="+mn-lt"/>
                <a:ea typeface="+mn-ea"/>
                <a:cs typeface="+mn-cs"/>
              </a:rPr>
              <a:t> of the genitofemoral nerve, and the </a:t>
            </a:r>
            <a:r>
              <a:rPr lang="en-US" sz="1200" b="1" i="0" kern="1200" dirty="0">
                <a:solidFill>
                  <a:schemeClr val="tx1"/>
                </a:solidFill>
                <a:effectLst/>
                <a:latin typeface="+mn-lt"/>
                <a:ea typeface="+mn-ea"/>
                <a:cs typeface="+mn-cs"/>
              </a:rPr>
              <a:t>genital branch</a:t>
            </a:r>
            <a:r>
              <a:rPr lang="en-US" sz="1200" b="0" i="0" kern="1200" dirty="0">
                <a:solidFill>
                  <a:schemeClr val="tx1"/>
                </a:solidFill>
                <a:effectLst/>
                <a:latin typeface="+mn-lt"/>
                <a:ea typeface="+mn-ea"/>
                <a:cs typeface="+mn-cs"/>
              </a:rPr>
              <a:t> carries the motor efferent back to the cremaster, elevating the ipsilateral testis — a reflex arc mediated by the genitofemoral nerve (</a:t>
            </a:r>
            <a:r>
              <a:rPr lang="en-US" sz="1200" b="1" i="0" kern="1200" dirty="0">
                <a:solidFill>
                  <a:schemeClr val="tx1"/>
                </a:solidFill>
                <a:effectLst/>
                <a:latin typeface="+mn-lt"/>
                <a:ea typeface="+mn-ea"/>
                <a:cs typeface="+mn-cs"/>
              </a:rPr>
              <a:t>L1–L2</a:t>
            </a:r>
            <a:r>
              <a:rPr lang="en-US" sz="1200" b="0" i="0" kern="1200" dirty="0">
                <a:solidFill>
                  <a:schemeClr val="tx1"/>
                </a:solidFill>
                <a:effectLst/>
                <a:latin typeface="+mn-lt"/>
                <a:ea typeface="+mn-ea"/>
                <a:cs typeface="+mn-cs"/>
              </a:rPr>
              <a:t>). </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Dartos + skin → thermoregulation and the Fournier plane.</a:t>
            </a:r>
            <a:r>
              <a:rPr lang="en-US" sz="1200" b="0" i="0" kern="1200" dirty="0">
                <a:solidFill>
                  <a:schemeClr val="tx1"/>
                </a:solidFill>
                <a:effectLst/>
                <a:latin typeface="+mn-lt"/>
                <a:ea typeface="+mn-ea"/>
                <a:cs typeface="+mn-cs"/>
              </a:rPr>
              <a:t> The dartos is the scrotal smooth-muscle layer that contracts in cold to wrinkle the skin and reduce heat-losing surface area for testicular thermoregulation, and — as part of the continuous dartos–Colles'–Scarpa's superficial fascial space — it is the anatomical plane along which </a:t>
            </a:r>
            <a:r>
              <a:rPr lang="en-US" sz="1200" b="1" i="0" kern="1200" dirty="0">
                <a:solidFill>
                  <a:schemeClr val="tx1"/>
                </a:solidFill>
                <a:effectLst/>
                <a:latin typeface="+mn-lt"/>
                <a:ea typeface="+mn-ea"/>
                <a:cs typeface="+mn-cs"/>
              </a:rPr>
              <a:t>Fournier gangrene</a:t>
            </a:r>
            <a:r>
              <a:rPr lang="en-US" sz="1200" b="0" i="0" kern="1200" dirty="0">
                <a:solidFill>
                  <a:schemeClr val="tx1"/>
                </a:solidFill>
                <a:effectLst/>
                <a:latin typeface="+mn-lt"/>
                <a:ea typeface="+mn-ea"/>
                <a:cs typeface="+mn-cs"/>
              </a:rPr>
              <a:t> spreads. </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Absent reflex in torsion — the key acute-scrotum sign.</a:t>
            </a:r>
            <a:r>
              <a:rPr lang="en-US" sz="1200" b="0" i="0" kern="1200" dirty="0">
                <a:solidFill>
                  <a:schemeClr val="tx1"/>
                </a:solidFill>
                <a:effectLst/>
                <a:latin typeface="+mn-lt"/>
                <a:ea typeface="+mn-ea"/>
                <a:cs typeface="+mn-cs"/>
              </a:rPr>
              <a:t> In testicular torsion the cremasteric reflex is characteristically </a:t>
            </a:r>
            <a:r>
              <a:rPr lang="en-US" sz="1200" b="1" i="0" kern="1200" dirty="0">
                <a:solidFill>
                  <a:schemeClr val="tx1"/>
                </a:solidFill>
                <a:effectLst/>
                <a:latin typeface="+mn-lt"/>
                <a:ea typeface="+mn-ea"/>
                <a:cs typeface="+mn-cs"/>
              </a:rPr>
              <a:t>lost</a:t>
            </a:r>
            <a:r>
              <a:rPr lang="en-US" sz="1200" b="0" i="0" kern="1200" dirty="0">
                <a:solidFill>
                  <a:schemeClr val="tx1"/>
                </a:solidFill>
                <a:effectLst/>
                <a:latin typeface="+mn-lt"/>
                <a:ea typeface="+mn-ea"/>
                <a:cs typeface="+mn-cs"/>
              </a:rPr>
              <a:t>; it is the single most sensitive exam finding (absent in up to 100% of torsion cases, odds ratio ~47.6), though a present reflex does not fully exclude torsion.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lvl="0"/>
            <a:r>
              <a:rPr lang="en-US" sz="1200" b="1" i="0" kern="1200" dirty="0">
                <a:solidFill>
                  <a:schemeClr val="tx1"/>
                </a:solidFill>
                <a:effectLst/>
                <a:latin typeface="+mn-lt"/>
                <a:ea typeface="+mn-ea"/>
                <a:cs typeface="+mn-cs"/>
              </a:rPr>
              <a:t>Testis = retroperitoneum by birth</a:t>
            </a:r>
            <a:r>
              <a:rPr lang="en-US" sz="1200" b="0" i="0" kern="1200" dirty="0">
                <a:solidFill>
                  <a:schemeClr val="tx1"/>
                </a:solidFill>
                <a:effectLst/>
                <a:latin typeface="+mn-lt"/>
                <a:ea typeface="+mn-ea"/>
                <a:cs typeface="+mn-cs"/>
              </a:rPr>
              <a:t> → drains para-aortic → operate through the groin, never the scrotum.</a:t>
            </a:r>
          </a:p>
          <a:p>
            <a:pPr lvl="0"/>
            <a:r>
              <a:rPr lang="en-US" sz="1200" b="1" i="0" kern="1200" dirty="0">
                <a:solidFill>
                  <a:schemeClr val="tx1"/>
                </a:solidFill>
                <a:effectLst/>
                <a:latin typeface="+mn-lt"/>
                <a:ea typeface="+mn-ea"/>
                <a:cs typeface="+mn-cs"/>
              </a:rPr>
              <a:t>Penis/scrotal skin = surface structure</a:t>
            </a:r>
            <a:r>
              <a:rPr lang="en-US" sz="1200" b="0" i="0" kern="1200" dirty="0">
                <a:solidFill>
                  <a:schemeClr val="tx1"/>
                </a:solidFill>
                <a:effectLst/>
                <a:latin typeface="+mn-lt"/>
                <a:ea typeface="+mn-ea"/>
                <a:cs typeface="+mn-cs"/>
              </a:rPr>
              <a:t> → drains to the groin → the groin nodes are where the prognosis is decided.</a:t>
            </a:r>
          </a:p>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A-Basement membrane</a:t>
            </a:r>
          </a:p>
          <a:p>
            <a:endParaRPr lang="en-US" dirty="0"/>
          </a:p>
          <a:p>
            <a:r>
              <a:rPr lang="en-US" dirty="0"/>
              <a:t>True secondary spermatocytes are rarely caught on a section because meiosis II is so fast, so many "E" cells in any real slide are early spermatids</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Corpora amylacea is the discriminator — a retained quiz item hinges on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This clock governs the entire infertility segment.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lvl="0"/>
            <a:r>
              <a:rPr lang="en-US" sz="1200" b="1" i="0" kern="1200" dirty="0">
                <a:solidFill>
                  <a:schemeClr val="tx1"/>
                </a:solidFill>
                <a:effectLst/>
                <a:latin typeface="+mn-lt"/>
                <a:ea typeface="+mn-ea"/>
                <a:cs typeface="+mn-cs"/>
              </a:rPr>
              <a:t>Spermatogonia (mitotic pool, on the basement membrane).</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Type A-dark = reserve stem cells</a:t>
            </a:r>
            <a:r>
              <a:rPr lang="en-US" sz="1200" b="0" i="0" kern="1200" dirty="0">
                <a:solidFill>
                  <a:schemeClr val="tx1"/>
                </a:solidFill>
                <a:effectLst/>
                <a:latin typeface="+mn-lt"/>
                <a:ea typeface="+mn-ea"/>
                <a:cs typeface="+mn-cs"/>
              </a:rPr>
              <a:t> (rarely divide, the emergency backup), </a:t>
            </a:r>
            <a:r>
              <a:rPr lang="en-US" sz="1200" b="1" i="0" kern="1200" dirty="0">
                <a:solidFill>
                  <a:schemeClr val="tx1"/>
                </a:solidFill>
                <a:effectLst/>
                <a:latin typeface="+mn-lt"/>
                <a:ea typeface="+mn-ea"/>
                <a:cs typeface="+mn-cs"/>
              </a:rPr>
              <a:t>type A-pale = renewing/active stem cells</a:t>
            </a:r>
            <a:r>
              <a:rPr lang="en-US" sz="1200" b="0" i="0" kern="1200" dirty="0">
                <a:solidFill>
                  <a:schemeClr val="tx1"/>
                </a:solidFill>
                <a:effectLst/>
                <a:latin typeface="+mn-lt"/>
                <a:ea typeface="+mn-ea"/>
                <a:cs typeface="+mn-cs"/>
              </a:rPr>
              <a:t> (routine self-renewal + differentiation), and </a:t>
            </a:r>
            <a:r>
              <a:rPr lang="en-US" sz="1200" b="1" i="0" kern="1200" dirty="0">
                <a:solidFill>
                  <a:schemeClr val="tx1"/>
                </a:solidFill>
                <a:effectLst/>
                <a:latin typeface="+mn-lt"/>
                <a:ea typeface="+mn-ea"/>
                <a:cs typeface="+mn-cs"/>
              </a:rPr>
              <a:t>type B = committed</a:t>
            </a:r>
            <a:r>
              <a:rPr lang="en-US" sz="1200" b="0" i="0" kern="1200" dirty="0">
                <a:solidFill>
                  <a:schemeClr val="tx1"/>
                </a:solidFill>
                <a:effectLst/>
                <a:latin typeface="+mn-lt"/>
                <a:ea typeface="+mn-ea"/>
                <a:cs typeface="+mn-cs"/>
              </a:rPr>
              <a:t> cells that divide into primary spermatocytes and enter meiosis. </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Meiosis I.</a:t>
            </a:r>
            <a:r>
              <a:rPr lang="en-US" sz="1200" b="0" i="0" kern="1200" dirty="0">
                <a:solidFill>
                  <a:schemeClr val="tx1"/>
                </a:solidFill>
                <a:effectLst/>
                <a:latin typeface="+mn-lt"/>
                <a:ea typeface="+mn-ea"/>
                <a:cs typeface="+mn-cs"/>
              </a:rPr>
              <a:t> One diploid </a:t>
            </a:r>
            <a:r>
              <a:rPr lang="en-US" sz="1200" b="1" i="0" kern="1200" dirty="0">
                <a:solidFill>
                  <a:schemeClr val="tx1"/>
                </a:solidFill>
                <a:effectLst/>
                <a:latin typeface="+mn-lt"/>
                <a:ea typeface="+mn-ea"/>
                <a:cs typeface="+mn-cs"/>
              </a:rPr>
              <a:t>primary spermatocyte → two haploid secondary spermatocytes</a:t>
            </a:r>
            <a:r>
              <a:rPr lang="en-US" sz="1200" b="0" i="0" kern="1200" dirty="0">
                <a:solidFill>
                  <a:schemeClr val="tx1"/>
                </a:solidFill>
                <a:effectLst/>
                <a:latin typeface="+mn-lt"/>
                <a:ea typeface="+mn-ea"/>
                <a:cs typeface="+mn-cs"/>
              </a:rPr>
              <a:t>; the long pachytene prophase (~3 weeks) is why primary spermatocytes are the most conspicuous germ cell on biopsy. [1][4]</a:t>
            </a:r>
          </a:p>
          <a:p>
            <a:pPr lvl="0"/>
            <a:endParaRPr lang="en-US" sz="1200" b="1"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Meiosis II.</a:t>
            </a:r>
            <a:r>
              <a:rPr lang="en-US" sz="1200" b="0" i="0" kern="1200" dirty="0">
                <a:solidFill>
                  <a:schemeClr val="tx1"/>
                </a:solidFill>
                <a:effectLst/>
                <a:latin typeface="+mn-lt"/>
                <a:ea typeface="+mn-ea"/>
                <a:cs typeface="+mn-cs"/>
              </a:rPr>
              <a:t> Each secondary spermatocyte divides quickly (&lt;10 h, so rarely seen) into </a:t>
            </a:r>
            <a:r>
              <a:rPr lang="en-US" sz="1200" b="1" i="0" kern="1200" dirty="0">
                <a:solidFill>
                  <a:schemeClr val="tx1"/>
                </a:solidFill>
                <a:effectLst/>
                <a:latin typeface="+mn-lt"/>
                <a:ea typeface="+mn-ea"/>
                <a:cs typeface="+mn-cs"/>
              </a:rPr>
              <a:t>spermatids — haploid (1N)</a:t>
            </a:r>
            <a:r>
              <a:rPr lang="en-US" sz="1200" b="0" i="0" kern="1200" dirty="0">
                <a:solidFill>
                  <a:schemeClr val="tx1"/>
                </a:solidFill>
                <a:effectLst/>
                <a:latin typeface="+mn-lt"/>
                <a:ea typeface="+mn-ea"/>
                <a:cs typeface="+mn-cs"/>
              </a:rPr>
              <a:t>. </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Spermiogenesis (remodeling, NO cell division).</a:t>
            </a:r>
            <a:r>
              <a:rPr lang="en-US" sz="1200" b="0" i="0" kern="1200" dirty="0">
                <a:solidFill>
                  <a:schemeClr val="tx1"/>
                </a:solidFill>
                <a:effectLst/>
                <a:latin typeface="+mn-lt"/>
                <a:ea typeface="+mn-ea"/>
                <a:cs typeface="+mn-cs"/>
              </a:rPr>
              <a:t> Round spermatid → spermatozoon: the </a:t>
            </a:r>
            <a:r>
              <a:rPr lang="en-US" sz="1200" b="1" i="0" kern="1200" dirty="0">
                <a:solidFill>
                  <a:schemeClr val="tx1"/>
                </a:solidFill>
                <a:effectLst/>
                <a:latin typeface="+mn-lt"/>
                <a:ea typeface="+mn-ea"/>
                <a:cs typeface="+mn-cs"/>
              </a:rPr>
              <a:t>Golgi forms the acrosomal cap</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protamines</a:t>
            </a:r>
            <a:r>
              <a:rPr lang="en-US" sz="1200" b="1" i="0" kern="1200" dirty="0">
                <a:solidFill>
                  <a:schemeClr val="tx1"/>
                </a:solidFill>
                <a:effectLst/>
                <a:latin typeface="+mn-lt"/>
                <a:ea typeface="+mn-ea"/>
                <a:cs typeface="+mn-cs"/>
              </a:rPr>
              <a:t> replace histones</a:t>
            </a:r>
            <a:r>
              <a:rPr lang="en-US" sz="1200" b="0" i="0" kern="1200" dirty="0">
                <a:solidFill>
                  <a:schemeClr val="tx1"/>
                </a:solidFill>
                <a:effectLst/>
                <a:latin typeface="+mn-lt"/>
                <a:ea typeface="+mn-ea"/>
                <a:cs typeface="+mn-cs"/>
              </a:rPr>
              <a:t> for extreme nuclear condensation and transcriptional silencing; a </a:t>
            </a:r>
            <a:r>
              <a:rPr lang="en-US" sz="1200" b="1" i="0" kern="1200" dirty="0">
                <a:solidFill>
                  <a:schemeClr val="tx1"/>
                </a:solidFill>
                <a:effectLst/>
                <a:latin typeface="+mn-lt"/>
                <a:ea typeface="+mn-ea"/>
                <a:cs typeface="+mn-cs"/>
              </a:rPr>
              <a:t>flagellum and mitochondrial midpiece</a:t>
            </a:r>
            <a:r>
              <a:rPr lang="en-US" sz="1200" b="0" i="0" kern="1200" dirty="0">
                <a:solidFill>
                  <a:schemeClr val="tx1"/>
                </a:solidFill>
                <a:effectLst/>
                <a:latin typeface="+mn-lt"/>
                <a:ea typeface="+mn-ea"/>
                <a:cs typeface="+mn-cs"/>
              </a:rPr>
              <a:t> are built; and excess cytoplasm is shed as a </a:t>
            </a:r>
            <a:r>
              <a:rPr lang="en-US" sz="1200" b="1" i="0" kern="1200" dirty="0">
                <a:solidFill>
                  <a:schemeClr val="tx1"/>
                </a:solidFill>
                <a:effectLst/>
                <a:latin typeface="+mn-lt"/>
                <a:ea typeface="+mn-ea"/>
                <a:cs typeface="+mn-cs"/>
              </a:rPr>
              <a:t>residual body that Sertoli cells phagocytose</a:t>
            </a:r>
            <a:r>
              <a:rPr lang="en-US" sz="1200" b="0" i="0" kern="1200" dirty="0">
                <a:solidFill>
                  <a:schemeClr val="tx1"/>
                </a:solidFill>
                <a:effectLst/>
                <a:latin typeface="+mn-lt"/>
                <a:ea typeface="+mn-ea"/>
                <a:cs typeface="+mn-cs"/>
              </a:rPr>
              <a:t>. </a:t>
            </a:r>
          </a:p>
          <a:p>
            <a:pPr lvl="0"/>
            <a:endParaRPr lang="en-US" sz="1200" b="0" i="0" kern="1200" dirty="0">
              <a:solidFill>
                <a:schemeClr val="tx1"/>
              </a:solidFill>
              <a:effectLst/>
              <a:latin typeface="+mn-lt"/>
              <a:ea typeface="+mn-ea"/>
              <a:cs typeface="+mn-cs"/>
            </a:endParaRPr>
          </a:p>
          <a:p>
            <a:pPr lvl="0"/>
            <a:r>
              <a:rPr lang="en-US" sz="1200" b="1" i="0" kern="1200" dirty="0" err="1">
                <a:solidFill>
                  <a:schemeClr val="tx1"/>
                </a:solidFill>
                <a:effectLst/>
                <a:latin typeface="+mn-lt"/>
                <a:ea typeface="+mn-ea"/>
                <a:cs typeface="+mn-cs"/>
              </a:rPr>
              <a:t>Spermiation</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The spermatozoon is released into the tubular lumen but is still </a:t>
            </a:r>
            <a:r>
              <a:rPr lang="en-US" sz="1200" b="1" i="0" kern="1200" dirty="0">
                <a:solidFill>
                  <a:schemeClr val="tx1"/>
                </a:solidFill>
                <a:effectLst/>
                <a:latin typeface="+mn-lt"/>
                <a:ea typeface="+mn-ea"/>
                <a:cs typeface="+mn-cs"/>
              </a:rPr>
              <a:t>immotile and infertile</a:t>
            </a:r>
            <a:r>
              <a:rPr lang="en-US" sz="1200" b="0" i="0" kern="1200" dirty="0">
                <a:solidFill>
                  <a:schemeClr val="tx1"/>
                </a:solidFill>
                <a:effectLst/>
                <a:latin typeface="+mn-lt"/>
                <a:ea typeface="+mn-ea"/>
                <a:cs typeface="+mn-cs"/>
              </a:rPr>
              <a:t> at this point. </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The classic distractors — the "where" questions.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Motility is acquired later, during transit/storage in the epididymis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capacitation and the acrosome reaction occur in the female reproductive tract</a:t>
            </a:r>
            <a:r>
              <a:rPr lang="en-US" sz="1200" b="0" i="0" kern="1200" dirty="0">
                <a:solidFill>
                  <a:schemeClr val="tx1"/>
                </a:solidFill>
                <a:effectLst/>
                <a:latin typeface="+mn-lt"/>
                <a:ea typeface="+mn-ea"/>
                <a:cs typeface="+mn-cs"/>
              </a:rPr>
              <a:t> (capacitation begins in the uterus, hyperactivation/acrosome reaction in the oviduct/ampulla), NOT in the testis</a:t>
            </a:r>
          </a:p>
          <a:p>
            <a:endParaRPr lang="en-US" dirty="0"/>
          </a:p>
          <a:p>
            <a:endParaRPr lang="en-US" dirty="0"/>
          </a:p>
          <a:p>
            <a:r>
              <a:rPr lang="en-US" sz="1200" b="0" i="0" kern="1200" dirty="0">
                <a:solidFill>
                  <a:schemeClr val="tx1"/>
                </a:solidFill>
                <a:effectLst/>
                <a:latin typeface="+mn-lt"/>
                <a:ea typeface="+mn-ea"/>
                <a:cs typeface="+mn-cs"/>
              </a:rPr>
              <a:t> the testis </a:t>
            </a:r>
            <a:r>
              <a:rPr lang="en-US" sz="1200" b="0" i="1" kern="1200" dirty="0">
                <a:solidFill>
                  <a:schemeClr val="tx1"/>
                </a:solidFill>
                <a:effectLst/>
                <a:latin typeface="+mn-lt"/>
                <a:ea typeface="+mn-ea"/>
                <a:cs typeface="+mn-cs"/>
              </a:rPr>
              <a:t>builds</a:t>
            </a:r>
            <a:r>
              <a:rPr lang="en-US" sz="1200" b="0" i="0" kern="1200" dirty="0">
                <a:solidFill>
                  <a:schemeClr val="tx1"/>
                </a:solidFill>
                <a:effectLst/>
                <a:latin typeface="+mn-lt"/>
                <a:ea typeface="+mn-ea"/>
                <a:cs typeface="+mn-cs"/>
              </a:rPr>
              <a:t> the sperm (through spermiogenesis), the </a:t>
            </a:r>
            <a:r>
              <a:rPr lang="en-US" sz="1200" b="0" i="1" kern="1200" dirty="0">
                <a:solidFill>
                  <a:schemeClr val="tx1"/>
                </a:solidFill>
                <a:effectLst/>
                <a:latin typeface="+mn-lt"/>
                <a:ea typeface="+mn-ea"/>
                <a:cs typeface="+mn-cs"/>
              </a:rPr>
              <a:t>epididymis</a:t>
            </a:r>
            <a:r>
              <a:rPr lang="en-US" sz="1200" b="0" i="0" kern="1200" dirty="0">
                <a:solidFill>
                  <a:schemeClr val="tx1"/>
                </a:solidFill>
                <a:effectLst/>
                <a:latin typeface="+mn-lt"/>
                <a:ea typeface="+mn-ea"/>
                <a:cs typeface="+mn-cs"/>
              </a:rPr>
              <a:t> makes it </a:t>
            </a:r>
            <a:r>
              <a:rPr lang="en-US" sz="1200" b="0" i="1" kern="1200" dirty="0">
                <a:solidFill>
                  <a:schemeClr val="tx1"/>
                </a:solidFill>
                <a:effectLst/>
                <a:latin typeface="+mn-lt"/>
                <a:ea typeface="+mn-ea"/>
                <a:cs typeface="+mn-cs"/>
              </a:rPr>
              <a:t>move</a:t>
            </a:r>
            <a:r>
              <a:rPr lang="en-US" sz="1200" b="0" i="0" kern="1200" dirty="0">
                <a:solidFill>
                  <a:schemeClr val="tx1"/>
                </a:solidFill>
                <a:effectLst/>
                <a:latin typeface="+mn-lt"/>
                <a:ea typeface="+mn-ea"/>
                <a:cs typeface="+mn-cs"/>
              </a:rPr>
              <a:t>, and the </a:t>
            </a:r>
            <a:r>
              <a:rPr lang="en-US" sz="1200" b="0" i="1" kern="1200" dirty="0">
                <a:solidFill>
                  <a:schemeClr val="tx1"/>
                </a:solidFill>
                <a:effectLst/>
                <a:latin typeface="+mn-lt"/>
                <a:ea typeface="+mn-ea"/>
                <a:cs typeface="+mn-cs"/>
              </a:rPr>
              <a:t>female tract</a:t>
            </a:r>
            <a:r>
              <a:rPr lang="en-US" sz="1200" b="0" i="0" kern="1200" dirty="0">
                <a:solidFill>
                  <a:schemeClr val="tx1"/>
                </a:solidFill>
                <a:effectLst/>
                <a:latin typeface="+mn-lt"/>
                <a:ea typeface="+mn-ea"/>
                <a:cs typeface="+mn-cs"/>
              </a:rPr>
              <a:t> makes it </a:t>
            </a:r>
            <a:r>
              <a:rPr lang="en-US" sz="1200" b="0" i="1" kern="1200" dirty="0">
                <a:solidFill>
                  <a:schemeClr val="tx1"/>
                </a:solidFill>
                <a:effectLst/>
                <a:latin typeface="+mn-lt"/>
                <a:ea typeface="+mn-ea"/>
                <a:cs typeface="+mn-cs"/>
              </a:rPr>
              <a:t>fertile</a:t>
            </a:r>
            <a:r>
              <a:rPr lang="en-US" sz="1200" b="0" i="0" kern="1200" dirty="0">
                <a:solidFill>
                  <a:schemeClr val="tx1"/>
                </a:solidFill>
                <a:effectLst/>
                <a:latin typeface="+mn-lt"/>
                <a:ea typeface="+mn-ea"/>
                <a:cs typeface="+mn-cs"/>
              </a:rPr>
              <a:t> (capacitation + acrosome reaction).</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lvl="0"/>
            <a:r>
              <a:rPr lang="en-US" sz="1200" b="1" i="0" kern="1200" dirty="0">
                <a:solidFill>
                  <a:schemeClr val="tx1"/>
                </a:solidFill>
                <a:effectLst/>
                <a:latin typeface="+mn-lt"/>
                <a:ea typeface="+mn-ea"/>
                <a:cs typeface="+mn-cs"/>
              </a:rPr>
              <a:t>Blood-testis barrier → immune privilege.</a:t>
            </a:r>
            <a:r>
              <a:rPr lang="en-US" sz="1200" b="0" i="0" kern="1200" dirty="0">
                <a:solidFill>
                  <a:schemeClr val="tx1"/>
                </a:solidFill>
                <a:effectLst/>
                <a:latin typeface="+mn-lt"/>
                <a:ea typeface="+mn-ea"/>
                <a:cs typeface="+mn-cs"/>
              </a:rPr>
              <a:t> Adjacent Sertoli cells form tight junctions that create the </a:t>
            </a:r>
            <a:r>
              <a:rPr lang="en-US" sz="1200" b="1" i="0" kern="1200" dirty="0">
                <a:solidFill>
                  <a:schemeClr val="tx1"/>
                </a:solidFill>
                <a:effectLst/>
                <a:latin typeface="+mn-lt"/>
                <a:ea typeface="+mn-ea"/>
                <a:cs typeface="+mn-cs"/>
              </a:rPr>
              <a:t>blood-testis barrier</a:t>
            </a:r>
            <a:r>
              <a:rPr lang="en-US" sz="1200" b="0" i="0" kern="1200" dirty="0">
                <a:solidFill>
                  <a:schemeClr val="tx1"/>
                </a:solidFill>
                <a:effectLst/>
                <a:latin typeface="+mn-lt"/>
                <a:ea typeface="+mn-ea"/>
                <a:cs typeface="+mn-cs"/>
              </a:rPr>
              <a:t>, sequestering antigenically "novel" post-meiotic germ cells (which arise after puberty, long after central immune tolerance is set) from the immune system.</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Explains </a:t>
            </a:r>
            <a:r>
              <a:rPr lang="en-US" sz="1200" b="1" i="0" kern="1200" dirty="0" err="1">
                <a:solidFill>
                  <a:schemeClr val="tx1"/>
                </a:solidFill>
                <a:effectLst/>
                <a:latin typeface="+mn-lt"/>
                <a:ea typeface="+mn-ea"/>
                <a:cs typeface="+mn-cs"/>
              </a:rPr>
              <a:t>antisperm</a:t>
            </a:r>
            <a:r>
              <a:rPr lang="en-US" sz="1200" b="1" i="0" kern="1200" dirty="0">
                <a:solidFill>
                  <a:schemeClr val="tx1"/>
                </a:solidFill>
                <a:effectLst/>
                <a:latin typeface="+mn-lt"/>
                <a:ea typeface="+mn-ea"/>
                <a:cs typeface="+mn-cs"/>
              </a:rPr>
              <a:t> antibodies and mumps orchitis severity.</a:t>
            </a:r>
            <a:r>
              <a:rPr lang="en-US" sz="1200" b="0" i="0" kern="1200" dirty="0">
                <a:solidFill>
                  <a:schemeClr val="tx1"/>
                </a:solidFill>
                <a:effectLst/>
                <a:latin typeface="+mn-lt"/>
                <a:ea typeface="+mn-ea"/>
                <a:cs typeface="+mn-cs"/>
              </a:rPr>
              <a:t> Because those germ-cell antigens are hidden, any breach — </a:t>
            </a:r>
            <a:r>
              <a:rPr lang="en-US" sz="1200" b="1" i="0" kern="1200" dirty="0">
                <a:solidFill>
                  <a:schemeClr val="tx1"/>
                </a:solidFill>
                <a:effectLst/>
                <a:latin typeface="+mn-lt"/>
                <a:ea typeface="+mn-ea"/>
                <a:cs typeface="+mn-cs"/>
              </a:rPr>
              <a:t>vasectomy, trauma, torsion, or infection</a:t>
            </a:r>
            <a:r>
              <a:rPr lang="en-US" sz="1200" b="0" i="0" kern="1200" dirty="0">
                <a:solidFill>
                  <a:schemeClr val="tx1"/>
                </a:solidFill>
                <a:effectLst/>
                <a:latin typeface="+mn-lt"/>
                <a:ea typeface="+mn-ea"/>
                <a:cs typeface="+mn-cs"/>
              </a:rPr>
              <a:t> — exposes them and triggers </a:t>
            </a:r>
            <a:r>
              <a:rPr lang="en-US" sz="1200" b="1" i="0" kern="1200" dirty="0" err="1">
                <a:solidFill>
                  <a:schemeClr val="tx1"/>
                </a:solidFill>
                <a:effectLst/>
                <a:latin typeface="+mn-lt"/>
                <a:ea typeface="+mn-ea"/>
                <a:cs typeface="+mn-cs"/>
              </a:rPr>
              <a:t>antisperm</a:t>
            </a:r>
            <a:r>
              <a:rPr lang="en-US" sz="1200" b="1" i="0" kern="1200" dirty="0">
                <a:solidFill>
                  <a:schemeClr val="tx1"/>
                </a:solidFill>
                <a:effectLst/>
                <a:latin typeface="+mn-lt"/>
                <a:ea typeface="+mn-ea"/>
                <a:cs typeface="+mn-cs"/>
              </a:rPr>
              <a:t> antibodies</a:t>
            </a:r>
            <a:r>
              <a:rPr lang="en-US" sz="1200" b="0" i="0" kern="1200" dirty="0">
                <a:solidFill>
                  <a:schemeClr val="tx1"/>
                </a:solidFill>
                <a:effectLst/>
                <a:latin typeface="+mn-lt"/>
                <a:ea typeface="+mn-ea"/>
                <a:cs typeface="+mn-cs"/>
              </a:rPr>
              <a:t>; the same principle underlies the immune-mediated inflammatory damage of </a:t>
            </a:r>
            <a:r>
              <a:rPr lang="en-US" sz="1200" b="1" i="0" kern="1200" dirty="0">
                <a:solidFill>
                  <a:schemeClr val="tx1"/>
                </a:solidFill>
                <a:effectLst/>
                <a:latin typeface="+mn-lt"/>
                <a:ea typeface="+mn-ea"/>
                <a:cs typeface="+mn-cs"/>
              </a:rPr>
              <a:t>mumps orchitis</a:t>
            </a:r>
            <a:r>
              <a:rPr lang="en-US" sz="1200" b="0" i="0" kern="1200" dirty="0">
                <a:solidFill>
                  <a:schemeClr val="tx1"/>
                </a:solidFill>
                <a:effectLst/>
                <a:latin typeface="+mn-lt"/>
                <a:ea typeface="+mn-ea"/>
                <a:cs typeface="+mn-cs"/>
              </a:rPr>
              <a:t>.</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Responds to FSH.</a:t>
            </a:r>
            <a:r>
              <a:rPr lang="en-US" sz="1200" b="0" i="0" kern="1200" dirty="0">
                <a:solidFill>
                  <a:schemeClr val="tx1"/>
                </a:solidFill>
                <a:effectLst/>
                <a:latin typeface="+mn-lt"/>
                <a:ea typeface="+mn-ea"/>
                <a:cs typeface="+mn-cs"/>
              </a:rPr>
              <a:t> Sertoli cells carry the </a:t>
            </a:r>
            <a:r>
              <a:rPr lang="en-US" sz="1200" b="1" i="0" kern="1200" dirty="0">
                <a:solidFill>
                  <a:schemeClr val="tx1"/>
                </a:solidFill>
                <a:effectLst/>
                <a:latin typeface="+mn-lt"/>
                <a:ea typeface="+mn-ea"/>
                <a:cs typeface="+mn-cs"/>
              </a:rPr>
              <a:t>FSH receptor</a:t>
            </a:r>
            <a:r>
              <a:rPr lang="en-US" sz="1200" b="0" i="0" kern="1200" dirty="0">
                <a:solidFill>
                  <a:schemeClr val="tx1"/>
                </a:solidFill>
                <a:effectLst/>
                <a:latin typeface="+mn-lt"/>
                <a:ea typeface="+mn-ea"/>
                <a:cs typeface="+mn-cs"/>
              </a:rPr>
              <a:t>, making them the primary target of FSH within the tubule.</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Secretory products.</a:t>
            </a:r>
            <a:r>
              <a:rPr lang="en-US" sz="1200" b="0" i="0" kern="1200" dirty="0">
                <a:solidFill>
                  <a:schemeClr val="tx1"/>
                </a:solidFill>
                <a:effectLst/>
                <a:latin typeface="+mn-lt"/>
                <a:ea typeface="+mn-ea"/>
                <a:cs typeface="+mn-cs"/>
              </a:rPr>
              <a:t> FSH stimulation drives </a:t>
            </a:r>
            <a:r>
              <a:rPr lang="en-US" sz="1200" b="1" i="0" kern="1200" dirty="0">
                <a:solidFill>
                  <a:schemeClr val="tx1"/>
                </a:solidFill>
                <a:effectLst/>
                <a:latin typeface="+mn-lt"/>
                <a:ea typeface="+mn-ea"/>
                <a:cs typeface="+mn-cs"/>
              </a:rPr>
              <a:t>androgen-binding protein</a:t>
            </a:r>
            <a:r>
              <a:rPr lang="en-US" sz="1200" b="0" i="0" kern="1200" dirty="0">
                <a:solidFill>
                  <a:schemeClr val="tx1"/>
                </a:solidFill>
                <a:effectLst/>
                <a:latin typeface="+mn-lt"/>
                <a:ea typeface="+mn-ea"/>
                <a:cs typeface="+mn-cs"/>
              </a:rPr>
              <a:t> (concentrates intratubular testosterone), </a:t>
            </a:r>
            <a:r>
              <a:rPr lang="en-US" sz="1200" b="1" i="0" kern="1200" dirty="0">
                <a:solidFill>
                  <a:schemeClr val="tx1"/>
                </a:solidFill>
                <a:effectLst/>
                <a:latin typeface="+mn-lt"/>
                <a:ea typeface="+mn-ea"/>
                <a:cs typeface="+mn-cs"/>
              </a:rPr>
              <a:t>inhibin B</a:t>
            </a:r>
            <a:r>
              <a:rPr lang="en-US" sz="1200" b="0" i="0" kern="1200" dirty="0">
                <a:solidFill>
                  <a:schemeClr val="tx1"/>
                </a:solidFill>
                <a:effectLst/>
                <a:latin typeface="+mn-lt"/>
                <a:ea typeface="+mn-ea"/>
                <a:cs typeface="+mn-cs"/>
              </a:rPr>
              <a:t> (negative FSH feedback and a clinical marker of spermatogenesis), and </a:t>
            </a:r>
            <a:r>
              <a:rPr lang="en-US" sz="1200" b="1" i="0" kern="1200" dirty="0">
                <a:solidFill>
                  <a:schemeClr val="tx1"/>
                </a:solidFill>
                <a:effectLst/>
                <a:latin typeface="+mn-lt"/>
                <a:ea typeface="+mn-ea"/>
                <a:cs typeface="+mn-cs"/>
              </a:rPr>
              <a:t>AMH</a:t>
            </a:r>
            <a:r>
              <a:rPr lang="en-US" sz="1200" b="0" i="0" kern="1200" dirty="0">
                <a:solidFill>
                  <a:schemeClr val="tx1"/>
                </a:solidFill>
                <a:effectLst/>
                <a:latin typeface="+mn-lt"/>
                <a:ea typeface="+mn-ea"/>
                <a:cs typeface="+mn-cs"/>
              </a:rPr>
              <a:t> (fetal — drives Müllerian regression; falls at puberty).</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Fixed number after puberty → sets the sperm-output ceiling.</a:t>
            </a:r>
            <a:r>
              <a:rPr lang="en-US" sz="1200" b="0" i="0" kern="1200" dirty="0">
                <a:solidFill>
                  <a:schemeClr val="tx1"/>
                </a:solidFill>
                <a:effectLst/>
                <a:latin typeface="+mn-lt"/>
                <a:ea typeface="+mn-ea"/>
                <a:cs typeface="+mn-cs"/>
              </a:rPr>
              <a:t> Each Sertoli cell supports a finite number of germ cells, so the post-pubertal Sertoli population caps maximum sperm production.</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Contrast — Leydig cells (interstitium, LH-driven).</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LH → Leydig cells → testosterone</a:t>
            </a:r>
            <a:r>
              <a:rPr lang="en-US" sz="1200" b="0" i="0" kern="1200" dirty="0">
                <a:solidFill>
                  <a:schemeClr val="tx1"/>
                </a:solidFill>
                <a:effectLst/>
                <a:latin typeface="+mn-lt"/>
                <a:ea typeface="+mn-ea"/>
                <a:cs typeface="+mn-cs"/>
              </a:rPr>
              <a:t>, plus weaker androgens </a:t>
            </a:r>
            <a:r>
              <a:rPr lang="en-US" sz="1200" b="1" i="0" kern="1200" dirty="0">
                <a:solidFill>
                  <a:schemeClr val="tx1"/>
                </a:solidFill>
                <a:effectLst/>
                <a:latin typeface="+mn-lt"/>
                <a:ea typeface="+mn-ea"/>
                <a:cs typeface="+mn-cs"/>
              </a:rPr>
              <a:t>androstenedione and DHEA</a:t>
            </a:r>
            <a:r>
              <a:rPr lang="en-US" sz="1200" b="0" i="0" kern="1200" dirty="0">
                <a:solidFill>
                  <a:schemeClr val="tx1"/>
                </a:solidFill>
                <a:effectLst/>
                <a:latin typeface="+mn-lt"/>
                <a:ea typeface="+mn-ea"/>
                <a:cs typeface="+mn-cs"/>
              </a:rPr>
              <a:t>; note </a:t>
            </a:r>
            <a:r>
              <a:rPr lang="en-US" sz="1200" b="1" i="0" kern="1200" dirty="0">
                <a:solidFill>
                  <a:schemeClr val="tx1"/>
                </a:solidFill>
                <a:effectLst/>
                <a:latin typeface="+mn-lt"/>
                <a:ea typeface="+mn-ea"/>
                <a:cs typeface="+mn-cs"/>
              </a:rPr>
              <a:t>DHT is generated peripherally by 5α-reductase</a:t>
            </a:r>
            <a:r>
              <a:rPr lang="en-US" sz="1200" b="0" i="0" kern="1200" dirty="0">
                <a:solidFill>
                  <a:schemeClr val="tx1"/>
                </a:solidFill>
                <a:effectLst/>
                <a:latin typeface="+mn-lt"/>
                <a:ea typeface="+mn-ea"/>
                <a:cs typeface="+mn-cs"/>
              </a:rPr>
              <a:t>, not synthesized by Leydig cells</a:t>
            </a:r>
          </a:p>
          <a:p>
            <a:endParaRPr lang="en-US" dirty="0"/>
          </a:p>
          <a:p>
            <a:r>
              <a:rPr lang="en-US" sz="1200" b="0" i="0" kern="1200" dirty="0">
                <a:solidFill>
                  <a:schemeClr val="tx1"/>
                </a:solidFill>
                <a:effectLst/>
                <a:latin typeface="+mn-lt"/>
                <a:ea typeface="+mn-ea"/>
                <a:cs typeface="+mn-cs"/>
              </a:rPr>
              <a:t>Sertoli = </a:t>
            </a:r>
            <a:r>
              <a:rPr lang="en-US" sz="1200" b="1" i="0" kern="1200" dirty="0">
                <a:solidFill>
                  <a:schemeClr val="tx1"/>
                </a:solidFill>
                <a:effectLst/>
                <a:latin typeface="+mn-lt"/>
                <a:ea typeface="+mn-ea"/>
                <a:cs typeface="+mn-cs"/>
              </a:rPr>
              <a:t>FSH → barrier, ABP, inhibin B, AMH, and the sperm-output ceiling</a:t>
            </a:r>
            <a:r>
              <a:rPr lang="en-US" sz="1200" b="0" i="0" kern="1200" dirty="0">
                <a:solidFill>
                  <a:schemeClr val="tx1"/>
                </a:solidFill>
                <a:effectLst/>
                <a:latin typeface="+mn-lt"/>
                <a:ea typeface="+mn-ea"/>
                <a:cs typeface="+mn-cs"/>
              </a:rPr>
              <a:t>; Leydig = </a:t>
            </a:r>
            <a:r>
              <a:rPr lang="en-US" sz="1200" b="1" i="0" kern="1200" dirty="0">
                <a:solidFill>
                  <a:schemeClr val="tx1"/>
                </a:solidFill>
                <a:effectLst/>
                <a:latin typeface="+mn-lt"/>
                <a:ea typeface="+mn-ea"/>
                <a:cs typeface="+mn-cs"/>
              </a:rPr>
              <a:t>LH → testosterone</a:t>
            </a:r>
            <a:r>
              <a:rPr lang="en-US" sz="1200" b="0" i="0" kern="1200" dirty="0">
                <a:solidFill>
                  <a:schemeClr val="tx1"/>
                </a:solidFill>
                <a:effectLst/>
                <a:latin typeface="+mn-lt"/>
                <a:ea typeface="+mn-ea"/>
                <a:cs typeface="+mn-cs"/>
              </a:rPr>
              <a:t> (DHT made peripherally)</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lvl="0"/>
            <a:r>
              <a:rPr lang="en-US" sz="1200" b="1" i="0" kern="1200" dirty="0">
                <a:solidFill>
                  <a:schemeClr val="tx1"/>
                </a:solidFill>
                <a:effectLst/>
                <a:latin typeface="+mn-lt"/>
                <a:ea typeface="+mn-ea"/>
                <a:cs typeface="+mn-cs"/>
              </a:rPr>
              <a:t>Operates 2–4 °C below core temperature</a:t>
            </a:r>
            <a:r>
              <a:rPr lang="en-US" sz="1200" b="0" i="0" kern="1200" dirty="0">
                <a:solidFill>
                  <a:schemeClr val="tx1"/>
                </a:solidFill>
                <a:effectLst/>
                <a:latin typeface="+mn-lt"/>
                <a:ea typeface="+mn-ea"/>
                <a:cs typeface="+mn-cs"/>
              </a:rPr>
              <a:t> because spermatogenesis (and DNA/enzyme integrity in meiosis) is heat-sensitive and fails at core body temperature. </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Pampiniform plexus countercurrent exchange</a:t>
            </a:r>
            <a:r>
              <a:rPr lang="en-US" sz="1200" b="0" i="0" kern="1200" dirty="0">
                <a:solidFill>
                  <a:schemeClr val="tx1"/>
                </a:solidFill>
                <a:effectLst/>
                <a:latin typeface="+mn-lt"/>
                <a:ea typeface="+mn-ea"/>
                <a:cs typeface="+mn-cs"/>
              </a:rPr>
              <a:t> — the venous plexus wraps the testicular artery so cool venous return draws heat out of warm arterial inflow before it reaches the testis. </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Cremaster and dartos</a:t>
            </a:r>
            <a:r>
              <a:rPr lang="en-US" sz="1200" b="0" i="0" kern="1200" dirty="0">
                <a:solidFill>
                  <a:schemeClr val="tx1"/>
                </a:solidFill>
                <a:effectLst/>
                <a:latin typeface="+mn-lt"/>
                <a:ea typeface="+mn-ea"/>
                <a:cs typeface="+mn-cs"/>
              </a:rPr>
              <a:t> adjust testicular position (closer/farther from the body) and scrotal surface area to fine-tune heat loss. </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One mechanism, four diseases</a:t>
            </a:r>
            <a:r>
              <a:rPr lang="en-US" sz="1200" b="0" i="0" kern="1200" dirty="0">
                <a:solidFill>
                  <a:schemeClr val="tx1"/>
                </a:solidFill>
                <a:effectLst/>
                <a:latin typeface="+mn-lt"/>
                <a:ea typeface="+mn-ea"/>
                <a:cs typeface="+mn-cs"/>
              </a:rPr>
              <a:t> — cryptorchidism, varicocele, obesity, and occupational heat exposure all raise testicular temperature and impair spermatogenesis through this same thermal pathway. </a:t>
            </a:r>
          </a:p>
          <a:p>
            <a:pPr lvl="0"/>
            <a:endParaRPr lang="en-US" sz="1200" b="0" i="0" kern="1200" dirty="0">
              <a:solidFill>
                <a:schemeClr val="tx1"/>
              </a:solidFill>
              <a:effectLst/>
              <a:latin typeface="+mn-lt"/>
              <a:ea typeface="+mn-ea"/>
              <a:cs typeface="+mn-cs"/>
            </a:endParaRPr>
          </a:p>
          <a:p>
            <a:br>
              <a:rPr lang="en-US" dirty="0"/>
            </a:b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Answer: C — work backward through the ≈74-day timeline. Reveal after polling; reinforce that capacitation happens in the female tract.</a:t>
            </a:r>
            <a:endParaRPr lang="en-US" dirty="0"/>
          </a:p>
          <a:p>
            <a:endParaRPr lang="en-US" dirty="0"/>
          </a:p>
          <a:p>
            <a:endParaRPr lang="en-US" dirty="0"/>
          </a:p>
          <a:p>
            <a:endParaRPr lang="en-US" dirty="0"/>
          </a:p>
          <a:p>
            <a:r>
              <a:rPr lang="en-US" sz="1200" b="0" i="0" kern="1200" dirty="0">
                <a:solidFill>
                  <a:schemeClr val="tx1"/>
                </a:solidFill>
                <a:effectLst/>
                <a:latin typeface="+mn-lt"/>
                <a:ea typeface="+mn-ea"/>
                <a:cs typeface="+mn-cs"/>
              </a:rPr>
              <a:t>Mature stored sperm in the epididymis (A, D) and cells in late spermiogenesis (B) would already have been ejaculated or cleared within the first 2–3 weeks after the fever, so they would not account for an abnormality persisting at 6 weeks</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Plant the leuprolide flag now, collect it in pharmacology. Spoken endocrine handoff.</a:t>
            </a:r>
            <a:endParaRPr lang="en-US" dirty="0"/>
          </a:p>
          <a:p>
            <a:endParaRPr lang="en-US" dirty="0"/>
          </a:p>
          <a:p>
            <a:pPr lvl="0"/>
            <a:r>
              <a:rPr lang="en-US" sz="1200" b="1" i="0" kern="1200" dirty="0">
                <a:solidFill>
                  <a:schemeClr val="tx1"/>
                </a:solidFill>
                <a:effectLst/>
                <a:latin typeface="+mn-lt"/>
                <a:ea typeface="+mn-ea"/>
                <a:cs typeface="+mn-cs"/>
              </a:rPr>
              <a:t>GnRH is pulsatile, and pulsatility is obligatory</a:t>
            </a:r>
            <a:r>
              <a:rPr lang="en-US" sz="1200" b="0" i="0" kern="1200" dirty="0">
                <a:solidFill>
                  <a:schemeClr val="tx1"/>
                </a:solidFill>
                <a:effectLst/>
                <a:latin typeface="+mn-lt"/>
                <a:ea typeface="+mn-ea"/>
                <a:cs typeface="+mn-cs"/>
              </a:rPr>
              <a:t> — hypothalamic GnRH must be secreted in discrete pulses (~every 60–120 min) to sustain gonadotropin output. </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Continuous GnRH exposure shuts the axis off</a:t>
            </a:r>
            <a:r>
              <a:rPr lang="en-US" sz="1200" b="0" i="0" kern="1200" dirty="0">
                <a:solidFill>
                  <a:schemeClr val="tx1"/>
                </a:solidFill>
                <a:effectLst/>
                <a:latin typeface="+mn-lt"/>
                <a:ea typeface="+mn-ea"/>
                <a:cs typeface="+mn-cs"/>
              </a:rPr>
              <a:t> — sustained (non-pulsatile) stimulation downregulates and desensitizes the pituitary GnRH receptor, collapsing LH/FSH release (the basis of </a:t>
            </a:r>
            <a:r>
              <a:rPr lang="en-US" sz="1200" b="1" i="0" kern="1200" dirty="0">
                <a:solidFill>
                  <a:schemeClr val="tx1"/>
                </a:solidFill>
                <a:effectLst/>
                <a:latin typeface="+mn-lt"/>
                <a:ea typeface="+mn-ea"/>
                <a:cs typeface="+mn-cs"/>
              </a:rPr>
              <a:t>leuprolide</a:t>
            </a:r>
            <a:r>
              <a:rPr lang="en-US" sz="1200" b="0" i="0" kern="1200" dirty="0">
                <a:solidFill>
                  <a:schemeClr val="tx1"/>
                </a:solidFill>
                <a:effectLst/>
                <a:latin typeface="+mn-lt"/>
                <a:ea typeface="+mn-ea"/>
                <a:cs typeface="+mn-cs"/>
              </a:rPr>
              <a:t> and other GnRH agonists causing chemical castration). </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LH → Leydig → testosterone</a:t>
            </a:r>
            <a:r>
              <a:rPr lang="en-US" sz="1200" b="0" i="0" kern="1200" dirty="0">
                <a:solidFill>
                  <a:schemeClr val="tx1"/>
                </a:solidFill>
                <a:effectLst/>
                <a:latin typeface="+mn-lt"/>
                <a:ea typeface="+mn-ea"/>
                <a:cs typeface="+mn-cs"/>
              </a:rPr>
              <a:t> — LH drives Leydig-cell steroidogenesis, whose rate-limiting step is </a:t>
            </a:r>
            <a:r>
              <a:rPr lang="en-US" sz="1200" b="1" i="0" kern="1200" dirty="0" err="1">
                <a:solidFill>
                  <a:schemeClr val="tx1"/>
                </a:solidFill>
                <a:effectLst/>
                <a:latin typeface="+mn-lt"/>
                <a:ea typeface="+mn-ea"/>
                <a:cs typeface="+mn-cs"/>
              </a:rPr>
              <a:t>StAR</a:t>
            </a:r>
            <a:r>
              <a:rPr lang="en-US" sz="1200" b="1" i="0" kern="1200" dirty="0">
                <a:solidFill>
                  <a:schemeClr val="tx1"/>
                </a:solidFill>
                <a:effectLst/>
                <a:latin typeface="+mn-lt"/>
                <a:ea typeface="+mn-ea"/>
                <a:cs typeface="+mn-cs"/>
              </a:rPr>
              <a:t>-mediated cholesterol transport</a:t>
            </a:r>
            <a:r>
              <a:rPr lang="en-US" sz="1200" b="0" i="0" kern="1200" dirty="0">
                <a:solidFill>
                  <a:schemeClr val="tx1"/>
                </a:solidFill>
                <a:effectLst/>
                <a:latin typeface="+mn-lt"/>
                <a:ea typeface="+mn-ea"/>
                <a:cs typeface="+mn-cs"/>
              </a:rPr>
              <a:t> into the mitochondrion. </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FSH → Sertoli → ABP + inhibin B</a:t>
            </a:r>
            <a:r>
              <a:rPr lang="en-US" sz="1200" b="0" i="0" kern="1200" dirty="0">
                <a:solidFill>
                  <a:schemeClr val="tx1"/>
                </a:solidFill>
                <a:effectLst/>
                <a:latin typeface="+mn-lt"/>
                <a:ea typeface="+mn-ea"/>
                <a:cs typeface="+mn-cs"/>
              </a:rPr>
              <a:t> — FSH stimulates Sertoli cells to secrete </a:t>
            </a:r>
            <a:r>
              <a:rPr lang="en-US" sz="1200" b="1" i="0" kern="1200" dirty="0">
                <a:solidFill>
                  <a:schemeClr val="tx1"/>
                </a:solidFill>
                <a:effectLst/>
                <a:latin typeface="+mn-lt"/>
                <a:ea typeface="+mn-ea"/>
                <a:cs typeface="+mn-cs"/>
              </a:rPr>
              <a:t>androgen-binding protein</a:t>
            </a:r>
            <a:r>
              <a:rPr lang="en-US" sz="1200" b="0" i="0" kern="1200" dirty="0">
                <a:solidFill>
                  <a:schemeClr val="tx1"/>
                </a:solidFill>
                <a:effectLst/>
                <a:latin typeface="+mn-lt"/>
                <a:ea typeface="+mn-ea"/>
                <a:cs typeface="+mn-cs"/>
              </a:rPr>
              <a:t> (concentrates intratubular testosterone) and </a:t>
            </a:r>
            <a:r>
              <a:rPr lang="en-US" sz="1200" b="1" i="0" kern="1200" dirty="0">
                <a:solidFill>
                  <a:schemeClr val="tx1"/>
                </a:solidFill>
                <a:effectLst/>
                <a:latin typeface="+mn-lt"/>
                <a:ea typeface="+mn-ea"/>
                <a:cs typeface="+mn-cs"/>
              </a:rPr>
              <a:t>inhibin B</a:t>
            </a:r>
            <a:r>
              <a:rPr lang="en-US" sz="1200" b="0" i="0" kern="1200" dirty="0">
                <a:solidFill>
                  <a:schemeClr val="tx1"/>
                </a:solidFill>
                <a:effectLst/>
                <a:latin typeface="+mn-lt"/>
                <a:ea typeface="+mn-ea"/>
                <a:cs typeface="+mn-cs"/>
              </a:rPr>
              <a:t>. </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Feedback</a:t>
            </a:r>
            <a:r>
              <a:rPr lang="en-US" sz="1200" b="0" i="0" kern="1200" dirty="0">
                <a:solidFill>
                  <a:schemeClr val="tx1"/>
                </a:solidFill>
                <a:effectLst/>
                <a:latin typeface="+mn-lt"/>
                <a:ea typeface="+mn-ea"/>
                <a:cs typeface="+mn-cs"/>
              </a:rPr>
              <a:t> — </a:t>
            </a:r>
            <a:r>
              <a:rPr lang="en-US" sz="1200" b="1" i="0" kern="1200" dirty="0">
                <a:solidFill>
                  <a:schemeClr val="tx1"/>
                </a:solidFill>
                <a:effectLst/>
                <a:latin typeface="+mn-lt"/>
                <a:ea typeface="+mn-ea"/>
                <a:cs typeface="+mn-cs"/>
              </a:rPr>
              <a:t>testosterone and estradiol</a:t>
            </a:r>
            <a:r>
              <a:rPr lang="en-US" sz="1200" b="0" i="0" kern="1200" dirty="0">
                <a:solidFill>
                  <a:schemeClr val="tx1"/>
                </a:solidFill>
                <a:effectLst/>
                <a:latin typeface="+mn-lt"/>
                <a:ea typeface="+mn-ea"/>
                <a:cs typeface="+mn-cs"/>
              </a:rPr>
              <a:t> exert central negative feedback (hypothalamus + pituitary), while </a:t>
            </a:r>
            <a:r>
              <a:rPr lang="en-US" sz="1200" b="1" i="0" kern="1200" dirty="0">
                <a:solidFill>
                  <a:schemeClr val="tx1"/>
                </a:solidFill>
                <a:effectLst/>
                <a:latin typeface="+mn-lt"/>
                <a:ea typeface="+mn-ea"/>
                <a:cs typeface="+mn-cs"/>
              </a:rPr>
              <a:t>inhibin B selectively suppresses FSH</a:t>
            </a:r>
            <a:r>
              <a:rPr lang="en-US" sz="1200" b="0" i="0" kern="1200" dirty="0">
                <a:solidFill>
                  <a:schemeClr val="tx1"/>
                </a:solidFill>
                <a:effectLst/>
                <a:latin typeface="+mn-lt"/>
                <a:ea typeface="+mn-ea"/>
                <a:cs typeface="+mn-cs"/>
              </a:rPr>
              <a:t> at the pituitary</a:t>
            </a:r>
          </a:p>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sz="1200" b="1" i="0" kern="1200" dirty="0">
                <a:solidFill>
                  <a:schemeClr val="tx1"/>
                </a:solidFill>
                <a:effectLst/>
                <a:latin typeface="+mn-lt"/>
                <a:ea typeface="+mn-ea"/>
                <a:cs typeface="+mn-cs"/>
              </a:rPr>
              <a:t>Free testosterone measured by most labs is unreliable because the common direct analog immunoassay is inaccurate</a:t>
            </a:r>
            <a:r>
              <a:rPr lang="en-US" sz="1200" b="0" i="0" kern="1200" dirty="0">
                <a:solidFill>
                  <a:schemeClr val="tx1"/>
                </a:solidFill>
                <a:effectLst/>
                <a:latin typeface="+mn-lt"/>
                <a:ea typeface="+mn-ea"/>
                <a:cs typeface="+mn-cs"/>
              </a:rPr>
              <a:t> — it systematically misestimates free T and is not recommended; either calculated free T (from total T, SHBG, albumin) or equilibrium dialysis should be used instead.</a:t>
            </a:r>
          </a:p>
          <a:p>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The problem</a:t>
            </a:r>
            <a:r>
              <a:rPr lang="en-US" sz="1200" b="0" i="0" kern="1200" dirty="0">
                <a:solidFill>
                  <a:schemeClr val="tx1"/>
                </a:solidFill>
                <a:effectLst/>
                <a:latin typeface="+mn-lt"/>
                <a:ea typeface="+mn-ea"/>
                <a:cs typeface="+mn-cs"/>
              </a:rPr>
              <a:t> — the widely available </a:t>
            </a:r>
            <a:r>
              <a:rPr lang="en-US" sz="1200" b="1" i="0" kern="1200" dirty="0">
                <a:solidFill>
                  <a:schemeClr val="tx1"/>
                </a:solidFill>
                <a:effectLst/>
                <a:latin typeface="+mn-lt"/>
                <a:ea typeface="+mn-ea"/>
                <a:cs typeface="+mn-cs"/>
              </a:rPr>
              <a:t>direct analog radioimmunoassay</a:t>
            </a:r>
            <a:r>
              <a:rPr lang="en-US" sz="1200" b="0" i="0" kern="1200" dirty="0">
                <a:solidFill>
                  <a:schemeClr val="tx1"/>
                </a:solidFill>
                <a:effectLst/>
                <a:latin typeface="+mn-lt"/>
                <a:ea typeface="+mn-ea"/>
                <a:cs typeface="+mn-cs"/>
              </a:rPr>
              <a:t> for free T does not correlate well with the reference equilibrium-dialysis method, giving falsely low and unreliable values, especially when SHBG is abnormal.</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Preferred alternatives</a:t>
            </a:r>
            <a:r>
              <a:rPr lang="en-US" sz="1200" b="0" i="0" kern="1200" dirty="0">
                <a:solidFill>
                  <a:schemeClr val="tx1"/>
                </a:solidFill>
                <a:effectLst/>
                <a:latin typeface="+mn-lt"/>
                <a:ea typeface="+mn-ea"/>
                <a:cs typeface="+mn-cs"/>
              </a:rPr>
              <a:t> — </a:t>
            </a:r>
            <a:r>
              <a:rPr lang="en-US" sz="1200" b="1" i="0" kern="1200" dirty="0">
                <a:solidFill>
                  <a:schemeClr val="tx1"/>
                </a:solidFill>
                <a:effectLst/>
                <a:latin typeface="+mn-lt"/>
                <a:ea typeface="+mn-ea"/>
                <a:cs typeface="+mn-cs"/>
              </a:rPr>
              <a:t>equilibrium dialysis</a:t>
            </a:r>
            <a:r>
              <a:rPr lang="en-US" sz="1200" b="0" i="0" kern="1200" dirty="0">
                <a:solidFill>
                  <a:schemeClr val="tx1"/>
                </a:solidFill>
                <a:effectLst/>
                <a:latin typeface="+mn-lt"/>
                <a:ea typeface="+mn-ea"/>
                <a:cs typeface="+mn-cs"/>
              </a:rPr>
              <a:t> (gold standard) or </a:t>
            </a:r>
            <a:r>
              <a:rPr lang="en-US" sz="1200" b="1" i="0" kern="1200" dirty="0">
                <a:solidFill>
                  <a:schemeClr val="tx1"/>
                </a:solidFill>
                <a:effectLst/>
                <a:latin typeface="+mn-lt"/>
                <a:ea typeface="+mn-ea"/>
                <a:cs typeface="+mn-cs"/>
              </a:rPr>
              <a:t>calculated free T</a:t>
            </a:r>
            <a:r>
              <a:rPr lang="en-US" sz="1200" b="0" i="0" kern="1200" dirty="0">
                <a:solidFill>
                  <a:schemeClr val="tx1"/>
                </a:solidFill>
                <a:effectLst/>
                <a:latin typeface="+mn-lt"/>
                <a:ea typeface="+mn-ea"/>
                <a:cs typeface="+mn-cs"/>
              </a:rPr>
              <a:t> using total T, SHBG, and albumin give far more accurate bioavailable/free estimates in the obese or SHBG-distorted patient.</a:t>
            </a:r>
          </a:p>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lvl="0"/>
            <a:r>
              <a:rPr lang="en-US" sz="1200" b="1" i="0" kern="1200" dirty="0">
                <a:solidFill>
                  <a:schemeClr val="tx1"/>
                </a:solidFill>
                <a:effectLst/>
                <a:latin typeface="+mn-lt"/>
                <a:ea typeface="+mn-ea"/>
                <a:cs typeface="+mn-cs"/>
              </a:rPr>
              <a:t>Testosterone → DHT via 5-alpha-reductase</a:t>
            </a:r>
            <a:r>
              <a:rPr lang="en-US" sz="1200" b="0" i="0" kern="1200" dirty="0">
                <a:solidFill>
                  <a:schemeClr val="tx1"/>
                </a:solidFill>
                <a:effectLst/>
                <a:latin typeface="+mn-lt"/>
                <a:ea typeface="+mn-ea"/>
                <a:cs typeface="+mn-cs"/>
              </a:rPr>
              <a:t> — peripheral conversion amplifies androgen signaling in target tissues. </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Type 2 5-alpha-reductase</a:t>
            </a:r>
            <a:r>
              <a:rPr lang="en-US" sz="1200" b="0" i="0" kern="1200" dirty="0">
                <a:solidFill>
                  <a:schemeClr val="tx1"/>
                </a:solidFill>
                <a:effectLst/>
                <a:latin typeface="+mn-lt"/>
                <a:ea typeface="+mn-ea"/>
                <a:cs typeface="+mn-cs"/>
              </a:rPr>
              <a:t> — dominant in </a:t>
            </a:r>
            <a:r>
              <a:rPr lang="en-US" sz="1200" b="1" i="0" kern="1200" dirty="0">
                <a:solidFill>
                  <a:schemeClr val="tx1"/>
                </a:solidFill>
                <a:effectLst/>
                <a:latin typeface="+mn-lt"/>
                <a:ea typeface="+mn-ea"/>
                <a:cs typeface="+mn-cs"/>
              </a:rPr>
              <a:t>prostate, seminal vesicles, and genital skin</a:t>
            </a:r>
            <a:r>
              <a:rPr lang="en-US" sz="1200" b="0" i="0" kern="1200" dirty="0">
                <a:solidFill>
                  <a:schemeClr val="tx1"/>
                </a:solidFill>
                <a:effectLst/>
                <a:latin typeface="+mn-lt"/>
                <a:ea typeface="+mn-ea"/>
                <a:cs typeface="+mn-cs"/>
              </a:rPr>
              <a:t> (the isoenzyme blocked by finasteride/dutasteride for BPH). </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Type 1 5-alpha-reductase</a:t>
            </a:r>
            <a:r>
              <a:rPr lang="en-US" sz="1200" b="0" i="0" kern="1200" dirty="0">
                <a:solidFill>
                  <a:schemeClr val="tx1"/>
                </a:solidFill>
                <a:effectLst/>
                <a:latin typeface="+mn-lt"/>
                <a:ea typeface="+mn-ea"/>
                <a:cs typeface="+mn-cs"/>
              </a:rPr>
              <a:t> — predominant in </a:t>
            </a:r>
            <a:r>
              <a:rPr lang="en-US" sz="1200" b="1" i="0" kern="1200" dirty="0">
                <a:solidFill>
                  <a:schemeClr val="tx1"/>
                </a:solidFill>
                <a:effectLst/>
                <a:latin typeface="+mn-lt"/>
                <a:ea typeface="+mn-ea"/>
                <a:cs typeface="+mn-cs"/>
              </a:rPr>
              <a:t>skin (sebaceous glands) and liver</a:t>
            </a:r>
            <a:r>
              <a:rPr lang="en-US" sz="1200" b="0" i="0" kern="1200" dirty="0">
                <a:solidFill>
                  <a:schemeClr val="tx1"/>
                </a:solidFill>
                <a:effectLst/>
                <a:latin typeface="+mn-lt"/>
                <a:ea typeface="+mn-ea"/>
                <a:cs typeface="+mn-cs"/>
              </a:rPr>
              <a:t>. </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DHT is the more potent androgen</a:t>
            </a:r>
            <a:r>
              <a:rPr lang="en-US" sz="1200" b="0" i="0" kern="1200" dirty="0">
                <a:solidFill>
                  <a:schemeClr val="tx1"/>
                </a:solidFill>
                <a:effectLst/>
                <a:latin typeface="+mn-lt"/>
                <a:ea typeface="+mn-ea"/>
                <a:cs typeface="+mn-cs"/>
              </a:rPr>
              <a:t> — binds the </a:t>
            </a:r>
            <a:r>
              <a:rPr lang="en-US" sz="1200" b="1" i="0" kern="1200" dirty="0">
                <a:solidFill>
                  <a:schemeClr val="tx1"/>
                </a:solidFill>
                <a:effectLst/>
                <a:latin typeface="+mn-lt"/>
                <a:ea typeface="+mn-ea"/>
                <a:cs typeface="+mn-cs"/>
              </a:rPr>
              <a:t>androgen receptor with higher affinity, dissociates slowly, and cannot be aromatized</a:t>
            </a:r>
            <a:r>
              <a:rPr lang="en-US" sz="1200" b="0" i="0" kern="1200" dirty="0">
                <a:solidFill>
                  <a:schemeClr val="tx1"/>
                </a:solidFill>
                <a:effectLst/>
                <a:latin typeface="+mn-lt"/>
                <a:ea typeface="+mn-ea"/>
                <a:cs typeface="+mn-cs"/>
              </a:rPr>
              <a:t>, making it a pure, amplified androgen signal.</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Testosterone → estradiol via aromatase (mostly adipose tissue)</a:t>
            </a:r>
            <a:r>
              <a:rPr lang="en-US" sz="1200" b="0" i="0" kern="1200" dirty="0">
                <a:solidFill>
                  <a:schemeClr val="tx1"/>
                </a:solidFill>
                <a:effectLst/>
                <a:latin typeface="+mn-lt"/>
                <a:ea typeface="+mn-ea"/>
                <a:cs typeface="+mn-cs"/>
              </a:rPr>
              <a:t> — a substantial fraction of male estradiol derives from peripheral aromatization of testosterone. </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Estradiol in men</a:t>
            </a:r>
            <a:r>
              <a:rPr lang="en-US" sz="1200" b="0" i="0" kern="1200" dirty="0">
                <a:solidFill>
                  <a:schemeClr val="tx1"/>
                </a:solidFill>
                <a:effectLst/>
                <a:latin typeface="+mn-lt"/>
                <a:ea typeface="+mn-ea"/>
                <a:cs typeface="+mn-cs"/>
              </a:rPr>
              <a:t> — drives </a:t>
            </a:r>
            <a:r>
              <a:rPr lang="en-US" sz="1200" b="1" i="0" kern="1200" dirty="0">
                <a:solidFill>
                  <a:schemeClr val="tx1"/>
                </a:solidFill>
                <a:effectLst/>
                <a:latin typeface="+mn-lt"/>
                <a:ea typeface="+mn-ea"/>
                <a:cs typeface="+mn-cs"/>
              </a:rPr>
              <a:t>bone mineral density, epiphyseal plate closure, libido, and central negative feedback</a:t>
            </a:r>
            <a:r>
              <a:rPr lang="en-US" sz="1200" b="0" i="0" kern="1200" dirty="0">
                <a:solidFill>
                  <a:schemeClr val="tx1"/>
                </a:solidFill>
                <a:effectLst/>
                <a:latin typeface="+mn-lt"/>
                <a:ea typeface="+mn-ea"/>
                <a:cs typeface="+mn-cs"/>
              </a:rPr>
              <a:t> on the HPG axis. </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Obesity → increased aromatization</a:t>
            </a:r>
            <a:r>
              <a:rPr lang="en-US" sz="1200" b="0" i="0" kern="1200" dirty="0">
                <a:solidFill>
                  <a:schemeClr val="tx1"/>
                </a:solidFill>
                <a:effectLst/>
                <a:latin typeface="+mn-lt"/>
                <a:ea typeface="+mn-ea"/>
                <a:cs typeface="+mn-cs"/>
              </a:rPr>
              <a:t> — expanded adipose mass converts more testosterone to estradiol, producing the classic </a:t>
            </a:r>
            <a:r>
              <a:rPr lang="en-US" sz="1200" b="1" i="0" kern="1200" dirty="0">
                <a:solidFill>
                  <a:schemeClr val="tx1"/>
                </a:solidFill>
                <a:effectLst/>
                <a:latin typeface="+mn-lt"/>
                <a:ea typeface="+mn-ea"/>
                <a:cs typeface="+mn-cs"/>
              </a:rPr>
              <a:t>low-testosterone, high-estradiol, low/inappropriately-normal-LH</a:t>
            </a:r>
            <a:r>
              <a:rPr lang="en-US" sz="1200" b="0" i="0" kern="1200" dirty="0">
                <a:solidFill>
                  <a:schemeClr val="tx1"/>
                </a:solidFill>
                <a:effectLst/>
                <a:latin typeface="+mn-lt"/>
                <a:ea typeface="+mn-ea"/>
                <a:cs typeface="+mn-cs"/>
              </a:rPr>
              <a:t> pattern of obesity-related hypogonadism.</a:t>
            </a:r>
          </a:p>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Testosterone and DHT are the same androgen signal split into two jobs: testosterone builds the internal machinery (Wolffian ducts, sperm, muscle, bone, libido), while its more potent metabolite DHT builds the external and cosmetic male features (genitalia, prostate, hairline). </a:t>
            </a:r>
          </a:p>
          <a:p>
            <a:endParaRPr lang="en-US" dirty="0"/>
          </a:p>
          <a:p>
            <a:r>
              <a:rPr lang="en-US" dirty="0"/>
              <a:t>That's why blocking the conversion with a 5-alpha-reductase inhibitor shrinks the prostate and slows balding without stopping spermatogenesis — men born without the enzyme never develop BPH or male-pattern baldness.</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Bridge from physiology to the TRT segment.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Testosterone is low in both, so the gonadotropins tell you where the lesion is — if the pituitary is shouting (high LH/FSH) the testis is broken and can't answer; if it's silent despite low testosterone (low or "normal" LH/FSH) the brain is broken, and that's the treatable one.</a:t>
            </a:r>
          </a:p>
          <a:p>
            <a:endParaRPr lang="en-US" dirty="0"/>
          </a:p>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Preserved morning erections argue for a psychogenic contribution — developed on slide 31.</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Sleep/morning erections test the intact neurovascular-hormonal machinery, so their preservation with lost psychogenic erections localizes to a </a:t>
            </a:r>
            <a:r>
              <a:rPr lang="en-US" sz="1200" b="0" i="0" kern="1200" dirty="0" err="1">
                <a:solidFill>
                  <a:schemeClr val="tx1"/>
                </a:solidFill>
                <a:effectLst/>
                <a:latin typeface="+mn-lt"/>
                <a:ea typeface="+mn-ea"/>
                <a:cs typeface="+mn-cs"/>
              </a:rPr>
              <a:t>suprasacral</a:t>
            </a:r>
            <a:r>
              <a:rPr lang="en-US" sz="1200" b="0" i="0" kern="1200" dirty="0">
                <a:solidFill>
                  <a:schemeClr val="tx1"/>
                </a:solidFill>
                <a:effectLst/>
                <a:latin typeface="+mn-lt"/>
                <a:ea typeface="+mn-ea"/>
                <a:cs typeface="+mn-cs"/>
              </a:rPr>
              <a:t> cord lesion (intact S2–S4 reflex arc, blocked cerebral input), whereas their gradual loss signals organic (vascular/neural/hormonal) disease—and because nocturnal erections are the most testosterone-dependent, hypogonadal men lose them first</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Highest reading-order risk in the deck — verify animation order matches reading order before submission.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Second appearance of the tunica albuginea.</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Sympathetic T10–L2 fibers drive emission—coordinated contraction of the vas, seminal vesicles, and prostate—while simultaneously closing the bladder neck via alpha-1 tone to direct semen forward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alpha-1a-selective blockers (tamsulosin, silodosin) abolish both, producing retrograde or absent ejaculation.</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Distinguish from congenital curvature (no plaque, dates from puberty) and fracture (acute).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Treatment ladder maps to curvature severity and erectile function.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Answer B. On reveal, re-ask: what mandates a urethrogram?</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Let them answer: cremasteric reflex. Advance to the table.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American Urological Association recommends scrotal ultrasonography for most blunt scrotal injuries with findings suggestive of testicular rupture</a:t>
            </a:r>
            <a:r>
              <a:rPr lang="en-US" sz="1200" b="0" i="0" kern="1200" dirty="0">
                <a:solidFill>
                  <a:schemeClr val="tx1"/>
                </a:solidFill>
                <a:effectLst/>
                <a:latin typeface="+mn-lt"/>
                <a:ea typeface="+mn-ea"/>
                <a:cs typeface="+mn-cs"/>
              </a:rPr>
              <a:t>, because clinical exam is limited by swelling and pain—and, critically, </a:t>
            </a:r>
            <a:r>
              <a:rPr lang="en-US" sz="1200" b="1" i="0" kern="1200" dirty="0">
                <a:solidFill>
                  <a:schemeClr val="tx1"/>
                </a:solidFill>
                <a:effectLst/>
                <a:latin typeface="+mn-lt"/>
                <a:ea typeface="+mn-ea"/>
                <a:cs typeface="+mn-cs"/>
              </a:rPr>
              <a:t>the hematocele is not the diagnostic anchor for rupture</a:t>
            </a:r>
            <a:r>
              <a:rPr lang="en-US" sz="1200" b="0" i="0" kern="1200" dirty="0">
                <a:solidFill>
                  <a:schemeClr val="tx1"/>
                </a:solidFill>
                <a:effectLst/>
                <a:latin typeface="+mn-lt"/>
                <a:ea typeface="+mn-ea"/>
                <a:cs typeface="+mn-cs"/>
              </a:rPr>
              <a:t>.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most specific sonographic findings are loss of testicular contour and heterogeneous parenchymal echotexture</a:t>
            </a:r>
            <a:r>
              <a:rPr lang="en-US" sz="1200" b="0" i="0" kern="1200" dirty="0">
                <a:solidFill>
                  <a:schemeClr val="tx1"/>
                </a:solidFill>
                <a:effectLst/>
                <a:latin typeface="+mn-lt"/>
                <a:ea typeface="+mn-ea"/>
                <a:cs typeface="+mn-cs"/>
              </a:rPr>
              <a:t>, and these—not the size or presence of a hematocele—are what should prompt surgical repair.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Prompt exploration is indicated for sonographic rupture, equivocal imaging, a large hematoma, or clear physical findings, yielding </a:t>
            </a:r>
            <a:r>
              <a:rPr lang="en-US" sz="1200" b="1" i="0" kern="1200" dirty="0">
                <a:solidFill>
                  <a:schemeClr val="tx1"/>
                </a:solidFill>
                <a:effectLst/>
                <a:latin typeface="+mn-lt"/>
                <a:ea typeface="+mn-ea"/>
                <a:cs typeface="+mn-cs"/>
              </a:rPr>
              <a:t>salvage rates of 80–90%</a:t>
            </a:r>
            <a:r>
              <a:rPr lang="en-US" sz="1200" b="0" i="0" kern="1200" dirty="0">
                <a:solidFill>
                  <a:schemeClr val="tx1"/>
                </a:solidFill>
                <a:effectLst/>
                <a:latin typeface="+mn-lt"/>
                <a:ea typeface="+mn-ea"/>
                <a:cs typeface="+mn-cs"/>
              </a:rPr>
              <a:t>.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Surgeons should then perform </a:t>
            </a:r>
            <a:r>
              <a:rPr lang="en-US" sz="1200" b="1" i="0" kern="1200" dirty="0">
                <a:solidFill>
                  <a:schemeClr val="tx1"/>
                </a:solidFill>
                <a:effectLst/>
                <a:latin typeface="+mn-lt"/>
                <a:ea typeface="+mn-ea"/>
                <a:cs typeface="+mn-cs"/>
              </a:rPr>
              <a:t>exploration with debridement and </a:t>
            </a:r>
            <a:r>
              <a:rPr lang="en-US" sz="1200" b="1" i="0" kern="1200" dirty="0" err="1">
                <a:solidFill>
                  <a:schemeClr val="tx1"/>
                </a:solidFill>
                <a:effectLst/>
                <a:latin typeface="+mn-lt"/>
                <a:ea typeface="+mn-ea"/>
                <a:cs typeface="+mn-cs"/>
              </a:rPr>
              <a:t>tunical</a:t>
            </a:r>
            <a:r>
              <a:rPr lang="en-US" sz="1200" b="1" i="0" kern="1200" dirty="0">
                <a:solidFill>
                  <a:schemeClr val="tx1"/>
                </a:solidFill>
                <a:effectLst/>
                <a:latin typeface="+mn-lt"/>
                <a:ea typeface="+mn-ea"/>
                <a:cs typeface="+mn-cs"/>
              </a:rPr>
              <a:t> closure, or orchiectomy when non-salvageable</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Renal vein anatomy callback</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The contralateral-risk fact is the conceptual core — make it explicit.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Answer C. Reveal discussion: the 90-minute wait spends half the remaining salvage window.</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Case framing: 24-year-old with a firm painless mass</a:t>
            </a:r>
            <a:endParaRPr lang="en-US" dirty="0"/>
          </a:p>
          <a:p>
            <a:endParaRPr lang="en-US" dirty="0"/>
          </a:p>
          <a:p>
            <a:r>
              <a:rPr lang="en-US" sz="1200" b="1" i="0" kern="1200" dirty="0">
                <a:solidFill>
                  <a:schemeClr val="tx1"/>
                </a:solidFill>
                <a:effectLst/>
                <a:latin typeface="+mn-lt"/>
                <a:ea typeface="+mn-ea"/>
                <a:cs typeface="+mn-cs"/>
              </a:rPr>
              <a:t>Testicular dysgenesis syndrome</a:t>
            </a:r>
            <a:r>
              <a:rPr lang="en-US" sz="1200" b="0" i="0" kern="1200" dirty="0">
                <a:solidFill>
                  <a:schemeClr val="tx1"/>
                </a:solidFill>
                <a:effectLst/>
                <a:latin typeface="+mn-lt"/>
                <a:ea typeface="+mn-ea"/>
                <a:cs typeface="+mn-cs"/>
              </a:rPr>
              <a:t> ties cryptorchidism, hypospadias, poor spermatogenesis, and GCT together as downstream effects of disrupted fetal androgen signaling — one in-utero mechanism, several phenotypes</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Quiz item 10.</a:t>
            </a:r>
            <a:endParaRPr lang="en-US" dirty="0"/>
          </a:p>
          <a:p>
            <a:endParaRPr lang="en-US" dirty="0"/>
          </a:p>
          <a:p>
            <a:pPr rtl="0" eaLnBrk="1" fontAlgn="ctr" latinLnBrk="0" hangingPunct="1"/>
            <a:r>
              <a:rPr lang="en-US" sz="1200" b="0" i="0" u="none" strike="noStrike" kern="1200" dirty="0">
                <a:solidFill>
                  <a:schemeClr val="tx1"/>
                </a:solidFill>
                <a:effectLst/>
                <a:latin typeface="+mn-lt"/>
                <a:ea typeface="+mn-ea"/>
                <a:cs typeface="+mn-cs"/>
              </a:rPr>
              <a:t>β-</a:t>
            </a:r>
            <a:r>
              <a:rPr lang="en-US" sz="1200" b="0" i="0" u="none" strike="noStrike" kern="1200" dirty="0" err="1">
                <a:solidFill>
                  <a:schemeClr val="tx1"/>
                </a:solidFill>
                <a:effectLst/>
                <a:latin typeface="+mn-lt"/>
                <a:ea typeface="+mn-ea"/>
                <a:cs typeface="+mn-cs"/>
              </a:rPr>
              <a:t>hCG</a:t>
            </a:r>
            <a:endParaRPr lang="en-US" sz="1200" b="0" i="0" u="none" strike="noStrike" kern="1200" dirty="0">
              <a:solidFill>
                <a:schemeClr val="tx1"/>
              </a:solidFill>
              <a:effectLst/>
              <a:latin typeface="+mn-lt"/>
              <a:ea typeface="+mn-ea"/>
              <a:cs typeface="+mn-cs"/>
            </a:endParaRPr>
          </a:p>
          <a:p>
            <a:pPr rtl="0" eaLnBrk="1" fontAlgn="ctr" latinLnBrk="0" hangingPunct="1"/>
            <a:r>
              <a:rPr lang="en-US" sz="1200" b="0" i="0" u="none" strike="noStrike" kern="1200" dirty="0">
                <a:solidFill>
                  <a:schemeClr val="tx1"/>
                </a:solidFill>
                <a:effectLst/>
                <a:latin typeface="+mn-lt"/>
                <a:ea typeface="+mn-ea"/>
                <a:cs typeface="+mn-cs"/>
              </a:rPr>
              <a:t>~24–36 h (≤3 days)</a:t>
            </a:r>
          </a:p>
          <a:p>
            <a:pPr rtl="0" eaLnBrk="1" fontAlgn="ctr" latinLnBrk="0" hangingPunct="1"/>
            <a:r>
              <a:rPr lang="en-US" sz="1200" b="0" i="0" u="none" strike="noStrike" kern="1200" dirty="0">
                <a:solidFill>
                  <a:schemeClr val="tx1"/>
                </a:solidFill>
                <a:effectLst/>
                <a:latin typeface="+mn-lt"/>
                <a:ea typeface="+mn-ea"/>
                <a:cs typeface="+mn-cs"/>
              </a:rPr>
              <a:t>Fastest; normalizes within ~1 week of orchiectomy</a:t>
            </a:r>
          </a:p>
          <a:p>
            <a:pPr rtl="0" eaLnBrk="1" fontAlgn="ctr" latinLnBrk="0" hangingPunct="1"/>
            <a:endParaRPr lang="en-US" sz="1200" b="0" i="0" u="none" strike="noStrike" kern="1200" dirty="0">
              <a:solidFill>
                <a:schemeClr val="tx1"/>
              </a:solidFill>
              <a:effectLst/>
              <a:latin typeface="+mn-lt"/>
              <a:ea typeface="+mn-ea"/>
              <a:cs typeface="+mn-cs"/>
            </a:endParaRPr>
          </a:p>
          <a:p>
            <a:pPr rtl="0" eaLnBrk="1" fontAlgn="ctr" latinLnBrk="0" hangingPunct="1"/>
            <a:r>
              <a:rPr lang="en-US" sz="1200" b="0" i="0" u="none" strike="noStrike" kern="1200" dirty="0">
                <a:solidFill>
                  <a:schemeClr val="tx1"/>
                </a:solidFill>
                <a:effectLst/>
                <a:latin typeface="+mn-lt"/>
                <a:ea typeface="+mn-ea"/>
                <a:cs typeface="+mn-cs"/>
              </a:rPr>
              <a:t>AFP</a:t>
            </a:r>
          </a:p>
          <a:p>
            <a:pPr rtl="0" eaLnBrk="1" fontAlgn="ctr" latinLnBrk="0" hangingPunct="1"/>
            <a:r>
              <a:rPr lang="en-US" sz="1200" b="0" i="0" u="none" strike="noStrike" kern="1200" dirty="0">
                <a:solidFill>
                  <a:schemeClr val="tx1"/>
                </a:solidFill>
                <a:effectLst/>
                <a:latin typeface="+mn-lt"/>
                <a:ea typeface="+mn-ea"/>
                <a:cs typeface="+mn-cs"/>
              </a:rPr>
              <a:t>~5–7 days</a:t>
            </a:r>
          </a:p>
          <a:p>
            <a:pPr rtl="0" eaLnBrk="1" fontAlgn="ctr" latinLnBrk="0" hangingPunct="1"/>
            <a:r>
              <a:rPr lang="en-US" sz="1200" b="0" i="0" u="none" strike="noStrike" kern="1200" dirty="0">
                <a:solidFill>
                  <a:schemeClr val="tx1"/>
                </a:solidFill>
                <a:effectLst/>
                <a:latin typeface="+mn-lt"/>
                <a:ea typeface="+mn-ea"/>
                <a:cs typeface="+mn-cs"/>
              </a:rPr>
              <a:t>Slower; may still be falling at a 2-week recheck</a:t>
            </a:r>
          </a:p>
          <a:p>
            <a:pPr rtl="0" eaLnBrk="1" fontAlgn="ctr" latinLnBrk="0" hangingPunct="1"/>
            <a:endParaRPr lang="en-US" sz="1200" b="0" i="0" u="none" strike="noStrike" kern="1200" dirty="0">
              <a:solidFill>
                <a:schemeClr val="tx1"/>
              </a:solidFill>
              <a:effectLst/>
              <a:latin typeface="+mn-lt"/>
              <a:ea typeface="+mn-ea"/>
              <a:cs typeface="+mn-cs"/>
            </a:endParaRPr>
          </a:p>
          <a:p>
            <a:pPr rtl="0" eaLnBrk="1" fontAlgn="ctr" latinLnBrk="0" hangingPunct="1"/>
            <a:r>
              <a:rPr lang="en-US" sz="1200" b="0" i="0" u="none" strike="noStrike" kern="1200" dirty="0">
                <a:solidFill>
                  <a:schemeClr val="tx1"/>
                </a:solidFill>
                <a:effectLst/>
                <a:latin typeface="+mn-lt"/>
                <a:ea typeface="+mn-ea"/>
                <a:cs typeface="+mn-cs"/>
              </a:rPr>
              <a:t>LDH</a:t>
            </a:r>
          </a:p>
          <a:p>
            <a:pPr rtl="0" eaLnBrk="1" fontAlgn="ctr" latinLnBrk="0" hangingPunct="1"/>
            <a:r>
              <a:rPr lang="en-US" sz="1200" b="0" i="0" u="none" strike="noStrike" kern="1200" dirty="0">
                <a:solidFill>
                  <a:schemeClr val="tx1"/>
                </a:solidFill>
                <a:effectLst/>
                <a:latin typeface="+mn-lt"/>
                <a:ea typeface="+mn-ea"/>
                <a:cs typeface="+mn-cs"/>
              </a:rPr>
              <a:t>~1–3 weeks (variable)</a:t>
            </a:r>
          </a:p>
          <a:p>
            <a:pPr rtl="0" eaLnBrk="1" fontAlgn="ctr" latinLnBrk="0" hangingPunct="1"/>
            <a:r>
              <a:rPr lang="en-US" sz="1200" b="0" i="0" u="none" strike="noStrike" kern="1200" dirty="0">
                <a:solidFill>
                  <a:schemeClr val="tx1"/>
                </a:solidFill>
                <a:effectLst/>
                <a:latin typeface="+mn-lt"/>
                <a:ea typeface="+mn-ea"/>
                <a:cs typeface="+mn-cs"/>
              </a:rPr>
              <a:t>No formal half-life assigned; too slow/nonspecific to track</a:t>
            </a:r>
          </a:p>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The lymphatic logic is the anatomy slide cashing out.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BPH obstructs in two ways — the physical bulk of the gland and the muscular squeeze around the urethra — so 5-ARIs shrink the bulk while alpha-blockers relax the squeeze.</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Workup line: IPSS, UA, PSA, PVR, uroflow.</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Category III framing prevents years of futile antibiotics.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Slide 31’s localization logic applied.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Injection/device detail on reference slide R6.</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The bidirectionality is the teaching point; it covers the SSRI objective.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The reference-limit framing prevents the most common misread of a semen analysis.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The semen has no sperm either because the factory works but the pipes are blocked (obstructive: normal testis size, normal FSH) or </a:t>
            </a:r>
          </a:p>
          <a:p>
            <a:endParaRPr lang="en-US" dirty="0"/>
          </a:p>
          <a:p>
            <a:r>
              <a:rPr lang="en-US" dirty="0"/>
              <a:t>Because the factory itself has failed (non-obstructive: small soft testes, high FSH as the pituitary shouts at tubules that can't answer</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Non-</a:t>
            </a:r>
            <a:r>
              <a:rPr lang="en-US" dirty="0" err="1"/>
              <a:t>Arteritic</a:t>
            </a:r>
            <a:r>
              <a:rPr lang="en-US" dirty="0"/>
              <a:t> Anterior Ischemic Optic Neuropathy</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Formulation table incl. transdermal transference on reference slide R3.</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Slide 22’s planted flag collected. </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EC5AF-2320-0A49-9A11-B0E788FC1B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336D-426A-D632-E49F-73E0845BF8B0}"/>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43BD307B-137C-4461-219A-E93D8BFD814D}"/>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043D2A66-D421-DA8D-CFD8-E61508BAE920}"/>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53909912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Tie each resolution to the slide where its concept was taught.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Descriptive link text goes on the Canvas page; do not read URLs aloud.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Pairs with lecture slide 12’s drainage contrast.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emf"/><Relationship Id="rId1" Type="http://schemas.openxmlformats.org/officeDocument/2006/relationships/slideMaster" Target="../slideMasters/slideMaster4.xml"/><Relationship Id="rId4" Type="http://schemas.openxmlformats.org/officeDocument/2006/relationships/image" Target="../media/image1.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2F61DE6-776B-4F3E-75DD-1866833BEB8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3445163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B28A2D-DBCE-876E-2A61-396C90D079C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2939662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0DA479-6E06-7089-1506-F8F29929C563}"/>
              </a:ext>
            </a:extLst>
          </p:cNvPr>
          <p:cNvPicPr>
            <a:picLocks noChangeAspect="1"/>
          </p:cNvPicPr>
          <p:nvPr userDrawn="1"/>
        </p:nvPicPr>
        <p:blipFill>
          <a:blip r:embed="rId2"/>
          <a:srcRect l="202" r="989"/>
          <a:stretch/>
        </p:blipFill>
        <p:spPr>
          <a:xfrm>
            <a:off x="0" y="5073134"/>
            <a:ext cx="12192000" cy="1665695"/>
          </a:xfrm>
          <a:prstGeom prst="rect">
            <a:avLst/>
          </a:prstGeom>
        </p:spPr>
      </p:pic>
      <p:sp>
        <p:nvSpPr>
          <p:cNvPr id="6" name="TextBox 5">
            <a:extLst>
              <a:ext uri="{FF2B5EF4-FFF2-40B4-BE49-F238E27FC236}">
                <a16:creationId xmlns:a16="http://schemas.microsoft.com/office/drawing/2014/main" id="{28A6ADCA-8B4B-6E50-C436-8BE111C99587}"/>
              </a:ext>
            </a:extLst>
          </p:cNvPr>
          <p:cNvSpPr txBox="1"/>
          <p:nvPr userDrawn="1"/>
        </p:nvSpPr>
        <p:spPr>
          <a:xfrm>
            <a:off x="0" y="2532888"/>
            <a:ext cx="12179303" cy="896112"/>
          </a:xfrm>
          <a:prstGeom prst="rect">
            <a:avLst/>
          </a:prstGeom>
          <a:noFill/>
        </p:spPr>
        <p:txBody>
          <a:bodyPr wrap="square" bIns="91440" rtlCol="0" anchor="ctr" anchorCtr="0">
            <a:noAutofit/>
          </a:bodyPr>
          <a:lstStyle/>
          <a:p>
            <a:pPr algn="ctr"/>
            <a:r>
              <a:rPr lang="en-US" sz="3200" dirty="0">
                <a:latin typeface="Georgia" panose="02040502050405020303" pitchFamily="18" charset="0"/>
              </a:rPr>
              <a:t>This Is a Divider Slide. Place Title Here.</a:t>
            </a:r>
          </a:p>
        </p:txBody>
      </p:sp>
      <p:pic>
        <p:nvPicPr>
          <p:cNvPr id="3" name="Picture 2">
            <a:extLst>
              <a:ext uri="{FF2B5EF4-FFF2-40B4-BE49-F238E27FC236}">
                <a16:creationId xmlns:a16="http://schemas.microsoft.com/office/drawing/2014/main" id="{F34ACECC-37EC-4EBA-1A73-7471DB724AC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2488109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4D3326-8A61-AAAF-1463-D2719D57D0C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1" y="2"/>
            <a:ext cx="12185648" cy="6861575"/>
          </a:xfrm>
          <a:prstGeom prst="rect">
            <a:avLst/>
          </a:prstGeom>
        </p:spPr>
      </p:pic>
      <p:pic>
        <p:nvPicPr>
          <p:cNvPr id="3" name="Picture 2">
            <a:extLst>
              <a:ext uri="{FF2B5EF4-FFF2-40B4-BE49-F238E27FC236}">
                <a16:creationId xmlns:a16="http://schemas.microsoft.com/office/drawing/2014/main" id="{7A82388F-2B0D-8425-82A9-04CCDE2115D4}"/>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1666435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585770-E246-A910-5FFF-DC5CC6751245}"/>
              </a:ext>
            </a:extLst>
          </p:cNvPr>
          <p:cNvPicPr>
            <a:picLocks noChangeAspect="1"/>
          </p:cNvPicPr>
          <p:nvPr userDrawn="1"/>
        </p:nvPicPr>
        <p:blipFill>
          <a:blip r:embed="rId2"/>
          <a:srcRect l="17242" b="10101"/>
          <a:stretch/>
        </p:blipFill>
        <p:spPr>
          <a:xfrm>
            <a:off x="0" y="-591848"/>
            <a:ext cx="12192000" cy="7449848"/>
          </a:xfrm>
          <a:prstGeom prst="rect">
            <a:avLst/>
          </a:prstGeom>
        </p:spPr>
      </p:pic>
      <p:pic>
        <p:nvPicPr>
          <p:cNvPr id="2" name="Picture 1">
            <a:extLst>
              <a:ext uri="{FF2B5EF4-FFF2-40B4-BE49-F238E27FC236}">
                <a16:creationId xmlns:a16="http://schemas.microsoft.com/office/drawing/2014/main" id="{0476E761-186F-1743-5295-E2826C80742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3912777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A6D128D-122B-1A74-1236-1A6D07ED4587}"/>
              </a:ext>
            </a:extLst>
          </p:cNvPr>
          <p:cNvPicPr>
            <a:picLocks noChangeAspect="1"/>
          </p:cNvPicPr>
          <p:nvPr userDrawn="1"/>
        </p:nvPicPr>
        <p:blipFill>
          <a:blip r:embed="rId2"/>
          <a:stretch>
            <a:fillRect/>
          </a:stretch>
        </p:blipFill>
        <p:spPr>
          <a:xfrm>
            <a:off x="0" y="-7150"/>
            <a:ext cx="12192000" cy="6865150"/>
          </a:xfrm>
          <a:prstGeom prst="rect">
            <a:avLst/>
          </a:prstGeom>
        </p:spPr>
      </p:pic>
      <p:pic>
        <p:nvPicPr>
          <p:cNvPr id="3" name="Picture 2">
            <a:extLst>
              <a:ext uri="{FF2B5EF4-FFF2-40B4-BE49-F238E27FC236}">
                <a16:creationId xmlns:a16="http://schemas.microsoft.com/office/drawing/2014/main" id="{71F1DEA8-1B8C-9A80-1277-56FAF6D699AB}"/>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2624917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4CC7C1-1D21-BBF9-4E0B-B1DC840034EF}"/>
              </a:ext>
            </a:extLst>
          </p:cNvPr>
          <p:cNvPicPr>
            <a:picLocks noChangeAspect="1"/>
          </p:cNvPicPr>
          <p:nvPr userDrawn="1"/>
        </p:nvPicPr>
        <p:blipFill>
          <a:blip r:embed="rId2"/>
          <a:stretch>
            <a:fillRect/>
          </a:stretch>
        </p:blipFill>
        <p:spPr>
          <a:xfrm>
            <a:off x="2757" y="0"/>
            <a:ext cx="12189243" cy="6858000"/>
          </a:xfrm>
          <a:prstGeom prst="rect">
            <a:avLst/>
          </a:prstGeom>
        </p:spPr>
      </p:pic>
      <p:pic>
        <p:nvPicPr>
          <p:cNvPr id="2" name="Picture 1">
            <a:extLst>
              <a:ext uri="{FF2B5EF4-FFF2-40B4-BE49-F238E27FC236}">
                <a16:creationId xmlns:a16="http://schemas.microsoft.com/office/drawing/2014/main" id="{27760FDB-3AA8-7ABA-1D4D-00CF33D5D49B}"/>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760824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E80EB53-E080-3B2D-6BD0-654C37FF6F3C}"/>
              </a:ext>
            </a:extLst>
          </p:cNvPr>
          <p:cNvPicPr>
            <a:picLocks noChangeAspect="1"/>
          </p:cNvPicPr>
          <p:nvPr userDrawn="1"/>
        </p:nvPicPr>
        <p:blipFill>
          <a:blip r:embed="rId2"/>
          <a:stretch>
            <a:fillRect/>
          </a:stretch>
        </p:blipFill>
        <p:spPr>
          <a:xfrm>
            <a:off x="0" y="-3574"/>
            <a:ext cx="12192000" cy="6865149"/>
          </a:xfrm>
          <a:prstGeom prst="rect">
            <a:avLst/>
          </a:prstGeom>
        </p:spPr>
      </p:pic>
      <p:sp>
        <p:nvSpPr>
          <p:cNvPr id="3" name="TextBox 2">
            <a:extLst>
              <a:ext uri="{FF2B5EF4-FFF2-40B4-BE49-F238E27FC236}">
                <a16:creationId xmlns:a16="http://schemas.microsoft.com/office/drawing/2014/main" id="{82DFE4AA-F485-250C-5970-AD69D3353381}"/>
              </a:ext>
            </a:extLst>
          </p:cNvPr>
          <p:cNvSpPr txBox="1"/>
          <p:nvPr userDrawn="1"/>
        </p:nvSpPr>
        <p:spPr>
          <a:xfrm>
            <a:off x="0" y="2532888"/>
            <a:ext cx="12179303" cy="896112"/>
          </a:xfrm>
          <a:prstGeom prst="rect">
            <a:avLst/>
          </a:prstGeom>
          <a:noFill/>
        </p:spPr>
        <p:txBody>
          <a:bodyPr wrap="square" bIns="91440" rtlCol="0" anchor="ctr" anchorCtr="0">
            <a:noAutofit/>
          </a:bodyPr>
          <a:lstStyle/>
          <a:p>
            <a:pPr algn="ctr"/>
            <a:r>
              <a:rPr lang="en-US" sz="3200" dirty="0">
                <a:latin typeface="Georgia" panose="02040502050405020303" pitchFamily="18" charset="0"/>
              </a:rPr>
              <a:t>This Is a Divider Slide. Place Title Here.</a:t>
            </a:r>
          </a:p>
        </p:txBody>
      </p:sp>
      <p:pic>
        <p:nvPicPr>
          <p:cNvPr id="5" name="Picture 4">
            <a:extLst>
              <a:ext uri="{FF2B5EF4-FFF2-40B4-BE49-F238E27FC236}">
                <a16:creationId xmlns:a16="http://schemas.microsoft.com/office/drawing/2014/main" id="{3478ECA5-6A6A-F990-A7BE-8F7E0503F2E2}"/>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660984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4" name="Picture 3" descr="A person smiling at a patient&#10;&#10;Description automatically generated">
            <a:extLst>
              <a:ext uri="{FF2B5EF4-FFF2-40B4-BE49-F238E27FC236}">
                <a16:creationId xmlns:a16="http://schemas.microsoft.com/office/drawing/2014/main" id="{A08ADC44-3280-2869-FFA8-2CD033CF930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55554"/>
          <a:stretch/>
        </p:blipFill>
        <p:spPr>
          <a:xfrm>
            <a:off x="6349" y="0"/>
            <a:ext cx="5416043" cy="6858000"/>
          </a:xfrm>
          <a:prstGeom prst="rect">
            <a:avLst/>
          </a:prstGeom>
        </p:spPr>
      </p:pic>
      <p:pic>
        <p:nvPicPr>
          <p:cNvPr id="2" name="Picture 1">
            <a:extLst>
              <a:ext uri="{FF2B5EF4-FFF2-40B4-BE49-F238E27FC236}">
                <a16:creationId xmlns:a16="http://schemas.microsoft.com/office/drawing/2014/main" id="{6EC7EE82-A0EC-8C25-F413-9D20C99FFB14}"/>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1202400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34FB0-3770-8A07-9DF1-7ED499554EEC}"/>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15A9880-62F0-0A07-8D27-E74D0ADFF854}"/>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15F486-E551-4C35-9260-86594853E37E}"/>
              </a:ext>
            </a:extLst>
          </p:cNvPr>
          <p:cNvSpPr>
            <a:spLocks noGrp="1"/>
          </p:cNvSpPr>
          <p:nvPr>
            <p:ph type="dt" sz="half" idx="10"/>
          </p:nvPr>
        </p:nvSpPr>
        <p:spPr>
          <a:xfrm>
            <a:off x="838200" y="6356352"/>
            <a:ext cx="2743200" cy="365125"/>
          </a:xfrm>
          <a:prstGeom prst="rect">
            <a:avLst/>
          </a:prstGeom>
        </p:spPr>
        <p:txBody>
          <a:bodyPr/>
          <a:lstStyle/>
          <a:p>
            <a:fld id="{267C5DBD-0230-974E-94BA-4515998598CC}" type="datetimeFigureOut">
              <a:rPr lang="en-US" smtClean="0"/>
              <a:t>8/24/26</a:t>
            </a:fld>
            <a:endParaRPr lang="en-US"/>
          </a:p>
        </p:txBody>
      </p:sp>
      <p:sp>
        <p:nvSpPr>
          <p:cNvPr id="5" name="Footer Placeholder 4">
            <a:extLst>
              <a:ext uri="{FF2B5EF4-FFF2-40B4-BE49-F238E27FC236}">
                <a16:creationId xmlns:a16="http://schemas.microsoft.com/office/drawing/2014/main" id="{9E3A3576-0F2E-FBED-5F74-3BDD268F4F2F}"/>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132FB2E-7D75-7EDB-E49A-F55791B9B4AA}"/>
              </a:ext>
            </a:extLst>
          </p:cNvPr>
          <p:cNvSpPr>
            <a:spLocks noGrp="1"/>
          </p:cNvSpPr>
          <p:nvPr>
            <p:ph type="sldNum" sz="quarter" idx="12"/>
          </p:nvPr>
        </p:nvSpPr>
        <p:spPr>
          <a:xfrm>
            <a:off x="8610600" y="6356352"/>
            <a:ext cx="2743200" cy="365125"/>
          </a:xfrm>
          <a:prstGeom prst="rect">
            <a:avLst/>
          </a:prstGeom>
        </p:spPr>
        <p:txBody>
          <a:bodyPr/>
          <a:lstStyle/>
          <a:p>
            <a:fld id="{111D65A7-1BFC-A845-A375-2004112EC839}" type="slidenum">
              <a:rPr lang="en-US" smtClean="0"/>
              <a:t>‹#›</a:t>
            </a:fld>
            <a:endParaRPr lang="en-US"/>
          </a:p>
        </p:txBody>
      </p:sp>
    </p:spTree>
    <p:extLst>
      <p:ext uri="{BB962C8B-B14F-4D97-AF65-F5344CB8AC3E}">
        <p14:creationId xmlns:p14="http://schemas.microsoft.com/office/powerpoint/2010/main" val="2206032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FC6C6-AAF4-E93D-9A8F-899A2ADF50F6}"/>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1FF5949A-EECE-764F-1517-3319B59DFA4B}"/>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F194E8-5F49-FFDD-FD91-5470B9FE1A8B}"/>
              </a:ext>
            </a:extLst>
          </p:cNvPr>
          <p:cNvSpPr>
            <a:spLocks noGrp="1"/>
          </p:cNvSpPr>
          <p:nvPr>
            <p:ph type="dt" sz="half" idx="10"/>
          </p:nvPr>
        </p:nvSpPr>
        <p:spPr>
          <a:xfrm>
            <a:off x="838200" y="6356352"/>
            <a:ext cx="2743200" cy="365125"/>
          </a:xfrm>
          <a:prstGeom prst="rect">
            <a:avLst/>
          </a:prstGeom>
        </p:spPr>
        <p:txBody>
          <a:bodyPr/>
          <a:lstStyle/>
          <a:p>
            <a:fld id="{267C5DBD-0230-974E-94BA-4515998598CC}" type="datetimeFigureOut">
              <a:rPr lang="en-US" smtClean="0"/>
              <a:t>8/24/26</a:t>
            </a:fld>
            <a:endParaRPr lang="en-US"/>
          </a:p>
        </p:txBody>
      </p:sp>
      <p:sp>
        <p:nvSpPr>
          <p:cNvPr id="5" name="Footer Placeholder 4">
            <a:extLst>
              <a:ext uri="{FF2B5EF4-FFF2-40B4-BE49-F238E27FC236}">
                <a16:creationId xmlns:a16="http://schemas.microsoft.com/office/drawing/2014/main" id="{8AA1704D-BD9B-6ECE-109E-1F25DBAA398B}"/>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26C9F7B-58CB-F65F-0474-6C817401C5D4}"/>
              </a:ext>
            </a:extLst>
          </p:cNvPr>
          <p:cNvSpPr>
            <a:spLocks noGrp="1"/>
          </p:cNvSpPr>
          <p:nvPr>
            <p:ph type="sldNum" sz="quarter" idx="12"/>
          </p:nvPr>
        </p:nvSpPr>
        <p:spPr>
          <a:xfrm>
            <a:off x="8610600" y="6356352"/>
            <a:ext cx="2743200" cy="365125"/>
          </a:xfrm>
          <a:prstGeom prst="rect">
            <a:avLst/>
          </a:prstGeom>
        </p:spPr>
        <p:txBody>
          <a:bodyPr/>
          <a:lstStyle/>
          <a:p>
            <a:fld id="{111D65A7-1BFC-A845-A375-2004112EC839}" type="slidenum">
              <a:rPr lang="en-US" smtClean="0"/>
              <a:t>‹#›</a:t>
            </a:fld>
            <a:endParaRPr lang="en-US"/>
          </a:p>
        </p:txBody>
      </p:sp>
    </p:spTree>
    <p:extLst>
      <p:ext uri="{BB962C8B-B14F-4D97-AF65-F5344CB8AC3E}">
        <p14:creationId xmlns:p14="http://schemas.microsoft.com/office/powerpoint/2010/main" val="40093284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1E354-D577-E1D7-1986-B7F6F0DB323B}"/>
              </a:ext>
            </a:extLst>
          </p:cNvPr>
          <p:cNvSpPr>
            <a:spLocks noGrp="1"/>
          </p:cNvSpPr>
          <p:nvPr>
            <p:ph type="title"/>
          </p:nvPr>
        </p:nvSpPr>
        <p:spPr>
          <a:xfrm>
            <a:off x="831849"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C43F7D-A32A-D6A4-600A-8F99F826A049}"/>
              </a:ext>
            </a:extLst>
          </p:cNvPr>
          <p:cNvSpPr>
            <a:spLocks noGrp="1"/>
          </p:cNvSpPr>
          <p:nvPr>
            <p:ph type="body" idx="1"/>
          </p:nvPr>
        </p:nvSpPr>
        <p:spPr>
          <a:xfrm>
            <a:off x="831849" y="4589465"/>
            <a:ext cx="10515600" cy="1500187"/>
          </a:xfrm>
          <a:prstGeom prst="rect">
            <a:avLst/>
          </a:prstGeom>
        </p:spPr>
        <p:txBody>
          <a:bodyPr/>
          <a:lstStyle>
            <a:lvl1pPr marL="0" indent="0">
              <a:buNone/>
              <a:defRPr sz="2400">
                <a:solidFill>
                  <a:schemeClr val="tx1">
                    <a:tint val="82000"/>
                  </a:schemeClr>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A79A3C-3BBA-AB1A-7FB9-F4F6CF13852A}"/>
              </a:ext>
            </a:extLst>
          </p:cNvPr>
          <p:cNvSpPr>
            <a:spLocks noGrp="1"/>
          </p:cNvSpPr>
          <p:nvPr>
            <p:ph type="dt" sz="half" idx="10"/>
          </p:nvPr>
        </p:nvSpPr>
        <p:spPr>
          <a:xfrm>
            <a:off x="838200" y="6356352"/>
            <a:ext cx="2743200" cy="365125"/>
          </a:xfrm>
          <a:prstGeom prst="rect">
            <a:avLst/>
          </a:prstGeom>
        </p:spPr>
        <p:txBody>
          <a:bodyPr/>
          <a:lstStyle/>
          <a:p>
            <a:fld id="{267C5DBD-0230-974E-94BA-4515998598CC}" type="datetimeFigureOut">
              <a:rPr lang="en-US" smtClean="0"/>
              <a:t>8/24/26</a:t>
            </a:fld>
            <a:endParaRPr lang="en-US"/>
          </a:p>
        </p:txBody>
      </p:sp>
      <p:sp>
        <p:nvSpPr>
          <p:cNvPr id="5" name="Footer Placeholder 4">
            <a:extLst>
              <a:ext uri="{FF2B5EF4-FFF2-40B4-BE49-F238E27FC236}">
                <a16:creationId xmlns:a16="http://schemas.microsoft.com/office/drawing/2014/main" id="{3C4340BA-2428-E165-9A01-47880B4C0679}"/>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433FAB3-0C60-CE16-4489-07DB34C966C5}"/>
              </a:ext>
            </a:extLst>
          </p:cNvPr>
          <p:cNvSpPr>
            <a:spLocks noGrp="1"/>
          </p:cNvSpPr>
          <p:nvPr>
            <p:ph type="sldNum" sz="quarter" idx="12"/>
          </p:nvPr>
        </p:nvSpPr>
        <p:spPr>
          <a:xfrm>
            <a:off x="8610600" y="6356352"/>
            <a:ext cx="2743200" cy="365125"/>
          </a:xfrm>
          <a:prstGeom prst="rect">
            <a:avLst/>
          </a:prstGeom>
        </p:spPr>
        <p:txBody>
          <a:bodyPr/>
          <a:lstStyle/>
          <a:p>
            <a:fld id="{111D65A7-1BFC-A845-A375-2004112EC839}" type="slidenum">
              <a:rPr lang="en-US" smtClean="0"/>
              <a:t>‹#›</a:t>
            </a:fld>
            <a:endParaRPr lang="en-US"/>
          </a:p>
        </p:txBody>
      </p:sp>
    </p:spTree>
    <p:extLst>
      <p:ext uri="{BB962C8B-B14F-4D97-AF65-F5344CB8AC3E}">
        <p14:creationId xmlns:p14="http://schemas.microsoft.com/office/powerpoint/2010/main" val="550850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1A006-1BEE-97EC-8FD5-53173E14F5FE}"/>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6E192622-3529-DC17-0474-385F9429CD4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D263DB-8EC3-0DA7-4F87-437B190ADDD1}"/>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6DDF885-ED86-EE1B-DCEB-BEF3FA4E5189}"/>
              </a:ext>
            </a:extLst>
          </p:cNvPr>
          <p:cNvSpPr>
            <a:spLocks noGrp="1"/>
          </p:cNvSpPr>
          <p:nvPr>
            <p:ph type="dt" sz="half" idx="10"/>
          </p:nvPr>
        </p:nvSpPr>
        <p:spPr>
          <a:xfrm>
            <a:off x="838200" y="6356352"/>
            <a:ext cx="2743200" cy="365125"/>
          </a:xfrm>
          <a:prstGeom prst="rect">
            <a:avLst/>
          </a:prstGeom>
        </p:spPr>
        <p:txBody>
          <a:bodyPr/>
          <a:lstStyle/>
          <a:p>
            <a:fld id="{267C5DBD-0230-974E-94BA-4515998598CC}" type="datetimeFigureOut">
              <a:rPr lang="en-US" smtClean="0"/>
              <a:t>8/24/26</a:t>
            </a:fld>
            <a:endParaRPr lang="en-US"/>
          </a:p>
        </p:txBody>
      </p:sp>
      <p:sp>
        <p:nvSpPr>
          <p:cNvPr id="6" name="Footer Placeholder 5">
            <a:extLst>
              <a:ext uri="{FF2B5EF4-FFF2-40B4-BE49-F238E27FC236}">
                <a16:creationId xmlns:a16="http://schemas.microsoft.com/office/drawing/2014/main" id="{5C6D5398-E7B3-5578-B456-FC9B07811639}"/>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2C8C67B-55F6-21EF-AD55-315F5C12A3F3}"/>
              </a:ext>
            </a:extLst>
          </p:cNvPr>
          <p:cNvSpPr>
            <a:spLocks noGrp="1"/>
          </p:cNvSpPr>
          <p:nvPr>
            <p:ph type="sldNum" sz="quarter" idx="12"/>
          </p:nvPr>
        </p:nvSpPr>
        <p:spPr>
          <a:xfrm>
            <a:off x="8610600" y="6356352"/>
            <a:ext cx="2743200" cy="365125"/>
          </a:xfrm>
          <a:prstGeom prst="rect">
            <a:avLst/>
          </a:prstGeom>
        </p:spPr>
        <p:txBody>
          <a:bodyPr/>
          <a:lstStyle/>
          <a:p>
            <a:fld id="{111D65A7-1BFC-A845-A375-2004112EC839}" type="slidenum">
              <a:rPr lang="en-US" smtClean="0"/>
              <a:t>‹#›</a:t>
            </a:fld>
            <a:endParaRPr lang="en-US"/>
          </a:p>
        </p:txBody>
      </p:sp>
    </p:spTree>
    <p:extLst>
      <p:ext uri="{BB962C8B-B14F-4D97-AF65-F5344CB8AC3E}">
        <p14:creationId xmlns:p14="http://schemas.microsoft.com/office/powerpoint/2010/main" val="2449925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8C555-7477-5D05-2441-E82C9DB1C567}"/>
              </a:ext>
            </a:extLst>
          </p:cNvPr>
          <p:cNvSpPr>
            <a:spLocks noGrp="1"/>
          </p:cNvSpPr>
          <p:nvPr>
            <p:ph type="title"/>
          </p:nvPr>
        </p:nvSpPr>
        <p:spPr>
          <a:xfrm>
            <a:off x="839788" y="365126"/>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31B3A32D-AB3F-D812-9FB3-711202359A04}"/>
              </a:ext>
            </a:extLst>
          </p:cNvPr>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EFF11D-F7D0-3437-26A1-C1C2A19A7C13}"/>
              </a:ext>
            </a:extLst>
          </p:cNvPr>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BDE1D9B-758D-A8CE-A152-B8618DA37251}"/>
              </a:ext>
            </a:extLst>
          </p:cNvPr>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C8B8DD-AAFF-B812-79DB-84347D33973D}"/>
              </a:ext>
            </a:extLst>
          </p:cNvPr>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7F3C26-AF42-A1C2-33E7-E2A87842BADD}"/>
              </a:ext>
            </a:extLst>
          </p:cNvPr>
          <p:cNvSpPr>
            <a:spLocks noGrp="1"/>
          </p:cNvSpPr>
          <p:nvPr>
            <p:ph type="dt" sz="half" idx="10"/>
          </p:nvPr>
        </p:nvSpPr>
        <p:spPr>
          <a:xfrm>
            <a:off x="838200" y="6356352"/>
            <a:ext cx="2743200" cy="365125"/>
          </a:xfrm>
          <a:prstGeom prst="rect">
            <a:avLst/>
          </a:prstGeom>
        </p:spPr>
        <p:txBody>
          <a:bodyPr/>
          <a:lstStyle/>
          <a:p>
            <a:fld id="{267C5DBD-0230-974E-94BA-4515998598CC}" type="datetimeFigureOut">
              <a:rPr lang="en-US" smtClean="0"/>
              <a:t>8/24/26</a:t>
            </a:fld>
            <a:endParaRPr lang="en-US"/>
          </a:p>
        </p:txBody>
      </p:sp>
      <p:sp>
        <p:nvSpPr>
          <p:cNvPr id="8" name="Footer Placeholder 7">
            <a:extLst>
              <a:ext uri="{FF2B5EF4-FFF2-40B4-BE49-F238E27FC236}">
                <a16:creationId xmlns:a16="http://schemas.microsoft.com/office/drawing/2014/main" id="{7E1E2F16-96DA-0DD0-7E4F-E2F16C5C2ED4}"/>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E607E99-C261-FA03-2FC2-489F877F350B}"/>
              </a:ext>
            </a:extLst>
          </p:cNvPr>
          <p:cNvSpPr>
            <a:spLocks noGrp="1"/>
          </p:cNvSpPr>
          <p:nvPr>
            <p:ph type="sldNum" sz="quarter" idx="12"/>
          </p:nvPr>
        </p:nvSpPr>
        <p:spPr>
          <a:xfrm>
            <a:off x="8610600" y="6356352"/>
            <a:ext cx="2743200" cy="365125"/>
          </a:xfrm>
          <a:prstGeom prst="rect">
            <a:avLst/>
          </a:prstGeom>
        </p:spPr>
        <p:txBody>
          <a:bodyPr/>
          <a:lstStyle/>
          <a:p>
            <a:fld id="{111D65A7-1BFC-A845-A375-2004112EC839}" type="slidenum">
              <a:rPr lang="en-US" smtClean="0"/>
              <a:t>‹#›</a:t>
            </a:fld>
            <a:endParaRPr lang="en-US"/>
          </a:p>
        </p:txBody>
      </p:sp>
    </p:spTree>
    <p:extLst>
      <p:ext uri="{BB962C8B-B14F-4D97-AF65-F5344CB8AC3E}">
        <p14:creationId xmlns:p14="http://schemas.microsoft.com/office/powerpoint/2010/main" val="40089751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AF281-B8CB-486C-5BCF-A201570D8C04}"/>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B99280E8-CE15-79B8-C12D-B9337E2833D7}"/>
              </a:ext>
            </a:extLst>
          </p:cNvPr>
          <p:cNvSpPr>
            <a:spLocks noGrp="1"/>
          </p:cNvSpPr>
          <p:nvPr>
            <p:ph type="dt" sz="half" idx="10"/>
          </p:nvPr>
        </p:nvSpPr>
        <p:spPr>
          <a:xfrm>
            <a:off x="838200" y="6356352"/>
            <a:ext cx="2743200" cy="365125"/>
          </a:xfrm>
          <a:prstGeom prst="rect">
            <a:avLst/>
          </a:prstGeom>
        </p:spPr>
        <p:txBody>
          <a:bodyPr/>
          <a:lstStyle/>
          <a:p>
            <a:fld id="{267C5DBD-0230-974E-94BA-4515998598CC}" type="datetimeFigureOut">
              <a:rPr lang="en-US" smtClean="0"/>
              <a:t>8/24/26</a:t>
            </a:fld>
            <a:endParaRPr lang="en-US"/>
          </a:p>
        </p:txBody>
      </p:sp>
      <p:sp>
        <p:nvSpPr>
          <p:cNvPr id="4" name="Footer Placeholder 3">
            <a:extLst>
              <a:ext uri="{FF2B5EF4-FFF2-40B4-BE49-F238E27FC236}">
                <a16:creationId xmlns:a16="http://schemas.microsoft.com/office/drawing/2014/main" id="{029BA8CD-4AF6-7AE5-3768-1923BF33D0E3}"/>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C4F0B63D-AA50-EB64-6439-F292A27B5918}"/>
              </a:ext>
            </a:extLst>
          </p:cNvPr>
          <p:cNvSpPr>
            <a:spLocks noGrp="1"/>
          </p:cNvSpPr>
          <p:nvPr>
            <p:ph type="sldNum" sz="quarter" idx="12"/>
          </p:nvPr>
        </p:nvSpPr>
        <p:spPr>
          <a:xfrm>
            <a:off x="8610600" y="6356352"/>
            <a:ext cx="2743200" cy="365125"/>
          </a:xfrm>
          <a:prstGeom prst="rect">
            <a:avLst/>
          </a:prstGeom>
        </p:spPr>
        <p:txBody>
          <a:bodyPr/>
          <a:lstStyle/>
          <a:p>
            <a:fld id="{111D65A7-1BFC-A845-A375-2004112EC839}" type="slidenum">
              <a:rPr lang="en-US" smtClean="0"/>
              <a:t>‹#›</a:t>
            </a:fld>
            <a:endParaRPr lang="en-US"/>
          </a:p>
        </p:txBody>
      </p:sp>
    </p:spTree>
    <p:extLst>
      <p:ext uri="{BB962C8B-B14F-4D97-AF65-F5344CB8AC3E}">
        <p14:creationId xmlns:p14="http://schemas.microsoft.com/office/powerpoint/2010/main" val="9550978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9955A0-9DEF-BDA7-74EE-5DB9C9A1C0C3}"/>
              </a:ext>
            </a:extLst>
          </p:cNvPr>
          <p:cNvSpPr>
            <a:spLocks noGrp="1"/>
          </p:cNvSpPr>
          <p:nvPr>
            <p:ph type="dt" sz="half" idx="10"/>
          </p:nvPr>
        </p:nvSpPr>
        <p:spPr>
          <a:xfrm>
            <a:off x="838200" y="6356352"/>
            <a:ext cx="2743200" cy="365125"/>
          </a:xfrm>
          <a:prstGeom prst="rect">
            <a:avLst/>
          </a:prstGeom>
        </p:spPr>
        <p:txBody>
          <a:bodyPr/>
          <a:lstStyle/>
          <a:p>
            <a:fld id="{267C5DBD-0230-974E-94BA-4515998598CC}" type="datetimeFigureOut">
              <a:rPr lang="en-US" smtClean="0"/>
              <a:t>8/24/26</a:t>
            </a:fld>
            <a:endParaRPr lang="en-US"/>
          </a:p>
        </p:txBody>
      </p:sp>
      <p:sp>
        <p:nvSpPr>
          <p:cNvPr id="3" name="Footer Placeholder 2">
            <a:extLst>
              <a:ext uri="{FF2B5EF4-FFF2-40B4-BE49-F238E27FC236}">
                <a16:creationId xmlns:a16="http://schemas.microsoft.com/office/drawing/2014/main" id="{27E34080-B3F1-3BC4-A6E5-99CF20DBFA2F}"/>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49B667E6-E752-CFF8-4EEF-C12046579749}"/>
              </a:ext>
            </a:extLst>
          </p:cNvPr>
          <p:cNvSpPr>
            <a:spLocks noGrp="1"/>
          </p:cNvSpPr>
          <p:nvPr>
            <p:ph type="sldNum" sz="quarter" idx="12"/>
          </p:nvPr>
        </p:nvSpPr>
        <p:spPr>
          <a:xfrm>
            <a:off x="8610600" y="6356352"/>
            <a:ext cx="2743200" cy="365125"/>
          </a:xfrm>
          <a:prstGeom prst="rect">
            <a:avLst/>
          </a:prstGeom>
        </p:spPr>
        <p:txBody>
          <a:bodyPr/>
          <a:lstStyle/>
          <a:p>
            <a:fld id="{111D65A7-1BFC-A845-A375-2004112EC839}" type="slidenum">
              <a:rPr lang="en-US" smtClean="0"/>
              <a:t>‹#›</a:t>
            </a:fld>
            <a:endParaRPr lang="en-US"/>
          </a:p>
        </p:txBody>
      </p:sp>
    </p:spTree>
    <p:extLst>
      <p:ext uri="{BB962C8B-B14F-4D97-AF65-F5344CB8AC3E}">
        <p14:creationId xmlns:p14="http://schemas.microsoft.com/office/powerpoint/2010/main" val="21358896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42DFE-453E-F399-A463-918379CCED0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34419D7-20E9-6E9C-2C3C-65FAABB8D688}"/>
              </a:ext>
            </a:extLst>
          </p:cNvPr>
          <p:cNvSpPr>
            <a:spLocks noGrp="1"/>
          </p:cNvSpPr>
          <p:nvPr>
            <p:ph idx="1"/>
          </p:nvPr>
        </p:nvSpPr>
        <p:spPr>
          <a:xfrm>
            <a:off x="5183188"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FB225B-1A44-D202-5888-96CA824179F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328DCC-41A4-30A6-69E0-F5AC9B8E2D98}"/>
              </a:ext>
            </a:extLst>
          </p:cNvPr>
          <p:cNvSpPr>
            <a:spLocks noGrp="1"/>
          </p:cNvSpPr>
          <p:nvPr>
            <p:ph type="dt" sz="half" idx="10"/>
          </p:nvPr>
        </p:nvSpPr>
        <p:spPr>
          <a:xfrm>
            <a:off x="838200" y="6356352"/>
            <a:ext cx="2743200" cy="365125"/>
          </a:xfrm>
          <a:prstGeom prst="rect">
            <a:avLst/>
          </a:prstGeom>
        </p:spPr>
        <p:txBody>
          <a:bodyPr/>
          <a:lstStyle/>
          <a:p>
            <a:fld id="{267C5DBD-0230-974E-94BA-4515998598CC}" type="datetimeFigureOut">
              <a:rPr lang="en-US" smtClean="0"/>
              <a:t>8/24/26</a:t>
            </a:fld>
            <a:endParaRPr lang="en-US"/>
          </a:p>
        </p:txBody>
      </p:sp>
      <p:sp>
        <p:nvSpPr>
          <p:cNvPr id="6" name="Footer Placeholder 5">
            <a:extLst>
              <a:ext uri="{FF2B5EF4-FFF2-40B4-BE49-F238E27FC236}">
                <a16:creationId xmlns:a16="http://schemas.microsoft.com/office/drawing/2014/main" id="{A79E7B45-9C6A-BE49-24CC-9D169DF0A5DF}"/>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4D00119-B33E-36CD-D1DA-99A41162B193}"/>
              </a:ext>
            </a:extLst>
          </p:cNvPr>
          <p:cNvSpPr>
            <a:spLocks noGrp="1"/>
          </p:cNvSpPr>
          <p:nvPr>
            <p:ph type="sldNum" sz="quarter" idx="12"/>
          </p:nvPr>
        </p:nvSpPr>
        <p:spPr>
          <a:xfrm>
            <a:off x="8610600" y="6356352"/>
            <a:ext cx="2743200" cy="365125"/>
          </a:xfrm>
          <a:prstGeom prst="rect">
            <a:avLst/>
          </a:prstGeom>
        </p:spPr>
        <p:txBody>
          <a:bodyPr/>
          <a:lstStyle/>
          <a:p>
            <a:fld id="{111D65A7-1BFC-A845-A375-2004112EC839}" type="slidenum">
              <a:rPr lang="en-US" smtClean="0"/>
              <a:t>‹#›</a:t>
            </a:fld>
            <a:endParaRPr lang="en-US"/>
          </a:p>
        </p:txBody>
      </p:sp>
    </p:spTree>
    <p:extLst>
      <p:ext uri="{BB962C8B-B14F-4D97-AF65-F5344CB8AC3E}">
        <p14:creationId xmlns:p14="http://schemas.microsoft.com/office/powerpoint/2010/main" val="11531870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9F2BA-4CDC-756B-3DB0-43C83B36310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F9CEE8C-2D58-7515-E14E-6CD3671D5428}"/>
              </a:ext>
            </a:extLst>
          </p:cNvPr>
          <p:cNvSpPr>
            <a:spLocks noGrp="1"/>
          </p:cNvSpPr>
          <p:nvPr>
            <p:ph type="pic" idx="1"/>
          </p:nvPr>
        </p:nvSpPr>
        <p:spPr>
          <a:xfrm>
            <a:off x="5183188" y="987426"/>
            <a:ext cx="6172200" cy="4873625"/>
          </a:xfrm>
          <a:prstGeom prst="rect">
            <a:avLst/>
          </a:prstGeo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7AC46DFB-BCCD-D348-4B12-EA86E5AA638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2F19F8-2498-3945-636D-49781EC0AA6F}"/>
              </a:ext>
            </a:extLst>
          </p:cNvPr>
          <p:cNvSpPr>
            <a:spLocks noGrp="1"/>
          </p:cNvSpPr>
          <p:nvPr>
            <p:ph type="dt" sz="half" idx="10"/>
          </p:nvPr>
        </p:nvSpPr>
        <p:spPr>
          <a:xfrm>
            <a:off x="838200" y="6356352"/>
            <a:ext cx="2743200" cy="365125"/>
          </a:xfrm>
          <a:prstGeom prst="rect">
            <a:avLst/>
          </a:prstGeom>
        </p:spPr>
        <p:txBody>
          <a:bodyPr/>
          <a:lstStyle/>
          <a:p>
            <a:fld id="{267C5DBD-0230-974E-94BA-4515998598CC}" type="datetimeFigureOut">
              <a:rPr lang="en-US" smtClean="0"/>
              <a:t>8/24/26</a:t>
            </a:fld>
            <a:endParaRPr lang="en-US"/>
          </a:p>
        </p:txBody>
      </p:sp>
      <p:sp>
        <p:nvSpPr>
          <p:cNvPr id="6" name="Footer Placeholder 5">
            <a:extLst>
              <a:ext uri="{FF2B5EF4-FFF2-40B4-BE49-F238E27FC236}">
                <a16:creationId xmlns:a16="http://schemas.microsoft.com/office/drawing/2014/main" id="{2E4E6D9D-724F-3EC6-8208-62E764CD0E74}"/>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21A1281-D734-04E9-75DF-FB9657DDA7AA}"/>
              </a:ext>
            </a:extLst>
          </p:cNvPr>
          <p:cNvSpPr>
            <a:spLocks noGrp="1"/>
          </p:cNvSpPr>
          <p:nvPr>
            <p:ph type="sldNum" sz="quarter" idx="12"/>
          </p:nvPr>
        </p:nvSpPr>
        <p:spPr>
          <a:xfrm>
            <a:off x="8610600" y="6356352"/>
            <a:ext cx="2743200" cy="365125"/>
          </a:xfrm>
          <a:prstGeom prst="rect">
            <a:avLst/>
          </a:prstGeom>
        </p:spPr>
        <p:txBody>
          <a:bodyPr/>
          <a:lstStyle/>
          <a:p>
            <a:fld id="{111D65A7-1BFC-A845-A375-2004112EC839}" type="slidenum">
              <a:rPr lang="en-US" smtClean="0"/>
              <a:t>‹#›</a:t>
            </a:fld>
            <a:endParaRPr lang="en-US"/>
          </a:p>
        </p:txBody>
      </p:sp>
    </p:spTree>
    <p:extLst>
      <p:ext uri="{BB962C8B-B14F-4D97-AF65-F5344CB8AC3E}">
        <p14:creationId xmlns:p14="http://schemas.microsoft.com/office/powerpoint/2010/main" val="21235499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86ABD-43F4-A417-DAC9-FD13F6FCED89}"/>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320582-DCFB-2042-25F9-BC627EE5D9DB}"/>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01A1A5-76C1-2FE0-20D9-5923B1086318}"/>
              </a:ext>
            </a:extLst>
          </p:cNvPr>
          <p:cNvSpPr>
            <a:spLocks noGrp="1"/>
          </p:cNvSpPr>
          <p:nvPr>
            <p:ph type="dt" sz="half" idx="10"/>
          </p:nvPr>
        </p:nvSpPr>
        <p:spPr>
          <a:xfrm>
            <a:off x="838200" y="6356352"/>
            <a:ext cx="2743200" cy="365125"/>
          </a:xfrm>
          <a:prstGeom prst="rect">
            <a:avLst/>
          </a:prstGeom>
        </p:spPr>
        <p:txBody>
          <a:bodyPr/>
          <a:lstStyle/>
          <a:p>
            <a:fld id="{267C5DBD-0230-974E-94BA-4515998598CC}" type="datetimeFigureOut">
              <a:rPr lang="en-US" smtClean="0"/>
              <a:t>8/24/26</a:t>
            </a:fld>
            <a:endParaRPr lang="en-US"/>
          </a:p>
        </p:txBody>
      </p:sp>
      <p:sp>
        <p:nvSpPr>
          <p:cNvPr id="5" name="Footer Placeholder 4">
            <a:extLst>
              <a:ext uri="{FF2B5EF4-FFF2-40B4-BE49-F238E27FC236}">
                <a16:creationId xmlns:a16="http://schemas.microsoft.com/office/drawing/2014/main" id="{F3B22326-85FA-5FE4-B59F-2152E392C9E4}"/>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47BEDF9-8C5F-E5D3-8CC4-B58BFAC7D894}"/>
              </a:ext>
            </a:extLst>
          </p:cNvPr>
          <p:cNvSpPr>
            <a:spLocks noGrp="1"/>
          </p:cNvSpPr>
          <p:nvPr>
            <p:ph type="sldNum" sz="quarter" idx="12"/>
          </p:nvPr>
        </p:nvSpPr>
        <p:spPr>
          <a:xfrm>
            <a:off x="8610600" y="6356352"/>
            <a:ext cx="2743200" cy="365125"/>
          </a:xfrm>
          <a:prstGeom prst="rect">
            <a:avLst/>
          </a:prstGeom>
        </p:spPr>
        <p:txBody>
          <a:bodyPr/>
          <a:lstStyle/>
          <a:p>
            <a:fld id="{111D65A7-1BFC-A845-A375-2004112EC839}" type="slidenum">
              <a:rPr lang="en-US" smtClean="0"/>
              <a:t>‹#›</a:t>
            </a:fld>
            <a:endParaRPr lang="en-US"/>
          </a:p>
        </p:txBody>
      </p:sp>
    </p:spTree>
    <p:extLst>
      <p:ext uri="{BB962C8B-B14F-4D97-AF65-F5344CB8AC3E}">
        <p14:creationId xmlns:p14="http://schemas.microsoft.com/office/powerpoint/2010/main" val="3816338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AADE49-FBC0-9383-BA5F-E7A1B21AE651}"/>
              </a:ext>
            </a:extLst>
          </p:cNvPr>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B22B7E3-D8A9-AA74-525B-7A2F6BEA2EC9}"/>
              </a:ext>
            </a:extLst>
          </p:cNvPr>
          <p:cNvSpPr>
            <a:spLocks noGrp="1"/>
          </p:cNvSpPr>
          <p:nvPr>
            <p:ph type="body" orient="vert" idx="1"/>
          </p:nvPr>
        </p:nvSpPr>
        <p:spPr>
          <a:xfrm>
            <a:off x="838201"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08E6FA-6651-6C21-7940-2D8690A9815F}"/>
              </a:ext>
            </a:extLst>
          </p:cNvPr>
          <p:cNvSpPr>
            <a:spLocks noGrp="1"/>
          </p:cNvSpPr>
          <p:nvPr>
            <p:ph type="dt" sz="half" idx="10"/>
          </p:nvPr>
        </p:nvSpPr>
        <p:spPr>
          <a:xfrm>
            <a:off x="838200" y="6356352"/>
            <a:ext cx="2743200" cy="365125"/>
          </a:xfrm>
          <a:prstGeom prst="rect">
            <a:avLst/>
          </a:prstGeom>
        </p:spPr>
        <p:txBody>
          <a:bodyPr/>
          <a:lstStyle/>
          <a:p>
            <a:fld id="{267C5DBD-0230-974E-94BA-4515998598CC}" type="datetimeFigureOut">
              <a:rPr lang="en-US" smtClean="0"/>
              <a:t>8/24/26</a:t>
            </a:fld>
            <a:endParaRPr lang="en-US"/>
          </a:p>
        </p:txBody>
      </p:sp>
      <p:sp>
        <p:nvSpPr>
          <p:cNvPr id="5" name="Footer Placeholder 4">
            <a:extLst>
              <a:ext uri="{FF2B5EF4-FFF2-40B4-BE49-F238E27FC236}">
                <a16:creationId xmlns:a16="http://schemas.microsoft.com/office/drawing/2014/main" id="{1CE9F4FE-D1F5-E232-4C37-E7801C61B92A}"/>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893034A-C863-205E-8A08-3B0A318E1451}"/>
              </a:ext>
            </a:extLst>
          </p:cNvPr>
          <p:cNvSpPr>
            <a:spLocks noGrp="1"/>
          </p:cNvSpPr>
          <p:nvPr>
            <p:ph type="sldNum" sz="quarter" idx="12"/>
          </p:nvPr>
        </p:nvSpPr>
        <p:spPr>
          <a:xfrm>
            <a:off x="8610600" y="6356352"/>
            <a:ext cx="2743200" cy="365125"/>
          </a:xfrm>
          <a:prstGeom prst="rect">
            <a:avLst/>
          </a:prstGeom>
        </p:spPr>
        <p:txBody>
          <a:bodyPr/>
          <a:lstStyle/>
          <a:p>
            <a:fld id="{111D65A7-1BFC-A845-A375-2004112EC839}" type="slidenum">
              <a:rPr lang="en-US" smtClean="0"/>
              <a:t>‹#›</a:t>
            </a:fld>
            <a:endParaRPr lang="en-US"/>
          </a:p>
        </p:txBody>
      </p:sp>
    </p:spTree>
    <p:extLst>
      <p:ext uri="{BB962C8B-B14F-4D97-AF65-F5344CB8AC3E}">
        <p14:creationId xmlns:p14="http://schemas.microsoft.com/office/powerpoint/2010/main" val="56849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91C1C-EF5C-E929-2079-2ED72B708B96}"/>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C556BB-AB14-B000-0736-D40487DE4EA3}"/>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6EB920-571D-E2B5-09A8-BC76613808A3}"/>
              </a:ext>
            </a:extLst>
          </p:cNvPr>
          <p:cNvSpPr>
            <a:spLocks noGrp="1"/>
          </p:cNvSpPr>
          <p:nvPr>
            <p:ph type="dt" sz="half" idx="10"/>
          </p:nvPr>
        </p:nvSpPr>
        <p:spPr>
          <a:xfrm>
            <a:off x="838200" y="6356352"/>
            <a:ext cx="2743200" cy="365125"/>
          </a:xfrm>
          <a:prstGeom prst="rect">
            <a:avLst/>
          </a:prstGeom>
        </p:spPr>
        <p:txBody>
          <a:bodyPr/>
          <a:lstStyle/>
          <a:p>
            <a:fld id="{39545E7F-D974-1742-AB0A-F543AC259F6C}" type="datetimeFigureOut">
              <a:rPr lang="en-US" smtClean="0"/>
              <a:t>8/24/26</a:t>
            </a:fld>
            <a:endParaRPr lang="en-US"/>
          </a:p>
        </p:txBody>
      </p:sp>
      <p:sp>
        <p:nvSpPr>
          <p:cNvPr id="5" name="Footer Placeholder 4">
            <a:extLst>
              <a:ext uri="{FF2B5EF4-FFF2-40B4-BE49-F238E27FC236}">
                <a16:creationId xmlns:a16="http://schemas.microsoft.com/office/drawing/2014/main" id="{72DD4D8D-C644-DAF0-3AFD-5FFCA190C34C}"/>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1EF509A-F71A-E253-F5A2-45A5670C21E7}"/>
              </a:ext>
            </a:extLst>
          </p:cNvPr>
          <p:cNvSpPr>
            <a:spLocks noGrp="1"/>
          </p:cNvSpPr>
          <p:nvPr>
            <p:ph type="sldNum" sz="quarter" idx="12"/>
          </p:nvPr>
        </p:nvSpPr>
        <p:spPr>
          <a:xfrm>
            <a:off x="8610600" y="6356352"/>
            <a:ext cx="2743200" cy="365125"/>
          </a:xfrm>
          <a:prstGeom prst="rect">
            <a:avLst/>
          </a:prstGeom>
        </p:spPr>
        <p:txBody>
          <a:bodyPr/>
          <a:lstStyle/>
          <a:p>
            <a:fld id="{10FF4411-20BA-7049-92AF-5DC12392A48C}" type="slidenum">
              <a:rPr lang="en-US" smtClean="0"/>
              <a:t>‹#›</a:t>
            </a:fld>
            <a:endParaRPr lang="en-US"/>
          </a:p>
        </p:txBody>
      </p:sp>
    </p:spTree>
    <p:extLst>
      <p:ext uri="{BB962C8B-B14F-4D97-AF65-F5344CB8AC3E}">
        <p14:creationId xmlns:p14="http://schemas.microsoft.com/office/powerpoint/2010/main" val="12420761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31208-22BF-D398-1F94-93CC8AA74242}"/>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589AAA24-51AD-DBC8-8CFB-D010B34A5AE4}"/>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CDA62A-76B4-764F-F4FA-EDCC3B68F4AB}"/>
              </a:ext>
            </a:extLst>
          </p:cNvPr>
          <p:cNvSpPr>
            <a:spLocks noGrp="1"/>
          </p:cNvSpPr>
          <p:nvPr>
            <p:ph type="dt" sz="half" idx="10"/>
          </p:nvPr>
        </p:nvSpPr>
        <p:spPr>
          <a:xfrm>
            <a:off x="838200" y="6356352"/>
            <a:ext cx="2743200" cy="365125"/>
          </a:xfrm>
          <a:prstGeom prst="rect">
            <a:avLst/>
          </a:prstGeom>
        </p:spPr>
        <p:txBody>
          <a:bodyPr/>
          <a:lstStyle/>
          <a:p>
            <a:fld id="{39545E7F-D974-1742-AB0A-F543AC259F6C}" type="datetimeFigureOut">
              <a:rPr lang="en-US" smtClean="0"/>
              <a:t>8/24/26</a:t>
            </a:fld>
            <a:endParaRPr lang="en-US"/>
          </a:p>
        </p:txBody>
      </p:sp>
      <p:sp>
        <p:nvSpPr>
          <p:cNvPr id="5" name="Footer Placeholder 4">
            <a:extLst>
              <a:ext uri="{FF2B5EF4-FFF2-40B4-BE49-F238E27FC236}">
                <a16:creationId xmlns:a16="http://schemas.microsoft.com/office/drawing/2014/main" id="{9AB6081D-ACD8-2BD1-9DB2-683984ACABBC}"/>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FCDD873-7022-6AF3-69CC-4765BAC99EFB}"/>
              </a:ext>
            </a:extLst>
          </p:cNvPr>
          <p:cNvSpPr>
            <a:spLocks noGrp="1"/>
          </p:cNvSpPr>
          <p:nvPr>
            <p:ph type="sldNum" sz="quarter" idx="12"/>
          </p:nvPr>
        </p:nvSpPr>
        <p:spPr>
          <a:xfrm>
            <a:off x="8610600" y="6356352"/>
            <a:ext cx="2743200" cy="365125"/>
          </a:xfrm>
          <a:prstGeom prst="rect">
            <a:avLst/>
          </a:prstGeom>
        </p:spPr>
        <p:txBody>
          <a:bodyPr/>
          <a:lstStyle/>
          <a:p>
            <a:fld id="{10FF4411-20BA-7049-92AF-5DC12392A48C}" type="slidenum">
              <a:rPr lang="en-US" smtClean="0"/>
              <a:t>‹#›</a:t>
            </a:fld>
            <a:endParaRPr lang="en-US"/>
          </a:p>
        </p:txBody>
      </p:sp>
    </p:spTree>
    <p:extLst>
      <p:ext uri="{BB962C8B-B14F-4D97-AF65-F5344CB8AC3E}">
        <p14:creationId xmlns:p14="http://schemas.microsoft.com/office/powerpoint/2010/main" val="24831909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7861E-A5A3-208A-9860-DF665B2CAD91}"/>
              </a:ext>
            </a:extLst>
          </p:cNvPr>
          <p:cNvSpPr>
            <a:spLocks noGrp="1"/>
          </p:cNvSpPr>
          <p:nvPr>
            <p:ph type="title"/>
          </p:nvPr>
        </p:nvSpPr>
        <p:spPr>
          <a:xfrm>
            <a:off x="831849"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053BA3C-90A0-2F5A-13D4-FDC4F0B9DE48}"/>
              </a:ext>
            </a:extLst>
          </p:cNvPr>
          <p:cNvSpPr>
            <a:spLocks noGrp="1"/>
          </p:cNvSpPr>
          <p:nvPr>
            <p:ph type="body" idx="1"/>
          </p:nvPr>
        </p:nvSpPr>
        <p:spPr>
          <a:xfrm>
            <a:off x="831849" y="4589465"/>
            <a:ext cx="10515600" cy="1500187"/>
          </a:xfrm>
          <a:prstGeom prst="rect">
            <a:avLst/>
          </a:prstGeom>
        </p:spPr>
        <p:txBody>
          <a:bodyPr/>
          <a:lstStyle>
            <a:lvl1pPr marL="0" indent="0">
              <a:buNone/>
              <a:defRPr sz="2400">
                <a:solidFill>
                  <a:schemeClr val="tx1">
                    <a:tint val="82000"/>
                  </a:schemeClr>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812E67-E9A3-C49E-4189-C3A9529A5566}"/>
              </a:ext>
            </a:extLst>
          </p:cNvPr>
          <p:cNvSpPr>
            <a:spLocks noGrp="1"/>
          </p:cNvSpPr>
          <p:nvPr>
            <p:ph type="dt" sz="half" idx="10"/>
          </p:nvPr>
        </p:nvSpPr>
        <p:spPr>
          <a:xfrm>
            <a:off x="838200" y="6356352"/>
            <a:ext cx="2743200" cy="365125"/>
          </a:xfrm>
          <a:prstGeom prst="rect">
            <a:avLst/>
          </a:prstGeom>
        </p:spPr>
        <p:txBody>
          <a:bodyPr/>
          <a:lstStyle/>
          <a:p>
            <a:fld id="{39545E7F-D974-1742-AB0A-F543AC259F6C}" type="datetimeFigureOut">
              <a:rPr lang="en-US" smtClean="0"/>
              <a:t>8/24/26</a:t>
            </a:fld>
            <a:endParaRPr lang="en-US"/>
          </a:p>
        </p:txBody>
      </p:sp>
      <p:sp>
        <p:nvSpPr>
          <p:cNvPr id="5" name="Footer Placeholder 4">
            <a:extLst>
              <a:ext uri="{FF2B5EF4-FFF2-40B4-BE49-F238E27FC236}">
                <a16:creationId xmlns:a16="http://schemas.microsoft.com/office/drawing/2014/main" id="{C8BCEE32-4C5A-B38F-BC4B-7C392E25DCB9}"/>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4FF40CD-0AAB-4583-E350-D6F6571C05D3}"/>
              </a:ext>
            </a:extLst>
          </p:cNvPr>
          <p:cNvSpPr>
            <a:spLocks noGrp="1"/>
          </p:cNvSpPr>
          <p:nvPr>
            <p:ph type="sldNum" sz="quarter" idx="12"/>
          </p:nvPr>
        </p:nvSpPr>
        <p:spPr>
          <a:xfrm>
            <a:off x="8610600" y="6356352"/>
            <a:ext cx="2743200" cy="365125"/>
          </a:xfrm>
          <a:prstGeom prst="rect">
            <a:avLst/>
          </a:prstGeom>
        </p:spPr>
        <p:txBody>
          <a:bodyPr/>
          <a:lstStyle/>
          <a:p>
            <a:fld id="{10FF4411-20BA-7049-92AF-5DC12392A48C}" type="slidenum">
              <a:rPr lang="en-US" smtClean="0"/>
              <a:t>‹#›</a:t>
            </a:fld>
            <a:endParaRPr lang="en-US"/>
          </a:p>
        </p:txBody>
      </p:sp>
    </p:spTree>
    <p:extLst>
      <p:ext uri="{BB962C8B-B14F-4D97-AF65-F5344CB8AC3E}">
        <p14:creationId xmlns:p14="http://schemas.microsoft.com/office/powerpoint/2010/main" val="4660662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37146-E3C7-345A-C82E-CECBDB8D6794}"/>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791B9F16-9DD8-27E8-491C-6F496A53AE13}"/>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444A7A-2996-A64E-6498-A33E12D1F63B}"/>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630C9E-B102-8E18-B53E-45841E3493DF}"/>
              </a:ext>
            </a:extLst>
          </p:cNvPr>
          <p:cNvSpPr>
            <a:spLocks noGrp="1"/>
          </p:cNvSpPr>
          <p:nvPr>
            <p:ph type="dt" sz="half" idx="10"/>
          </p:nvPr>
        </p:nvSpPr>
        <p:spPr>
          <a:xfrm>
            <a:off x="838200" y="6356352"/>
            <a:ext cx="2743200" cy="365125"/>
          </a:xfrm>
          <a:prstGeom prst="rect">
            <a:avLst/>
          </a:prstGeom>
        </p:spPr>
        <p:txBody>
          <a:bodyPr/>
          <a:lstStyle/>
          <a:p>
            <a:fld id="{39545E7F-D974-1742-AB0A-F543AC259F6C}" type="datetimeFigureOut">
              <a:rPr lang="en-US" smtClean="0"/>
              <a:t>8/24/26</a:t>
            </a:fld>
            <a:endParaRPr lang="en-US"/>
          </a:p>
        </p:txBody>
      </p:sp>
      <p:sp>
        <p:nvSpPr>
          <p:cNvPr id="6" name="Footer Placeholder 5">
            <a:extLst>
              <a:ext uri="{FF2B5EF4-FFF2-40B4-BE49-F238E27FC236}">
                <a16:creationId xmlns:a16="http://schemas.microsoft.com/office/drawing/2014/main" id="{005FC1D9-6172-3A44-1E51-AD7D4511EA13}"/>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1D67646-EA17-908C-9DBE-DBE93DACBBFD}"/>
              </a:ext>
            </a:extLst>
          </p:cNvPr>
          <p:cNvSpPr>
            <a:spLocks noGrp="1"/>
          </p:cNvSpPr>
          <p:nvPr>
            <p:ph type="sldNum" sz="quarter" idx="12"/>
          </p:nvPr>
        </p:nvSpPr>
        <p:spPr>
          <a:xfrm>
            <a:off x="8610600" y="6356352"/>
            <a:ext cx="2743200" cy="365125"/>
          </a:xfrm>
          <a:prstGeom prst="rect">
            <a:avLst/>
          </a:prstGeom>
        </p:spPr>
        <p:txBody>
          <a:bodyPr/>
          <a:lstStyle/>
          <a:p>
            <a:fld id="{10FF4411-20BA-7049-92AF-5DC12392A48C}" type="slidenum">
              <a:rPr lang="en-US" smtClean="0"/>
              <a:t>‹#›</a:t>
            </a:fld>
            <a:endParaRPr lang="en-US"/>
          </a:p>
        </p:txBody>
      </p:sp>
    </p:spTree>
    <p:extLst>
      <p:ext uri="{BB962C8B-B14F-4D97-AF65-F5344CB8AC3E}">
        <p14:creationId xmlns:p14="http://schemas.microsoft.com/office/powerpoint/2010/main" val="36289923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E281A-7475-C4AF-31B2-51E6A65DCE44}"/>
              </a:ext>
            </a:extLst>
          </p:cNvPr>
          <p:cNvSpPr>
            <a:spLocks noGrp="1"/>
          </p:cNvSpPr>
          <p:nvPr>
            <p:ph type="title"/>
          </p:nvPr>
        </p:nvSpPr>
        <p:spPr>
          <a:xfrm>
            <a:off x="839788" y="365126"/>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3B02D89-EACC-B0CB-4421-BC8F9BE1A24C}"/>
              </a:ext>
            </a:extLst>
          </p:cNvPr>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4A9076-AD0F-8C09-929E-2A896ACEF811}"/>
              </a:ext>
            </a:extLst>
          </p:cNvPr>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F631A4-A61C-1931-66A6-99DD4EB90799}"/>
              </a:ext>
            </a:extLst>
          </p:cNvPr>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50D25B-0FCE-AF78-5E67-8DCAC0930751}"/>
              </a:ext>
            </a:extLst>
          </p:cNvPr>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EDD650-00E0-7788-7613-30285599D0A4}"/>
              </a:ext>
            </a:extLst>
          </p:cNvPr>
          <p:cNvSpPr>
            <a:spLocks noGrp="1"/>
          </p:cNvSpPr>
          <p:nvPr>
            <p:ph type="dt" sz="half" idx="10"/>
          </p:nvPr>
        </p:nvSpPr>
        <p:spPr>
          <a:xfrm>
            <a:off x="838200" y="6356352"/>
            <a:ext cx="2743200" cy="365125"/>
          </a:xfrm>
          <a:prstGeom prst="rect">
            <a:avLst/>
          </a:prstGeom>
        </p:spPr>
        <p:txBody>
          <a:bodyPr/>
          <a:lstStyle/>
          <a:p>
            <a:fld id="{39545E7F-D974-1742-AB0A-F543AC259F6C}" type="datetimeFigureOut">
              <a:rPr lang="en-US" smtClean="0"/>
              <a:t>8/24/26</a:t>
            </a:fld>
            <a:endParaRPr lang="en-US"/>
          </a:p>
        </p:txBody>
      </p:sp>
      <p:sp>
        <p:nvSpPr>
          <p:cNvPr id="8" name="Footer Placeholder 7">
            <a:extLst>
              <a:ext uri="{FF2B5EF4-FFF2-40B4-BE49-F238E27FC236}">
                <a16:creationId xmlns:a16="http://schemas.microsoft.com/office/drawing/2014/main" id="{DCC690B1-E85C-0C65-0F43-7901ACBC417F}"/>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D198DA9-10E9-1A83-5EB5-F29EED29048F}"/>
              </a:ext>
            </a:extLst>
          </p:cNvPr>
          <p:cNvSpPr>
            <a:spLocks noGrp="1"/>
          </p:cNvSpPr>
          <p:nvPr>
            <p:ph type="sldNum" sz="quarter" idx="12"/>
          </p:nvPr>
        </p:nvSpPr>
        <p:spPr>
          <a:xfrm>
            <a:off x="8610600" y="6356352"/>
            <a:ext cx="2743200" cy="365125"/>
          </a:xfrm>
          <a:prstGeom prst="rect">
            <a:avLst/>
          </a:prstGeom>
        </p:spPr>
        <p:txBody>
          <a:bodyPr/>
          <a:lstStyle/>
          <a:p>
            <a:fld id="{10FF4411-20BA-7049-92AF-5DC12392A48C}" type="slidenum">
              <a:rPr lang="en-US" smtClean="0"/>
              <a:t>‹#›</a:t>
            </a:fld>
            <a:endParaRPr lang="en-US"/>
          </a:p>
        </p:txBody>
      </p:sp>
    </p:spTree>
    <p:extLst>
      <p:ext uri="{BB962C8B-B14F-4D97-AF65-F5344CB8AC3E}">
        <p14:creationId xmlns:p14="http://schemas.microsoft.com/office/powerpoint/2010/main" val="35535749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026-9E4E-6531-D5C5-4F5F4A9CF05E}"/>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7B47106C-8B5E-5E45-AC57-2960969DC0C8}"/>
              </a:ext>
            </a:extLst>
          </p:cNvPr>
          <p:cNvSpPr>
            <a:spLocks noGrp="1"/>
          </p:cNvSpPr>
          <p:nvPr>
            <p:ph type="dt" sz="half" idx="10"/>
          </p:nvPr>
        </p:nvSpPr>
        <p:spPr>
          <a:xfrm>
            <a:off x="838200" y="6356352"/>
            <a:ext cx="2743200" cy="365125"/>
          </a:xfrm>
          <a:prstGeom prst="rect">
            <a:avLst/>
          </a:prstGeom>
        </p:spPr>
        <p:txBody>
          <a:bodyPr/>
          <a:lstStyle/>
          <a:p>
            <a:fld id="{39545E7F-D974-1742-AB0A-F543AC259F6C}" type="datetimeFigureOut">
              <a:rPr lang="en-US" smtClean="0"/>
              <a:t>8/24/26</a:t>
            </a:fld>
            <a:endParaRPr lang="en-US"/>
          </a:p>
        </p:txBody>
      </p:sp>
      <p:sp>
        <p:nvSpPr>
          <p:cNvPr id="4" name="Footer Placeholder 3">
            <a:extLst>
              <a:ext uri="{FF2B5EF4-FFF2-40B4-BE49-F238E27FC236}">
                <a16:creationId xmlns:a16="http://schemas.microsoft.com/office/drawing/2014/main" id="{CC7C46DD-3CB4-22C4-3C45-8CEFAF4E7658}"/>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FCF8B99B-33FF-8558-0258-8FB9B59D52D8}"/>
              </a:ext>
            </a:extLst>
          </p:cNvPr>
          <p:cNvSpPr>
            <a:spLocks noGrp="1"/>
          </p:cNvSpPr>
          <p:nvPr>
            <p:ph type="sldNum" sz="quarter" idx="12"/>
          </p:nvPr>
        </p:nvSpPr>
        <p:spPr>
          <a:xfrm>
            <a:off x="8610600" y="6356352"/>
            <a:ext cx="2743200" cy="365125"/>
          </a:xfrm>
          <a:prstGeom prst="rect">
            <a:avLst/>
          </a:prstGeom>
        </p:spPr>
        <p:txBody>
          <a:bodyPr/>
          <a:lstStyle/>
          <a:p>
            <a:fld id="{10FF4411-20BA-7049-92AF-5DC12392A48C}" type="slidenum">
              <a:rPr lang="en-US" smtClean="0"/>
              <a:t>‹#›</a:t>
            </a:fld>
            <a:endParaRPr lang="en-US"/>
          </a:p>
        </p:txBody>
      </p:sp>
    </p:spTree>
    <p:extLst>
      <p:ext uri="{BB962C8B-B14F-4D97-AF65-F5344CB8AC3E}">
        <p14:creationId xmlns:p14="http://schemas.microsoft.com/office/powerpoint/2010/main" val="39567354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BE9DA8-E348-EB82-BD6F-9F83BD4B9C37}"/>
              </a:ext>
            </a:extLst>
          </p:cNvPr>
          <p:cNvSpPr>
            <a:spLocks noGrp="1"/>
          </p:cNvSpPr>
          <p:nvPr>
            <p:ph type="dt" sz="half" idx="10"/>
          </p:nvPr>
        </p:nvSpPr>
        <p:spPr>
          <a:xfrm>
            <a:off x="838200" y="6356352"/>
            <a:ext cx="2743200" cy="365125"/>
          </a:xfrm>
          <a:prstGeom prst="rect">
            <a:avLst/>
          </a:prstGeom>
        </p:spPr>
        <p:txBody>
          <a:bodyPr/>
          <a:lstStyle/>
          <a:p>
            <a:fld id="{39545E7F-D974-1742-AB0A-F543AC259F6C}" type="datetimeFigureOut">
              <a:rPr lang="en-US" smtClean="0"/>
              <a:t>8/24/26</a:t>
            </a:fld>
            <a:endParaRPr lang="en-US"/>
          </a:p>
        </p:txBody>
      </p:sp>
      <p:sp>
        <p:nvSpPr>
          <p:cNvPr id="3" name="Footer Placeholder 2">
            <a:extLst>
              <a:ext uri="{FF2B5EF4-FFF2-40B4-BE49-F238E27FC236}">
                <a16:creationId xmlns:a16="http://schemas.microsoft.com/office/drawing/2014/main" id="{EF5814A9-209B-9E22-78FD-AD993354FB0B}"/>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45B24DDB-35DB-7BDC-23DB-22B9638370A2}"/>
              </a:ext>
            </a:extLst>
          </p:cNvPr>
          <p:cNvSpPr>
            <a:spLocks noGrp="1"/>
          </p:cNvSpPr>
          <p:nvPr>
            <p:ph type="sldNum" sz="quarter" idx="12"/>
          </p:nvPr>
        </p:nvSpPr>
        <p:spPr>
          <a:xfrm>
            <a:off x="8610600" y="6356352"/>
            <a:ext cx="2743200" cy="365125"/>
          </a:xfrm>
          <a:prstGeom prst="rect">
            <a:avLst/>
          </a:prstGeom>
        </p:spPr>
        <p:txBody>
          <a:bodyPr/>
          <a:lstStyle/>
          <a:p>
            <a:fld id="{10FF4411-20BA-7049-92AF-5DC12392A48C}" type="slidenum">
              <a:rPr lang="en-US" smtClean="0"/>
              <a:t>‹#›</a:t>
            </a:fld>
            <a:endParaRPr lang="en-US"/>
          </a:p>
        </p:txBody>
      </p:sp>
    </p:spTree>
    <p:extLst>
      <p:ext uri="{BB962C8B-B14F-4D97-AF65-F5344CB8AC3E}">
        <p14:creationId xmlns:p14="http://schemas.microsoft.com/office/powerpoint/2010/main" val="10002098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0ED44-5D75-DA98-5312-BB380F67AA9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A452D9-60DD-FBA1-A3F3-82ADE5CAFB18}"/>
              </a:ext>
            </a:extLst>
          </p:cNvPr>
          <p:cNvSpPr>
            <a:spLocks noGrp="1"/>
          </p:cNvSpPr>
          <p:nvPr>
            <p:ph idx="1"/>
          </p:nvPr>
        </p:nvSpPr>
        <p:spPr>
          <a:xfrm>
            <a:off x="5183188"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652E95-7489-6FD3-9BF7-1D331A3D447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6D2DCA-DE46-F9E4-3EAB-8718AD215BEA}"/>
              </a:ext>
            </a:extLst>
          </p:cNvPr>
          <p:cNvSpPr>
            <a:spLocks noGrp="1"/>
          </p:cNvSpPr>
          <p:nvPr>
            <p:ph type="dt" sz="half" idx="10"/>
          </p:nvPr>
        </p:nvSpPr>
        <p:spPr>
          <a:xfrm>
            <a:off x="838200" y="6356352"/>
            <a:ext cx="2743200" cy="365125"/>
          </a:xfrm>
          <a:prstGeom prst="rect">
            <a:avLst/>
          </a:prstGeom>
        </p:spPr>
        <p:txBody>
          <a:bodyPr/>
          <a:lstStyle/>
          <a:p>
            <a:fld id="{39545E7F-D974-1742-AB0A-F543AC259F6C}" type="datetimeFigureOut">
              <a:rPr lang="en-US" smtClean="0"/>
              <a:t>8/24/26</a:t>
            </a:fld>
            <a:endParaRPr lang="en-US"/>
          </a:p>
        </p:txBody>
      </p:sp>
      <p:sp>
        <p:nvSpPr>
          <p:cNvPr id="6" name="Footer Placeholder 5">
            <a:extLst>
              <a:ext uri="{FF2B5EF4-FFF2-40B4-BE49-F238E27FC236}">
                <a16:creationId xmlns:a16="http://schemas.microsoft.com/office/drawing/2014/main" id="{32AC1A53-882E-72DF-185A-78F0C826C10C}"/>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AFA230B-41DA-C9DE-A7D0-0558D5014B16}"/>
              </a:ext>
            </a:extLst>
          </p:cNvPr>
          <p:cNvSpPr>
            <a:spLocks noGrp="1"/>
          </p:cNvSpPr>
          <p:nvPr>
            <p:ph type="sldNum" sz="quarter" idx="12"/>
          </p:nvPr>
        </p:nvSpPr>
        <p:spPr>
          <a:xfrm>
            <a:off x="8610600" y="6356352"/>
            <a:ext cx="2743200" cy="365125"/>
          </a:xfrm>
          <a:prstGeom prst="rect">
            <a:avLst/>
          </a:prstGeom>
        </p:spPr>
        <p:txBody>
          <a:bodyPr/>
          <a:lstStyle/>
          <a:p>
            <a:fld id="{10FF4411-20BA-7049-92AF-5DC12392A48C}" type="slidenum">
              <a:rPr lang="en-US" smtClean="0"/>
              <a:t>‹#›</a:t>
            </a:fld>
            <a:endParaRPr lang="en-US"/>
          </a:p>
        </p:txBody>
      </p:sp>
    </p:spTree>
    <p:extLst>
      <p:ext uri="{BB962C8B-B14F-4D97-AF65-F5344CB8AC3E}">
        <p14:creationId xmlns:p14="http://schemas.microsoft.com/office/powerpoint/2010/main" val="38557530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9E740-FB6B-44BF-BA8D-7D5102267E4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6DF92A4-4BD2-3559-4152-87AE06D8D7F3}"/>
              </a:ext>
            </a:extLst>
          </p:cNvPr>
          <p:cNvSpPr>
            <a:spLocks noGrp="1"/>
          </p:cNvSpPr>
          <p:nvPr>
            <p:ph type="pic" idx="1"/>
          </p:nvPr>
        </p:nvSpPr>
        <p:spPr>
          <a:xfrm>
            <a:off x="5183188" y="987426"/>
            <a:ext cx="6172200" cy="4873625"/>
          </a:xfrm>
          <a:prstGeom prst="rect">
            <a:avLst/>
          </a:prstGeo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9CB7D7AF-1058-1EA7-BEA1-63E1DF94131D}"/>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5F6790-2868-81DD-D15E-D95C789AA5BD}"/>
              </a:ext>
            </a:extLst>
          </p:cNvPr>
          <p:cNvSpPr>
            <a:spLocks noGrp="1"/>
          </p:cNvSpPr>
          <p:nvPr>
            <p:ph type="dt" sz="half" idx="10"/>
          </p:nvPr>
        </p:nvSpPr>
        <p:spPr>
          <a:xfrm>
            <a:off x="838200" y="6356352"/>
            <a:ext cx="2743200" cy="365125"/>
          </a:xfrm>
          <a:prstGeom prst="rect">
            <a:avLst/>
          </a:prstGeom>
        </p:spPr>
        <p:txBody>
          <a:bodyPr/>
          <a:lstStyle/>
          <a:p>
            <a:fld id="{39545E7F-D974-1742-AB0A-F543AC259F6C}" type="datetimeFigureOut">
              <a:rPr lang="en-US" smtClean="0"/>
              <a:t>8/24/26</a:t>
            </a:fld>
            <a:endParaRPr lang="en-US"/>
          </a:p>
        </p:txBody>
      </p:sp>
      <p:sp>
        <p:nvSpPr>
          <p:cNvPr id="6" name="Footer Placeholder 5">
            <a:extLst>
              <a:ext uri="{FF2B5EF4-FFF2-40B4-BE49-F238E27FC236}">
                <a16:creationId xmlns:a16="http://schemas.microsoft.com/office/drawing/2014/main" id="{C25334EC-7326-4CAF-E902-C0EA44BADC5F}"/>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2CA8F4D-BE7A-797E-78E6-BBAB5C6E0F1F}"/>
              </a:ext>
            </a:extLst>
          </p:cNvPr>
          <p:cNvSpPr>
            <a:spLocks noGrp="1"/>
          </p:cNvSpPr>
          <p:nvPr>
            <p:ph type="sldNum" sz="quarter" idx="12"/>
          </p:nvPr>
        </p:nvSpPr>
        <p:spPr>
          <a:xfrm>
            <a:off x="8610600" y="6356352"/>
            <a:ext cx="2743200" cy="365125"/>
          </a:xfrm>
          <a:prstGeom prst="rect">
            <a:avLst/>
          </a:prstGeom>
        </p:spPr>
        <p:txBody>
          <a:bodyPr/>
          <a:lstStyle/>
          <a:p>
            <a:fld id="{10FF4411-20BA-7049-92AF-5DC12392A48C}" type="slidenum">
              <a:rPr lang="en-US" smtClean="0"/>
              <a:t>‹#›</a:t>
            </a:fld>
            <a:endParaRPr lang="en-US"/>
          </a:p>
        </p:txBody>
      </p:sp>
    </p:spTree>
    <p:extLst>
      <p:ext uri="{BB962C8B-B14F-4D97-AF65-F5344CB8AC3E}">
        <p14:creationId xmlns:p14="http://schemas.microsoft.com/office/powerpoint/2010/main" val="20069098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83D9B-DD4C-D138-145A-27CE92382889}"/>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D1B9753-7521-8264-7A3B-11FB80AF0BFA}"/>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C0D8E9-495C-06EF-1D8C-ED799FBF30E4}"/>
              </a:ext>
            </a:extLst>
          </p:cNvPr>
          <p:cNvSpPr>
            <a:spLocks noGrp="1"/>
          </p:cNvSpPr>
          <p:nvPr>
            <p:ph type="dt" sz="half" idx="10"/>
          </p:nvPr>
        </p:nvSpPr>
        <p:spPr>
          <a:xfrm>
            <a:off x="838200" y="6356352"/>
            <a:ext cx="2743200" cy="365125"/>
          </a:xfrm>
          <a:prstGeom prst="rect">
            <a:avLst/>
          </a:prstGeom>
        </p:spPr>
        <p:txBody>
          <a:bodyPr/>
          <a:lstStyle/>
          <a:p>
            <a:fld id="{39545E7F-D974-1742-AB0A-F543AC259F6C}" type="datetimeFigureOut">
              <a:rPr lang="en-US" smtClean="0"/>
              <a:t>8/24/26</a:t>
            </a:fld>
            <a:endParaRPr lang="en-US"/>
          </a:p>
        </p:txBody>
      </p:sp>
      <p:sp>
        <p:nvSpPr>
          <p:cNvPr id="5" name="Footer Placeholder 4">
            <a:extLst>
              <a:ext uri="{FF2B5EF4-FFF2-40B4-BE49-F238E27FC236}">
                <a16:creationId xmlns:a16="http://schemas.microsoft.com/office/drawing/2014/main" id="{447693D2-E236-1BEB-9003-33A6B1511427}"/>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E16FCE-0BA8-47B2-865D-13E15868B9F5}"/>
              </a:ext>
            </a:extLst>
          </p:cNvPr>
          <p:cNvSpPr>
            <a:spLocks noGrp="1"/>
          </p:cNvSpPr>
          <p:nvPr>
            <p:ph type="sldNum" sz="quarter" idx="12"/>
          </p:nvPr>
        </p:nvSpPr>
        <p:spPr>
          <a:xfrm>
            <a:off x="8610600" y="6356352"/>
            <a:ext cx="2743200" cy="365125"/>
          </a:xfrm>
          <a:prstGeom prst="rect">
            <a:avLst/>
          </a:prstGeom>
        </p:spPr>
        <p:txBody>
          <a:bodyPr/>
          <a:lstStyle/>
          <a:p>
            <a:fld id="{10FF4411-20BA-7049-92AF-5DC12392A48C}" type="slidenum">
              <a:rPr lang="en-US" smtClean="0"/>
              <a:t>‹#›</a:t>
            </a:fld>
            <a:endParaRPr lang="en-US"/>
          </a:p>
        </p:txBody>
      </p:sp>
    </p:spTree>
    <p:extLst>
      <p:ext uri="{BB962C8B-B14F-4D97-AF65-F5344CB8AC3E}">
        <p14:creationId xmlns:p14="http://schemas.microsoft.com/office/powerpoint/2010/main" val="29614018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22E75A-840F-B7F3-44C1-0A2259EFA3DD}"/>
              </a:ext>
            </a:extLst>
          </p:cNvPr>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7D8B632-A461-4372-B482-55E250B8B316}"/>
              </a:ext>
            </a:extLst>
          </p:cNvPr>
          <p:cNvSpPr>
            <a:spLocks noGrp="1"/>
          </p:cNvSpPr>
          <p:nvPr>
            <p:ph type="body" orient="vert" idx="1"/>
          </p:nvPr>
        </p:nvSpPr>
        <p:spPr>
          <a:xfrm>
            <a:off x="838201"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32A0BF-187F-0C61-9C23-AA2C96E0DDA9}"/>
              </a:ext>
            </a:extLst>
          </p:cNvPr>
          <p:cNvSpPr>
            <a:spLocks noGrp="1"/>
          </p:cNvSpPr>
          <p:nvPr>
            <p:ph type="dt" sz="half" idx="10"/>
          </p:nvPr>
        </p:nvSpPr>
        <p:spPr>
          <a:xfrm>
            <a:off x="838200" y="6356352"/>
            <a:ext cx="2743200" cy="365125"/>
          </a:xfrm>
          <a:prstGeom prst="rect">
            <a:avLst/>
          </a:prstGeom>
        </p:spPr>
        <p:txBody>
          <a:bodyPr/>
          <a:lstStyle/>
          <a:p>
            <a:fld id="{39545E7F-D974-1742-AB0A-F543AC259F6C}" type="datetimeFigureOut">
              <a:rPr lang="en-US" smtClean="0"/>
              <a:t>8/24/26</a:t>
            </a:fld>
            <a:endParaRPr lang="en-US"/>
          </a:p>
        </p:txBody>
      </p:sp>
      <p:sp>
        <p:nvSpPr>
          <p:cNvPr id="5" name="Footer Placeholder 4">
            <a:extLst>
              <a:ext uri="{FF2B5EF4-FFF2-40B4-BE49-F238E27FC236}">
                <a16:creationId xmlns:a16="http://schemas.microsoft.com/office/drawing/2014/main" id="{08D19092-EBBF-E5D6-707F-2DB4809B0D21}"/>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628DA1A-2CA2-585D-FA90-5803C9B2C995}"/>
              </a:ext>
            </a:extLst>
          </p:cNvPr>
          <p:cNvSpPr>
            <a:spLocks noGrp="1"/>
          </p:cNvSpPr>
          <p:nvPr>
            <p:ph type="sldNum" sz="quarter" idx="12"/>
          </p:nvPr>
        </p:nvSpPr>
        <p:spPr>
          <a:xfrm>
            <a:off x="8610600" y="6356352"/>
            <a:ext cx="2743200" cy="365125"/>
          </a:xfrm>
          <a:prstGeom prst="rect">
            <a:avLst/>
          </a:prstGeom>
        </p:spPr>
        <p:txBody>
          <a:bodyPr/>
          <a:lstStyle/>
          <a:p>
            <a:fld id="{10FF4411-20BA-7049-92AF-5DC12392A48C}" type="slidenum">
              <a:rPr lang="en-US" smtClean="0"/>
              <a:t>‹#›</a:t>
            </a:fld>
            <a:endParaRPr lang="en-US"/>
          </a:p>
        </p:txBody>
      </p:sp>
    </p:spTree>
    <p:extLst>
      <p:ext uri="{BB962C8B-B14F-4D97-AF65-F5344CB8AC3E}">
        <p14:creationId xmlns:p14="http://schemas.microsoft.com/office/powerpoint/2010/main" val="21818848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E7D6B-B4C1-8A8C-0A22-B40333A638D5}"/>
              </a:ext>
            </a:extLst>
          </p:cNvPr>
          <p:cNvSpPr>
            <a:spLocks noGrp="1"/>
          </p:cNvSpPr>
          <p:nvPr>
            <p:ph type="title"/>
          </p:nvPr>
        </p:nvSpPr>
        <p:spPr>
          <a:xfrm>
            <a:off x="838200" y="675071"/>
            <a:ext cx="10515600" cy="385635"/>
          </a:xfrm>
        </p:spPr>
        <p:txBody>
          <a:bodyPr/>
          <a:lstStyle/>
          <a:p>
            <a:r>
              <a:rPr lang="en-US" dirty="0"/>
              <a:t>Click to edit Master title style</a:t>
            </a:r>
          </a:p>
        </p:txBody>
      </p:sp>
      <p:sp>
        <p:nvSpPr>
          <p:cNvPr id="3" name="Text Placeholder 4">
            <a:extLst>
              <a:ext uri="{FF2B5EF4-FFF2-40B4-BE49-F238E27FC236}">
                <a16:creationId xmlns:a16="http://schemas.microsoft.com/office/drawing/2014/main" id="{23C65FF7-7A51-A1EA-5C32-582DE6AD6380}"/>
              </a:ext>
            </a:extLst>
          </p:cNvPr>
          <p:cNvSpPr>
            <a:spLocks noGrp="1"/>
          </p:cNvSpPr>
          <p:nvPr>
            <p:ph type="body" sz="quarter" idx="10"/>
          </p:nvPr>
        </p:nvSpPr>
        <p:spPr>
          <a:xfrm>
            <a:off x="838200" y="1097282"/>
            <a:ext cx="8001000" cy="256030"/>
          </a:xfrm>
        </p:spPr>
        <p:txBody>
          <a:bodyPr lIns="0" anchor="ctr" anchorCtr="0">
            <a:normAutofit/>
          </a:bodyPr>
          <a:lstStyle>
            <a:lvl1pPr marL="0" indent="0">
              <a:buNone/>
              <a:defRPr sz="2000" b="0">
                <a:solidFill>
                  <a:schemeClr val="tx1">
                    <a:lumMod val="60000"/>
                    <a:lumOff val="40000"/>
                  </a:schemeClr>
                </a:solidFill>
                <a:latin typeface="Calibri Light" panose="020F0302020204030204" pitchFamily="34" charset="0"/>
              </a:defRPr>
            </a:lvl1pPr>
          </a:lstStyle>
          <a:p>
            <a:pPr lvl="0"/>
            <a:r>
              <a:rPr lang="en-US" dirty="0"/>
              <a:t>Click to edit Master text styles</a:t>
            </a:r>
          </a:p>
        </p:txBody>
      </p:sp>
      <p:sp>
        <p:nvSpPr>
          <p:cNvPr id="4" name="Rectangle 3">
            <a:extLst>
              <a:ext uri="{FF2B5EF4-FFF2-40B4-BE49-F238E27FC236}">
                <a16:creationId xmlns:a16="http://schemas.microsoft.com/office/drawing/2014/main" id="{02C7BF24-8DA5-C4D8-F5A4-4A953028A373}"/>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TextBox 5">
            <a:extLst>
              <a:ext uri="{FF2B5EF4-FFF2-40B4-BE49-F238E27FC236}">
                <a16:creationId xmlns:a16="http://schemas.microsoft.com/office/drawing/2014/main" id="{28A6ADCA-8B4B-6E50-C436-8BE111C99587}"/>
              </a:ext>
            </a:extLst>
          </p:cNvPr>
          <p:cNvSpPr txBox="1"/>
          <p:nvPr userDrawn="1"/>
        </p:nvSpPr>
        <p:spPr>
          <a:xfrm>
            <a:off x="0" y="2532888"/>
            <a:ext cx="12179303" cy="896112"/>
          </a:xfrm>
          <a:prstGeom prst="rect">
            <a:avLst/>
          </a:prstGeom>
          <a:noFill/>
        </p:spPr>
        <p:txBody>
          <a:bodyPr wrap="square" bIns="91440" rtlCol="0" anchor="ctr" anchorCtr="0">
            <a:noAutofit/>
          </a:bodyPr>
          <a:lstStyle/>
          <a:p>
            <a:pPr algn="ctr"/>
            <a:r>
              <a:rPr lang="en-US" sz="3200" dirty="0">
                <a:latin typeface="Georgia" panose="02040502050405020303" pitchFamily="18" charset="0"/>
              </a:rPr>
              <a:t>This Is a Divider Slide. Place Title Here.</a:t>
            </a:r>
          </a:p>
        </p:txBody>
      </p:sp>
      <p:pic>
        <p:nvPicPr>
          <p:cNvPr id="7" name="Picture 6">
            <a:extLst>
              <a:ext uri="{FF2B5EF4-FFF2-40B4-BE49-F238E27FC236}">
                <a16:creationId xmlns:a16="http://schemas.microsoft.com/office/drawing/2014/main" id="{BD37AF81-15DC-A3B1-037C-B1B155E2B4D9}"/>
              </a:ext>
            </a:extLst>
          </p:cNvPr>
          <p:cNvPicPr>
            <a:picLocks noChangeAspect="1"/>
          </p:cNvPicPr>
          <p:nvPr userDrawn="1"/>
        </p:nvPicPr>
        <p:blipFill>
          <a:blip r:embed="rId2"/>
          <a:stretch>
            <a:fillRect/>
          </a:stretch>
        </p:blipFill>
        <p:spPr>
          <a:xfrm>
            <a:off x="8927849" y="5935729"/>
            <a:ext cx="2719419" cy="392805"/>
          </a:xfrm>
          <a:prstGeom prst="rect">
            <a:avLst/>
          </a:prstGeom>
        </p:spPr>
      </p:pic>
      <p:pic>
        <p:nvPicPr>
          <p:cNvPr id="8" name="Picture 7">
            <a:extLst>
              <a:ext uri="{FF2B5EF4-FFF2-40B4-BE49-F238E27FC236}">
                <a16:creationId xmlns:a16="http://schemas.microsoft.com/office/drawing/2014/main" id="{88E48218-716F-E2D2-D26A-675B7BE6670E}"/>
              </a:ext>
            </a:extLst>
          </p:cNvPr>
          <p:cNvPicPr>
            <a:picLocks noChangeAspect="1"/>
          </p:cNvPicPr>
          <p:nvPr userDrawn="1"/>
        </p:nvPicPr>
        <p:blipFill>
          <a:blip r:embed="rId3"/>
          <a:stretch>
            <a:fillRect/>
          </a:stretch>
        </p:blipFill>
        <p:spPr>
          <a:xfrm>
            <a:off x="0" y="4608576"/>
            <a:ext cx="12192000" cy="2228106"/>
          </a:xfrm>
          <a:prstGeom prst="rect">
            <a:avLst/>
          </a:prstGeom>
        </p:spPr>
      </p:pic>
      <p:pic>
        <p:nvPicPr>
          <p:cNvPr id="9" name="Picture 8">
            <a:extLst>
              <a:ext uri="{FF2B5EF4-FFF2-40B4-BE49-F238E27FC236}">
                <a16:creationId xmlns:a16="http://schemas.microsoft.com/office/drawing/2014/main" id="{F53EE9DE-4854-D5AB-E5F3-0026564D2460}"/>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36419257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6ADCEC3-C326-1059-0837-1FAA6D4CEAB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2"/>
            <a:ext cx="12191999" cy="6861575"/>
          </a:xfrm>
          <a:prstGeom prst="rect">
            <a:avLst/>
          </a:prstGeom>
        </p:spPr>
      </p:pic>
      <p:pic>
        <p:nvPicPr>
          <p:cNvPr id="3" name="Picture 2">
            <a:extLst>
              <a:ext uri="{FF2B5EF4-FFF2-40B4-BE49-F238E27FC236}">
                <a16:creationId xmlns:a16="http://schemas.microsoft.com/office/drawing/2014/main" id="{D183257F-61E7-72D1-259D-426EA1B18A0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7016724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E7AEEFD-A60A-D9FB-BD13-BA6A4075EC73}"/>
              </a:ext>
            </a:extLst>
          </p:cNvPr>
          <p:cNvPicPr>
            <a:picLocks noChangeAspect="1"/>
          </p:cNvPicPr>
          <p:nvPr userDrawn="1"/>
        </p:nvPicPr>
        <p:blipFill>
          <a:blip r:embed="rId2"/>
          <a:srcRect l="17242" b="10101"/>
          <a:stretch/>
        </p:blipFill>
        <p:spPr>
          <a:xfrm>
            <a:off x="0" y="-591848"/>
            <a:ext cx="12192000" cy="7449848"/>
          </a:xfrm>
          <a:prstGeom prst="rect">
            <a:avLst/>
          </a:prstGeom>
        </p:spPr>
      </p:pic>
      <p:sp>
        <p:nvSpPr>
          <p:cNvPr id="3" name="TextBox 2">
            <a:extLst>
              <a:ext uri="{FF2B5EF4-FFF2-40B4-BE49-F238E27FC236}">
                <a16:creationId xmlns:a16="http://schemas.microsoft.com/office/drawing/2014/main" id="{82DFE4AA-F485-250C-5970-AD69D3353381}"/>
              </a:ext>
            </a:extLst>
          </p:cNvPr>
          <p:cNvSpPr txBox="1"/>
          <p:nvPr userDrawn="1"/>
        </p:nvSpPr>
        <p:spPr>
          <a:xfrm>
            <a:off x="0" y="2532888"/>
            <a:ext cx="12179303" cy="896112"/>
          </a:xfrm>
          <a:prstGeom prst="rect">
            <a:avLst/>
          </a:prstGeom>
          <a:noFill/>
        </p:spPr>
        <p:txBody>
          <a:bodyPr wrap="square" bIns="91440" rtlCol="0" anchor="ctr" anchorCtr="0">
            <a:noAutofit/>
          </a:bodyPr>
          <a:lstStyle/>
          <a:p>
            <a:pPr algn="ctr"/>
            <a:r>
              <a:rPr lang="en-US" sz="3200" dirty="0">
                <a:latin typeface="Georgia" panose="02040502050405020303" pitchFamily="18" charset="0"/>
              </a:rPr>
              <a:t>This Is a Divider Slide. Place Title Here.</a:t>
            </a:r>
          </a:p>
        </p:txBody>
      </p:sp>
      <p:pic>
        <p:nvPicPr>
          <p:cNvPr id="5" name="Picture 4">
            <a:extLst>
              <a:ext uri="{FF2B5EF4-FFF2-40B4-BE49-F238E27FC236}">
                <a16:creationId xmlns:a16="http://schemas.microsoft.com/office/drawing/2014/main" id="{E95FE1A0-F35A-EE7A-6F35-64F6D476135F}"/>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28744014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A6D128D-122B-1A74-1236-1A6D07ED4587}"/>
              </a:ext>
            </a:extLst>
          </p:cNvPr>
          <p:cNvPicPr>
            <a:picLocks noChangeAspect="1"/>
          </p:cNvPicPr>
          <p:nvPr userDrawn="1"/>
        </p:nvPicPr>
        <p:blipFill>
          <a:blip r:embed="rId2"/>
          <a:stretch>
            <a:fillRect/>
          </a:stretch>
        </p:blipFill>
        <p:spPr>
          <a:xfrm>
            <a:off x="0" y="-7150"/>
            <a:ext cx="12192000" cy="6865150"/>
          </a:xfrm>
          <a:prstGeom prst="rect">
            <a:avLst/>
          </a:prstGeom>
        </p:spPr>
      </p:pic>
      <p:pic>
        <p:nvPicPr>
          <p:cNvPr id="3" name="Picture 2">
            <a:extLst>
              <a:ext uri="{FF2B5EF4-FFF2-40B4-BE49-F238E27FC236}">
                <a16:creationId xmlns:a16="http://schemas.microsoft.com/office/drawing/2014/main" id="{87F08B88-40B9-FB54-52C5-AB149CB213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166214007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4CC7C1-1D21-BBF9-4E0B-B1DC840034EF}"/>
              </a:ext>
            </a:extLst>
          </p:cNvPr>
          <p:cNvPicPr>
            <a:picLocks noChangeAspect="1"/>
          </p:cNvPicPr>
          <p:nvPr userDrawn="1"/>
        </p:nvPicPr>
        <p:blipFill>
          <a:blip r:embed="rId2"/>
          <a:stretch>
            <a:fillRect/>
          </a:stretch>
        </p:blipFill>
        <p:spPr>
          <a:xfrm>
            <a:off x="2757" y="0"/>
            <a:ext cx="12189243" cy="6858000"/>
          </a:xfrm>
          <a:prstGeom prst="rect">
            <a:avLst/>
          </a:prstGeom>
        </p:spPr>
      </p:pic>
      <p:sp>
        <p:nvSpPr>
          <p:cNvPr id="3" name="TextBox 2">
            <a:extLst>
              <a:ext uri="{FF2B5EF4-FFF2-40B4-BE49-F238E27FC236}">
                <a16:creationId xmlns:a16="http://schemas.microsoft.com/office/drawing/2014/main" id="{82DFE4AA-F485-250C-5970-AD69D3353381}"/>
              </a:ext>
            </a:extLst>
          </p:cNvPr>
          <p:cNvSpPr txBox="1"/>
          <p:nvPr userDrawn="1"/>
        </p:nvSpPr>
        <p:spPr>
          <a:xfrm>
            <a:off x="0" y="2532888"/>
            <a:ext cx="12179303" cy="896112"/>
          </a:xfrm>
          <a:prstGeom prst="rect">
            <a:avLst/>
          </a:prstGeom>
          <a:noFill/>
        </p:spPr>
        <p:txBody>
          <a:bodyPr wrap="square" bIns="91440" rtlCol="0" anchor="ctr" anchorCtr="0">
            <a:noAutofit/>
          </a:bodyPr>
          <a:lstStyle/>
          <a:p>
            <a:pPr algn="ctr"/>
            <a:r>
              <a:rPr lang="en-US" sz="3200" dirty="0">
                <a:latin typeface="Georgia" panose="02040502050405020303" pitchFamily="18" charset="0"/>
              </a:rPr>
              <a:t>This Is a Divider Slide. Place Title Here.</a:t>
            </a:r>
          </a:p>
        </p:txBody>
      </p:sp>
      <p:pic>
        <p:nvPicPr>
          <p:cNvPr id="2" name="Picture 1">
            <a:extLst>
              <a:ext uri="{FF2B5EF4-FFF2-40B4-BE49-F238E27FC236}">
                <a16:creationId xmlns:a16="http://schemas.microsoft.com/office/drawing/2014/main" id="{E75DF96C-7FD7-979A-E275-2264AD5E21CF}"/>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30875281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E80EB53-E080-3B2D-6BD0-654C37FF6F3C}"/>
              </a:ext>
            </a:extLst>
          </p:cNvPr>
          <p:cNvPicPr>
            <a:picLocks noChangeAspect="1"/>
          </p:cNvPicPr>
          <p:nvPr userDrawn="1"/>
        </p:nvPicPr>
        <p:blipFill>
          <a:blip r:embed="rId2"/>
          <a:stretch>
            <a:fillRect/>
          </a:stretch>
        </p:blipFill>
        <p:spPr>
          <a:xfrm>
            <a:off x="0" y="-3574"/>
            <a:ext cx="12192000" cy="6865149"/>
          </a:xfrm>
          <a:prstGeom prst="rect">
            <a:avLst/>
          </a:prstGeom>
        </p:spPr>
      </p:pic>
      <p:pic>
        <p:nvPicPr>
          <p:cNvPr id="3" name="Picture 2">
            <a:extLst>
              <a:ext uri="{FF2B5EF4-FFF2-40B4-BE49-F238E27FC236}">
                <a16:creationId xmlns:a16="http://schemas.microsoft.com/office/drawing/2014/main" id="{6AE71FF6-E101-41D8-FAB4-3834DF37B2AF}"/>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6742792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7" name="Picture 6" descr="A close-up of a logo&#10;&#10;Description automatically generated">
            <a:extLst>
              <a:ext uri="{FF2B5EF4-FFF2-40B4-BE49-F238E27FC236}">
                <a16:creationId xmlns:a16="http://schemas.microsoft.com/office/drawing/2014/main" id="{41B8F790-3032-CAA4-B18C-1BB2F6C0653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350" y="0"/>
            <a:ext cx="12179303" cy="6858000"/>
          </a:xfrm>
          <a:prstGeom prst="rect">
            <a:avLst/>
          </a:prstGeom>
        </p:spPr>
      </p:pic>
    </p:spTree>
    <p:extLst>
      <p:ext uri="{BB962C8B-B14F-4D97-AF65-F5344CB8AC3E}">
        <p14:creationId xmlns:p14="http://schemas.microsoft.com/office/powerpoint/2010/main" val="15885015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94BB-98DF-62FB-C8E4-607539E91BA0}"/>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C8073DD-0FE4-7210-A2B0-3ED2BC3FB8CA}"/>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D2B112-B014-445F-CDF7-B9DC4E45224C}"/>
              </a:ext>
            </a:extLst>
          </p:cNvPr>
          <p:cNvSpPr>
            <a:spLocks noGrp="1"/>
          </p:cNvSpPr>
          <p:nvPr>
            <p:ph type="dt" sz="half" idx="10"/>
          </p:nvPr>
        </p:nvSpPr>
        <p:spPr>
          <a:xfrm>
            <a:off x="838200" y="6356352"/>
            <a:ext cx="2743200" cy="365125"/>
          </a:xfrm>
          <a:prstGeom prst="rect">
            <a:avLst/>
          </a:prstGeom>
        </p:spPr>
        <p:txBody>
          <a:bodyPr/>
          <a:lstStyle/>
          <a:p>
            <a:fld id="{5A5C42FE-8230-F14E-B0D2-FDF1717448B7}" type="datetimeFigureOut">
              <a:rPr lang="en-US" smtClean="0"/>
              <a:t>8/24/26</a:t>
            </a:fld>
            <a:endParaRPr lang="en-US"/>
          </a:p>
        </p:txBody>
      </p:sp>
      <p:sp>
        <p:nvSpPr>
          <p:cNvPr id="5" name="Footer Placeholder 4">
            <a:extLst>
              <a:ext uri="{FF2B5EF4-FFF2-40B4-BE49-F238E27FC236}">
                <a16:creationId xmlns:a16="http://schemas.microsoft.com/office/drawing/2014/main" id="{18602358-E3E4-21A7-8053-8113017D16DA}"/>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A1B6001-1F82-E4E3-61F3-0D4500151498}"/>
              </a:ext>
            </a:extLst>
          </p:cNvPr>
          <p:cNvSpPr>
            <a:spLocks noGrp="1"/>
          </p:cNvSpPr>
          <p:nvPr>
            <p:ph type="sldNum" sz="quarter" idx="12"/>
          </p:nvPr>
        </p:nvSpPr>
        <p:spPr>
          <a:xfrm>
            <a:off x="8610600" y="6356352"/>
            <a:ext cx="2743200" cy="365125"/>
          </a:xfrm>
          <a:prstGeom prst="rect">
            <a:avLst/>
          </a:prstGeom>
        </p:spPr>
        <p:txBody>
          <a:bodyPr/>
          <a:lstStyle/>
          <a:p>
            <a:fld id="{F546EF0B-4104-E148-A1DF-C393BD51A8FB}" type="slidenum">
              <a:rPr lang="en-US" smtClean="0"/>
              <a:t>‹#›</a:t>
            </a:fld>
            <a:endParaRPr lang="en-US"/>
          </a:p>
        </p:txBody>
      </p:sp>
    </p:spTree>
    <p:extLst>
      <p:ext uri="{BB962C8B-B14F-4D97-AF65-F5344CB8AC3E}">
        <p14:creationId xmlns:p14="http://schemas.microsoft.com/office/powerpoint/2010/main" val="181112289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8A266-CB8E-E263-08F8-55DD31230FC9}"/>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7091E9FE-E4AB-FF4F-C0A8-DAC35AD6CC5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E01383-939F-1D22-2A4C-3078EC6C0AE5}"/>
              </a:ext>
            </a:extLst>
          </p:cNvPr>
          <p:cNvSpPr>
            <a:spLocks noGrp="1"/>
          </p:cNvSpPr>
          <p:nvPr>
            <p:ph type="dt" sz="half" idx="10"/>
          </p:nvPr>
        </p:nvSpPr>
        <p:spPr>
          <a:xfrm>
            <a:off x="838200" y="6356352"/>
            <a:ext cx="2743200" cy="365125"/>
          </a:xfrm>
          <a:prstGeom prst="rect">
            <a:avLst/>
          </a:prstGeom>
        </p:spPr>
        <p:txBody>
          <a:bodyPr/>
          <a:lstStyle/>
          <a:p>
            <a:fld id="{5A5C42FE-8230-F14E-B0D2-FDF1717448B7}" type="datetimeFigureOut">
              <a:rPr lang="en-US" smtClean="0"/>
              <a:t>8/24/26</a:t>
            </a:fld>
            <a:endParaRPr lang="en-US"/>
          </a:p>
        </p:txBody>
      </p:sp>
      <p:sp>
        <p:nvSpPr>
          <p:cNvPr id="5" name="Footer Placeholder 4">
            <a:extLst>
              <a:ext uri="{FF2B5EF4-FFF2-40B4-BE49-F238E27FC236}">
                <a16:creationId xmlns:a16="http://schemas.microsoft.com/office/drawing/2014/main" id="{9D1FF440-6230-BF38-7438-084595D4CACE}"/>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0E15FC1-FC42-5171-1F08-0B606B2C11FE}"/>
              </a:ext>
            </a:extLst>
          </p:cNvPr>
          <p:cNvSpPr>
            <a:spLocks noGrp="1"/>
          </p:cNvSpPr>
          <p:nvPr>
            <p:ph type="sldNum" sz="quarter" idx="12"/>
          </p:nvPr>
        </p:nvSpPr>
        <p:spPr>
          <a:xfrm>
            <a:off x="8610600" y="6356352"/>
            <a:ext cx="2743200" cy="365125"/>
          </a:xfrm>
          <a:prstGeom prst="rect">
            <a:avLst/>
          </a:prstGeom>
        </p:spPr>
        <p:txBody>
          <a:bodyPr/>
          <a:lstStyle/>
          <a:p>
            <a:fld id="{F546EF0B-4104-E148-A1DF-C393BD51A8FB}" type="slidenum">
              <a:rPr lang="en-US" smtClean="0"/>
              <a:t>‹#›</a:t>
            </a:fld>
            <a:endParaRPr lang="en-US"/>
          </a:p>
        </p:txBody>
      </p:sp>
    </p:spTree>
    <p:extLst>
      <p:ext uri="{BB962C8B-B14F-4D97-AF65-F5344CB8AC3E}">
        <p14:creationId xmlns:p14="http://schemas.microsoft.com/office/powerpoint/2010/main" val="202095093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C8C34-A9E7-4BA0-2D05-8AFFC4599CF0}"/>
              </a:ext>
            </a:extLst>
          </p:cNvPr>
          <p:cNvSpPr>
            <a:spLocks noGrp="1"/>
          </p:cNvSpPr>
          <p:nvPr>
            <p:ph type="title"/>
          </p:nvPr>
        </p:nvSpPr>
        <p:spPr>
          <a:xfrm>
            <a:off x="831849"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E5D697F-9146-2CDB-9D88-7240315A4111}"/>
              </a:ext>
            </a:extLst>
          </p:cNvPr>
          <p:cNvSpPr>
            <a:spLocks noGrp="1"/>
          </p:cNvSpPr>
          <p:nvPr>
            <p:ph type="body" idx="1"/>
          </p:nvPr>
        </p:nvSpPr>
        <p:spPr>
          <a:xfrm>
            <a:off x="831849" y="4589465"/>
            <a:ext cx="10515600" cy="1500187"/>
          </a:xfrm>
          <a:prstGeom prst="rect">
            <a:avLst/>
          </a:prstGeom>
        </p:spPr>
        <p:txBody>
          <a:bodyPr/>
          <a:lstStyle>
            <a:lvl1pPr marL="0" indent="0">
              <a:buNone/>
              <a:defRPr sz="2400">
                <a:solidFill>
                  <a:schemeClr val="tx1">
                    <a:tint val="82000"/>
                  </a:schemeClr>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8E1730-1B70-3CDA-A446-444E6E952910}"/>
              </a:ext>
            </a:extLst>
          </p:cNvPr>
          <p:cNvSpPr>
            <a:spLocks noGrp="1"/>
          </p:cNvSpPr>
          <p:nvPr>
            <p:ph type="dt" sz="half" idx="10"/>
          </p:nvPr>
        </p:nvSpPr>
        <p:spPr>
          <a:xfrm>
            <a:off x="838200" y="6356352"/>
            <a:ext cx="2743200" cy="365125"/>
          </a:xfrm>
          <a:prstGeom prst="rect">
            <a:avLst/>
          </a:prstGeom>
        </p:spPr>
        <p:txBody>
          <a:bodyPr/>
          <a:lstStyle/>
          <a:p>
            <a:fld id="{5A5C42FE-8230-F14E-B0D2-FDF1717448B7}" type="datetimeFigureOut">
              <a:rPr lang="en-US" smtClean="0"/>
              <a:t>8/24/26</a:t>
            </a:fld>
            <a:endParaRPr lang="en-US"/>
          </a:p>
        </p:txBody>
      </p:sp>
      <p:sp>
        <p:nvSpPr>
          <p:cNvPr id="5" name="Footer Placeholder 4">
            <a:extLst>
              <a:ext uri="{FF2B5EF4-FFF2-40B4-BE49-F238E27FC236}">
                <a16:creationId xmlns:a16="http://schemas.microsoft.com/office/drawing/2014/main" id="{2B81287A-1B4B-714E-F0F4-D6A449080A31}"/>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4CC1C1F-E80C-493A-F2C4-92A30602C1C7}"/>
              </a:ext>
            </a:extLst>
          </p:cNvPr>
          <p:cNvSpPr>
            <a:spLocks noGrp="1"/>
          </p:cNvSpPr>
          <p:nvPr>
            <p:ph type="sldNum" sz="quarter" idx="12"/>
          </p:nvPr>
        </p:nvSpPr>
        <p:spPr>
          <a:xfrm>
            <a:off x="8610600" y="6356352"/>
            <a:ext cx="2743200" cy="365125"/>
          </a:xfrm>
          <a:prstGeom prst="rect">
            <a:avLst/>
          </a:prstGeom>
        </p:spPr>
        <p:txBody>
          <a:bodyPr/>
          <a:lstStyle/>
          <a:p>
            <a:fld id="{F546EF0B-4104-E148-A1DF-C393BD51A8FB}" type="slidenum">
              <a:rPr lang="en-US" smtClean="0"/>
              <a:t>‹#›</a:t>
            </a:fld>
            <a:endParaRPr lang="en-US"/>
          </a:p>
        </p:txBody>
      </p:sp>
    </p:spTree>
    <p:extLst>
      <p:ext uri="{BB962C8B-B14F-4D97-AF65-F5344CB8AC3E}">
        <p14:creationId xmlns:p14="http://schemas.microsoft.com/office/powerpoint/2010/main" val="35630526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D60E3-5F75-FE22-27A7-B9E0E7D05307}"/>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AAA2E8D-295F-AAED-A2B2-25D81D7E87E2}"/>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271F5F-CF92-DCD1-EDC9-83BC62A6C23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667E7E6-9A2E-9E37-A717-8C4F76446DB3}"/>
              </a:ext>
            </a:extLst>
          </p:cNvPr>
          <p:cNvSpPr>
            <a:spLocks noGrp="1"/>
          </p:cNvSpPr>
          <p:nvPr>
            <p:ph type="dt" sz="half" idx="10"/>
          </p:nvPr>
        </p:nvSpPr>
        <p:spPr>
          <a:xfrm>
            <a:off x="838200" y="6356352"/>
            <a:ext cx="2743200" cy="365125"/>
          </a:xfrm>
          <a:prstGeom prst="rect">
            <a:avLst/>
          </a:prstGeom>
        </p:spPr>
        <p:txBody>
          <a:bodyPr/>
          <a:lstStyle/>
          <a:p>
            <a:fld id="{5A5C42FE-8230-F14E-B0D2-FDF1717448B7}" type="datetimeFigureOut">
              <a:rPr lang="en-US" smtClean="0"/>
              <a:t>8/24/26</a:t>
            </a:fld>
            <a:endParaRPr lang="en-US"/>
          </a:p>
        </p:txBody>
      </p:sp>
      <p:sp>
        <p:nvSpPr>
          <p:cNvPr id="6" name="Footer Placeholder 5">
            <a:extLst>
              <a:ext uri="{FF2B5EF4-FFF2-40B4-BE49-F238E27FC236}">
                <a16:creationId xmlns:a16="http://schemas.microsoft.com/office/drawing/2014/main" id="{EE3298DF-6984-A7A7-F472-F1CEF6C97F94}"/>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4F99F55-C9FA-5C32-5B5A-D00E08C609F9}"/>
              </a:ext>
            </a:extLst>
          </p:cNvPr>
          <p:cNvSpPr>
            <a:spLocks noGrp="1"/>
          </p:cNvSpPr>
          <p:nvPr>
            <p:ph type="sldNum" sz="quarter" idx="12"/>
          </p:nvPr>
        </p:nvSpPr>
        <p:spPr>
          <a:xfrm>
            <a:off x="8610600" y="6356352"/>
            <a:ext cx="2743200" cy="365125"/>
          </a:xfrm>
          <a:prstGeom prst="rect">
            <a:avLst/>
          </a:prstGeom>
        </p:spPr>
        <p:txBody>
          <a:bodyPr/>
          <a:lstStyle/>
          <a:p>
            <a:fld id="{F546EF0B-4104-E148-A1DF-C393BD51A8FB}" type="slidenum">
              <a:rPr lang="en-US" smtClean="0"/>
              <a:t>‹#›</a:t>
            </a:fld>
            <a:endParaRPr lang="en-US"/>
          </a:p>
        </p:txBody>
      </p:sp>
    </p:spTree>
    <p:extLst>
      <p:ext uri="{BB962C8B-B14F-4D97-AF65-F5344CB8AC3E}">
        <p14:creationId xmlns:p14="http://schemas.microsoft.com/office/powerpoint/2010/main" val="26378549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6D2ED-08D8-346B-0CAA-626FE408E029}"/>
              </a:ext>
            </a:extLst>
          </p:cNvPr>
          <p:cNvSpPr>
            <a:spLocks noGrp="1"/>
          </p:cNvSpPr>
          <p:nvPr>
            <p:ph type="title"/>
          </p:nvPr>
        </p:nvSpPr>
        <p:spPr>
          <a:xfrm>
            <a:off x="839788" y="365126"/>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9AA2556-239C-5B90-1F98-09CA57B83BC9}"/>
              </a:ext>
            </a:extLst>
          </p:cNvPr>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A8F050-4DFE-3C36-BAED-66DDF0CF9A47}"/>
              </a:ext>
            </a:extLst>
          </p:cNvPr>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7D5914-130A-22C6-FF4C-0CA3079EC6C1}"/>
              </a:ext>
            </a:extLst>
          </p:cNvPr>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E7744D-51BD-A080-D639-1CF1D9223BBE}"/>
              </a:ext>
            </a:extLst>
          </p:cNvPr>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CC3A0D-F4BC-BF5E-00D7-456A78156765}"/>
              </a:ext>
            </a:extLst>
          </p:cNvPr>
          <p:cNvSpPr>
            <a:spLocks noGrp="1"/>
          </p:cNvSpPr>
          <p:nvPr>
            <p:ph type="dt" sz="half" idx="10"/>
          </p:nvPr>
        </p:nvSpPr>
        <p:spPr>
          <a:xfrm>
            <a:off x="838200" y="6356352"/>
            <a:ext cx="2743200" cy="365125"/>
          </a:xfrm>
          <a:prstGeom prst="rect">
            <a:avLst/>
          </a:prstGeom>
        </p:spPr>
        <p:txBody>
          <a:bodyPr/>
          <a:lstStyle/>
          <a:p>
            <a:fld id="{5A5C42FE-8230-F14E-B0D2-FDF1717448B7}" type="datetimeFigureOut">
              <a:rPr lang="en-US" smtClean="0"/>
              <a:t>8/24/26</a:t>
            </a:fld>
            <a:endParaRPr lang="en-US"/>
          </a:p>
        </p:txBody>
      </p:sp>
      <p:sp>
        <p:nvSpPr>
          <p:cNvPr id="8" name="Footer Placeholder 7">
            <a:extLst>
              <a:ext uri="{FF2B5EF4-FFF2-40B4-BE49-F238E27FC236}">
                <a16:creationId xmlns:a16="http://schemas.microsoft.com/office/drawing/2014/main" id="{13988177-1794-F3BF-BCCC-3919FF9E754B}"/>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8547C9B0-0F36-A61D-9912-5204920C5CF5}"/>
              </a:ext>
            </a:extLst>
          </p:cNvPr>
          <p:cNvSpPr>
            <a:spLocks noGrp="1"/>
          </p:cNvSpPr>
          <p:nvPr>
            <p:ph type="sldNum" sz="quarter" idx="12"/>
          </p:nvPr>
        </p:nvSpPr>
        <p:spPr>
          <a:xfrm>
            <a:off x="8610600" y="6356352"/>
            <a:ext cx="2743200" cy="365125"/>
          </a:xfrm>
          <a:prstGeom prst="rect">
            <a:avLst/>
          </a:prstGeom>
        </p:spPr>
        <p:txBody>
          <a:bodyPr/>
          <a:lstStyle/>
          <a:p>
            <a:fld id="{F546EF0B-4104-E148-A1DF-C393BD51A8FB}" type="slidenum">
              <a:rPr lang="en-US" smtClean="0"/>
              <a:t>‹#›</a:t>
            </a:fld>
            <a:endParaRPr lang="en-US"/>
          </a:p>
        </p:txBody>
      </p:sp>
    </p:spTree>
    <p:extLst>
      <p:ext uri="{BB962C8B-B14F-4D97-AF65-F5344CB8AC3E}">
        <p14:creationId xmlns:p14="http://schemas.microsoft.com/office/powerpoint/2010/main" val="365480858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5FCA7-1082-7FE0-886A-2902A8784DA7}"/>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AE508701-8927-35DE-E72B-D39465AC0CFA}"/>
              </a:ext>
            </a:extLst>
          </p:cNvPr>
          <p:cNvSpPr>
            <a:spLocks noGrp="1"/>
          </p:cNvSpPr>
          <p:nvPr>
            <p:ph type="dt" sz="half" idx="10"/>
          </p:nvPr>
        </p:nvSpPr>
        <p:spPr>
          <a:xfrm>
            <a:off x="838200" y="6356352"/>
            <a:ext cx="2743200" cy="365125"/>
          </a:xfrm>
          <a:prstGeom prst="rect">
            <a:avLst/>
          </a:prstGeom>
        </p:spPr>
        <p:txBody>
          <a:bodyPr/>
          <a:lstStyle/>
          <a:p>
            <a:fld id="{5A5C42FE-8230-F14E-B0D2-FDF1717448B7}" type="datetimeFigureOut">
              <a:rPr lang="en-US" smtClean="0"/>
              <a:t>8/24/26</a:t>
            </a:fld>
            <a:endParaRPr lang="en-US"/>
          </a:p>
        </p:txBody>
      </p:sp>
      <p:sp>
        <p:nvSpPr>
          <p:cNvPr id="4" name="Footer Placeholder 3">
            <a:extLst>
              <a:ext uri="{FF2B5EF4-FFF2-40B4-BE49-F238E27FC236}">
                <a16:creationId xmlns:a16="http://schemas.microsoft.com/office/drawing/2014/main" id="{20C4550A-0CB5-EE4A-A972-5C36DA38A758}"/>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9A7C6137-32AD-2BAE-1E90-CDBB1BEB23A1}"/>
              </a:ext>
            </a:extLst>
          </p:cNvPr>
          <p:cNvSpPr>
            <a:spLocks noGrp="1"/>
          </p:cNvSpPr>
          <p:nvPr>
            <p:ph type="sldNum" sz="quarter" idx="12"/>
          </p:nvPr>
        </p:nvSpPr>
        <p:spPr>
          <a:xfrm>
            <a:off x="8610600" y="6356352"/>
            <a:ext cx="2743200" cy="365125"/>
          </a:xfrm>
          <a:prstGeom prst="rect">
            <a:avLst/>
          </a:prstGeom>
        </p:spPr>
        <p:txBody>
          <a:bodyPr/>
          <a:lstStyle/>
          <a:p>
            <a:fld id="{F546EF0B-4104-E148-A1DF-C393BD51A8FB}" type="slidenum">
              <a:rPr lang="en-US" smtClean="0"/>
              <a:t>‹#›</a:t>
            </a:fld>
            <a:endParaRPr lang="en-US"/>
          </a:p>
        </p:txBody>
      </p:sp>
    </p:spTree>
    <p:extLst>
      <p:ext uri="{BB962C8B-B14F-4D97-AF65-F5344CB8AC3E}">
        <p14:creationId xmlns:p14="http://schemas.microsoft.com/office/powerpoint/2010/main" val="8665342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839039-1AD2-BC5F-9F0C-7DD638DEEAA3}"/>
              </a:ext>
            </a:extLst>
          </p:cNvPr>
          <p:cNvSpPr>
            <a:spLocks noGrp="1"/>
          </p:cNvSpPr>
          <p:nvPr>
            <p:ph type="dt" sz="half" idx="10"/>
          </p:nvPr>
        </p:nvSpPr>
        <p:spPr>
          <a:xfrm>
            <a:off x="838200" y="6356352"/>
            <a:ext cx="2743200" cy="365125"/>
          </a:xfrm>
          <a:prstGeom prst="rect">
            <a:avLst/>
          </a:prstGeom>
        </p:spPr>
        <p:txBody>
          <a:bodyPr/>
          <a:lstStyle/>
          <a:p>
            <a:fld id="{5A5C42FE-8230-F14E-B0D2-FDF1717448B7}" type="datetimeFigureOut">
              <a:rPr lang="en-US" smtClean="0"/>
              <a:t>8/24/26</a:t>
            </a:fld>
            <a:endParaRPr lang="en-US"/>
          </a:p>
        </p:txBody>
      </p:sp>
      <p:sp>
        <p:nvSpPr>
          <p:cNvPr id="3" name="Footer Placeholder 2">
            <a:extLst>
              <a:ext uri="{FF2B5EF4-FFF2-40B4-BE49-F238E27FC236}">
                <a16:creationId xmlns:a16="http://schemas.microsoft.com/office/drawing/2014/main" id="{BEC0F480-CE55-0FD9-47C7-60878FBCD68F}"/>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D21DF634-5367-69B0-B9FC-742F0C1E1EC7}"/>
              </a:ext>
            </a:extLst>
          </p:cNvPr>
          <p:cNvSpPr>
            <a:spLocks noGrp="1"/>
          </p:cNvSpPr>
          <p:nvPr>
            <p:ph type="sldNum" sz="quarter" idx="12"/>
          </p:nvPr>
        </p:nvSpPr>
        <p:spPr>
          <a:xfrm>
            <a:off x="8610600" y="6356352"/>
            <a:ext cx="2743200" cy="365125"/>
          </a:xfrm>
          <a:prstGeom prst="rect">
            <a:avLst/>
          </a:prstGeom>
        </p:spPr>
        <p:txBody>
          <a:bodyPr/>
          <a:lstStyle/>
          <a:p>
            <a:fld id="{F546EF0B-4104-E148-A1DF-C393BD51A8FB}" type="slidenum">
              <a:rPr lang="en-US" smtClean="0"/>
              <a:t>‹#›</a:t>
            </a:fld>
            <a:endParaRPr lang="en-US"/>
          </a:p>
        </p:txBody>
      </p:sp>
    </p:spTree>
    <p:extLst>
      <p:ext uri="{BB962C8B-B14F-4D97-AF65-F5344CB8AC3E}">
        <p14:creationId xmlns:p14="http://schemas.microsoft.com/office/powerpoint/2010/main" val="47341505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18F90-8689-B6A2-4B97-4E28A740922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7384960-9BA1-C960-DF58-F677306238D8}"/>
              </a:ext>
            </a:extLst>
          </p:cNvPr>
          <p:cNvSpPr>
            <a:spLocks noGrp="1"/>
          </p:cNvSpPr>
          <p:nvPr>
            <p:ph idx="1"/>
          </p:nvPr>
        </p:nvSpPr>
        <p:spPr>
          <a:xfrm>
            <a:off x="5183188"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5508364-C7E9-99B6-3345-36BA3F39F13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988114-8803-9F9A-052A-DA37B219E488}"/>
              </a:ext>
            </a:extLst>
          </p:cNvPr>
          <p:cNvSpPr>
            <a:spLocks noGrp="1"/>
          </p:cNvSpPr>
          <p:nvPr>
            <p:ph type="dt" sz="half" idx="10"/>
          </p:nvPr>
        </p:nvSpPr>
        <p:spPr>
          <a:xfrm>
            <a:off x="838200" y="6356352"/>
            <a:ext cx="2743200" cy="365125"/>
          </a:xfrm>
          <a:prstGeom prst="rect">
            <a:avLst/>
          </a:prstGeom>
        </p:spPr>
        <p:txBody>
          <a:bodyPr/>
          <a:lstStyle/>
          <a:p>
            <a:fld id="{5A5C42FE-8230-F14E-B0D2-FDF1717448B7}" type="datetimeFigureOut">
              <a:rPr lang="en-US" smtClean="0"/>
              <a:t>8/24/26</a:t>
            </a:fld>
            <a:endParaRPr lang="en-US"/>
          </a:p>
        </p:txBody>
      </p:sp>
      <p:sp>
        <p:nvSpPr>
          <p:cNvPr id="6" name="Footer Placeholder 5">
            <a:extLst>
              <a:ext uri="{FF2B5EF4-FFF2-40B4-BE49-F238E27FC236}">
                <a16:creationId xmlns:a16="http://schemas.microsoft.com/office/drawing/2014/main" id="{6FABCB7E-B543-0BB5-F04C-718ABC451F06}"/>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3CE471B-2D2E-9193-15B6-877FA9A2DC0A}"/>
              </a:ext>
            </a:extLst>
          </p:cNvPr>
          <p:cNvSpPr>
            <a:spLocks noGrp="1"/>
          </p:cNvSpPr>
          <p:nvPr>
            <p:ph type="sldNum" sz="quarter" idx="12"/>
          </p:nvPr>
        </p:nvSpPr>
        <p:spPr>
          <a:xfrm>
            <a:off x="8610600" y="6356352"/>
            <a:ext cx="2743200" cy="365125"/>
          </a:xfrm>
          <a:prstGeom prst="rect">
            <a:avLst/>
          </a:prstGeom>
        </p:spPr>
        <p:txBody>
          <a:bodyPr/>
          <a:lstStyle/>
          <a:p>
            <a:fld id="{F546EF0B-4104-E148-A1DF-C393BD51A8FB}" type="slidenum">
              <a:rPr lang="en-US" smtClean="0"/>
              <a:t>‹#›</a:t>
            </a:fld>
            <a:endParaRPr lang="en-US"/>
          </a:p>
        </p:txBody>
      </p:sp>
    </p:spTree>
    <p:extLst>
      <p:ext uri="{BB962C8B-B14F-4D97-AF65-F5344CB8AC3E}">
        <p14:creationId xmlns:p14="http://schemas.microsoft.com/office/powerpoint/2010/main" val="20667961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32D07-63A5-DD7C-5F0F-3703FC62E02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B6DE62-5696-FF64-20B4-F22745120428}"/>
              </a:ext>
            </a:extLst>
          </p:cNvPr>
          <p:cNvSpPr>
            <a:spLocks noGrp="1"/>
          </p:cNvSpPr>
          <p:nvPr>
            <p:ph type="pic" idx="1"/>
          </p:nvPr>
        </p:nvSpPr>
        <p:spPr>
          <a:xfrm>
            <a:off x="5183188" y="987426"/>
            <a:ext cx="6172200" cy="4873625"/>
          </a:xfrm>
          <a:prstGeom prst="rect">
            <a:avLst/>
          </a:prstGeo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D8E0E2D1-59E2-52F5-0912-4FFD49ABB99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B0E54D-9383-C18D-103E-6CE933A69D41}"/>
              </a:ext>
            </a:extLst>
          </p:cNvPr>
          <p:cNvSpPr>
            <a:spLocks noGrp="1"/>
          </p:cNvSpPr>
          <p:nvPr>
            <p:ph type="dt" sz="half" idx="10"/>
          </p:nvPr>
        </p:nvSpPr>
        <p:spPr>
          <a:xfrm>
            <a:off x="838200" y="6356352"/>
            <a:ext cx="2743200" cy="365125"/>
          </a:xfrm>
          <a:prstGeom prst="rect">
            <a:avLst/>
          </a:prstGeom>
        </p:spPr>
        <p:txBody>
          <a:bodyPr/>
          <a:lstStyle/>
          <a:p>
            <a:fld id="{5A5C42FE-8230-F14E-B0D2-FDF1717448B7}" type="datetimeFigureOut">
              <a:rPr lang="en-US" smtClean="0"/>
              <a:t>8/24/26</a:t>
            </a:fld>
            <a:endParaRPr lang="en-US"/>
          </a:p>
        </p:txBody>
      </p:sp>
      <p:sp>
        <p:nvSpPr>
          <p:cNvPr id="6" name="Footer Placeholder 5">
            <a:extLst>
              <a:ext uri="{FF2B5EF4-FFF2-40B4-BE49-F238E27FC236}">
                <a16:creationId xmlns:a16="http://schemas.microsoft.com/office/drawing/2014/main" id="{FB4494FD-7ADD-2B59-3497-68C9F2D743DC}"/>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0261ADF-5258-5EA5-5A53-C08BADC8E668}"/>
              </a:ext>
            </a:extLst>
          </p:cNvPr>
          <p:cNvSpPr>
            <a:spLocks noGrp="1"/>
          </p:cNvSpPr>
          <p:nvPr>
            <p:ph type="sldNum" sz="quarter" idx="12"/>
          </p:nvPr>
        </p:nvSpPr>
        <p:spPr>
          <a:xfrm>
            <a:off x="8610600" y="6356352"/>
            <a:ext cx="2743200" cy="365125"/>
          </a:xfrm>
          <a:prstGeom prst="rect">
            <a:avLst/>
          </a:prstGeom>
        </p:spPr>
        <p:txBody>
          <a:bodyPr/>
          <a:lstStyle/>
          <a:p>
            <a:fld id="{F546EF0B-4104-E148-A1DF-C393BD51A8FB}" type="slidenum">
              <a:rPr lang="en-US" smtClean="0"/>
              <a:t>‹#›</a:t>
            </a:fld>
            <a:endParaRPr lang="en-US"/>
          </a:p>
        </p:txBody>
      </p:sp>
    </p:spTree>
    <p:extLst>
      <p:ext uri="{BB962C8B-B14F-4D97-AF65-F5344CB8AC3E}">
        <p14:creationId xmlns:p14="http://schemas.microsoft.com/office/powerpoint/2010/main" val="86780504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1BD69-4CE3-B678-2B4B-732858466432}"/>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B9FE5F3-647D-ECCB-37B7-F728D28729BA}"/>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3DD21D-E53A-330B-410A-5D1F8877E8B6}"/>
              </a:ext>
            </a:extLst>
          </p:cNvPr>
          <p:cNvSpPr>
            <a:spLocks noGrp="1"/>
          </p:cNvSpPr>
          <p:nvPr>
            <p:ph type="dt" sz="half" idx="10"/>
          </p:nvPr>
        </p:nvSpPr>
        <p:spPr>
          <a:xfrm>
            <a:off x="838200" y="6356352"/>
            <a:ext cx="2743200" cy="365125"/>
          </a:xfrm>
          <a:prstGeom prst="rect">
            <a:avLst/>
          </a:prstGeom>
        </p:spPr>
        <p:txBody>
          <a:bodyPr/>
          <a:lstStyle/>
          <a:p>
            <a:fld id="{5A5C42FE-8230-F14E-B0D2-FDF1717448B7}" type="datetimeFigureOut">
              <a:rPr lang="en-US" smtClean="0"/>
              <a:t>8/24/26</a:t>
            </a:fld>
            <a:endParaRPr lang="en-US"/>
          </a:p>
        </p:txBody>
      </p:sp>
      <p:sp>
        <p:nvSpPr>
          <p:cNvPr id="5" name="Footer Placeholder 4">
            <a:extLst>
              <a:ext uri="{FF2B5EF4-FFF2-40B4-BE49-F238E27FC236}">
                <a16:creationId xmlns:a16="http://schemas.microsoft.com/office/drawing/2014/main" id="{14F58042-B3FA-FC8E-35A7-8141BEFB5002}"/>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C496FB0-013C-8DD5-DCCF-28420E1BA044}"/>
              </a:ext>
            </a:extLst>
          </p:cNvPr>
          <p:cNvSpPr>
            <a:spLocks noGrp="1"/>
          </p:cNvSpPr>
          <p:nvPr>
            <p:ph type="sldNum" sz="quarter" idx="12"/>
          </p:nvPr>
        </p:nvSpPr>
        <p:spPr>
          <a:xfrm>
            <a:off x="8610600" y="6356352"/>
            <a:ext cx="2743200" cy="365125"/>
          </a:xfrm>
          <a:prstGeom prst="rect">
            <a:avLst/>
          </a:prstGeom>
        </p:spPr>
        <p:txBody>
          <a:bodyPr/>
          <a:lstStyle/>
          <a:p>
            <a:fld id="{F546EF0B-4104-E148-A1DF-C393BD51A8FB}" type="slidenum">
              <a:rPr lang="en-US" smtClean="0"/>
              <a:t>‹#›</a:t>
            </a:fld>
            <a:endParaRPr lang="en-US"/>
          </a:p>
        </p:txBody>
      </p:sp>
    </p:spTree>
    <p:extLst>
      <p:ext uri="{BB962C8B-B14F-4D97-AF65-F5344CB8AC3E}">
        <p14:creationId xmlns:p14="http://schemas.microsoft.com/office/powerpoint/2010/main" val="69032854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ED053F-5029-1A87-F1B9-28879E6A3A16}"/>
              </a:ext>
            </a:extLst>
          </p:cNvPr>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56277F-85FE-8A7B-2550-3969C74DA3DE}"/>
              </a:ext>
            </a:extLst>
          </p:cNvPr>
          <p:cNvSpPr>
            <a:spLocks noGrp="1"/>
          </p:cNvSpPr>
          <p:nvPr>
            <p:ph type="body" orient="vert" idx="1"/>
          </p:nvPr>
        </p:nvSpPr>
        <p:spPr>
          <a:xfrm>
            <a:off x="838201"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BFB107-4378-1ABD-CDB7-498418A51893}"/>
              </a:ext>
            </a:extLst>
          </p:cNvPr>
          <p:cNvSpPr>
            <a:spLocks noGrp="1"/>
          </p:cNvSpPr>
          <p:nvPr>
            <p:ph type="dt" sz="half" idx="10"/>
          </p:nvPr>
        </p:nvSpPr>
        <p:spPr>
          <a:xfrm>
            <a:off x="838200" y="6356352"/>
            <a:ext cx="2743200" cy="365125"/>
          </a:xfrm>
          <a:prstGeom prst="rect">
            <a:avLst/>
          </a:prstGeom>
        </p:spPr>
        <p:txBody>
          <a:bodyPr/>
          <a:lstStyle/>
          <a:p>
            <a:fld id="{5A5C42FE-8230-F14E-B0D2-FDF1717448B7}" type="datetimeFigureOut">
              <a:rPr lang="en-US" smtClean="0"/>
              <a:t>8/24/26</a:t>
            </a:fld>
            <a:endParaRPr lang="en-US"/>
          </a:p>
        </p:txBody>
      </p:sp>
      <p:sp>
        <p:nvSpPr>
          <p:cNvPr id="5" name="Footer Placeholder 4">
            <a:extLst>
              <a:ext uri="{FF2B5EF4-FFF2-40B4-BE49-F238E27FC236}">
                <a16:creationId xmlns:a16="http://schemas.microsoft.com/office/drawing/2014/main" id="{25155E5B-4FFF-4609-D537-C3805EEB4D27}"/>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76D5EE5-0FF6-117F-29DB-26AE61EB5161}"/>
              </a:ext>
            </a:extLst>
          </p:cNvPr>
          <p:cNvSpPr>
            <a:spLocks noGrp="1"/>
          </p:cNvSpPr>
          <p:nvPr>
            <p:ph type="sldNum" sz="quarter" idx="12"/>
          </p:nvPr>
        </p:nvSpPr>
        <p:spPr>
          <a:xfrm>
            <a:off x="8610600" y="6356352"/>
            <a:ext cx="2743200" cy="365125"/>
          </a:xfrm>
          <a:prstGeom prst="rect">
            <a:avLst/>
          </a:prstGeom>
        </p:spPr>
        <p:txBody>
          <a:bodyPr/>
          <a:lstStyle/>
          <a:p>
            <a:fld id="{F546EF0B-4104-E148-A1DF-C393BD51A8FB}" type="slidenum">
              <a:rPr lang="en-US" smtClean="0"/>
              <a:t>‹#›</a:t>
            </a:fld>
            <a:endParaRPr lang="en-US"/>
          </a:p>
        </p:txBody>
      </p:sp>
    </p:spTree>
    <p:extLst>
      <p:ext uri="{BB962C8B-B14F-4D97-AF65-F5344CB8AC3E}">
        <p14:creationId xmlns:p14="http://schemas.microsoft.com/office/powerpoint/2010/main" val="35220072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ED3FC-E5DB-28BF-27E1-3C237B717001}"/>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9711E3E-FF18-99F0-FB74-47359EF25D10}"/>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B1DA035-DD14-567D-1EC7-F14BDCC785CD}"/>
              </a:ext>
            </a:extLst>
          </p:cNvPr>
          <p:cNvSpPr>
            <a:spLocks noGrp="1"/>
          </p:cNvSpPr>
          <p:nvPr>
            <p:ph type="dt" sz="half" idx="10"/>
          </p:nvPr>
        </p:nvSpPr>
        <p:spPr>
          <a:xfrm>
            <a:off x="838200" y="6356352"/>
            <a:ext cx="2743200" cy="365125"/>
          </a:xfrm>
          <a:prstGeom prst="rect">
            <a:avLst/>
          </a:prstGeom>
        </p:spPr>
        <p:txBody>
          <a:bodyPr/>
          <a:lstStyle/>
          <a:p>
            <a:fld id="{2ABE9EEF-2DF4-824D-92CC-61660EC378D5}" type="datetimeFigureOut">
              <a:rPr lang="en-US" smtClean="0"/>
              <a:t>8/24/26</a:t>
            </a:fld>
            <a:endParaRPr lang="en-US"/>
          </a:p>
        </p:txBody>
      </p:sp>
      <p:sp>
        <p:nvSpPr>
          <p:cNvPr id="5" name="Footer Placeholder 4">
            <a:extLst>
              <a:ext uri="{FF2B5EF4-FFF2-40B4-BE49-F238E27FC236}">
                <a16:creationId xmlns:a16="http://schemas.microsoft.com/office/drawing/2014/main" id="{4DC45E0F-559C-BCD8-119F-D20B523C3CCB}"/>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974EB09-943C-0948-77E9-9F405A85884C}"/>
              </a:ext>
            </a:extLst>
          </p:cNvPr>
          <p:cNvSpPr>
            <a:spLocks noGrp="1"/>
          </p:cNvSpPr>
          <p:nvPr>
            <p:ph type="sldNum" sz="quarter" idx="12"/>
          </p:nvPr>
        </p:nvSpPr>
        <p:spPr>
          <a:xfrm>
            <a:off x="8610600" y="6356352"/>
            <a:ext cx="2743200" cy="365125"/>
          </a:xfrm>
          <a:prstGeom prst="rect">
            <a:avLst/>
          </a:prstGeom>
        </p:spPr>
        <p:txBody>
          <a:bodyPr/>
          <a:lstStyle/>
          <a:p>
            <a:fld id="{CF539348-D3E7-114D-8D62-FE63EEB8A323}" type="slidenum">
              <a:rPr lang="en-US" smtClean="0"/>
              <a:t>‹#›</a:t>
            </a:fld>
            <a:endParaRPr lang="en-US"/>
          </a:p>
        </p:txBody>
      </p:sp>
    </p:spTree>
    <p:extLst>
      <p:ext uri="{BB962C8B-B14F-4D97-AF65-F5344CB8AC3E}">
        <p14:creationId xmlns:p14="http://schemas.microsoft.com/office/powerpoint/2010/main" val="292826528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B7BEE-D607-AB9C-444A-6E7AE62B97C3}"/>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5564E05D-67FE-702B-D212-87C31587166B}"/>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521654-71B2-5FEA-57A0-C446DE04C3D4}"/>
              </a:ext>
            </a:extLst>
          </p:cNvPr>
          <p:cNvSpPr>
            <a:spLocks noGrp="1"/>
          </p:cNvSpPr>
          <p:nvPr>
            <p:ph type="dt" sz="half" idx="10"/>
          </p:nvPr>
        </p:nvSpPr>
        <p:spPr>
          <a:xfrm>
            <a:off x="838200" y="6356352"/>
            <a:ext cx="2743200" cy="365125"/>
          </a:xfrm>
          <a:prstGeom prst="rect">
            <a:avLst/>
          </a:prstGeom>
        </p:spPr>
        <p:txBody>
          <a:bodyPr/>
          <a:lstStyle/>
          <a:p>
            <a:fld id="{2ABE9EEF-2DF4-824D-92CC-61660EC378D5}" type="datetimeFigureOut">
              <a:rPr lang="en-US" smtClean="0"/>
              <a:t>8/24/26</a:t>
            </a:fld>
            <a:endParaRPr lang="en-US"/>
          </a:p>
        </p:txBody>
      </p:sp>
      <p:sp>
        <p:nvSpPr>
          <p:cNvPr id="5" name="Footer Placeholder 4">
            <a:extLst>
              <a:ext uri="{FF2B5EF4-FFF2-40B4-BE49-F238E27FC236}">
                <a16:creationId xmlns:a16="http://schemas.microsoft.com/office/drawing/2014/main" id="{E7D557BA-78EE-B003-8088-931AA9E915C3}"/>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14E536B-FC29-C10F-7034-343D127A1EAE}"/>
              </a:ext>
            </a:extLst>
          </p:cNvPr>
          <p:cNvSpPr>
            <a:spLocks noGrp="1"/>
          </p:cNvSpPr>
          <p:nvPr>
            <p:ph type="sldNum" sz="quarter" idx="12"/>
          </p:nvPr>
        </p:nvSpPr>
        <p:spPr>
          <a:xfrm>
            <a:off x="8610600" y="6356352"/>
            <a:ext cx="2743200" cy="365125"/>
          </a:xfrm>
          <a:prstGeom prst="rect">
            <a:avLst/>
          </a:prstGeom>
        </p:spPr>
        <p:txBody>
          <a:bodyPr/>
          <a:lstStyle/>
          <a:p>
            <a:fld id="{CF539348-D3E7-114D-8D62-FE63EEB8A323}" type="slidenum">
              <a:rPr lang="en-US" smtClean="0"/>
              <a:t>‹#›</a:t>
            </a:fld>
            <a:endParaRPr lang="en-US"/>
          </a:p>
        </p:txBody>
      </p:sp>
    </p:spTree>
    <p:extLst>
      <p:ext uri="{BB962C8B-B14F-4D97-AF65-F5344CB8AC3E}">
        <p14:creationId xmlns:p14="http://schemas.microsoft.com/office/powerpoint/2010/main" val="161893248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27DE-7206-C20C-B308-4FA711E41412}"/>
              </a:ext>
            </a:extLst>
          </p:cNvPr>
          <p:cNvSpPr>
            <a:spLocks noGrp="1"/>
          </p:cNvSpPr>
          <p:nvPr>
            <p:ph type="title"/>
          </p:nvPr>
        </p:nvSpPr>
        <p:spPr>
          <a:xfrm>
            <a:off x="831849"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28B8AF-B0FE-F8D6-5A5C-A4809B149779}"/>
              </a:ext>
            </a:extLst>
          </p:cNvPr>
          <p:cNvSpPr>
            <a:spLocks noGrp="1"/>
          </p:cNvSpPr>
          <p:nvPr>
            <p:ph type="body" idx="1"/>
          </p:nvPr>
        </p:nvSpPr>
        <p:spPr>
          <a:xfrm>
            <a:off x="831849" y="4589465"/>
            <a:ext cx="10515600" cy="1500187"/>
          </a:xfrm>
          <a:prstGeom prst="rect">
            <a:avLst/>
          </a:prstGeom>
        </p:spPr>
        <p:txBody>
          <a:bodyPr/>
          <a:lstStyle>
            <a:lvl1pPr marL="0" indent="0">
              <a:buNone/>
              <a:defRPr sz="2400">
                <a:solidFill>
                  <a:schemeClr val="tx1">
                    <a:tint val="82000"/>
                  </a:schemeClr>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4822A5-0E8A-DCA1-CA2C-BF78ECAF9BFD}"/>
              </a:ext>
            </a:extLst>
          </p:cNvPr>
          <p:cNvSpPr>
            <a:spLocks noGrp="1"/>
          </p:cNvSpPr>
          <p:nvPr>
            <p:ph type="dt" sz="half" idx="10"/>
          </p:nvPr>
        </p:nvSpPr>
        <p:spPr>
          <a:xfrm>
            <a:off x="838200" y="6356352"/>
            <a:ext cx="2743200" cy="365125"/>
          </a:xfrm>
          <a:prstGeom prst="rect">
            <a:avLst/>
          </a:prstGeom>
        </p:spPr>
        <p:txBody>
          <a:bodyPr/>
          <a:lstStyle/>
          <a:p>
            <a:fld id="{2ABE9EEF-2DF4-824D-92CC-61660EC378D5}" type="datetimeFigureOut">
              <a:rPr lang="en-US" smtClean="0"/>
              <a:t>8/24/26</a:t>
            </a:fld>
            <a:endParaRPr lang="en-US"/>
          </a:p>
        </p:txBody>
      </p:sp>
      <p:sp>
        <p:nvSpPr>
          <p:cNvPr id="5" name="Footer Placeholder 4">
            <a:extLst>
              <a:ext uri="{FF2B5EF4-FFF2-40B4-BE49-F238E27FC236}">
                <a16:creationId xmlns:a16="http://schemas.microsoft.com/office/drawing/2014/main" id="{DA8B5A06-FC1E-FB4A-0C02-1FF75F09BA52}"/>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A08A274-50BB-6739-31CF-CC21F5EF689E}"/>
              </a:ext>
            </a:extLst>
          </p:cNvPr>
          <p:cNvSpPr>
            <a:spLocks noGrp="1"/>
          </p:cNvSpPr>
          <p:nvPr>
            <p:ph type="sldNum" sz="quarter" idx="12"/>
          </p:nvPr>
        </p:nvSpPr>
        <p:spPr>
          <a:xfrm>
            <a:off x="8610600" y="6356352"/>
            <a:ext cx="2743200" cy="365125"/>
          </a:xfrm>
          <a:prstGeom prst="rect">
            <a:avLst/>
          </a:prstGeom>
        </p:spPr>
        <p:txBody>
          <a:bodyPr/>
          <a:lstStyle/>
          <a:p>
            <a:fld id="{CF539348-D3E7-114D-8D62-FE63EEB8A323}" type="slidenum">
              <a:rPr lang="en-US" smtClean="0"/>
              <a:t>‹#›</a:t>
            </a:fld>
            <a:endParaRPr lang="en-US"/>
          </a:p>
        </p:txBody>
      </p:sp>
    </p:spTree>
    <p:extLst>
      <p:ext uri="{BB962C8B-B14F-4D97-AF65-F5344CB8AC3E}">
        <p14:creationId xmlns:p14="http://schemas.microsoft.com/office/powerpoint/2010/main" val="217963187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91489-F69E-FD12-9018-A9D12039B3B4}"/>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4283976-7048-D8AF-59B6-150845EBBA57}"/>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5275BCD-A706-AB6E-78A6-78D577A8A7E7}"/>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419899-9142-125D-52ED-503EDE1A906A}"/>
              </a:ext>
            </a:extLst>
          </p:cNvPr>
          <p:cNvSpPr>
            <a:spLocks noGrp="1"/>
          </p:cNvSpPr>
          <p:nvPr>
            <p:ph type="dt" sz="half" idx="10"/>
          </p:nvPr>
        </p:nvSpPr>
        <p:spPr>
          <a:xfrm>
            <a:off x="838200" y="6356352"/>
            <a:ext cx="2743200" cy="365125"/>
          </a:xfrm>
          <a:prstGeom prst="rect">
            <a:avLst/>
          </a:prstGeom>
        </p:spPr>
        <p:txBody>
          <a:bodyPr/>
          <a:lstStyle/>
          <a:p>
            <a:fld id="{2ABE9EEF-2DF4-824D-92CC-61660EC378D5}" type="datetimeFigureOut">
              <a:rPr lang="en-US" smtClean="0"/>
              <a:t>8/24/26</a:t>
            </a:fld>
            <a:endParaRPr lang="en-US"/>
          </a:p>
        </p:txBody>
      </p:sp>
      <p:sp>
        <p:nvSpPr>
          <p:cNvPr id="6" name="Footer Placeholder 5">
            <a:extLst>
              <a:ext uri="{FF2B5EF4-FFF2-40B4-BE49-F238E27FC236}">
                <a16:creationId xmlns:a16="http://schemas.microsoft.com/office/drawing/2014/main" id="{D228E2E7-72EC-EA8A-0C8C-052066993EB8}"/>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E7DF277-2D2E-C154-A816-7AA509BB8B1B}"/>
              </a:ext>
            </a:extLst>
          </p:cNvPr>
          <p:cNvSpPr>
            <a:spLocks noGrp="1"/>
          </p:cNvSpPr>
          <p:nvPr>
            <p:ph type="sldNum" sz="quarter" idx="12"/>
          </p:nvPr>
        </p:nvSpPr>
        <p:spPr>
          <a:xfrm>
            <a:off x="8610600" y="6356352"/>
            <a:ext cx="2743200" cy="365125"/>
          </a:xfrm>
          <a:prstGeom prst="rect">
            <a:avLst/>
          </a:prstGeom>
        </p:spPr>
        <p:txBody>
          <a:bodyPr/>
          <a:lstStyle/>
          <a:p>
            <a:fld id="{CF539348-D3E7-114D-8D62-FE63EEB8A323}" type="slidenum">
              <a:rPr lang="en-US" smtClean="0"/>
              <a:t>‹#›</a:t>
            </a:fld>
            <a:endParaRPr lang="en-US"/>
          </a:p>
        </p:txBody>
      </p:sp>
    </p:spTree>
    <p:extLst>
      <p:ext uri="{BB962C8B-B14F-4D97-AF65-F5344CB8AC3E}">
        <p14:creationId xmlns:p14="http://schemas.microsoft.com/office/powerpoint/2010/main" val="20912013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E0D77-AC15-22C8-834C-EECD9A65AC50}"/>
              </a:ext>
            </a:extLst>
          </p:cNvPr>
          <p:cNvSpPr>
            <a:spLocks noGrp="1"/>
          </p:cNvSpPr>
          <p:nvPr>
            <p:ph type="title"/>
          </p:nvPr>
        </p:nvSpPr>
        <p:spPr>
          <a:xfrm>
            <a:off x="839788" y="365126"/>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CC95F7D-85E3-3039-A055-A99E9EA42B20}"/>
              </a:ext>
            </a:extLst>
          </p:cNvPr>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7C0033-C72C-8FF2-FFF6-881336D90766}"/>
              </a:ext>
            </a:extLst>
          </p:cNvPr>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E2374B2-A425-C8A7-2545-67FFFB71A5D8}"/>
              </a:ext>
            </a:extLst>
          </p:cNvPr>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BA9AAE-9074-06DB-D9C1-FF61A7D124F4}"/>
              </a:ext>
            </a:extLst>
          </p:cNvPr>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3E6DDFC-9C5B-006C-E290-AD70BCCBB032}"/>
              </a:ext>
            </a:extLst>
          </p:cNvPr>
          <p:cNvSpPr>
            <a:spLocks noGrp="1"/>
          </p:cNvSpPr>
          <p:nvPr>
            <p:ph type="dt" sz="half" idx="10"/>
          </p:nvPr>
        </p:nvSpPr>
        <p:spPr>
          <a:xfrm>
            <a:off x="838200" y="6356352"/>
            <a:ext cx="2743200" cy="365125"/>
          </a:xfrm>
          <a:prstGeom prst="rect">
            <a:avLst/>
          </a:prstGeom>
        </p:spPr>
        <p:txBody>
          <a:bodyPr/>
          <a:lstStyle/>
          <a:p>
            <a:fld id="{2ABE9EEF-2DF4-824D-92CC-61660EC378D5}" type="datetimeFigureOut">
              <a:rPr lang="en-US" smtClean="0"/>
              <a:t>8/24/26</a:t>
            </a:fld>
            <a:endParaRPr lang="en-US"/>
          </a:p>
        </p:txBody>
      </p:sp>
      <p:sp>
        <p:nvSpPr>
          <p:cNvPr id="8" name="Footer Placeholder 7">
            <a:extLst>
              <a:ext uri="{FF2B5EF4-FFF2-40B4-BE49-F238E27FC236}">
                <a16:creationId xmlns:a16="http://schemas.microsoft.com/office/drawing/2014/main" id="{CCC0254E-5642-F923-B600-6A064F253B4B}"/>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D327CCD-8989-604E-F1AB-A47E4E0B549B}"/>
              </a:ext>
            </a:extLst>
          </p:cNvPr>
          <p:cNvSpPr>
            <a:spLocks noGrp="1"/>
          </p:cNvSpPr>
          <p:nvPr>
            <p:ph type="sldNum" sz="quarter" idx="12"/>
          </p:nvPr>
        </p:nvSpPr>
        <p:spPr>
          <a:xfrm>
            <a:off x="8610600" y="6356352"/>
            <a:ext cx="2743200" cy="365125"/>
          </a:xfrm>
          <a:prstGeom prst="rect">
            <a:avLst/>
          </a:prstGeom>
        </p:spPr>
        <p:txBody>
          <a:bodyPr/>
          <a:lstStyle/>
          <a:p>
            <a:fld id="{CF539348-D3E7-114D-8D62-FE63EEB8A323}" type="slidenum">
              <a:rPr lang="en-US" smtClean="0"/>
              <a:t>‹#›</a:t>
            </a:fld>
            <a:endParaRPr lang="en-US"/>
          </a:p>
        </p:txBody>
      </p:sp>
    </p:spTree>
    <p:extLst>
      <p:ext uri="{BB962C8B-B14F-4D97-AF65-F5344CB8AC3E}">
        <p14:creationId xmlns:p14="http://schemas.microsoft.com/office/powerpoint/2010/main" val="13847143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0CE98-CDD4-0E80-E4FF-7B6F099F7032}"/>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CCF12A85-42F2-52C7-F543-946044C60289}"/>
              </a:ext>
            </a:extLst>
          </p:cNvPr>
          <p:cNvSpPr>
            <a:spLocks noGrp="1"/>
          </p:cNvSpPr>
          <p:nvPr>
            <p:ph type="dt" sz="half" idx="10"/>
          </p:nvPr>
        </p:nvSpPr>
        <p:spPr>
          <a:xfrm>
            <a:off x="838200" y="6356352"/>
            <a:ext cx="2743200" cy="365125"/>
          </a:xfrm>
          <a:prstGeom prst="rect">
            <a:avLst/>
          </a:prstGeom>
        </p:spPr>
        <p:txBody>
          <a:bodyPr/>
          <a:lstStyle/>
          <a:p>
            <a:fld id="{2ABE9EEF-2DF4-824D-92CC-61660EC378D5}" type="datetimeFigureOut">
              <a:rPr lang="en-US" smtClean="0"/>
              <a:t>8/24/26</a:t>
            </a:fld>
            <a:endParaRPr lang="en-US"/>
          </a:p>
        </p:txBody>
      </p:sp>
      <p:sp>
        <p:nvSpPr>
          <p:cNvPr id="4" name="Footer Placeholder 3">
            <a:extLst>
              <a:ext uri="{FF2B5EF4-FFF2-40B4-BE49-F238E27FC236}">
                <a16:creationId xmlns:a16="http://schemas.microsoft.com/office/drawing/2014/main" id="{9A10ACC1-BC3E-B705-6A16-DCCE539C74A9}"/>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D499EA70-3D41-F344-DA82-F1D43B4712FF}"/>
              </a:ext>
            </a:extLst>
          </p:cNvPr>
          <p:cNvSpPr>
            <a:spLocks noGrp="1"/>
          </p:cNvSpPr>
          <p:nvPr>
            <p:ph type="sldNum" sz="quarter" idx="12"/>
          </p:nvPr>
        </p:nvSpPr>
        <p:spPr>
          <a:xfrm>
            <a:off x="8610600" y="6356352"/>
            <a:ext cx="2743200" cy="365125"/>
          </a:xfrm>
          <a:prstGeom prst="rect">
            <a:avLst/>
          </a:prstGeom>
        </p:spPr>
        <p:txBody>
          <a:bodyPr/>
          <a:lstStyle/>
          <a:p>
            <a:fld id="{CF539348-D3E7-114D-8D62-FE63EEB8A323}" type="slidenum">
              <a:rPr lang="en-US" smtClean="0"/>
              <a:t>‹#›</a:t>
            </a:fld>
            <a:endParaRPr lang="en-US"/>
          </a:p>
        </p:txBody>
      </p:sp>
    </p:spTree>
    <p:extLst>
      <p:ext uri="{BB962C8B-B14F-4D97-AF65-F5344CB8AC3E}">
        <p14:creationId xmlns:p14="http://schemas.microsoft.com/office/powerpoint/2010/main" val="209265921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45E473-4A21-76BA-044C-FBF65DDB7551}"/>
              </a:ext>
            </a:extLst>
          </p:cNvPr>
          <p:cNvSpPr>
            <a:spLocks noGrp="1"/>
          </p:cNvSpPr>
          <p:nvPr>
            <p:ph type="dt" sz="half" idx="10"/>
          </p:nvPr>
        </p:nvSpPr>
        <p:spPr>
          <a:xfrm>
            <a:off x="838200" y="6356352"/>
            <a:ext cx="2743200" cy="365125"/>
          </a:xfrm>
          <a:prstGeom prst="rect">
            <a:avLst/>
          </a:prstGeom>
        </p:spPr>
        <p:txBody>
          <a:bodyPr/>
          <a:lstStyle/>
          <a:p>
            <a:fld id="{2ABE9EEF-2DF4-824D-92CC-61660EC378D5}" type="datetimeFigureOut">
              <a:rPr lang="en-US" smtClean="0"/>
              <a:t>8/24/26</a:t>
            </a:fld>
            <a:endParaRPr lang="en-US"/>
          </a:p>
        </p:txBody>
      </p:sp>
      <p:sp>
        <p:nvSpPr>
          <p:cNvPr id="3" name="Footer Placeholder 2">
            <a:extLst>
              <a:ext uri="{FF2B5EF4-FFF2-40B4-BE49-F238E27FC236}">
                <a16:creationId xmlns:a16="http://schemas.microsoft.com/office/drawing/2014/main" id="{BEDE2F58-FF39-CCE3-60BA-FA26745EBE67}"/>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DD5F7095-873F-D7D3-60C9-4731F76AE9F3}"/>
              </a:ext>
            </a:extLst>
          </p:cNvPr>
          <p:cNvSpPr>
            <a:spLocks noGrp="1"/>
          </p:cNvSpPr>
          <p:nvPr>
            <p:ph type="sldNum" sz="quarter" idx="12"/>
          </p:nvPr>
        </p:nvSpPr>
        <p:spPr>
          <a:xfrm>
            <a:off x="8610600" y="6356352"/>
            <a:ext cx="2743200" cy="365125"/>
          </a:xfrm>
          <a:prstGeom prst="rect">
            <a:avLst/>
          </a:prstGeom>
        </p:spPr>
        <p:txBody>
          <a:bodyPr/>
          <a:lstStyle/>
          <a:p>
            <a:fld id="{CF539348-D3E7-114D-8D62-FE63EEB8A323}" type="slidenum">
              <a:rPr lang="en-US" smtClean="0"/>
              <a:t>‹#›</a:t>
            </a:fld>
            <a:endParaRPr lang="en-US"/>
          </a:p>
        </p:txBody>
      </p:sp>
    </p:spTree>
    <p:extLst>
      <p:ext uri="{BB962C8B-B14F-4D97-AF65-F5344CB8AC3E}">
        <p14:creationId xmlns:p14="http://schemas.microsoft.com/office/powerpoint/2010/main" val="319323760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8BDB4-9B09-176F-7652-C4BE0176AE11}"/>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CA2B1D4-BAA2-0DF3-7E51-6DD37EAC0383}"/>
              </a:ext>
            </a:extLst>
          </p:cNvPr>
          <p:cNvSpPr>
            <a:spLocks noGrp="1"/>
          </p:cNvSpPr>
          <p:nvPr>
            <p:ph idx="1"/>
          </p:nvPr>
        </p:nvSpPr>
        <p:spPr>
          <a:xfrm>
            <a:off x="5183188"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E01F935-CDA7-16EE-A118-5B6BE49DE2A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3A9768-F73B-0A0D-3DF9-35645F1EF978}"/>
              </a:ext>
            </a:extLst>
          </p:cNvPr>
          <p:cNvSpPr>
            <a:spLocks noGrp="1"/>
          </p:cNvSpPr>
          <p:nvPr>
            <p:ph type="dt" sz="half" idx="10"/>
          </p:nvPr>
        </p:nvSpPr>
        <p:spPr>
          <a:xfrm>
            <a:off x="838200" y="6356352"/>
            <a:ext cx="2743200" cy="365125"/>
          </a:xfrm>
          <a:prstGeom prst="rect">
            <a:avLst/>
          </a:prstGeom>
        </p:spPr>
        <p:txBody>
          <a:bodyPr/>
          <a:lstStyle/>
          <a:p>
            <a:fld id="{2ABE9EEF-2DF4-824D-92CC-61660EC378D5}" type="datetimeFigureOut">
              <a:rPr lang="en-US" smtClean="0"/>
              <a:t>8/24/26</a:t>
            </a:fld>
            <a:endParaRPr lang="en-US"/>
          </a:p>
        </p:txBody>
      </p:sp>
      <p:sp>
        <p:nvSpPr>
          <p:cNvPr id="6" name="Footer Placeholder 5">
            <a:extLst>
              <a:ext uri="{FF2B5EF4-FFF2-40B4-BE49-F238E27FC236}">
                <a16:creationId xmlns:a16="http://schemas.microsoft.com/office/drawing/2014/main" id="{63FA46FD-D22B-86C8-534F-30B729BF5EB8}"/>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8419F6F-0E94-DD5E-9C60-B4B9D6E71C0A}"/>
              </a:ext>
            </a:extLst>
          </p:cNvPr>
          <p:cNvSpPr>
            <a:spLocks noGrp="1"/>
          </p:cNvSpPr>
          <p:nvPr>
            <p:ph type="sldNum" sz="quarter" idx="12"/>
          </p:nvPr>
        </p:nvSpPr>
        <p:spPr>
          <a:xfrm>
            <a:off x="8610600" y="6356352"/>
            <a:ext cx="2743200" cy="365125"/>
          </a:xfrm>
          <a:prstGeom prst="rect">
            <a:avLst/>
          </a:prstGeom>
        </p:spPr>
        <p:txBody>
          <a:bodyPr/>
          <a:lstStyle/>
          <a:p>
            <a:fld id="{CF539348-D3E7-114D-8D62-FE63EEB8A323}" type="slidenum">
              <a:rPr lang="en-US" smtClean="0"/>
              <a:t>‹#›</a:t>
            </a:fld>
            <a:endParaRPr lang="en-US"/>
          </a:p>
        </p:txBody>
      </p:sp>
    </p:spTree>
    <p:extLst>
      <p:ext uri="{BB962C8B-B14F-4D97-AF65-F5344CB8AC3E}">
        <p14:creationId xmlns:p14="http://schemas.microsoft.com/office/powerpoint/2010/main" val="21467102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5F13F-1BAC-67F8-BB35-1803B7DAFC4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CF3FBB0-FAD3-7B55-1AA1-5C13D3C93FED}"/>
              </a:ext>
            </a:extLst>
          </p:cNvPr>
          <p:cNvSpPr>
            <a:spLocks noGrp="1"/>
          </p:cNvSpPr>
          <p:nvPr>
            <p:ph type="pic" idx="1"/>
          </p:nvPr>
        </p:nvSpPr>
        <p:spPr>
          <a:xfrm>
            <a:off x="5183188" y="987426"/>
            <a:ext cx="6172200" cy="4873625"/>
          </a:xfrm>
          <a:prstGeom prst="rect">
            <a:avLst/>
          </a:prstGeo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E289C27F-EE03-C57A-9F8D-EA8678FC023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A63432-719A-35B7-B01D-6D86DBE0529A}"/>
              </a:ext>
            </a:extLst>
          </p:cNvPr>
          <p:cNvSpPr>
            <a:spLocks noGrp="1"/>
          </p:cNvSpPr>
          <p:nvPr>
            <p:ph type="dt" sz="half" idx="10"/>
          </p:nvPr>
        </p:nvSpPr>
        <p:spPr>
          <a:xfrm>
            <a:off x="838200" y="6356352"/>
            <a:ext cx="2743200" cy="365125"/>
          </a:xfrm>
          <a:prstGeom prst="rect">
            <a:avLst/>
          </a:prstGeom>
        </p:spPr>
        <p:txBody>
          <a:bodyPr/>
          <a:lstStyle/>
          <a:p>
            <a:fld id="{2ABE9EEF-2DF4-824D-92CC-61660EC378D5}" type="datetimeFigureOut">
              <a:rPr lang="en-US" smtClean="0"/>
              <a:t>8/24/26</a:t>
            </a:fld>
            <a:endParaRPr lang="en-US"/>
          </a:p>
        </p:txBody>
      </p:sp>
      <p:sp>
        <p:nvSpPr>
          <p:cNvPr id="6" name="Footer Placeholder 5">
            <a:extLst>
              <a:ext uri="{FF2B5EF4-FFF2-40B4-BE49-F238E27FC236}">
                <a16:creationId xmlns:a16="http://schemas.microsoft.com/office/drawing/2014/main" id="{416BE9A0-357B-DBAE-ADB6-5B8C9A00469E}"/>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BAE6540-B8B9-58B9-3304-604F2AFD82DF}"/>
              </a:ext>
            </a:extLst>
          </p:cNvPr>
          <p:cNvSpPr>
            <a:spLocks noGrp="1"/>
          </p:cNvSpPr>
          <p:nvPr>
            <p:ph type="sldNum" sz="quarter" idx="12"/>
          </p:nvPr>
        </p:nvSpPr>
        <p:spPr>
          <a:xfrm>
            <a:off x="8610600" y="6356352"/>
            <a:ext cx="2743200" cy="365125"/>
          </a:xfrm>
          <a:prstGeom prst="rect">
            <a:avLst/>
          </a:prstGeom>
        </p:spPr>
        <p:txBody>
          <a:bodyPr/>
          <a:lstStyle/>
          <a:p>
            <a:fld id="{CF539348-D3E7-114D-8D62-FE63EEB8A323}" type="slidenum">
              <a:rPr lang="en-US" smtClean="0"/>
              <a:t>‹#›</a:t>
            </a:fld>
            <a:endParaRPr lang="en-US"/>
          </a:p>
        </p:txBody>
      </p:sp>
    </p:spTree>
    <p:extLst>
      <p:ext uri="{BB962C8B-B14F-4D97-AF65-F5344CB8AC3E}">
        <p14:creationId xmlns:p14="http://schemas.microsoft.com/office/powerpoint/2010/main" val="406392350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DD0D9-8E4C-786F-CC67-2CD0D46B577A}"/>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D007197-505D-2046-D653-4233BD7CD870}"/>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ECCAEB-4C86-F029-1B9E-9575B7B86204}"/>
              </a:ext>
            </a:extLst>
          </p:cNvPr>
          <p:cNvSpPr>
            <a:spLocks noGrp="1"/>
          </p:cNvSpPr>
          <p:nvPr>
            <p:ph type="dt" sz="half" idx="10"/>
          </p:nvPr>
        </p:nvSpPr>
        <p:spPr>
          <a:xfrm>
            <a:off x="838200" y="6356352"/>
            <a:ext cx="2743200" cy="365125"/>
          </a:xfrm>
          <a:prstGeom prst="rect">
            <a:avLst/>
          </a:prstGeom>
        </p:spPr>
        <p:txBody>
          <a:bodyPr/>
          <a:lstStyle/>
          <a:p>
            <a:fld id="{2ABE9EEF-2DF4-824D-92CC-61660EC378D5}" type="datetimeFigureOut">
              <a:rPr lang="en-US" smtClean="0"/>
              <a:t>8/24/26</a:t>
            </a:fld>
            <a:endParaRPr lang="en-US"/>
          </a:p>
        </p:txBody>
      </p:sp>
      <p:sp>
        <p:nvSpPr>
          <p:cNvPr id="5" name="Footer Placeholder 4">
            <a:extLst>
              <a:ext uri="{FF2B5EF4-FFF2-40B4-BE49-F238E27FC236}">
                <a16:creationId xmlns:a16="http://schemas.microsoft.com/office/drawing/2014/main" id="{4C35E750-4CAE-A258-7C30-B6D6D7428917}"/>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311D782-0DA2-BDB8-FDAC-314641797049}"/>
              </a:ext>
            </a:extLst>
          </p:cNvPr>
          <p:cNvSpPr>
            <a:spLocks noGrp="1"/>
          </p:cNvSpPr>
          <p:nvPr>
            <p:ph type="sldNum" sz="quarter" idx="12"/>
          </p:nvPr>
        </p:nvSpPr>
        <p:spPr>
          <a:xfrm>
            <a:off x="8610600" y="6356352"/>
            <a:ext cx="2743200" cy="365125"/>
          </a:xfrm>
          <a:prstGeom prst="rect">
            <a:avLst/>
          </a:prstGeom>
        </p:spPr>
        <p:txBody>
          <a:bodyPr/>
          <a:lstStyle/>
          <a:p>
            <a:fld id="{CF539348-D3E7-114D-8D62-FE63EEB8A323}" type="slidenum">
              <a:rPr lang="en-US" smtClean="0"/>
              <a:t>‹#›</a:t>
            </a:fld>
            <a:endParaRPr lang="en-US"/>
          </a:p>
        </p:txBody>
      </p:sp>
    </p:spTree>
    <p:extLst>
      <p:ext uri="{BB962C8B-B14F-4D97-AF65-F5344CB8AC3E}">
        <p14:creationId xmlns:p14="http://schemas.microsoft.com/office/powerpoint/2010/main" val="76680103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40DE0A-F753-F056-73E3-509AD27F232A}"/>
              </a:ext>
            </a:extLst>
          </p:cNvPr>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F73BD72-1427-4F97-90D2-010647E65F55}"/>
              </a:ext>
            </a:extLst>
          </p:cNvPr>
          <p:cNvSpPr>
            <a:spLocks noGrp="1"/>
          </p:cNvSpPr>
          <p:nvPr>
            <p:ph type="body" orient="vert" idx="1"/>
          </p:nvPr>
        </p:nvSpPr>
        <p:spPr>
          <a:xfrm>
            <a:off x="838201"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72B165-B2E5-AA21-FDDE-DCACC051B1FE}"/>
              </a:ext>
            </a:extLst>
          </p:cNvPr>
          <p:cNvSpPr>
            <a:spLocks noGrp="1"/>
          </p:cNvSpPr>
          <p:nvPr>
            <p:ph type="dt" sz="half" idx="10"/>
          </p:nvPr>
        </p:nvSpPr>
        <p:spPr>
          <a:xfrm>
            <a:off x="838200" y="6356352"/>
            <a:ext cx="2743200" cy="365125"/>
          </a:xfrm>
          <a:prstGeom prst="rect">
            <a:avLst/>
          </a:prstGeom>
        </p:spPr>
        <p:txBody>
          <a:bodyPr/>
          <a:lstStyle/>
          <a:p>
            <a:fld id="{2ABE9EEF-2DF4-824D-92CC-61660EC378D5}" type="datetimeFigureOut">
              <a:rPr lang="en-US" smtClean="0"/>
              <a:t>8/24/26</a:t>
            </a:fld>
            <a:endParaRPr lang="en-US"/>
          </a:p>
        </p:txBody>
      </p:sp>
      <p:sp>
        <p:nvSpPr>
          <p:cNvPr id="5" name="Footer Placeholder 4">
            <a:extLst>
              <a:ext uri="{FF2B5EF4-FFF2-40B4-BE49-F238E27FC236}">
                <a16:creationId xmlns:a16="http://schemas.microsoft.com/office/drawing/2014/main" id="{7AAA69B7-BD0D-610B-F062-015A029CD90A}"/>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7E48638-95F8-8E34-64F8-AB8CEBCC9C13}"/>
              </a:ext>
            </a:extLst>
          </p:cNvPr>
          <p:cNvSpPr>
            <a:spLocks noGrp="1"/>
          </p:cNvSpPr>
          <p:nvPr>
            <p:ph type="sldNum" sz="quarter" idx="12"/>
          </p:nvPr>
        </p:nvSpPr>
        <p:spPr>
          <a:xfrm>
            <a:off x="8610600" y="6356352"/>
            <a:ext cx="2743200" cy="365125"/>
          </a:xfrm>
          <a:prstGeom prst="rect">
            <a:avLst/>
          </a:prstGeom>
        </p:spPr>
        <p:txBody>
          <a:bodyPr/>
          <a:lstStyle/>
          <a:p>
            <a:fld id="{CF539348-D3E7-114D-8D62-FE63EEB8A323}" type="slidenum">
              <a:rPr lang="en-US" smtClean="0"/>
              <a:t>‹#›</a:t>
            </a:fld>
            <a:endParaRPr lang="en-US"/>
          </a:p>
        </p:txBody>
      </p:sp>
    </p:spTree>
    <p:extLst>
      <p:ext uri="{BB962C8B-B14F-4D97-AF65-F5344CB8AC3E}">
        <p14:creationId xmlns:p14="http://schemas.microsoft.com/office/powerpoint/2010/main" val="318037372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FB221-DDB3-2A6D-A9D1-69B00454D4BC}"/>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5100AEF-E303-1FB8-5D10-34C487F77138}"/>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DDC39F-205F-94D1-EC54-A07D48EE9F27}"/>
              </a:ext>
            </a:extLst>
          </p:cNvPr>
          <p:cNvSpPr>
            <a:spLocks noGrp="1"/>
          </p:cNvSpPr>
          <p:nvPr>
            <p:ph type="dt" sz="half" idx="10"/>
          </p:nvPr>
        </p:nvSpPr>
        <p:spPr>
          <a:xfrm>
            <a:off x="838200" y="6356352"/>
            <a:ext cx="2743200" cy="365125"/>
          </a:xfrm>
          <a:prstGeom prst="rect">
            <a:avLst/>
          </a:prstGeom>
        </p:spPr>
        <p:txBody>
          <a:bodyPr/>
          <a:lstStyle/>
          <a:p>
            <a:fld id="{DDF6E286-A2FF-4F4C-BFBB-715343D262B2}" type="datetimeFigureOut">
              <a:rPr lang="en-US" smtClean="0"/>
              <a:t>8/24/26</a:t>
            </a:fld>
            <a:endParaRPr lang="en-US"/>
          </a:p>
        </p:txBody>
      </p:sp>
      <p:sp>
        <p:nvSpPr>
          <p:cNvPr id="5" name="Footer Placeholder 4">
            <a:extLst>
              <a:ext uri="{FF2B5EF4-FFF2-40B4-BE49-F238E27FC236}">
                <a16:creationId xmlns:a16="http://schemas.microsoft.com/office/drawing/2014/main" id="{7D32C93D-4D80-32D8-7DFC-94B1EA0AE52C}"/>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2164E6E-3300-9286-E1C3-62B82AE42F0A}"/>
              </a:ext>
            </a:extLst>
          </p:cNvPr>
          <p:cNvSpPr>
            <a:spLocks noGrp="1"/>
          </p:cNvSpPr>
          <p:nvPr>
            <p:ph type="sldNum" sz="quarter" idx="12"/>
          </p:nvPr>
        </p:nvSpPr>
        <p:spPr>
          <a:xfrm>
            <a:off x="8610600" y="6356352"/>
            <a:ext cx="2743200" cy="365125"/>
          </a:xfrm>
          <a:prstGeom prst="rect">
            <a:avLst/>
          </a:prstGeom>
        </p:spPr>
        <p:txBody>
          <a:bodyPr/>
          <a:lstStyle/>
          <a:p>
            <a:fld id="{D2DE381C-6115-394E-9B1D-E01715CC2F42}" type="slidenum">
              <a:rPr lang="en-US" smtClean="0"/>
              <a:t>‹#›</a:t>
            </a:fld>
            <a:endParaRPr lang="en-US"/>
          </a:p>
        </p:txBody>
      </p:sp>
    </p:spTree>
    <p:extLst>
      <p:ext uri="{BB962C8B-B14F-4D97-AF65-F5344CB8AC3E}">
        <p14:creationId xmlns:p14="http://schemas.microsoft.com/office/powerpoint/2010/main" val="10361493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C7982-30FD-B176-B0E3-AC3136C5B04A}"/>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87CE1871-7ADF-8646-AF9B-55FB4ECD855D}"/>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D40EAC-775E-E578-285D-D069D648C8CE}"/>
              </a:ext>
            </a:extLst>
          </p:cNvPr>
          <p:cNvSpPr>
            <a:spLocks noGrp="1"/>
          </p:cNvSpPr>
          <p:nvPr>
            <p:ph type="dt" sz="half" idx="10"/>
          </p:nvPr>
        </p:nvSpPr>
        <p:spPr>
          <a:xfrm>
            <a:off x="838200" y="6356352"/>
            <a:ext cx="2743200" cy="365125"/>
          </a:xfrm>
          <a:prstGeom prst="rect">
            <a:avLst/>
          </a:prstGeom>
        </p:spPr>
        <p:txBody>
          <a:bodyPr/>
          <a:lstStyle/>
          <a:p>
            <a:fld id="{DDF6E286-A2FF-4F4C-BFBB-715343D262B2}" type="datetimeFigureOut">
              <a:rPr lang="en-US" smtClean="0"/>
              <a:t>8/24/26</a:t>
            </a:fld>
            <a:endParaRPr lang="en-US"/>
          </a:p>
        </p:txBody>
      </p:sp>
      <p:sp>
        <p:nvSpPr>
          <p:cNvPr id="5" name="Footer Placeholder 4">
            <a:extLst>
              <a:ext uri="{FF2B5EF4-FFF2-40B4-BE49-F238E27FC236}">
                <a16:creationId xmlns:a16="http://schemas.microsoft.com/office/drawing/2014/main" id="{74148B04-1A67-BB54-B25B-FEB049F20DB8}"/>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95B2F5E-F210-5A3A-1032-141A60EB96B6}"/>
              </a:ext>
            </a:extLst>
          </p:cNvPr>
          <p:cNvSpPr>
            <a:spLocks noGrp="1"/>
          </p:cNvSpPr>
          <p:nvPr>
            <p:ph type="sldNum" sz="quarter" idx="12"/>
          </p:nvPr>
        </p:nvSpPr>
        <p:spPr>
          <a:xfrm>
            <a:off x="8610600" y="6356352"/>
            <a:ext cx="2743200" cy="365125"/>
          </a:xfrm>
          <a:prstGeom prst="rect">
            <a:avLst/>
          </a:prstGeom>
        </p:spPr>
        <p:txBody>
          <a:bodyPr/>
          <a:lstStyle/>
          <a:p>
            <a:fld id="{D2DE381C-6115-394E-9B1D-E01715CC2F42}" type="slidenum">
              <a:rPr lang="en-US" smtClean="0"/>
              <a:t>‹#›</a:t>
            </a:fld>
            <a:endParaRPr lang="en-US"/>
          </a:p>
        </p:txBody>
      </p:sp>
    </p:spTree>
    <p:extLst>
      <p:ext uri="{BB962C8B-B14F-4D97-AF65-F5344CB8AC3E}">
        <p14:creationId xmlns:p14="http://schemas.microsoft.com/office/powerpoint/2010/main" val="19832978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39D4D-A628-0334-28B1-D25BC555A269}"/>
              </a:ext>
            </a:extLst>
          </p:cNvPr>
          <p:cNvSpPr>
            <a:spLocks noGrp="1"/>
          </p:cNvSpPr>
          <p:nvPr>
            <p:ph type="title"/>
          </p:nvPr>
        </p:nvSpPr>
        <p:spPr>
          <a:xfrm>
            <a:off x="831849"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5B8B89-56F6-B73A-EFFC-6C6B3F2BACC0}"/>
              </a:ext>
            </a:extLst>
          </p:cNvPr>
          <p:cNvSpPr>
            <a:spLocks noGrp="1"/>
          </p:cNvSpPr>
          <p:nvPr>
            <p:ph type="body" idx="1"/>
          </p:nvPr>
        </p:nvSpPr>
        <p:spPr>
          <a:xfrm>
            <a:off x="831849" y="4589465"/>
            <a:ext cx="10515600" cy="1500187"/>
          </a:xfrm>
          <a:prstGeom prst="rect">
            <a:avLst/>
          </a:prstGeom>
        </p:spPr>
        <p:txBody>
          <a:bodyPr/>
          <a:lstStyle>
            <a:lvl1pPr marL="0" indent="0">
              <a:buNone/>
              <a:defRPr sz="2400">
                <a:solidFill>
                  <a:schemeClr val="tx1">
                    <a:tint val="82000"/>
                  </a:schemeClr>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5E745B-2E21-DF04-E8A2-C7CDE6C35A1C}"/>
              </a:ext>
            </a:extLst>
          </p:cNvPr>
          <p:cNvSpPr>
            <a:spLocks noGrp="1"/>
          </p:cNvSpPr>
          <p:nvPr>
            <p:ph type="dt" sz="half" idx="10"/>
          </p:nvPr>
        </p:nvSpPr>
        <p:spPr>
          <a:xfrm>
            <a:off x="838200" y="6356352"/>
            <a:ext cx="2743200" cy="365125"/>
          </a:xfrm>
          <a:prstGeom prst="rect">
            <a:avLst/>
          </a:prstGeom>
        </p:spPr>
        <p:txBody>
          <a:bodyPr/>
          <a:lstStyle/>
          <a:p>
            <a:fld id="{DDF6E286-A2FF-4F4C-BFBB-715343D262B2}" type="datetimeFigureOut">
              <a:rPr lang="en-US" smtClean="0"/>
              <a:t>8/24/26</a:t>
            </a:fld>
            <a:endParaRPr lang="en-US"/>
          </a:p>
        </p:txBody>
      </p:sp>
      <p:sp>
        <p:nvSpPr>
          <p:cNvPr id="5" name="Footer Placeholder 4">
            <a:extLst>
              <a:ext uri="{FF2B5EF4-FFF2-40B4-BE49-F238E27FC236}">
                <a16:creationId xmlns:a16="http://schemas.microsoft.com/office/drawing/2014/main" id="{C6B8F8C8-B281-8C6A-78E1-0F3A12159441}"/>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2AD9B91-A232-6A25-4D6D-A52995E9887C}"/>
              </a:ext>
            </a:extLst>
          </p:cNvPr>
          <p:cNvSpPr>
            <a:spLocks noGrp="1"/>
          </p:cNvSpPr>
          <p:nvPr>
            <p:ph type="sldNum" sz="quarter" idx="12"/>
          </p:nvPr>
        </p:nvSpPr>
        <p:spPr>
          <a:xfrm>
            <a:off x="8610600" y="6356352"/>
            <a:ext cx="2743200" cy="365125"/>
          </a:xfrm>
          <a:prstGeom prst="rect">
            <a:avLst/>
          </a:prstGeom>
        </p:spPr>
        <p:txBody>
          <a:bodyPr/>
          <a:lstStyle/>
          <a:p>
            <a:fld id="{D2DE381C-6115-394E-9B1D-E01715CC2F42}" type="slidenum">
              <a:rPr lang="en-US" smtClean="0"/>
              <a:t>‹#›</a:t>
            </a:fld>
            <a:endParaRPr lang="en-US"/>
          </a:p>
        </p:txBody>
      </p:sp>
    </p:spTree>
    <p:extLst>
      <p:ext uri="{BB962C8B-B14F-4D97-AF65-F5344CB8AC3E}">
        <p14:creationId xmlns:p14="http://schemas.microsoft.com/office/powerpoint/2010/main" val="11372487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80EBD-1DCD-7DED-5FF4-102347939DEE}"/>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1E37D5FA-4488-63EF-6C62-81CC8ADBD9C3}"/>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C8EED43-425C-9742-45D2-5D291F49F671}"/>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E7F55B8-152B-C76D-E390-15AF92FA58B4}"/>
              </a:ext>
            </a:extLst>
          </p:cNvPr>
          <p:cNvSpPr>
            <a:spLocks noGrp="1"/>
          </p:cNvSpPr>
          <p:nvPr>
            <p:ph type="dt" sz="half" idx="10"/>
          </p:nvPr>
        </p:nvSpPr>
        <p:spPr>
          <a:xfrm>
            <a:off x="838200" y="6356352"/>
            <a:ext cx="2743200" cy="365125"/>
          </a:xfrm>
          <a:prstGeom prst="rect">
            <a:avLst/>
          </a:prstGeom>
        </p:spPr>
        <p:txBody>
          <a:bodyPr/>
          <a:lstStyle/>
          <a:p>
            <a:fld id="{DDF6E286-A2FF-4F4C-BFBB-715343D262B2}" type="datetimeFigureOut">
              <a:rPr lang="en-US" smtClean="0"/>
              <a:t>8/24/26</a:t>
            </a:fld>
            <a:endParaRPr lang="en-US"/>
          </a:p>
        </p:txBody>
      </p:sp>
      <p:sp>
        <p:nvSpPr>
          <p:cNvPr id="6" name="Footer Placeholder 5">
            <a:extLst>
              <a:ext uri="{FF2B5EF4-FFF2-40B4-BE49-F238E27FC236}">
                <a16:creationId xmlns:a16="http://schemas.microsoft.com/office/drawing/2014/main" id="{22D63DD7-DD9E-04AB-9E11-54D23B031751}"/>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BDF772E-5885-2962-97D1-867B0A0902B1}"/>
              </a:ext>
            </a:extLst>
          </p:cNvPr>
          <p:cNvSpPr>
            <a:spLocks noGrp="1"/>
          </p:cNvSpPr>
          <p:nvPr>
            <p:ph type="sldNum" sz="quarter" idx="12"/>
          </p:nvPr>
        </p:nvSpPr>
        <p:spPr>
          <a:xfrm>
            <a:off x="8610600" y="6356352"/>
            <a:ext cx="2743200" cy="365125"/>
          </a:xfrm>
          <a:prstGeom prst="rect">
            <a:avLst/>
          </a:prstGeom>
        </p:spPr>
        <p:txBody>
          <a:bodyPr/>
          <a:lstStyle/>
          <a:p>
            <a:fld id="{D2DE381C-6115-394E-9B1D-E01715CC2F42}" type="slidenum">
              <a:rPr lang="en-US" smtClean="0"/>
              <a:t>‹#›</a:t>
            </a:fld>
            <a:endParaRPr lang="en-US"/>
          </a:p>
        </p:txBody>
      </p:sp>
    </p:spTree>
    <p:extLst>
      <p:ext uri="{BB962C8B-B14F-4D97-AF65-F5344CB8AC3E}">
        <p14:creationId xmlns:p14="http://schemas.microsoft.com/office/powerpoint/2010/main" val="182829053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1A789-82E7-23C4-4275-8D7382FA1866}"/>
              </a:ext>
            </a:extLst>
          </p:cNvPr>
          <p:cNvSpPr>
            <a:spLocks noGrp="1"/>
          </p:cNvSpPr>
          <p:nvPr>
            <p:ph type="title"/>
          </p:nvPr>
        </p:nvSpPr>
        <p:spPr>
          <a:xfrm>
            <a:off x="839788" y="365126"/>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F70EA5F3-CD0C-4E01-221B-24E138DBCA87}"/>
              </a:ext>
            </a:extLst>
          </p:cNvPr>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B997F6-4BDA-CBD9-E098-C29CFFC71EC7}"/>
              </a:ext>
            </a:extLst>
          </p:cNvPr>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0926FB-FB77-A034-61A9-41D711BEAC7F}"/>
              </a:ext>
            </a:extLst>
          </p:cNvPr>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913902-5DBA-6EA7-A3CA-DD15CA500BCE}"/>
              </a:ext>
            </a:extLst>
          </p:cNvPr>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B96939-9095-C331-D02F-E1F85C640ECC}"/>
              </a:ext>
            </a:extLst>
          </p:cNvPr>
          <p:cNvSpPr>
            <a:spLocks noGrp="1"/>
          </p:cNvSpPr>
          <p:nvPr>
            <p:ph type="dt" sz="half" idx="10"/>
          </p:nvPr>
        </p:nvSpPr>
        <p:spPr>
          <a:xfrm>
            <a:off x="838200" y="6356352"/>
            <a:ext cx="2743200" cy="365125"/>
          </a:xfrm>
          <a:prstGeom prst="rect">
            <a:avLst/>
          </a:prstGeom>
        </p:spPr>
        <p:txBody>
          <a:bodyPr/>
          <a:lstStyle/>
          <a:p>
            <a:fld id="{DDF6E286-A2FF-4F4C-BFBB-715343D262B2}" type="datetimeFigureOut">
              <a:rPr lang="en-US" smtClean="0"/>
              <a:t>8/24/26</a:t>
            </a:fld>
            <a:endParaRPr lang="en-US"/>
          </a:p>
        </p:txBody>
      </p:sp>
      <p:sp>
        <p:nvSpPr>
          <p:cNvPr id="8" name="Footer Placeholder 7">
            <a:extLst>
              <a:ext uri="{FF2B5EF4-FFF2-40B4-BE49-F238E27FC236}">
                <a16:creationId xmlns:a16="http://schemas.microsoft.com/office/drawing/2014/main" id="{EF367FAA-76EF-E27F-5C1F-6044116CAB69}"/>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F950AD44-C0A3-6405-D8D1-C0886B62C9D3}"/>
              </a:ext>
            </a:extLst>
          </p:cNvPr>
          <p:cNvSpPr>
            <a:spLocks noGrp="1"/>
          </p:cNvSpPr>
          <p:nvPr>
            <p:ph type="sldNum" sz="quarter" idx="12"/>
          </p:nvPr>
        </p:nvSpPr>
        <p:spPr>
          <a:xfrm>
            <a:off x="8610600" y="6356352"/>
            <a:ext cx="2743200" cy="365125"/>
          </a:xfrm>
          <a:prstGeom prst="rect">
            <a:avLst/>
          </a:prstGeom>
        </p:spPr>
        <p:txBody>
          <a:bodyPr/>
          <a:lstStyle/>
          <a:p>
            <a:fld id="{D2DE381C-6115-394E-9B1D-E01715CC2F42}" type="slidenum">
              <a:rPr lang="en-US" smtClean="0"/>
              <a:t>‹#›</a:t>
            </a:fld>
            <a:endParaRPr lang="en-US"/>
          </a:p>
        </p:txBody>
      </p:sp>
    </p:spTree>
    <p:extLst>
      <p:ext uri="{BB962C8B-B14F-4D97-AF65-F5344CB8AC3E}">
        <p14:creationId xmlns:p14="http://schemas.microsoft.com/office/powerpoint/2010/main" val="398141299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23644-095E-6DEC-CBFF-EBAEEC5237E4}"/>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3B31A42-984D-7C43-7B7D-A47D2DC2AF95}"/>
              </a:ext>
            </a:extLst>
          </p:cNvPr>
          <p:cNvSpPr>
            <a:spLocks noGrp="1"/>
          </p:cNvSpPr>
          <p:nvPr>
            <p:ph type="dt" sz="half" idx="10"/>
          </p:nvPr>
        </p:nvSpPr>
        <p:spPr>
          <a:xfrm>
            <a:off x="838200" y="6356352"/>
            <a:ext cx="2743200" cy="365125"/>
          </a:xfrm>
          <a:prstGeom prst="rect">
            <a:avLst/>
          </a:prstGeom>
        </p:spPr>
        <p:txBody>
          <a:bodyPr/>
          <a:lstStyle/>
          <a:p>
            <a:fld id="{DDF6E286-A2FF-4F4C-BFBB-715343D262B2}" type="datetimeFigureOut">
              <a:rPr lang="en-US" smtClean="0"/>
              <a:t>8/24/26</a:t>
            </a:fld>
            <a:endParaRPr lang="en-US"/>
          </a:p>
        </p:txBody>
      </p:sp>
      <p:sp>
        <p:nvSpPr>
          <p:cNvPr id="4" name="Footer Placeholder 3">
            <a:extLst>
              <a:ext uri="{FF2B5EF4-FFF2-40B4-BE49-F238E27FC236}">
                <a16:creationId xmlns:a16="http://schemas.microsoft.com/office/drawing/2014/main" id="{7E512AFC-61D7-1433-AF5F-DE44A918AA1B}"/>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BD2ACED5-BB4E-5B55-FCB1-BB2D62B73D96}"/>
              </a:ext>
            </a:extLst>
          </p:cNvPr>
          <p:cNvSpPr>
            <a:spLocks noGrp="1"/>
          </p:cNvSpPr>
          <p:nvPr>
            <p:ph type="sldNum" sz="quarter" idx="12"/>
          </p:nvPr>
        </p:nvSpPr>
        <p:spPr>
          <a:xfrm>
            <a:off x="8610600" y="6356352"/>
            <a:ext cx="2743200" cy="365125"/>
          </a:xfrm>
          <a:prstGeom prst="rect">
            <a:avLst/>
          </a:prstGeom>
        </p:spPr>
        <p:txBody>
          <a:bodyPr/>
          <a:lstStyle/>
          <a:p>
            <a:fld id="{D2DE381C-6115-394E-9B1D-E01715CC2F42}" type="slidenum">
              <a:rPr lang="en-US" smtClean="0"/>
              <a:t>‹#›</a:t>
            </a:fld>
            <a:endParaRPr lang="en-US"/>
          </a:p>
        </p:txBody>
      </p:sp>
    </p:spTree>
    <p:extLst>
      <p:ext uri="{BB962C8B-B14F-4D97-AF65-F5344CB8AC3E}">
        <p14:creationId xmlns:p14="http://schemas.microsoft.com/office/powerpoint/2010/main" val="110927806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F759F-E82E-AC62-8193-DED563F41696}"/>
              </a:ext>
            </a:extLst>
          </p:cNvPr>
          <p:cNvSpPr>
            <a:spLocks noGrp="1"/>
          </p:cNvSpPr>
          <p:nvPr>
            <p:ph type="dt" sz="half" idx="10"/>
          </p:nvPr>
        </p:nvSpPr>
        <p:spPr>
          <a:xfrm>
            <a:off x="838200" y="6356352"/>
            <a:ext cx="2743200" cy="365125"/>
          </a:xfrm>
          <a:prstGeom prst="rect">
            <a:avLst/>
          </a:prstGeom>
        </p:spPr>
        <p:txBody>
          <a:bodyPr/>
          <a:lstStyle/>
          <a:p>
            <a:fld id="{DDF6E286-A2FF-4F4C-BFBB-715343D262B2}" type="datetimeFigureOut">
              <a:rPr lang="en-US" smtClean="0"/>
              <a:t>8/24/26</a:t>
            </a:fld>
            <a:endParaRPr lang="en-US"/>
          </a:p>
        </p:txBody>
      </p:sp>
      <p:sp>
        <p:nvSpPr>
          <p:cNvPr id="3" name="Footer Placeholder 2">
            <a:extLst>
              <a:ext uri="{FF2B5EF4-FFF2-40B4-BE49-F238E27FC236}">
                <a16:creationId xmlns:a16="http://schemas.microsoft.com/office/drawing/2014/main" id="{97C3B7E3-9CF2-A0F5-2785-6542C5325091}"/>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DC6EB096-FB6A-38DC-2E11-E935327DB27D}"/>
              </a:ext>
            </a:extLst>
          </p:cNvPr>
          <p:cNvSpPr>
            <a:spLocks noGrp="1"/>
          </p:cNvSpPr>
          <p:nvPr>
            <p:ph type="sldNum" sz="quarter" idx="12"/>
          </p:nvPr>
        </p:nvSpPr>
        <p:spPr>
          <a:xfrm>
            <a:off x="8610600" y="6356352"/>
            <a:ext cx="2743200" cy="365125"/>
          </a:xfrm>
          <a:prstGeom prst="rect">
            <a:avLst/>
          </a:prstGeom>
        </p:spPr>
        <p:txBody>
          <a:bodyPr/>
          <a:lstStyle/>
          <a:p>
            <a:fld id="{D2DE381C-6115-394E-9B1D-E01715CC2F42}" type="slidenum">
              <a:rPr lang="en-US" smtClean="0"/>
              <a:t>‹#›</a:t>
            </a:fld>
            <a:endParaRPr lang="en-US"/>
          </a:p>
        </p:txBody>
      </p:sp>
    </p:spTree>
    <p:extLst>
      <p:ext uri="{BB962C8B-B14F-4D97-AF65-F5344CB8AC3E}">
        <p14:creationId xmlns:p14="http://schemas.microsoft.com/office/powerpoint/2010/main" val="268490619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F4D7A-4773-F4F2-EF2E-AEE69CBB273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0386BC-5D78-D7BA-497C-681D9B4C0068}"/>
              </a:ext>
            </a:extLst>
          </p:cNvPr>
          <p:cNvSpPr>
            <a:spLocks noGrp="1"/>
          </p:cNvSpPr>
          <p:nvPr>
            <p:ph idx="1"/>
          </p:nvPr>
        </p:nvSpPr>
        <p:spPr>
          <a:xfrm>
            <a:off x="5183188"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1B5323-9E69-2C14-37D5-8C4F128C45A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A4CDA2-B9D5-16E5-7D97-5196638F3E26}"/>
              </a:ext>
            </a:extLst>
          </p:cNvPr>
          <p:cNvSpPr>
            <a:spLocks noGrp="1"/>
          </p:cNvSpPr>
          <p:nvPr>
            <p:ph type="dt" sz="half" idx="10"/>
          </p:nvPr>
        </p:nvSpPr>
        <p:spPr>
          <a:xfrm>
            <a:off x="838200" y="6356352"/>
            <a:ext cx="2743200" cy="365125"/>
          </a:xfrm>
          <a:prstGeom prst="rect">
            <a:avLst/>
          </a:prstGeom>
        </p:spPr>
        <p:txBody>
          <a:bodyPr/>
          <a:lstStyle/>
          <a:p>
            <a:fld id="{DDF6E286-A2FF-4F4C-BFBB-715343D262B2}" type="datetimeFigureOut">
              <a:rPr lang="en-US" smtClean="0"/>
              <a:t>8/24/26</a:t>
            </a:fld>
            <a:endParaRPr lang="en-US"/>
          </a:p>
        </p:txBody>
      </p:sp>
      <p:sp>
        <p:nvSpPr>
          <p:cNvPr id="6" name="Footer Placeholder 5">
            <a:extLst>
              <a:ext uri="{FF2B5EF4-FFF2-40B4-BE49-F238E27FC236}">
                <a16:creationId xmlns:a16="http://schemas.microsoft.com/office/drawing/2014/main" id="{D38643D8-0D87-3236-BFA0-8E2D246F83CE}"/>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80A01DA3-D0DD-E640-AD59-C523901E392F}"/>
              </a:ext>
            </a:extLst>
          </p:cNvPr>
          <p:cNvSpPr>
            <a:spLocks noGrp="1"/>
          </p:cNvSpPr>
          <p:nvPr>
            <p:ph type="sldNum" sz="quarter" idx="12"/>
          </p:nvPr>
        </p:nvSpPr>
        <p:spPr>
          <a:xfrm>
            <a:off x="8610600" y="6356352"/>
            <a:ext cx="2743200" cy="365125"/>
          </a:xfrm>
          <a:prstGeom prst="rect">
            <a:avLst/>
          </a:prstGeom>
        </p:spPr>
        <p:txBody>
          <a:bodyPr/>
          <a:lstStyle/>
          <a:p>
            <a:fld id="{D2DE381C-6115-394E-9B1D-E01715CC2F42}" type="slidenum">
              <a:rPr lang="en-US" smtClean="0"/>
              <a:t>‹#›</a:t>
            </a:fld>
            <a:endParaRPr lang="en-US"/>
          </a:p>
        </p:txBody>
      </p:sp>
    </p:spTree>
    <p:extLst>
      <p:ext uri="{BB962C8B-B14F-4D97-AF65-F5344CB8AC3E}">
        <p14:creationId xmlns:p14="http://schemas.microsoft.com/office/powerpoint/2010/main" val="161063274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87CC9-681E-E18C-C471-5DF09AB091D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6062F7F-931E-0EEB-3308-86AB41721878}"/>
              </a:ext>
            </a:extLst>
          </p:cNvPr>
          <p:cNvSpPr>
            <a:spLocks noGrp="1"/>
          </p:cNvSpPr>
          <p:nvPr>
            <p:ph type="pic" idx="1"/>
          </p:nvPr>
        </p:nvSpPr>
        <p:spPr>
          <a:xfrm>
            <a:off x="5183188" y="987426"/>
            <a:ext cx="6172200" cy="4873625"/>
          </a:xfrm>
          <a:prstGeom prst="rect">
            <a:avLst/>
          </a:prstGeo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11D53049-6A71-9C9C-17FC-4C8AA53889A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6C8849-F269-B02B-E1B6-0244E27EA434}"/>
              </a:ext>
            </a:extLst>
          </p:cNvPr>
          <p:cNvSpPr>
            <a:spLocks noGrp="1"/>
          </p:cNvSpPr>
          <p:nvPr>
            <p:ph type="dt" sz="half" idx="10"/>
          </p:nvPr>
        </p:nvSpPr>
        <p:spPr>
          <a:xfrm>
            <a:off x="838200" y="6356352"/>
            <a:ext cx="2743200" cy="365125"/>
          </a:xfrm>
          <a:prstGeom prst="rect">
            <a:avLst/>
          </a:prstGeom>
        </p:spPr>
        <p:txBody>
          <a:bodyPr/>
          <a:lstStyle/>
          <a:p>
            <a:fld id="{DDF6E286-A2FF-4F4C-BFBB-715343D262B2}" type="datetimeFigureOut">
              <a:rPr lang="en-US" smtClean="0"/>
              <a:t>8/24/26</a:t>
            </a:fld>
            <a:endParaRPr lang="en-US"/>
          </a:p>
        </p:txBody>
      </p:sp>
      <p:sp>
        <p:nvSpPr>
          <p:cNvPr id="6" name="Footer Placeholder 5">
            <a:extLst>
              <a:ext uri="{FF2B5EF4-FFF2-40B4-BE49-F238E27FC236}">
                <a16:creationId xmlns:a16="http://schemas.microsoft.com/office/drawing/2014/main" id="{ECA2AF30-3333-F676-51F6-E2481FF7EFDB}"/>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AC4730B-CA8C-B60E-A6A7-6F579B73BD1B}"/>
              </a:ext>
            </a:extLst>
          </p:cNvPr>
          <p:cNvSpPr>
            <a:spLocks noGrp="1"/>
          </p:cNvSpPr>
          <p:nvPr>
            <p:ph type="sldNum" sz="quarter" idx="12"/>
          </p:nvPr>
        </p:nvSpPr>
        <p:spPr>
          <a:xfrm>
            <a:off x="8610600" y="6356352"/>
            <a:ext cx="2743200" cy="365125"/>
          </a:xfrm>
          <a:prstGeom prst="rect">
            <a:avLst/>
          </a:prstGeom>
        </p:spPr>
        <p:txBody>
          <a:bodyPr/>
          <a:lstStyle/>
          <a:p>
            <a:fld id="{D2DE381C-6115-394E-9B1D-E01715CC2F42}" type="slidenum">
              <a:rPr lang="en-US" smtClean="0"/>
              <a:t>‹#›</a:t>
            </a:fld>
            <a:endParaRPr lang="en-US"/>
          </a:p>
        </p:txBody>
      </p:sp>
    </p:spTree>
    <p:extLst>
      <p:ext uri="{BB962C8B-B14F-4D97-AF65-F5344CB8AC3E}">
        <p14:creationId xmlns:p14="http://schemas.microsoft.com/office/powerpoint/2010/main" val="352484783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EF76A-895B-76B8-80AD-2006E5F01D1D}"/>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C44F8D-4FDA-A163-5B74-3F8E5537F49F}"/>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8FF72F-B11F-AA45-C7A9-1405B4644177}"/>
              </a:ext>
            </a:extLst>
          </p:cNvPr>
          <p:cNvSpPr>
            <a:spLocks noGrp="1"/>
          </p:cNvSpPr>
          <p:nvPr>
            <p:ph type="dt" sz="half" idx="10"/>
          </p:nvPr>
        </p:nvSpPr>
        <p:spPr>
          <a:xfrm>
            <a:off x="838200" y="6356352"/>
            <a:ext cx="2743200" cy="365125"/>
          </a:xfrm>
          <a:prstGeom prst="rect">
            <a:avLst/>
          </a:prstGeom>
        </p:spPr>
        <p:txBody>
          <a:bodyPr/>
          <a:lstStyle/>
          <a:p>
            <a:fld id="{DDF6E286-A2FF-4F4C-BFBB-715343D262B2}" type="datetimeFigureOut">
              <a:rPr lang="en-US" smtClean="0"/>
              <a:t>8/24/26</a:t>
            </a:fld>
            <a:endParaRPr lang="en-US"/>
          </a:p>
        </p:txBody>
      </p:sp>
      <p:sp>
        <p:nvSpPr>
          <p:cNvPr id="5" name="Footer Placeholder 4">
            <a:extLst>
              <a:ext uri="{FF2B5EF4-FFF2-40B4-BE49-F238E27FC236}">
                <a16:creationId xmlns:a16="http://schemas.microsoft.com/office/drawing/2014/main" id="{7EF9AEC2-B1A6-E319-1674-8BF9C9CD9CBE}"/>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68A7127-5C61-2C44-1CB6-81552920C0EB}"/>
              </a:ext>
            </a:extLst>
          </p:cNvPr>
          <p:cNvSpPr>
            <a:spLocks noGrp="1"/>
          </p:cNvSpPr>
          <p:nvPr>
            <p:ph type="sldNum" sz="quarter" idx="12"/>
          </p:nvPr>
        </p:nvSpPr>
        <p:spPr>
          <a:xfrm>
            <a:off x="8610600" y="6356352"/>
            <a:ext cx="2743200" cy="365125"/>
          </a:xfrm>
          <a:prstGeom prst="rect">
            <a:avLst/>
          </a:prstGeom>
        </p:spPr>
        <p:txBody>
          <a:bodyPr/>
          <a:lstStyle/>
          <a:p>
            <a:fld id="{D2DE381C-6115-394E-9B1D-E01715CC2F42}" type="slidenum">
              <a:rPr lang="en-US" smtClean="0"/>
              <a:t>‹#›</a:t>
            </a:fld>
            <a:endParaRPr lang="en-US"/>
          </a:p>
        </p:txBody>
      </p:sp>
    </p:spTree>
    <p:extLst>
      <p:ext uri="{BB962C8B-B14F-4D97-AF65-F5344CB8AC3E}">
        <p14:creationId xmlns:p14="http://schemas.microsoft.com/office/powerpoint/2010/main" val="102819505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02EAE5-E2B9-C008-6292-FAD682FA6708}"/>
              </a:ext>
            </a:extLst>
          </p:cNvPr>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D39DBC6-B73B-9654-2B39-335EC5FDEB54}"/>
              </a:ext>
            </a:extLst>
          </p:cNvPr>
          <p:cNvSpPr>
            <a:spLocks noGrp="1"/>
          </p:cNvSpPr>
          <p:nvPr>
            <p:ph type="body" orient="vert" idx="1"/>
          </p:nvPr>
        </p:nvSpPr>
        <p:spPr>
          <a:xfrm>
            <a:off x="838201"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28FBA4-89F7-8CF1-7669-21EFE4E74089}"/>
              </a:ext>
            </a:extLst>
          </p:cNvPr>
          <p:cNvSpPr>
            <a:spLocks noGrp="1"/>
          </p:cNvSpPr>
          <p:nvPr>
            <p:ph type="dt" sz="half" idx="10"/>
          </p:nvPr>
        </p:nvSpPr>
        <p:spPr>
          <a:xfrm>
            <a:off x="838200" y="6356352"/>
            <a:ext cx="2743200" cy="365125"/>
          </a:xfrm>
          <a:prstGeom prst="rect">
            <a:avLst/>
          </a:prstGeom>
        </p:spPr>
        <p:txBody>
          <a:bodyPr/>
          <a:lstStyle/>
          <a:p>
            <a:fld id="{DDF6E286-A2FF-4F4C-BFBB-715343D262B2}" type="datetimeFigureOut">
              <a:rPr lang="en-US" smtClean="0"/>
              <a:t>8/24/26</a:t>
            </a:fld>
            <a:endParaRPr lang="en-US"/>
          </a:p>
        </p:txBody>
      </p:sp>
      <p:sp>
        <p:nvSpPr>
          <p:cNvPr id="5" name="Footer Placeholder 4">
            <a:extLst>
              <a:ext uri="{FF2B5EF4-FFF2-40B4-BE49-F238E27FC236}">
                <a16:creationId xmlns:a16="http://schemas.microsoft.com/office/drawing/2014/main" id="{CA1098F4-53AA-414B-C97F-AE150E41052F}"/>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7BB94A8-5C7B-9067-048D-2B3F6653CB05}"/>
              </a:ext>
            </a:extLst>
          </p:cNvPr>
          <p:cNvSpPr>
            <a:spLocks noGrp="1"/>
          </p:cNvSpPr>
          <p:nvPr>
            <p:ph type="sldNum" sz="quarter" idx="12"/>
          </p:nvPr>
        </p:nvSpPr>
        <p:spPr>
          <a:xfrm>
            <a:off x="8610600" y="6356352"/>
            <a:ext cx="2743200" cy="365125"/>
          </a:xfrm>
          <a:prstGeom prst="rect">
            <a:avLst/>
          </a:prstGeom>
        </p:spPr>
        <p:txBody>
          <a:bodyPr/>
          <a:lstStyle/>
          <a:p>
            <a:fld id="{D2DE381C-6115-394E-9B1D-E01715CC2F42}" type="slidenum">
              <a:rPr lang="en-US" smtClean="0"/>
              <a:t>‹#›</a:t>
            </a:fld>
            <a:endParaRPr lang="en-US"/>
          </a:p>
        </p:txBody>
      </p:sp>
    </p:spTree>
    <p:extLst>
      <p:ext uri="{BB962C8B-B14F-4D97-AF65-F5344CB8AC3E}">
        <p14:creationId xmlns:p14="http://schemas.microsoft.com/office/powerpoint/2010/main" val="52204727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72A17-B6C7-86C0-F2CD-E942EE86BBE0}"/>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774EE8-1199-00BC-B578-9E5937403A45}"/>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BA3440-2BFE-4751-F8FF-CC83CF723C55}"/>
              </a:ext>
            </a:extLst>
          </p:cNvPr>
          <p:cNvSpPr>
            <a:spLocks noGrp="1"/>
          </p:cNvSpPr>
          <p:nvPr>
            <p:ph type="dt" sz="half" idx="10"/>
          </p:nvPr>
        </p:nvSpPr>
        <p:spPr>
          <a:xfrm>
            <a:off x="838200" y="6356352"/>
            <a:ext cx="2743200" cy="365125"/>
          </a:xfrm>
          <a:prstGeom prst="rect">
            <a:avLst/>
          </a:prstGeom>
        </p:spPr>
        <p:txBody>
          <a:bodyPr/>
          <a:lstStyle/>
          <a:p>
            <a:fld id="{6BF0A65C-9E9F-3A47-BAF9-B5F39906EFB8}" type="datetimeFigureOut">
              <a:rPr lang="en-US" smtClean="0"/>
              <a:t>8/24/26</a:t>
            </a:fld>
            <a:endParaRPr lang="en-US"/>
          </a:p>
        </p:txBody>
      </p:sp>
      <p:sp>
        <p:nvSpPr>
          <p:cNvPr id="5" name="Footer Placeholder 4">
            <a:extLst>
              <a:ext uri="{FF2B5EF4-FFF2-40B4-BE49-F238E27FC236}">
                <a16:creationId xmlns:a16="http://schemas.microsoft.com/office/drawing/2014/main" id="{57C7C4CB-2283-20B2-CD55-848A83D37CCE}"/>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C372CBB-DA16-28E7-ABB7-F78E3A0C7DD5}"/>
              </a:ext>
            </a:extLst>
          </p:cNvPr>
          <p:cNvSpPr>
            <a:spLocks noGrp="1"/>
          </p:cNvSpPr>
          <p:nvPr>
            <p:ph type="sldNum" sz="quarter" idx="12"/>
          </p:nvPr>
        </p:nvSpPr>
        <p:spPr>
          <a:xfrm>
            <a:off x="8610600" y="6356352"/>
            <a:ext cx="2743200" cy="365125"/>
          </a:xfrm>
          <a:prstGeom prst="rect">
            <a:avLst/>
          </a:prstGeom>
        </p:spPr>
        <p:txBody>
          <a:bodyPr/>
          <a:lstStyle/>
          <a:p>
            <a:fld id="{4528D8C8-ACDC-3549-A042-1F49ADFFE976}" type="slidenum">
              <a:rPr lang="en-US" smtClean="0"/>
              <a:t>‹#›</a:t>
            </a:fld>
            <a:endParaRPr lang="en-US"/>
          </a:p>
        </p:txBody>
      </p:sp>
    </p:spTree>
    <p:extLst>
      <p:ext uri="{BB962C8B-B14F-4D97-AF65-F5344CB8AC3E}">
        <p14:creationId xmlns:p14="http://schemas.microsoft.com/office/powerpoint/2010/main" val="156176567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045F3-9C77-EF85-4374-9A0EFBE23D51}"/>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74B3FCC-C6D4-05A4-47FE-022F9AA39A4F}"/>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6E0482-7C17-E018-F63E-34C6EB7BE3FE}"/>
              </a:ext>
            </a:extLst>
          </p:cNvPr>
          <p:cNvSpPr>
            <a:spLocks noGrp="1"/>
          </p:cNvSpPr>
          <p:nvPr>
            <p:ph type="dt" sz="half" idx="10"/>
          </p:nvPr>
        </p:nvSpPr>
        <p:spPr>
          <a:xfrm>
            <a:off x="838200" y="6356352"/>
            <a:ext cx="2743200" cy="365125"/>
          </a:xfrm>
          <a:prstGeom prst="rect">
            <a:avLst/>
          </a:prstGeom>
        </p:spPr>
        <p:txBody>
          <a:bodyPr/>
          <a:lstStyle/>
          <a:p>
            <a:fld id="{6BF0A65C-9E9F-3A47-BAF9-B5F39906EFB8}" type="datetimeFigureOut">
              <a:rPr lang="en-US" smtClean="0"/>
              <a:t>8/24/26</a:t>
            </a:fld>
            <a:endParaRPr lang="en-US"/>
          </a:p>
        </p:txBody>
      </p:sp>
      <p:sp>
        <p:nvSpPr>
          <p:cNvPr id="5" name="Footer Placeholder 4">
            <a:extLst>
              <a:ext uri="{FF2B5EF4-FFF2-40B4-BE49-F238E27FC236}">
                <a16:creationId xmlns:a16="http://schemas.microsoft.com/office/drawing/2014/main" id="{0FA3FF38-22BB-4119-2484-DB8B4B1C1BB6}"/>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3CDDA24-A3A4-47DC-DF2E-2F4C9A17D15D}"/>
              </a:ext>
            </a:extLst>
          </p:cNvPr>
          <p:cNvSpPr>
            <a:spLocks noGrp="1"/>
          </p:cNvSpPr>
          <p:nvPr>
            <p:ph type="sldNum" sz="quarter" idx="12"/>
          </p:nvPr>
        </p:nvSpPr>
        <p:spPr>
          <a:xfrm>
            <a:off x="8610600" y="6356352"/>
            <a:ext cx="2743200" cy="365125"/>
          </a:xfrm>
          <a:prstGeom prst="rect">
            <a:avLst/>
          </a:prstGeom>
        </p:spPr>
        <p:txBody>
          <a:bodyPr/>
          <a:lstStyle/>
          <a:p>
            <a:fld id="{4528D8C8-ACDC-3549-A042-1F49ADFFE976}" type="slidenum">
              <a:rPr lang="en-US" smtClean="0"/>
              <a:t>‹#›</a:t>
            </a:fld>
            <a:endParaRPr lang="en-US"/>
          </a:p>
        </p:txBody>
      </p:sp>
    </p:spTree>
    <p:extLst>
      <p:ext uri="{BB962C8B-B14F-4D97-AF65-F5344CB8AC3E}">
        <p14:creationId xmlns:p14="http://schemas.microsoft.com/office/powerpoint/2010/main" val="272973315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AA992-1D54-B551-9FB0-3613485EFC4B}"/>
              </a:ext>
            </a:extLst>
          </p:cNvPr>
          <p:cNvSpPr>
            <a:spLocks noGrp="1"/>
          </p:cNvSpPr>
          <p:nvPr>
            <p:ph type="title"/>
          </p:nvPr>
        </p:nvSpPr>
        <p:spPr>
          <a:xfrm>
            <a:off x="831849"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E16FEA8-DF88-1683-115B-ACC64772023E}"/>
              </a:ext>
            </a:extLst>
          </p:cNvPr>
          <p:cNvSpPr>
            <a:spLocks noGrp="1"/>
          </p:cNvSpPr>
          <p:nvPr>
            <p:ph type="body" idx="1"/>
          </p:nvPr>
        </p:nvSpPr>
        <p:spPr>
          <a:xfrm>
            <a:off x="831849" y="4589465"/>
            <a:ext cx="10515600" cy="1500187"/>
          </a:xfrm>
          <a:prstGeom prst="rect">
            <a:avLst/>
          </a:prstGeom>
        </p:spPr>
        <p:txBody>
          <a:bodyPr/>
          <a:lstStyle>
            <a:lvl1pPr marL="0" indent="0">
              <a:buNone/>
              <a:defRPr sz="2400">
                <a:solidFill>
                  <a:schemeClr val="tx1">
                    <a:tint val="82000"/>
                  </a:schemeClr>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C2BAA0-A6F7-555F-3B03-454C027356C8}"/>
              </a:ext>
            </a:extLst>
          </p:cNvPr>
          <p:cNvSpPr>
            <a:spLocks noGrp="1"/>
          </p:cNvSpPr>
          <p:nvPr>
            <p:ph type="dt" sz="half" idx="10"/>
          </p:nvPr>
        </p:nvSpPr>
        <p:spPr>
          <a:xfrm>
            <a:off x="838200" y="6356352"/>
            <a:ext cx="2743200" cy="365125"/>
          </a:xfrm>
          <a:prstGeom prst="rect">
            <a:avLst/>
          </a:prstGeom>
        </p:spPr>
        <p:txBody>
          <a:bodyPr/>
          <a:lstStyle/>
          <a:p>
            <a:fld id="{6BF0A65C-9E9F-3A47-BAF9-B5F39906EFB8}" type="datetimeFigureOut">
              <a:rPr lang="en-US" smtClean="0"/>
              <a:t>8/24/26</a:t>
            </a:fld>
            <a:endParaRPr lang="en-US"/>
          </a:p>
        </p:txBody>
      </p:sp>
      <p:sp>
        <p:nvSpPr>
          <p:cNvPr id="5" name="Footer Placeholder 4">
            <a:extLst>
              <a:ext uri="{FF2B5EF4-FFF2-40B4-BE49-F238E27FC236}">
                <a16:creationId xmlns:a16="http://schemas.microsoft.com/office/drawing/2014/main" id="{420DB5CD-0D66-DD01-2944-5B72BF2ACB1F}"/>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F367FFB-53B3-B705-DE6E-F4B117CE896E}"/>
              </a:ext>
            </a:extLst>
          </p:cNvPr>
          <p:cNvSpPr>
            <a:spLocks noGrp="1"/>
          </p:cNvSpPr>
          <p:nvPr>
            <p:ph type="sldNum" sz="quarter" idx="12"/>
          </p:nvPr>
        </p:nvSpPr>
        <p:spPr>
          <a:xfrm>
            <a:off x="8610600" y="6356352"/>
            <a:ext cx="2743200" cy="365125"/>
          </a:xfrm>
          <a:prstGeom prst="rect">
            <a:avLst/>
          </a:prstGeom>
        </p:spPr>
        <p:txBody>
          <a:bodyPr/>
          <a:lstStyle/>
          <a:p>
            <a:fld id="{4528D8C8-ACDC-3549-A042-1F49ADFFE976}" type="slidenum">
              <a:rPr lang="en-US" smtClean="0"/>
              <a:t>‹#›</a:t>
            </a:fld>
            <a:endParaRPr lang="en-US"/>
          </a:p>
        </p:txBody>
      </p:sp>
    </p:spTree>
    <p:extLst>
      <p:ext uri="{BB962C8B-B14F-4D97-AF65-F5344CB8AC3E}">
        <p14:creationId xmlns:p14="http://schemas.microsoft.com/office/powerpoint/2010/main" val="403609826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479C6-BD4D-817F-394C-2DDD99FC6A1C}"/>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7085708C-DAB6-93A9-C39A-E25FD6B942C9}"/>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FBBAC1-D5D4-EB97-41C7-13030AAC4FC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4243DC-736D-A2E4-34BC-12BD6C1C1DDB}"/>
              </a:ext>
            </a:extLst>
          </p:cNvPr>
          <p:cNvSpPr>
            <a:spLocks noGrp="1"/>
          </p:cNvSpPr>
          <p:nvPr>
            <p:ph type="dt" sz="half" idx="10"/>
          </p:nvPr>
        </p:nvSpPr>
        <p:spPr>
          <a:xfrm>
            <a:off x="838200" y="6356352"/>
            <a:ext cx="2743200" cy="365125"/>
          </a:xfrm>
          <a:prstGeom prst="rect">
            <a:avLst/>
          </a:prstGeom>
        </p:spPr>
        <p:txBody>
          <a:bodyPr/>
          <a:lstStyle/>
          <a:p>
            <a:fld id="{6BF0A65C-9E9F-3A47-BAF9-B5F39906EFB8}" type="datetimeFigureOut">
              <a:rPr lang="en-US" smtClean="0"/>
              <a:t>8/24/26</a:t>
            </a:fld>
            <a:endParaRPr lang="en-US"/>
          </a:p>
        </p:txBody>
      </p:sp>
      <p:sp>
        <p:nvSpPr>
          <p:cNvPr id="6" name="Footer Placeholder 5">
            <a:extLst>
              <a:ext uri="{FF2B5EF4-FFF2-40B4-BE49-F238E27FC236}">
                <a16:creationId xmlns:a16="http://schemas.microsoft.com/office/drawing/2014/main" id="{DB075835-EA99-DBEF-D0E7-D5F66D5F9DA1}"/>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AD99610-1858-8F04-9D69-C04B3C099717}"/>
              </a:ext>
            </a:extLst>
          </p:cNvPr>
          <p:cNvSpPr>
            <a:spLocks noGrp="1"/>
          </p:cNvSpPr>
          <p:nvPr>
            <p:ph type="sldNum" sz="quarter" idx="12"/>
          </p:nvPr>
        </p:nvSpPr>
        <p:spPr>
          <a:xfrm>
            <a:off x="8610600" y="6356352"/>
            <a:ext cx="2743200" cy="365125"/>
          </a:xfrm>
          <a:prstGeom prst="rect">
            <a:avLst/>
          </a:prstGeom>
        </p:spPr>
        <p:txBody>
          <a:bodyPr/>
          <a:lstStyle/>
          <a:p>
            <a:fld id="{4528D8C8-ACDC-3549-A042-1F49ADFFE976}" type="slidenum">
              <a:rPr lang="en-US" smtClean="0"/>
              <a:t>‹#›</a:t>
            </a:fld>
            <a:endParaRPr lang="en-US"/>
          </a:p>
        </p:txBody>
      </p:sp>
    </p:spTree>
    <p:extLst>
      <p:ext uri="{BB962C8B-B14F-4D97-AF65-F5344CB8AC3E}">
        <p14:creationId xmlns:p14="http://schemas.microsoft.com/office/powerpoint/2010/main" val="286239807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4390E-7AE8-0AB8-4509-4C8F4B4BA10E}"/>
              </a:ext>
            </a:extLst>
          </p:cNvPr>
          <p:cNvSpPr>
            <a:spLocks noGrp="1"/>
          </p:cNvSpPr>
          <p:nvPr>
            <p:ph type="title"/>
          </p:nvPr>
        </p:nvSpPr>
        <p:spPr>
          <a:xfrm>
            <a:off x="839788" y="365126"/>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CB261A6-5371-A9E8-6294-F40EF1D1AD1C}"/>
              </a:ext>
            </a:extLst>
          </p:cNvPr>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B62FB7-FE8F-F0F4-4F1B-010AA8D84D24}"/>
              </a:ext>
            </a:extLst>
          </p:cNvPr>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AA35334-C7DA-6EF1-6471-6589B226110F}"/>
              </a:ext>
            </a:extLst>
          </p:cNvPr>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9F5592-87E8-7AB3-4EFA-2BDF64D004D2}"/>
              </a:ext>
            </a:extLst>
          </p:cNvPr>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6E5C8C-03F2-A05C-EBC9-BE1F5AE8375E}"/>
              </a:ext>
            </a:extLst>
          </p:cNvPr>
          <p:cNvSpPr>
            <a:spLocks noGrp="1"/>
          </p:cNvSpPr>
          <p:nvPr>
            <p:ph type="dt" sz="half" idx="10"/>
          </p:nvPr>
        </p:nvSpPr>
        <p:spPr>
          <a:xfrm>
            <a:off x="838200" y="6356352"/>
            <a:ext cx="2743200" cy="365125"/>
          </a:xfrm>
          <a:prstGeom prst="rect">
            <a:avLst/>
          </a:prstGeom>
        </p:spPr>
        <p:txBody>
          <a:bodyPr/>
          <a:lstStyle/>
          <a:p>
            <a:fld id="{6BF0A65C-9E9F-3A47-BAF9-B5F39906EFB8}" type="datetimeFigureOut">
              <a:rPr lang="en-US" smtClean="0"/>
              <a:t>8/24/26</a:t>
            </a:fld>
            <a:endParaRPr lang="en-US"/>
          </a:p>
        </p:txBody>
      </p:sp>
      <p:sp>
        <p:nvSpPr>
          <p:cNvPr id="8" name="Footer Placeholder 7">
            <a:extLst>
              <a:ext uri="{FF2B5EF4-FFF2-40B4-BE49-F238E27FC236}">
                <a16:creationId xmlns:a16="http://schemas.microsoft.com/office/drawing/2014/main" id="{740B4766-2067-9B3C-371E-93B3E19998EB}"/>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94A54D4A-DE58-AA20-D3E1-F5416FEE1FDF}"/>
              </a:ext>
            </a:extLst>
          </p:cNvPr>
          <p:cNvSpPr>
            <a:spLocks noGrp="1"/>
          </p:cNvSpPr>
          <p:nvPr>
            <p:ph type="sldNum" sz="quarter" idx="12"/>
          </p:nvPr>
        </p:nvSpPr>
        <p:spPr>
          <a:xfrm>
            <a:off x="8610600" y="6356352"/>
            <a:ext cx="2743200" cy="365125"/>
          </a:xfrm>
          <a:prstGeom prst="rect">
            <a:avLst/>
          </a:prstGeom>
        </p:spPr>
        <p:txBody>
          <a:bodyPr/>
          <a:lstStyle/>
          <a:p>
            <a:fld id="{4528D8C8-ACDC-3549-A042-1F49ADFFE976}" type="slidenum">
              <a:rPr lang="en-US" smtClean="0"/>
              <a:t>‹#›</a:t>
            </a:fld>
            <a:endParaRPr lang="en-US"/>
          </a:p>
        </p:txBody>
      </p:sp>
    </p:spTree>
    <p:extLst>
      <p:ext uri="{BB962C8B-B14F-4D97-AF65-F5344CB8AC3E}">
        <p14:creationId xmlns:p14="http://schemas.microsoft.com/office/powerpoint/2010/main" val="185566570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C62F4-5042-1502-64F1-391284AE91BE}"/>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1DDF0BDE-042E-FBA5-EA16-72438285F272}"/>
              </a:ext>
            </a:extLst>
          </p:cNvPr>
          <p:cNvSpPr>
            <a:spLocks noGrp="1"/>
          </p:cNvSpPr>
          <p:nvPr>
            <p:ph type="dt" sz="half" idx="10"/>
          </p:nvPr>
        </p:nvSpPr>
        <p:spPr>
          <a:xfrm>
            <a:off x="838200" y="6356352"/>
            <a:ext cx="2743200" cy="365125"/>
          </a:xfrm>
          <a:prstGeom prst="rect">
            <a:avLst/>
          </a:prstGeom>
        </p:spPr>
        <p:txBody>
          <a:bodyPr/>
          <a:lstStyle/>
          <a:p>
            <a:fld id="{6BF0A65C-9E9F-3A47-BAF9-B5F39906EFB8}" type="datetimeFigureOut">
              <a:rPr lang="en-US" smtClean="0"/>
              <a:t>8/24/26</a:t>
            </a:fld>
            <a:endParaRPr lang="en-US"/>
          </a:p>
        </p:txBody>
      </p:sp>
      <p:sp>
        <p:nvSpPr>
          <p:cNvPr id="4" name="Footer Placeholder 3">
            <a:extLst>
              <a:ext uri="{FF2B5EF4-FFF2-40B4-BE49-F238E27FC236}">
                <a16:creationId xmlns:a16="http://schemas.microsoft.com/office/drawing/2014/main" id="{5CDD81C7-1813-B54E-A277-7954FFEB31BB}"/>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7E5F5B33-3EFD-795C-C8E2-CD8FD821CF3A}"/>
              </a:ext>
            </a:extLst>
          </p:cNvPr>
          <p:cNvSpPr>
            <a:spLocks noGrp="1"/>
          </p:cNvSpPr>
          <p:nvPr>
            <p:ph type="sldNum" sz="quarter" idx="12"/>
          </p:nvPr>
        </p:nvSpPr>
        <p:spPr>
          <a:xfrm>
            <a:off x="8610600" y="6356352"/>
            <a:ext cx="2743200" cy="365125"/>
          </a:xfrm>
          <a:prstGeom prst="rect">
            <a:avLst/>
          </a:prstGeom>
        </p:spPr>
        <p:txBody>
          <a:bodyPr/>
          <a:lstStyle/>
          <a:p>
            <a:fld id="{4528D8C8-ACDC-3549-A042-1F49ADFFE976}" type="slidenum">
              <a:rPr lang="en-US" smtClean="0"/>
              <a:t>‹#›</a:t>
            </a:fld>
            <a:endParaRPr lang="en-US"/>
          </a:p>
        </p:txBody>
      </p:sp>
    </p:spTree>
    <p:extLst>
      <p:ext uri="{BB962C8B-B14F-4D97-AF65-F5344CB8AC3E}">
        <p14:creationId xmlns:p14="http://schemas.microsoft.com/office/powerpoint/2010/main" val="132191705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922D77-0EC0-CB26-E9AC-D2418042CB64}"/>
              </a:ext>
            </a:extLst>
          </p:cNvPr>
          <p:cNvSpPr>
            <a:spLocks noGrp="1"/>
          </p:cNvSpPr>
          <p:nvPr>
            <p:ph type="dt" sz="half" idx="10"/>
          </p:nvPr>
        </p:nvSpPr>
        <p:spPr>
          <a:xfrm>
            <a:off x="838200" y="6356352"/>
            <a:ext cx="2743200" cy="365125"/>
          </a:xfrm>
          <a:prstGeom prst="rect">
            <a:avLst/>
          </a:prstGeom>
        </p:spPr>
        <p:txBody>
          <a:bodyPr/>
          <a:lstStyle/>
          <a:p>
            <a:fld id="{6BF0A65C-9E9F-3A47-BAF9-B5F39906EFB8}" type="datetimeFigureOut">
              <a:rPr lang="en-US" smtClean="0"/>
              <a:t>8/24/26</a:t>
            </a:fld>
            <a:endParaRPr lang="en-US"/>
          </a:p>
        </p:txBody>
      </p:sp>
      <p:sp>
        <p:nvSpPr>
          <p:cNvPr id="3" name="Footer Placeholder 2">
            <a:extLst>
              <a:ext uri="{FF2B5EF4-FFF2-40B4-BE49-F238E27FC236}">
                <a16:creationId xmlns:a16="http://schemas.microsoft.com/office/drawing/2014/main" id="{D3555A64-E8C9-B8DB-E724-92EB6BEC9D6B}"/>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BB299635-8865-4B18-3B5D-AD8D134C676E}"/>
              </a:ext>
            </a:extLst>
          </p:cNvPr>
          <p:cNvSpPr>
            <a:spLocks noGrp="1"/>
          </p:cNvSpPr>
          <p:nvPr>
            <p:ph type="sldNum" sz="quarter" idx="12"/>
          </p:nvPr>
        </p:nvSpPr>
        <p:spPr>
          <a:xfrm>
            <a:off x="8610600" y="6356352"/>
            <a:ext cx="2743200" cy="365125"/>
          </a:xfrm>
          <a:prstGeom prst="rect">
            <a:avLst/>
          </a:prstGeom>
        </p:spPr>
        <p:txBody>
          <a:bodyPr/>
          <a:lstStyle/>
          <a:p>
            <a:fld id="{4528D8C8-ACDC-3549-A042-1F49ADFFE976}" type="slidenum">
              <a:rPr lang="en-US" smtClean="0"/>
              <a:t>‹#›</a:t>
            </a:fld>
            <a:endParaRPr lang="en-US"/>
          </a:p>
        </p:txBody>
      </p:sp>
    </p:spTree>
    <p:extLst>
      <p:ext uri="{BB962C8B-B14F-4D97-AF65-F5344CB8AC3E}">
        <p14:creationId xmlns:p14="http://schemas.microsoft.com/office/powerpoint/2010/main" val="236433719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E23A5-9EAC-6E94-1D3C-57F385511B5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7F25537-79D6-78C8-374F-7CBBA4D23D6B}"/>
              </a:ext>
            </a:extLst>
          </p:cNvPr>
          <p:cNvSpPr>
            <a:spLocks noGrp="1"/>
          </p:cNvSpPr>
          <p:nvPr>
            <p:ph idx="1"/>
          </p:nvPr>
        </p:nvSpPr>
        <p:spPr>
          <a:xfrm>
            <a:off x="5183188"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EC6994D-9DA8-3611-ABE1-5CC76C2861E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B273C1-BD03-E8F2-6346-404F77BA3C48}"/>
              </a:ext>
            </a:extLst>
          </p:cNvPr>
          <p:cNvSpPr>
            <a:spLocks noGrp="1"/>
          </p:cNvSpPr>
          <p:nvPr>
            <p:ph type="dt" sz="half" idx="10"/>
          </p:nvPr>
        </p:nvSpPr>
        <p:spPr>
          <a:xfrm>
            <a:off x="838200" y="6356352"/>
            <a:ext cx="2743200" cy="365125"/>
          </a:xfrm>
          <a:prstGeom prst="rect">
            <a:avLst/>
          </a:prstGeom>
        </p:spPr>
        <p:txBody>
          <a:bodyPr/>
          <a:lstStyle/>
          <a:p>
            <a:fld id="{6BF0A65C-9E9F-3A47-BAF9-B5F39906EFB8}" type="datetimeFigureOut">
              <a:rPr lang="en-US" smtClean="0"/>
              <a:t>8/24/26</a:t>
            </a:fld>
            <a:endParaRPr lang="en-US"/>
          </a:p>
        </p:txBody>
      </p:sp>
      <p:sp>
        <p:nvSpPr>
          <p:cNvPr id="6" name="Footer Placeholder 5">
            <a:extLst>
              <a:ext uri="{FF2B5EF4-FFF2-40B4-BE49-F238E27FC236}">
                <a16:creationId xmlns:a16="http://schemas.microsoft.com/office/drawing/2014/main" id="{CFF0A029-8837-C10C-1291-6AB7F0B29043}"/>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CB7AA69-C4E1-6ABB-C865-89F07EDA857D}"/>
              </a:ext>
            </a:extLst>
          </p:cNvPr>
          <p:cNvSpPr>
            <a:spLocks noGrp="1"/>
          </p:cNvSpPr>
          <p:nvPr>
            <p:ph type="sldNum" sz="quarter" idx="12"/>
          </p:nvPr>
        </p:nvSpPr>
        <p:spPr>
          <a:xfrm>
            <a:off x="8610600" y="6356352"/>
            <a:ext cx="2743200" cy="365125"/>
          </a:xfrm>
          <a:prstGeom prst="rect">
            <a:avLst/>
          </a:prstGeom>
        </p:spPr>
        <p:txBody>
          <a:bodyPr/>
          <a:lstStyle/>
          <a:p>
            <a:fld id="{4528D8C8-ACDC-3549-A042-1F49ADFFE976}" type="slidenum">
              <a:rPr lang="en-US" smtClean="0"/>
              <a:t>‹#›</a:t>
            </a:fld>
            <a:endParaRPr lang="en-US"/>
          </a:p>
        </p:txBody>
      </p:sp>
    </p:spTree>
    <p:extLst>
      <p:ext uri="{BB962C8B-B14F-4D97-AF65-F5344CB8AC3E}">
        <p14:creationId xmlns:p14="http://schemas.microsoft.com/office/powerpoint/2010/main" val="297450250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C9977-21AE-937E-A7E0-BD977C4F812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1669990-9D83-E9FE-49A0-A19D33DB7B7A}"/>
              </a:ext>
            </a:extLst>
          </p:cNvPr>
          <p:cNvSpPr>
            <a:spLocks noGrp="1"/>
          </p:cNvSpPr>
          <p:nvPr>
            <p:ph type="pic" idx="1"/>
          </p:nvPr>
        </p:nvSpPr>
        <p:spPr>
          <a:xfrm>
            <a:off x="5183188" y="987426"/>
            <a:ext cx="6172200" cy="4873625"/>
          </a:xfrm>
          <a:prstGeom prst="rect">
            <a:avLst/>
          </a:prstGeo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EDA6FAD1-7396-98A3-4661-E76E5E253BD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1AC4C0-3783-5D4B-EA94-9F1A8C40F214}"/>
              </a:ext>
            </a:extLst>
          </p:cNvPr>
          <p:cNvSpPr>
            <a:spLocks noGrp="1"/>
          </p:cNvSpPr>
          <p:nvPr>
            <p:ph type="dt" sz="half" idx="10"/>
          </p:nvPr>
        </p:nvSpPr>
        <p:spPr>
          <a:xfrm>
            <a:off x="838200" y="6356352"/>
            <a:ext cx="2743200" cy="365125"/>
          </a:xfrm>
          <a:prstGeom prst="rect">
            <a:avLst/>
          </a:prstGeom>
        </p:spPr>
        <p:txBody>
          <a:bodyPr/>
          <a:lstStyle/>
          <a:p>
            <a:fld id="{6BF0A65C-9E9F-3A47-BAF9-B5F39906EFB8}" type="datetimeFigureOut">
              <a:rPr lang="en-US" smtClean="0"/>
              <a:t>8/24/26</a:t>
            </a:fld>
            <a:endParaRPr lang="en-US"/>
          </a:p>
        </p:txBody>
      </p:sp>
      <p:sp>
        <p:nvSpPr>
          <p:cNvPr id="6" name="Footer Placeholder 5">
            <a:extLst>
              <a:ext uri="{FF2B5EF4-FFF2-40B4-BE49-F238E27FC236}">
                <a16:creationId xmlns:a16="http://schemas.microsoft.com/office/drawing/2014/main" id="{AAECFC90-9EA5-DFF9-99A9-04197B2A2A0F}"/>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B1C4DFE-BBDC-3A2A-1E7E-A503EFDF14B5}"/>
              </a:ext>
            </a:extLst>
          </p:cNvPr>
          <p:cNvSpPr>
            <a:spLocks noGrp="1"/>
          </p:cNvSpPr>
          <p:nvPr>
            <p:ph type="sldNum" sz="quarter" idx="12"/>
          </p:nvPr>
        </p:nvSpPr>
        <p:spPr>
          <a:xfrm>
            <a:off x="8610600" y="6356352"/>
            <a:ext cx="2743200" cy="365125"/>
          </a:xfrm>
          <a:prstGeom prst="rect">
            <a:avLst/>
          </a:prstGeom>
        </p:spPr>
        <p:txBody>
          <a:bodyPr/>
          <a:lstStyle/>
          <a:p>
            <a:fld id="{4528D8C8-ACDC-3549-A042-1F49ADFFE976}" type="slidenum">
              <a:rPr lang="en-US" smtClean="0"/>
              <a:t>‹#›</a:t>
            </a:fld>
            <a:endParaRPr lang="en-US"/>
          </a:p>
        </p:txBody>
      </p:sp>
    </p:spTree>
    <p:extLst>
      <p:ext uri="{BB962C8B-B14F-4D97-AF65-F5344CB8AC3E}">
        <p14:creationId xmlns:p14="http://schemas.microsoft.com/office/powerpoint/2010/main" val="370343025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89EC3-4FCC-7304-157A-C423B48C5EC9}"/>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2DD7D9-69C4-21FC-4BC7-6FE50A1590CC}"/>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65740D-B713-447A-F9A0-D96E34A5468A}"/>
              </a:ext>
            </a:extLst>
          </p:cNvPr>
          <p:cNvSpPr>
            <a:spLocks noGrp="1"/>
          </p:cNvSpPr>
          <p:nvPr>
            <p:ph type="dt" sz="half" idx="10"/>
          </p:nvPr>
        </p:nvSpPr>
        <p:spPr>
          <a:xfrm>
            <a:off x="838200" y="6356352"/>
            <a:ext cx="2743200" cy="365125"/>
          </a:xfrm>
          <a:prstGeom prst="rect">
            <a:avLst/>
          </a:prstGeom>
        </p:spPr>
        <p:txBody>
          <a:bodyPr/>
          <a:lstStyle/>
          <a:p>
            <a:fld id="{6BF0A65C-9E9F-3A47-BAF9-B5F39906EFB8}" type="datetimeFigureOut">
              <a:rPr lang="en-US" smtClean="0"/>
              <a:t>8/24/26</a:t>
            </a:fld>
            <a:endParaRPr lang="en-US"/>
          </a:p>
        </p:txBody>
      </p:sp>
      <p:sp>
        <p:nvSpPr>
          <p:cNvPr id="5" name="Footer Placeholder 4">
            <a:extLst>
              <a:ext uri="{FF2B5EF4-FFF2-40B4-BE49-F238E27FC236}">
                <a16:creationId xmlns:a16="http://schemas.microsoft.com/office/drawing/2014/main" id="{D23A1E5D-D1D3-399D-03F8-B642E60B1DE8}"/>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29AE6B6-28F7-7672-7E04-01C9BA08CCAA}"/>
              </a:ext>
            </a:extLst>
          </p:cNvPr>
          <p:cNvSpPr>
            <a:spLocks noGrp="1"/>
          </p:cNvSpPr>
          <p:nvPr>
            <p:ph type="sldNum" sz="quarter" idx="12"/>
          </p:nvPr>
        </p:nvSpPr>
        <p:spPr>
          <a:xfrm>
            <a:off x="8610600" y="6356352"/>
            <a:ext cx="2743200" cy="365125"/>
          </a:xfrm>
          <a:prstGeom prst="rect">
            <a:avLst/>
          </a:prstGeom>
        </p:spPr>
        <p:txBody>
          <a:bodyPr/>
          <a:lstStyle/>
          <a:p>
            <a:fld id="{4528D8C8-ACDC-3549-A042-1F49ADFFE976}" type="slidenum">
              <a:rPr lang="en-US" smtClean="0"/>
              <a:t>‹#›</a:t>
            </a:fld>
            <a:endParaRPr lang="en-US"/>
          </a:p>
        </p:txBody>
      </p:sp>
    </p:spTree>
    <p:extLst>
      <p:ext uri="{BB962C8B-B14F-4D97-AF65-F5344CB8AC3E}">
        <p14:creationId xmlns:p14="http://schemas.microsoft.com/office/powerpoint/2010/main" val="102457828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95FCD1-6C61-B308-BFC6-05E59042C6E0}"/>
              </a:ext>
            </a:extLst>
          </p:cNvPr>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B06F883-8DC7-A71F-284C-DD236F2A0A2F}"/>
              </a:ext>
            </a:extLst>
          </p:cNvPr>
          <p:cNvSpPr>
            <a:spLocks noGrp="1"/>
          </p:cNvSpPr>
          <p:nvPr>
            <p:ph type="body" orient="vert" idx="1"/>
          </p:nvPr>
        </p:nvSpPr>
        <p:spPr>
          <a:xfrm>
            <a:off x="838201"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DBAF41-2398-774B-4F9A-156271A1F0DA}"/>
              </a:ext>
            </a:extLst>
          </p:cNvPr>
          <p:cNvSpPr>
            <a:spLocks noGrp="1"/>
          </p:cNvSpPr>
          <p:nvPr>
            <p:ph type="dt" sz="half" idx="10"/>
          </p:nvPr>
        </p:nvSpPr>
        <p:spPr>
          <a:xfrm>
            <a:off x="838200" y="6356352"/>
            <a:ext cx="2743200" cy="365125"/>
          </a:xfrm>
          <a:prstGeom prst="rect">
            <a:avLst/>
          </a:prstGeom>
        </p:spPr>
        <p:txBody>
          <a:bodyPr/>
          <a:lstStyle/>
          <a:p>
            <a:fld id="{6BF0A65C-9E9F-3A47-BAF9-B5F39906EFB8}" type="datetimeFigureOut">
              <a:rPr lang="en-US" smtClean="0"/>
              <a:t>8/24/26</a:t>
            </a:fld>
            <a:endParaRPr lang="en-US"/>
          </a:p>
        </p:txBody>
      </p:sp>
      <p:sp>
        <p:nvSpPr>
          <p:cNvPr id="5" name="Footer Placeholder 4">
            <a:extLst>
              <a:ext uri="{FF2B5EF4-FFF2-40B4-BE49-F238E27FC236}">
                <a16:creationId xmlns:a16="http://schemas.microsoft.com/office/drawing/2014/main" id="{76800752-094C-4E83-347E-9EEF3E40AE3B}"/>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C453E29-EC8A-83C9-64E9-139F66D349AD}"/>
              </a:ext>
            </a:extLst>
          </p:cNvPr>
          <p:cNvSpPr>
            <a:spLocks noGrp="1"/>
          </p:cNvSpPr>
          <p:nvPr>
            <p:ph type="sldNum" sz="quarter" idx="12"/>
          </p:nvPr>
        </p:nvSpPr>
        <p:spPr>
          <a:xfrm>
            <a:off x="8610600" y="6356352"/>
            <a:ext cx="2743200" cy="365125"/>
          </a:xfrm>
          <a:prstGeom prst="rect">
            <a:avLst/>
          </a:prstGeom>
        </p:spPr>
        <p:txBody>
          <a:bodyPr/>
          <a:lstStyle/>
          <a:p>
            <a:fld id="{4528D8C8-ACDC-3549-A042-1F49ADFFE976}" type="slidenum">
              <a:rPr lang="en-US" smtClean="0"/>
              <a:t>‹#›</a:t>
            </a:fld>
            <a:endParaRPr lang="en-US"/>
          </a:p>
        </p:txBody>
      </p:sp>
    </p:spTree>
    <p:extLst>
      <p:ext uri="{BB962C8B-B14F-4D97-AF65-F5344CB8AC3E}">
        <p14:creationId xmlns:p14="http://schemas.microsoft.com/office/powerpoint/2010/main" val="355379042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08FA-0703-B36A-3FEB-648CA0EB1A1A}"/>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0060D1-E884-3DDD-EB3C-0750782220AD}"/>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B19C31A-7A95-191C-B24F-CFDE1E8FA0F9}"/>
              </a:ext>
            </a:extLst>
          </p:cNvPr>
          <p:cNvSpPr>
            <a:spLocks noGrp="1"/>
          </p:cNvSpPr>
          <p:nvPr>
            <p:ph type="dt" sz="half" idx="10"/>
          </p:nvPr>
        </p:nvSpPr>
        <p:spPr>
          <a:xfrm>
            <a:off x="838200" y="6356352"/>
            <a:ext cx="2743200" cy="365125"/>
          </a:xfrm>
          <a:prstGeom prst="rect">
            <a:avLst/>
          </a:prstGeom>
        </p:spPr>
        <p:txBody>
          <a:bodyPr/>
          <a:lstStyle/>
          <a:p>
            <a:fld id="{1FB6B0E5-7A44-A54E-94CE-3ECC2007356C}" type="datetimeFigureOut">
              <a:rPr lang="en-US" smtClean="0"/>
              <a:t>8/24/26</a:t>
            </a:fld>
            <a:endParaRPr lang="en-US"/>
          </a:p>
        </p:txBody>
      </p:sp>
      <p:sp>
        <p:nvSpPr>
          <p:cNvPr id="5" name="Footer Placeholder 4">
            <a:extLst>
              <a:ext uri="{FF2B5EF4-FFF2-40B4-BE49-F238E27FC236}">
                <a16:creationId xmlns:a16="http://schemas.microsoft.com/office/drawing/2014/main" id="{97F43CE6-2C0B-9A94-FA4A-45648C6D6067}"/>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671E985-2CCE-ECD6-9C56-1F7CE8CC95D6}"/>
              </a:ext>
            </a:extLst>
          </p:cNvPr>
          <p:cNvSpPr>
            <a:spLocks noGrp="1"/>
          </p:cNvSpPr>
          <p:nvPr>
            <p:ph type="sldNum" sz="quarter" idx="12"/>
          </p:nvPr>
        </p:nvSpPr>
        <p:spPr>
          <a:xfrm>
            <a:off x="8610600" y="6356352"/>
            <a:ext cx="2743200" cy="365125"/>
          </a:xfrm>
          <a:prstGeom prst="rect">
            <a:avLst/>
          </a:prstGeom>
        </p:spPr>
        <p:txBody>
          <a:bodyPr/>
          <a:lstStyle/>
          <a:p>
            <a:fld id="{3561843E-3B7E-B143-AEB0-F39CC84CA2F6}" type="slidenum">
              <a:rPr lang="en-US" smtClean="0"/>
              <a:t>‹#›</a:t>
            </a:fld>
            <a:endParaRPr lang="en-US"/>
          </a:p>
        </p:txBody>
      </p:sp>
    </p:spTree>
    <p:extLst>
      <p:ext uri="{BB962C8B-B14F-4D97-AF65-F5344CB8AC3E}">
        <p14:creationId xmlns:p14="http://schemas.microsoft.com/office/powerpoint/2010/main" val="411150755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07816-2021-D571-21DC-FB57E1AFA3C6}"/>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1F04A35-2CFD-28B7-F881-EC8C3C6676F3}"/>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3350D7-1268-B784-8816-21F108E7C6A8}"/>
              </a:ext>
            </a:extLst>
          </p:cNvPr>
          <p:cNvSpPr>
            <a:spLocks noGrp="1"/>
          </p:cNvSpPr>
          <p:nvPr>
            <p:ph type="dt" sz="half" idx="10"/>
          </p:nvPr>
        </p:nvSpPr>
        <p:spPr>
          <a:xfrm>
            <a:off x="838200" y="6356352"/>
            <a:ext cx="2743200" cy="365125"/>
          </a:xfrm>
          <a:prstGeom prst="rect">
            <a:avLst/>
          </a:prstGeom>
        </p:spPr>
        <p:txBody>
          <a:bodyPr/>
          <a:lstStyle/>
          <a:p>
            <a:fld id="{1FB6B0E5-7A44-A54E-94CE-3ECC2007356C}" type="datetimeFigureOut">
              <a:rPr lang="en-US" smtClean="0"/>
              <a:t>8/24/26</a:t>
            </a:fld>
            <a:endParaRPr lang="en-US"/>
          </a:p>
        </p:txBody>
      </p:sp>
      <p:sp>
        <p:nvSpPr>
          <p:cNvPr id="5" name="Footer Placeholder 4">
            <a:extLst>
              <a:ext uri="{FF2B5EF4-FFF2-40B4-BE49-F238E27FC236}">
                <a16:creationId xmlns:a16="http://schemas.microsoft.com/office/drawing/2014/main" id="{E21207EC-5AE9-3A79-28DB-0A0E70908C96}"/>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35D398B-CF2D-20CA-FA92-5AEB7081BD68}"/>
              </a:ext>
            </a:extLst>
          </p:cNvPr>
          <p:cNvSpPr>
            <a:spLocks noGrp="1"/>
          </p:cNvSpPr>
          <p:nvPr>
            <p:ph type="sldNum" sz="quarter" idx="12"/>
          </p:nvPr>
        </p:nvSpPr>
        <p:spPr>
          <a:xfrm>
            <a:off x="8610600" y="6356352"/>
            <a:ext cx="2743200" cy="365125"/>
          </a:xfrm>
          <a:prstGeom prst="rect">
            <a:avLst/>
          </a:prstGeom>
        </p:spPr>
        <p:txBody>
          <a:bodyPr/>
          <a:lstStyle/>
          <a:p>
            <a:fld id="{3561843E-3B7E-B143-AEB0-F39CC84CA2F6}" type="slidenum">
              <a:rPr lang="en-US" smtClean="0"/>
              <a:t>‹#›</a:t>
            </a:fld>
            <a:endParaRPr lang="en-US"/>
          </a:p>
        </p:txBody>
      </p:sp>
    </p:spTree>
    <p:extLst>
      <p:ext uri="{BB962C8B-B14F-4D97-AF65-F5344CB8AC3E}">
        <p14:creationId xmlns:p14="http://schemas.microsoft.com/office/powerpoint/2010/main" val="282766576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50DE8-4657-03E5-10A8-30FEB800E07B}"/>
              </a:ext>
            </a:extLst>
          </p:cNvPr>
          <p:cNvSpPr>
            <a:spLocks noGrp="1"/>
          </p:cNvSpPr>
          <p:nvPr>
            <p:ph type="title"/>
          </p:nvPr>
        </p:nvSpPr>
        <p:spPr>
          <a:xfrm>
            <a:off x="831849"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DDE5470-C0E8-C407-2C17-C73FDC496FC9}"/>
              </a:ext>
            </a:extLst>
          </p:cNvPr>
          <p:cNvSpPr>
            <a:spLocks noGrp="1"/>
          </p:cNvSpPr>
          <p:nvPr>
            <p:ph type="body" idx="1"/>
          </p:nvPr>
        </p:nvSpPr>
        <p:spPr>
          <a:xfrm>
            <a:off x="831849" y="4589465"/>
            <a:ext cx="10515600" cy="1500187"/>
          </a:xfrm>
          <a:prstGeom prst="rect">
            <a:avLst/>
          </a:prstGeom>
        </p:spPr>
        <p:txBody>
          <a:bodyPr/>
          <a:lstStyle>
            <a:lvl1pPr marL="0" indent="0">
              <a:buNone/>
              <a:defRPr sz="2400">
                <a:solidFill>
                  <a:schemeClr val="tx1">
                    <a:tint val="82000"/>
                  </a:schemeClr>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8DBE0F-D28C-D808-9395-4519C24C17F2}"/>
              </a:ext>
            </a:extLst>
          </p:cNvPr>
          <p:cNvSpPr>
            <a:spLocks noGrp="1"/>
          </p:cNvSpPr>
          <p:nvPr>
            <p:ph type="dt" sz="half" idx="10"/>
          </p:nvPr>
        </p:nvSpPr>
        <p:spPr>
          <a:xfrm>
            <a:off x="838200" y="6356352"/>
            <a:ext cx="2743200" cy="365125"/>
          </a:xfrm>
          <a:prstGeom prst="rect">
            <a:avLst/>
          </a:prstGeom>
        </p:spPr>
        <p:txBody>
          <a:bodyPr/>
          <a:lstStyle/>
          <a:p>
            <a:fld id="{1FB6B0E5-7A44-A54E-94CE-3ECC2007356C}" type="datetimeFigureOut">
              <a:rPr lang="en-US" smtClean="0"/>
              <a:t>8/24/26</a:t>
            </a:fld>
            <a:endParaRPr lang="en-US"/>
          </a:p>
        </p:txBody>
      </p:sp>
      <p:sp>
        <p:nvSpPr>
          <p:cNvPr id="5" name="Footer Placeholder 4">
            <a:extLst>
              <a:ext uri="{FF2B5EF4-FFF2-40B4-BE49-F238E27FC236}">
                <a16:creationId xmlns:a16="http://schemas.microsoft.com/office/drawing/2014/main" id="{9CC302B6-46F8-8ABF-ECA2-8118AA6F73F8}"/>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BEF96A8-94DD-E66B-51ED-7AC66DC65048}"/>
              </a:ext>
            </a:extLst>
          </p:cNvPr>
          <p:cNvSpPr>
            <a:spLocks noGrp="1"/>
          </p:cNvSpPr>
          <p:nvPr>
            <p:ph type="sldNum" sz="quarter" idx="12"/>
          </p:nvPr>
        </p:nvSpPr>
        <p:spPr>
          <a:xfrm>
            <a:off x="8610600" y="6356352"/>
            <a:ext cx="2743200" cy="365125"/>
          </a:xfrm>
          <a:prstGeom prst="rect">
            <a:avLst/>
          </a:prstGeom>
        </p:spPr>
        <p:txBody>
          <a:bodyPr/>
          <a:lstStyle/>
          <a:p>
            <a:fld id="{3561843E-3B7E-B143-AEB0-F39CC84CA2F6}" type="slidenum">
              <a:rPr lang="en-US" smtClean="0"/>
              <a:t>‹#›</a:t>
            </a:fld>
            <a:endParaRPr lang="en-US"/>
          </a:p>
        </p:txBody>
      </p:sp>
    </p:spTree>
    <p:extLst>
      <p:ext uri="{BB962C8B-B14F-4D97-AF65-F5344CB8AC3E}">
        <p14:creationId xmlns:p14="http://schemas.microsoft.com/office/powerpoint/2010/main" val="221592731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B1574-A866-1A22-6FEA-527BDB82A2CD}"/>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3D5D91CF-EB7B-9B84-B37A-2D7958B839C3}"/>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3D8EF8-98FC-7524-36DE-81BFFE842E46}"/>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F56A70A-D4FE-07D7-077A-C286B5880106}"/>
              </a:ext>
            </a:extLst>
          </p:cNvPr>
          <p:cNvSpPr>
            <a:spLocks noGrp="1"/>
          </p:cNvSpPr>
          <p:nvPr>
            <p:ph type="dt" sz="half" idx="10"/>
          </p:nvPr>
        </p:nvSpPr>
        <p:spPr>
          <a:xfrm>
            <a:off x="838200" y="6356352"/>
            <a:ext cx="2743200" cy="365125"/>
          </a:xfrm>
          <a:prstGeom prst="rect">
            <a:avLst/>
          </a:prstGeom>
        </p:spPr>
        <p:txBody>
          <a:bodyPr/>
          <a:lstStyle/>
          <a:p>
            <a:fld id="{1FB6B0E5-7A44-A54E-94CE-3ECC2007356C}" type="datetimeFigureOut">
              <a:rPr lang="en-US" smtClean="0"/>
              <a:t>8/24/26</a:t>
            </a:fld>
            <a:endParaRPr lang="en-US"/>
          </a:p>
        </p:txBody>
      </p:sp>
      <p:sp>
        <p:nvSpPr>
          <p:cNvPr id="6" name="Footer Placeholder 5">
            <a:extLst>
              <a:ext uri="{FF2B5EF4-FFF2-40B4-BE49-F238E27FC236}">
                <a16:creationId xmlns:a16="http://schemas.microsoft.com/office/drawing/2014/main" id="{12CE9587-1D4B-96B2-7DFB-8C061CA5D3D7}"/>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F0A578C-2F9C-B01B-9398-D73077FEC858}"/>
              </a:ext>
            </a:extLst>
          </p:cNvPr>
          <p:cNvSpPr>
            <a:spLocks noGrp="1"/>
          </p:cNvSpPr>
          <p:nvPr>
            <p:ph type="sldNum" sz="quarter" idx="12"/>
          </p:nvPr>
        </p:nvSpPr>
        <p:spPr>
          <a:xfrm>
            <a:off x="8610600" y="6356352"/>
            <a:ext cx="2743200" cy="365125"/>
          </a:xfrm>
          <a:prstGeom prst="rect">
            <a:avLst/>
          </a:prstGeom>
        </p:spPr>
        <p:txBody>
          <a:bodyPr/>
          <a:lstStyle/>
          <a:p>
            <a:fld id="{3561843E-3B7E-B143-AEB0-F39CC84CA2F6}" type="slidenum">
              <a:rPr lang="en-US" smtClean="0"/>
              <a:t>‹#›</a:t>
            </a:fld>
            <a:endParaRPr lang="en-US"/>
          </a:p>
        </p:txBody>
      </p:sp>
    </p:spTree>
    <p:extLst>
      <p:ext uri="{BB962C8B-B14F-4D97-AF65-F5344CB8AC3E}">
        <p14:creationId xmlns:p14="http://schemas.microsoft.com/office/powerpoint/2010/main" val="367326878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935C-F531-578F-B3C0-26E7F9392A67}"/>
              </a:ext>
            </a:extLst>
          </p:cNvPr>
          <p:cNvSpPr>
            <a:spLocks noGrp="1"/>
          </p:cNvSpPr>
          <p:nvPr>
            <p:ph type="title"/>
          </p:nvPr>
        </p:nvSpPr>
        <p:spPr>
          <a:xfrm>
            <a:off x="839788" y="365126"/>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34B46554-D466-E5CF-733E-0E410E99F746}"/>
              </a:ext>
            </a:extLst>
          </p:cNvPr>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65707E-042A-5857-8865-2A71D3B55757}"/>
              </a:ext>
            </a:extLst>
          </p:cNvPr>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923E932-E619-48B9-0D70-086976F990DF}"/>
              </a:ext>
            </a:extLst>
          </p:cNvPr>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FD42E1-49AC-5C4F-CB68-53F480F08629}"/>
              </a:ext>
            </a:extLst>
          </p:cNvPr>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8D1DEF-27FC-3FF7-161E-7EE4E3AF8D9E}"/>
              </a:ext>
            </a:extLst>
          </p:cNvPr>
          <p:cNvSpPr>
            <a:spLocks noGrp="1"/>
          </p:cNvSpPr>
          <p:nvPr>
            <p:ph type="dt" sz="half" idx="10"/>
          </p:nvPr>
        </p:nvSpPr>
        <p:spPr>
          <a:xfrm>
            <a:off x="838200" y="6356352"/>
            <a:ext cx="2743200" cy="365125"/>
          </a:xfrm>
          <a:prstGeom prst="rect">
            <a:avLst/>
          </a:prstGeom>
        </p:spPr>
        <p:txBody>
          <a:bodyPr/>
          <a:lstStyle/>
          <a:p>
            <a:fld id="{1FB6B0E5-7A44-A54E-94CE-3ECC2007356C}" type="datetimeFigureOut">
              <a:rPr lang="en-US" smtClean="0"/>
              <a:t>8/24/26</a:t>
            </a:fld>
            <a:endParaRPr lang="en-US"/>
          </a:p>
        </p:txBody>
      </p:sp>
      <p:sp>
        <p:nvSpPr>
          <p:cNvPr id="8" name="Footer Placeholder 7">
            <a:extLst>
              <a:ext uri="{FF2B5EF4-FFF2-40B4-BE49-F238E27FC236}">
                <a16:creationId xmlns:a16="http://schemas.microsoft.com/office/drawing/2014/main" id="{BD2E6EB1-F130-907E-9419-4291BD2341BA}"/>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D46ED8F2-FC05-52D0-A70D-6084182EA0F0}"/>
              </a:ext>
            </a:extLst>
          </p:cNvPr>
          <p:cNvSpPr>
            <a:spLocks noGrp="1"/>
          </p:cNvSpPr>
          <p:nvPr>
            <p:ph type="sldNum" sz="quarter" idx="12"/>
          </p:nvPr>
        </p:nvSpPr>
        <p:spPr>
          <a:xfrm>
            <a:off x="8610600" y="6356352"/>
            <a:ext cx="2743200" cy="365125"/>
          </a:xfrm>
          <a:prstGeom prst="rect">
            <a:avLst/>
          </a:prstGeom>
        </p:spPr>
        <p:txBody>
          <a:bodyPr/>
          <a:lstStyle/>
          <a:p>
            <a:fld id="{3561843E-3B7E-B143-AEB0-F39CC84CA2F6}" type="slidenum">
              <a:rPr lang="en-US" smtClean="0"/>
              <a:t>‹#›</a:t>
            </a:fld>
            <a:endParaRPr lang="en-US"/>
          </a:p>
        </p:txBody>
      </p:sp>
    </p:spTree>
    <p:extLst>
      <p:ext uri="{BB962C8B-B14F-4D97-AF65-F5344CB8AC3E}">
        <p14:creationId xmlns:p14="http://schemas.microsoft.com/office/powerpoint/2010/main" val="300654118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FA73B-BC09-A578-9E12-27E4BF30EBA8}"/>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ED099749-A83D-CF23-1D0D-93B470921F6E}"/>
              </a:ext>
            </a:extLst>
          </p:cNvPr>
          <p:cNvSpPr>
            <a:spLocks noGrp="1"/>
          </p:cNvSpPr>
          <p:nvPr>
            <p:ph type="dt" sz="half" idx="10"/>
          </p:nvPr>
        </p:nvSpPr>
        <p:spPr>
          <a:xfrm>
            <a:off x="838200" y="6356352"/>
            <a:ext cx="2743200" cy="365125"/>
          </a:xfrm>
          <a:prstGeom prst="rect">
            <a:avLst/>
          </a:prstGeom>
        </p:spPr>
        <p:txBody>
          <a:bodyPr/>
          <a:lstStyle/>
          <a:p>
            <a:fld id="{1FB6B0E5-7A44-A54E-94CE-3ECC2007356C}" type="datetimeFigureOut">
              <a:rPr lang="en-US" smtClean="0"/>
              <a:t>8/24/26</a:t>
            </a:fld>
            <a:endParaRPr lang="en-US"/>
          </a:p>
        </p:txBody>
      </p:sp>
      <p:sp>
        <p:nvSpPr>
          <p:cNvPr id="4" name="Footer Placeholder 3">
            <a:extLst>
              <a:ext uri="{FF2B5EF4-FFF2-40B4-BE49-F238E27FC236}">
                <a16:creationId xmlns:a16="http://schemas.microsoft.com/office/drawing/2014/main" id="{76484D5A-3CFA-43B3-78BD-33DF1BF262D2}"/>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4F16A61-C5A6-4F66-463D-1E760B8B36EF}"/>
              </a:ext>
            </a:extLst>
          </p:cNvPr>
          <p:cNvSpPr>
            <a:spLocks noGrp="1"/>
          </p:cNvSpPr>
          <p:nvPr>
            <p:ph type="sldNum" sz="quarter" idx="12"/>
          </p:nvPr>
        </p:nvSpPr>
        <p:spPr>
          <a:xfrm>
            <a:off x="8610600" y="6356352"/>
            <a:ext cx="2743200" cy="365125"/>
          </a:xfrm>
          <a:prstGeom prst="rect">
            <a:avLst/>
          </a:prstGeom>
        </p:spPr>
        <p:txBody>
          <a:bodyPr/>
          <a:lstStyle/>
          <a:p>
            <a:fld id="{3561843E-3B7E-B143-AEB0-F39CC84CA2F6}" type="slidenum">
              <a:rPr lang="en-US" smtClean="0"/>
              <a:t>‹#›</a:t>
            </a:fld>
            <a:endParaRPr lang="en-US"/>
          </a:p>
        </p:txBody>
      </p:sp>
    </p:spTree>
    <p:extLst>
      <p:ext uri="{BB962C8B-B14F-4D97-AF65-F5344CB8AC3E}">
        <p14:creationId xmlns:p14="http://schemas.microsoft.com/office/powerpoint/2010/main" val="372912320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5B2880-983D-EB28-C363-F7D82A04AD7E}"/>
              </a:ext>
            </a:extLst>
          </p:cNvPr>
          <p:cNvSpPr>
            <a:spLocks noGrp="1"/>
          </p:cNvSpPr>
          <p:nvPr>
            <p:ph type="dt" sz="half" idx="10"/>
          </p:nvPr>
        </p:nvSpPr>
        <p:spPr>
          <a:xfrm>
            <a:off x="838200" y="6356352"/>
            <a:ext cx="2743200" cy="365125"/>
          </a:xfrm>
          <a:prstGeom prst="rect">
            <a:avLst/>
          </a:prstGeom>
        </p:spPr>
        <p:txBody>
          <a:bodyPr/>
          <a:lstStyle/>
          <a:p>
            <a:fld id="{1FB6B0E5-7A44-A54E-94CE-3ECC2007356C}" type="datetimeFigureOut">
              <a:rPr lang="en-US" smtClean="0"/>
              <a:t>8/24/26</a:t>
            </a:fld>
            <a:endParaRPr lang="en-US"/>
          </a:p>
        </p:txBody>
      </p:sp>
      <p:sp>
        <p:nvSpPr>
          <p:cNvPr id="3" name="Footer Placeholder 2">
            <a:extLst>
              <a:ext uri="{FF2B5EF4-FFF2-40B4-BE49-F238E27FC236}">
                <a16:creationId xmlns:a16="http://schemas.microsoft.com/office/drawing/2014/main" id="{35EEBD71-112E-3592-B466-D377A3606695}"/>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E7213B50-458D-BE88-E05B-628EB5877E03}"/>
              </a:ext>
            </a:extLst>
          </p:cNvPr>
          <p:cNvSpPr>
            <a:spLocks noGrp="1"/>
          </p:cNvSpPr>
          <p:nvPr>
            <p:ph type="sldNum" sz="quarter" idx="12"/>
          </p:nvPr>
        </p:nvSpPr>
        <p:spPr>
          <a:xfrm>
            <a:off x="8610600" y="6356352"/>
            <a:ext cx="2743200" cy="365125"/>
          </a:xfrm>
          <a:prstGeom prst="rect">
            <a:avLst/>
          </a:prstGeom>
        </p:spPr>
        <p:txBody>
          <a:bodyPr/>
          <a:lstStyle/>
          <a:p>
            <a:fld id="{3561843E-3B7E-B143-AEB0-F39CC84CA2F6}" type="slidenum">
              <a:rPr lang="en-US" smtClean="0"/>
              <a:t>‹#›</a:t>
            </a:fld>
            <a:endParaRPr lang="en-US"/>
          </a:p>
        </p:txBody>
      </p:sp>
    </p:spTree>
    <p:extLst>
      <p:ext uri="{BB962C8B-B14F-4D97-AF65-F5344CB8AC3E}">
        <p14:creationId xmlns:p14="http://schemas.microsoft.com/office/powerpoint/2010/main" val="203671717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B5042-9657-A4B8-60F1-610D8D8003D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7486D2-49CE-522B-9B46-56A53DE07BB8}"/>
              </a:ext>
            </a:extLst>
          </p:cNvPr>
          <p:cNvSpPr>
            <a:spLocks noGrp="1"/>
          </p:cNvSpPr>
          <p:nvPr>
            <p:ph idx="1"/>
          </p:nvPr>
        </p:nvSpPr>
        <p:spPr>
          <a:xfrm>
            <a:off x="5183188"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F4B126-6B45-FF6A-60C4-A916CBCB35A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FFBCD2-09E3-05C6-74C9-B0B1A175CB1A}"/>
              </a:ext>
            </a:extLst>
          </p:cNvPr>
          <p:cNvSpPr>
            <a:spLocks noGrp="1"/>
          </p:cNvSpPr>
          <p:nvPr>
            <p:ph type="dt" sz="half" idx="10"/>
          </p:nvPr>
        </p:nvSpPr>
        <p:spPr>
          <a:xfrm>
            <a:off x="838200" y="6356352"/>
            <a:ext cx="2743200" cy="365125"/>
          </a:xfrm>
          <a:prstGeom prst="rect">
            <a:avLst/>
          </a:prstGeom>
        </p:spPr>
        <p:txBody>
          <a:bodyPr/>
          <a:lstStyle/>
          <a:p>
            <a:fld id="{1FB6B0E5-7A44-A54E-94CE-3ECC2007356C}" type="datetimeFigureOut">
              <a:rPr lang="en-US" smtClean="0"/>
              <a:t>8/24/26</a:t>
            </a:fld>
            <a:endParaRPr lang="en-US"/>
          </a:p>
        </p:txBody>
      </p:sp>
      <p:sp>
        <p:nvSpPr>
          <p:cNvPr id="6" name="Footer Placeholder 5">
            <a:extLst>
              <a:ext uri="{FF2B5EF4-FFF2-40B4-BE49-F238E27FC236}">
                <a16:creationId xmlns:a16="http://schemas.microsoft.com/office/drawing/2014/main" id="{BE113042-44FB-F509-EAE9-2C4609CAA093}"/>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B9A0DAE-37BF-6AD4-73FE-7A72C520C2CC}"/>
              </a:ext>
            </a:extLst>
          </p:cNvPr>
          <p:cNvSpPr>
            <a:spLocks noGrp="1"/>
          </p:cNvSpPr>
          <p:nvPr>
            <p:ph type="sldNum" sz="quarter" idx="12"/>
          </p:nvPr>
        </p:nvSpPr>
        <p:spPr>
          <a:xfrm>
            <a:off x="8610600" y="6356352"/>
            <a:ext cx="2743200" cy="365125"/>
          </a:xfrm>
          <a:prstGeom prst="rect">
            <a:avLst/>
          </a:prstGeom>
        </p:spPr>
        <p:txBody>
          <a:bodyPr/>
          <a:lstStyle/>
          <a:p>
            <a:fld id="{3561843E-3B7E-B143-AEB0-F39CC84CA2F6}" type="slidenum">
              <a:rPr lang="en-US" smtClean="0"/>
              <a:t>‹#›</a:t>
            </a:fld>
            <a:endParaRPr lang="en-US"/>
          </a:p>
        </p:txBody>
      </p:sp>
    </p:spTree>
    <p:extLst>
      <p:ext uri="{BB962C8B-B14F-4D97-AF65-F5344CB8AC3E}">
        <p14:creationId xmlns:p14="http://schemas.microsoft.com/office/powerpoint/2010/main" val="413560027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DD3EF-1D4C-8AAE-D1F7-9A1915A44B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881985-BE1E-6B56-A51C-5314D3A54B1A}"/>
              </a:ext>
            </a:extLst>
          </p:cNvPr>
          <p:cNvSpPr>
            <a:spLocks noGrp="1"/>
          </p:cNvSpPr>
          <p:nvPr>
            <p:ph type="pic" idx="1"/>
          </p:nvPr>
        </p:nvSpPr>
        <p:spPr>
          <a:xfrm>
            <a:off x="5183188" y="987426"/>
            <a:ext cx="6172200" cy="4873625"/>
          </a:xfrm>
          <a:prstGeom prst="rect">
            <a:avLst/>
          </a:prstGeo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561EFE6F-1A22-3206-C7E4-E7C40E35380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1A5419-98A5-0A6F-C67C-EDAD7042C3C1}"/>
              </a:ext>
            </a:extLst>
          </p:cNvPr>
          <p:cNvSpPr>
            <a:spLocks noGrp="1"/>
          </p:cNvSpPr>
          <p:nvPr>
            <p:ph type="dt" sz="half" idx="10"/>
          </p:nvPr>
        </p:nvSpPr>
        <p:spPr>
          <a:xfrm>
            <a:off x="838200" y="6356352"/>
            <a:ext cx="2743200" cy="365125"/>
          </a:xfrm>
          <a:prstGeom prst="rect">
            <a:avLst/>
          </a:prstGeom>
        </p:spPr>
        <p:txBody>
          <a:bodyPr/>
          <a:lstStyle/>
          <a:p>
            <a:fld id="{1FB6B0E5-7A44-A54E-94CE-3ECC2007356C}" type="datetimeFigureOut">
              <a:rPr lang="en-US" smtClean="0"/>
              <a:t>8/24/26</a:t>
            </a:fld>
            <a:endParaRPr lang="en-US"/>
          </a:p>
        </p:txBody>
      </p:sp>
      <p:sp>
        <p:nvSpPr>
          <p:cNvPr id="6" name="Footer Placeholder 5">
            <a:extLst>
              <a:ext uri="{FF2B5EF4-FFF2-40B4-BE49-F238E27FC236}">
                <a16:creationId xmlns:a16="http://schemas.microsoft.com/office/drawing/2014/main" id="{42558EAE-C0A9-CFC8-69A0-4CC1DF448E83}"/>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F888EBC-7C9A-8079-EC0A-DFA8C96E3449}"/>
              </a:ext>
            </a:extLst>
          </p:cNvPr>
          <p:cNvSpPr>
            <a:spLocks noGrp="1"/>
          </p:cNvSpPr>
          <p:nvPr>
            <p:ph type="sldNum" sz="quarter" idx="12"/>
          </p:nvPr>
        </p:nvSpPr>
        <p:spPr>
          <a:xfrm>
            <a:off x="8610600" y="6356352"/>
            <a:ext cx="2743200" cy="365125"/>
          </a:xfrm>
          <a:prstGeom prst="rect">
            <a:avLst/>
          </a:prstGeom>
        </p:spPr>
        <p:txBody>
          <a:bodyPr/>
          <a:lstStyle/>
          <a:p>
            <a:fld id="{3561843E-3B7E-B143-AEB0-F39CC84CA2F6}" type="slidenum">
              <a:rPr lang="en-US" smtClean="0"/>
              <a:t>‹#›</a:t>
            </a:fld>
            <a:endParaRPr lang="en-US"/>
          </a:p>
        </p:txBody>
      </p:sp>
    </p:spTree>
    <p:extLst>
      <p:ext uri="{BB962C8B-B14F-4D97-AF65-F5344CB8AC3E}">
        <p14:creationId xmlns:p14="http://schemas.microsoft.com/office/powerpoint/2010/main" val="180523440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D2467-0580-FFA1-BBC1-3AEC32EFA84A}"/>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0D9740-722F-48C7-7551-1BD46967EA4D}"/>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E4838A-DA40-0BEE-E452-5A3CC988677D}"/>
              </a:ext>
            </a:extLst>
          </p:cNvPr>
          <p:cNvSpPr>
            <a:spLocks noGrp="1"/>
          </p:cNvSpPr>
          <p:nvPr>
            <p:ph type="dt" sz="half" idx="10"/>
          </p:nvPr>
        </p:nvSpPr>
        <p:spPr>
          <a:xfrm>
            <a:off x="838200" y="6356352"/>
            <a:ext cx="2743200" cy="365125"/>
          </a:xfrm>
          <a:prstGeom prst="rect">
            <a:avLst/>
          </a:prstGeom>
        </p:spPr>
        <p:txBody>
          <a:bodyPr/>
          <a:lstStyle/>
          <a:p>
            <a:fld id="{1FB6B0E5-7A44-A54E-94CE-3ECC2007356C}" type="datetimeFigureOut">
              <a:rPr lang="en-US" smtClean="0"/>
              <a:t>8/24/26</a:t>
            </a:fld>
            <a:endParaRPr lang="en-US"/>
          </a:p>
        </p:txBody>
      </p:sp>
      <p:sp>
        <p:nvSpPr>
          <p:cNvPr id="5" name="Footer Placeholder 4">
            <a:extLst>
              <a:ext uri="{FF2B5EF4-FFF2-40B4-BE49-F238E27FC236}">
                <a16:creationId xmlns:a16="http://schemas.microsoft.com/office/drawing/2014/main" id="{02263139-4B15-4900-7F11-359226A0F76E}"/>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19A0DA0-AE86-A7E3-4E3A-B5E536E118C8}"/>
              </a:ext>
            </a:extLst>
          </p:cNvPr>
          <p:cNvSpPr>
            <a:spLocks noGrp="1"/>
          </p:cNvSpPr>
          <p:nvPr>
            <p:ph type="sldNum" sz="quarter" idx="12"/>
          </p:nvPr>
        </p:nvSpPr>
        <p:spPr>
          <a:xfrm>
            <a:off x="8610600" y="6356352"/>
            <a:ext cx="2743200" cy="365125"/>
          </a:xfrm>
          <a:prstGeom prst="rect">
            <a:avLst/>
          </a:prstGeom>
        </p:spPr>
        <p:txBody>
          <a:bodyPr/>
          <a:lstStyle/>
          <a:p>
            <a:fld id="{3561843E-3B7E-B143-AEB0-F39CC84CA2F6}" type="slidenum">
              <a:rPr lang="en-US" smtClean="0"/>
              <a:t>‹#›</a:t>
            </a:fld>
            <a:endParaRPr lang="en-US"/>
          </a:p>
        </p:txBody>
      </p:sp>
    </p:spTree>
    <p:extLst>
      <p:ext uri="{BB962C8B-B14F-4D97-AF65-F5344CB8AC3E}">
        <p14:creationId xmlns:p14="http://schemas.microsoft.com/office/powerpoint/2010/main" val="96398335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C06B59-C8BB-BB76-FFE8-28ACF14FA73A}"/>
              </a:ext>
            </a:extLst>
          </p:cNvPr>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D274D1-E4C5-3444-C4B9-7E042AE9FB99}"/>
              </a:ext>
            </a:extLst>
          </p:cNvPr>
          <p:cNvSpPr>
            <a:spLocks noGrp="1"/>
          </p:cNvSpPr>
          <p:nvPr>
            <p:ph type="body" orient="vert" idx="1"/>
          </p:nvPr>
        </p:nvSpPr>
        <p:spPr>
          <a:xfrm>
            <a:off x="838201"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5EF9E2-BB36-FDB5-15BB-CD48117E3DCF}"/>
              </a:ext>
            </a:extLst>
          </p:cNvPr>
          <p:cNvSpPr>
            <a:spLocks noGrp="1"/>
          </p:cNvSpPr>
          <p:nvPr>
            <p:ph type="dt" sz="half" idx="10"/>
          </p:nvPr>
        </p:nvSpPr>
        <p:spPr>
          <a:xfrm>
            <a:off x="838200" y="6356352"/>
            <a:ext cx="2743200" cy="365125"/>
          </a:xfrm>
          <a:prstGeom prst="rect">
            <a:avLst/>
          </a:prstGeom>
        </p:spPr>
        <p:txBody>
          <a:bodyPr/>
          <a:lstStyle/>
          <a:p>
            <a:fld id="{1FB6B0E5-7A44-A54E-94CE-3ECC2007356C}" type="datetimeFigureOut">
              <a:rPr lang="en-US" smtClean="0"/>
              <a:t>8/24/26</a:t>
            </a:fld>
            <a:endParaRPr lang="en-US"/>
          </a:p>
        </p:txBody>
      </p:sp>
      <p:sp>
        <p:nvSpPr>
          <p:cNvPr id="5" name="Footer Placeholder 4">
            <a:extLst>
              <a:ext uri="{FF2B5EF4-FFF2-40B4-BE49-F238E27FC236}">
                <a16:creationId xmlns:a16="http://schemas.microsoft.com/office/drawing/2014/main" id="{2141EE66-D815-4852-FE3E-C7549E415D51}"/>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FB0FB7B-E30F-5F21-6BAB-8C245808D5CB}"/>
              </a:ext>
            </a:extLst>
          </p:cNvPr>
          <p:cNvSpPr>
            <a:spLocks noGrp="1"/>
          </p:cNvSpPr>
          <p:nvPr>
            <p:ph type="sldNum" sz="quarter" idx="12"/>
          </p:nvPr>
        </p:nvSpPr>
        <p:spPr>
          <a:xfrm>
            <a:off x="8610600" y="6356352"/>
            <a:ext cx="2743200" cy="365125"/>
          </a:xfrm>
          <a:prstGeom prst="rect">
            <a:avLst/>
          </a:prstGeom>
        </p:spPr>
        <p:txBody>
          <a:bodyPr/>
          <a:lstStyle/>
          <a:p>
            <a:fld id="{3561843E-3B7E-B143-AEB0-F39CC84CA2F6}" type="slidenum">
              <a:rPr lang="en-US" smtClean="0"/>
              <a:t>‹#›</a:t>
            </a:fld>
            <a:endParaRPr lang="en-US"/>
          </a:p>
        </p:txBody>
      </p:sp>
    </p:spTree>
    <p:extLst>
      <p:ext uri="{BB962C8B-B14F-4D97-AF65-F5344CB8AC3E}">
        <p14:creationId xmlns:p14="http://schemas.microsoft.com/office/powerpoint/2010/main" val="359413452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A8FD0-6FC3-5432-6FCB-0E6133F26026}"/>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662350B-BF47-EF10-AD2A-5331411CE638}"/>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C36349-D133-8C83-D58D-FF6F14545917}"/>
              </a:ext>
            </a:extLst>
          </p:cNvPr>
          <p:cNvSpPr>
            <a:spLocks noGrp="1"/>
          </p:cNvSpPr>
          <p:nvPr>
            <p:ph type="dt" sz="half" idx="10"/>
          </p:nvPr>
        </p:nvSpPr>
        <p:spPr>
          <a:xfrm>
            <a:off x="838200" y="6356352"/>
            <a:ext cx="2743200" cy="365125"/>
          </a:xfrm>
          <a:prstGeom prst="rect">
            <a:avLst/>
          </a:prstGeom>
        </p:spPr>
        <p:txBody>
          <a:bodyPr/>
          <a:lstStyle/>
          <a:p>
            <a:fld id="{52700887-E815-C247-911E-C0E62DF907DD}" type="datetimeFigureOut">
              <a:rPr lang="en-US" smtClean="0"/>
              <a:t>8/24/26</a:t>
            </a:fld>
            <a:endParaRPr lang="en-US"/>
          </a:p>
        </p:txBody>
      </p:sp>
      <p:sp>
        <p:nvSpPr>
          <p:cNvPr id="5" name="Footer Placeholder 4">
            <a:extLst>
              <a:ext uri="{FF2B5EF4-FFF2-40B4-BE49-F238E27FC236}">
                <a16:creationId xmlns:a16="http://schemas.microsoft.com/office/drawing/2014/main" id="{312914F6-EBFE-3536-6EC8-C37F2401FDB4}"/>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77CB007-615C-53DE-9F61-11F6D67277B0}"/>
              </a:ext>
            </a:extLst>
          </p:cNvPr>
          <p:cNvSpPr>
            <a:spLocks noGrp="1"/>
          </p:cNvSpPr>
          <p:nvPr>
            <p:ph type="sldNum" sz="quarter" idx="12"/>
          </p:nvPr>
        </p:nvSpPr>
        <p:spPr>
          <a:xfrm>
            <a:off x="8610600" y="6356352"/>
            <a:ext cx="2743200" cy="365125"/>
          </a:xfrm>
          <a:prstGeom prst="rect">
            <a:avLst/>
          </a:prstGeom>
        </p:spPr>
        <p:txBody>
          <a:bodyPr/>
          <a:lstStyle/>
          <a:p>
            <a:fld id="{31C83E90-E3FE-4F4D-8549-31F03FD30EC8}" type="slidenum">
              <a:rPr lang="en-US" smtClean="0"/>
              <a:t>‹#›</a:t>
            </a:fld>
            <a:endParaRPr lang="en-US"/>
          </a:p>
        </p:txBody>
      </p:sp>
    </p:spTree>
    <p:extLst>
      <p:ext uri="{BB962C8B-B14F-4D97-AF65-F5344CB8AC3E}">
        <p14:creationId xmlns:p14="http://schemas.microsoft.com/office/powerpoint/2010/main" val="373577021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CE721-0D46-6BAD-A957-43F6B74A518F}"/>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FB486F56-8E63-F24E-C424-F76B2C62851F}"/>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90CDCF-47A6-C919-807A-BC77BFB849DE}"/>
              </a:ext>
            </a:extLst>
          </p:cNvPr>
          <p:cNvSpPr>
            <a:spLocks noGrp="1"/>
          </p:cNvSpPr>
          <p:nvPr>
            <p:ph type="dt" sz="half" idx="10"/>
          </p:nvPr>
        </p:nvSpPr>
        <p:spPr>
          <a:xfrm>
            <a:off x="838200" y="6356352"/>
            <a:ext cx="2743200" cy="365125"/>
          </a:xfrm>
          <a:prstGeom prst="rect">
            <a:avLst/>
          </a:prstGeom>
        </p:spPr>
        <p:txBody>
          <a:bodyPr/>
          <a:lstStyle/>
          <a:p>
            <a:fld id="{52700887-E815-C247-911E-C0E62DF907DD}" type="datetimeFigureOut">
              <a:rPr lang="en-US" smtClean="0"/>
              <a:t>8/24/26</a:t>
            </a:fld>
            <a:endParaRPr lang="en-US"/>
          </a:p>
        </p:txBody>
      </p:sp>
      <p:sp>
        <p:nvSpPr>
          <p:cNvPr id="5" name="Footer Placeholder 4">
            <a:extLst>
              <a:ext uri="{FF2B5EF4-FFF2-40B4-BE49-F238E27FC236}">
                <a16:creationId xmlns:a16="http://schemas.microsoft.com/office/drawing/2014/main" id="{9AE6D690-2C24-C521-4BE9-E583BCF51523}"/>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379C459-EF54-4FDC-BB22-DD50FA6B31E6}"/>
              </a:ext>
            </a:extLst>
          </p:cNvPr>
          <p:cNvSpPr>
            <a:spLocks noGrp="1"/>
          </p:cNvSpPr>
          <p:nvPr>
            <p:ph type="sldNum" sz="quarter" idx="12"/>
          </p:nvPr>
        </p:nvSpPr>
        <p:spPr>
          <a:xfrm>
            <a:off x="8610600" y="6356352"/>
            <a:ext cx="2743200" cy="365125"/>
          </a:xfrm>
          <a:prstGeom prst="rect">
            <a:avLst/>
          </a:prstGeom>
        </p:spPr>
        <p:txBody>
          <a:bodyPr/>
          <a:lstStyle/>
          <a:p>
            <a:fld id="{31C83E90-E3FE-4F4D-8549-31F03FD30EC8}" type="slidenum">
              <a:rPr lang="en-US" smtClean="0"/>
              <a:t>‹#›</a:t>
            </a:fld>
            <a:endParaRPr lang="en-US"/>
          </a:p>
        </p:txBody>
      </p:sp>
    </p:spTree>
    <p:extLst>
      <p:ext uri="{BB962C8B-B14F-4D97-AF65-F5344CB8AC3E}">
        <p14:creationId xmlns:p14="http://schemas.microsoft.com/office/powerpoint/2010/main" val="345017340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22289-2242-0420-8627-694BAF6190B9}"/>
              </a:ext>
            </a:extLst>
          </p:cNvPr>
          <p:cNvSpPr>
            <a:spLocks noGrp="1"/>
          </p:cNvSpPr>
          <p:nvPr>
            <p:ph type="title"/>
          </p:nvPr>
        </p:nvSpPr>
        <p:spPr>
          <a:xfrm>
            <a:off x="831849"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E14E95-B768-7246-A454-C1FEBCF1A535}"/>
              </a:ext>
            </a:extLst>
          </p:cNvPr>
          <p:cNvSpPr>
            <a:spLocks noGrp="1"/>
          </p:cNvSpPr>
          <p:nvPr>
            <p:ph type="body" idx="1"/>
          </p:nvPr>
        </p:nvSpPr>
        <p:spPr>
          <a:xfrm>
            <a:off x="831849" y="4589465"/>
            <a:ext cx="10515600" cy="1500187"/>
          </a:xfrm>
          <a:prstGeom prst="rect">
            <a:avLst/>
          </a:prstGeom>
        </p:spPr>
        <p:txBody>
          <a:bodyPr/>
          <a:lstStyle>
            <a:lvl1pPr marL="0" indent="0">
              <a:buNone/>
              <a:defRPr sz="2400">
                <a:solidFill>
                  <a:schemeClr val="tx1">
                    <a:tint val="82000"/>
                  </a:schemeClr>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8C4C8E-1C8F-7F8A-EC02-E3191D20B719}"/>
              </a:ext>
            </a:extLst>
          </p:cNvPr>
          <p:cNvSpPr>
            <a:spLocks noGrp="1"/>
          </p:cNvSpPr>
          <p:nvPr>
            <p:ph type="dt" sz="half" idx="10"/>
          </p:nvPr>
        </p:nvSpPr>
        <p:spPr>
          <a:xfrm>
            <a:off x="838200" y="6356352"/>
            <a:ext cx="2743200" cy="365125"/>
          </a:xfrm>
          <a:prstGeom prst="rect">
            <a:avLst/>
          </a:prstGeom>
        </p:spPr>
        <p:txBody>
          <a:bodyPr/>
          <a:lstStyle/>
          <a:p>
            <a:fld id="{52700887-E815-C247-911E-C0E62DF907DD}" type="datetimeFigureOut">
              <a:rPr lang="en-US" smtClean="0"/>
              <a:t>8/24/26</a:t>
            </a:fld>
            <a:endParaRPr lang="en-US"/>
          </a:p>
        </p:txBody>
      </p:sp>
      <p:sp>
        <p:nvSpPr>
          <p:cNvPr id="5" name="Footer Placeholder 4">
            <a:extLst>
              <a:ext uri="{FF2B5EF4-FFF2-40B4-BE49-F238E27FC236}">
                <a16:creationId xmlns:a16="http://schemas.microsoft.com/office/drawing/2014/main" id="{4BA9D5D6-46AE-8FA2-B4CE-D2D5CF9D41D4}"/>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DE85EA6-B013-DA12-AE40-34AB55C38EF3}"/>
              </a:ext>
            </a:extLst>
          </p:cNvPr>
          <p:cNvSpPr>
            <a:spLocks noGrp="1"/>
          </p:cNvSpPr>
          <p:nvPr>
            <p:ph type="sldNum" sz="quarter" idx="12"/>
          </p:nvPr>
        </p:nvSpPr>
        <p:spPr>
          <a:xfrm>
            <a:off x="8610600" y="6356352"/>
            <a:ext cx="2743200" cy="365125"/>
          </a:xfrm>
          <a:prstGeom prst="rect">
            <a:avLst/>
          </a:prstGeom>
        </p:spPr>
        <p:txBody>
          <a:bodyPr/>
          <a:lstStyle/>
          <a:p>
            <a:fld id="{31C83E90-E3FE-4F4D-8549-31F03FD30EC8}" type="slidenum">
              <a:rPr lang="en-US" smtClean="0"/>
              <a:t>‹#›</a:t>
            </a:fld>
            <a:endParaRPr lang="en-US"/>
          </a:p>
        </p:txBody>
      </p:sp>
    </p:spTree>
    <p:extLst>
      <p:ext uri="{BB962C8B-B14F-4D97-AF65-F5344CB8AC3E}">
        <p14:creationId xmlns:p14="http://schemas.microsoft.com/office/powerpoint/2010/main" val="250532565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EFA7C-5A22-5C5E-83D0-CDC26DFC67D8}"/>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826C9DD8-A864-415E-E63C-0086FD1FB903}"/>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EE1118-4E09-885B-E163-C9F1EB2831AC}"/>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892C16-41F6-75C6-A9E2-B91B6EBEBAC5}"/>
              </a:ext>
            </a:extLst>
          </p:cNvPr>
          <p:cNvSpPr>
            <a:spLocks noGrp="1"/>
          </p:cNvSpPr>
          <p:nvPr>
            <p:ph type="dt" sz="half" idx="10"/>
          </p:nvPr>
        </p:nvSpPr>
        <p:spPr>
          <a:xfrm>
            <a:off x="838200" y="6356352"/>
            <a:ext cx="2743200" cy="365125"/>
          </a:xfrm>
          <a:prstGeom prst="rect">
            <a:avLst/>
          </a:prstGeom>
        </p:spPr>
        <p:txBody>
          <a:bodyPr/>
          <a:lstStyle/>
          <a:p>
            <a:fld id="{52700887-E815-C247-911E-C0E62DF907DD}" type="datetimeFigureOut">
              <a:rPr lang="en-US" smtClean="0"/>
              <a:t>8/24/26</a:t>
            </a:fld>
            <a:endParaRPr lang="en-US"/>
          </a:p>
        </p:txBody>
      </p:sp>
      <p:sp>
        <p:nvSpPr>
          <p:cNvPr id="6" name="Footer Placeholder 5">
            <a:extLst>
              <a:ext uri="{FF2B5EF4-FFF2-40B4-BE49-F238E27FC236}">
                <a16:creationId xmlns:a16="http://schemas.microsoft.com/office/drawing/2014/main" id="{30EF6AF6-F1D2-5BFF-C74C-8BEB3E6B48B3}"/>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E7274D8-57B6-246C-0498-036002928816}"/>
              </a:ext>
            </a:extLst>
          </p:cNvPr>
          <p:cNvSpPr>
            <a:spLocks noGrp="1"/>
          </p:cNvSpPr>
          <p:nvPr>
            <p:ph type="sldNum" sz="quarter" idx="12"/>
          </p:nvPr>
        </p:nvSpPr>
        <p:spPr>
          <a:xfrm>
            <a:off x="8610600" y="6356352"/>
            <a:ext cx="2743200" cy="365125"/>
          </a:xfrm>
          <a:prstGeom prst="rect">
            <a:avLst/>
          </a:prstGeom>
        </p:spPr>
        <p:txBody>
          <a:bodyPr/>
          <a:lstStyle/>
          <a:p>
            <a:fld id="{31C83E90-E3FE-4F4D-8549-31F03FD30EC8}" type="slidenum">
              <a:rPr lang="en-US" smtClean="0"/>
              <a:t>‹#›</a:t>
            </a:fld>
            <a:endParaRPr lang="en-US"/>
          </a:p>
        </p:txBody>
      </p:sp>
    </p:spTree>
    <p:extLst>
      <p:ext uri="{BB962C8B-B14F-4D97-AF65-F5344CB8AC3E}">
        <p14:creationId xmlns:p14="http://schemas.microsoft.com/office/powerpoint/2010/main" val="143674427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2ECC7-9C80-B483-6A67-42E454C85035}"/>
              </a:ext>
            </a:extLst>
          </p:cNvPr>
          <p:cNvSpPr>
            <a:spLocks noGrp="1"/>
          </p:cNvSpPr>
          <p:nvPr>
            <p:ph type="title"/>
          </p:nvPr>
        </p:nvSpPr>
        <p:spPr>
          <a:xfrm>
            <a:off x="839788" y="365126"/>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3B67549-66C1-73E6-B3C4-3186C23F741A}"/>
              </a:ext>
            </a:extLst>
          </p:cNvPr>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9DFF21-D115-D700-020F-9F86A21B8CAF}"/>
              </a:ext>
            </a:extLst>
          </p:cNvPr>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783C02-132E-6D58-74AC-288E7CCBDB5D}"/>
              </a:ext>
            </a:extLst>
          </p:cNvPr>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4CAE53-C00F-8CD0-D188-06C0266602F4}"/>
              </a:ext>
            </a:extLst>
          </p:cNvPr>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F7EB93-5457-28B8-8017-F7FBE92D96BB}"/>
              </a:ext>
            </a:extLst>
          </p:cNvPr>
          <p:cNvSpPr>
            <a:spLocks noGrp="1"/>
          </p:cNvSpPr>
          <p:nvPr>
            <p:ph type="dt" sz="half" idx="10"/>
          </p:nvPr>
        </p:nvSpPr>
        <p:spPr>
          <a:xfrm>
            <a:off x="838200" y="6356352"/>
            <a:ext cx="2743200" cy="365125"/>
          </a:xfrm>
          <a:prstGeom prst="rect">
            <a:avLst/>
          </a:prstGeom>
        </p:spPr>
        <p:txBody>
          <a:bodyPr/>
          <a:lstStyle/>
          <a:p>
            <a:fld id="{52700887-E815-C247-911E-C0E62DF907DD}" type="datetimeFigureOut">
              <a:rPr lang="en-US" smtClean="0"/>
              <a:t>8/24/26</a:t>
            </a:fld>
            <a:endParaRPr lang="en-US"/>
          </a:p>
        </p:txBody>
      </p:sp>
      <p:sp>
        <p:nvSpPr>
          <p:cNvPr id="8" name="Footer Placeholder 7">
            <a:extLst>
              <a:ext uri="{FF2B5EF4-FFF2-40B4-BE49-F238E27FC236}">
                <a16:creationId xmlns:a16="http://schemas.microsoft.com/office/drawing/2014/main" id="{3474D700-C404-A826-82F5-E5C6AD1078B3}"/>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A9AE45ED-6472-A83B-A22E-B07869169128}"/>
              </a:ext>
            </a:extLst>
          </p:cNvPr>
          <p:cNvSpPr>
            <a:spLocks noGrp="1"/>
          </p:cNvSpPr>
          <p:nvPr>
            <p:ph type="sldNum" sz="quarter" idx="12"/>
          </p:nvPr>
        </p:nvSpPr>
        <p:spPr>
          <a:xfrm>
            <a:off x="8610600" y="6356352"/>
            <a:ext cx="2743200" cy="365125"/>
          </a:xfrm>
          <a:prstGeom prst="rect">
            <a:avLst/>
          </a:prstGeom>
        </p:spPr>
        <p:txBody>
          <a:bodyPr/>
          <a:lstStyle/>
          <a:p>
            <a:fld id="{31C83E90-E3FE-4F4D-8549-31F03FD30EC8}" type="slidenum">
              <a:rPr lang="en-US" smtClean="0"/>
              <a:t>‹#›</a:t>
            </a:fld>
            <a:endParaRPr lang="en-US"/>
          </a:p>
        </p:txBody>
      </p:sp>
    </p:spTree>
    <p:extLst>
      <p:ext uri="{BB962C8B-B14F-4D97-AF65-F5344CB8AC3E}">
        <p14:creationId xmlns:p14="http://schemas.microsoft.com/office/powerpoint/2010/main" val="285724531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AA5B7-FA4C-63F3-636F-3E8348172282}"/>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553A81AD-FC3C-C2DF-08A2-220D00C7A60D}"/>
              </a:ext>
            </a:extLst>
          </p:cNvPr>
          <p:cNvSpPr>
            <a:spLocks noGrp="1"/>
          </p:cNvSpPr>
          <p:nvPr>
            <p:ph type="dt" sz="half" idx="10"/>
          </p:nvPr>
        </p:nvSpPr>
        <p:spPr>
          <a:xfrm>
            <a:off x="838200" y="6356352"/>
            <a:ext cx="2743200" cy="365125"/>
          </a:xfrm>
          <a:prstGeom prst="rect">
            <a:avLst/>
          </a:prstGeom>
        </p:spPr>
        <p:txBody>
          <a:bodyPr/>
          <a:lstStyle/>
          <a:p>
            <a:fld id="{52700887-E815-C247-911E-C0E62DF907DD}" type="datetimeFigureOut">
              <a:rPr lang="en-US" smtClean="0"/>
              <a:t>8/24/26</a:t>
            </a:fld>
            <a:endParaRPr lang="en-US"/>
          </a:p>
        </p:txBody>
      </p:sp>
      <p:sp>
        <p:nvSpPr>
          <p:cNvPr id="4" name="Footer Placeholder 3">
            <a:extLst>
              <a:ext uri="{FF2B5EF4-FFF2-40B4-BE49-F238E27FC236}">
                <a16:creationId xmlns:a16="http://schemas.microsoft.com/office/drawing/2014/main" id="{D0510CC9-A0D4-7FD9-5191-BBB1991AF9EC}"/>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5E1F00C4-D40F-B37B-7151-9E9CDF3A8884}"/>
              </a:ext>
            </a:extLst>
          </p:cNvPr>
          <p:cNvSpPr>
            <a:spLocks noGrp="1"/>
          </p:cNvSpPr>
          <p:nvPr>
            <p:ph type="sldNum" sz="quarter" idx="12"/>
          </p:nvPr>
        </p:nvSpPr>
        <p:spPr>
          <a:xfrm>
            <a:off x="8610600" y="6356352"/>
            <a:ext cx="2743200" cy="365125"/>
          </a:xfrm>
          <a:prstGeom prst="rect">
            <a:avLst/>
          </a:prstGeom>
        </p:spPr>
        <p:txBody>
          <a:bodyPr/>
          <a:lstStyle/>
          <a:p>
            <a:fld id="{31C83E90-E3FE-4F4D-8549-31F03FD30EC8}" type="slidenum">
              <a:rPr lang="en-US" smtClean="0"/>
              <a:t>‹#›</a:t>
            </a:fld>
            <a:endParaRPr lang="en-US"/>
          </a:p>
        </p:txBody>
      </p:sp>
    </p:spTree>
    <p:extLst>
      <p:ext uri="{BB962C8B-B14F-4D97-AF65-F5344CB8AC3E}">
        <p14:creationId xmlns:p14="http://schemas.microsoft.com/office/powerpoint/2010/main" val="221804055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52F3FD-5F35-3B6D-026C-51B615FE67F3}"/>
              </a:ext>
            </a:extLst>
          </p:cNvPr>
          <p:cNvSpPr>
            <a:spLocks noGrp="1"/>
          </p:cNvSpPr>
          <p:nvPr>
            <p:ph type="dt" sz="half" idx="10"/>
          </p:nvPr>
        </p:nvSpPr>
        <p:spPr>
          <a:xfrm>
            <a:off x="838200" y="6356352"/>
            <a:ext cx="2743200" cy="365125"/>
          </a:xfrm>
          <a:prstGeom prst="rect">
            <a:avLst/>
          </a:prstGeom>
        </p:spPr>
        <p:txBody>
          <a:bodyPr/>
          <a:lstStyle/>
          <a:p>
            <a:fld id="{52700887-E815-C247-911E-C0E62DF907DD}" type="datetimeFigureOut">
              <a:rPr lang="en-US" smtClean="0"/>
              <a:t>8/24/26</a:t>
            </a:fld>
            <a:endParaRPr lang="en-US"/>
          </a:p>
        </p:txBody>
      </p:sp>
      <p:sp>
        <p:nvSpPr>
          <p:cNvPr id="3" name="Footer Placeholder 2">
            <a:extLst>
              <a:ext uri="{FF2B5EF4-FFF2-40B4-BE49-F238E27FC236}">
                <a16:creationId xmlns:a16="http://schemas.microsoft.com/office/drawing/2014/main" id="{423A6BF4-C902-AB10-7940-0ED557AF84ED}"/>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19C4FDA-B3B1-E12D-7183-8045F6252C86}"/>
              </a:ext>
            </a:extLst>
          </p:cNvPr>
          <p:cNvSpPr>
            <a:spLocks noGrp="1"/>
          </p:cNvSpPr>
          <p:nvPr>
            <p:ph type="sldNum" sz="quarter" idx="12"/>
          </p:nvPr>
        </p:nvSpPr>
        <p:spPr>
          <a:xfrm>
            <a:off x="8610600" y="6356352"/>
            <a:ext cx="2743200" cy="365125"/>
          </a:xfrm>
          <a:prstGeom prst="rect">
            <a:avLst/>
          </a:prstGeom>
        </p:spPr>
        <p:txBody>
          <a:bodyPr/>
          <a:lstStyle/>
          <a:p>
            <a:fld id="{31C83E90-E3FE-4F4D-8549-31F03FD30EC8}" type="slidenum">
              <a:rPr lang="en-US" smtClean="0"/>
              <a:t>‹#›</a:t>
            </a:fld>
            <a:endParaRPr lang="en-US"/>
          </a:p>
        </p:txBody>
      </p:sp>
    </p:spTree>
    <p:extLst>
      <p:ext uri="{BB962C8B-B14F-4D97-AF65-F5344CB8AC3E}">
        <p14:creationId xmlns:p14="http://schemas.microsoft.com/office/powerpoint/2010/main" val="230524542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F2522-EC2D-5B1C-DEE9-8C761568F55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67A9CA-D30D-2FB8-6B5A-3E3A0EC66637}"/>
              </a:ext>
            </a:extLst>
          </p:cNvPr>
          <p:cNvSpPr>
            <a:spLocks noGrp="1"/>
          </p:cNvSpPr>
          <p:nvPr>
            <p:ph idx="1"/>
          </p:nvPr>
        </p:nvSpPr>
        <p:spPr>
          <a:xfrm>
            <a:off x="5183188"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10DB73D-2CEF-B0F0-FE03-0F7D330FBA6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8D3EC8-252E-FE0D-B459-66463F11E3D3}"/>
              </a:ext>
            </a:extLst>
          </p:cNvPr>
          <p:cNvSpPr>
            <a:spLocks noGrp="1"/>
          </p:cNvSpPr>
          <p:nvPr>
            <p:ph type="dt" sz="half" idx="10"/>
          </p:nvPr>
        </p:nvSpPr>
        <p:spPr>
          <a:xfrm>
            <a:off x="838200" y="6356352"/>
            <a:ext cx="2743200" cy="365125"/>
          </a:xfrm>
          <a:prstGeom prst="rect">
            <a:avLst/>
          </a:prstGeom>
        </p:spPr>
        <p:txBody>
          <a:bodyPr/>
          <a:lstStyle/>
          <a:p>
            <a:fld id="{52700887-E815-C247-911E-C0E62DF907DD}" type="datetimeFigureOut">
              <a:rPr lang="en-US" smtClean="0"/>
              <a:t>8/24/26</a:t>
            </a:fld>
            <a:endParaRPr lang="en-US"/>
          </a:p>
        </p:txBody>
      </p:sp>
      <p:sp>
        <p:nvSpPr>
          <p:cNvPr id="6" name="Footer Placeholder 5">
            <a:extLst>
              <a:ext uri="{FF2B5EF4-FFF2-40B4-BE49-F238E27FC236}">
                <a16:creationId xmlns:a16="http://schemas.microsoft.com/office/drawing/2014/main" id="{949E60E1-8A5C-C457-8683-9C456BBDED16}"/>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4F651DF-C42A-44C0-EA8A-ED91EB3A97FB}"/>
              </a:ext>
            </a:extLst>
          </p:cNvPr>
          <p:cNvSpPr>
            <a:spLocks noGrp="1"/>
          </p:cNvSpPr>
          <p:nvPr>
            <p:ph type="sldNum" sz="quarter" idx="12"/>
          </p:nvPr>
        </p:nvSpPr>
        <p:spPr>
          <a:xfrm>
            <a:off x="8610600" y="6356352"/>
            <a:ext cx="2743200" cy="365125"/>
          </a:xfrm>
          <a:prstGeom prst="rect">
            <a:avLst/>
          </a:prstGeom>
        </p:spPr>
        <p:txBody>
          <a:bodyPr/>
          <a:lstStyle/>
          <a:p>
            <a:fld id="{31C83E90-E3FE-4F4D-8549-31F03FD30EC8}" type="slidenum">
              <a:rPr lang="en-US" smtClean="0"/>
              <a:t>‹#›</a:t>
            </a:fld>
            <a:endParaRPr lang="en-US"/>
          </a:p>
        </p:txBody>
      </p:sp>
    </p:spTree>
    <p:extLst>
      <p:ext uri="{BB962C8B-B14F-4D97-AF65-F5344CB8AC3E}">
        <p14:creationId xmlns:p14="http://schemas.microsoft.com/office/powerpoint/2010/main" val="281823579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A3291-4EEF-82E0-8933-103EB7B43D2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ABE510-E269-56D5-95AC-41800C836CE5}"/>
              </a:ext>
            </a:extLst>
          </p:cNvPr>
          <p:cNvSpPr>
            <a:spLocks noGrp="1"/>
          </p:cNvSpPr>
          <p:nvPr>
            <p:ph type="pic" idx="1"/>
          </p:nvPr>
        </p:nvSpPr>
        <p:spPr>
          <a:xfrm>
            <a:off x="5183188" y="987426"/>
            <a:ext cx="6172200" cy="4873625"/>
          </a:xfrm>
          <a:prstGeom prst="rect">
            <a:avLst/>
          </a:prstGeo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CD291DBF-5E9F-73E4-E121-9E5C841B3DD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AC4AF2-29E7-00F6-A624-DEAE448178A4}"/>
              </a:ext>
            </a:extLst>
          </p:cNvPr>
          <p:cNvSpPr>
            <a:spLocks noGrp="1"/>
          </p:cNvSpPr>
          <p:nvPr>
            <p:ph type="dt" sz="half" idx="10"/>
          </p:nvPr>
        </p:nvSpPr>
        <p:spPr>
          <a:xfrm>
            <a:off x="838200" y="6356352"/>
            <a:ext cx="2743200" cy="365125"/>
          </a:xfrm>
          <a:prstGeom prst="rect">
            <a:avLst/>
          </a:prstGeom>
        </p:spPr>
        <p:txBody>
          <a:bodyPr/>
          <a:lstStyle/>
          <a:p>
            <a:fld id="{52700887-E815-C247-911E-C0E62DF907DD}" type="datetimeFigureOut">
              <a:rPr lang="en-US" smtClean="0"/>
              <a:t>8/24/26</a:t>
            </a:fld>
            <a:endParaRPr lang="en-US"/>
          </a:p>
        </p:txBody>
      </p:sp>
      <p:sp>
        <p:nvSpPr>
          <p:cNvPr id="6" name="Footer Placeholder 5">
            <a:extLst>
              <a:ext uri="{FF2B5EF4-FFF2-40B4-BE49-F238E27FC236}">
                <a16:creationId xmlns:a16="http://schemas.microsoft.com/office/drawing/2014/main" id="{FB3000DF-2347-D547-35F4-F3E5CBDFC03F}"/>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834F8BE5-4E9E-ABFA-4B98-C3AF9C93C395}"/>
              </a:ext>
            </a:extLst>
          </p:cNvPr>
          <p:cNvSpPr>
            <a:spLocks noGrp="1"/>
          </p:cNvSpPr>
          <p:nvPr>
            <p:ph type="sldNum" sz="quarter" idx="12"/>
          </p:nvPr>
        </p:nvSpPr>
        <p:spPr>
          <a:xfrm>
            <a:off x="8610600" y="6356352"/>
            <a:ext cx="2743200" cy="365125"/>
          </a:xfrm>
          <a:prstGeom prst="rect">
            <a:avLst/>
          </a:prstGeom>
        </p:spPr>
        <p:txBody>
          <a:bodyPr/>
          <a:lstStyle/>
          <a:p>
            <a:fld id="{31C83E90-E3FE-4F4D-8549-31F03FD30EC8}" type="slidenum">
              <a:rPr lang="en-US" smtClean="0"/>
              <a:t>‹#›</a:t>
            </a:fld>
            <a:endParaRPr lang="en-US"/>
          </a:p>
        </p:txBody>
      </p:sp>
    </p:spTree>
    <p:extLst>
      <p:ext uri="{BB962C8B-B14F-4D97-AF65-F5344CB8AC3E}">
        <p14:creationId xmlns:p14="http://schemas.microsoft.com/office/powerpoint/2010/main" val="249117987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69B21-8B50-035E-95BA-8402FD72C439}"/>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74D90A-52E8-DE75-E88E-99E21BF68EC5}"/>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110B23-C3BC-371D-1E06-EEEDC33757C9}"/>
              </a:ext>
            </a:extLst>
          </p:cNvPr>
          <p:cNvSpPr>
            <a:spLocks noGrp="1"/>
          </p:cNvSpPr>
          <p:nvPr>
            <p:ph type="dt" sz="half" idx="10"/>
          </p:nvPr>
        </p:nvSpPr>
        <p:spPr>
          <a:xfrm>
            <a:off x="838200" y="6356352"/>
            <a:ext cx="2743200" cy="365125"/>
          </a:xfrm>
          <a:prstGeom prst="rect">
            <a:avLst/>
          </a:prstGeom>
        </p:spPr>
        <p:txBody>
          <a:bodyPr/>
          <a:lstStyle/>
          <a:p>
            <a:fld id="{52700887-E815-C247-911E-C0E62DF907DD}" type="datetimeFigureOut">
              <a:rPr lang="en-US" smtClean="0"/>
              <a:t>8/24/26</a:t>
            </a:fld>
            <a:endParaRPr lang="en-US"/>
          </a:p>
        </p:txBody>
      </p:sp>
      <p:sp>
        <p:nvSpPr>
          <p:cNvPr id="5" name="Footer Placeholder 4">
            <a:extLst>
              <a:ext uri="{FF2B5EF4-FFF2-40B4-BE49-F238E27FC236}">
                <a16:creationId xmlns:a16="http://schemas.microsoft.com/office/drawing/2014/main" id="{7627F7AC-DFBF-BBEB-45CC-812D11C2A334}"/>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8CDF192-3F47-959A-CFCA-F5826B9863D7}"/>
              </a:ext>
            </a:extLst>
          </p:cNvPr>
          <p:cNvSpPr>
            <a:spLocks noGrp="1"/>
          </p:cNvSpPr>
          <p:nvPr>
            <p:ph type="sldNum" sz="quarter" idx="12"/>
          </p:nvPr>
        </p:nvSpPr>
        <p:spPr>
          <a:xfrm>
            <a:off x="8610600" y="6356352"/>
            <a:ext cx="2743200" cy="365125"/>
          </a:xfrm>
          <a:prstGeom prst="rect">
            <a:avLst/>
          </a:prstGeom>
        </p:spPr>
        <p:txBody>
          <a:bodyPr/>
          <a:lstStyle/>
          <a:p>
            <a:fld id="{31C83E90-E3FE-4F4D-8549-31F03FD30EC8}" type="slidenum">
              <a:rPr lang="en-US" smtClean="0"/>
              <a:t>‹#›</a:t>
            </a:fld>
            <a:endParaRPr lang="en-US"/>
          </a:p>
        </p:txBody>
      </p:sp>
    </p:spTree>
    <p:extLst>
      <p:ext uri="{BB962C8B-B14F-4D97-AF65-F5344CB8AC3E}">
        <p14:creationId xmlns:p14="http://schemas.microsoft.com/office/powerpoint/2010/main" val="235635829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DCF629-1C5F-C488-A024-6AB3D4A5239C}"/>
              </a:ext>
            </a:extLst>
          </p:cNvPr>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C8D88B-85EF-9389-F35E-9CE68E56A9B5}"/>
              </a:ext>
            </a:extLst>
          </p:cNvPr>
          <p:cNvSpPr>
            <a:spLocks noGrp="1"/>
          </p:cNvSpPr>
          <p:nvPr>
            <p:ph type="body" orient="vert" idx="1"/>
          </p:nvPr>
        </p:nvSpPr>
        <p:spPr>
          <a:xfrm>
            <a:off x="838201"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DEB026-52C4-46AC-16FC-00CD04969E2B}"/>
              </a:ext>
            </a:extLst>
          </p:cNvPr>
          <p:cNvSpPr>
            <a:spLocks noGrp="1"/>
          </p:cNvSpPr>
          <p:nvPr>
            <p:ph type="dt" sz="half" idx="10"/>
          </p:nvPr>
        </p:nvSpPr>
        <p:spPr>
          <a:xfrm>
            <a:off x="838200" y="6356352"/>
            <a:ext cx="2743200" cy="365125"/>
          </a:xfrm>
          <a:prstGeom prst="rect">
            <a:avLst/>
          </a:prstGeom>
        </p:spPr>
        <p:txBody>
          <a:bodyPr/>
          <a:lstStyle/>
          <a:p>
            <a:fld id="{52700887-E815-C247-911E-C0E62DF907DD}" type="datetimeFigureOut">
              <a:rPr lang="en-US" smtClean="0"/>
              <a:t>8/24/26</a:t>
            </a:fld>
            <a:endParaRPr lang="en-US"/>
          </a:p>
        </p:txBody>
      </p:sp>
      <p:sp>
        <p:nvSpPr>
          <p:cNvPr id="5" name="Footer Placeholder 4">
            <a:extLst>
              <a:ext uri="{FF2B5EF4-FFF2-40B4-BE49-F238E27FC236}">
                <a16:creationId xmlns:a16="http://schemas.microsoft.com/office/drawing/2014/main" id="{1A9062FB-60E7-5C8D-CC0F-912F3E6B325F}"/>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BA75E6B-C91A-0DD2-B1C2-DBB54642E47E}"/>
              </a:ext>
            </a:extLst>
          </p:cNvPr>
          <p:cNvSpPr>
            <a:spLocks noGrp="1"/>
          </p:cNvSpPr>
          <p:nvPr>
            <p:ph type="sldNum" sz="quarter" idx="12"/>
          </p:nvPr>
        </p:nvSpPr>
        <p:spPr>
          <a:xfrm>
            <a:off x="8610600" y="6356352"/>
            <a:ext cx="2743200" cy="365125"/>
          </a:xfrm>
          <a:prstGeom prst="rect">
            <a:avLst/>
          </a:prstGeom>
        </p:spPr>
        <p:txBody>
          <a:bodyPr/>
          <a:lstStyle/>
          <a:p>
            <a:fld id="{31C83E90-E3FE-4F4D-8549-31F03FD30EC8}" type="slidenum">
              <a:rPr lang="en-US" smtClean="0"/>
              <a:t>‹#›</a:t>
            </a:fld>
            <a:endParaRPr lang="en-US"/>
          </a:p>
        </p:txBody>
      </p:sp>
    </p:spTree>
    <p:extLst>
      <p:ext uri="{BB962C8B-B14F-4D97-AF65-F5344CB8AC3E}">
        <p14:creationId xmlns:p14="http://schemas.microsoft.com/office/powerpoint/2010/main" val="93122190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34988-E82C-51A5-87E8-019CCD232ECC}"/>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672D5C-7201-B246-D093-16D9CCC5DC1A}"/>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E037B6-3FF5-288A-F7AA-B78596519195}"/>
              </a:ext>
            </a:extLst>
          </p:cNvPr>
          <p:cNvSpPr>
            <a:spLocks noGrp="1"/>
          </p:cNvSpPr>
          <p:nvPr>
            <p:ph type="dt" sz="half" idx="10"/>
          </p:nvPr>
        </p:nvSpPr>
        <p:spPr>
          <a:xfrm>
            <a:off x="838200" y="6356352"/>
            <a:ext cx="2743200" cy="365125"/>
          </a:xfrm>
          <a:prstGeom prst="rect">
            <a:avLst/>
          </a:prstGeom>
        </p:spPr>
        <p:txBody>
          <a:bodyPr/>
          <a:lstStyle/>
          <a:p>
            <a:fld id="{B3A6675B-93BA-2B46-B653-2C5C92DEA4E2}" type="datetimeFigureOut">
              <a:rPr lang="en-US" smtClean="0"/>
              <a:t>8/24/26</a:t>
            </a:fld>
            <a:endParaRPr lang="en-US"/>
          </a:p>
        </p:txBody>
      </p:sp>
      <p:sp>
        <p:nvSpPr>
          <p:cNvPr id="5" name="Footer Placeholder 4">
            <a:extLst>
              <a:ext uri="{FF2B5EF4-FFF2-40B4-BE49-F238E27FC236}">
                <a16:creationId xmlns:a16="http://schemas.microsoft.com/office/drawing/2014/main" id="{4F696673-E9F7-9A7F-9B25-CB3C46F0EF48}"/>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B2DCAAC-3B56-7E16-363E-3534ED2B657E}"/>
              </a:ext>
            </a:extLst>
          </p:cNvPr>
          <p:cNvSpPr>
            <a:spLocks noGrp="1"/>
          </p:cNvSpPr>
          <p:nvPr>
            <p:ph type="sldNum" sz="quarter" idx="12"/>
          </p:nvPr>
        </p:nvSpPr>
        <p:spPr>
          <a:xfrm>
            <a:off x="8610600" y="6356352"/>
            <a:ext cx="2743200" cy="365125"/>
          </a:xfrm>
          <a:prstGeom prst="rect">
            <a:avLst/>
          </a:prstGeom>
        </p:spPr>
        <p:txBody>
          <a:bodyPr/>
          <a:lstStyle/>
          <a:p>
            <a:fld id="{0D4233E3-5CE0-2543-8E30-A0E46F048109}" type="slidenum">
              <a:rPr lang="en-US" smtClean="0"/>
              <a:t>‹#›</a:t>
            </a:fld>
            <a:endParaRPr lang="en-US"/>
          </a:p>
        </p:txBody>
      </p:sp>
    </p:spTree>
    <p:extLst>
      <p:ext uri="{BB962C8B-B14F-4D97-AF65-F5344CB8AC3E}">
        <p14:creationId xmlns:p14="http://schemas.microsoft.com/office/powerpoint/2010/main" val="143853500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FF139-E22B-34E0-F1C9-416FD1B3411F}"/>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BDB78361-133C-DABB-095A-B232E9BC5721}"/>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DABFA1-366B-2A63-7339-3E8289E43AE1}"/>
              </a:ext>
            </a:extLst>
          </p:cNvPr>
          <p:cNvSpPr>
            <a:spLocks noGrp="1"/>
          </p:cNvSpPr>
          <p:nvPr>
            <p:ph type="dt" sz="half" idx="10"/>
          </p:nvPr>
        </p:nvSpPr>
        <p:spPr>
          <a:xfrm>
            <a:off x="838200" y="6356352"/>
            <a:ext cx="2743200" cy="365125"/>
          </a:xfrm>
          <a:prstGeom prst="rect">
            <a:avLst/>
          </a:prstGeom>
        </p:spPr>
        <p:txBody>
          <a:bodyPr/>
          <a:lstStyle/>
          <a:p>
            <a:fld id="{B3A6675B-93BA-2B46-B653-2C5C92DEA4E2}" type="datetimeFigureOut">
              <a:rPr lang="en-US" smtClean="0"/>
              <a:t>8/24/26</a:t>
            </a:fld>
            <a:endParaRPr lang="en-US"/>
          </a:p>
        </p:txBody>
      </p:sp>
      <p:sp>
        <p:nvSpPr>
          <p:cNvPr id="5" name="Footer Placeholder 4">
            <a:extLst>
              <a:ext uri="{FF2B5EF4-FFF2-40B4-BE49-F238E27FC236}">
                <a16:creationId xmlns:a16="http://schemas.microsoft.com/office/drawing/2014/main" id="{9091E5E0-B0D0-C8DA-23F6-EB49E407F9CD}"/>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0BE67B0-0832-11B0-C7F5-5628690C30F0}"/>
              </a:ext>
            </a:extLst>
          </p:cNvPr>
          <p:cNvSpPr>
            <a:spLocks noGrp="1"/>
          </p:cNvSpPr>
          <p:nvPr>
            <p:ph type="sldNum" sz="quarter" idx="12"/>
          </p:nvPr>
        </p:nvSpPr>
        <p:spPr>
          <a:xfrm>
            <a:off x="8610600" y="6356352"/>
            <a:ext cx="2743200" cy="365125"/>
          </a:xfrm>
          <a:prstGeom prst="rect">
            <a:avLst/>
          </a:prstGeom>
        </p:spPr>
        <p:txBody>
          <a:bodyPr/>
          <a:lstStyle/>
          <a:p>
            <a:fld id="{0D4233E3-5CE0-2543-8E30-A0E46F048109}" type="slidenum">
              <a:rPr lang="en-US" smtClean="0"/>
              <a:t>‹#›</a:t>
            </a:fld>
            <a:endParaRPr lang="en-US"/>
          </a:p>
        </p:txBody>
      </p:sp>
    </p:spTree>
    <p:extLst>
      <p:ext uri="{BB962C8B-B14F-4D97-AF65-F5344CB8AC3E}">
        <p14:creationId xmlns:p14="http://schemas.microsoft.com/office/powerpoint/2010/main" val="201729243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39EEE-B9E4-2B66-CDF8-32FAD01491DD}"/>
              </a:ext>
            </a:extLst>
          </p:cNvPr>
          <p:cNvSpPr>
            <a:spLocks noGrp="1"/>
          </p:cNvSpPr>
          <p:nvPr>
            <p:ph type="title"/>
          </p:nvPr>
        </p:nvSpPr>
        <p:spPr>
          <a:xfrm>
            <a:off x="831849"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8E0B4B6-F493-A4EA-C1F9-7D6A8C779961}"/>
              </a:ext>
            </a:extLst>
          </p:cNvPr>
          <p:cNvSpPr>
            <a:spLocks noGrp="1"/>
          </p:cNvSpPr>
          <p:nvPr>
            <p:ph type="body" idx="1"/>
          </p:nvPr>
        </p:nvSpPr>
        <p:spPr>
          <a:xfrm>
            <a:off x="831849" y="4589465"/>
            <a:ext cx="10515600" cy="1500187"/>
          </a:xfrm>
          <a:prstGeom prst="rect">
            <a:avLst/>
          </a:prstGeom>
        </p:spPr>
        <p:txBody>
          <a:bodyPr/>
          <a:lstStyle>
            <a:lvl1pPr marL="0" indent="0">
              <a:buNone/>
              <a:defRPr sz="2400">
                <a:solidFill>
                  <a:schemeClr val="tx1">
                    <a:tint val="82000"/>
                  </a:schemeClr>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3E073E-2DE2-80A7-ABA6-4365A4F2DA88}"/>
              </a:ext>
            </a:extLst>
          </p:cNvPr>
          <p:cNvSpPr>
            <a:spLocks noGrp="1"/>
          </p:cNvSpPr>
          <p:nvPr>
            <p:ph type="dt" sz="half" idx="10"/>
          </p:nvPr>
        </p:nvSpPr>
        <p:spPr>
          <a:xfrm>
            <a:off x="838200" y="6356352"/>
            <a:ext cx="2743200" cy="365125"/>
          </a:xfrm>
          <a:prstGeom prst="rect">
            <a:avLst/>
          </a:prstGeom>
        </p:spPr>
        <p:txBody>
          <a:bodyPr/>
          <a:lstStyle/>
          <a:p>
            <a:fld id="{B3A6675B-93BA-2B46-B653-2C5C92DEA4E2}" type="datetimeFigureOut">
              <a:rPr lang="en-US" smtClean="0"/>
              <a:t>8/24/26</a:t>
            </a:fld>
            <a:endParaRPr lang="en-US"/>
          </a:p>
        </p:txBody>
      </p:sp>
      <p:sp>
        <p:nvSpPr>
          <p:cNvPr id="5" name="Footer Placeholder 4">
            <a:extLst>
              <a:ext uri="{FF2B5EF4-FFF2-40B4-BE49-F238E27FC236}">
                <a16:creationId xmlns:a16="http://schemas.microsoft.com/office/drawing/2014/main" id="{954B5E8B-3A2C-552D-A0E1-8B678C0C5107}"/>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8B51234-96EF-B37F-B23C-C8B6F7AF4A2B}"/>
              </a:ext>
            </a:extLst>
          </p:cNvPr>
          <p:cNvSpPr>
            <a:spLocks noGrp="1"/>
          </p:cNvSpPr>
          <p:nvPr>
            <p:ph type="sldNum" sz="quarter" idx="12"/>
          </p:nvPr>
        </p:nvSpPr>
        <p:spPr>
          <a:xfrm>
            <a:off x="8610600" y="6356352"/>
            <a:ext cx="2743200" cy="365125"/>
          </a:xfrm>
          <a:prstGeom prst="rect">
            <a:avLst/>
          </a:prstGeom>
        </p:spPr>
        <p:txBody>
          <a:bodyPr/>
          <a:lstStyle/>
          <a:p>
            <a:fld id="{0D4233E3-5CE0-2543-8E30-A0E46F048109}" type="slidenum">
              <a:rPr lang="en-US" smtClean="0"/>
              <a:t>‹#›</a:t>
            </a:fld>
            <a:endParaRPr lang="en-US"/>
          </a:p>
        </p:txBody>
      </p:sp>
    </p:spTree>
    <p:extLst>
      <p:ext uri="{BB962C8B-B14F-4D97-AF65-F5344CB8AC3E}">
        <p14:creationId xmlns:p14="http://schemas.microsoft.com/office/powerpoint/2010/main" val="73690370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D4C84-F099-EC44-88B6-DB6A93CAF9FA}"/>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FDCBACF-AF5F-F4AD-269F-46CFABD3D65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981C8E3-0430-F980-EFB8-C840D3222FA8}"/>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F45EC59-A9AC-0338-7DBC-966869923F71}"/>
              </a:ext>
            </a:extLst>
          </p:cNvPr>
          <p:cNvSpPr>
            <a:spLocks noGrp="1"/>
          </p:cNvSpPr>
          <p:nvPr>
            <p:ph type="dt" sz="half" idx="10"/>
          </p:nvPr>
        </p:nvSpPr>
        <p:spPr>
          <a:xfrm>
            <a:off x="838200" y="6356352"/>
            <a:ext cx="2743200" cy="365125"/>
          </a:xfrm>
          <a:prstGeom prst="rect">
            <a:avLst/>
          </a:prstGeom>
        </p:spPr>
        <p:txBody>
          <a:bodyPr/>
          <a:lstStyle/>
          <a:p>
            <a:fld id="{B3A6675B-93BA-2B46-B653-2C5C92DEA4E2}" type="datetimeFigureOut">
              <a:rPr lang="en-US" smtClean="0"/>
              <a:t>8/24/26</a:t>
            </a:fld>
            <a:endParaRPr lang="en-US"/>
          </a:p>
        </p:txBody>
      </p:sp>
      <p:sp>
        <p:nvSpPr>
          <p:cNvPr id="6" name="Footer Placeholder 5">
            <a:extLst>
              <a:ext uri="{FF2B5EF4-FFF2-40B4-BE49-F238E27FC236}">
                <a16:creationId xmlns:a16="http://schemas.microsoft.com/office/drawing/2014/main" id="{29CAE049-5E38-2EAA-D978-2140CC7239E3}"/>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8404BF79-5075-7235-E96D-FC791D4D9017}"/>
              </a:ext>
            </a:extLst>
          </p:cNvPr>
          <p:cNvSpPr>
            <a:spLocks noGrp="1"/>
          </p:cNvSpPr>
          <p:nvPr>
            <p:ph type="sldNum" sz="quarter" idx="12"/>
          </p:nvPr>
        </p:nvSpPr>
        <p:spPr>
          <a:xfrm>
            <a:off x="8610600" y="6356352"/>
            <a:ext cx="2743200" cy="365125"/>
          </a:xfrm>
          <a:prstGeom prst="rect">
            <a:avLst/>
          </a:prstGeom>
        </p:spPr>
        <p:txBody>
          <a:bodyPr/>
          <a:lstStyle/>
          <a:p>
            <a:fld id="{0D4233E3-5CE0-2543-8E30-A0E46F048109}" type="slidenum">
              <a:rPr lang="en-US" smtClean="0"/>
              <a:t>‹#›</a:t>
            </a:fld>
            <a:endParaRPr lang="en-US"/>
          </a:p>
        </p:txBody>
      </p:sp>
    </p:spTree>
    <p:extLst>
      <p:ext uri="{BB962C8B-B14F-4D97-AF65-F5344CB8AC3E}">
        <p14:creationId xmlns:p14="http://schemas.microsoft.com/office/powerpoint/2010/main" val="311054244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34C42-F86C-F1EE-96E9-9F856729F21E}"/>
              </a:ext>
            </a:extLst>
          </p:cNvPr>
          <p:cNvSpPr>
            <a:spLocks noGrp="1"/>
          </p:cNvSpPr>
          <p:nvPr>
            <p:ph type="title"/>
          </p:nvPr>
        </p:nvSpPr>
        <p:spPr>
          <a:xfrm>
            <a:off x="839788" y="365126"/>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9BB1352-C337-AE90-8CD1-EAC57CF88879}"/>
              </a:ext>
            </a:extLst>
          </p:cNvPr>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60482D-7C0F-0455-84B5-9BA3CD8C01D5}"/>
              </a:ext>
            </a:extLst>
          </p:cNvPr>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2D961E5-5D11-B6AA-F4F2-45798F13C155}"/>
              </a:ext>
            </a:extLst>
          </p:cNvPr>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DCCD8F-3F8E-7F2B-D991-F6EC203F3CB9}"/>
              </a:ext>
            </a:extLst>
          </p:cNvPr>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DB07BBE-CC19-E9AD-1F18-F4B21A018A58}"/>
              </a:ext>
            </a:extLst>
          </p:cNvPr>
          <p:cNvSpPr>
            <a:spLocks noGrp="1"/>
          </p:cNvSpPr>
          <p:nvPr>
            <p:ph type="dt" sz="half" idx="10"/>
          </p:nvPr>
        </p:nvSpPr>
        <p:spPr>
          <a:xfrm>
            <a:off x="838200" y="6356352"/>
            <a:ext cx="2743200" cy="365125"/>
          </a:xfrm>
          <a:prstGeom prst="rect">
            <a:avLst/>
          </a:prstGeom>
        </p:spPr>
        <p:txBody>
          <a:bodyPr/>
          <a:lstStyle/>
          <a:p>
            <a:fld id="{B3A6675B-93BA-2B46-B653-2C5C92DEA4E2}" type="datetimeFigureOut">
              <a:rPr lang="en-US" smtClean="0"/>
              <a:t>8/24/26</a:t>
            </a:fld>
            <a:endParaRPr lang="en-US"/>
          </a:p>
        </p:txBody>
      </p:sp>
      <p:sp>
        <p:nvSpPr>
          <p:cNvPr id="8" name="Footer Placeholder 7">
            <a:extLst>
              <a:ext uri="{FF2B5EF4-FFF2-40B4-BE49-F238E27FC236}">
                <a16:creationId xmlns:a16="http://schemas.microsoft.com/office/drawing/2014/main" id="{4C980B10-F586-A464-0DD9-C6FF85871A11}"/>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A86DFBDF-EE9A-613B-570F-7367E85E8906}"/>
              </a:ext>
            </a:extLst>
          </p:cNvPr>
          <p:cNvSpPr>
            <a:spLocks noGrp="1"/>
          </p:cNvSpPr>
          <p:nvPr>
            <p:ph type="sldNum" sz="quarter" idx="12"/>
          </p:nvPr>
        </p:nvSpPr>
        <p:spPr>
          <a:xfrm>
            <a:off x="8610600" y="6356352"/>
            <a:ext cx="2743200" cy="365125"/>
          </a:xfrm>
          <a:prstGeom prst="rect">
            <a:avLst/>
          </a:prstGeom>
        </p:spPr>
        <p:txBody>
          <a:bodyPr/>
          <a:lstStyle/>
          <a:p>
            <a:fld id="{0D4233E3-5CE0-2543-8E30-A0E46F048109}" type="slidenum">
              <a:rPr lang="en-US" smtClean="0"/>
              <a:t>‹#›</a:t>
            </a:fld>
            <a:endParaRPr lang="en-US"/>
          </a:p>
        </p:txBody>
      </p:sp>
    </p:spTree>
    <p:extLst>
      <p:ext uri="{BB962C8B-B14F-4D97-AF65-F5344CB8AC3E}">
        <p14:creationId xmlns:p14="http://schemas.microsoft.com/office/powerpoint/2010/main" val="338470731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9821B-19E9-8D90-4313-FE1AAA2F1BB2}"/>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39588399-6F5E-3AA8-B1DC-7955B2D6E5CA}"/>
              </a:ext>
            </a:extLst>
          </p:cNvPr>
          <p:cNvSpPr>
            <a:spLocks noGrp="1"/>
          </p:cNvSpPr>
          <p:nvPr>
            <p:ph type="dt" sz="half" idx="10"/>
          </p:nvPr>
        </p:nvSpPr>
        <p:spPr>
          <a:xfrm>
            <a:off x="838200" y="6356352"/>
            <a:ext cx="2743200" cy="365125"/>
          </a:xfrm>
          <a:prstGeom prst="rect">
            <a:avLst/>
          </a:prstGeom>
        </p:spPr>
        <p:txBody>
          <a:bodyPr/>
          <a:lstStyle/>
          <a:p>
            <a:fld id="{B3A6675B-93BA-2B46-B653-2C5C92DEA4E2}" type="datetimeFigureOut">
              <a:rPr lang="en-US" smtClean="0"/>
              <a:t>8/24/26</a:t>
            </a:fld>
            <a:endParaRPr lang="en-US"/>
          </a:p>
        </p:txBody>
      </p:sp>
      <p:sp>
        <p:nvSpPr>
          <p:cNvPr id="4" name="Footer Placeholder 3">
            <a:extLst>
              <a:ext uri="{FF2B5EF4-FFF2-40B4-BE49-F238E27FC236}">
                <a16:creationId xmlns:a16="http://schemas.microsoft.com/office/drawing/2014/main" id="{0AED6129-10BA-62B1-C0B5-52A7692675BD}"/>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62D5118A-B91B-A457-A2AC-89D465943ECD}"/>
              </a:ext>
            </a:extLst>
          </p:cNvPr>
          <p:cNvSpPr>
            <a:spLocks noGrp="1"/>
          </p:cNvSpPr>
          <p:nvPr>
            <p:ph type="sldNum" sz="quarter" idx="12"/>
          </p:nvPr>
        </p:nvSpPr>
        <p:spPr>
          <a:xfrm>
            <a:off x="8610600" y="6356352"/>
            <a:ext cx="2743200" cy="365125"/>
          </a:xfrm>
          <a:prstGeom prst="rect">
            <a:avLst/>
          </a:prstGeom>
        </p:spPr>
        <p:txBody>
          <a:bodyPr/>
          <a:lstStyle/>
          <a:p>
            <a:fld id="{0D4233E3-5CE0-2543-8E30-A0E46F048109}" type="slidenum">
              <a:rPr lang="en-US" smtClean="0"/>
              <a:t>‹#›</a:t>
            </a:fld>
            <a:endParaRPr lang="en-US"/>
          </a:p>
        </p:txBody>
      </p:sp>
    </p:spTree>
    <p:extLst>
      <p:ext uri="{BB962C8B-B14F-4D97-AF65-F5344CB8AC3E}">
        <p14:creationId xmlns:p14="http://schemas.microsoft.com/office/powerpoint/2010/main" val="86331639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0351AA-4C32-7856-604D-4228463E77D9}"/>
              </a:ext>
            </a:extLst>
          </p:cNvPr>
          <p:cNvSpPr>
            <a:spLocks noGrp="1"/>
          </p:cNvSpPr>
          <p:nvPr>
            <p:ph type="dt" sz="half" idx="10"/>
          </p:nvPr>
        </p:nvSpPr>
        <p:spPr>
          <a:xfrm>
            <a:off x="838200" y="6356352"/>
            <a:ext cx="2743200" cy="365125"/>
          </a:xfrm>
          <a:prstGeom prst="rect">
            <a:avLst/>
          </a:prstGeom>
        </p:spPr>
        <p:txBody>
          <a:bodyPr/>
          <a:lstStyle/>
          <a:p>
            <a:fld id="{B3A6675B-93BA-2B46-B653-2C5C92DEA4E2}" type="datetimeFigureOut">
              <a:rPr lang="en-US" smtClean="0"/>
              <a:t>8/24/26</a:t>
            </a:fld>
            <a:endParaRPr lang="en-US"/>
          </a:p>
        </p:txBody>
      </p:sp>
      <p:sp>
        <p:nvSpPr>
          <p:cNvPr id="3" name="Footer Placeholder 2">
            <a:extLst>
              <a:ext uri="{FF2B5EF4-FFF2-40B4-BE49-F238E27FC236}">
                <a16:creationId xmlns:a16="http://schemas.microsoft.com/office/drawing/2014/main" id="{89540D4F-F076-A7BA-FF12-ECB325D056F7}"/>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2AB43965-6262-E39E-264B-5B125D482824}"/>
              </a:ext>
            </a:extLst>
          </p:cNvPr>
          <p:cNvSpPr>
            <a:spLocks noGrp="1"/>
          </p:cNvSpPr>
          <p:nvPr>
            <p:ph type="sldNum" sz="quarter" idx="12"/>
          </p:nvPr>
        </p:nvSpPr>
        <p:spPr>
          <a:xfrm>
            <a:off x="8610600" y="6356352"/>
            <a:ext cx="2743200" cy="365125"/>
          </a:xfrm>
          <a:prstGeom prst="rect">
            <a:avLst/>
          </a:prstGeom>
        </p:spPr>
        <p:txBody>
          <a:bodyPr/>
          <a:lstStyle/>
          <a:p>
            <a:fld id="{0D4233E3-5CE0-2543-8E30-A0E46F048109}" type="slidenum">
              <a:rPr lang="en-US" smtClean="0"/>
              <a:t>‹#›</a:t>
            </a:fld>
            <a:endParaRPr lang="en-US"/>
          </a:p>
        </p:txBody>
      </p:sp>
    </p:spTree>
    <p:extLst>
      <p:ext uri="{BB962C8B-B14F-4D97-AF65-F5344CB8AC3E}">
        <p14:creationId xmlns:p14="http://schemas.microsoft.com/office/powerpoint/2010/main" val="91948424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C2850-BBA1-0EC3-BFE6-3FD5D9EF84F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375D2EA-94ED-61DC-70D8-104DE6875234}"/>
              </a:ext>
            </a:extLst>
          </p:cNvPr>
          <p:cNvSpPr>
            <a:spLocks noGrp="1"/>
          </p:cNvSpPr>
          <p:nvPr>
            <p:ph idx="1"/>
          </p:nvPr>
        </p:nvSpPr>
        <p:spPr>
          <a:xfrm>
            <a:off x="5183188"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2F5A18-5AA0-E1D1-BE74-30F5F455AC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D08FD8-073E-5E49-D555-7B85E7F1011B}"/>
              </a:ext>
            </a:extLst>
          </p:cNvPr>
          <p:cNvSpPr>
            <a:spLocks noGrp="1"/>
          </p:cNvSpPr>
          <p:nvPr>
            <p:ph type="dt" sz="half" idx="10"/>
          </p:nvPr>
        </p:nvSpPr>
        <p:spPr>
          <a:xfrm>
            <a:off x="838200" y="6356352"/>
            <a:ext cx="2743200" cy="365125"/>
          </a:xfrm>
          <a:prstGeom prst="rect">
            <a:avLst/>
          </a:prstGeom>
        </p:spPr>
        <p:txBody>
          <a:bodyPr/>
          <a:lstStyle/>
          <a:p>
            <a:fld id="{B3A6675B-93BA-2B46-B653-2C5C92DEA4E2}" type="datetimeFigureOut">
              <a:rPr lang="en-US" smtClean="0"/>
              <a:t>8/24/26</a:t>
            </a:fld>
            <a:endParaRPr lang="en-US"/>
          </a:p>
        </p:txBody>
      </p:sp>
      <p:sp>
        <p:nvSpPr>
          <p:cNvPr id="6" name="Footer Placeholder 5">
            <a:extLst>
              <a:ext uri="{FF2B5EF4-FFF2-40B4-BE49-F238E27FC236}">
                <a16:creationId xmlns:a16="http://schemas.microsoft.com/office/drawing/2014/main" id="{69D4908F-E736-2BDA-2E60-04418A46D614}"/>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BC7D91B-3407-18C0-062F-2F31996F8786}"/>
              </a:ext>
            </a:extLst>
          </p:cNvPr>
          <p:cNvSpPr>
            <a:spLocks noGrp="1"/>
          </p:cNvSpPr>
          <p:nvPr>
            <p:ph type="sldNum" sz="quarter" idx="12"/>
          </p:nvPr>
        </p:nvSpPr>
        <p:spPr>
          <a:xfrm>
            <a:off x="8610600" y="6356352"/>
            <a:ext cx="2743200" cy="365125"/>
          </a:xfrm>
          <a:prstGeom prst="rect">
            <a:avLst/>
          </a:prstGeom>
        </p:spPr>
        <p:txBody>
          <a:bodyPr/>
          <a:lstStyle/>
          <a:p>
            <a:fld id="{0D4233E3-5CE0-2543-8E30-A0E46F048109}" type="slidenum">
              <a:rPr lang="en-US" smtClean="0"/>
              <a:t>‹#›</a:t>
            </a:fld>
            <a:endParaRPr lang="en-US"/>
          </a:p>
        </p:txBody>
      </p:sp>
    </p:spTree>
    <p:extLst>
      <p:ext uri="{BB962C8B-B14F-4D97-AF65-F5344CB8AC3E}">
        <p14:creationId xmlns:p14="http://schemas.microsoft.com/office/powerpoint/2010/main" val="260794143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306AC-A941-30AF-B5D7-5855D9B31AD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CED544-807A-9A09-D9F2-641CFA5BEB98}"/>
              </a:ext>
            </a:extLst>
          </p:cNvPr>
          <p:cNvSpPr>
            <a:spLocks noGrp="1"/>
          </p:cNvSpPr>
          <p:nvPr>
            <p:ph type="pic" idx="1"/>
          </p:nvPr>
        </p:nvSpPr>
        <p:spPr>
          <a:xfrm>
            <a:off x="5183188" y="987426"/>
            <a:ext cx="6172200" cy="4873625"/>
          </a:xfrm>
          <a:prstGeom prst="rect">
            <a:avLst/>
          </a:prstGeo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19890B7A-45C2-45A5-DB22-DD8141AC3C2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5D0A8B-9552-5968-31CF-C1C162B8A54E}"/>
              </a:ext>
            </a:extLst>
          </p:cNvPr>
          <p:cNvSpPr>
            <a:spLocks noGrp="1"/>
          </p:cNvSpPr>
          <p:nvPr>
            <p:ph type="dt" sz="half" idx="10"/>
          </p:nvPr>
        </p:nvSpPr>
        <p:spPr>
          <a:xfrm>
            <a:off x="838200" y="6356352"/>
            <a:ext cx="2743200" cy="365125"/>
          </a:xfrm>
          <a:prstGeom prst="rect">
            <a:avLst/>
          </a:prstGeom>
        </p:spPr>
        <p:txBody>
          <a:bodyPr/>
          <a:lstStyle/>
          <a:p>
            <a:fld id="{B3A6675B-93BA-2B46-B653-2C5C92DEA4E2}" type="datetimeFigureOut">
              <a:rPr lang="en-US" smtClean="0"/>
              <a:t>8/24/26</a:t>
            </a:fld>
            <a:endParaRPr lang="en-US"/>
          </a:p>
        </p:txBody>
      </p:sp>
      <p:sp>
        <p:nvSpPr>
          <p:cNvPr id="6" name="Footer Placeholder 5">
            <a:extLst>
              <a:ext uri="{FF2B5EF4-FFF2-40B4-BE49-F238E27FC236}">
                <a16:creationId xmlns:a16="http://schemas.microsoft.com/office/drawing/2014/main" id="{C5A942E4-2814-A50A-C77E-2DC1A461659F}"/>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93DEB1B-5843-1C1F-98FD-42184207B2BA}"/>
              </a:ext>
            </a:extLst>
          </p:cNvPr>
          <p:cNvSpPr>
            <a:spLocks noGrp="1"/>
          </p:cNvSpPr>
          <p:nvPr>
            <p:ph type="sldNum" sz="quarter" idx="12"/>
          </p:nvPr>
        </p:nvSpPr>
        <p:spPr>
          <a:xfrm>
            <a:off x="8610600" y="6356352"/>
            <a:ext cx="2743200" cy="365125"/>
          </a:xfrm>
          <a:prstGeom prst="rect">
            <a:avLst/>
          </a:prstGeom>
        </p:spPr>
        <p:txBody>
          <a:bodyPr/>
          <a:lstStyle/>
          <a:p>
            <a:fld id="{0D4233E3-5CE0-2543-8E30-A0E46F048109}" type="slidenum">
              <a:rPr lang="en-US" smtClean="0"/>
              <a:t>‹#›</a:t>
            </a:fld>
            <a:endParaRPr lang="en-US"/>
          </a:p>
        </p:txBody>
      </p:sp>
    </p:spTree>
    <p:extLst>
      <p:ext uri="{BB962C8B-B14F-4D97-AF65-F5344CB8AC3E}">
        <p14:creationId xmlns:p14="http://schemas.microsoft.com/office/powerpoint/2010/main" val="105476494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3D4CC-E7E0-E4A9-08D9-8B47FE0B0293}"/>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207B5C-9709-C887-7EEA-592681713C8D}"/>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5C3FC3-9E19-73FC-8BCE-36E26F987DBB}"/>
              </a:ext>
            </a:extLst>
          </p:cNvPr>
          <p:cNvSpPr>
            <a:spLocks noGrp="1"/>
          </p:cNvSpPr>
          <p:nvPr>
            <p:ph type="dt" sz="half" idx="10"/>
          </p:nvPr>
        </p:nvSpPr>
        <p:spPr>
          <a:xfrm>
            <a:off x="838200" y="6356352"/>
            <a:ext cx="2743200" cy="365125"/>
          </a:xfrm>
          <a:prstGeom prst="rect">
            <a:avLst/>
          </a:prstGeom>
        </p:spPr>
        <p:txBody>
          <a:bodyPr/>
          <a:lstStyle/>
          <a:p>
            <a:fld id="{B3A6675B-93BA-2B46-B653-2C5C92DEA4E2}" type="datetimeFigureOut">
              <a:rPr lang="en-US" smtClean="0"/>
              <a:t>8/24/26</a:t>
            </a:fld>
            <a:endParaRPr lang="en-US"/>
          </a:p>
        </p:txBody>
      </p:sp>
      <p:sp>
        <p:nvSpPr>
          <p:cNvPr id="5" name="Footer Placeholder 4">
            <a:extLst>
              <a:ext uri="{FF2B5EF4-FFF2-40B4-BE49-F238E27FC236}">
                <a16:creationId xmlns:a16="http://schemas.microsoft.com/office/drawing/2014/main" id="{C05FAAE5-0684-8C50-AAD1-A1A276A19478}"/>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F2B6964-031F-4641-30D5-F9A7D8A9A4C9}"/>
              </a:ext>
            </a:extLst>
          </p:cNvPr>
          <p:cNvSpPr>
            <a:spLocks noGrp="1"/>
          </p:cNvSpPr>
          <p:nvPr>
            <p:ph type="sldNum" sz="quarter" idx="12"/>
          </p:nvPr>
        </p:nvSpPr>
        <p:spPr>
          <a:xfrm>
            <a:off x="8610600" y="6356352"/>
            <a:ext cx="2743200" cy="365125"/>
          </a:xfrm>
          <a:prstGeom prst="rect">
            <a:avLst/>
          </a:prstGeom>
        </p:spPr>
        <p:txBody>
          <a:bodyPr/>
          <a:lstStyle/>
          <a:p>
            <a:fld id="{0D4233E3-5CE0-2543-8E30-A0E46F048109}" type="slidenum">
              <a:rPr lang="en-US" smtClean="0"/>
              <a:t>‹#›</a:t>
            </a:fld>
            <a:endParaRPr lang="en-US"/>
          </a:p>
        </p:txBody>
      </p:sp>
    </p:spTree>
    <p:extLst>
      <p:ext uri="{BB962C8B-B14F-4D97-AF65-F5344CB8AC3E}">
        <p14:creationId xmlns:p14="http://schemas.microsoft.com/office/powerpoint/2010/main" val="2213476527"/>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36CF38-3D9E-5FEC-4443-33F22ECB4CBA}"/>
              </a:ext>
            </a:extLst>
          </p:cNvPr>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81A46B-A19F-DE2E-AE68-77E0983DFC45}"/>
              </a:ext>
            </a:extLst>
          </p:cNvPr>
          <p:cNvSpPr>
            <a:spLocks noGrp="1"/>
          </p:cNvSpPr>
          <p:nvPr>
            <p:ph type="body" orient="vert" idx="1"/>
          </p:nvPr>
        </p:nvSpPr>
        <p:spPr>
          <a:xfrm>
            <a:off x="838201"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14C4B8-9FE1-455B-11FA-48F7C36E4016}"/>
              </a:ext>
            </a:extLst>
          </p:cNvPr>
          <p:cNvSpPr>
            <a:spLocks noGrp="1"/>
          </p:cNvSpPr>
          <p:nvPr>
            <p:ph type="dt" sz="half" idx="10"/>
          </p:nvPr>
        </p:nvSpPr>
        <p:spPr>
          <a:xfrm>
            <a:off x="838200" y="6356352"/>
            <a:ext cx="2743200" cy="365125"/>
          </a:xfrm>
          <a:prstGeom prst="rect">
            <a:avLst/>
          </a:prstGeom>
        </p:spPr>
        <p:txBody>
          <a:bodyPr/>
          <a:lstStyle/>
          <a:p>
            <a:fld id="{B3A6675B-93BA-2B46-B653-2C5C92DEA4E2}" type="datetimeFigureOut">
              <a:rPr lang="en-US" smtClean="0"/>
              <a:t>8/24/26</a:t>
            </a:fld>
            <a:endParaRPr lang="en-US"/>
          </a:p>
        </p:txBody>
      </p:sp>
      <p:sp>
        <p:nvSpPr>
          <p:cNvPr id="5" name="Footer Placeholder 4">
            <a:extLst>
              <a:ext uri="{FF2B5EF4-FFF2-40B4-BE49-F238E27FC236}">
                <a16:creationId xmlns:a16="http://schemas.microsoft.com/office/drawing/2014/main" id="{66EC08B1-58A6-AA2D-DC65-CEA79F832CBC}"/>
              </a:ext>
            </a:extLst>
          </p:cNvPr>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3CA7569-149E-762D-CF77-60FA79A97540}"/>
              </a:ext>
            </a:extLst>
          </p:cNvPr>
          <p:cNvSpPr>
            <a:spLocks noGrp="1"/>
          </p:cNvSpPr>
          <p:nvPr>
            <p:ph type="sldNum" sz="quarter" idx="12"/>
          </p:nvPr>
        </p:nvSpPr>
        <p:spPr>
          <a:xfrm>
            <a:off x="8610600" y="6356352"/>
            <a:ext cx="2743200" cy="365125"/>
          </a:xfrm>
          <a:prstGeom prst="rect">
            <a:avLst/>
          </a:prstGeom>
        </p:spPr>
        <p:txBody>
          <a:bodyPr/>
          <a:lstStyle/>
          <a:p>
            <a:fld id="{0D4233E3-5CE0-2543-8E30-A0E46F048109}" type="slidenum">
              <a:rPr lang="en-US" smtClean="0"/>
              <a:t>‹#›</a:t>
            </a:fld>
            <a:endParaRPr lang="en-US"/>
          </a:p>
        </p:txBody>
      </p:sp>
    </p:spTree>
    <p:extLst>
      <p:ext uri="{BB962C8B-B14F-4D97-AF65-F5344CB8AC3E}">
        <p14:creationId xmlns:p14="http://schemas.microsoft.com/office/powerpoint/2010/main" val="2143992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image" Target="../media/image10.jpeg"/><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image" Target="../media/image1.jpe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34.xml"/><Relationship Id="rId7" Type="http://schemas.openxmlformats.org/officeDocument/2006/relationships/slideLayout" Target="../slideLayouts/slideLayout38.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5" Type="http://schemas.openxmlformats.org/officeDocument/2006/relationships/slideLayout" Target="../slideLayouts/slideLayout36.xml"/><Relationship Id="rId4"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image" Target="../media/image14.jpeg"/><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5.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image" Target="../media/image1.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image" Target="../media/image15.jpeg"/><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theme" Target="../theme/theme7.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image" Target="../media/image1.jpe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image" Target="../media/image16.jpeg"/><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theme" Target="../theme/theme8.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image" Target="../media/image1.jpe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image" Target="../media/image9.jpeg"/><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theme" Target="../theme/theme9.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image" Target="../media/image1.jpe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90.xml"/><Relationship Id="rId13" Type="http://schemas.openxmlformats.org/officeDocument/2006/relationships/image" Target="../media/image17.jpeg"/><Relationship Id="rId3" Type="http://schemas.openxmlformats.org/officeDocument/2006/relationships/slideLayout" Target="../slideLayouts/slideLayout85.xml"/><Relationship Id="rId7" Type="http://schemas.openxmlformats.org/officeDocument/2006/relationships/slideLayout" Target="../slideLayouts/slideLayout89.xml"/><Relationship Id="rId12" Type="http://schemas.openxmlformats.org/officeDocument/2006/relationships/theme" Target="../theme/theme10.xml"/><Relationship Id="rId2" Type="http://schemas.openxmlformats.org/officeDocument/2006/relationships/slideLayout" Target="../slideLayouts/slideLayout84.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5" Type="http://schemas.openxmlformats.org/officeDocument/2006/relationships/slideLayout" Target="../slideLayouts/slideLayout87.xml"/><Relationship Id="rId10" Type="http://schemas.openxmlformats.org/officeDocument/2006/relationships/slideLayout" Target="../slideLayouts/slideLayout92.xml"/><Relationship Id="rId4" Type="http://schemas.openxmlformats.org/officeDocument/2006/relationships/slideLayout" Target="../slideLayouts/slideLayout86.xml"/><Relationship Id="rId9" Type="http://schemas.openxmlformats.org/officeDocument/2006/relationships/slideLayout" Target="../slideLayouts/slideLayout91.xml"/><Relationship Id="rId14" Type="http://schemas.openxmlformats.org/officeDocument/2006/relationships/image" Target="../media/image1.jpeg"/></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01.xml"/><Relationship Id="rId13" Type="http://schemas.openxmlformats.org/officeDocument/2006/relationships/image" Target="../media/image18.jpeg"/><Relationship Id="rId3" Type="http://schemas.openxmlformats.org/officeDocument/2006/relationships/slideLayout" Target="../slideLayouts/slideLayout96.xml"/><Relationship Id="rId7" Type="http://schemas.openxmlformats.org/officeDocument/2006/relationships/slideLayout" Target="../slideLayouts/slideLayout100.xml"/><Relationship Id="rId12" Type="http://schemas.openxmlformats.org/officeDocument/2006/relationships/theme" Target="../theme/theme11.xml"/><Relationship Id="rId2" Type="http://schemas.openxmlformats.org/officeDocument/2006/relationships/slideLayout" Target="../slideLayouts/slideLayout95.xml"/><Relationship Id="rId1" Type="http://schemas.openxmlformats.org/officeDocument/2006/relationships/slideLayout" Target="../slideLayouts/slideLayout94.xml"/><Relationship Id="rId6" Type="http://schemas.openxmlformats.org/officeDocument/2006/relationships/slideLayout" Target="../slideLayouts/slideLayout99.xml"/><Relationship Id="rId11" Type="http://schemas.openxmlformats.org/officeDocument/2006/relationships/slideLayout" Target="../slideLayouts/slideLayout104.xml"/><Relationship Id="rId5" Type="http://schemas.openxmlformats.org/officeDocument/2006/relationships/slideLayout" Target="../slideLayouts/slideLayout98.xml"/><Relationship Id="rId10" Type="http://schemas.openxmlformats.org/officeDocument/2006/relationships/slideLayout" Target="../slideLayouts/slideLayout103.xml"/><Relationship Id="rId4" Type="http://schemas.openxmlformats.org/officeDocument/2006/relationships/slideLayout" Target="../slideLayouts/slideLayout97.xml"/><Relationship Id="rId9" Type="http://schemas.openxmlformats.org/officeDocument/2006/relationships/slideLayout" Target="../slideLayouts/slideLayout102.xml"/><Relationship Id="rId14" Type="http://schemas.openxmlformats.org/officeDocument/2006/relationships/image" Target="../media/image1.jpe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12.xml"/><Relationship Id="rId13" Type="http://schemas.openxmlformats.org/officeDocument/2006/relationships/image" Target="../media/image19.jpeg"/><Relationship Id="rId3" Type="http://schemas.openxmlformats.org/officeDocument/2006/relationships/slideLayout" Target="../slideLayouts/slideLayout107.xml"/><Relationship Id="rId7" Type="http://schemas.openxmlformats.org/officeDocument/2006/relationships/slideLayout" Target="../slideLayouts/slideLayout111.xml"/><Relationship Id="rId12" Type="http://schemas.openxmlformats.org/officeDocument/2006/relationships/theme" Target="../theme/theme12.xml"/><Relationship Id="rId2" Type="http://schemas.openxmlformats.org/officeDocument/2006/relationships/slideLayout" Target="../slideLayouts/slideLayout106.xml"/><Relationship Id="rId1" Type="http://schemas.openxmlformats.org/officeDocument/2006/relationships/slideLayout" Target="../slideLayouts/slideLayout105.xml"/><Relationship Id="rId6" Type="http://schemas.openxmlformats.org/officeDocument/2006/relationships/slideLayout" Target="../slideLayouts/slideLayout110.xml"/><Relationship Id="rId11" Type="http://schemas.openxmlformats.org/officeDocument/2006/relationships/slideLayout" Target="../slideLayouts/slideLayout115.xml"/><Relationship Id="rId5" Type="http://schemas.openxmlformats.org/officeDocument/2006/relationships/slideLayout" Target="../slideLayouts/slideLayout109.xml"/><Relationship Id="rId10" Type="http://schemas.openxmlformats.org/officeDocument/2006/relationships/slideLayout" Target="../slideLayouts/slideLayout114.xml"/><Relationship Id="rId4" Type="http://schemas.openxmlformats.org/officeDocument/2006/relationships/slideLayout" Target="../slideLayouts/slideLayout108.xml"/><Relationship Id="rId9" Type="http://schemas.openxmlformats.org/officeDocument/2006/relationships/slideLayout" Target="../slideLayouts/slideLayout113.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82DC220-3FC9-84F2-C753-8CEA2241160A}"/>
              </a:ext>
            </a:extLst>
          </p:cNvPr>
          <p:cNvSpPr/>
          <p:nvPr userDrawn="1"/>
        </p:nvSpPr>
        <p:spPr>
          <a:xfrm>
            <a:off x="11420684" y="6268979"/>
            <a:ext cx="350203" cy="58902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US" sz="1351">
              <a:solidFill>
                <a:prstClr val="white"/>
              </a:solidFill>
            </a:endParaRPr>
          </a:p>
        </p:txBody>
      </p:sp>
      <p:sp>
        <p:nvSpPr>
          <p:cNvPr id="11" name="TextBox 10">
            <a:extLst>
              <a:ext uri="{FF2B5EF4-FFF2-40B4-BE49-F238E27FC236}">
                <a16:creationId xmlns:a16="http://schemas.microsoft.com/office/drawing/2014/main" id="{F71294C6-D117-D74D-2CDC-880CC4675AF6}"/>
              </a:ext>
            </a:extLst>
          </p:cNvPr>
          <p:cNvSpPr txBox="1"/>
          <p:nvPr userDrawn="1"/>
        </p:nvSpPr>
        <p:spPr>
          <a:xfrm>
            <a:off x="11374886" y="6259582"/>
            <a:ext cx="441801" cy="307777"/>
          </a:xfrm>
          <a:prstGeom prst="rect">
            <a:avLst/>
          </a:prstGeom>
          <a:noFill/>
        </p:spPr>
        <p:txBody>
          <a:bodyPr wrap="square" rtlCol="0">
            <a:spAutoFit/>
          </a:bodyPr>
          <a:lstStyle/>
          <a:p>
            <a:pPr algn="ctr"/>
            <a:fld id="{C3164E28-571B-EE42-A69C-224350E15EC0}" type="slidenum">
              <a:rPr lang="en-US" sz="1400" smtClean="0">
                <a:solidFill>
                  <a:schemeClr val="bg1"/>
                </a:solidFill>
              </a:rPr>
              <a:pPr algn="ctr"/>
              <a:t>‹#›</a:t>
            </a:fld>
            <a:endParaRPr lang="en-US" sz="1400" dirty="0">
              <a:solidFill>
                <a:schemeClr val="bg1"/>
              </a:solidFill>
            </a:endParaRPr>
          </a:p>
        </p:txBody>
      </p:sp>
    </p:spTree>
    <p:extLst>
      <p:ext uri="{BB962C8B-B14F-4D97-AF65-F5344CB8AC3E}">
        <p14:creationId xmlns:p14="http://schemas.microsoft.com/office/powerpoint/2010/main" val="4215885203"/>
      </p:ext>
    </p:extLst>
  </p:cSld>
  <p:clrMap bg1="lt1" tx1="dk1" bg2="lt2" tx2="dk2" accent1="accent1" accent2="accent2" accent3="accent3" accent4="accent4" accent5="accent5" accent6="accent6" hlink="hlink" folHlink="folHlink"/>
  <p:sldLayoutIdLst>
    <p:sldLayoutId id="2147483656" r:id="rId1"/>
    <p:sldLayoutId id="2147483650" r:id="rId2"/>
    <p:sldLayoutId id="2147483657" r:id="rId3"/>
    <p:sldLayoutId id="2147483653" r:id="rId4"/>
    <p:sldLayoutId id="2147483678" r:id="rId5"/>
    <p:sldLayoutId id="2147483679" r:id="rId6"/>
    <p:sldLayoutId id="2147483680" r:id="rId7"/>
    <p:sldLayoutId id="2147483681" r:id="rId8"/>
    <p:sldLayoutId id="2147483655" r:id="rId9"/>
  </p:sldLayoutIdLst>
  <p:txStyles>
    <p:titleStyle>
      <a:lvl1pPr algn="l" defTabSz="914377" rtl="0" eaLnBrk="1" latinLnBrk="0" hangingPunct="1">
        <a:lnSpc>
          <a:spcPct val="90000"/>
        </a:lnSpc>
        <a:spcBef>
          <a:spcPct val="0"/>
        </a:spcBef>
        <a:buNone/>
        <a:defRPr sz="3600" b="0" i="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b="0" i="0" kern="1200">
          <a:solidFill>
            <a:schemeClr val="tx1"/>
          </a:solidFill>
          <a:latin typeface="Calibri Light" panose="020F0302020204030204" pitchFamily="34" charset="0"/>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Nunito Sans Normal SemiBold" pitchFamily="2" charset="0"/>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Nunito Sans Normal Medium" pitchFamily="2" charset="0"/>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Nunito Sans Normal" pitchFamily="2" charset="0"/>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Nunito Sans Normal ExtraLight"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8721930"/>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1" name="Picture 10" descr="A person in a red uniform&#10;&#10;Description automatically generated">
            <a:extLst>
              <a:ext uri="{FF2B5EF4-FFF2-40B4-BE49-F238E27FC236}">
                <a16:creationId xmlns:a16="http://schemas.microsoft.com/office/drawing/2014/main" id="{FC1BEE30-49D9-51D2-0879-65CF16558F4B}"/>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349" y="0"/>
            <a:ext cx="12185651" cy="6861574"/>
          </a:xfrm>
          <a:prstGeom prst="rect">
            <a:avLst/>
          </a:prstGeom>
        </p:spPr>
      </p:pic>
      <p:sp>
        <p:nvSpPr>
          <p:cNvPr id="8" name="Rectangle 7">
            <a:extLst>
              <a:ext uri="{FF2B5EF4-FFF2-40B4-BE49-F238E27FC236}">
                <a16:creationId xmlns:a16="http://schemas.microsoft.com/office/drawing/2014/main" id="{517F06A7-FD46-3EAB-D31E-C045D75800DC}"/>
              </a:ext>
            </a:extLst>
          </p:cNvPr>
          <p:cNvSpPr/>
          <p:nvPr userDrawn="1"/>
        </p:nvSpPr>
        <p:spPr>
          <a:xfrm>
            <a:off x="11420684" y="6268979"/>
            <a:ext cx="350203" cy="58902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US" sz="1351">
              <a:solidFill>
                <a:prstClr val="white"/>
              </a:solidFill>
            </a:endParaRPr>
          </a:p>
        </p:txBody>
      </p:sp>
      <p:sp>
        <p:nvSpPr>
          <p:cNvPr id="9" name="TextBox 8">
            <a:extLst>
              <a:ext uri="{FF2B5EF4-FFF2-40B4-BE49-F238E27FC236}">
                <a16:creationId xmlns:a16="http://schemas.microsoft.com/office/drawing/2014/main" id="{FEF9E352-BD4E-8558-19E7-79C2089F6E91}"/>
              </a:ext>
            </a:extLst>
          </p:cNvPr>
          <p:cNvSpPr txBox="1"/>
          <p:nvPr userDrawn="1"/>
        </p:nvSpPr>
        <p:spPr>
          <a:xfrm>
            <a:off x="11374886" y="6259582"/>
            <a:ext cx="441801" cy="307777"/>
          </a:xfrm>
          <a:prstGeom prst="rect">
            <a:avLst/>
          </a:prstGeom>
          <a:noFill/>
        </p:spPr>
        <p:txBody>
          <a:bodyPr wrap="square" rtlCol="0">
            <a:spAutoFit/>
          </a:bodyPr>
          <a:lstStyle/>
          <a:p>
            <a:pPr algn="ctr"/>
            <a:fld id="{C3164E28-571B-EE42-A69C-224350E15EC0}" type="slidenum">
              <a:rPr lang="en-US" sz="1400" smtClean="0">
                <a:solidFill>
                  <a:schemeClr val="bg1"/>
                </a:solidFill>
              </a:rPr>
              <a:pPr algn="ctr"/>
              <a:t>‹#›</a:t>
            </a:fld>
            <a:endParaRPr lang="en-US" sz="1400" dirty="0">
              <a:solidFill>
                <a:schemeClr val="bg1"/>
              </a:solidFill>
            </a:endParaRPr>
          </a:p>
        </p:txBody>
      </p:sp>
      <p:pic>
        <p:nvPicPr>
          <p:cNvPr id="3" name="Picture 2">
            <a:extLst>
              <a:ext uri="{FF2B5EF4-FFF2-40B4-BE49-F238E27FC236}">
                <a16:creationId xmlns:a16="http://schemas.microsoft.com/office/drawing/2014/main" id="{87E983B5-2144-0AF4-4FA6-6BC0D2E306D8}"/>
              </a:ext>
            </a:extLst>
          </p:cNvPr>
          <p:cNvPicPr>
            <a:picLocks noChangeAspect="1"/>
          </p:cNvPicPr>
          <p:nvPr userDrawn="1"/>
        </p:nvPicPr>
        <p:blipFill>
          <a:blip r:embed="rId14"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3131871478"/>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137990"/>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4" r:id="rId7"/>
  </p:sldLayoutIdLst>
  <p:txStyles>
    <p:titleStyle>
      <a:lvl1pPr algn="l" defTabSz="914377" rtl="0" eaLnBrk="1" latinLnBrk="0" hangingPunct="1">
        <a:lnSpc>
          <a:spcPct val="90000"/>
        </a:lnSpc>
        <a:spcBef>
          <a:spcPct val="0"/>
        </a:spcBef>
        <a:buNone/>
        <a:defRPr sz="3600" b="0" i="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b="0" i="0" kern="1200">
          <a:solidFill>
            <a:schemeClr val="tx1"/>
          </a:solidFill>
          <a:latin typeface="Calibri Light" panose="020F0302020204030204" pitchFamily="34" charset="0"/>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Nunito Sans Normal SemiBold" pitchFamily="2" charset="0"/>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Nunito Sans Normal Medium" pitchFamily="2" charset="0"/>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Nunito Sans Normal" pitchFamily="2" charset="0"/>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Nunito Sans Normal ExtraLight"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A colorful lines on a white background&#10;&#10;Description automatically generated">
            <a:extLst>
              <a:ext uri="{FF2B5EF4-FFF2-40B4-BE49-F238E27FC236}">
                <a16:creationId xmlns:a16="http://schemas.microsoft.com/office/drawing/2014/main" id="{01A810E0-89BC-8A59-245D-26142C81FB1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349" y="0"/>
            <a:ext cx="12185651" cy="6861574"/>
          </a:xfrm>
          <a:prstGeom prst="rect">
            <a:avLst/>
          </a:prstGeom>
        </p:spPr>
      </p:pic>
      <p:pic>
        <p:nvPicPr>
          <p:cNvPr id="2" name="Picture 1">
            <a:extLst>
              <a:ext uri="{FF2B5EF4-FFF2-40B4-BE49-F238E27FC236}">
                <a16:creationId xmlns:a16="http://schemas.microsoft.com/office/drawing/2014/main" id="{BD072110-F9B0-58E7-FDDF-1ABAD23519E1}"/>
              </a:ext>
            </a:extLst>
          </p:cNvPr>
          <p:cNvPicPr>
            <a:picLocks noChangeAspect="1"/>
          </p:cNvPicPr>
          <p:nvPr userDrawn="1"/>
        </p:nvPicPr>
        <p:blipFill>
          <a:blip r:embed="rId14"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2008813173"/>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71294C6-D117-D74D-2CDC-880CC4675AF6}"/>
              </a:ext>
            </a:extLst>
          </p:cNvPr>
          <p:cNvSpPr txBox="1"/>
          <p:nvPr userDrawn="1"/>
        </p:nvSpPr>
        <p:spPr>
          <a:xfrm>
            <a:off x="11374886" y="6259582"/>
            <a:ext cx="441801" cy="307777"/>
          </a:xfrm>
          <a:prstGeom prst="rect">
            <a:avLst/>
          </a:prstGeom>
          <a:noFill/>
        </p:spPr>
        <p:txBody>
          <a:bodyPr wrap="square" rtlCol="0">
            <a:spAutoFit/>
          </a:bodyPr>
          <a:lstStyle/>
          <a:p>
            <a:pPr algn="ctr"/>
            <a:fld id="{C3164E28-571B-EE42-A69C-224350E15EC0}" type="slidenum">
              <a:rPr lang="en-US" sz="1400" smtClean="0">
                <a:solidFill>
                  <a:schemeClr val="bg1"/>
                </a:solidFill>
              </a:rPr>
              <a:pPr algn="ctr"/>
              <a:t>‹#›</a:t>
            </a:fld>
            <a:endParaRPr lang="en-US" sz="1400" dirty="0">
              <a:solidFill>
                <a:schemeClr val="bg1"/>
              </a:solidFill>
            </a:endParaRPr>
          </a:p>
        </p:txBody>
      </p:sp>
      <p:sp>
        <p:nvSpPr>
          <p:cNvPr id="7" name="Rectangle 6">
            <a:extLst>
              <a:ext uri="{FF2B5EF4-FFF2-40B4-BE49-F238E27FC236}">
                <a16:creationId xmlns:a16="http://schemas.microsoft.com/office/drawing/2014/main" id="{E9AF968F-2499-462A-35A3-4E68D83043A8}"/>
              </a:ext>
            </a:extLst>
          </p:cNvPr>
          <p:cNvSpPr/>
          <p:nvPr userDrawn="1"/>
        </p:nvSpPr>
        <p:spPr>
          <a:xfrm>
            <a:off x="11573084" y="6421379"/>
            <a:ext cx="350203" cy="58902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US" sz="1351">
              <a:solidFill>
                <a:prstClr val="white"/>
              </a:solidFill>
            </a:endParaRPr>
          </a:p>
        </p:txBody>
      </p:sp>
      <p:sp>
        <p:nvSpPr>
          <p:cNvPr id="8" name="TextBox 7">
            <a:extLst>
              <a:ext uri="{FF2B5EF4-FFF2-40B4-BE49-F238E27FC236}">
                <a16:creationId xmlns:a16="http://schemas.microsoft.com/office/drawing/2014/main" id="{7A26E7C2-723D-4118-69D7-F78E81637988}"/>
              </a:ext>
            </a:extLst>
          </p:cNvPr>
          <p:cNvSpPr txBox="1"/>
          <p:nvPr userDrawn="1"/>
        </p:nvSpPr>
        <p:spPr>
          <a:xfrm>
            <a:off x="11527286" y="6411982"/>
            <a:ext cx="441801" cy="307777"/>
          </a:xfrm>
          <a:prstGeom prst="rect">
            <a:avLst/>
          </a:prstGeom>
          <a:noFill/>
        </p:spPr>
        <p:txBody>
          <a:bodyPr wrap="square" rtlCol="0">
            <a:spAutoFit/>
          </a:bodyPr>
          <a:lstStyle/>
          <a:p>
            <a:pPr algn="ctr"/>
            <a:fld id="{C3164E28-571B-EE42-A69C-224350E15EC0}" type="slidenum">
              <a:rPr lang="en-US" sz="1400" smtClean="0">
                <a:solidFill>
                  <a:schemeClr val="bg1"/>
                </a:solidFill>
              </a:rPr>
              <a:pPr algn="ctr"/>
              <a:t>‹#›</a:t>
            </a:fld>
            <a:endParaRPr lang="en-US" sz="1400" dirty="0">
              <a:solidFill>
                <a:schemeClr val="bg1"/>
              </a:solidFill>
            </a:endParaRPr>
          </a:p>
        </p:txBody>
      </p:sp>
      <p:pic>
        <p:nvPicPr>
          <p:cNvPr id="3" name="Picture 2">
            <a:extLst>
              <a:ext uri="{FF2B5EF4-FFF2-40B4-BE49-F238E27FC236}">
                <a16:creationId xmlns:a16="http://schemas.microsoft.com/office/drawing/2014/main" id="{B8444B65-D6A9-BC9D-1A0F-D8E883FDC394}"/>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841246950"/>
      </p:ext>
    </p:extLst>
  </p:cSld>
  <p:clrMap bg1="lt1" tx1="dk1" bg2="lt2" tx2="dk2" accent1="accent1" accent2="accent2" accent3="accent3" accent4="accent4" accent5="accent5" accent6="accent6" hlink="hlink" folHlink="folHlink"/>
  <p:txStyles>
    <p:titleStyle>
      <a:lvl1pPr algn="l" defTabSz="914377" rtl="0" eaLnBrk="1" latinLnBrk="0" hangingPunct="1">
        <a:lnSpc>
          <a:spcPct val="90000"/>
        </a:lnSpc>
        <a:spcBef>
          <a:spcPct val="0"/>
        </a:spcBef>
        <a:buNone/>
        <a:defRPr sz="3600" b="0" i="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b="0" i="0" kern="1200">
          <a:solidFill>
            <a:schemeClr val="tx1"/>
          </a:solidFill>
          <a:latin typeface="Calibri Light" panose="020F0302020204030204" pitchFamily="34" charset="0"/>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Nunito Sans Normal SemiBold" pitchFamily="2" charset="0"/>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Nunito Sans Normal Medium" pitchFamily="2" charset="0"/>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Nunito Sans Normal" pitchFamily="2" charset="0"/>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Nunito Sans Normal ExtraLight"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doctor wearing a mask and holding a thermometer&#10;&#10;Description automatically generated">
            <a:extLst>
              <a:ext uri="{FF2B5EF4-FFF2-40B4-BE49-F238E27FC236}">
                <a16:creationId xmlns:a16="http://schemas.microsoft.com/office/drawing/2014/main" id="{8E7CD5CD-26AB-5C31-7863-A91591942D3F}"/>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 y="0"/>
            <a:ext cx="12185652" cy="6858000"/>
          </a:xfrm>
          <a:prstGeom prst="rect">
            <a:avLst/>
          </a:prstGeom>
        </p:spPr>
      </p:pic>
      <p:sp>
        <p:nvSpPr>
          <p:cNvPr id="2" name="Rectangle 1">
            <a:extLst>
              <a:ext uri="{FF2B5EF4-FFF2-40B4-BE49-F238E27FC236}">
                <a16:creationId xmlns:a16="http://schemas.microsoft.com/office/drawing/2014/main" id="{40C6773B-9C4A-6A6E-6006-4EAF31B3244F}"/>
              </a:ext>
            </a:extLst>
          </p:cNvPr>
          <p:cNvSpPr/>
          <p:nvPr userDrawn="1"/>
        </p:nvSpPr>
        <p:spPr>
          <a:xfrm>
            <a:off x="11420684" y="6268979"/>
            <a:ext cx="350203" cy="58902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US" sz="1351">
              <a:solidFill>
                <a:prstClr val="white"/>
              </a:solidFill>
            </a:endParaRPr>
          </a:p>
        </p:txBody>
      </p:sp>
      <p:sp>
        <p:nvSpPr>
          <p:cNvPr id="3" name="TextBox 2">
            <a:extLst>
              <a:ext uri="{FF2B5EF4-FFF2-40B4-BE49-F238E27FC236}">
                <a16:creationId xmlns:a16="http://schemas.microsoft.com/office/drawing/2014/main" id="{E6233FD6-53B9-D528-0F30-A4E8B152F991}"/>
              </a:ext>
            </a:extLst>
          </p:cNvPr>
          <p:cNvSpPr txBox="1"/>
          <p:nvPr userDrawn="1"/>
        </p:nvSpPr>
        <p:spPr>
          <a:xfrm>
            <a:off x="11374886" y="6259582"/>
            <a:ext cx="441801" cy="307777"/>
          </a:xfrm>
          <a:prstGeom prst="rect">
            <a:avLst/>
          </a:prstGeom>
          <a:noFill/>
        </p:spPr>
        <p:txBody>
          <a:bodyPr wrap="square" rtlCol="0">
            <a:spAutoFit/>
          </a:bodyPr>
          <a:lstStyle/>
          <a:p>
            <a:pPr algn="ctr"/>
            <a:fld id="{C3164E28-571B-EE42-A69C-224350E15EC0}" type="slidenum">
              <a:rPr lang="en-US" sz="1400" smtClean="0">
                <a:solidFill>
                  <a:schemeClr val="bg1"/>
                </a:solidFill>
              </a:rPr>
              <a:pPr algn="ctr"/>
              <a:t>‹#›</a:t>
            </a:fld>
            <a:endParaRPr lang="en-US" sz="1400" dirty="0">
              <a:solidFill>
                <a:schemeClr val="bg1"/>
              </a:solidFill>
            </a:endParaRPr>
          </a:p>
        </p:txBody>
      </p:sp>
      <p:pic>
        <p:nvPicPr>
          <p:cNvPr id="4" name="Picture 3">
            <a:extLst>
              <a:ext uri="{FF2B5EF4-FFF2-40B4-BE49-F238E27FC236}">
                <a16:creationId xmlns:a16="http://schemas.microsoft.com/office/drawing/2014/main" id="{73BD15CD-148F-1942-094A-0A9FAFD9D178}"/>
              </a:ext>
            </a:extLst>
          </p:cNvPr>
          <p:cNvPicPr>
            <a:picLocks noChangeAspect="1"/>
          </p:cNvPicPr>
          <p:nvPr userDrawn="1"/>
        </p:nvPicPr>
        <p:blipFill>
          <a:blip r:embed="rId14"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1721144462"/>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person on the phone&#10;&#10;Description automatically generated">
            <a:extLst>
              <a:ext uri="{FF2B5EF4-FFF2-40B4-BE49-F238E27FC236}">
                <a16:creationId xmlns:a16="http://schemas.microsoft.com/office/drawing/2014/main" id="{E387A38D-CCF0-04B1-CF30-36DA1D07D78D}"/>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350" y="0"/>
            <a:ext cx="12179303" cy="6858000"/>
          </a:xfrm>
          <a:prstGeom prst="rect">
            <a:avLst/>
          </a:prstGeom>
        </p:spPr>
      </p:pic>
      <p:sp>
        <p:nvSpPr>
          <p:cNvPr id="2" name="Rectangle 1">
            <a:extLst>
              <a:ext uri="{FF2B5EF4-FFF2-40B4-BE49-F238E27FC236}">
                <a16:creationId xmlns:a16="http://schemas.microsoft.com/office/drawing/2014/main" id="{DB9796F3-332D-40A5-45F3-7854AA0E24A8}"/>
              </a:ext>
            </a:extLst>
          </p:cNvPr>
          <p:cNvSpPr/>
          <p:nvPr userDrawn="1"/>
        </p:nvSpPr>
        <p:spPr>
          <a:xfrm>
            <a:off x="11420684" y="6268979"/>
            <a:ext cx="350203" cy="58902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US" sz="1351">
              <a:solidFill>
                <a:prstClr val="white"/>
              </a:solidFill>
            </a:endParaRPr>
          </a:p>
        </p:txBody>
      </p:sp>
      <p:sp>
        <p:nvSpPr>
          <p:cNvPr id="3" name="TextBox 2">
            <a:extLst>
              <a:ext uri="{FF2B5EF4-FFF2-40B4-BE49-F238E27FC236}">
                <a16:creationId xmlns:a16="http://schemas.microsoft.com/office/drawing/2014/main" id="{0E421C42-FE36-B525-1920-FF8C4CAE0164}"/>
              </a:ext>
            </a:extLst>
          </p:cNvPr>
          <p:cNvSpPr txBox="1"/>
          <p:nvPr userDrawn="1"/>
        </p:nvSpPr>
        <p:spPr>
          <a:xfrm>
            <a:off x="11374886" y="6259582"/>
            <a:ext cx="441801" cy="307777"/>
          </a:xfrm>
          <a:prstGeom prst="rect">
            <a:avLst/>
          </a:prstGeom>
          <a:noFill/>
        </p:spPr>
        <p:txBody>
          <a:bodyPr wrap="square" rtlCol="0">
            <a:spAutoFit/>
          </a:bodyPr>
          <a:lstStyle/>
          <a:p>
            <a:pPr algn="ctr"/>
            <a:fld id="{C3164E28-571B-EE42-A69C-224350E15EC0}" type="slidenum">
              <a:rPr lang="en-US" sz="1400" smtClean="0">
                <a:solidFill>
                  <a:schemeClr val="bg1"/>
                </a:solidFill>
              </a:rPr>
              <a:pPr algn="ctr"/>
              <a:t>‹#›</a:t>
            </a:fld>
            <a:endParaRPr lang="en-US" sz="1400" dirty="0">
              <a:solidFill>
                <a:schemeClr val="bg1"/>
              </a:solidFill>
            </a:endParaRPr>
          </a:p>
        </p:txBody>
      </p:sp>
      <p:pic>
        <p:nvPicPr>
          <p:cNvPr id="5" name="Picture 4">
            <a:extLst>
              <a:ext uri="{FF2B5EF4-FFF2-40B4-BE49-F238E27FC236}">
                <a16:creationId xmlns:a16="http://schemas.microsoft.com/office/drawing/2014/main" id="{2D8FF899-7293-5884-9DAD-88CBB878DDDC}"/>
              </a:ext>
            </a:extLst>
          </p:cNvPr>
          <p:cNvPicPr>
            <a:picLocks noChangeAspect="1"/>
          </p:cNvPicPr>
          <p:nvPr userDrawn="1"/>
        </p:nvPicPr>
        <p:blipFill>
          <a:blip r:embed="rId14"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1874071607"/>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descr="A person smiling at a patient&#10;&#10;Description automatically generated">
            <a:extLst>
              <a:ext uri="{FF2B5EF4-FFF2-40B4-BE49-F238E27FC236}">
                <a16:creationId xmlns:a16="http://schemas.microsoft.com/office/drawing/2014/main" id="{41B4ED52-11A5-101D-D086-7971D21B9E82}"/>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350" y="0"/>
            <a:ext cx="12179303" cy="6858000"/>
          </a:xfrm>
          <a:prstGeom prst="rect">
            <a:avLst/>
          </a:prstGeom>
        </p:spPr>
      </p:pic>
      <p:sp>
        <p:nvSpPr>
          <p:cNvPr id="2" name="Rectangle 1">
            <a:extLst>
              <a:ext uri="{FF2B5EF4-FFF2-40B4-BE49-F238E27FC236}">
                <a16:creationId xmlns:a16="http://schemas.microsoft.com/office/drawing/2014/main" id="{D9BC9A87-5D95-A642-E83F-CB75A7C4D8F7}"/>
              </a:ext>
            </a:extLst>
          </p:cNvPr>
          <p:cNvSpPr/>
          <p:nvPr userDrawn="1"/>
        </p:nvSpPr>
        <p:spPr>
          <a:xfrm>
            <a:off x="11420684" y="6268979"/>
            <a:ext cx="350203" cy="58902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US" sz="1351">
              <a:solidFill>
                <a:prstClr val="white"/>
              </a:solidFill>
            </a:endParaRPr>
          </a:p>
        </p:txBody>
      </p:sp>
      <p:sp>
        <p:nvSpPr>
          <p:cNvPr id="3" name="TextBox 2">
            <a:extLst>
              <a:ext uri="{FF2B5EF4-FFF2-40B4-BE49-F238E27FC236}">
                <a16:creationId xmlns:a16="http://schemas.microsoft.com/office/drawing/2014/main" id="{85B7D292-36A6-3B52-A991-17838DA76176}"/>
              </a:ext>
            </a:extLst>
          </p:cNvPr>
          <p:cNvSpPr txBox="1"/>
          <p:nvPr userDrawn="1"/>
        </p:nvSpPr>
        <p:spPr>
          <a:xfrm>
            <a:off x="11374886" y="6259582"/>
            <a:ext cx="441801" cy="307777"/>
          </a:xfrm>
          <a:prstGeom prst="rect">
            <a:avLst/>
          </a:prstGeom>
          <a:noFill/>
        </p:spPr>
        <p:txBody>
          <a:bodyPr wrap="square" rtlCol="0">
            <a:spAutoFit/>
          </a:bodyPr>
          <a:lstStyle/>
          <a:p>
            <a:pPr algn="ctr"/>
            <a:fld id="{C3164E28-571B-EE42-A69C-224350E15EC0}" type="slidenum">
              <a:rPr lang="en-US" sz="1400" smtClean="0">
                <a:solidFill>
                  <a:schemeClr val="bg1"/>
                </a:solidFill>
              </a:rPr>
              <a:pPr algn="ctr"/>
              <a:t>‹#›</a:t>
            </a:fld>
            <a:endParaRPr lang="en-US" sz="1400" dirty="0">
              <a:solidFill>
                <a:schemeClr val="bg1"/>
              </a:solidFill>
            </a:endParaRPr>
          </a:p>
        </p:txBody>
      </p:sp>
      <p:pic>
        <p:nvPicPr>
          <p:cNvPr id="5" name="Picture 4">
            <a:extLst>
              <a:ext uri="{FF2B5EF4-FFF2-40B4-BE49-F238E27FC236}">
                <a16:creationId xmlns:a16="http://schemas.microsoft.com/office/drawing/2014/main" id="{802BDD7F-96D5-FF7E-ABCF-9B7D92C48EB5}"/>
              </a:ext>
            </a:extLst>
          </p:cNvPr>
          <p:cNvPicPr>
            <a:picLocks noChangeAspect="1"/>
          </p:cNvPicPr>
          <p:nvPr userDrawn="1"/>
        </p:nvPicPr>
        <p:blipFill>
          <a:blip r:embed="rId14"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2729808301"/>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 person sitting in a chair holding a paper&#10;&#10;Description automatically generated">
            <a:extLst>
              <a:ext uri="{FF2B5EF4-FFF2-40B4-BE49-F238E27FC236}">
                <a16:creationId xmlns:a16="http://schemas.microsoft.com/office/drawing/2014/main" id="{A03081F0-C1EC-D7CA-997F-387ECBE3AE1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350" y="0"/>
            <a:ext cx="12179303" cy="6858000"/>
          </a:xfrm>
          <a:prstGeom prst="rect">
            <a:avLst/>
          </a:prstGeom>
        </p:spPr>
      </p:pic>
      <p:sp>
        <p:nvSpPr>
          <p:cNvPr id="10" name="Rectangle 9">
            <a:extLst>
              <a:ext uri="{FF2B5EF4-FFF2-40B4-BE49-F238E27FC236}">
                <a16:creationId xmlns:a16="http://schemas.microsoft.com/office/drawing/2014/main" id="{0A0D2384-5C69-9CD4-8FF9-A0C95349AEEE}"/>
              </a:ext>
            </a:extLst>
          </p:cNvPr>
          <p:cNvSpPr/>
          <p:nvPr userDrawn="1"/>
        </p:nvSpPr>
        <p:spPr>
          <a:xfrm>
            <a:off x="11420684" y="6268979"/>
            <a:ext cx="350203" cy="58902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US" sz="1351">
              <a:solidFill>
                <a:prstClr val="white"/>
              </a:solidFill>
            </a:endParaRPr>
          </a:p>
        </p:txBody>
      </p:sp>
      <p:sp>
        <p:nvSpPr>
          <p:cNvPr id="11" name="TextBox 10">
            <a:extLst>
              <a:ext uri="{FF2B5EF4-FFF2-40B4-BE49-F238E27FC236}">
                <a16:creationId xmlns:a16="http://schemas.microsoft.com/office/drawing/2014/main" id="{59B1FD48-5F53-F07D-D3E4-59234F1008FA}"/>
              </a:ext>
            </a:extLst>
          </p:cNvPr>
          <p:cNvSpPr txBox="1"/>
          <p:nvPr userDrawn="1"/>
        </p:nvSpPr>
        <p:spPr>
          <a:xfrm>
            <a:off x="11374886" y="6259582"/>
            <a:ext cx="441801" cy="307777"/>
          </a:xfrm>
          <a:prstGeom prst="rect">
            <a:avLst/>
          </a:prstGeom>
          <a:noFill/>
        </p:spPr>
        <p:txBody>
          <a:bodyPr wrap="square" rtlCol="0">
            <a:spAutoFit/>
          </a:bodyPr>
          <a:lstStyle/>
          <a:p>
            <a:pPr algn="ctr"/>
            <a:fld id="{C3164E28-571B-EE42-A69C-224350E15EC0}" type="slidenum">
              <a:rPr lang="en-US" sz="1400" smtClean="0">
                <a:solidFill>
                  <a:schemeClr val="bg1"/>
                </a:solidFill>
              </a:rPr>
              <a:pPr algn="ctr"/>
              <a:t>‹#›</a:t>
            </a:fld>
            <a:endParaRPr lang="en-US" sz="1400" dirty="0">
              <a:solidFill>
                <a:schemeClr val="bg1"/>
              </a:solidFill>
            </a:endParaRPr>
          </a:p>
        </p:txBody>
      </p:sp>
      <p:pic>
        <p:nvPicPr>
          <p:cNvPr id="3" name="Picture 2">
            <a:extLst>
              <a:ext uri="{FF2B5EF4-FFF2-40B4-BE49-F238E27FC236}">
                <a16:creationId xmlns:a16="http://schemas.microsoft.com/office/drawing/2014/main" id="{E7E3B551-1A05-C215-B411-765C72D872DE}"/>
              </a:ext>
            </a:extLst>
          </p:cNvPr>
          <p:cNvPicPr>
            <a:picLocks noChangeAspect="1"/>
          </p:cNvPicPr>
          <p:nvPr userDrawn="1"/>
        </p:nvPicPr>
        <p:blipFill>
          <a:blip r:embed="rId14"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173936198"/>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1" name="Picture 10" descr="A person holding a baby&#10;&#10;Description automatically generated">
            <a:extLst>
              <a:ext uri="{FF2B5EF4-FFF2-40B4-BE49-F238E27FC236}">
                <a16:creationId xmlns:a16="http://schemas.microsoft.com/office/drawing/2014/main" id="{602AA61D-6DC9-DB01-7C08-791B0E21051B}"/>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349" y="0"/>
            <a:ext cx="12185651" cy="6861574"/>
          </a:xfrm>
          <a:prstGeom prst="rect">
            <a:avLst/>
          </a:prstGeom>
        </p:spPr>
      </p:pic>
      <p:sp>
        <p:nvSpPr>
          <p:cNvPr id="8" name="Rectangle 7">
            <a:extLst>
              <a:ext uri="{FF2B5EF4-FFF2-40B4-BE49-F238E27FC236}">
                <a16:creationId xmlns:a16="http://schemas.microsoft.com/office/drawing/2014/main" id="{79D961FB-5526-83A1-E188-18B2DE404D9D}"/>
              </a:ext>
            </a:extLst>
          </p:cNvPr>
          <p:cNvSpPr/>
          <p:nvPr userDrawn="1"/>
        </p:nvSpPr>
        <p:spPr>
          <a:xfrm>
            <a:off x="11420684" y="6268979"/>
            <a:ext cx="350203" cy="58902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US" sz="1351">
              <a:solidFill>
                <a:prstClr val="white"/>
              </a:solidFill>
            </a:endParaRPr>
          </a:p>
        </p:txBody>
      </p:sp>
      <p:sp>
        <p:nvSpPr>
          <p:cNvPr id="9" name="TextBox 8">
            <a:extLst>
              <a:ext uri="{FF2B5EF4-FFF2-40B4-BE49-F238E27FC236}">
                <a16:creationId xmlns:a16="http://schemas.microsoft.com/office/drawing/2014/main" id="{E214150A-08B5-C90F-A287-72626C0813B6}"/>
              </a:ext>
            </a:extLst>
          </p:cNvPr>
          <p:cNvSpPr txBox="1"/>
          <p:nvPr userDrawn="1"/>
        </p:nvSpPr>
        <p:spPr>
          <a:xfrm>
            <a:off x="11374886" y="6259582"/>
            <a:ext cx="441801" cy="307777"/>
          </a:xfrm>
          <a:prstGeom prst="rect">
            <a:avLst/>
          </a:prstGeom>
          <a:noFill/>
        </p:spPr>
        <p:txBody>
          <a:bodyPr wrap="square" rtlCol="0">
            <a:spAutoFit/>
          </a:bodyPr>
          <a:lstStyle/>
          <a:p>
            <a:pPr algn="ctr"/>
            <a:fld id="{C3164E28-571B-EE42-A69C-224350E15EC0}" type="slidenum">
              <a:rPr lang="en-US" sz="1400" smtClean="0">
                <a:solidFill>
                  <a:schemeClr val="bg1"/>
                </a:solidFill>
              </a:rPr>
              <a:pPr algn="ctr"/>
              <a:t>‹#›</a:t>
            </a:fld>
            <a:endParaRPr lang="en-US" sz="1400" dirty="0">
              <a:solidFill>
                <a:schemeClr val="bg1"/>
              </a:solidFill>
            </a:endParaRPr>
          </a:p>
        </p:txBody>
      </p:sp>
      <p:pic>
        <p:nvPicPr>
          <p:cNvPr id="3" name="Picture 2">
            <a:extLst>
              <a:ext uri="{FF2B5EF4-FFF2-40B4-BE49-F238E27FC236}">
                <a16:creationId xmlns:a16="http://schemas.microsoft.com/office/drawing/2014/main" id="{021CE018-E9E1-3B25-48E1-298C0817ECD8}"/>
              </a:ext>
            </a:extLst>
          </p:cNvPr>
          <p:cNvPicPr>
            <a:picLocks noChangeAspect="1"/>
          </p:cNvPicPr>
          <p:nvPr userDrawn="1"/>
        </p:nvPicPr>
        <p:blipFill>
          <a:blip r:embed="rId14"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2325683572"/>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9" name="Picture 18" descr="A white background with black dots&#10;&#10;Description automatically generated">
            <a:extLst>
              <a:ext uri="{FF2B5EF4-FFF2-40B4-BE49-F238E27FC236}">
                <a16:creationId xmlns:a16="http://schemas.microsoft.com/office/drawing/2014/main" id="{B1531AD9-EF6D-1084-FDA7-9C8EAB3544A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350" y="0"/>
            <a:ext cx="12179303" cy="6858000"/>
          </a:xfrm>
          <a:prstGeom prst="rect">
            <a:avLst/>
          </a:prstGeom>
        </p:spPr>
      </p:pic>
      <p:sp>
        <p:nvSpPr>
          <p:cNvPr id="8" name="Rectangle 7">
            <a:extLst>
              <a:ext uri="{FF2B5EF4-FFF2-40B4-BE49-F238E27FC236}">
                <a16:creationId xmlns:a16="http://schemas.microsoft.com/office/drawing/2014/main" id="{2BBD96A5-91FC-B0B1-52F2-916D1880F2A8}"/>
              </a:ext>
            </a:extLst>
          </p:cNvPr>
          <p:cNvSpPr/>
          <p:nvPr userDrawn="1"/>
        </p:nvSpPr>
        <p:spPr>
          <a:xfrm>
            <a:off x="838200" y="1463262"/>
            <a:ext cx="2743200" cy="18288"/>
          </a:xfrm>
          <a:prstGeom prst="rect">
            <a:avLst/>
          </a:prstGeom>
          <a:solidFill>
            <a:srgbClr val="C60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US" sz="1351">
              <a:solidFill>
                <a:prstClr val="white"/>
              </a:solidFill>
            </a:endParaRPr>
          </a:p>
        </p:txBody>
      </p:sp>
      <p:sp>
        <p:nvSpPr>
          <p:cNvPr id="12" name="Rectangle 11">
            <a:extLst>
              <a:ext uri="{FF2B5EF4-FFF2-40B4-BE49-F238E27FC236}">
                <a16:creationId xmlns:a16="http://schemas.microsoft.com/office/drawing/2014/main" id="{D9CC8ED6-523B-C8C2-1497-1E8F94350CB8}"/>
              </a:ext>
            </a:extLst>
          </p:cNvPr>
          <p:cNvSpPr/>
          <p:nvPr userDrawn="1"/>
        </p:nvSpPr>
        <p:spPr>
          <a:xfrm>
            <a:off x="11420684" y="6268979"/>
            <a:ext cx="350203" cy="58902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US" sz="1351">
              <a:solidFill>
                <a:prstClr val="white"/>
              </a:solidFill>
            </a:endParaRPr>
          </a:p>
        </p:txBody>
      </p:sp>
      <p:sp>
        <p:nvSpPr>
          <p:cNvPr id="13" name="TextBox 12">
            <a:extLst>
              <a:ext uri="{FF2B5EF4-FFF2-40B4-BE49-F238E27FC236}">
                <a16:creationId xmlns:a16="http://schemas.microsoft.com/office/drawing/2014/main" id="{53198508-D512-9761-4D86-E4951B3379D0}"/>
              </a:ext>
            </a:extLst>
          </p:cNvPr>
          <p:cNvSpPr txBox="1"/>
          <p:nvPr userDrawn="1"/>
        </p:nvSpPr>
        <p:spPr>
          <a:xfrm>
            <a:off x="11374886" y="6259582"/>
            <a:ext cx="441801" cy="307777"/>
          </a:xfrm>
          <a:prstGeom prst="rect">
            <a:avLst/>
          </a:prstGeom>
          <a:noFill/>
        </p:spPr>
        <p:txBody>
          <a:bodyPr wrap="square" rtlCol="0">
            <a:spAutoFit/>
          </a:bodyPr>
          <a:lstStyle/>
          <a:p>
            <a:pPr algn="ctr"/>
            <a:fld id="{C3164E28-571B-EE42-A69C-224350E15EC0}" type="slidenum">
              <a:rPr lang="en-US" sz="1400" smtClean="0">
                <a:solidFill>
                  <a:schemeClr val="bg1"/>
                </a:solidFill>
              </a:rPr>
              <a:pPr algn="ctr"/>
              <a:t>‹#›</a:t>
            </a:fld>
            <a:endParaRPr lang="en-US" sz="1400" dirty="0">
              <a:solidFill>
                <a:schemeClr val="bg1"/>
              </a:solidFill>
            </a:endParaRPr>
          </a:p>
        </p:txBody>
      </p:sp>
      <p:sp>
        <p:nvSpPr>
          <p:cNvPr id="14" name="Rectangle 13">
            <a:extLst>
              <a:ext uri="{FF2B5EF4-FFF2-40B4-BE49-F238E27FC236}">
                <a16:creationId xmlns:a16="http://schemas.microsoft.com/office/drawing/2014/main" id="{6839274C-CE7F-DD42-26CF-9BDC6E07436B}"/>
              </a:ext>
            </a:extLst>
          </p:cNvPr>
          <p:cNvSpPr/>
          <p:nvPr userDrawn="1"/>
        </p:nvSpPr>
        <p:spPr>
          <a:xfrm>
            <a:off x="3581400" y="1463347"/>
            <a:ext cx="2743200" cy="18288"/>
          </a:xfrm>
          <a:prstGeom prst="rect">
            <a:avLst/>
          </a:prstGeom>
          <a:solidFill>
            <a:srgbClr val="C60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US" sz="1351">
              <a:solidFill>
                <a:prstClr val="white"/>
              </a:solidFill>
            </a:endParaRPr>
          </a:p>
        </p:txBody>
      </p:sp>
      <p:sp>
        <p:nvSpPr>
          <p:cNvPr id="15" name="Rectangle 14">
            <a:extLst>
              <a:ext uri="{FF2B5EF4-FFF2-40B4-BE49-F238E27FC236}">
                <a16:creationId xmlns:a16="http://schemas.microsoft.com/office/drawing/2014/main" id="{803C1306-B5FF-B88A-FEBF-B6E6DD4B7442}"/>
              </a:ext>
            </a:extLst>
          </p:cNvPr>
          <p:cNvSpPr/>
          <p:nvPr userDrawn="1"/>
        </p:nvSpPr>
        <p:spPr>
          <a:xfrm>
            <a:off x="6227164" y="1463262"/>
            <a:ext cx="2743200" cy="18288"/>
          </a:xfrm>
          <a:prstGeom prst="rect">
            <a:avLst/>
          </a:prstGeom>
          <a:solidFill>
            <a:srgbClr val="C60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US" sz="1351">
              <a:solidFill>
                <a:prstClr val="white"/>
              </a:solidFill>
            </a:endParaRPr>
          </a:p>
        </p:txBody>
      </p:sp>
      <p:pic>
        <p:nvPicPr>
          <p:cNvPr id="3" name="Picture 2">
            <a:extLst>
              <a:ext uri="{FF2B5EF4-FFF2-40B4-BE49-F238E27FC236}">
                <a16:creationId xmlns:a16="http://schemas.microsoft.com/office/drawing/2014/main" id="{4A27D219-9FEF-4403-E5C2-FB85C257F905}"/>
              </a:ext>
            </a:extLst>
          </p:cNvPr>
          <p:cNvPicPr>
            <a:picLocks noChangeAspect="1"/>
          </p:cNvPicPr>
          <p:nvPr userDrawn="1"/>
        </p:nvPicPr>
        <p:blipFill>
          <a:blip r:embed="rId14" cstate="print">
            <a:extLst>
              <a:ext uri="{28A0092B-C50C-407E-A947-70E740481C1C}">
                <a14:useLocalDpi xmlns:a14="http://schemas.microsoft.com/office/drawing/2010/main" val="0"/>
              </a:ext>
            </a:extLst>
          </a:blip>
          <a:srcRect t="3629" b="3629"/>
          <a:stretch/>
        </p:blipFill>
        <p:spPr>
          <a:xfrm>
            <a:off x="8409354" y="6056923"/>
            <a:ext cx="2907323" cy="539262"/>
          </a:xfrm>
          <a:prstGeom prst="rect">
            <a:avLst/>
          </a:prstGeom>
        </p:spPr>
      </p:pic>
    </p:spTree>
    <p:extLst>
      <p:ext uri="{BB962C8B-B14F-4D97-AF65-F5344CB8AC3E}">
        <p14:creationId xmlns:p14="http://schemas.microsoft.com/office/powerpoint/2010/main" val="131102012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08.xml"/><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8.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08.xml"/></Relationships>
</file>

<file path=ppt/slides/_rels/slide1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9.xml"/><Relationship Id="rId1" Type="http://schemas.openxmlformats.org/officeDocument/2006/relationships/slideLayout" Target="../slideLayouts/slideLayout10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5.xml"/></Relationships>
</file>

<file path=ppt/slides/_rels/slide1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1.xml"/><Relationship Id="rId1" Type="http://schemas.openxmlformats.org/officeDocument/2006/relationships/slideLayout" Target="../slideLayouts/slideLayout108.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08.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08.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5.xml"/></Relationships>
</file>

<file path=ppt/slides/_rels/slide32.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8.xml"/><Relationship Id="rId1" Type="http://schemas.openxmlformats.org/officeDocument/2006/relationships/slideLayout" Target="../slideLayouts/slideLayout10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8.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3.xml"/><Relationship Id="rId1" Type="http://schemas.openxmlformats.org/officeDocument/2006/relationships/slideLayout" Target="../slideLayouts/slideLayout108.xml"/></Relationships>
</file>

<file path=ppt/slides/_rels/slide3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4.xml"/><Relationship Id="rId1" Type="http://schemas.openxmlformats.org/officeDocument/2006/relationships/slideLayout" Target="../slideLayouts/slideLayout10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5.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10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8.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0.xml"/><Relationship Id="rId1" Type="http://schemas.openxmlformats.org/officeDocument/2006/relationships/slideLayout" Target="../slideLayouts/slideLayout108.xml"/></Relationships>
</file>

<file path=ppt/slides/_rels/slide48.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41.xml"/><Relationship Id="rId1" Type="http://schemas.openxmlformats.org/officeDocument/2006/relationships/slideLayout" Target="../slideLayouts/slideLayout108.xml"/></Relationships>
</file>

<file path=ppt/slides/_rels/slide4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42.xml"/><Relationship Id="rId1" Type="http://schemas.openxmlformats.org/officeDocument/2006/relationships/slideLayout" Target="../slideLayouts/slideLayout108.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3.xml"/><Relationship Id="rId1" Type="http://schemas.openxmlformats.org/officeDocument/2006/relationships/slideLayout" Target="../slideLayouts/slideLayout108.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4.xml"/><Relationship Id="rId1" Type="http://schemas.openxmlformats.org/officeDocument/2006/relationships/slideLayout" Target="../slideLayouts/slideLayout10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0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0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08.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0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0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0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0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0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0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0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0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08.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08.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0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0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0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0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0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0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0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0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0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57DF7B-5BB9-F80B-8831-6D079DA1DD5C}"/>
              </a:ext>
            </a:extLst>
          </p:cNvPr>
          <p:cNvSpPr txBox="1">
            <a:spLocks/>
          </p:cNvSpPr>
          <p:nvPr/>
        </p:nvSpPr>
        <p:spPr>
          <a:xfrm>
            <a:off x="1814458" y="1820177"/>
            <a:ext cx="8563087" cy="1072603"/>
          </a:xfrm>
          <a:prstGeom prst="rect">
            <a:avLst/>
          </a:prstGeom>
        </p:spPr>
        <p:txBody>
          <a:bodyPr wrap="square" anchor="b" anchorCtr="0"/>
          <a:lstStyle>
            <a:lvl1pPr algn="l" defTabSz="914400" rtl="0" eaLnBrk="1" latinLnBrk="0" hangingPunct="1">
              <a:spcBef>
                <a:spcPct val="0"/>
              </a:spcBef>
              <a:buNone/>
              <a:defRPr lang="en-US" sz="2400" b="0" kern="1200" dirty="0">
                <a:solidFill>
                  <a:schemeClr val="tx2"/>
                </a:solidFill>
                <a:effectLst/>
                <a:latin typeface="Calibri Light" panose="020F0302020204030204" pitchFamily="34" charset="0"/>
                <a:ea typeface="+mj-ea"/>
                <a:cs typeface="+mj-cs"/>
              </a:defRPr>
            </a:lvl1pPr>
          </a:lstStyle>
          <a:p>
            <a:pPr algn="ctr"/>
            <a:r>
              <a:rPr lang="en-US" sz="3600" spc="100" dirty="0">
                <a:solidFill>
                  <a:srgbClr val="C00000"/>
                </a:solidFill>
                <a:latin typeface="Georgia" panose="02040502050405020303" pitchFamily="18" charset="0"/>
                <a:cs typeface="Calibri" panose="020F0502020204030204" pitchFamily="34" charset="0"/>
              </a:rPr>
              <a:t>Male Reproductive Physiology, Pathology, and Pharmacology</a:t>
            </a:r>
          </a:p>
        </p:txBody>
      </p:sp>
      <p:sp>
        <p:nvSpPr>
          <p:cNvPr id="5" name="Text Placeholder 2">
            <a:extLst>
              <a:ext uri="{FF2B5EF4-FFF2-40B4-BE49-F238E27FC236}">
                <a16:creationId xmlns:a16="http://schemas.microsoft.com/office/drawing/2014/main" id="{10361D18-8DEB-CE98-6954-17F86CDBA031}"/>
              </a:ext>
            </a:extLst>
          </p:cNvPr>
          <p:cNvSpPr txBox="1">
            <a:spLocks/>
          </p:cNvSpPr>
          <p:nvPr/>
        </p:nvSpPr>
        <p:spPr>
          <a:xfrm>
            <a:off x="1524000" y="3428919"/>
            <a:ext cx="9143999" cy="1072603"/>
          </a:xfrm>
          <a:prstGeom prst="rect">
            <a:avLst/>
          </a:prstGeom>
        </p:spPr>
        <p:txBody>
          <a:bodyPr wrap="square"/>
          <a:lstStyle>
            <a:lvl1pPr marL="233363" indent="-233363" algn="l" defTabSz="914400" rtl="0" eaLnBrk="1" latinLnBrk="0" hangingPunct="1">
              <a:spcBef>
                <a:spcPct val="20000"/>
              </a:spcBef>
              <a:buClr>
                <a:schemeClr val="accent1"/>
              </a:buClr>
              <a:buSzPct val="65000"/>
              <a:buFont typeface="Courier New" charset="0"/>
              <a:buChar char="o"/>
              <a:tabLst/>
              <a:defRPr sz="1600" kern="1200">
                <a:solidFill>
                  <a:schemeClr val="tx2"/>
                </a:solidFill>
                <a:latin typeface="Calibri Light" panose="020F0302020204030204" pitchFamily="34" charset="0"/>
                <a:ea typeface="+mn-ea"/>
                <a:cs typeface="+mn-cs"/>
              </a:defRPr>
            </a:lvl1pPr>
            <a:lvl2pPr marL="690563" indent="-233363" algn="l" defTabSz="914400" rtl="0" eaLnBrk="1" latinLnBrk="0" hangingPunct="1">
              <a:spcBef>
                <a:spcPct val="20000"/>
              </a:spcBef>
              <a:buFont typeface="Arial" pitchFamily="34" charset="0"/>
              <a:buChar char="–"/>
              <a:tabLst/>
              <a:defRPr sz="1400" kern="1200">
                <a:solidFill>
                  <a:schemeClr val="tx2"/>
                </a:solidFill>
                <a:latin typeface="Calibri Light" panose="020F0302020204030204" pitchFamily="34" charset="0"/>
                <a:ea typeface="+mn-ea"/>
                <a:cs typeface="+mn-cs"/>
              </a:defRPr>
            </a:lvl2pPr>
            <a:lvl3pPr marL="1147763" indent="-233363" algn="l" defTabSz="914400" rtl="0" eaLnBrk="1" latinLnBrk="0" hangingPunct="1">
              <a:spcBef>
                <a:spcPct val="20000"/>
              </a:spcBef>
              <a:buFont typeface="Arial" pitchFamily="34" charset="0"/>
              <a:buChar char="•"/>
              <a:tabLst/>
              <a:defRPr sz="1200" kern="1200">
                <a:solidFill>
                  <a:schemeClr val="tx2"/>
                </a:solidFill>
                <a:latin typeface="Calibri Light" panose="020F0302020204030204" pitchFamily="34" charset="0"/>
                <a:ea typeface="+mn-ea"/>
                <a:cs typeface="+mn-cs"/>
              </a:defRPr>
            </a:lvl3pPr>
            <a:lvl4pPr marL="1600200" indent="-228600" algn="l" defTabSz="914400" rtl="0" eaLnBrk="1" latinLnBrk="0" hangingPunct="1">
              <a:spcBef>
                <a:spcPct val="20000"/>
              </a:spcBef>
              <a:buFont typeface="Arial" pitchFamily="34" charset="0"/>
              <a:buChar char="–"/>
              <a:defRPr sz="1100" kern="1200">
                <a:solidFill>
                  <a:schemeClr val="tx2"/>
                </a:solidFill>
                <a:latin typeface="Calibri Light" panose="020F0302020204030204" pitchFamily="34" charset="0"/>
                <a:ea typeface="+mn-ea"/>
                <a:cs typeface="+mn-cs"/>
              </a:defRPr>
            </a:lvl4pPr>
            <a:lvl5pPr marL="2057400" indent="-228600" algn="l" defTabSz="914400" rtl="0" eaLnBrk="1" latinLnBrk="0" hangingPunct="1">
              <a:spcBef>
                <a:spcPct val="20000"/>
              </a:spcBef>
              <a:buFont typeface="Arial" pitchFamily="34" charset="0"/>
              <a:buChar char="»"/>
              <a:defRPr sz="1100" kern="1200">
                <a:solidFill>
                  <a:schemeClr val="tx2"/>
                </a:solidFill>
                <a:latin typeface="Calibri Light" panose="020F030202020403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0"/>
              </a:spcBef>
              <a:buNone/>
            </a:pPr>
            <a:r>
              <a:rPr lang="en-US" sz="2500" b="1" dirty="0">
                <a:solidFill>
                  <a:schemeClr val="tx1"/>
                </a:solidFill>
              </a:rPr>
              <a:t>Vikas Desai, MD, FGPS  |  Clinical Assistant Professor</a:t>
            </a:r>
          </a:p>
          <a:p>
            <a:pPr marL="0" indent="0" algn="ctr">
              <a:spcBef>
                <a:spcPts val="0"/>
              </a:spcBef>
              <a:buNone/>
            </a:pPr>
            <a:r>
              <a:rPr lang="en-US" sz="2500" b="1" dirty="0">
                <a:solidFill>
                  <a:schemeClr val="tx1"/>
                </a:solidFill>
              </a:rPr>
              <a:t>Carle Illinois College of Medicine  |  8/27/2026, 3:00–5:00 pm</a:t>
            </a:r>
          </a:p>
        </p:txBody>
      </p:sp>
    </p:spTree>
    <p:extLst>
      <p:ext uri="{BB962C8B-B14F-4D97-AF65-F5344CB8AC3E}">
        <p14:creationId xmlns:p14="http://schemas.microsoft.com/office/powerpoint/2010/main" val="1682536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How This Session Works</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Audience response questions every 15–20 minutes</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Reference slides at the end are/will be posted to Canvas and ARE examinable and</a:t>
            </a:r>
            <a:r>
              <a:rPr lang="en-US" sz="1600" dirty="0">
                <a:cs typeface="Calibri Light" panose="020F0302020204030204" pitchFamily="34" charset="0"/>
              </a:rPr>
              <a:t> flagged as we go</a:t>
            </a:r>
          </a:p>
        </p:txBody>
      </p:sp>
    </p:spTree>
    <p:extLst>
      <p:ext uri="{BB962C8B-B14F-4D97-AF65-F5344CB8AC3E}">
        <p14:creationId xmlns:p14="http://schemas.microsoft.com/office/powerpoint/2010/main" val="1430733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Three Cases — Hold Your Answers</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Case A.</a:t>
            </a:r>
            <a:r>
              <a:rPr lang="en-US" sz="1600" dirty="0">
                <a:cs typeface="Calibri Light" panose="020F0302020204030204" pitchFamily="34" charset="0"/>
              </a:rPr>
              <a:t> 17-year-old male. Sudden severe left scrotal pain 3 hours ago during lacrosse. Nausea. One prior episode that resolved on its own.</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Case B.</a:t>
            </a:r>
            <a:r>
              <a:rPr lang="en-US" sz="1600" dirty="0">
                <a:cs typeface="Calibri Light" panose="020F0302020204030204" pitchFamily="34" charset="0"/>
              </a:rPr>
              <a:t> 34-year-old male. 18 months of infertility. “Working out hard.” Taking a supplement from a men’s clinic. Semen analysis: azoospermia.</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Case C.</a:t>
            </a:r>
            <a:r>
              <a:rPr lang="en-US" sz="1600" dirty="0">
                <a:cs typeface="Calibri Light" panose="020F0302020204030204" pitchFamily="34" charset="0"/>
              </a:rPr>
              <a:t> 68-year-old male. Nocturia ×3, weak stream, PSA 6.2. Mentions at the end of the visit that erections have declined over 2 years.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We will resolve all three at the end of the presentation</a:t>
            </a:r>
          </a:p>
        </p:txBody>
      </p:sp>
    </p:spTree>
    <p:extLst>
      <p:ext uri="{BB962C8B-B14F-4D97-AF65-F5344CB8AC3E}">
        <p14:creationId xmlns:p14="http://schemas.microsoft.com/office/powerpoint/2010/main" val="1430733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Session Objectives</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Identify normal male reproductive histology: tubule, Sertoli, Leydig, epididymis, prostate, seminal vesicle</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Relate gross and zonal anatomy to the pathology that arises there</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Sequence spermatogenesis and apply the 3-month timeline clinically</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Diagram the HPG axis; distinguish testosterone, DHT, and inhibin; describe adult and aging changes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Explain erection, emission, ejaculation and localize the lesion when each fails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Differentiate primary from secondary hypogonadism and read the infertility panel</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Work up the 19 named male reproductive pathologies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Predict effects and adverse effects of alpha-blockers, 5-ARIs, PDE-5 inhibitors, SSRIs, androgens, and anti-androgens from their mechanism</a:t>
            </a:r>
          </a:p>
        </p:txBody>
      </p:sp>
    </p:spTree>
    <p:extLst>
      <p:ext uri="{BB962C8B-B14F-4D97-AF65-F5344CB8AC3E}">
        <p14:creationId xmlns:p14="http://schemas.microsoft.com/office/powerpoint/2010/main" val="1430733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668E454-3A2F-F355-AA23-7196041463A2}"/>
              </a:ext>
            </a:extLst>
          </p:cNvPr>
          <p:cNvSpPr txBox="1"/>
          <p:nvPr/>
        </p:nvSpPr>
        <p:spPr>
          <a:xfrm>
            <a:off x="0" y="2532888"/>
            <a:ext cx="12179302" cy="896112"/>
          </a:xfrm>
          <a:prstGeom prst="rect">
            <a:avLst/>
          </a:prstGeom>
          <a:noFill/>
        </p:spPr>
        <p:txBody>
          <a:bodyPr wrap="square" bIns="91440" rtlCol="0" anchor="ctr" anchorCtr="0">
            <a:noAutofit/>
          </a:bodyPr>
          <a:lstStyle/>
          <a:p>
            <a:pPr algn="ctr"/>
            <a:r>
              <a:rPr lang="en-US" sz="3200" dirty="0">
                <a:latin typeface="Georgia" panose="02040502050405020303" pitchFamily="18" charset="0"/>
              </a:rPr>
              <a:t>Part 1: Anatomy and Histology</a:t>
            </a:r>
          </a:p>
        </p:txBody>
      </p:sp>
    </p:spTree>
    <p:extLst>
      <p:ext uri="{BB962C8B-B14F-4D97-AF65-F5344CB8AC3E}">
        <p14:creationId xmlns:p14="http://schemas.microsoft.com/office/powerpoint/2010/main" val="2420114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6771-0A04-402D-0230-5BDCF1EAAF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AAE0B-062B-A7A3-C13A-BA0F46D0D6F3}"/>
              </a:ext>
            </a:extLst>
          </p:cNvPr>
          <p:cNvSpPr>
            <a:spLocks noGrp="1"/>
          </p:cNvSpPr>
          <p:nvPr>
            <p:ph sz="half" idx="1"/>
          </p:nvPr>
        </p:nvSpPr>
        <p:spPr>
          <a:xfrm>
            <a:off x="502920" y="1691640"/>
            <a:ext cx="5943600" cy="4663440"/>
          </a:xfrm>
        </p:spPr>
        <p:txBody>
          <a:bodyPr wrap="square"/>
          <a:lstStyle/>
          <a:p>
            <a:pPr>
              <a:spcAft>
                <a:spcPts val="400"/>
              </a:spcAft>
            </a:pPr>
            <a:r>
              <a:rPr sz="1500" dirty="0"/>
              <a:t>Tunica albuginea → septa → lobules → </a:t>
            </a:r>
            <a:r>
              <a:rPr sz="1500" b="1" dirty="0"/>
              <a:t>seminiferous tubules</a:t>
            </a:r>
            <a:endParaRPr lang="en-US" dirty="0">
              <a:solidFill>
                <a:schemeClr val="tx1">
                  <a:lumMod val="50000"/>
                  <a:lumOff val="50000"/>
                </a:schemeClr>
              </a:solidFill>
              <a:latin typeface="Calibri Light" panose="020F0302020204030204" pitchFamily="34" charset="0"/>
              <a:cs typeface="Calibri Light" panose="020F0302020204030204" pitchFamily="34" charset="0"/>
            </a:endParaRPr>
          </a:p>
          <a:p>
            <a:pPr>
              <a:spcAft>
                <a:spcPts val="400"/>
              </a:spcAft>
            </a:pPr>
            <a:r>
              <a:rPr sz="1500" b="1" dirty="0"/>
              <a:t>Sertoli cells</a:t>
            </a:r>
            <a:r>
              <a:rPr sz="1500" dirty="0"/>
              <a:t> line the tubule; tight junctions form the </a:t>
            </a:r>
            <a:r>
              <a:rPr sz="1500" b="1" dirty="0"/>
              <a:t>blood-testis barrier</a:t>
            </a:r>
            <a:r>
              <a:rPr sz="1500" dirty="0"/>
              <a:t> (immune privilege)</a:t>
            </a:r>
          </a:p>
          <a:p>
            <a:pPr>
              <a:spcAft>
                <a:spcPts val="400"/>
              </a:spcAft>
            </a:pPr>
            <a:r>
              <a:rPr sz="1500" b="1" dirty="0"/>
              <a:t>Leydig cells</a:t>
            </a:r>
            <a:r>
              <a:rPr sz="1500" dirty="0"/>
              <a:t> in the interstitium, outside the barrier, beside capillaries</a:t>
            </a:r>
          </a:p>
          <a:p>
            <a:pPr>
              <a:spcAft>
                <a:spcPts val="400"/>
              </a:spcAft>
            </a:pPr>
            <a:r>
              <a:rPr sz="1500" dirty="0"/>
              <a:t>≈90% of testicular volume is tubule</a:t>
            </a:r>
            <a:r>
              <a:rPr lang="en-US" sz="1500" dirty="0"/>
              <a:t>:</a:t>
            </a:r>
            <a:r>
              <a:rPr sz="1500" dirty="0"/>
              <a:t> small testes = impaired spermatogenesis</a:t>
            </a:r>
          </a:p>
          <a:p>
            <a:pPr>
              <a:spcAft>
                <a:spcPts val="400"/>
              </a:spcAft>
            </a:pPr>
            <a:r>
              <a:rPr sz="1500" dirty="0"/>
              <a:t>Normal volume 15–25 mL by orchidometer</a:t>
            </a:r>
            <a:r>
              <a:rPr lang="en-US" sz="1500" dirty="0"/>
              <a:t>:</a:t>
            </a:r>
            <a:r>
              <a:rPr sz="1500" dirty="0"/>
              <a:t> a bedside fertility measurement</a:t>
            </a:r>
          </a:p>
        </p:txBody>
      </p:sp>
      <p:sp>
        <p:nvSpPr>
          <p:cNvPr id="6" name="Title 1">
            <a:extLst>
              <a:ext uri="{FF2B5EF4-FFF2-40B4-BE49-F238E27FC236}">
                <a16:creationId xmlns:a16="http://schemas.microsoft.com/office/drawing/2014/main" id="{4C85AA9B-58DA-A834-7681-5B96134CC291}"/>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Testis Architecture</a:t>
            </a:r>
          </a:p>
        </p:txBody>
      </p:sp>
      <p:pic>
        <p:nvPicPr>
          <p:cNvPr id="7" name="Picture 6" descr="Histologic cross-section of a seminiferous tubule with labels identifying spermatogonia, primary spermatocytes, spermatids, spermatozoa, the lumen, Sertoli cells, and myoid cells."/>
          <p:cNvPicPr>
            <a:picLocks noChangeAspect="1"/>
          </p:cNvPicPr>
          <p:nvPr/>
        </p:nvPicPr>
        <p:blipFill>
          <a:blip r:embed="rId3"/>
          <a:stretch>
            <a:fillRect/>
          </a:stretch>
        </p:blipFill>
        <p:spPr>
          <a:xfrm>
            <a:off x="7380941" y="3357562"/>
            <a:ext cx="2736726" cy="2718965"/>
          </a:xfrm>
          <a:prstGeom prst="rect">
            <a:avLst/>
          </a:prstGeom>
        </p:spPr>
      </p:pic>
      <p:pic>
        <p:nvPicPr>
          <p:cNvPr id="2" name="Picture 1" descr="Orchidometer – My Endo Consult">
            <a:extLst>
              <a:ext uri="{FF2B5EF4-FFF2-40B4-BE49-F238E27FC236}">
                <a16:creationId xmlns:a16="http://schemas.microsoft.com/office/drawing/2014/main" id="{D18A08D2-34F1-2995-D555-807804E61FCA}"/>
              </a:ext>
            </a:extLst>
          </p:cNvPr>
          <p:cNvPicPr>
            <a:picLocks noChangeAspect="1"/>
          </p:cNvPicPr>
          <p:nvPr/>
        </p:nvPicPr>
        <p:blipFill>
          <a:blip r:embed="rId4"/>
          <a:stretch>
            <a:fillRect/>
          </a:stretch>
        </p:blipFill>
        <p:spPr>
          <a:xfrm>
            <a:off x="2074333" y="4275667"/>
            <a:ext cx="2247899" cy="2247899"/>
          </a:xfrm>
          <a:prstGeom prst="rect">
            <a:avLst/>
          </a:prstGeom>
        </p:spPr>
      </p:pic>
      <p:pic>
        <p:nvPicPr>
          <p:cNvPr id="8" name="Picture 7">
            <a:extLst>
              <a:ext uri="{FF2B5EF4-FFF2-40B4-BE49-F238E27FC236}">
                <a16:creationId xmlns:a16="http://schemas.microsoft.com/office/drawing/2014/main" id="{12AD6CC5-CE00-17DF-7544-DF695A6935F4}"/>
              </a:ext>
            </a:extLst>
          </p:cNvPr>
          <p:cNvPicPr>
            <a:picLocks noChangeAspect="1"/>
          </p:cNvPicPr>
          <p:nvPr/>
        </p:nvPicPr>
        <p:blipFill>
          <a:blip r:embed="rId5"/>
          <a:stretch>
            <a:fillRect/>
          </a:stretch>
        </p:blipFill>
        <p:spPr>
          <a:xfrm>
            <a:off x="7229369" y="1442720"/>
            <a:ext cx="2888297" cy="1877695"/>
          </a:xfrm>
          <a:prstGeom prst="rect">
            <a:avLst/>
          </a:prstGeom>
        </p:spPr>
      </p:pic>
    </p:spTree>
    <p:extLst>
      <p:ext uri="{BB962C8B-B14F-4D97-AF65-F5344CB8AC3E}">
        <p14:creationId xmlns:p14="http://schemas.microsoft.com/office/powerpoint/2010/main" val="2775922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The Duct Pathway: SEVEn UP</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S</a:t>
            </a:r>
            <a:r>
              <a:rPr lang="en-US" sz="1600" dirty="0">
                <a:cs typeface="Calibri Light" panose="020F0302020204030204" pitchFamily="34" charset="0"/>
              </a:rPr>
              <a:t>eminiferous tubules → </a:t>
            </a:r>
            <a:r>
              <a:rPr lang="en-US" sz="1600" b="1" dirty="0">
                <a:cs typeface="Calibri Light" panose="020F0302020204030204" pitchFamily="34" charset="0"/>
              </a:rPr>
              <a:t>E</a:t>
            </a:r>
            <a:r>
              <a:rPr lang="en-US" sz="1600" dirty="0">
                <a:cs typeface="Calibri Light" panose="020F0302020204030204" pitchFamily="34" charset="0"/>
              </a:rPr>
              <a:t>pididymis → </a:t>
            </a:r>
            <a:r>
              <a:rPr lang="en-US" sz="1600" b="1" dirty="0">
                <a:cs typeface="Calibri Light" panose="020F0302020204030204" pitchFamily="34" charset="0"/>
              </a:rPr>
              <a:t>V</a:t>
            </a:r>
            <a:r>
              <a:rPr lang="en-US" sz="1600" dirty="0">
                <a:cs typeface="Calibri Light" panose="020F0302020204030204" pitchFamily="34" charset="0"/>
              </a:rPr>
              <a:t>as deferens → </a:t>
            </a:r>
            <a:r>
              <a:rPr lang="en-US" sz="1600" b="1" dirty="0">
                <a:cs typeface="Calibri Light" panose="020F0302020204030204" pitchFamily="34" charset="0"/>
              </a:rPr>
              <a:t>E</a:t>
            </a:r>
            <a:r>
              <a:rPr lang="en-US" sz="1600" dirty="0">
                <a:cs typeface="Calibri Light" panose="020F0302020204030204" pitchFamily="34" charset="0"/>
              </a:rPr>
              <a:t>jaculatory duct → </a:t>
            </a:r>
            <a:r>
              <a:rPr lang="en-US" sz="1600" b="1" dirty="0">
                <a:cs typeface="Calibri Light" panose="020F0302020204030204" pitchFamily="34" charset="0"/>
              </a:rPr>
              <a:t>U</a:t>
            </a:r>
            <a:r>
              <a:rPr lang="en-US" sz="1600" dirty="0">
                <a:cs typeface="Calibri Light" panose="020F0302020204030204" pitchFamily="34" charset="0"/>
              </a:rPr>
              <a:t>rethra → </a:t>
            </a:r>
            <a:r>
              <a:rPr lang="en-US" sz="1600" b="1" dirty="0">
                <a:cs typeface="Calibri Light" panose="020F0302020204030204" pitchFamily="34" charset="0"/>
              </a:rPr>
              <a:t>P</a:t>
            </a:r>
            <a:r>
              <a:rPr lang="en-US" sz="1600" dirty="0">
                <a:cs typeface="Calibri Light" panose="020F0302020204030204" pitchFamily="34" charset="0"/>
              </a:rPr>
              <a:t>enis</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Tubule → rete testis → efferent ductules → epididymis (head, body, tail)</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Vas joins the seminal vesicle duct → ejaculatory duct → prostatic urethra</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Sperm are </a:t>
            </a:r>
            <a:r>
              <a:rPr lang="en-US" sz="1600" b="1" dirty="0">
                <a:cs typeface="Calibri Light" panose="020F0302020204030204" pitchFamily="34" charset="0"/>
              </a:rPr>
              <a:t>stored in the cauda (tail) epididymis</a:t>
            </a:r>
          </a:p>
        </p:txBody>
      </p:sp>
    </p:spTree>
    <p:extLst>
      <p:ext uri="{BB962C8B-B14F-4D97-AF65-F5344CB8AC3E}">
        <p14:creationId xmlns:p14="http://schemas.microsoft.com/office/powerpoint/2010/main" val="1430733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77359-BA5E-60C8-8553-C0FCFB6CC7B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1A5516A-40E0-F4F0-231C-336597DD20B7}"/>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What Is Semen? Composition by Source</a:t>
            </a:r>
          </a:p>
        </p:txBody>
      </p:sp>
      <p:sp>
        <p:nvSpPr>
          <p:cNvPr id="7" name="Content Placeholder 2">
            <a:extLst>
              <a:ext uri="{FF2B5EF4-FFF2-40B4-BE49-F238E27FC236}">
                <a16:creationId xmlns:a16="http://schemas.microsoft.com/office/drawing/2014/main" id="{29499C47-E204-4621-8A69-334EBFD433BC}"/>
              </a:ext>
            </a:extLst>
          </p:cNvPr>
          <p:cNvSpPr txBox="1">
            <a:spLocks/>
          </p:cNvSpPr>
          <p:nvPr/>
        </p:nvSpPr>
        <p:spPr>
          <a:xfrm>
            <a:off x="640080" y="3657600"/>
            <a:ext cx="10881360" cy="274320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sz="1400" b="1" dirty="0"/>
              <a:t>PSA’s day job:</a:t>
            </a:r>
            <a:r>
              <a:rPr sz="1400" dirty="0"/>
              <a:t> a serine protease that liquefies the seminal coagulum</a:t>
            </a:r>
            <a:r>
              <a:rPr lang="en-US" sz="1400" dirty="0"/>
              <a:t>:</a:t>
            </a:r>
            <a:r>
              <a:rPr sz="1400" dirty="0"/>
              <a:t> a fertility protein we co-opted as a tumor marker</a:t>
            </a:r>
            <a:endParaRPr lang="en-US" sz="1600" dirty="0">
              <a:solidFill>
                <a:schemeClr val="tx1">
                  <a:lumMod val="50000"/>
                  <a:lumOff val="50000"/>
                </a:schemeClr>
              </a:solidFill>
              <a:latin typeface="Calibri Light" panose="020F0302020204030204" pitchFamily="34" charset="0"/>
              <a:cs typeface="Calibri Light" panose="020F0302020204030204" pitchFamily="34" charset="0"/>
            </a:endParaRPr>
          </a:p>
          <a:p>
            <a:pPr marL="342891" indent="-342891" algn="l">
              <a:spcAft>
                <a:spcPts val="400"/>
              </a:spcAft>
              <a:buFont typeface="Arial" panose="020B0604020202020204" pitchFamily="34" charset="0"/>
              <a:buChar char="•"/>
            </a:pPr>
            <a:r>
              <a:rPr sz="1400" dirty="0"/>
              <a:t>Low-volume, acidic, </a:t>
            </a:r>
            <a:r>
              <a:rPr sz="1400" b="1" dirty="0"/>
              <a:t>fructose-negative</a:t>
            </a:r>
            <a:r>
              <a:rPr sz="1400" dirty="0"/>
              <a:t> ejaculate → ejaculatory duct obstruction or absent vas</a:t>
            </a:r>
          </a:p>
        </p:txBody>
      </p:sp>
      <p:graphicFrame>
        <p:nvGraphicFramePr>
          <p:cNvPr id="8" name="Table 7" descr="Table of semen composition by source: seminal vesicles contribute 65 to 75 percent including fructose and semenogelin; prostate 20 to 30 percent including PSA, zinc, and citrate; testis and epididymis about 5 percent as spermatozoa; bulbourethral glands trace lubrication."/>
          <p:cNvGraphicFramePr>
            <a:graphicFrameLocks noGrp="1"/>
          </p:cNvGraphicFramePr>
          <p:nvPr/>
        </p:nvGraphicFramePr>
        <p:xfrm>
          <a:off x="1066647" y="1508760"/>
          <a:ext cx="10058400" cy="19202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384048">
                <a:tc>
                  <a:txBody>
                    <a:bodyPr/>
                    <a:lstStyle/>
                    <a:p>
                      <a:r>
                        <a:rPr sz="1400" b="1">
                          <a:solidFill>
                            <a:srgbClr val="FFFFFF"/>
                          </a:solidFill>
                          <a:latin typeface="Arial"/>
                        </a:rPr>
                        <a:t>Source</a:t>
                      </a:r>
                    </a:p>
                  </a:txBody>
                  <a:tcPr marL="73152" marR="73152" marT="27432" marB="27432">
                    <a:solidFill>
                      <a:srgbClr val="C8102E"/>
                    </a:solidFill>
                  </a:tcPr>
                </a:tc>
                <a:tc>
                  <a:txBody>
                    <a:bodyPr/>
                    <a:lstStyle/>
                    <a:p>
                      <a:r>
                        <a:rPr sz="1400" b="1">
                          <a:solidFill>
                            <a:srgbClr val="FFFFFF"/>
                          </a:solidFill>
                          <a:latin typeface="Arial"/>
                        </a:rPr>
                        <a:t>Share</a:t>
                      </a:r>
                    </a:p>
                  </a:txBody>
                  <a:tcPr marL="73152" marR="73152" marT="27432" marB="27432">
                    <a:solidFill>
                      <a:srgbClr val="C8102E"/>
                    </a:solidFill>
                  </a:tcPr>
                </a:tc>
                <a:tc>
                  <a:txBody>
                    <a:bodyPr/>
                    <a:lstStyle/>
                    <a:p>
                      <a:r>
                        <a:rPr sz="1400" b="1">
                          <a:solidFill>
                            <a:srgbClr val="FFFFFF"/>
                          </a:solidFill>
                          <a:latin typeface="Arial"/>
                        </a:rPr>
                        <a:t>Key constituents</a:t>
                      </a:r>
                    </a:p>
                  </a:txBody>
                  <a:tcPr marL="73152" marR="73152" marT="27432" marB="27432">
                    <a:solidFill>
                      <a:srgbClr val="C8102E"/>
                    </a:solidFill>
                  </a:tcPr>
                </a:tc>
                <a:extLst>
                  <a:ext uri="{0D108BD9-81ED-4DB2-BD59-A6C34878D82A}">
                    <a16:rowId xmlns:a16="http://schemas.microsoft.com/office/drawing/2014/main" val="10000"/>
                  </a:ext>
                </a:extLst>
              </a:tr>
              <a:tr h="384048">
                <a:tc>
                  <a:txBody>
                    <a:bodyPr/>
                    <a:lstStyle/>
                    <a:p>
                      <a:r>
                        <a:rPr sz="1300" b="0">
                          <a:solidFill>
                            <a:srgbClr val="3F3F3F"/>
                          </a:solidFill>
                          <a:latin typeface="Arial"/>
                        </a:rPr>
                        <a:t>Seminal vesicles</a:t>
                      </a:r>
                    </a:p>
                  </a:txBody>
                  <a:tcPr marL="73152" marR="73152" marT="27432" marB="27432"/>
                </a:tc>
                <a:tc>
                  <a:txBody>
                    <a:bodyPr/>
                    <a:lstStyle/>
                    <a:p>
                      <a:r>
                        <a:rPr sz="1300" b="0">
                          <a:solidFill>
                            <a:srgbClr val="3F3F3F"/>
                          </a:solidFill>
                          <a:latin typeface="Arial"/>
                        </a:rPr>
                        <a:t>65–75%</a:t>
                      </a:r>
                    </a:p>
                  </a:txBody>
                  <a:tcPr marL="73152" marR="73152" marT="27432" marB="27432"/>
                </a:tc>
                <a:tc>
                  <a:txBody>
                    <a:bodyPr/>
                    <a:lstStyle/>
                    <a:p>
                      <a:r>
                        <a:rPr sz="1300" b="0">
                          <a:solidFill>
                            <a:srgbClr val="3F3F3F"/>
                          </a:solidFill>
                          <a:latin typeface="Arial"/>
                        </a:rPr>
                        <a:t>Fructose, alkaline buffer, semenogelin (coagulum)</a:t>
                      </a:r>
                    </a:p>
                  </a:txBody>
                  <a:tcPr marL="73152" marR="73152" marT="27432" marB="27432"/>
                </a:tc>
                <a:extLst>
                  <a:ext uri="{0D108BD9-81ED-4DB2-BD59-A6C34878D82A}">
                    <a16:rowId xmlns:a16="http://schemas.microsoft.com/office/drawing/2014/main" val="10001"/>
                  </a:ext>
                </a:extLst>
              </a:tr>
              <a:tr h="384048">
                <a:tc>
                  <a:txBody>
                    <a:bodyPr/>
                    <a:lstStyle/>
                    <a:p>
                      <a:r>
                        <a:rPr sz="1300" b="0">
                          <a:solidFill>
                            <a:srgbClr val="3F3F3F"/>
                          </a:solidFill>
                          <a:latin typeface="Arial"/>
                        </a:rPr>
                        <a:t>Prostate</a:t>
                      </a:r>
                    </a:p>
                  </a:txBody>
                  <a:tcPr marL="73152" marR="73152" marT="27432" marB="27432"/>
                </a:tc>
                <a:tc>
                  <a:txBody>
                    <a:bodyPr/>
                    <a:lstStyle/>
                    <a:p>
                      <a:r>
                        <a:rPr sz="1300" b="0">
                          <a:solidFill>
                            <a:srgbClr val="3F3F3F"/>
                          </a:solidFill>
                          <a:latin typeface="Arial"/>
                        </a:rPr>
                        <a:t>20–30%</a:t>
                      </a:r>
                    </a:p>
                  </a:txBody>
                  <a:tcPr marL="73152" marR="73152" marT="27432" marB="27432"/>
                </a:tc>
                <a:tc>
                  <a:txBody>
                    <a:bodyPr/>
                    <a:lstStyle/>
                    <a:p>
                      <a:r>
                        <a:rPr sz="1300" b="0">
                          <a:solidFill>
                            <a:srgbClr val="3F3F3F"/>
                          </a:solidFill>
                          <a:latin typeface="Arial"/>
                        </a:rPr>
                        <a:t>PSA, zinc, citrate, acid phosphatase</a:t>
                      </a:r>
                    </a:p>
                  </a:txBody>
                  <a:tcPr marL="73152" marR="73152" marT="27432" marB="27432"/>
                </a:tc>
                <a:extLst>
                  <a:ext uri="{0D108BD9-81ED-4DB2-BD59-A6C34878D82A}">
                    <a16:rowId xmlns:a16="http://schemas.microsoft.com/office/drawing/2014/main" val="10002"/>
                  </a:ext>
                </a:extLst>
              </a:tr>
              <a:tr h="384048">
                <a:tc>
                  <a:txBody>
                    <a:bodyPr/>
                    <a:lstStyle/>
                    <a:p>
                      <a:r>
                        <a:rPr sz="1300" b="0">
                          <a:solidFill>
                            <a:srgbClr val="3F3F3F"/>
                          </a:solidFill>
                          <a:latin typeface="Arial"/>
                        </a:rPr>
                        <a:t>Testis / epididymis</a:t>
                      </a:r>
                    </a:p>
                  </a:txBody>
                  <a:tcPr marL="73152" marR="73152" marT="27432" marB="27432"/>
                </a:tc>
                <a:tc>
                  <a:txBody>
                    <a:bodyPr/>
                    <a:lstStyle/>
                    <a:p>
                      <a:r>
                        <a:rPr sz="1300" b="0">
                          <a:solidFill>
                            <a:srgbClr val="3F3F3F"/>
                          </a:solidFill>
                          <a:latin typeface="Arial"/>
                        </a:rPr>
                        <a:t>≈5%</a:t>
                      </a:r>
                    </a:p>
                  </a:txBody>
                  <a:tcPr marL="73152" marR="73152" marT="27432" marB="27432"/>
                </a:tc>
                <a:tc>
                  <a:txBody>
                    <a:bodyPr/>
                    <a:lstStyle/>
                    <a:p>
                      <a:r>
                        <a:rPr sz="1300" b="0">
                          <a:solidFill>
                            <a:srgbClr val="3F3F3F"/>
                          </a:solidFill>
                          <a:latin typeface="Arial"/>
                        </a:rPr>
                        <a:t>Spermatozoa</a:t>
                      </a:r>
                    </a:p>
                  </a:txBody>
                  <a:tcPr marL="73152" marR="73152" marT="27432" marB="27432"/>
                </a:tc>
                <a:extLst>
                  <a:ext uri="{0D108BD9-81ED-4DB2-BD59-A6C34878D82A}">
                    <a16:rowId xmlns:a16="http://schemas.microsoft.com/office/drawing/2014/main" val="10003"/>
                  </a:ext>
                </a:extLst>
              </a:tr>
              <a:tr h="384048">
                <a:tc>
                  <a:txBody>
                    <a:bodyPr/>
                    <a:lstStyle/>
                    <a:p>
                      <a:r>
                        <a:rPr sz="1300" b="0">
                          <a:solidFill>
                            <a:srgbClr val="3F3F3F"/>
                          </a:solidFill>
                          <a:latin typeface="Arial"/>
                        </a:rPr>
                        <a:t>Bulbourethral glands</a:t>
                      </a:r>
                    </a:p>
                  </a:txBody>
                  <a:tcPr marL="73152" marR="73152" marT="27432" marB="27432"/>
                </a:tc>
                <a:tc>
                  <a:txBody>
                    <a:bodyPr/>
                    <a:lstStyle/>
                    <a:p>
                      <a:r>
                        <a:rPr sz="1300" b="0">
                          <a:solidFill>
                            <a:srgbClr val="3F3F3F"/>
                          </a:solidFill>
                          <a:latin typeface="Arial"/>
                        </a:rPr>
                        <a:t>Trace</a:t>
                      </a:r>
                    </a:p>
                  </a:txBody>
                  <a:tcPr marL="73152" marR="73152" marT="27432" marB="27432"/>
                </a:tc>
                <a:tc>
                  <a:txBody>
                    <a:bodyPr/>
                    <a:lstStyle/>
                    <a:p>
                      <a:r>
                        <a:rPr sz="1300" b="0">
                          <a:solidFill>
                            <a:srgbClr val="3F3F3F"/>
                          </a:solidFill>
                          <a:latin typeface="Arial"/>
                        </a:rPr>
                        <a:t>Pre-ejaculate lubrication</a:t>
                      </a:r>
                    </a:p>
                  </a:txBody>
                  <a:tcPr marL="73152" marR="73152" marT="27432" marB="27432"/>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38889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6771-0A04-402D-0230-5BDCF1EAAF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AAE0B-062B-A7A3-C13A-BA0F46D0D6F3}"/>
              </a:ext>
            </a:extLst>
          </p:cNvPr>
          <p:cNvSpPr>
            <a:spLocks noGrp="1"/>
          </p:cNvSpPr>
          <p:nvPr>
            <p:ph sz="half" idx="1"/>
          </p:nvPr>
        </p:nvSpPr>
        <p:spPr>
          <a:xfrm>
            <a:off x="502920" y="1691640"/>
            <a:ext cx="5943600" cy="4663440"/>
          </a:xfrm>
        </p:spPr>
        <p:txBody>
          <a:bodyPr wrap="square"/>
          <a:lstStyle/>
          <a:p>
            <a:pPr>
              <a:spcAft>
                <a:spcPts val="400"/>
              </a:spcAft>
            </a:pPr>
            <a:r>
              <a:rPr sz="1500" b="1" dirty="0"/>
              <a:t>Peripheral zone</a:t>
            </a:r>
            <a:r>
              <a:rPr lang="en-US" sz="1500" b="1" dirty="0"/>
              <a:t>: </a:t>
            </a:r>
            <a:r>
              <a:rPr sz="1500" dirty="0"/>
              <a:t> ≈70% of gland, posterior, palpable on DRE </a:t>
            </a:r>
            <a:endParaRPr lang="en-US" sz="1500" dirty="0"/>
          </a:p>
          <a:p>
            <a:pPr marL="0" indent="0">
              <a:spcAft>
                <a:spcPts val="400"/>
              </a:spcAft>
              <a:buNone/>
            </a:pPr>
            <a:r>
              <a:rPr lang="en-US" sz="1500" dirty="0"/>
              <a:t>	</a:t>
            </a:r>
            <a:r>
              <a:rPr sz="1500" dirty="0"/>
              <a:t>→ </a:t>
            </a:r>
            <a:r>
              <a:rPr sz="1500" b="1" dirty="0"/>
              <a:t>70–80% of prostate cancer</a:t>
            </a:r>
            <a:endParaRPr lang="en-US" dirty="0">
              <a:solidFill>
                <a:schemeClr val="tx1">
                  <a:lumMod val="50000"/>
                  <a:lumOff val="50000"/>
                </a:schemeClr>
              </a:solidFill>
              <a:latin typeface="Calibri Light" panose="020F0302020204030204" pitchFamily="34" charset="0"/>
              <a:cs typeface="Calibri Light" panose="020F0302020204030204" pitchFamily="34" charset="0"/>
            </a:endParaRPr>
          </a:p>
          <a:p>
            <a:pPr>
              <a:spcAft>
                <a:spcPts val="400"/>
              </a:spcAft>
            </a:pPr>
            <a:r>
              <a:rPr sz="1500" b="1" dirty="0"/>
              <a:t>Transition zone</a:t>
            </a:r>
            <a:r>
              <a:rPr lang="en-US" sz="1500" b="1" dirty="0"/>
              <a:t>:</a:t>
            </a:r>
            <a:r>
              <a:rPr sz="1500" dirty="0"/>
              <a:t> periurethral → </a:t>
            </a:r>
            <a:r>
              <a:rPr sz="1500" b="1" dirty="0"/>
              <a:t>the exclusive site of BPH</a:t>
            </a:r>
          </a:p>
          <a:p>
            <a:pPr>
              <a:spcAft>
                <a:spcPts val="400"/>
              </a:spcAft>
            </a:pPr>
            <a:r>
              <a:rPr sz="1500" dirty="0"/>
              <a:t>Central zone</a:t>
            </a:r>
            <a:r>
              <a:rPr lang="en-US" sz="1500" dirty="0"/>
              <a:t>:</a:t>
            </a:r>
            <a:r>
              <a:rPr sz="1500" dirty="0"/>
              <a:t> around ejaculatory ducts, rarely diseased</a:t>
            </a:r>
          </a:p>
          <a:p>
            <a:pPr>
              <a:spcAft>
                <a:spcPts val="400"/>
              </a:spcAft>
            </a:pPr>
            <a:r>
              <a:rPr sz="1500" dirty="0"/>
              <a:t>Anterior fibromuscular stroma</a:t>
            </a:r>
            <a:r>
              <a:rPr lang="en-US" sz="1500" dirty="0"/>
              <a:t>:</a:t>
            </a:r>
            <a:r>
              <a:rPr sz="1500" dirty="0"/>
              <a:t> non-glandular</a:t>
            </a:r>
          </a:p>
          <a:p>
            <a:pPr>
              <a:spcAft>
                <a:spcPts val="400"/>
              </a:spcAft>
            </a:pPr>
            <a:r>
              <a:rPr sz="1500" b="1" dirty="0"/>
              <a:t>So:</a:t>
            </a:r>
            <a:r>
              <a:rPr sz="1500" dirty="0"/>
              <a:t> a huge prostate ≠ cancer</a:t>
            </a:r>
            <a:r>
              <a:rPr lang="en-US" sz="1500" dirty="0"/>
              <a:t>; </a:t>
            </a:r>
            <a:r>
              <a:rPr sz="1500" dirty="0"/>
              <a:t>a normal DRE ≠ no cancer; </a:t>
            </a:r>
            <a:r>
              <a:rPr lang="en-US" sz="1500" dirty="0"/>
              <a:t>TURP neither treats nor prevents cancer</a:t>
            </a:r>
          </a:p>
        </p:txBody>
      </p:sp>
      <p:sp>
        <p:nvSpPr>
          <p:cNvPr id="6" name="Title 1">
            <a:extLst>
              <a:ext uri="{FF2B5EF4-FFF2-40B4-BE49-F238E27FC236}">
                <a16:creationId xmlns:a16="http://schemas.microsoft.com/office/drawing/2014/main" id="{4C85AA9B-58DA-A834-7681-5B96134CC291}"/>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Prostate Zonal Anatomy — The Most Portable Fact Today</a:t>
            </a:r>
          </a:p>
        </p:txBody>
      </p:sp>
      <p:pic>
        <p:nvPicPr>
          <p:cNvPr id="7" name="Picture 6" descr="Diagram of prostate zones: the peripheral zone posteriorly in blue, transitional zone around the urethra in green, central zone in orange, and anterior fibromuscular stroma, each labeled with text."/>
          <p:cNvPicPr>
            <a:picLocks noChangeAspect="1"/>
          </p:cNvPicPr>
          <p:nvPr/>
        </p:nvPicPr>
        <p:blipFill>
          <a:blip r:embed="rId3"/>
          <a:stretch>
            <a:fillRect/>
          </a:stretch>
        </p:blipFill>
        <p:spPr>
          <a:xfrm>
            <a:off x="6629400" y="2505456"/>
            <a:ext cx="4754880" cy="2852928"/>
          </a:xfrm>
          <a:prstGeom prst="rect">
            <a:avLst/>
          </a:prstGeom>
        </p:spPr>
      </p:pic>
    </p:spTree>
    <p:extLst>
      <p:ext uri="{BB962C8B-B14F-4D97-AF65-F5344CB8AC3E}">
        <p14:creationId xmlns:p14="http://schemas.microsoft.com/office/powerpoint/2010/main" val="2775922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6771-0A04-402D-0230-5BDCF1EAAF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AAE0B-062B-A7A3-C13A-BA0F46D0D6F3}"/>
              </a:ext>
            </a:extLst>
          </p:cNvPr>
          <p:cNvSpPr>
            <a:spLocks noGrp="1"/>
          </p:cNvSpPr>
          <p:nvPr>
            <p:ph sz="half" idx="1"/>
          </p:nvPr>
        </p:nvSpPr>
        <p:spPr>
          <a:xfrm>
            <a:off x="502920" y="1691640"/>
            <a:ext cx="5943600" cy="4663440"/>
          </a:xfrm>
        </p:spPr>
        <p:txBody>
          <a:bodyPr wrap="square"/>
          <a:lstStyle/>
          <a:p>
            <a:pPr>
              <a:spcAft>
                <a:spcPts val="400"/>
              </a:spcAft>
            </a:pPr>
            <a:r>
              <a:rPr sz="1500" dirty="0"/>
              <a:t>Paired </a:t>
            </a:r>
            <a:r>
              <a:rPr sz="1500" b="1" dirty="0"/>
              <a:t>corpora cavernosa</a:t>
            </a:r>
            <a:r>
              <a:rPr sz="1500" dirty="0"/>
              <a:t> (erectile) + </a:t>
            </a:r>
            <a:r>
              <a:rPr sz="1500" b="1" dirty="0"/>
              <a:t>corpus spongiosum</a:t>
            </a:r>
            <a:r>
              <a:rPr sz="1500" dirty="0"/>
              <a:t> (surrounds urethra, stays compliant, forms glans)</a:t>
            </a:r>
            <a:endParaRPr lang="en-US" dirty="0">
              <a:solidFill>
                <a:schemeClr val="tx1">
                  <a:lumMod val="50000"/>
                  <a:lumOff val="50000"/>
                </a:schemeClr>
              </a:solidFill>
              <a:latin typeface="Calibri Light" panose="020F0302020204030204" pitchFamily="34" charset="0"/>
              <a:cs typeface="Calibri Light" panose="020F0302020204030204" pitchFamily="34" charset="0"/>
            </a:endParaRPr>
          </a:p>
          <a:p>
            <a:pPr>
              <a:spcAft>
                <a:spcPts val="400"/>
              </a:spcAft>
            </a:pPr>
            <a:r>
              <a:rPr sz="1500" b="1" dirty="0"/>
              <a:t>Tunica albuginea</a:t>
            </a:r>
            <a:r>
              <a:rPr sz="1500" dirty="0"/>
              <a:t> — </a:t>
            </a:r>
            <a:r>
              <a:rPr sz="1500" dirty="0" err="1"/>
              <a:t>bilayered</a:t>
            </a:r>
            <a:r>
              <a:rPr sz="1500" dirty="0"/>
              <a:t>, inelastic. </a:t>
            </a:r>
            <a:endParaRPr lang="en-US" sz="1500" dirty="0"/>
          </a:p>
          <a:p>
            <a:pPr marL="0" indent="0">
              <a:spcAft>
                <a:spcPts val="400"/>
              </a:spcAft>
              <a:buNone/>
            </a:pPr>
            <a:r>
              <a:rPr lang="en-US" sz="1500" dirty="0"/>
              <a:t>	Remember it: it returns in </a:t>
            </a:r>
            <a:r>
              <a:rPr lang="en-US" sz="1500" dirty="0" err="1"/>
              <a:t>Peyronie</a:t>
            </a:r>
            <a:r>
              <a:rPr lang="en-US" sz="1500" dirty="0"/>
              <a:t> disease, penile fracture,  	and the </a:t>
            </a:r>
            <a:r>
              <a:rPr lang="en-US" sz="1500" dirty="0" err="1"/>
              <a:t>veno</a:t>
            </a:r>
            <a:r>
              <a:rPr lang="en-US" sz="1500" dirty="0"/>
              <a:t>-occlusive mechanism</a:t>
            </a:r>
          </a:p>
          <a:p>
            <a:pPr>
              <a:spcAft>
                <a:spcPts val="400"/>
              </a:spcAft>
            </a:pPr>
            <a:r>
              <a:rPr sz="1500" dirty="0"/>
              <a:t>Arterial: internal pudendal → </a:t>
            </a:r>
            <a:r>
              <a:rPr sz="1500" dirty="0" err="1"/>
              <a:t>cavernosal</a:t>
            </a:r>
            <a:r>
              <a:rPr sz="1500" dirty="0"/>
              <a:t> → </a:t>
            </a:r>
            <a:r>
              <a:rPr sz="1500" b="1" dirty="0"/>
              <a:t>helicine arterioles</a:t>
            </a:r>
            <a:r>
              <a:rPr sz="1500" dirty="0"/>
              <a:t> → sinusoids</a:t>
            </a:r>
          </a:p>
          <a:p>
            <a:pPr>
              <a:spcAft>
                <a:spcPts val="400"/>
              </a:spcAft>
            </a:pPr>
            <a:r>
              <a:rPr sz="1500" dirty="0"/>
              <a:t>Venous: sinusoids → </a:t>
            </a:r>
            <a:r>
              <a:rPr sz="1500" b="1" dirty="0" err="1"/>
              <a:t>subtunical</a:t>
            </a:r>
            <a:r>
              <a:rPr sz="1500" b="1" dirty="0"/>
              <a:t> venous plexus</a:t>
            </a:r>
            <a:r>
              <a:rPr lang="en-US" sz="1500" dirty="0"/>
              <a:t> → deep dorsal vein</a:t>
            </a:r>
            <a:endParaRPr sz="1500" b="1" dirty="0"/>
          </a:p>
          <a:p>
            <a:pPr>
              <a:spcAft>
                <a:spcPts val="400"/>
              </a:spcAft>
            </a:pPr>
            <a:r>
              <a:rPr sz="1500" b="1" dirty="0"/>
              <a:t>Buck</a:t>
            </a:r>
            <a:r>
              <a:rPr lang="en-US" sz="1500" b="1" dirty="0"/>
              <a:t>’s</a:t>
            </a:r>
            <a:r>
              <a:rPr sz="1500" b="1" dirty="0"/>
              <a:t> fascia</a:t>
            </a:r>
            <a:r>
              <a:rPr sz="1500" dirty="0"/>
              <a:t> contain</a:t>
            </a:r>
            <a:r>
              <a:rPr lang="en-US" sz="1500" dirty="0"/>
              <a:t>ed</a:t>
            </a:r>
            <a:r>
              <a:rPr sz="1500" dirty="0"/>
              <a:t> hematoma to the shaft</a:t>
            </a:r>
            <a:endParaRPr lang="en-US" sz="1500" dirty="0"/>
          </a:p>
          <a:p>
            <a:pPr>
              <a:spcAft>
                <a:spcPts val="400"/>
              </a:spcAft>
            </a:pPr>
            <a:r>
              <a:rPr sz="1500" dirty="0"/>
              <a:t>Colles fascia extension → perineal “butterfly”</a:t>
            </a:r>
            <a:r>
              <a:rPr lang="en-US" sz="1500" dirty="0"/>
              <a:t> →concern for urethral injury</a:t>
            </a:r>
          </a:p>
          <a:p>
            <a:pPr>
              <a:spcAft>
                <a:spcPts val="400"/>
              </a:spcAft>
            </a:pPr>
            <a:r>
              <a:rPr lang="en-US" sz="1500" b="1" dirty="0"/>
              <a:t>Fascial planes</a:t>
            </a:r>
          </a:p>
          <a:p>
            <a:pPr marL="0" indent="0">
              <a:spcAft>
                <a:spcPts val="400"/>
              </a:spcAft>
              <a:buNone/>
            </a:pPr>
            <a:r>
              <a:rPr lang="en-US" sz="1500" dirty="0"/>
              <a:t>Scarpa's (abdomen) → dartos (penis/scrotum) → Colles’ (perineum) form one uninterrupted space, which is why extravasated blood or urine spreads across all three regions once Buck's fascia is breached</a:t>
            </a:r>
          </a:p>
        </p:txBody>
      </p:sp>
      <p:sp>
        <p:nvSpPr>
          <p:cNvPr id="6" name="Title 1">
            <a:extLst>
              <a:ext uri="{FF2B5EF4-FFF2-40B4-BE49-F238E27FC236}">
                <a16:creationId xmlns:a16="http://schemas.microsoft.com/office/drawing/2014/main" id="{4C85AA9B-58DA-A834-7681-5B96134CC291}"/>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Penile Anatomy</a:t>
            </a:r>
          </a:p>
        </p:txBody>
      </p:sp>
      <p:pic>
        <p:nvPicPr>
          <p:cNvPr id="7" name="Picture 6" descr="Cross-sectional diagram of the penis showing the paired corpora cavernosa, corpus spongiosum surrounding the urethra, tunica albuginea, septum, cavernosal spaces, and dorsal vessels, each labeled."/>
          <p:cNvPicPr>
            <a:picLocks noChangeAspect="1"/>
          </p:cNvPicPr>
          <p:nvPr/>
        </p:nvPicPr>
        <p:blipFill>
          <a:blip r:embed="rId3"/>
          <a:stretch>
            <a:fillRect/>
          </a:stretch>
        </p:blipFill>
        <p:spPr>
          <a:xfrm>
            <a:off x="6629400" y="1964383"/>
            <a:ext cx="4754880" cy="3935073"/>
          </a:xfrm>
          <a:prstGeom prst="rect">
            <a:avLst/>
          </a:prstGeom>
        </p:spPr>
      </p:pic>
    </p:spTree>
    <p:extLst>
      <p:ext uri="{BB962C8B-B14F-4D97-AF65-F5344CB8AC3E}">
        <p14:creationId xmlns:p14="http://schemas.microsoft.com/office/powerpoint/2010/main" val="2775922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Scrotal Layers, Paired With Their Pathology</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latin typeface="Aptos" panose="020B0004020202020204" pitchFamily="34" charset="0"/>
                <a:cs typeface="Calibri Light" panose="020F0302020204030204" pitchFamily="34" charset="0"/>
              </a:rPr>
              <a:t>Tunica vaginalis</a:t>
            </a:r>
            <a:r>
              <a:rPr lang="en-US" sz="1600" dirty="0">
                <a:latin typeface="Aptos" panose="020B0004020202020204" pitchFamily="34" charset="0"/>
                <a:cs typeface="Calibri Light" panose="020F0302020204030204" pitchFamily="34" charset="0"/>
              </a:rPr>
              <a:t> (from processus vaginalis) → hydrocele; patent processus → communicating hydrocele + indirect hernia</a:t>
            </a:r>
          </a:p>
          <a:p>
            <a:pPr marL="342891" indent="-342891" algn="l">
              <a:spcAft>
                <a:spcPts val="400"/>
              </a:spcAft>
              <a:buFont typeface="Arial" panose="020B0604020202020204" pitchFamily="34" charset="0"/>
              <a:buChar char="•"/>
            </a:pPr>
            <a:r>
              <a:rPr lang="en-US" sz="1600" b="1" dirty="0">
                <a:latin typeface="Aptos" panose="020B0004020202020204" pitchFamily="34" charset="0"/>
                <a:cs typeface="Calibri Light" panose="020F0302020204030204" pitchFamily="34" charset="0"/>
              </a:rPr>
              <a:t>Cremaster</a:t>
            </a:r>
            <a:r>
              <a:rPr lang="en-US" sz="1600" dirty="0">
                <a:latin typeface="Aptos" panose="020B0004020202020204" pitchFamily="34" charset="0"/>
                <a:cs typeface="Calibri Light" panose="020F0302020204030204" pitchFamily="34" charset="0"/>
              </a:rPr>
              <a:t> (internal oblique) → cremasteric reflex: stroke medial thigh</a:t>
            </a:r>
          </a:p>
          <a:p>
            <a:pPr algn="l">
              <a:spcAft>
                <a:spcPts val="400"/>
              </a:spcAft>
            </a:pPr>
            <a:r>
              <a:rPr lang="en-US" sz="1600" dirty="0">
                <a:latin typeface="Aptos" panose="020B0004020202020204" pitchFamily="34" charset="0"/>
                <a:cs typeface="Calibri Light" panose="020F0302020204030204" pitchFamily="34" charset="0"/>
              </a:rPr>
              <a:t>	 Femoral branch carries afferents up</a:t>
            </a:r>
          </a:p>
          <a:p>
            <a:pPr algn="l">
              <a:spcAft>
                <a:spcPts val="400"/>
              </a:spcAft>
            </a:pPr>
            <a:r>
              <a:rPr lang="en-US" sz="1600" dirty="0">
                <a:latin typeface="Aptos" panose="020B0004020202020204" pitchFamily="34" charset="0"/>
                <a:cs typeface="Calibri Light" panose="020F0302020204030204" pitchFamily="34" charset="0"/>
              </a:rPr>
              <a:t>	 Genital branch caries motor efferent back to cremaster → elevation of ipsilateral testis</a:t>
            </a:r>
          </a:p>
          <a:p>
            <a:pPr algn="l">
              <a:spcAft>
                <a:spcPts val="400"/>
              </a:spcAft>
            </a:pPr>
            <a:r>
              <a:rPr lang="en-US" sz="1600" dirty="0">
                <a:latin typeface="Aptos" panose="020B0004020202020204" pitchFamily="34" charset="0"/>
                <a:cs typeface="Calibri Light" panose="020F0302020204030204" pitchFamily="34" charset="0"/>
              </a:rPr>
              <a:t>	 Reflex arc mediated by the genitofemoral nerve (</a:t>
            </a:r>
            <a:r>
              <a:rPr lang="en-US" sz="1600" b="1" dirty="0">
                <a:latin typeface="Aptos" panose="020B0004020202020204" pitchFamily="34" charset="0"/>
                <a:cs typeface="Calibri Light" panose="020F0302020204030204" pitchFamily="34" charset="0"/>
              </a:rPr>
              <a:t>L1–L2)</a:t>
            </a:r>
          </a:p>
          <a:p>
            <a:pPr marL="342891" indent="-342891" algn="l">
              <a:spcAft>
                <a:spcPts val="400"/>
              </a:spcAft>
              <a:buFont typeface="Arial" panose="020B0604020202020204" pitchFamily="34" charset="0"/>
              <a:buChar char="•"/>
            </a:pPr>
            <a:r>
              <a:rPr lang="en-US" sz="1600" b="1" dirty="0">
                <a:latin typeface="Aptos" panose="020B0004020202020204" pitchFamily="34" charset="0"/>
                <a:cs typeface="Calibri Light" panose="020F0302020204030204" pitchFamily="34" charset="0"/>
              </a:rPr>
              <a:t>Dartos + skin</a:t>
            </a:r>
            <a:r>
              <a:rPr lang="en-US" sz="1600" dirty="0">
                <a:latin typeface="Aptos" panose="020B0004020202020204" pitchFamily="34" charset="0"/>
                <a:cs typeface="Calibri Light" panose="020F0302020204030204" pitchFamily="34" charset="0"/>
              </a:rPr>
              <a:t> → thermoregulation; the plane of Fournier gangrene</a:t>
            </a:r>
          </a:p>
          <a:p>
            <a:pPr marL="342891" indent="-342891" algn="l">
              <a:spcAft>
                <a:spcPts val="400"/>
              </a:spcAft>
              <a:buFont typeface="Arial" panose="020B0604020202020204" pitchFamily="34" charset="0"/>
              <a:buChar char="•"/>
            </a:pPr>
            <a:r>
              <a:rPr lang="en-US" sz="1600" dirty="0">
                <a:latin typeface="Aptos" panose="020B0004020202020204" pitchFamily="34" charset="0"/>
                <a:cs typeface="Calibri Light" panose="020F0302020204030204" pitchFamily="34" charset="0"/>
              </a:rPr>
              <a:t>Reflex is </a:t>
            </a:r>
            <a:r>
              <a:rPr lang="en-US" sz="1600" b="1" dirty="0">
                <a:latin typeface="Aptos" panose="020B0004020202020204" pitchFamily="34" charset="0"/>
                <a:cs typeface="Calibri Light" panose="020F0302020204030204" pitchFamily="34" charset="0"/>
              </a:rPr>
              <a:t>absent in torsion:</a:t>
            </a:r>
            <a:r>
              <a:rPr lang="en-US" sz="1600" dirty="0">
                <a:latin typeface="Aptos" panose="020B0004020202020204" pitchFamily="34" charset="0"/>
                <a:cs typeface="Calibri Light" panose="020F0302020204030204" pitchFamily="34" charset="0"/>
              </a:rPr>
              <a:t> the single most useful acute-scrotum exam finding</a:t>
            </a:r>
          </a:p>
          <a:p>
            <a:pPr lvl="1" algn="l">
              <a:spcAft>
                <a:spcPts val="400"/>
              </a:spcAft>
            </a:pPr>
            <a:r>
              <a:rPr lang="en-US" sz="1200" dirty="0">
                <a:latin typeface="Aptos" panose="020B0004020202020204" pitchFamily="34" charset="0"/>
                <a:cs typeface="Calibri Light" panose="020F0302020204030204" pitchFamily="34" charset="0"/>
              </a:rPr>
              <a:t>	</a:t>
            </a:r>
            <a:r>
              <a:rPr lang="en-US" sz="1600" dirty="0">
                <a:latin typeface="Aptos" panose="020B0004020202020204" pitchFamily="34" charset="0"/>
                <a:cs typeface="Calibri Light" panose="020F0302020204030204" pitchFamily="34" charset="0"/>
              </a:rPr>
              <a:t>Presence of reflex </a:t>
            </a:r>
            <a:r>
              <a:rPr lang="en-US" sz="1600" b="1" dirty="0">
                <a:latin typeface="Aptos" panose="020B0004020202020204" pitchFamily="34" charset="0"/>
                <a:cs typeface="Calibri Light" panose="020F0302020204030204" pitchFamily="34" charset="0"/>
              </a:rPr>
              <a:t>does not exclude</a:t>
            </a:r>
            <a:r>
              <a:rPr lang="en-US" sz="1600" dirty="0">
                <a:latin typeface="Aptos" panose="020B0004020202020204" pitchFamily="34" charset="0"/>
                <a:cs typeface="Calibri Light" panose="020F0302020204030204" pitchFamily="34" charset="0"/>
              </a:rPr>
              <a:t> torsion</a:t>
            </a:r>
          </a:p>
        </p:txBody>
      </p:sp>
    </p:spTree>
    <p:extLst>
      <p:ext uri="{BB962C8B-B14F-4D97-AF65-F5344CB8AC3E}">
        <p14:creationId xmlns:p14="http://schemas.microsoft.com/office/powerpoint/2010/main" val="1430733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6771-0A04-402D-0230-5BDCF1EAAF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AAE0B-062B-A7A3-C13A-BA0F46D0D6F3}"/>
              </a:ext>
            </a:extLst>
          </p:cNvPr>
          <p:cNvSpPr>
            <a:spLocks noGrp="1"/>
          </p:cNvSpPr>
          <p:nvPr>
            <p:ph sz="half" idx="1"/>
          </p:nvPr>
        </p:nvSpPr>
        <p:spPr>
          <a:xfrm>
            <a:off x="502920" y="1691640"/>
            <a:ext cx="5943600" cy="4663440"/>
          </a:xfrm>
        </p:spPr>
        <p:txBody>
          <a:bodyPr wrap="square"/>
          <a:lstStyle/>
          <a:p>
            <a:pPr>
              <a:spcAft>
                <a:spcPts val="400"/>
              </a:spcAft>
            </a:pPr>
            <a:r>
              <a:rPr sz="1500" dirty="0"/>
              <a:t>Testicular arteries arise from the </a:t>
            </a:r>
            <a:r>
              <a:rPr sz="1500" b="1" dirty="0"/>
              <a:t>aorta</a:t>
            </a:r>
            <a:endParaRPr lang="en-US" dirty="0">
              <a:solidFill>
                <a:schemeClr val="tx1">
                  <a:lumMod val="50000"/>
                  <a:lumOff val="50000"/>
                </a:schemeClr>
              </a:solidFill>
              <a:latin typeface="Calibri Light" panose="020F0302020204030204" pitchFamily="34" charset="0"/>
              <a:cs typeface="Calibri Light" panose="020F0302020204030204" pitchFamily="34" charset="0"/>
            </a:endParaRPr>
          </a:p>
          <a:p>
            <a:pPr>
              <a:spcAft>
                <a:spcPts val="400"/>
              </a:spcAft>
            </a:pPr>
            <a:r>
              <a:rPr sz="1500" b="1" dirty="0"/>
              <a:t>Right</a:t>
            </a:r>
            <a:r>
              <a:rPr sz="1500" dirty="0"/>
              <a:t> gonadal vein → IVC; </a:t>
            </a:r>
            <a:r>
              <a:rPr sz="1500" b="1" dirty="0"/>
              <a:t>left</a:t>
            </a:r>
            <a:r>
              <a:rPr sz="1500" dirty="0"/>
              <a:t> gonadal vein → </a:t>
            </a:r>
            <a:r>
              <a:rPr sz="1500" b="1" dirty="0"/>
              <a:t>left renal vein at 90°</a:t>
            </a:r>
            <a:r>
              <a:rPr sz="1500" dirty="0"/>
              <a:t> over a longer column → left-sided varicocele</a:t>
            </a:r>
          </a:p>
          <a:p>
            <a:pPr>
              <a:spcAft>
                <a:spcPts val="400"/>
              </a:spcAft>
            </a:pPr>
            <a:r>
              <a:rPr sz="1500" b="1" dirty="0"/>
              <a:t>Testis lymphatics → retroperitoneal para-aortic nodes</a:t>
            </a:r>
            <a:r>
              <a:rPr lang="en-US" sz="1500" b="1" dirty="0"/>
              <a:t>: </a:t>
            </a:r>
            <a:r>
              <a:rPr sz="1500" dirty="0"/>
              <a:t> never inguinal</a:t>
            </a:r>
          </a:p>
          <a:p>
            <a:pPr>
              <a:spcAft>
                <a:spcPts val="400"/>
              </a:spcAft>
            </a:pPr>
            <a:r>
              <a:rPr sz="1500" b="1" dirty="0"/>
              <a:t>Penis and scrotal skin → inguinal nodes</a:t>
            </a:r>
          </a:p>
          <a:p>
            <a:pPr>
              <a:spcAft>
                <a:spcPts val="400"/>
              </a:spcAft>
            </a:pPr>
            <a:r>
              <a:rPr sz="1500" dirty="0"/>
              <a:t>Hence: </a:t>
            </a:r>
            <a:endParaRPr lang="en-US" sz="1500" dirty="0"/>
          </a:p>
          <a:p>
            <a:pPr marL="0" indent="0">
              <a:spcAft>
                <a:spcPts val="400"/>
              </a:spcAft>
              <a:buNone/>
            </a:pPr>
            <a:r>
              <a:rPr lang="en-US" sz="1500" dirty="0"/>
              <a:t>           Testis cancer surgery is </a:t>
            </a:r>
            <a:r>
              <a:rPr lang="en-US" sz="1500" b="1" dirty="0"/>
              <a:t>inguinal</a:t>
            </a:r>
            <a:r>
              <a:rPr lang="en-US" sz="1500" dirty="0"/>
              <a:t>, never trans-scrotal  </a:t>
            </a:r>
          </a:p>
          <a:p>
            <a:pPr marL="0" indent="0">
              <a:spcAft>
                <a:spcPts val="400"/>
              </a:spcAft>
              <a:buNone/>
            </a:pPr>
            <a:r>
              <a:rPr lang="en-US" sz="1500" dirty="0"/>
              <a:t>           Penile cancer prognosis lives in the groin</a:t>
            </a:r>
          </a:p>
        </p:txBody>
      </p:sp>
      <p:sp>
        <p:nvSpPr>
          <p:cNvPr id="6" name="Title 1">
            <a:extLst>
              <a:ext uri="{FF2B5EF4-FFF2-40B4-BE49-F238E27FC236}">
                <a16:creationId xmlns:a16="http://schemas.microsoft.com/office/drawing/2014/main" id="{4C85AA9B-58DA-A834-7681-5B96134CC291}"/>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Venous and Lymphatic Drainage — Two Asymmetries That Matter</a:t>
            </a:r>
          </a:p>
        </p:txBody>
      </p:sp>
      <p:pic>
        <p:nvPicPr>
          <p:cNvPr id="7" name="Picture 6" descr="Diagram of gonadal venous drainage showing the right testicular vein entering the inferior vena cava directly and the left testicular vein entering the left renal vein at a right angle."/>
          <p:cNvPicPr>
            <a:picLocks noChangeAspect="1"/>
          </p:cNvPicPr>
          <p:nvPr/>
        </p:nvPicPr>
        <p:blipFill>
          <a:blip r:embed="rId3"/>
          <a:stretch>
            <a:fillRect/>
          </a:stretch>
        </p:blipFill>
        <p:spPr>
          <a:xfrm>
            <a:off x="6629400" y="1931536"/>
            <a:ext cx="4754880" cy="4000767"/>
          </a:xfrm>
          <a:prstGeom prst="rect">
            <a:avLst/>
          </a:prstGeom>
        </p:spPr>
      </p:pic>
    </p:spTree>
    <p:extLst>
      <p:ext uri="{BB962C8B-B14F-4D97-AF65-F5344CB8AC3E}">
        <p14:creationId xmlns:p14="http://schemas.microsoft.com/office/powerpoint/2010/main" val="2775922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6771-0A04-402D-0230-5BDCF1EAAF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AAE0B-062B-A7A3-C13A-BA0F46D0D6F3}"/>
              </a:ext>
            </a:extLst>
          </p:cNvPr>
          <p:cNvSpPr>
            <a:spLocks noGrp="1"/>
          </p:cNvSpPr>
          <p:nvPr>
            <p:ph sz="half" idx="1"/>
          </p:nvPr>
        </p:nvSpPr>
        <p:spPr>
          <a:xfrm>
            <a:off x="502920" y="1691640"/>
            <a:ext cx="5943600" cy="4663440"/>
          </a:xfrm>
        </p:spPr>
        <p:txBody>
          <a:bodyPr wrap="square"/>
          <a:lstStyle/>
          <a:p>
            <a:pPr>
              <a:spcAft>
                <a:spcPts val="400"/>
              </a:spcAft>
            </a:pPr>
            <a:r>
              <a:rPr sz="1500" b="1" dirty="0"/>
              <a:t>Spermatogonia</a:t>
            </a:r>
            <a:r>
              <a:rPr lang="en-US" sz="1500" dirty="0"/>
              <a:t> (D)</a:t>
            </a:r>
            <a:r>
              <a:rPr sz="1500" dirty="0"/>
              <a:t> at the basement membrane</a:t>
            </a:r>
            <a:endParaRPr lang="en-US" dirty="0">
              <a:solidFill>
                <a:schemeClr val="tx1">
                  <a:lumMod val="50000"/>
                  <a:lumOff val="50000"/>
                </a:schemeClr>
              </a:solidFill>
              <a:latin typeface="Calibri Light" panose="020F0302020204030204" pitchFamily="34" charset="0"/>
              <a:cs typeface="Calibri Light" panose="020F0302020204030204" pitchFamily="34" charset="0"/>
            </a:endParaRPr>
          </a:p>
          <a:p>
            <a:pPr>
              <a:spcAft>
                <a:spcPts val="400"/>
              </a:spcAft>
            </a:pPr>
            <a:r>
              <a:rPr sz="1500" dirty="0"/>
              <a:t>Primary </a:t>
            </a:r>
            <a:r>
              <a:rPr lang="en-US" sz="1500" dirty="0"/>
              <a:t>(B) </a:t>
            </a:r>
            <a:r>
              <a:rPr sz="1500" dirty="0"/>
              <a:t>→ secondary spermatocytes → spermatids toward the lumen</a:t>
            </a:r>
            <a:r>
              <a:rPr lang="en-US" sz="1500" dirty="0"/>
              <a:t> (E)</a:t>
            </a:r>
            <a:endParaRPr sz="1500" dirty="0"/>
          </a:p>
          <a:p>
            <a:pPr>
              <a:spcAft>
                <a:spcPts val="400"/>
              </a:spcAft>
            </a:pPr>
            <a:r>
              <a:rPr sz="1500" b="1" dirty="0"/>
              <a:t>Spermatozoa in the lumen</a:t>
            </a:r>
            <a:r>
              <a:rPr lang="en-US" sz="1500" b="1" dirty="0"/>
              <a:t> </a:t>
            </a:r>
            <a:r>
              <a:rPr lang="en-US" sz="1500" dirty="0"/>
              <a:t>(C)</a:t>
            </a:r>
            <a:endParaRPr sz="1500" dirty="0"/>
          </a:p>
          <a:p>
            <a:pPr>
              <a:spcAft>
                <a:spcPts val="400"/>
              </a:spcAft>
            </a:pPr>
            <a:r>
              <a:rPr sz="1500" b="1" dirty="0"/>
              <a:t>Sertoli cells</a:t>
            </a:r>
            <a:r>
              <a:rPr sz="1500" dirty="0"/>
              <a:t> </a:t>
            </a:r>
            <a:r>
              <a:rPr lang="en-US" sz="1500" dirty="0"/>
              <a:t>(F) </a:t>
            </a:r>
            <a:r>
              <a:rPr sz="1500" dirty="0"/>
              <a:t>span basement membrane to lumen</a:t>
            </a:r>
          </a:p>
          <a:p>
            <a:pPr>
              <a:spcAft>
                <a:spcPts val="400"/>
              </a:spcAft>
            </a:pPr>
            <a:r>
              <a:rPr sz="1500" b="1" dirty="0"/>
              <a:t>Leydig cells</a:t>
            </a:r>
            <a:r>
              <a:rPr sz="1500" dirty="0"/>
              <a:t> in the interstitium between tubules</a:t>
            </a:r>
          </a:p>
        </p:txBody>
      </p:sp>
      <p:sp>
        <p:nvSpPr>
          <p:cNvPr id="6" name="Title 1">
            <a:extLst>
              <a:ext uri="{FF2B5EF4-FFF2-40B4-BE49-F238E27FC236}">
                <a16:creationId xmlns:a16="http://schemas.microsoft.com/office/drawing/2014/main" id="{4C85AA9B-58DA-A834-7681-5B96134CC291}"/>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Histology 1 of 2: Seminiferous Tubule</a:t>
            </a:r>
          </a:p>
        </p:txBody>
      </p:sp>
      <p:pic>
        <p:nvPicPr>
          <p:cNvPr id="7" name="Picture 6" descr="Labeled histologic cross-section of a seminiferous tubule. Letter A marks Leydig cells in the interstitium, B marks primary spermatocytes, C marks spermatozoa in the lumen, D marks spermatogonia at the basement membrane, E marks secondary spermatocytes, and F marks Sertoli cells."/>
          <p:cNvPicPr>
            <a:picLocks noChangeAspect="1"/>
          </p:cNvPicPr>
          <p:nvPr/>
        </p:nvPicPr>
        <p:blipFill>
          <a:blip r:embed="rId3"/>
          <a:stretch>
            <a:fillRect/>
          </a:stretch>
        </p:blipFill>
        <p:spPr>
          <a:xfrm>
            <a:off x="6629400" y="2063931"/>
            <a:ext cx="4754880" cy="3735977"/>
          </a:xfrm>
          <a:prstGeom prst="rect">
            <a:avLst/>
          </a:prstGeom>
        </p:spPr>
      </p:pic>
    </p:spTree>
    <p:extLst>
      <p:ext uri="{BB962C8B-B14F-4D97-AF65-F5344CB8AC3E}">
        <p14:creationId xmlns:p14="http://schemas.microsoft.com/office/powerpoint/2010/main" val="2775922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6771-0A04-402D-0230-5BDCF1EAAF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AAE0B-062B-A7A3-C13A-BA0F46D0D6F3}"/>
              </a:ext>
            </a:extLst>
          </p:cNvPr>
          <p:cNvSpPr>
            <a:spLocks noGrp="1"/>
          </p:cNvSpPr>
          <p:nvPr>
            <p:ph sz="half" idx="1"/>
          </p:nvPr>
        </p:nvSpPr>
        <p:spPr>
          <a:xfrm>
            <a:off x="502920" y="1691640"/>
            <a:ext cx="5943600" cy="4663440"/>
          </a:xfrm>
        </p:spPr>
        <p:txBody>
          <a:bodyPr wrap="square"/>
          <a:lstStyle/>
          <a:p>
            <a:pPr>
              <a:spcAft>
                <a:spcPts val="400"/>
              </a:spcAft>
            </a:pPr>
            <a:r>
              <a:rPr sz="1500" b="1"/>
              <a:t>Epididymis:</a:t>
            </a:r>
            <a:r>
              <a:rPr sz="1500"/>
              <a:t> pseudostratified columnar epithelium with </a:t>
            </a:r>
            <a:r>
              <a:rPr sz="1500" b="1"/>
              <a:t>stereocilia</a:t>
            </a:r>
            <a:r>
              <a:rPr sz="1500"/>
              <a:t>; lumen packed with sperm</a:t>
            </a:r>
            <a:endParaRPr lang="en-US" dirty="0">
              <a:solidFill>
                <a:schemeClr val="tx1">
                  <a:lumMod val="50000"/>
                  <a:lumOff val="50000"/>
                </a:schemeClr>
              </a:solidFill>
              <a:latin typeface="Calibri Light" panose="020F0302020204030204" pitchFamily="34" charset="0"/>
              <a:cs typeface="Calibri Light" panose="020F0302020204030204" pitchFamily="34" charset="0"/>
            </a:endParaRPr>
          </a:p>
          <a:p>
            <a:pPr>
              <a:spcAft>
                <a:spcPts val="400"/>
              </a:spcAft>
            </a:pPr>
            <a:r>
              <a:rPr sz="1500" b="1"/>
              <a:t>Prostate:</a:t>
            </a:r>
            <a:r>
              <a:rPr sz="1500"/>
              <a:t> tuboalveolar acini with papillary infoldings; </a:t>
            </a:r>
            <a:r>
              <a:rPr sz="1500" b="1"/>
              <a:t>corpora amylacea</a:t>
            </a:r>
            <a:r>
              <a:rPr sz="1500"/>
              <a:t> (calcified secretions) in older men</a:t>
            </a:r>
          </a:p>
          <a:p>
            <a:pPr>
              <a:spcAft>
                <a:spcPts val="400"/>
              </a:spcAft>
            </a:pPr>
            <a:r>
              <a:rPr sz="1500" b="1"/>
              <a:t>Seminal vesicle</a:t>
            </a:r>
            <a:r>
              <a:rPr sz="1500"/>
              <a:t> mimics prostate but has </a:t>
            </a:r>
            <a:r>
              <a:rPr sz="1500" b="1"/>
              <a:t>no corpora amylacea</a:t>
            </a:r>
          </a:p>
          <a:p>
            <a:pPr>
              <a:spcAft>
                <a:spcPts val="400"/>
              </a:spcAft>
            </a:pPr>
            <a:r>
              <a:rPr sz="1500"/>
              <a:t>Basal cell layer loss is a histologic criterion of prostate cancer</a:t>
            </a:r>
          </a:p>
        </p:txBody>
      </p:sp>
      <p:sp>
        <p:nvSpPr>
          <p:cNvPr id="6" name="Title 1">
            <a:extLst>
              <a:ext uri="{FF2B5EF4-FFF2-40B4-BE49-F238E27FC236}">
                <a16:creationId xmlns:a16="http://schemas.microsoft.com/office/drawing/2014/main" id="{4C85AA9B-58DA-A834-7681-5B96134CC291}"/>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Histology 2 of 2: Epididymis and Prostate</a:t>
            </a:r>
          </a:p>
        </p:txBody>
      </p:sp>
      <p:pic>
        <p:nvPicPr>
          <p:cNvPr id="7" name="Picture 6" descr="Histologic section of the epididymis showing tubules lined by pseudostratified columnar epithelium with stereocilia, smooth muscle around each tubule, and clumps of spermatozoa in the lumens, with labels."/>
          <p:cNvPicPr>
            <a:picLocks noChangeAspect="1"/>
          </p:cNvPicPr>
          <p:nvPr/>
        </p:nvPicPr>
        <p:blipFill>
          <a:blip r:embed="rId3"/>
          <a:stretch>
            <a:fillRect/>
          </a:stretch>
        </p:blipFill>
        <p:spPr>
          <a:xfrm>
            <a:off x="7512535" y="1417320"/>
            <a:ext cx="2988608" cy="2240280"/>
          </a:xfrm>
          <a:prstGeom prst="rect">
            <a:avLst/>
          </a:prstGeom>
        </p:spPr>
      </p:pic>
      <p:pic>
        <p:nvPicPr>
          <p:cNvPr id="8" name="Picture 7" descr="Prostate histology on H and E stain showing glandular acini with pink laminated corpora amylacea within the lumens, labeled."/>
          <p:cNvPicPr>
            <a:picLocks noChangeAspect="1"/>
          </p:cNvPicPr>
          <p:nvPr/>
        </p:nvPicPr>
        <p:blipFill>
          <a:blip r:embed="rId4"/>
          <a:stretch>
            <a:fillRect/>
          </a:stretch>
        </p:blipFill>
        <p:spPr>
          <a:xfrm>
            <a:off x="8166735" y="3794760"/>
            <a:ext cx="1680210" cy="2240280"/>
          </a:xfrm>
          <a:prstGeom prst="rect">
            <a:avLst/>
          </a:prstGeom>
        </p:spPr>
      </p:pic>
    </p:spTree>
    <p:extLst>
      <p:ext uri="{BB962C8B-B14F-4D97-AF65-F5344CB8AC3E}">
        <p14:creationId xmlns:p14="http://schemas.microsoft.com/office/powerpoint/2010/main" val="2775922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668E454-3A2F-F355-AA23-7196041463A2}"/>
              </a:ext>
            </a:extLst>
          </p:cNvPr>
          <p:cNvSpPr txBox="1"/>
          <p:nvPr/>
        </p:nvSpPr>
        <p:spPr>
          <a:xfrm>
            <a:off x="0" y="2532888"/>
            <a:ext cx="12179302" cy="896112"/>
          </a:xfrm>
          <a:prstGeom prst="rect">
            <a:avLst/>
          </a:prstGeom>
          <a:noFill/>
        </p:spPr>
        <p:txBody>
          <a:bodyPr wrap="square" bIns="91440" rtlCol="0" anchor="ctr" anchorCtr="0">
            <a:noAutofit/>
          </a:bodyPr>
          <a:lstStyle/>
          <a:p>
            <a:pPr algn="ctr"/>
            <a:r>
              <a:rPr lang="en-US" sz="3200" dirty="0">
                <a:latin typeface="Georgia" panose="02040502050405020303" pitchFamily="18" charset="0"/>
              </a:rPr>
              <a:t>Part 2: Spermatogenesis</a:t>
            </a:r>
          </a:p>
        </p:txBody>
      </p:sp>
    </p:spTree>
    <p:extLst>
      <p:ext uri="{BB962C8B-B14F-4D97-AF65-F5344CB8AC3E}">
        <p14:creationId xmlns:p14="http://schemas.microsoft.com/office/powerpoint/2010/main" val="2420114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The Three-Month Clock</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Spermatogenesis: </a:t>
            </a:r>
            <a:r>
              <a:rPr lang="en-US" sz="1600" b="1" dirty="0">
                <a:cs typeface="Calibri Light" panose="020F0302020204030204" pitchFamily="34" charset="0"/>
              </a:rPr>
              <a:t>64–74 days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Epididymal transit and maturation: </a:t>
            </a:r>
            <a:r>
              <a:rPr lang="en-US" sz="1600" b="1" dirty="0">
                <a:cs typeface="Calibri Light" panose="020F0302020204030204" pitchFamily="34" charset="0"/>
              </a:rPr>
              <a:t>10–14 days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Total ≈ </a:t>
            </a:r>
            <a:r>
              <a:rPr lang="en-US" sz="1600" b="1" dirty="0">
                <a:cs typeface="Calibri Light" panose="020F0302020204030204" pitchFamily="34" charset="0"/>
              </a:rPr>
              <a:t>3 months</a:t>
            </a:r>
            <a:r>
              <a:rPr lang="en-US" sz="1600" dirty="0">
                <a:cs typeface="Calibri Light" panose="020F0302020204030204" pitchFamily="34" charset="0"/>
              </a:rPr>
              <a:t> — today’s semen analysis reports events from 3 months ago</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A febrile illness, hot tub, or new drug </a:t>
            </a:r>
            <a:r>
              <a:rPr lang="en-US" sz="1600" b="1" dirty="0">
                <a:cs typeface="Calibri Light" panose="020F0302020204030204" pitchFamily="34" charset="0"/>
              </a:rPr>
              <a:t>2 months ago</a:t>
            </a:r>
            <a:r>
              <a:rPr lang="en-US" sz="1600" dirty="0">
                <a:cs typeface="Calibri Light" panose="020F0302020204030204" pitchFamily="34" charset="0"/>
              </a:rPr>
              <a:t> shows up </a:t>
            </a:r>
            <a:r>
              <a:rPr lang="en-US" sz="1600" b="1" dirty="0">
                <a:cs typeface="Calibri Light" panose="020F0302020204030204" pitchFamily="34" charset="0"/>
              </a:rPr>
              <a:t>today</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Every intervention: varicocelectomy, stopping testosterone, weight loss — needs </a:t>
            </a:r>
            <a:r>
              <a:rPr lang="en-US" sz="1600" b="1" dirty="0">
                <a:cs typeface="Calibri Light" panose="020F0302020204030204" pitchFamily="34" charset="0"/>
              </a:rPr>
              <a:t>≥3 months</a:t>
            </a:r>
            <a:r>
              <a:rPr lang="en-US" sz="1600" dirty="0">
                <a:cs typeface="Calibri Light" panose="020F0302020204030204" pitchFamily="34" charset="0"/>
              </a:rPr>
              <a:t> before the repeat semen analysis means anything</a:t>
            </a:r>
          </a:p>
        </p:txBody>
      </p:sp>
    </p:spTree>
    <p:extLst>
      <p:ext uri="{BB962C8B-B14F-4D97-AF65-F5344CB8AC3E}">
        <p14:creationId xmlns:p14="http://schemas.microsoft.com/office/powerpoint/2010/main" val="1430733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Stages of Spermatogenesis</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latin typeface="Aptos" panose="020B0004020202020204" pitchFamily="34" charset="0"/>
                <a:cs typeface="Calibri Light" panose="020F0302020204030204" pitchFamily="34" charset="0"/>
              </a:rPr>
              <a:t>Spermatogonia</a:t>
            </a:r>
            <a:r>
              <a:rPr lang="en-US" sz="1600" dirty="0">
                <a:latin typeface="Aptos" panose="020B0004020202020204" pitchFamily="34" charset="0"/>
                <a:cs typeface="Calibri Light" panose="020F0302020204030204" pitchFamily="34" charset="0"/>
              </a:rPr>
              <a:t>: type A dark (reserve) · A pale (renewing) · B (committed)</a:t>
            </a:r>
          </a:p>
          <a:p>
            <a:pPr marL="342891" indent="-342891" algn="l">
              <a:spcAft>
                <a:spcPts val="400"/>
              </a:spcAft>
              <a:buFont typeface="Arial" panose="020B0604020202020204" pitchFamily="34" charset="0"/>
              <a:buChar char="•"/>
            </a:pPr>
            <a:r>
              <a:rPr lang="en-US" sz="1600" b="1" dirty="0">
                <a:latin typeface="Aptos" panose="020B0004020202020204" pitchFamily="34" charset="0"/>
                <a:cs typeface="Calibri Light" panose="020F0302020204030204" pitchFamily="34" charset="0"/>
              </a:rPr>
              <a:t>Meiosis I:</a:t>
            </a:r>
            <a:r>
              <a:rPr lang="en-US" sz="1600" dirty="0">
                <a:latin typeface="Aptos" panose="020B0004020202020204" pitchFamily="34" charset="0"/>
                <a:cs typeface="Calibri Light" panose="020F0302020204030204" pitchFamily="34" charset="0"/>
              </a:rPr>
              <a:t> primary spermatocyte → two secondary spermatocytes</a:t>
            </a:r>
          </a:p>
          <a:p>
            <a:pPr marL="342891" indent="-342891" algn="l">
              <a:spcAft>
                <a:spcPts val="400"/>
              </a:spcAft>
              <a:buFont typeface="Arial" panose="020B0604020202020204" pitchFamily="34" charset="0"/>
              <a:buChar char="•"/>
            </a:pPr>
            <a:r>
              <a:rPr lang="en-US" sz="1600" b="1" dirty="0">
                <a:latin typeface="Aptos" panose="020B0004020202020204" pitchFamily="34" charset="0"/>
                <a:cs typeface="Calibri Light" panose="020F0302020204030204" pitchFamily="34" charset="0"/>
              </a:rPr>
              <a:t>Meiosis II:</a:t>
            </a:r>
            <a:r>
              <a:rPr lang="en-US" sz="1600" dirty="0">
                <a:latin typeface="Aptos" panose="020B0004020202020204" pitchFamily="34" charset="0"/>
                <a:cs typeface="Calibri Light" panose="020F0302020204030204" pitchFamily="34" charset="0"/>
              </a:rPr>
              <a:t> → spermatids (haploid)</a:t>
            </a:r>
          </a:p>
          <a:p>
            <a:pPr marL="342891" indent="-342891" algn="l">
              <a:spcAft>
                <a:spcPts val="400"/>
              </a:spcAft>
              <a:buFont typeface="Arial" panose="020B0604020202020204" pitchFamily="34" charset="0"/>
              <a:buChar char="•"/>
            </a:pPr>
            <a:r>
              <a:rPr lang="en-US" sz="1600" b="1" dirty="0">
                <a:latin typeface="Aptos" panose="020B0004020202020204" pitchFamily="34" charset="0"/>
                <a:cs typeface="Calibri Light" panose="020F0302020204030204" pitchFamily="34" charset="0"/>
              </a:rPr>
              <a:t>Spermiogenesis</a:t>
            </a:r>
            <a:r>
              <a:rPr lang="en-US" sz="1600" dirty="0">
                <a:latin typeface="Aptos" panose="020B0004020202020204" pitchFamily="34" charset="0"/>
                <a:cs typeface="Calibri Light" panose="020F0302020204030204" pitchFamily="34" charset="0"/>
              </a:rPr>
              <a:t> (remodeling, no division): Golgi → </a:t>
            </a:r>
            <a:r>
              <a:rPr lang="en-US" sz="1600" b="1" dirty="0">
                <a:latin typeface="Aptos" panose="020B0004020202020204" pitchFamily="34" charset="0"/>
                <a:cs typeface="Calibri Light" panose="020F0302020204030204" pitchFamily="34" charset="0"/>
              </a:rPr>
              <a:t>acrosome</a:t>
            </a:r>
            <a:r>
              <a:rPr lang="en-US" sz="1600" dirty="0">
                <a:latin typeface="Aptos" panose="020B0004020202020204" pitchFamily="34" charset="0"/>
                <a:cs typeface="Calibri Light" panose="020F0302020204030204" pitchFamily="34" charset="0"/>
              </a:rPr>
              <a:t>; </a:t>
            </a:r>
            <a:r>
              <a:rPr lang="en-US" sz="1600" b="1" dirty="0">
                <a:latin typeface="Aptos" panose="020B0004020202020204" pitchFamily="34" charset="0"/>
                <a:cs typeface="Calibri Light" panose="020F0302020204030204" pitchFamily="34" charset="0"/>
              </a:rPr>
              <a:t>protamines replace histones</a:t>
            </a:r>
            <a:r>
              <a:rPr lang="en-US" sz="1600" dirty="0">
                <a:latin typeface="Aptos" panose="020B0004020202020204" pitchFamily="34" charset="0"/>
                <a:cs typeface="Calibri Light" panose="020F0302020204030204" pitchFamily="34" charset="0"/>
              </a:rPr>
              <a:t>; flagellum + mitochondrial midpiece; cytoplasm shed as </a:t>
            </a:r>
            <a:r>
              <a:rPr lang="en-US" sz="1600" b="1" dirty="0">
                <a:latin typeface="Aptos" panose="020B0004020202020204" pitchFamily="34" charset="0"/>
                <a:cs typeface="Calibri Light" panose="020F0302020204030204" pitchFamily="34" charset="0"/>
              </a:rPr>
              <a:t>residual body</a:t>
            </a:r>
            <a:r>
              <a:rPr lang="en-US" sz="1600" dirty="0">
                <a:latin typeface="Aptos" panose="020B0004020202020204" pitchFamily="34" charset="0"/>
                <a:cs typeface="Calibri Light" panose="020F0302020204030204" pitchFamily="34" charset="0"/>
              </a:rPr>
              <a:t> (Sertoli phagocytoses it)</a:t>
            </a:r>
          </a:p>
          <a:p>
            <a:pPr marL="342891" indent="-342891" algn="l">
              <a:spcAft>
                <a:spcPts val="400"/>
              </a:spcAft>
              <a:buFont typeface="Arial" panose="020B0604020202020204" pitchFamily="34" charset="0"/>
              <a:buChar char="•"/>
            </a:pPr>
            <a:r>
              <a:rPr lang="en-US" sz="1600" b="1" dirty="0">
                <a:latin typeface="Aptos" panose="020B0004020202020204" pitchFamily="34" charset="0"/>
                <a:cs typeface="Calibri Light" panose="020F0302020204030204" pitchFamily="34" charset="0"/>
              </a:rPr>
              <a:t>Spermiation:</a:t>
            </a:r>
            <a:r>
              <a:rPr lang="en-US" sz="1600" dirty="0">
                <a:latin typeface="Aptos" panose="020B0004020202020204" pitchFamily="34" charset="0"/>
                <a:cs typeface="Calibri Light" panose="020F0302020204030204" pitchFamily="34" charset="0"/>
              </a:rPr>
              <a:t> released into the lumen — </a:t>
            </a:r>
            <a:r>
              <a:rPr lang="en-US" sz="1600" b="1" dirty="0">
                <a:latin typeface="Aptos" panose="020B0004020202020204" pitchFamily="34" charset="0"/>
                <a:cs typeface="Calibri Light" panose="020F0302020204030204" pitchFamily="34" charset="0"/>
              </a:rPr>
              <a:t>immotile and infertile</a:t>
            </a:r>
          </a:p>
          <a:p>
            <a:pPr marL="342891" indent="-342891" algn="l">
              <a:spcAft>
                <a:spcPts val="400"/>
              </a:spcAft>
              <a:buFont typeface="Arial" panose="020B0604020202020204" pitchFamily="34" charset="0"/>
              <a:buChar char="•"/>
            </a:pPr>
            <a:r>
              <a:rPr lang="en-US" sz="1600" dirty="0">
                <a:latin typeface="Aptos" panose="020B0004020202020204" pitchFamily="34" charset="0"/>
                <a:cs typeface="Calibri Light" panose="020F0302020204030204" pitchFamily="34" charset="0"/>
              </a:rPr>
              <a:t>Motility is gained in the </a:t>
            </a:r>
            <a:r>
              <a:rPr lang="en-US" sz="1600" b="1" dirty="0">
                <a:latin typeface="Aptos" panose="020B0004020202020204" pitchFamily="34" charset="0"/>
                <a:cs typeface="Calibri Light" panose="020F0302020204030204" pitchFamily="34" charset="0"/>
              </a:rPr>
              <a:t>epididymis</a:t>
            </a:r>
            <a:r>
              <a:rPr lang="en-US" sz="1600" dirty="0">
                <a:latin typeface="Aptos" panose="020B0004020202020204" pitchFamily="34" charset="0"/>
                <a:cs typeface="Calibri Light" panose="020F0302020204030204" pitchFamily="34" charset="0"/>
              </a:rPr>
              <a:t>; </a:t>
            </a:r>
            <a:r>
              <a:rPr lang="en-US" sz="1600" b="1" dirty="0">
                <a:latin typeface="Aptos" panose="020B0004020202020204" pitchFamily="34" charset="0"/>
                <a:cs typeface="Calibri Light" panose="020F0302020204030204" pitchFamily="34" charset="0"/>
              </a:rPr>
              <a:t>capacitation and the acrosome reaction occur in the female tract</a:t>
            </a:r>
            <a:r>
              <a:rPr lang="en-US" sz="1600" dirty="0">
                <a:latin typeface="Aptos" panose="020B0004020202020204" pitchFamily="34" charset="0"/>
                <a:cs typeface="Calibri Light" panose="020F0302020204030204" pitchFamily="34" charset="0"/>
              </a:rPr>
              <a:t> — classic distractor</a:t>
            </a:r>
          </a:p>
        </p:txBody>
      </p:sp>
    </p:spTree>
    <p:extLst>
      <p:ext uri="{BB962C8B-B14F-4D97-AF65-F5344CB8AC3E}">
        <p14:creationId xmlns:p14="http://schemas.microsoft.com/office/powerpoint/2010/main" val="1430733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The Sertoli Cell — Most Testable Cell of the Day</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Forms the </a:t>
            </a:r>
            <a:r>
              <a:rPr lang="en-US" sz="1600" b="1" dirty="0">
                <a:cs typeface="Calibri Light" panose="020F0302020204030204" pitchFamily="34" charset="0"/>
              </a:rPr>
              <a:t>blood-testis barrier</a:t>
            </a:r>
            <a:r>
              <a:rPr lang="en-US" sz="1600" dirty="0">
                <a:cs typeface="Calibri Light" panose="020F0302020204030204" pitchFamily="34" charset="0"/>
              </a:rPr>
              <a:t> → immune privilege for antigenically novel post-meiotic cells</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Explains </a:t>
            </a:r>
            <a:r>
              <a:rPr lang="en-US" sz="1600" b="1" dirty="0">
                <a:cs typeface="Calibri Light" panose="020F0302020204030204" pitchFamily="34" charset="0"/>
              </a:rPr>
              <a:t>antisperm antibodies</a:t>
            </a:r>
            <a:r>
              <a:rPr lang="en-US" sz="1600" dirty="0">
                <a:cs typeface="Calibri Light" panose="020F0302020204030204" pitchFamily="34" charset="0"/>
              </a:rPr>
              <a:t> after vasectomy or trauma, and the severity of mumps orchitis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Responds to </a:t>
            </a:r>
            <a:r>
              <a:rPr lang="en-US" sz="1600" b="1" dirty="0">
                <a:cs typeface="Calibri Light" panose="020F0302020204030204" pitchFamily="34" charset="0"/>
              </a:rPr>
              <a:t>FSH</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Secretes </a:t>
            </a:r>
            <a:r>
              <a:rPr lang="en-US" sz="1600" b="1" dirty="0">
                <a:cs typeface="Calibri Light" panose="020F0302020204030204" pitchFamily="34" charset="0"/>
              </a:rPr>
              <a:t>androgen-binding protein</a:t>
            </a:r>
            <a:r>
              <a:rPr lang="en-US" sz="1600" dirty="0">
                <a:cs typeface="Calibri Light" panose="020F0302020204030204" pitchFamily="34" charset="0"/>
              </a:rPr>
              <a:t>, </a:t>
            </a:r>
            <a:r>
              <a:rPr lang="en-US" sz="1600" b="1" dirty="0">
                <a:cs typeface="Calibri Light" panose="020F0302020204030204" pitchFamily="34" charset="0"/>
              </a:rPr>
              <a:t>inhibin B</a:t>
            </a:r>
            <a:r>
              <a:rPr lang="en-US" sz="1600" dirty="0">
                <a:cs typeface="Calibri Light" panose="020F0302020204030204" pitchFamily="34" charset="0"/>
              </a:rPr>
              <a:t> (FSH feedback + spermatogenesis marker), </a:t>
            </a:r>
            <a:r>
              <a:rPr lang="en-US" sz="1600" b="1" dirty="0">
                <a:cs typeface="Calibri Light" panose="020F0302020204030204" pitchFamily="34" charset="0"/>
              </a:rPr>
              <a:t>AMH</a:t>
            </a:r>
            <a:r>
              <a:rPr lang="en-US" sz="1600" dirty="0">
                <a:cs typeface="Calibri Light" panose="020F0302020204030204" pitchFamily="34" charset="0"/>
              </a:rPr>
              <a:t> (fetal)</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Number fixed after puberty → sets the ceiling on sperm output</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Contrast:</a:t>
            </a:r>
            <a:r>
              <a:rPr lang="en-US" sz="1600" dirty="0">
                <a:cs typeface="Calibri Light" panose="020F0302020204030204" pitchFamily="34" charset="0"/>
              </a:rPr>
              <a:t> Leydig = LH → testosterone, androstenedione, </a:t>
            </a:r>
            <a:r>
              <a:rPr lang="en-US" sz="1600" b="1" dirty="0">
                <a:cs typeface="Calibri Light" panose="020F0302020204030204" pitchFamily="34" charset="0"/>
              </a:rPr>
              <a:t>DHEA</a:t>
            </a:r>
            <a:r>
              <a:rPr lang="en-US" sz="1600" dirty="0">
                <a:cs typeface="Calibri Light" panose="020F0302020204030204" pitchFamily="34" charset="0"/>
              </a:rPr>
              <a:t> (DHT is made peripherally, not by Leydig cells)</a:t>
            </a:r>
          </a:p>
        </p:txBody>
      </p:sp>
    </p:spTree>
    <p:extLst>
      <p:ext uri="{BB962C8B-B14F-4D97-AF65-F5344CB8AC3E}">
        <p14:creationId xmlns:p14="http://schemas.microsoft.com/office/powerpoint/2010/main" val="1430733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Thermoregulation: Why the Testis Lives Outside</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Operates </a:t>
            </a:r>
            <a:r>
              <a:rPr lang="en-US" sz="1600" b="1" dirty="0">
                <a:cs typeface="Calibri Light" panose="020F0302020204030204" pitchFamily="34" charset="0"/>
              </a:rPr>
              <a:t>2–4 °C below core</a:t>
            </a:r>
            <a:r>
              <a:rPr lang="en-US" sz="1600" dirty="0">
                <a:cs typeface="Calibri Light" panose="020F0302020204030204" pitchFamily="34" charset="0"/>
              </a:rPr>
              <a:t> temperature</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Pampiniform plexus countercurrent exchange</a:t>
            </a:r>
            <a:r>
              <a:rPr lang="en-US" sz="1600" dirty="0">
                <a:cs typeface="Calibri Light" panose="020F0302020204030204" pitchFamily="34" charset="0"/>
              </a:rPr>
              <a:t> cools arterial inflow</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Cremaster and dartos adjust position and surface area</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One mechanism, four diseases: </a:t>
            </a:r>
            <a:r>
              <a:rPr lang="en-US" sz="1600" b="1" dirty="0">
                <a:cs typeface="Calibri Light" panose="020F0302020204030204" pitchFamily="34" charset="0"/>
              </a:rPr>
              <a:t>cryptorchidism, varicocele, obesity, occupational heat</a:t>
            </a:r>
            <a:r>
              <a:rPr lang="en-US" sz="1600" dirty="0">
                <a:cs typeface="Calibri Light" panose="020F0302020204030204" pitchFamily="34" charset="0"/>
              </a:rPr>
              <a:t> all impair spermatogenesis through the same thermal pathway</a:t>
            </a:r>
          </a:p>
        </p:txBody>
      </p:sp>
    </p:spTree>
    <p:extLst>
      <p:ext uri="{BB962C8B-B14F-4D97-AF65-F5344CB8AC3E}">
        <p14:creationId xmlns:p14="http://schemas.microsoft.com/office/powerpoint/2010/main" val="1430733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Poll 1: The Febrile Illness</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A 29-year-old man had a high fever </a:t>
            </a:r>
            <a:r>
              <a:rPr lang="en-US" sz="1600" b="1" dirty="0">
                <a:cs typeface="Calibri Light" panose="020F0302020204030204" pitchFamily="34" charset="0"/>
              </a:rPr>
              <a:t>6 weeks ago</a:t>
            </a:r>
            <a:r>
              <a:rPr lang="en-US" sz="1600" dirty="0">
                <a:cs typeface="Calibri Light" panose="020F0302020204030204" pitchFamily="34" charset="0"/>
              </a:rPr>
              <a:t>. His semen analysis today is abnormal.</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Which germ-cell stage was most likely affected at the time of the fever?</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A. Spermatozoa in the epididymis</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B. Cells in late spermiogenesis</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C. Meiotic spermatocytes / early stages</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D. Only mature stored sperm</a:t>
            </a:r>
          </a:p>
        </p:txBody>
      </p:sp>
    </p:spTree>
    <p:extLst>
      <p:ext uri="{BB962C8B-B14F-4D97-AF65-F5344CB8AC3E}">
        <p14:creationId xmlns:p14="http://schemas.microsoft.com/office/powerpoint/2010/main" val="1430733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668E454-3A2F-F355-AA23-7196041463A2}"/>
              </a:ext>
            </a:extLst>
          </p:cNvPr>
          <p:cNvSpPr txBox="1"/>
          <p:nvPr/>
        </p:nvSpPr>
        <p:spPr>
          <a:xfrm>
            <a:off x="0" y="2532888"/>
            <a:ext cx="12179302" cy="896112"/>
          </a:xfrm>
          <a:prstGeom prst="rect">
            <a:avLst/>
          </a:prstGeom>
          <a:noFill/>
        </p:spPr>
        <p:txBody>
          <a:bodyPr wrap="square" bIns="91440" rtlCol="0" anchor="ctr" anchorCtr="0">
            <a:noAutofit/>
          </a:bodyPr>
          <a:lstStyle/>
          <a:p>
            <a:pPr algn="ctr"/>
            <a:r>
              <a:rPr lang="en-US" sz="3200" dirty="0">
                <a:latin typeface="Georgia" panose="02040502050405020303" pitchFamily="18" charset="0"/>
              </a:rPr>
              <a:t>Part 3: Hormonal Regulation</a:t>
            </a:r>
          </a:p>
        </p:txBody>
      </p:sp>
    </p:spTree>
    <p:extLst>
      <p:ext uri="{BB962C8B-B14F-4D97-AF65-F5344CB8AC3E}">
        <p14:creationId xmlns:p14="http://schemas.microsoft.com/office/powerpoint/2010/main" val="2420114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The Hypothalamic–Pituitary–Gonadal Axis</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GnRH is pulsatile — and pulsatility is obligatory</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Continuous GnRH exposure </a:t>
            </a:r>
            <a:r>
              <a:rPr lang="en-US" sz="1600" b="1" dirty="0">
                <a:cs typeface="Calibri Light" panose="020F0302020204030204" pitchFamily="34" charset="0"/>
              </a:rPr>
              <a:t>downregulates the receptor and shuts the axis off</a:t>
            </a:r>
            <a:r>
              <a:rPr lang="en-US" sz="1600" dirty="0">
                <a:cs typeface="Calibri Light" panose="020F0302020204030204" pitchFamily="34" charset="0"/>
              </a:rPr>
              <a:t> (hold that thought until leuprolide)</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LH → Leydig → testosterone</a:t>
            </a:r>
            <a:r>
              <a:rPr lang="en-US" sz="1600" dirty="0">
                <a:cs typeface="Calibri Light" panose="020F0302020204030204" pitchFamily="34" charset="0"/>
              </a:rPr>
              <a:t> (rate-limiting step: StAR cholesterol transport)</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FSH → Sertoli →</a:t>
            </a:r>
            <a:r>
              <a:rPr lang="en-US" sz="1600" dirty="0">
                <a:cs typeface="Calibri Light" panose="020F0302020204030204" pitchFamily="34" charset="0"/>
              </a:rPr>
              <a:t> androgen-binding protein + inhibin B</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Feedback: testosterone and estradiol centrally; </a:t>
            </a:r>
            <a:r>
              <a:rPr lang="en-US" sz="1600" b="1" dirty="0">
                <a:cs typeface="Calibri Light" panose="020F0302020204030204" pitchFamily="34" charset="0"/>
              </a:rPr>
              <a:t>inhibin B selectively suppresses FSH</a:t>
            </a:r>
          </a:p>
        </p:txBody>
      </p:sp>
    </p:spTree>
    <p:extLst>
      <p:ext uri="{BB962C8B-B14F-4D97-AF65-F5344CB8AC3E}">
        <p14:creationId xmlns:p14="http://schemas.microsoft.com/office/powerpoint/2010/main" val="14307337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Intratesticular Testosterone — The Concept Behind Case B</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Intratesticular testosterone ≈ </a:t>
            </a:r>
            <a:r>
              <a:rPr lang="en-US" sz="1600" b="1" dirty="0">
                <a:cs typeface="Calibri Light" panose="020F0302020204030204" pitchFamily="34" charset="0"/>
              </a:rPr>
              <a:t>50–100× serum</a:t>
            </a:r>
            <a:r>
              <a:rPr lang="en-US" sz="1600" dirty="0">
                <a:cs typeface="Calibri Light" panose="020F0302020204030204" pitchFamily="34" charset="0"/>
              </a:rPr>
              <a:t> concentration — spermatogenesis requires the gradient</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Exogenous testosterone: serum T up → </a:t>
            </a:r>
            <a:r>
              <a:rPr lang="en-US" sz="1600" b="1" dirty="0">
                <a:cs typeface="Calibri Light" panose="020F0302020204030204" pitchFamily="34" charset="0"/>
              </a:rPr>
              <a:t>LH suppressed</a:t>
            </a:r>
            <a:r>
              <a:rPr lang="en-US" sz="1600" dirty="0">
                <a:cs typeface="Calibri Light" panose="020F0302020204030204" pitchFamily="34" charset="0"/>
              </a:rPr>
              <a:t> → intratesticular T collapses → </a:t>
            </a:r>
            <a:r>
              <a:rPr lang="en-US" sz="1600" b="1" dirty="0">
                <a:cs typeface="Calibri Light" panose="020F0302020204030204" pitchFamily="34" charset="0"/>
              </a:rPr>
              <a:t>spermatogenesis stops</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Testosterone is a male contraceptive</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Never start testosterone in a man who wants near-term fertility</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Every azoospermic young man gets asked directly about testosterone, “men’s clinic” injections, and anabolic steroids</a:t>
            </a:r>
          </a:p>
        </p:txBody>
      </p:sp>
    </p:spTree>
    <p:extLst>
      <p:ext uri="{BB962C8B-B14F-4D97-AF65-F5344CB8AC3E}">
        <p14:creationId xmlns:p14="http://schemas.microsoft.com/office/powerpoint/2010/main" val="14307337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Testosterone Transport: Why “Normal Total T” Can Mislead</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≈44–65% bound to </a:t>
            </a:r>
            <a:r>
              <a:rPr lang="en-US" sz="1600" b="1" dirty="0">
                <a:cs typeface="Calibri Light" panose="020F0302020204030204" pitchFamily="34" charset="0"/>
              </a:rPr>
              <a:t>SHBG</a:t>
            </a:r>
            <a:r>
              <a:rPr lang="en-US" sz="1600" dirty="0">
                <a:cs typeface="Calibri Light" panose="020F0302020204030204" pitchFamily="34" charset="0"/>
              </a:rPr>
              <a:t> (tight, unavailable) · ≈33–50% to albumin (loose) · </a:t>
            </a:r>
            <a:r>
              <a:rPr lang="en-US" sz="1600" b="1" dirty="0">
                <a:cs typeface="Calibri Light" panose="020F0302020204030204" pitchFamily="34" charset="0"/>
              </a:rPr>
              <a:t>2–3% free</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Bioavailable = free + albumin-bound</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SHBG </a:t>
            </a:r>
            <a:r>
              <a:rPr lang="en-US" sz="1600" b="1" dirty="0">
                <a:cs typeface="Calibri Light" panose="020F0302020204030204" pitchFamily="34" charset="0"/>
              </a:rPr>
              <a:t>falls</a:t>
            </a:r>
            <a:r>
              <a:rPr lang="en-US" sz="1600" dirty="0">
                <a:cs typeface="Calibri Light" panose="020F0302020204030204" pitchFamily="34" charset="0"/>
              </a:rPr>
              <a:t>: obesity, insulin resistance, T2DM, hypothyroidism</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SHBG </a:t>
            </a:r>
            <a:r>
              <a:rPr lang="en-US" sz="1600" b="1" dirty="0">
                <a:cs typeface="Calibri Light" panose="020F0302020204030204" pitchFamily="34" charset="0"/>
              </a:rPr>
              <a:t>rises</a:t>
            </a:r>
            <a:r>
              <a:rPr lang="en-US" sz="1600" dirty="0">
                <a:cs typeface="Calibri Light" panose="020F0302020204030204" pitchFamily="34" charset="0"/>
              </a:rPr>
              <a:t>: aging, hyperthyroidism, cirrhosis, estrogens, anticonvulsants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The obese 45-year-old with a “normal” total T can still be biochemically hypogonadal </a:t>
            </a:r>
          </a:p>
          <a:p>
            <a:pPr algn="l">
              <a:spcAft>
                <a:spcPts val="400"/>
              </a:spcAft>
            </a:pPr>
            <a:r>
              <a:rPr lang="en-US" sz="1600" dirty="0">
                <a:cs typeface="Calibri Light" panose="020F0302020204030204" pitchFamily="34" charset="0"/>
              </a:rPr>
              <a:t>	→ order </a:t>
            </a:r>
            <a:r>
              <a:rPr lang="en-US" sz="1600" b="1" dirty="0">
                <a:cs typeface="Calibri Light" panose="020F0302020204030204" pitchFamily="34" charset="0"/>
              </a:rPr>
              <a:t>free or bioavailable T</a:t>
            </a:r>
            <a:r>
              <a:rPr lang="en-US" sz="1600" dirty="0">
                <a:cs typeface="Calibri Light" panose="020F0302020204030204" pitchFamily="34" charset="0"/>
              </a:rPr>
              <a:t> only when SHBG is distorted</a:t>
            </a:r>
          </a:p>
        </p:txBody>
      </p:sp>
    </p:spTree>
    <p:extLst>
      <p:ext uri="{BB962C8B-B14F-4D97-AF65-F5344CB8AC3E}">
        <p14:creationId xmlns:p14="http://schemas.microsoft.com/office/powerpoint/2010/main" val="1430733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One Hormone, Three Signals</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Testosterone → (</a:t>
            </a:r>
            <a:r>
              <a:rPr lang="en-US" sz="1600" b="1" dirty="0">
                <a:cs typeface="Calibri Light" panose="020F0302020204030204" pitchFamily="34" charset="0"/>
              </a:rPr>
              <a:t>5-alpha-reductase</a:t>
            </a:r>
            <a:r>
              <a:rPr lang="en-US" sz="1600" dirty="0">
                <a:cs typeface="Calibri Light" panose="020F0302020204030204" pitchFamily="34" charset="0"/>
              </a:rPr>
              <a:t>) → </a:t>
            </a:r>
            <a:r>
              <a:rPr lang="en-US" sz="1600" b="1" dirty="0">
                <a:cs typeface="Calibri Light" panose="020F0302020204030204" pitchFamily="34" charset="0"/>
              </a:rPr>
              <a:t>DHT</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Type 2: prostate, seminal vesicles, genital skin </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Type 1: skin, liver</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DHT binds the androgen receptor with </a:t>
            </a:r>
            <a:r>
              <a:rPr lang="en-US" sz="1600" b="1" dirty="0">
                <a:cs typeface="Calibri Light" panose="020F0302020204030204" pitchFamily="34" charset="0"/>
              </a:rPr>
              <a:t>higher affinity</a:t>
            </a:r>
            <a:r>
              <a:rPr lang="en-US" sz="1600" dirty="0">
                <a:cs typeface="Calibri Light" panose="020F0302020204030204" pitchFamily="34" charset="0"/>
              </a:rPr>
              <a:t>, dissociates slowly, </a:t>
            </a:r>
            <a:r>
              <a:rPr lang="en-US" sz="1600" b="1" dirty="0">
                <a:cs typeface="Calibri Light" panose="020F0302020204030204" pitchFamily="34" charset="0"/>
              </a:rPr>
              <a:t>cannot be aromatized</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Testosterone → (</a:t>
            </a:r>
            <a:r>
              <a:rPr lang="en-US" sz="1600" b="1" dirty="0">
                <a:cs typeface="Calibri Light" panose="020F0302020204030204" pitchFamily="34" charset="0"/>
              </a:rPr>
              <a:t>aromatase</a:t>
            </a:r>
            <a:r>
              <a:rPr lang="en-US" sz="1600" dirty="0">
                <a:cs typeface="Calibri Light" panose="020F0302020204030204" pitchFamily="34" charset="0"/>
              </a:rPr>
              <a:t>, mostly adipose) → </a:t>
            </a:r>
            <a:r>
              <a:rPr lang="en-US" sz="1600" b="1" dirty="0">
                <a:cs typeface="Calibri Light" panose="020F0302020204030204" pitchFamily="34" charset="0"/>
              </a:rPr>
              <a:t>estradiol</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Estradiol in men drives </a:t>
            </a:r>
            <a:r>
              <a:rPr lang="en-US" sz="1600" b="1" dirty="0">
                <a:cs typeface="Calibri Light" panose="020F0302020204030204" pitchFamily="34" charset="0"/>
              </a:rPr>
              <a:t>bone density, epiphyseal closure, libido, and central feedback</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Obesity → more aromatization → low-T, high-E2, low-LH pattern</a:t>
            </a:r>
          </a:p>
        </p:txBody>
      </p:sp>
    </p:spTree>
    <p:extLst>
      <p:ext uri="{BB962C8B-B14F-4D97-AF65-F5344CB8AC3E}">
        <p14:creationId xmlns:p14="http://schemas.microsoft.com/office/powerpoint/2010/main" val="1430733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77359-BA5E-60C8-8553-C0FCFB6CC7B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1A5516A-40E0-F4F0-231C-336597DD20B7}"/>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Testosterone vs DHT: Division of Labor</a:t>
            </a:r>
          </a:p>
        </p:txBody>
      </p:sp>
      <p:sp>
        <p:nvSpPr>
          <p:cNvPr id="7" name="Content Placeholder 2">
            <a:extLst>
              <a:ext uri="{FF2B5EF4-FFF2-40B4-BE49-F238E27FC236}">
                <a16:creationId xmlns:a16="http://schemas.microsoft.com/office/drawing/2014/main" id="{29499C47-E204-4621-8A69-334EBFD433BC}"/>
              </a:ext>
            </a:extLst>
          </p:cNvPr>
          <p:cNvSpPr txBox="1">
            <a:spLocks/>
          </p:cNvSpPr>
          <p:nvPr/>
        </p:nvSpPr>
        <p:spPr>
          <a:xfrm>
            <a:off x="640080" y="3657600"/>
            <a:ext cx="10881360" cy="274320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sz="1600" b="1" dirty="0"/>
              <a:t>5-alpha-reductase deficiency</a:t>
            </a:r>
            <a:r>
              <a:rPr sz="1600" dirty="0"/>
              <a:t> proves the split: normal internal ducts, </a:t>
            </a:r>
            <a:r>
              <a:rPr sz="1600" dirty="0" err="1"/>
              <a:t>undervirilized</a:t>
            </a:r>
            <a:r>
              <a:rPr sz="1600" dirty="0"/>
              <a:t> at birth, virilize at puberty — and </a:t>
            </a:r>
            <a:r>
              <a:rPr sz="1600" b="1" dirty="0"/>
              <a:t>no BPH, no balding</a:t>
            </a:r>
            <a:r>
              <a:rPr sz="1600" dirty="0"/>
              <a:t>. Nature ran the finasteride trial first.</a:t>
            </a:r>
            <a:endParaRPr lang="en-US" sz="1600" dirty="0">
              <a:solidFill>
                <a:schemeClr val="tx1">
                  <a:lumMod val="50000"/>
                  <a:lumOff val="50000"/>
                </a:schemeClr>
              </a:solidFill>
              <a:latin typeface="Calibri Light" panose="020F0302020204030204" pitchFamily="34" charset="0"/>
              <a:cs typeface="Calibri Light" panose="020F0302020204030204" pitchFamily="34" charset="0"/>
            </a:endParaRPr>
          </a:p>
        </p:txBody>
      </p:sp>
      <p:graphicFrame>
        <p:nvGraphicFramePr>
          <p:cNvPr id="8" name="Table 7" descr="Two-column table dividing androgen actions. Testosterone mediates Wolffian duct structures, spermatogenesis, muscle, bone, erythropoiesis, and libido. DHT mediates external genitalia, prostate growth including BPH, male-pattern balding, and sebaceous activity."/>
          <p:cNvGraphicFramePr>
            <a:graphicFrameLocks noGrp="1"/>
          </p:cNvGraphicFramePr>
          <p:nvPr/>
        </p:nvGraphicFramePr>
        <p:xfrm>
          <a:off x="1066647" y="1508760"/>
          <a:ext cx="10058400" cy="1920240"/>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384048">
                <a:tc>
                  <a:txBody>
                    <a:bodyPr/>
                    <a:lstStyle/>
                    <a:p>
                      <a:r>
                        <a:rPr sz="1400" b="1" dirty="0">
                          <a:solidFill>
                            <a:srgbClr val="FFFFFF"/>
                          </a:solidFill>
                          <a:latin typeface="Arial"/>
                        </a:rPr>
                        <a:t>Testosterone</a:t>
                      </a:r>
                    </a:p>
                  </a:txBody>
                  <a:tcPr marL="73152" marR="73152" marT="27432" marB="27432">
                    <a:solidFill>
                      <a:srgbClr val="C8102E"/>
                    </a:solidFill>
                  </a:tcPr>
                </a:tc>
                <a:tc>
                  <a:txBody>
                    <a:bodyPr/>
                    <a:lstStyle/>
                    <a:p>
                      <a:r>
                        <a:rPr sz="1400" b="1">
                          <a:solidFill>
                            <a:srgbClr val="FFFFFF"/>
                          </a:solidFill>
                          <a:latin typeface="Arial"/>
                        </a:rPr>
                        <a:t>DHT</a:t>
                      </a:r>
                    </a:p>
                  </a:txBody>
                  <a:tcPr marL="73152" marR="73152" marT="27432" marB="27432">
                    <a:solidFill>
                      <a:srgbClr val="C8102E"/>
                    </a:solidFill>
                  </a:tcPr>
                </a:tc>
                <a:extLst>
                  <a:ext uri="{0D108BD9-81ED-4DB2-BD59-A6C34878D82A}">
                    <a16:rowId xmlns:a16="http://schemas.microsoft.com/office/drawing/2014/main" val="10000"/>
                  </a:ext>
                </a:extLst>
              </a:tr>
              <a:tr h="384048">
                <a:tc>
                  <a:txBody>
                    <a:bodyPr/>
                    <a:lstStyle/>
                    <a:p>
                      <a:r>
                        <a:rPr sz="1300" b="0">
                          <a:solidFill>
                            <a:srgbClr val="3F3F3F"/>
                          </a:solidFill>
                          <a:latin typeface="Arial"/>
                        </a:rPr>
                        <a:t>Wolffian ducts: epididymis, vas, seminal vesicles</a:t>
                      </a:r>
                    </a:p>
                  </a:txBody>
                  <a:tcPr marL="73152" marR="73152" marT="27432" marB="27432"/>
                </a:tc>
                <a:tc>
                  <a:txBody>
                    <a:bodyPr/>
                    <a:lstStyle/>
                    <a:p>
                      <a:r>
                        <a:rPr sz="1300" b="0">
                          <a:solidFill>
                            <a:srgbClr val="3F3F3F"/>
                          </a:solidFill>
                          <a:latin typeface="Arial"/>
                        </a:rPr>
                        <a:t>External genitalia: penis, scrotum, urethra</a:t>
                      </a:r>
                    </a:p>
                  </a:txBody>
                  <a:tcPr marL="73152" marR="73152" marT="27432" marB="27432"/>
                </a:tc>
                <a:extLst>
                  <a:ext uri="{0D108BD9-81ED-4DB2-BD59-A6C34878D82A}">
                    <a16:rowId xmlns:a16="http://schemas.microsoft.com/office/drawing/2014/main" val="10001"/>
                  </a:ext>
                </a:extLst>
              </a:tr>
              <a:tr h="384048">
                <a:tc>
                  <a:txBody>
                    <a:bodyPr/>
                    <a:lstStyle/>
                    <a:p>
                      <a:r>
                        <a:rPr sz="1300" b="0">
                          <a:solidFill>
                            <a:srgbClr val="3F3F3F"/>
                          </a:solidFill>
                          <a:latin typeface="Arial"/>
                        </a:rPr>
                        <a:t>Spermatogenesis</a:t>
                      </a:r>
                    </a:p>
                  </a:txBody>
                  <a:tcPr marL="73152" marR="73152" marT="27432" marB="27432"/>
                </a:tc>
                <a:tc>
                  <a:txBody>
                    <a:bodyPr/>
                    <a:lstStyle/>
                    <a:p>
                      <a:r>
                        <a:rPr sz="1300" b="1">
                          <a:solidFill>
                            <a:srgbClr val="3F3F3F"/>
                          </a:solidFill>
                          <a:latin typeface="Arial"/>
                        </a:rPr>
                        <a:t>Prostate growth — and BPH</a:t>
                      </a:r>
                    </a:p>
                  </a:txBody>
                  <a:tcPr marL="73152" marR="73152" marT="27432" marB="27432"/>
                </a:tc>
                <a:extLst>
                  <a:ext uri="{0D108BD9-81ED-4DB2-BD59-A6C34878D82A}">
                    <a16:rowId xmlns:a16="http://schemas.microsoft.com/office/drawing/2014/main" val="10002"/>
                  </a:ext>
                </a:extLst>
              </a:tr>
              <a:tr h="384048">
                <a:tc>
                  <a:txBody>
                    <a:bodyPr/>
                    <a:lstStyle/>
                    <a:p>
                      <a:r>
                        <a:rPr sz="1300" b="0">
                          <a:solidFill>
                            <a:srgbClr val="3F3F3F"/>
                          </a:solidFill>
                          <a:latin typeface="Arial"/>
                        </a:rPr>
                        <a:t>Muscle mass, bone, erythropoiesis</a:t>
                      </a:r>
                    </a:p>
                  </a:txBody>
                  <a:tcPr marL="73152" marR="73152" marT="27432" marB="27432"/>
                </a:tc>
                <a:tc>
                  <a:txBody>
                    <a:bodyPr/>
                    <a:lstStyle/>
                    <a:p>
                      <a:r>
                        <a:rPr sz="1300" b="1">
                          <a:solidFill>
                            <a:srgbClr val="3F3F3F"/>
                          </a:solidFill>
                          <a:latin typeface="Arial"/>
                        </a:rPr>
                        <a:t>Male-pattern balding</a:t>
                      </a:r>
                      <a:r>
                        <a:rPr sz="1300" b="0">
                          <a:solidFill>
                            <a:srgbClr val="3F3F3F"/>
                          </a:solidFill>
                          <a:latin typeface="Arial"/>
                        </a:rPr>
                        <a:t>, sebaceous activity</a:t>
                      </a:r>
                    </a:p>
                  </a:txBody>
                  <a:tcPr marL="73152" marR="73152" marT="27432" marB="27432"/>
                </a:tc>
                <a:extLst>
                  <a:ext uri="{0D108BD9-81ED-4DB2-BD59-A6C34878D82A}">
                    <a16:rowId xmlns:a16="http://schemas.microsoft.com/office/drawing/2014/main" val="10003"/>
                  </a:ext>
                </a:extLst>
              </a:tr>
              <a:tr h="384048">
                <a:tc>
                  <a:txBody>
                    <a:bodyPr/>
                    <a:lstStyle/>
                    <a:p>
                      <a:r>
                        <a:rPr sz="1300" b="0">
                          <a:solidFill>
                            <a:srgbClr val="3F3F3F"/>
                          </a:solidFill>
                          <a:latin typeface="Arial"/>
                        </a:rPr>
                        <a:t>Libido, voice deepening, growth spurt</a:t>
                      </a:r>
                    </a:p>
                  </a:txBody>
                  <a:tcPr marL="73152" marR="73152" marT="27432" marB="27432"/>
                </a:tc>
                <a:tc>
                  <a:txBody>
                    <a:bodyPr/>
                    <a:lstStyle/>
                    <a:p>
                      <a:endParaRPr/>
                    </a:p>
                  </a:txBody>
                  <a:tcPr marL="73152" marR="73152" marT="27432" marB="27432"/>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388891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614362"/>
            <a:ext cx="7614920" cy="828357"/>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The Aging Arc</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latin typeface="Aptos" panose="020B0004020202020204" pitchFamily="34" charset="0"/>
                <a:cs typeface="Calibri Light" panose="020F0302020204030204" pitchFamily="34" charset="0"/>
              </a:rPr>
              <a:t>After age 30–40, total testosterone falls ≈ </a:t>
            </a:r>
            <a:r>
              <a:rPr lang="en-US" sz="1600" b="1" dirty="0">
                <a:latin typeface="Aptos" panose="020B0004020202020204" pitchFamily="34" charset="0"/>
                <a:cs typeface="Calibri Light" panose="020F0302020204030204" pitchFamily="34" charset="0"/>
              </a:rPr>
              <a:t>1% per year</a:t>
            </a:r>
          </a:p>
          <a:p>
            <a:pPr marL="342891" indent="-342891" algn="l">
              <a:spcAft>
                <a:spcPts val="400"/>
              </a:spcAft>
              <a:buFont typeface="Arial" panose="020B0604020202020204" pitchFamily="34" charset="0"/>
              <a:buChar char="•"/>
            </a:pPr>
            <a:r>
              <a:rPr lang="en-US" sz="1600" b="1" dirty="0">
                <a:latin typeface="Aptos" panose="020B0004020202020204" pitchFamily="34" charset="0"/>
                <a:cs typeface="Calibri Light" panose="020F0302020204030204" pitchFamily="34" charset="0"/>
              </a:rPr>
              <a:t>SHBG rises</a:t>
            </a:r>
            <a:r>
              <a:rPr lang="en-US" sz="1600" dirty="0">
                <a:latin typeface="Aptos" panose="020B0004020202020204" pitchFamily="34" charset="0"/>
                <a:cs typeface="Calibri Light" panose="020F0302020204030204" pitchFamily="34" charset="0"/>
              </a:rPr>
              <a:t> with age → </a:t>
            </a:r>
            <a:r>
              <a:rPr lang="en-US" sz="1600" b="1" dirty="0">
                <a:latin typeface="Aptos" panose="020B0004020202020204" pitchFamily="34" charset="0"/>
                <a:cs typeface="Calibri Light" panose="020F0302020204030204" pitchFamily="34" charset="0"/>
              </a:rPr>
              <a:t>free T falls faster than total T</a:t>
            </a:r>
          </a:p>
          <a:p>
            <a:pPr marL="342891" indent="-342891" algn="l">
              <a:spcAft>
                <a:spcPts val="400"/>
              </a:spcAft>
              <a:buFont typeface="Arial" panose="020B0604020202020204" pitchFamily="34" charset="0"/>
              <a:buChar char="•"/>
            </a:pPr>
            <a:r>
              <a:rPr lang="en-US" sz="1600" dirty="0">
                <a:latin typeface="Aptos" panose="020B0004020202020204" pitchFamily="34" charset="0"/>
                <a:cs typeface="Calibri Light" panose="020F0302020204030204" pitchFamily="34" charset="0"/>
              </a:rPr>
              <a:t>Gradual age-related decline is </a:t>
            </a:r>
            <a:r>
              <a:rPr lang="en-US" sz="1600" b="1" dirty="0">
                <a:latin typeface="Aptos" panose="020B0004020202020204" pitchFamily="34" charset="0"/>
                <a:cs typeface="Calibri Light" panose="020F0302020204030204" pitchFamily="34" charset="0"/>
              </a:rPr>
              <a:t>not</a:t>
            </a:r>
            <a:r>
              <a:rPr lang="en-US" sz="1600" dirty="0">
                <a:latin typeface="Aptos" panose="020B0004020202020204" pitchFamily="34" charset="0"/>
                <a:cs typeface="Calibri Light" panose="020F0302020204030204" pitchFamily="34" charset="0"/>
              </a:rPr>
              <a:t> the same entity as classical hypogonadism</a:t>
            </a:r>
          </a:p>
          <a:p>
            <a:pPr marL="342891" indent="-342891" algn="l">
              <a:spcAft>
                <a:spcPts val="400"/>
              </a:spcAft>
              <a:buFont typeface="Arial" panose="020B0604020202020204" pitchFamily="34" charset="0"/>
              <a:buChar char="•"/>
            </a:pPr>
            <a:r>
              <a:rPr lang="en-US" sz="1600" dirty="0">
                <a:latin typeface="Aptos" panose="020B0004020202020204" pitchFamily="34" charset="0"/>
                <a:cs typeface="Calibri Light" panose="020F0302020204030204" pitchFamily="34" charset="0"/>
              </a:rPr>
              <a:t>The distinction drives appropriate prescribing</a:t>
            </a:r>
          </a:p>
        </p:txBody>
      </p:sp>
    </p:spTree>
    <p:extLst>
      <p:ext uri="{BB962C8B-B14F-4D97-AF65-F5344CB8AC3E}">
        <p14:creationId xmlns:p14="http://schemas.microsoft.com/office/powerpoint/2010/main" val="14307337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77359-BA5E-60C8-8553-C0FCFB6CC7B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1A5516A-40E0-F4F0-231C-336597DD20B7}"/>
              </a:ext>
            </a:extLst>
          </p:cNvPr>
          <p:cNvSpPr txBox="1">
            <a:spLocks/>
          </p:cNvSpPr>
          <p:nvPr/>
        </p:nvSpPr>
        <p:spPr>
          <a:xfrm>
            <a:off x="640080" y="314992"/>
            <a:ext cx="8513445"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Primary vs Secondary Hypogonadism: The LH Fork</a:t>
            </a:r>
          </a:p>
        </p:txBody>
      </p:sp>
      <p:sp>
        <p:nvSpPr>
          <p:cNvPr id="7" name="Content Placeholder 2">
            <a:extLst>
              <a:ext uri="{FF2B5EF4-FFF2-40B4-BE49-F238E27FC236}">
                <a16:creationId xmlns:a16="http://schemas.microsoft.com/office/drawing/2014/main" id="{29499C47-E204-4621-8A69-334EBFD433BC}"/>
              </a:ext>
            </a:extLst>
          </p:cNvPr>
          <p:cNvSpPr txBox="1">
            <a:spLocks/>
          </p:cNvSpPr>
          <p:nvPr/>
        </p:nvSpPr>
        <p:spPr>
          <a:xfrm>
            <a:off x="640080" y="3871913"/>
            <a:ext cx="10881360" cy="274320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sz="1600" b="1" dirty="0"/>
              <a:t>The LH is the entire diagnostic fork. Get it before you write for testosterone.</a:t>
            </a:r>
            <a:endParaRPr lang="en-US" sz="1600" dirty="0">
              <a:solidFill>
                <a:schemeClr val="tx1">
                  <a:lumMod val="50000"/>
                  <a:lumOff val="50000"/>
                </a:schemeClr>
              </a:solidFill>
              <a:latin typeface="Calibri Light" panose="020F0302020204030204" pitchFamily="34" charset="0"/>
              <a:cs typeface="Calibri Light" panose="020F0302020204030204" pitchFamily="34" charset="0"/>
            </a:endParaRPr>
          </a:p>
        </p:txBody>
      </p:sp>
      <p:graphicFrame>
        <p:nvGraphicFramePr>
          <p:cNvPr id="8" name="Table 7" descr="Table contrasting primary and secondary hypogonadism. Both have low testosterone. LH and FSH are high in primary and low or inappropriately normal in secondary. Primary causes include Klinefelter syndrome, mumps orchitis, chemotherapy, torsion, and cryptorchidism. Secondary causes include Kallmann syndrome, pituitary adenoma, hyperprolactinemia, opioids, glucocorticoids, exogenous androgens, obesity, and hemochromatosis. Fertility outlook is poor in primary and often treatable in secondary."/>
          <p:cNvGraphicFramePr>
            <a:graphicFrameLocks noGrp="1"/>
          </p:cNvGraphicFramePr>
          <p:nvPr>
            <p:extLst>
              <p:ext uri="{D42A27DB-BD31-4B8C-83A1-F6EECF244321}">
                <p14:modId xmlns:p14="http://schemas.microsoft.com/office/powerpoint/2010/main" val="1357368135"/>
              </p:ext>
            </p:extLst>
          </p:nvPr>
        </p:nvGraphicFramePr>
        <p:xfrm>
          <a:off x="822960" y="1442720"/>
          <a:ext cx="10515600" cy="2185416"/>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384048">
                <a:tc>
                  <a:txBody>
                    <a:bodyPr/>
                    <a:lstStyle/>
                    <a:p>
                      <a:endParaRPr dirty="0"/>
                    </a:p>
                  </a:txBody>
                  <a:tcPr marL="73152" marR="73152" marT="27432" marB="27432">
                    <a:solidFill>
                      <a:srgbClr val="C8102E"/>
                    </a:solidFill>
                  </a:tcPr>
                </a:tc>
                <a:tc>
                  <a:txBody>
                    <a:bodyPr/>
                    <a:lstStyle/>
                    <a:p>
                      <a:r>
                        <a:rPr sz="1400" b="1">
                          <a:solidFill>
                            <a:srgbClr val="FFFFFF"/>
                          </a:solidFill>
                          <a:latin typeface="Arial"/>
                        </a:rPr>
                        <a:t>Primary (testicular)</a:t>
                      </a:r>
                    </a:p>
                  </a:txBody>
                  <a:tcPr marL="73152" marR="73152" marT="27432" marB="27432">
                    <a:solidFill>
                      <a:srgbClr val="C8102E"/>
                    </a:solidFill>
                  </a:tcPr>
                </a:tc>
                <a:tc>
                  <a:txBody>
                    <a:bodyPr/>
                    <a:lstStyle/>
                    <a:p>
                      <a:r>
                        <a:rPr sz="1400" b="1">
                          <a:solidFill>
                            <a:srgbClr val="FFFFFF"/>
                          </a:solidFill>
                          <a:latin typeface="Arial"/>
                        </a:rPr>
                        <a:t>Secondary (central)</a:t>
                      </a:r>
                    </a:p>
                  </a:txBody>
                  <a:tcPr marL="73152" marR="73152" marT="27432" marB="27432">
                    <a:solidFill>
                      <a:srgbClr val="C8102E"/>
                    </a:solidFill>
                  </a:tcPr>
                </a:tc>
                <a:extLst>
                  <a:ext uri="{0D108BD9-81ED-4DB2-BD59-A6C34878D82A}">
                    <a16:rowId xmlns:a16="http://schemas.microsoft.com/office/drawing/2014/main" val="10000"/>
                  </a:ext>
                </a:extLst>
              </a:tr>
              <a:tr h="384048">
                <a:tc>
                  <a:txBody>
                    <a:bodyPr/>
                    <a:lstStyle/>
                    <a:p>
                      <a:r>
                        <a:rPr sz="1300" b="0" dirty="0">
                          <a:solidFill>
                            <a:srgbClr val="3F3F3F"/>
                          </a:solidFill>
                          <a:latin typeface="Arial"/>
                        </a:rPr>
                        <a:t>Testosterone</a:t>
                      </a:r>
                    </a:p>
                  </a:txBody>
                  <a:tcPr marL="73152" marR="73152" marT="27432" marB="27432"/>
                </a:tc>
                <a:tc>
                  <a:txBody>
                    <a:bodyPr/>
                    <a:lstStyle/>
                    <a:p>
                      <a:r>
                        <a:rPr sz="1300" b="0">
                          <a:solidFill>
                            <a:srgbClr val="3F3F3F"/>
                          </a:solidFill>
                          <a:latin typeface="Arial"/>
                        </a:rPr>
                        <a:t>Low</a:t>
                      </a:r>
                    </a:p>
                  </a:txBody>
                  <a:tcPr marL="73152" marR="73152" marT="27432" marB="27432"/>
                </a:tc>
                <a:tc>
                  <a:txBody>
                    <a:bodyPr/>
                    <a:lstStyle/>
                    <a:p>
                      <a:r>
                        <a:rPr sz="1300" b="0">
                          <a:solidFill>
                            <a:srgbClr val="3F3F3F"/>
                          </a:solidFill>
                          <a:latin typeface="Arial"/>
                        </a:rPr>
                        <a:t>Low</a:t>
                      </a:r>
                    </a:p>
                  </a:txBody>
                  <a:tcPr marL="73152" marR="73152" marT="27432" marB="27432"/>
                </a:tc>
                <a:extLst>
                  <a:ext uri="{0D108BD9-81ED-4DB2-BD59-A6C34878D82A}">
                    <a16:rowId xmlns:a16="http://schemas.microsoft.com/office/drawing/2014/main" val="10001"/>
                  </a:ext>
                </a:extLst>
              </a:tr>
              <a:tr h="384048">
                <a:tc>
                  <a:txBody>
                    <a:bodyPr/>
                    <a:lstStyle/>
                    <a:p>
                      <a:r>
                        <a:rPr sz="1300" b="0">
                          <a:solidFill>
                            <a:srgbClr val="3F3F3F"/>
                          </a:solidFill>
                          <a:latin typeface="Arial"/>
                        </a:rPr>
                        <a:t>LH / FSH</a:t>
                      </a:r>
                    </a:p>
                  </a:txBody>
                  <a:tcPr marL="73152" marR="73152" marT="27432" marB="27432"/>
                </a:tc>
                <a:tc>
                  <a:txBody>
                    <a:bodyPr/>
                    <a:lstStyle/>
                    <a:p>
                      <a:r>
                        <a:rPr sz="1300" b="1">
                          <a:solidFill>
                            <a:srgbClr val="3F3F3F"/>
                          </a:solidFill>
                          <a:latin typeface="Arial"/>
                        </a:rPr>
                        <a:t>High</a:t>
                      </a:r>
                    </a:p>
                  </a:txBody>
                  <a:tcPr marL="73152" marR="73152" marT="27432" marB="27432"/>
                </a:tc>
                <a:tc>
                  <a:txBody>
                    <a:bodyPr/>
                    <a:lstStyle/>
                    <a:p>
                      <a:r>
                        <a:rPr sz="1300" b="1">
                          <a:solidFill>
                            <a:srgbClr val="3F3F3F"/>
                          </a:solidFill>
                          <a:latin typeface="Arial"/>
                        </a:rPr>
                        <a:t>Low or inappropriately normal</a:t>
                      </a:r>
                    </a:p>
                  </a:txBody>
                  <a:tcPr marL="73152" marR="73152" marT="27432" marB="27432"/>
                </a:tc>
                <a:extLst>
                  <a:ext uri="{0D108BD9-81ED-4DB2-BD59-A6C34878D82A}">
                    <a16:rowId xmlns:a16="http://schemas.microsoft.com/office/drawing/2014/main" val="10002"/>
                  </a:ext>
                </a:extLst>
              </a:tr>
              <a:tr h="384048">
                <a:tc>
                  <a:txBody>
                    <a:bodyPr/>
                    <a:lstStyle/>
                    <a:p>
                      <a:r>
                        <a:rPr sz="1300" b="0">
                          <a:solidFill>
                            <a:srgbClr val="3F3F3F"/>
                          </a:solidFill>
                          <a:latin typeface="Arial"/>
                        </a:rPr>
                        <a:t>Causes</a:t>
                      </a:r>
                    </a:p>
                  </a:txBody>
                  <a:tcPr marL="73152" marR="73152" marT="27432" marB="27432"/>
                </a:tc>
                <a:tc>
                  <a:txBody>
                    <a:bodyPr/>
                    <a:lstStyle/>
                    <a:p>
                      <a:r>
                        <a:rPr sz="1300" b="0">
                          <a:solidFill>
                            <a:srgbClr val="3F3F3F"/>
                          </a:solidFill>
                          <a:latin typeface="Arial"/>
                        </a:rPr>
                        <a:t>Klinefelter 47,XXY · mumps orchitis · chemo/RT · torsion · cryptorchidism</a:t>
                      </a:r>
                    </a:p>
                  </a:txBody>
                  <a:tcPr marL="73152" marR="73152" marT="27432" marB="27432"/>
                </a:tc>
                <a:tc>
                  <a:txBody>
                    <a:bodyPr/>
                    <a:lstStyle/>
                    <a:p>
                      <a:r>
                        <a:rPr sz="1300" b="0">
                          <a:solidFill>
                            <a:srgbClr val="3F3F3F"/>
                          </a:solidFill>
                          <a:latin typeface="Arial"/>
                        </a:rPr>
                        <a:t>Kallmann (+anosmia) · pituitary adenoma · </a:t>
                      </a:r>
                      <a:r>
                        <a:rPr sz="1300" b="1">
                          <a:solidFill>
                            <a:srgbClr val="3F3F3F"/>
                          </a:solidFill>
                          <a:latin typeface="Arial"/>
                        </a:rPr>
                        <a:t>hyperprolactinemia</a:t>
                      </a:r>
                      <a:r>
                        <a:rPr sz="1300" b="0">
                          <a:solidFill>
                            <a:srgbClr val="3F3F3F"/>
                          </a:solidFill>
                          <a:latin typeface="Arial"/>
                        </a:rPr>
                        <a:t> · opioids · glucocorticoids · </a:t>
                      </a:r>
                      <a:r>
                        <a:rPr sz="1300" b="1">
                          <a:solidFill>
                            <a:srgbClr val="3F3F3F"/>
                          </a:solidFill>
                          <a:latin typeface="Arial"/>
                        </a:rPr>
                        <a:t>exogenous androgens</a:t>
                      </a:r>
                      <a:r>
                        <a:rPr sz="1300" b="0">
                          <a:solidFill>
                            <a:srgbClr val="3F3F3F"/>
                          </a:solidFill>
                          <a:latin typeface="Arial"/>
                        </a:rPr>
                        <a:t> · obesity · hemochromatosis</a:t>
                      </a:r>
                    </a:p>
                  </a:txBody>
                  <a:tcPr marL="73152" marR="73152" marT="27432" marB="27432"/>
                </a:tc>
                <a:extLst>
                  <a:ext uri="{0D108BD9-81ED-4DB2-BD59-A6C34878D82A}">
                    <a16:rowId xmlns:a16="http://schemas.microsoft.com/office/drawing/2014/main" val="10003"/>
                  </a:ext>
                </a:extLst>
              </a:tr>
              <a:tr h="384048">
                <a:tc>
                  <a:txBody>
                    <a:bodyPr/>
                    <a:lstStyle/>
                    <a:p>
                      <a:r>
                        <a:rPr sz="1300" b="0" dirty="0">
                          <a:solidFill>
                            <a:srgbClr val="3F3F3F"/>
                          </a:solidFill>
                          <a:latin typeface="Arial"/>
                        </a:rPr>
                        <a:t>Fertility outlook</a:t>
                      </a:r>
                    </a:p>
                  </a:txBody>
                  <a:tcPr marL="73152" marR="73152" marT="27432" marB="27432"/>
                </a:tc>
                <a:tc>
                  <a:txBody>
                    <a:bodyPr/>
                    <a:lstStyle/>
                    <a:p>
                      <a:r>
                        <a:rPr sz="1300" b="0" dirty="0">
                          <a:solidFill>
                            <a:srgbClr val="3F3F3F"/>
                          </a:solidFill>
                          <a:latin typeface="Arial"/>
                        </a:rPr>
                        <a:t>Poor; </a:t>
                      </a:r>
                      <a:r>
                        <a:rPr sz="1300" b="0" dirty="0" err="1">
                          <a:solidFill>
                            <a:srgbClr val="3F3F3F"/>
                          </a:solidFill>
                          <a:latin typeface="Arial"/>
                        </a:rPr>
                        <a:t>microTESE</a:t>
                      </a:r>
                      <a:r>
                        <a:rPr sz="1300" b="0" dirty="0">
                          <a:solidFill>
                            <a:srgbClr val="3F3F3F"/>
                          </a:solidFill>
                          <a:latin typeface="Arial"/>
                        </a:rPr>
                        <a:t> may still retrieve</a:t>
                      </a:r>
                    </a:p>
                  </a:txBody>
                  <a:tcPr marL="73152" marR="73152" marT="27432" marB="27432"/>
                </a:tc>
                <a:tc>
                  <a:txBody>
                    <a:bodyPr/>
                    <a:lstStyle/>
                    <a:p>
                      <a:r>
                        <a:rPr sz="1300" b="0" dirty="0">
                          <a:solidFill>
                            <a:srgbClr val="3F3F3F"/>
                          </a:solidFill>
                          <a:latin typeface="Arial"/>
                        </a:rPr>
                        <a:t>Often fully treatable with gonadotropins</a:t>
                      </a:r>
                    </a:p>
                  </a:txBody>
                  <a:tcPr marL="73152" marR="73152" marT="27432" marB="27432"/>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388891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668E454-3A2F-F355-AA23-7196041463A2}"/>
              </a:ext>
            </a:extLst>
          </p:cNvPr>
          <p:cNvSpPr txBox="1"/>
          <p:nvPr/>
        </p:nvSpPr>
        <p:spPr>
          <a:xfrm>
            <a:off x="0" y="2532888"/>
            <a:ext cx="12179302" cy="896112"/>
          </a:xfrm>
          <a:prstGeom prst="rect">
            <a:avLst/>
          </a:prstGeom>
          <a:noFill/>
        </p:spPr>
        <p:txBody>
          <a:bodyPr wrap="square" bIns="91440" rtlCol="0" anchor="ctr" anchorCtr="0">
            <a:noAutofit/>
          </a:bodyPr>
          <a:lstStyle/>
          <a:p>
            <a:pPr algn="ctr"/>
            <a:r>
              <a:rPr lang="en-US" sz="3200" dirty="0">
                <a:latin typeface="Georgia" panose="02040502050405020303" pitchFamily="18" charset="0"/>
              </a:rPr>
              <a:t>Part 4: Erection, Emission, Ejaculation</a:t>
            </a:r>
          </a:p>
        </p:txBody>
      </p:sp>
    </p:spTree>
    <p:extLst>
      <p:ext uri="{BB962C8B-B14F-4D97-AF65-F5344CB8AC3E}">
        <p14:creationId xmlns:p14="http://schemas.microsoft.com/office/powerpoint/2010/main" val="24201147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77359-BA5E-60C8-8553-C0FCFB6CC7B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1A5516A-40E0-F4F0-231C-336597DD20B7}"/>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Neural Control: Point and Shoot</a:t>
            </a:r>
          </a:p>
        </p:txBody>
      </p:sp>
      <p:sp>
        <p:nvSpPr>
          <p:cNvPr id="7" name="Content Placeholder 2">
            <a:extLst>
              <a:ext uri="{FF2B5EF4-FFF2-40B4-BE49-F238E27FC236}">
                <a16:creationId xmlns:a16="http://schemas.microsoft.com/office/drawing/2014/main" id="{29499C47-E204-4621-8A69-334EBFD433BC}"/>
              </a:ext>
            </a:extLst>
          </p:cNvPr>
          <p:cNvSpPr txBox="1">
            <a:spLocks/>
          </p:cNvSpPr>
          <p:nvPr/>
        </p:nvSpPr>
        <p:spPr>
          <a:xfrm>
            <a:off x="640080" y="3273552"/>
            <a:ext cx="10881360" cy="3127248"/>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sz="1600" dirty="0"/>
              <a:t>Three erection types: </a:t>
            </a:r>
            <a:r>
              <a:rPr sz="1600" b="1" dirty="0"/>
              <a:t>reflexogenic</a:t>
            </a:r>
            <a:r>
              <a:rPr sz="1600" dirty="0"/>
              <a:t> (sacral arc, survives </a:t>
            </a:r>
            <a:r>
              <a:rPr sz="1600" dirty="0" err="1"/>
              <a:t>suprasacral</a:t>
            </a:r>
            <a:r>
              <a:rPr sz="1600" dirty="0"/>
              <a:t> cord injury) · </a:t>
            </a:r>
            <a:r>
              <a:rPr sz="1600" b="1" dirty="0"/>
              <a:t>psychogenic</a:t>
            </a:r>
            <a:r>
              <a:rPr sz="1600" dirty="0"/>
              <a:t> (T11–L2) · </a:t>
            </a:r>
            <a:r>
              <a:rPr sz="1600" b="1" dirty="0"/>
              <a:t>nocturnal</a:t>
            </a:r>
            <a:r>
              <a:rPr sz="1600" dirty="0"/>
              <a:t> (REM, testosterone-dependent)</a:t>
            </a:r>
            <a:endParaRPr lang="en-US" sz="1600" dirty="0">
              <a:solidFill>
                <a:schemeClr val="tx1">
                  <a:lumMod val="50000"/>
                  <a:lumOff val="50000"/>
                </a:schemeClr>
              </a:solidFill>
              <a:latin typeface="Calibri Light" panose="020F0302020204030204" pitchFamily="34" charset="0"/>
              <a:cs typeface="Calibri Light" panose="020F0302020204030204" pitchFamily="34" charset="0"/>
            </a:endParaRPr>
          </a:p>
        </p:txBody>
      </p:sp>
      <p:graphicFrame>
        <p:nvGraphicFramePr>
          <p:cNvPr id="8" name="Table 7" descr="Table of autonomic and somatic control. Erection is parasympathetic via pelvic splanchnic and cavernous nerves from S2 to S4. Emission is sympathetic via hypogastric nerves from T10 to L2. Ejaculation is somatic via the pudendal nerve from S2 to S4 driving the bulbospongiosus and ischiocavernosus."/>
          <p:cNvGraphicFramePr>
            <a:graphicFrameLocks noGrp="1"/>
          </p:cNvGraphicFramePr>
          <p:nvPr/>
        </p:nvGraphicFramePr>
        <p:xfrm>
          <a:off x="1066647" y="1508760"/>
          <a:ext cx="10058400" cy="1536192"/>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84048">
                <a:tc>
                  <a:txBody>
                    <a:bodyPr/>
                    <a:lstStyle/>
                    <a:p>
                      <a:r>
                        <a:rPr sz="1400" b="1">
                          <a:solidFill>
                            <a:srgbClr val="FFFFFF"/>
                          </a:solidFill>
                          <a:latin typeface="Arial"/>
                        </a:rPr>
                        <a:t>Function</a:t>
                      </a:r>
                    </a:p>
                  </a:txBody>
                  <a:tcPr marL="73152" marR="73152" marT="27432" marB="27432">
                    <a:solidFill>
                      <a:srgbClr val="C8102E"/>
                    </a:solidFill>
                  </a:tcPr>
                </a:tc>
                <a:tc>
                  <a:txBody>
                    <a:bodyPr/>
                    <a:lstStyle/>
                    <a:p>
                      <a:r>
                        <a:rPr sz="1400" b="1">
                          <a:solidFill>
                            <a:srgbClr val="FFFFFF"/>
                          </a:solidFill>
                          <a:latin typeface="Arial"/>
                        </a:rPr>
                        <a:t>Pathway</a:t>
                      </a:r>
                    </a:p>
                  </a:txBody>
                  <a:tcPr marL="73152" marR="73152" marT="27432" marB="27432">
                    <a:solidFill>
                      <a:srgbClr val="C8102E"/>
                    </a:solidFill>
                  </a:tcPr>
                </a:tc>
                <a:tc>
                  <a:txBody>
                    <a:bodyPr/>
                    <a:lstStyle/>
                    <a:p>
                      <a:r>
                        <a:rPr sz="1400" b="1">
                          <a:solidFill>
                            <a:srgbClr val="FFFFFF"/>
                          </a:solidFill>
                          <a:latin typeface="Arial"/>
                        </a:rPr>
                        <a:t>Roots</a:t>
                      </a:r>
                    </a:p>
                  </a:txBody>
                  <a:tcPr marL="73152" marR="73152" marT="27432" marB="27432">
                    <a:solidFill>
                      <a:srgbClr val="C8102E"/>
                    </a:solidFill>
                  </a:tcPr>
                </a:tc>
                <a:extLst>
                  <a:ext uri="{0D108BD9-81ED-4DB2-BD59-A6C34878D82A}">
                    <a16:rowId xmlns:a16="http://schemas.microsoft.com/office/drawing/2014/main" val="10000"/>
                  </a:ext>
                </a:extLst>
              </a:tr>
              <a:tr h="384048">
                <a:tc>
                  <a:txBody>
                    <a:bodyPr/>
                    <a:lstStyle/>
                    <a:p>
                      <a:r>
                        <a:rPr sz="1300" b="1">
                          <a:solidFill>
                            <a:srgbClr val="3F3F3F"/>
                          </a:solidFill>
                          <a:latin typeface="Arial"/>
                        </a:rPr>
                        <a:t>P</a:t>
                      </a:r>
                      <a:r>
                        <a:rPr sz="1300" b="0">
                          <a:solidFill>
                            <a:srgbClr val="3F3F3F"/>
                          </a:solidFill>
                          <a:latin typeface="Arial"/>
                        </a:rPr>
                        <a:t>oint — erection</a:t>
                      </a:r>
                    </a:p>
                  </a:txBody>
                  <a:tcPr marL="73152" marR="73152" marT="27432" marB="27432"/>
                </a:tc>
                <a:tc>
                  <a:txBody>
                    <a:bodyPr/>
                    <a:lstStyle/>
                    <a:p>
                      <a:r>
                        <a:rPr sz="1300" b="0">
                          <a:solidFill>
                            <a:srgbClr val="3F3F3F"/>
                          </a:solidFill>
                          <a:latin typeface="Arial"/>
                        </a:rPr>
                        <a:t>Parasympathetic · pelvic splanchnic / cavernous nerves</a:t>
                      </a:r>
                    </a:p>
                  </a:txBody>
                  <a:tcPr marL="73152" marR="73152" marT="27432" marB="27432"/>
                </a:tc>
                <a:tc>
                  <a:txBody>
                    <a:bodyPr/>
                    <a:lstStyle/>
                    <a:p>
                      <a:r>
                        <a:rPr sz="1300" b="1">
                          <a:solidFill>
                            <a:srgbClr val="3F3F3F"/>
                          </a:solidFill>
                          <a:latin typeface="Arial"/>
                        </a:rPr>
                        <a:t>S2–S4</a:t>
                      </a:r>
                    </a:p>
                  </a:txBody>
                  <a:tcPr marL="73152" marR="73152" marT="27432" marB="27432"/>
                </a:tc>
                <a:extLst>
                  <a:ext uri="{0D108BD9-81ED-4DB2-BD59-A6C34878D82A}">
                    <a16:rowId xmlns:a16="http://schemas.microsoft.com/office/drawing/2014/main" val="10001"/>
                  </a:ext>
                </a:extLst>
              </a:tr>
              <a:tr h="384048">
                <a:tc>
                  <a:txBody>
                    <a:bodyPr/>
                    <a:lstStyle/>
                    <a:p>
                      <a:r>
                        <a:rPr sz="1300" b="0">
                          <a:solidFill>
                            <a:srgbClr val="3F3F3F"/>
                          </a:solidFill>
                          <a:latin typeface="Arial"/>
                        </a:rPr>
                        <a:t>Emission</a:t>
                      </a:r>
                    </a:p>
                  </a:txBody>
                  <a:tcPr marL="73152" marR="73152" marT="27432" marB="27432"/>
                </a:tc>
                <a:tc>
                  <a:txBody>
                    <a:bodyPr/>
                    <a:lstStyle/>
                    <a:p>
                      <a:r>
                        <a:rPr sz="1300" b="0">
                          <a:solidFill>
                            <a:srgbClr val="3F3F3F"/>
                          </a:solidFill>
                          <a:latin typeface="Arial"/>
                        </a:rPr>
                        <a:t>Sympathetic · hypogastric nerves</a:t>
                      </a:r>
                    </a:p>
                  </a:txBody>
                  <a:tcPr marL="73152" marR="73152" marT="27432" marB="27432"/>
                </a:tc>
                <a:tc>
                  <a:txBody>
                    <a:bodyPr/>
                    <a:lstStyle/>
                    <a:p>
                      <a:r>
                        <a:rPr sz="1300" b="1">
                          <a:solidFill>
                            <a:srgbClr val="3F3F3F"/>
                          </a:solidFill>
                          <a:latin typeface="Arial"/>
                        </a:rPr>
                        <a:t>T10–L2</a:t>
                      </a:r>
                    </a:p>
                  </a:txBody>
                  <a:tcPr marL="73152" marR="73152" marT="27432" marB="27432"/>
                </a:tc>
                <a:extLst>
                  <a:ext uri="{0D108BD9-81ED-4DB2-BD59-A6C34878D82A}">
                    <a16:rowId xmlns:a16="http://schemas.microsoft.com/office/drawing/2014/main" val="10002"/>
                  </a:ext>
                </a:extLst>
              </a:tr>
              <a:tr h="384048">
                <a:tc>
                  <a:txBody>
                    <a:bodyPr/>
                    <a:lstStyle/>
                    <a:p>
                      <a:r>
                        <a:rPr sz="1300" b="1">
                          <a:solidFill>
                            <a:srgbClr val="3F3F3F"/>
                          </a:solidFill>
                          <a:latin typeface="Arial"/>
                        </a:rPr>
                        <a:t>S</a:t>
                      </a:r>
                      <a:r>
                        <a:rPr sz="1300" b="0">
                          <a:solidFill>
                            <a:srgbClr val="3F3F3F"/>
                          </a:solidFill>
                          <a:latin typeface="Arial"/>
                        </a:rPr>
                        <a:t>hoot — ejaculation</a:t>
                      </a:r>
                    </a:p>
                  </a:txBody>
                  <a:tcPr marL="73152" marR="73152" marT="27432" marB="27432"/>
                </a:tc>
                <a:tc>
                  <a:txBody>
                    <a:bodyPr/>
                    <a:lstStyle/>
                    <a:p>
                      <a:r>
                        <a:rPr sz="1300" b="0">
                          <a:solidFill>
                            <a:srgbClr val="3F3F3F"/>
                          </a:solidFill>
                          <a:latin typeface="Arial"/>
                        </a:rPr>
                        <a:t>Somatic · pudendal → bulbospongiosus + ischiocavernosus</a:t>
                      </a:r>
                    </a:p>
                  </a:txBody>
                  <a:tcPr marL="73152" marR="73152" marT="27432" marB="27432"/>
                </a:tc>
                <a:tc>
                  <a:txBody>
                    <a:bodyPr/>
                    <a:lstStyle/>
                    <a:p>
                      <a:r>
                        <a:rPr sz="1300" b="1">
                          <a:solidFill>
                            <a:srgbClr val="3F3F3F"/>
                          </a:solidFill>
                          <a:latin typeface="Arial"/>
                        </a:rPr>
                        <a:t>S2–S4</a:t>
                      </a:r>
                    </a:p>
                  </a:txBody>
                  <a:tcPr marL="73152" marR="73152" marT="27432" marB="27432"/>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388891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Localizing the Lesion by Erection Type</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Reflexogenic</a:t>
            </a:r>
            <a:r>
              <a:rPr lang="en-US" sz="1600" dirty="0">
                <a:cs typeface="Calibri Light" panose="020F0302020204030204" pitchFamily="34" charset="0"/>
              </a:rPr>
              <a:t> erections preserved, psychogenic lost → suprasacral spinal cord lesion</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Nocturnal and morning erections preserved</a:t>
            </a:r>
            <a:r>
              <a:rPr lang="en-US" sz="1600" dirty="0">
                <a:cs typeface="Calibri Light" panose="020F0302020204030204" pitchFamily="34" charset="0"/>
              </a:rPr>
              <a:t> → the machinery works → strong argument for a </a:t>
            </a:r>
            <a:r>
              <a:rPr lang="en-US" sz="1600" b="1" dirty="0">
                <a:cs typeface="Calibri Light" panose="020F0302020204030204" pitchFamily="34" charset="0"/>
              </a:rPr>
              <a:t>psychogenic</a:t>
            </a:r>
            <a:r>
              <a:rPr lang="en-US" sz="1600" dirty="0">
                <a:cs typeface="Calibri Light" panose="020F0302020204030204" pitchFamily="34" charset="0"/>
              </a:rPr>
              <a:t> contribution</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Nocturnal erections lost + gradual decline → organic (vascular, neural, hormonal)</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Nocturnal erections are </a:t>
            </a:r>
            <a:r>
              <a:rPr lang="en-US" sz="1600" b="1" dirty="0">
                <a:cs typeface="Calibri Light" panose="020F0302020204030204" pitchFamily="34" charset="0"/>
              </a:rPr>
              <a:t>testosterone-dependent</a:t>
            </a:r>
            <a:r>
              <a:rPr lang="en-US" sz="1600" dirty="0">
                <a:cs typeface="Calibri Light" panose="020F0302020204030204" pitchFamily="34" charset="0"/>
              </a:rPr>
              <a:t> — one reason hypogonadal men lose them</a:t>
            </a:r>
          </a:p>
        </p:txBody>
      </p:sp>
    </p:spTree>
    <p:extLst>
      <p:ext uri="{BB962C8B-B14F-4D97-AF65-F5344CB8AC3E}">
        <p14:creationId xmlns:p14="http://schemas.microsoft.com/office/powerpoint/2010/main" val="14307337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6771-0A04-402D-0230-5BDCF1EAAF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AAE0B-062B-A7A3-C13A-BA0F46D0D6F3}"/>
              </a:ext>
            </a:extLst>
          </p:cNvPr>
          <p:cNvSpPr>
            <a:spLocks noGrp="1"/>
          </p:cNvSpPr>
          <p:nvPr>
            <p:ph sz="half" idx="1"/>
          </p:nvPr>
        </p:nvSpPr>
        <p:spPr>
          <a:xfrm>
            <a:off x="502920" y="1691640"/>
            <a:ext cx="5943600" cy="4663440"/>
          </a:xfrm>
        </p:spPr>
        <p:txBody>
          <a:bodyPr wrap="square"/>
          <a:lstStyle/>
          <a:p>
            <a:pPr>
              <a:spcAft>
                <a:spcPts val="400"/>
              </a:spcAft>
            </a:pPr>
            <a:r>
              <a:rPr sz="1500" dirty="0"/>
              <a:t>Stimulation → </a:t>
            </a:r>
            <a:r>
              <a:rPr sz="1500" b="1" dirty="0"/>
              <a:t>NANC nerves (</a:t>
            </a:r>
            <a:r>
              <a:rPr sz="1500" b="1" dirty="0" err="1"/>
              <a:t>nNOS</a:t>
            </a:r>
            <a:r>
              <a:rPr sz="1500" b="1" dirty="0"/>
              <a:t>) + endothelium (</a:t>
            </a:r>
            <a:r>
              <a:rPr sz="1500" b="1" dirty="0" err="1"/>
              <a:t>eNOS</a:t>
            </a:r>
            <a:r>
              <a:rPr sz="1500" b="1" dirty="0"/>
              <a:t>) release NO</a:t>
            </a:r>
            <a:endParaRPr lang="en-US" dirty="0">
              <a:solidFill>
                <a:schemeClr val="tx1">
                  <a:lumMod val="50000"/>
                  <a:lumOff val="50000"/>
                </a:schemeClr>
              </a:solidFill>
              <a:latin typeface="Calibri Light" panose="020F0302020204030204" pitchFamily="34" charset="0"/>
              <a:cs typeface="Calibri Light" panose="020F0302020204030204" pitchFamily="34" charset="0"/>
            </a:endParaRPr>
          </a:p>
          <a:p>
            <a:pPr>
              <a:spcAft>
                <a:spcPts val="400"/>
              </a:spcAft>
            </a:pPr>
            <a:r>
              <a:rPr sz="1500" dirty="0"/>
              <a:t>NO → soluble guanylate cyclase → </a:t>
            </a:r>
            <a:r>
              <a:rPr sz="1500" b="1" dirty="0"/>
              <a:t>GTP → cGMP</a:t>
            </a:r>
            <a:r>
              <a:rPr sz="1500" dirty="0"/>
              <a:t> → protein kinase G → Ca²⁺ falls</a:t>
            </a:r>
          </a:p>
          <a:p>
            <a:pPr>
              <a:spcAft>
                <a:spcPts val="400"/>
              </a:spcAft>
            </a:pPr>
            <a:r>
              <a:rPr sz="1500" b="1" dirty="0" err="1"/>
              <a:t>Cavernosal</a:t>
            </a:r>
            <a:r>
              <a:rPr sz="1500" b="1" dirty="0"/>
              <a:t> smooth muscle relaxes</a:t>
            </a:r>
            <a:r>
              <a:rPr sz="1500" dirty="0"/>
              <a:t> → helicine arterioles dilate → sinusoids fill</a:t>
            </a:r>
          </a:p>
          <a:p>
            <a:pPr>
              <a:spcAft>
                <a:spcPts val="400"/>
              </a:spcAft>
            </a:pPr>
            <a:r>
              <a:rPr sz="1500" dirty="0"/>
              <a:t>Sinusoids expand against the </a:t>
            </a:r>
            <a:r>
              <a:rPr sz="1500" b="1" dirty="0"/>
              <a:t>tunica albuginea</a:t>
            </a:r>
            <a:r>
              <a:rPr sz="1500" dirty="0"/>
              <a:t> → </a:t>
            </a:r>
            <a:r>
              <a:rPr sz="1500" dirty="0" err="1"/>
              <a:t>subtunical</a:t>
            </a:r>
            <a:r>
              <a:rPr sz="1500" dirty="0"/>
              <a:t> venules compressed</a:t>
            </a:r>
          </a:p>
          <a:p>
            <a:pPr>
              <a:spcAft>
                <a:spcPts val="400"/>
              </a:spcAft>
            </a:pPr>
            <a:r>
              <a:rPr sz="1500" dirty="0"/>
              <a:t>= </a:t>
            </a:r>
            <a:r>
              <a:rPr sz="1500" b="1" dirty="0" err="1"/>
              <a:t>veno</a:t>
            </a:r>
            <a:r>
              <a:rPr sz="1500" b="1" dirty="0"/>
              <a:t>-occlusive mechanism</a:t>
            </a:r>
            <a:r>
              <a:rPr sz="1500" dirty="0"/>
              <a:t> → rigidity</a:t>
            </a:r>
          </a:p>
        </p:txBody>
      </p:sp>
      <p:sp>
        <p:nvSpPr>
          <p:cNvPr id="6" name="Title 1">
            <a:extLst>
              <a:ext uri="{FF2B5EF4-FFF2-40B4-BE49-F238E27FC236}">
                <a16:creationId xmlns:a16="http://schemas.microsoft.com/office/drawing/2014/main" id="{4C85AA9B-58DA-A834-7681-5B96134CC291}"/>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The NO–cGMP Cascade (Build)</a:t>
            </a:r>
          </a:p>
        </p:txBody>
      </p:sp>
      <p:pic>
        <p:nvPicPr>
          <p:cNvPr id="7" name="Picture 6" descr="Two-panel diagram of nitric oxide signaling. In the upper panel a nerve and endothelial cell release nitric oxide, which acts on cavernosal smooth muscle causing relaxation and penile erection. In the lower panel reduced signaling leads to smooth muscle contraction and penile flaccidity."/>
          <p:cNvPicPr>
            <a:picLocks noChangeAspect="1"/>
          </p:cNvPicPr>
          <p:nvPr/>
        </p:nvPicPr>
        <p:blipFill>
          <a:blip r:embed="rId3"/>
          <a:stretch>
            <a:fillRect/>
          </a:stretch>
        </p:blipFill>
        <p:spPr>
          <a:xfrm>
            <a:off x="6629400" y="2078963"/>
            <a:ext cx="4754880" cy="3705912"/>
          </a:xfrm>
          <a:prstGeom prst="rect">
            <a:avLst/>
          </a:prstGeom>
        </p:spPr>
      </p:pic>
    </p:spTree>
    <p:extLst>
      <p:ext uri="{BB962C8B-B14F-4D97-AF65-F5344CB8AC3E}">
        <p14:creationId xmlns:p14="http://schemas.microsoft.com/office/powerpoint/2010/main" val="27759225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Detumescence — and Why Some Men Fail PDE-5 Inhibitors</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PDE-5 hydrolyzes cGMP to 5′-GMP.</a:t>
            </a:r>
            <a:r>
              <a:rPr lang="en-US" sz="1600" dirty="0">
                <a:cs typeface="Calibri Light" panose="020F0302020204030204" pitchFamily="34" charset="0"/>
              </a:rPr>
              <a:t> (Say it slowly — the entire drug class follows from this line.)</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Sympathetic norepinephrine at </a:t>
            </a:r>
            <a:r>
              <a:rPr lang="en-US" sz="1600" b="1" dirty="0">
                <a:cs typeface="Calibri Light" panose="020F0302020204030204" pitchFamily="34" charset="0"/>
              </a:rPr>
              <a:t>alpha-1</a:t>
            </a:r>
            <a:r>
              <a:rPr lang="en-US" sz="1600" dirty="0">
                <a:cs typeface="Calibri Light" panose="020F0302020204030204" pitchFamily="34" charset="0"/>
              </a:rPr>
              <a:t> + RhoA/Rho-kinase restores tone</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A scarred tunica (Peyronie) or fibrotic cavernosal muscle (diabetes, aging, post-priapism) </a:t>
            </a:r>
            <a:r>
              <a:rPr lang="en-US" sz="1600" b="1" dirty="0">
                <a:cs typeface="Calibri Light" panose="020F0302020204030204" pitchFamily="34" charset="0"/>
              </a:rPr>
              <a:t>cannot compress the venules</a:t>
            </a:r>
            <a:r>
              <a:rPr lang="en-US" sz="1600" dirty="0">
                <a:cs typeface="Calibri Light" panose="020F0302020204030204" pitchFamily="34" charset="0"/>
              </a:rPr>
              <a:t> → </a:t>
            </a:r>
            <a:r>
              <a:rPr lang="en-US" sz="1600" b="1" dirty="0">
                <a:cs typeface="Calibri Light" panose="020F0302020204030204" pitchFamily="34" charset="0"/>
              </a:rPr>
              <a:t>venous leak</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Venous leak fails PDE-5 inhibitors </a:t>
            </a:r>
            <a:r>
              <a:rPr lang="en-US" sz="1600" b="1" dirty="0">
                <a:cs typeface="Calibri Light" panose="020F0302020204030204" pitchFamily="34" charset="0"/>
              </a:rPr>
              <a:t>at any dose</a:t>
            </a:r>
            <a:r>
              <a:rPr lang="en-US" sz="1600" dirty="0">
                <a:cs typeface="Calibri Light" panose="020F0302020204030204" pitchFamily="34" charset="0"/>
              </a:rPr>
              <a:t> — the drug amplifies a signal the anatomy can no longer contain</a:t>
            </a:r>
          </a:p>
        </p:txBody>
      </p:sp>
    </p:spTree>
    <p:extLst>
      <p:ext uri="{BB962C8B-B14F-4D97-AF65-F5344CB8AC3E}">
        <p14:creationId xmlns:p14="http://schemas.microsoft.com/office/powerpoint/2010/main" val="14307337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Emission and the Bladder Neck</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Sympathetic T10–L2 → coordinated contraction of </a:t>
            </a:r>
            <a:r>
              <a:rPr lang="en-US" sz="1600" b="1" dirty="0">
                <a:cs typeface="Calibri Light" panose="020F0302020204030204" pitchFamily="34" charset="0"/>
              </a:rPr>
              <a:t>vas, seminal vesicles, prostate</a:t>
            </a:r>
          </a:p>
          <a:p>
            <a:pPr algn="l">
              <a:spcAft>
                <a:spcPts val="400"/>
              </a:spcAft>
            </a:pPr>
            <a:r>
              <a:rPr lang="en-US" sz="1600" dirty="0">
                <a:cs typeface="Calibri Light" panose="020F0302020204030204" pitchFamily="34" charset="0"/>
              </a:rPr>
              <a:t>		        →  while the </a:t>
            </a:r>
            <a:r>
              <a:rPr lang="en-US" sz="1600" b="1" dirty="0">
                <a:cs typeface="Calibri Light" panose="020F0302020204030204" pitchFamily="34" charset="0"/>
              </a:rPr>
              <a:t>bladder neck closes simultaneously under alpha-1 tone</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Alpha-1a-selective blockers (tamsulosin, silodosin)</a:t>
            </a:r>
            <a:r>
              <a:rPr lang="en-US" sz="1600" dirty="0">
                <a:cs typeface="Calibri Light" panose="020F0302020204030204" pitchFamily="34" charset="0"/>
              </a:rPr>
              <a:t> impair both → </a:t>
            </a:r>
            <a:r>
              <a:rPr lang="en-US" sz="1600" b="1" dirty="0">
                <a:cs typeface="Calibri Light" panose="020F0302020204030204" pitchFamily="34" charset="0"/>
              </a:rPr>
              <a:t>retrograde or absent ejaculation</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Orgasm preserved, fluid absent — the #1 uncounseled reason men quietly stop tamsulosin</a:t>
            </a:r>
          </a:p>
        </p:txBody>
      </p:sp>
    </p:spTree>
    <p:extLst>
      <p:ext uri="{BB962C8B-B14F-4D97-AF65-F5344CB8AC3E}">
        <p14:creationId xmlns:p14="http://schemas.microsoft.com/office/powerpoint/2010/main" val="14307337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Ejaculation ≠ Orgasm</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Ejaculation: rhythmic </a:t>
            </a:r>
            <a:r>
              <a:rPr lang="en-US" sz="1600" b="1" dirty="0">
                <a:cs typeface="Calibri Light" panose="020F0302020204030204" pitchFamily="34" charset="0"/>
              </a:rPr>
              <a:t>pudendal-driven</a:t>
            </a:r>
            <a:r>
              <a:rPr lang="en-US" sz="1600" dirty="0">
                <a:cs typeface="Calibri Light" panose="020F0302020204030204" pitchFamily="34" charset="0"/>
              </a:rPr>
              <a:t> contraction of bulbospongiosus + ischiocavernosus</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Central serotonergic tone sets the ejaculatory threshold</a:t>
            </a:r>
            <a:r>
              <a:rPr lang="en-US" sz="1600" dirty="0">
                <a:cs typeface="Calibri Light" panose="020F0302020204030204" pitchFamily="34" charset="0"/>
              </a:rPr>
              <a:t> (5-HT2C inhibitory, 5-HT1A facilitatory) — hold for SSRIs</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Orgasm is a cortical event, dissociable from ejaculation:</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After radical prostatectomy: orgasm </a:t>
            </a:r>
            <a:r>
              <a:rPr lang="en-US" sz="1600" b="1" dirty="0">
                <a:cs typeface="Calibri Light" panose="020F0302020204030204" pitchFamily="34" charset="0"/>
              </a:rPr>
              <a:t>without</a:t>
            </a:r>
            <a:r>
              <a:rPr lang="en-US" sz="1600" dirty="0">
                <a:cs typeface="Calibri Light" panose="020F0302020204030204" pitchFamily="34" charset="0"/>
              </a:rPr>
              <a:t> emission</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On alpha-blockers: orgasm with </a:t>
            </a:r>
            <a:r>
              <a:rPr lang="en-US" sz="1600" b="1" dirty="0">
                <a:cs typeface="Calibri Light" panose="020F0302020204030204" pitchFamily="34" charset="0"/>
              </a:rPr>
              <a:t>retrograde</a:t>
            </a:r>
            <a:r>
              <a:rPr lang="en-US" sz="1600" dirty="0">
                <a:cs typeface="Calibri Light" panose="020F0302020204030204" pitchFamily="34" charset="0"/>
              </a:rPr>
              <a:t> flow</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Patients conflate the three — physicians must not</a:t>
            </a:r>
          </a:p>
        </p:txBody>
      </p:sp>
    </p:spTree>
    <p:extLst>
      <p:ext uri="{BB962C8B-B14F-4D97-AF65-F5344CB8AC3E}">
        <p14:creationId xmlns:p14="http://schemas.microsoft.com/office/powerpoint/2010/main" val="14307337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77359-BA5E-60C8-8553-C0FCFB6CC7B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1A5516A-40E0-F4F0-231C-336597DD20B7}"/>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Priapism: Two Diseases, One Word</a:t>
            </a:r>
          </a:p>
        </p:txBody>
      </p:sp>
      <p:graphicFrame>
        <p:nvGraphicFramePr>
          <p:cNvPr id="8" name="Table 7" descr="Table contrasting ischemic and non-ischemic priapism. Ischemic priapism is a painful rigid compartment syndrome caused by sickle cell disease, intracavernosal injections, trazodone, antipsychotics, or cocaine, with hypoxic acidotic blood gas, and is an emergency treated with aspiration, phenylephrine, and shunting before fibrosis develops at 24 to 48 hours. Non-ischemic priapism is a painless partial erection from an arterial fistula after perineal trauma, with arterial blood gas, and is not emergent."/>
          <p:cNvGraphicFramePr>
            <a:graphicFrameLocks noGrp="1"/>
          </p:cNvGraphicFramePr>
          <p:nvPr>
            <p:extLst>
              <p:ext uri="{D42A27DB-BD31-4B8C-83A1-F6EECF244321}">
                <p14:modId xmlns:p14="http://schemas.microsoft.com/office/powerpoint/2010/main" val="3038451387"/>
              </p:ext>
            </p:extLst>
          </p:nvPr>
        </p:nvGraphicFramePr>
        <p:xfrm>
          <a:off x="1066800" y="1651635"/>
          <a:ext cx="10058400" cy="243840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84048">
                <a:tc>
                  <a:txBody>
                    <a:bodyPr/>
                    <a:lstStyle/>
                    <a:p>
                      <a:endParaRPr dirty="0"/>
                    </a:p>
                  </a:txBody>
                  <a:tcPr marL="73152" marR="73152" marT="27432" marB="27432">
                    <a:solidFill>
                      <a:srgbClr val="C8102E"/>
                    </a:solidFill>
                  </a:tcPr>
                </a:tc>
                <a:tc>
                  <a:txBody>
                    <a:bodyPr/>
                    <a:lstStyle/>
                    <a:p>
                      <a:r>
                        <a:rPr sz="1400" b="1">
                          <a:solidFill>
                            <a:srgbClr val="FFFFFF"/>
                          </a:solidFill>
                          <a:latin typeface="Arial"/>
                        </a:rPr>
                        <a:t>Ischemic (low-flow)</a:t>
                      </a:r>
                    </a:p>
                  </a:txBody>
                  <a:tcPr marL="73152" marR="73152" marT="27432" marB="27432">
                    <a:solidFill>
                      <a:srgbClr val="C8102E"/>
                    </a:solidFill>
                  </a:tcPr>
                </a:tc>
                <a:tc>
                  <a:txBody>
                    <a:bodyPr/>
                    <a:lstStyle/>
                    <a:p>
                      <a:r>
                        <a:rPr sz="1400" b="1">
                          <a:solidFill>
                            <a:srgbClr val="FFFFFF"/>
                          </a:solidFill>
                          <a:latin typeface="Arial"/>
                        </a:rPr>
                        <a:t>Non-ischemic (high-flow)</a:t>
                      </a:r>
                    </a:p>
                  </a:txBody>
                  <a:tcPr marL="73152" marR="73152" marT="27432" marB="27432">
                    <a:solidFill>
                      <a:srgbClr val="C8102E"/>
                    </a:solidFill>
                  </a:tcPr>
                </a:tc>
                <a:extLst>
                  <a:ext uri="{0D108BD9-81ED-4DB2-BD59-A6C34878D82A}">
                    <a16:rowId xmlns:a16="http://schemas.microsoft.com/office/drawing/2014/main" val="10000"/>
                  </a:ext>
                </a:extLst>
              </a:tr>
              <a:tr h="384048">
                <a:tc>
                  <a:txBody>
                    <a:bodyPr/>
                    <a:lstStyle/>
                    <a:p>
                      <a:r>
                        <a:rPr sz="1300" b="0">
                          <a:solidFill>
                            <a:srgbClr val="3F3F3F"/>
                          </a:solidFill>
                          <a:latin typeface="Arial"/>
                        </a:rPr>
                        <a:t>Mechanism</a:t>
                      </a:r>
                    </a:p>
                  </a:txBody>
                  <a:tcPr marL="73152" marR="73152" marT="27432" marB="27432"/>
                </a:tc>
                <a:tc>
                  <a:txBody>
                    <a:bodyPr/>
                    <a:lstStyle/>
                    <a:p>
                      <a:r>
                        <a:rPr sz="1300" b="0">
                          <a:solidFill>
                            <a:srgbClr val="3F3F3F"/>
                          </a:solidFill>
                          <a:latin typeface="Arial"/>
                        </a:rPr>
                        <a:t>Failed detumescence → </a:t>
                      </a:r>
                      <a:r>
                        <a:rPr sz="1300" b="1">
                          <a:solidFill>
                            <a:srgbClr val="3F3F3F"/>
                          </a:solidFill>
                          <a:latin typeface="Arial"/>
                        </a:rPr>
                        <a:t>compartment syndrome</a:t>
                      </a:r>
                    </a:p>
                  </a:txBody>
                  <a:tcPr marL="73152" marR="73152" marT="27432" marB="27432"/>
                </a:tc>
                <a:tc>
                  <a:txBody>
                    <a:bodyPr/>
                    <a:lstStyle/>
                    <a:p>
                      <a:r>
                        <a:rPr sz="1300" b="0">
                          <a:solidFill>
                            <a:srgbClr val="3F3F3F"/>
                          </a:solidFill>
                          <a:latin typeface="Arial"/>
                        </a:rPr>
                        <a:t>Arterial–lacunar fistula</a:t>
                      </a:r>
                    </a:p>
                  </a:txBody>
                  <a:tcPr marL="73152" marR="73152" marT="27432" marB="27432"/>
                </a:tc>
                <a:extLst>
                  <a:ext uri="{0D108BD9-81ED-4DB2-BD59-A6C34878D82A}">
                    <a16:rowId xmlns:a16="http://schemas.microsoft.com/office/drawing/2014/main" val="10001"/>
                  </a:ext>
                </a:extLst>
              </a:tr>
              <a:tr h="384048">
                <a:tc>
                  <a:txBody>
                    <a:bodyPr/>
                    <a:lstStyle/>
                    <a:p>
                      <a:r>
                        <a:rPr sz="1300" b="0">
                          <a:solidFill>
                            <a:srgbClr val="3F3F3F"/>
                          </a:solidFill>
                          <a:latin typeface="Arial"/>
                        </a:rPr>
                        <a:t>Exam</a:t>
                      </a:r>
                    </a:p>
                  </a:txBody>
                  <a:tcPr marL="73152" marR="73152" marT="27432" marB="27432"/>
                </a:tc>
                <a:tc>
                  <a:txBody>
                    <a:bodyPr/>
                    <a:lstStyle/>
                    <a:p>
                      <a:r>
                        <a:rPr sz="1300" b="0">
                          <a:solidFill>
                            <a:srgbClr val="3F3F3F"/>
                          </a:solidFill>
                          <a:latin typeface="Arial"/>
                        </a:rPr>
                        <a:t>Painful, rigid</a:t>
                      </a:r>
                    </a:p>
                  </a:txBody>
                  <a:tcPr marL="73152" marR="73152" marT="27432" marB="27432"/>
                </a:tc>
                <a:tc>
                  <a:txBody>
                    <a:bodyPr/>
                    <a:lstStyle/>
                    <a:p>
                      <a:r>
                        <a:rPr sz="1300" b="0">
                          <a:solidFill>
                            <a:srgbClr val="3F3F3F"/>
                          </a:solidFill>
                          <a:latin typeface="Arial"/>
                        </a:rPr>
                        <a:t>Painless, partial</a:t>
                      </a:r>
                    </a:p>
                  </a:txBody>
                  <a:tcPr marL="73152" marR="73152" marT="27432" marB="27432"/>
                </a:tc>
                <a:extLst>
                  <a:ext uri="{0D108BD9-81ED-4DB2-BD59-A6C34878D82A}">
                    <a16:rowId xmlns:a16="http://schemas.microsoft.com/office/drawing/2014/main" val="10002"/>
                  </a:ext>
                </a:extLst>
              </a:tr>
              <a:tr h="384048">
                <a:tc>
                  <a:txBody>
                    <a:bodyPr/>
                    <a:lstStyle/>
                    <a:p>
                      <a:r>
                        <a:rPr sz="1300" b="0">
                          <a:solidFill>
                            <a:srgbClr val="3F3F3F"/>
                          </a:solidFill>
                          <a:latin typeface="Arial"/>
                        </a:rPr>
                        <a:t>Causes</a:t>
                      </a:r>
                    </a:p>
                  </a:txBody>
                  <a:tcPr marL="73152" marR="73152" marT="27432" marB="27432"/>
                </a:tc>
                <a:tc>
                  <a:txBody>
                    <a:bodyPr/>
                    <a:lstStyle/>
                    <a:p>
                      <a:r>
                        <a:rPr sz="1300" b="0">
                          <a:solidFill>
                            <a:srgbClr val="3F3F3F"/>
                          </a:solidFill>
                          <a:latin typeface="Arial"/>
                        </a:rPr>
                        <a:t>Sickle cell · intracavernosal injection · trazodone · antipsychotics · cocaine</a:t>
                      </a:r>
                    </a:p>
                  </a:txBody>
                  <a:tcPr marL="73152" marR="73152" marT="27432" marB="27432"/>
                </a:tc>
                <a:tc>
                  <a:txBody>
                    <a:bodyPr/>
                    <a:lstStyle/>
                    <a:p>
                      <a:r>
                        <a:rPr sz="1300" b="0">
                          <a:solidFill>
                            <a:srgbClr val="3F3F3F"/>
                          </a:solidFill>
                          <a:latin typeface="Arial"/>
                        </a:rPr>
                        <a:t>Perineal / straddle trauma</a:t>
                      </a:r>
                    </a:p>
                  </a:txBody>
                  <a:tcPr marL="73152" marR="73152" marT="27432" marB="27432"/>
                </a:tc>
                <a:extLst>
                  <a:ext uri="{0D108BD9-81ED-4DB2-BD59-A6C34878D82A}">
                    <a16:rowId xmlns:a16="http://schemas.microsoft.com/office/drawing/2014/main" val="10003"/>
                  </a:ext>
                </a:extLst>
              </a:tr>
              <a:tr h="384048">
                <a:tc>
                  <a:txBody>
                    <a:bodyPr/>
                    <a:lstStyle/>
                    <a:p>
                      <a:r>
                        <a:rPr sz="1300" b="0">
                          <a:solidFill>
                            <a:srgbClr val="3F3F3F"/>
                          </a:solidFill>
                          <a:latin typeface="Arial"/>
                        </a:rPr>
                        <a:t>Cavernosal gas</a:t>
                      </a:r>
                    </a:p>
                  </a:txBody>
                  <a:tcPr marL="73152" marR="73152" marT="27432" marB="27432"/>
                </a:tc>
                <a:tc>
                  <a:txBody>
                    <a:bodyPr/>
                    <a:lstStyle/>
                    <a:p>
                      <a:r>
                        <a:rPr sz="1300" b="0">
                          <a:solidFill>
                            <a:srgbClr val="3F3F3F"/>
                          </a:solidFill>
                          <a:latin typeface="Arial"/>
                        </a:rPr>
                        <a:t>Hypoxic, hypercarbic, acidotic</a:t>
                      </a:r>
                    </a:p>
                  </a:txBody>
                  <a:tcPr marL="73152" marR="73152" marT="27432" marB="27432"/>
                </a:tc>
                <a:tc>
                  <a:txBody>
                    <a:bodyPr/>
                    <a:lstStyle/>
                    <a:p>
                      <a:r>
                        <a:rPr sz="1300" b="0">
                          <a:solidFill>
                            <a:srgbClr val="3F3F3F"/>
                          </a:solidFill>
                          <a:latin typeface="Arial"/>
                        </a:rPr>
                        <a:t>Arterial</a:t>
                      </a:r>
                    </a:p>
                  </a:txBody>
                  <a:tcPr marL="73152" marR="73152" marT="27432" marB="27432"/>
                </a:tc>
                <a:extLst>
                  <a:ext uri="{0D108BD9-81ED-4DB2-BD59-A6C34878D82A}">
                    <a16:rowId xmlns:a16="http://schemas.microsoft.com/office/drawing/2014/main" val="10004"/>
                  </a:ext>
                </a:extLst>
              </a:tr>
              <a:tr h="384048">
                <a:tc>
                  <a:txBody>
                    <a:bodyPr/>
                    <a:lstStyle/>
                    <a:p>
                      <a:r>
                        <a:rPr sz="1300" b="0">
                          <a:solidFill>
                            <a:srgbClr val="3F3F3F"/>
                          </a:solidFill>
                          <a:latin typeface="Arial"/>
                        </a:rPr>
                        <a:t>Action</a:t>
                      </a:r>
                    </a:p>
                  </a:txBody>
                  <a:tcPr marL="73152" marR="73152" marT="27432" marB="27432"/>
                </a:tc>
                <a:tc>
                  <a:txBody>
                    <a:bodyPr/>
                    <a:lstStyle/>
                    <a:p>
                      <a:r>
                        <a:rPr sz="1300" b="1">
                          <a:solidFill>
                            <a:srgbClr val="3F3F3F"/>
                          </a:solidFill>
                          <a:latin typeface="Arial"/>
                        </a:rPr>
                        <a:t>Emergency:</a:t>
                      </a:r>
                      <a:r>
                        <a:rPr sz="1300" b="0">
                          <a:solidFill>
                            <a:srgbClr val="3F3F3F"/>
                          </a:solidFill>
                          <a:latin typeface="Arial"/>
                        </a:rPr>
                        <a:t> aspirate, irrigate, phenylephrine, shunt — fibrosis by 24–48 h</a:t>
                      </a:r>
                    </a:p>
                  </a:txBody>
                  <a:tcPr marL="73152" marR="73152" marT="27432" marB="27432"/>
                </a:tc>
                <a:tc>
                  <a:txBody>
                    <a:bodyPr/>
                    <a:lstStyle/>
                    <a:p>
                      <a:r>
                        <a:rPr sz="1300" b="0" dirty="0">
                          <a:solidFill>
                            <a:srgbClr val="3F3F3F"/>
                          </a:solidFill>
                          <a:latin typeface="Arial"/>
                        </a:rPr>
                        <a:t>Not emergent — observe or embolize</a:t>
                      </a:r>
                    </a:p>
                  </a:txBody>
                  <a:tcPr marL="73152" marR="73152" marT="27432" marB="27432"/>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388891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668E454-3A2F-F355-AA23-7196041463A2}"/>
              </a:ext>
            </a:extLst>
          </p:cNvPr>
          <p:cNvSpPr txBox="1"/>
          <p:nvPr/>
        </p:nvSpPr>
        <p:spPr>
          <a:xfrm>
            <a:off x="0" y="2532888"/>
            <a:ext cx="12179302" cy="896112"/>
          </a:xfrm>
          <a:prstGeom prst="rect">
            <a:avLst/>
          </a:prstGeom>
          <a:noFill/>
        </p:spPr>
        <p:txBody>
          <a:bodyPr wrap="square" bIns="91440" rtlCol="0" anchor="ctr" anchorCtr="0">
            <a:noAutofit/>
          </a:bodyPr>
          <a:lstStyle/>
          <a:p>
            <a:pPr algn="ctr"/>
            <a:r>
              <a:rPr lang="en-US" sz="3200" dirty="0">
                <a:latin typeface="Georgia" panose="02040502050405020303" pitchFamily="18" charset="0"/>
              </a:rPr>
              <a:t>Part 5: Penis and Foreskin</a:t>
            </a:r>
          </a:p>
        </p:txBody>
      </p:sp>
    </p:spTree>
    <p:extLst>
      <p:ext uri="{BB962C8B-B14F-4D97-AF65-F5344CB8AC3E}">
        <p14:creationId xmlns:p14="http://schemas.microsoft.com/office/powerpoint/2010/main" val="24201147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6771-0A04-402D-0230-5BDCF1EAAF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AAE0B-062B-A7A3-C13A-BA0F46D0D6F3}"/>
              </a:ext>
            </a:extLst>
          </p:cNvPr>
          <p:cNvSpPr>
            <a:spLocks noGrp="1"/>
          </p:cNvSpPr>
          <p:nvPr>
            <p:ph sz="half" idx="1"/>
          </p:nvPr>
        </p:nvSpPr>
        <p:spPr>
          <a:xfrm>
            <a:off x="502920" y="1691640"/>
            <a:ext cx="5943600" cy="4663440"/>
          </a:xfrm>
        </p:spPr>
        <p:txBody>
          <a:bodyPr wrap="square"/>
          <a:lstStyle/>
          <a:p>
            <a:pPr>
              <a:spcAft>
                <a:spcPts val="400"/>
              </a:spcAft>
            </a:pPr>
            <a:r>
              <a:rPr sz="1500" b="1" dirty="0"/>
              <a:t>Physiologic phimosis</a:t>
            </a:r>
            <a:r>
              <a:rPr sz="1500" dirty="0"/>
              <a:t> is normal in young boys </a:t>
            </a:r>
            <a:endParaRPr lang="en-US" sz="1500" dirty="0"/>
          </a:p>
          <a:p>
            <a:pPr marL="0" indent="0">
              <a:spcAft>
                <a:spcPts val="400"/>
              </a:spcAft>
              <a:buNone/>
            </a:pPr>
            <a:r>
              <a:rPr lang="en-US" sz="1500" dirty="0"/>
              <a:t>	</a:t>
            </a:r>
            <a:r>
              <a:rPr sz="1500" dirty="0"/>
              <a:t>(separation by ≈3–5 y</a:t>
            </a:r>
            <a:r>
              <a:rPr lang="en-US" sz="1500" dirty="0"/>
              <a:t>ears of age</a:t>
            </a:r>
            <a:r>
              <a:rPr sz="1500" dirty="0"/>
              <a:t>) — </a:t>
            </a:r>
            <a:r>
              <a:rPr sz="1500" b="1" dirty="0"/>
              <a:t>do not forcibly retract</a:t>
            </a:r>
            <a:endParaRPr lang="en-US" dirty="0">
              <a:solidFill>
                <a:schemeClr val="tx1">
                  <a:lumMod val="50000"/>
                  <a:lumOff val="50000"/>
                </a:schemeClr>
              </a:solidFill>
              <a:latin typeface="Calibri Light" panose="020F0302020204030204" pitchFamily="34" charset="0"/>
              <a:cs typeface="Calibri Light" panose="020F0302020204030204" pitchFamily="34" charset="0"/>
            </a:endParaRPr>
          </a:p>
          <a:p>
            <a:pPr>
              <a:spcAft>
                <a:spcPts val="400"/>
              </a:spcAft>
            </a:pPr>
            <a:r>
              <a:rPr sz="1500" b="1" dirty="0"/>
              <a:t>Pathologic:</a:t>
            </a:r>
            <a:r>
              <a:rPr sz="1500" dirty="0"/>
              <a:t> lichen </a:t>
            </a:r>
            <a:r>
              <a:rPr sz="1500" dirty="0" err="1"/>
              <a:t>sclerosus</a:t>
            </a:r>
            <a:r>
              <a:rPr sz="1500" dirty="0"/>
              <a:t> (BXO), recurrent balanitis, diabetes → topical steroid ± circumcision</a:t>
            </a:r>
          </a:p>
          <a:p>
            <a:pPr>
              <a:spcAft>
                <a:spcPts val="400"/>
              </a:spcAft>
            </a:pPr>
            <a:r>
              <a:rPr sz="1500" b="1" dirty="0"/>
              <a:t>Paraphimosis = the emergency:</a:t>
            </a:r>
            <a:r>
              <a:rPr sz="1500" dirty="0"/>
              <a:t> trapped retracted foreskin → venous congestion → edema → arterial compromise</a:t>
            </a:r>
          </a:p>
          <a:p>
            <a:pPr>
              <a:spcAft>
                <a:spcPts val="400"/>
              </a:spcAft>
            </a:pPr>
            <a:r>
              <a:rPr sz="1500" b="1" dirty="0"/>
              <a:t>Frequently iatrogenic — replace the foreskin after every catheter and every exam.</a:t>
            </a:r>
            <a:r>
              <a:rPr sz="1500" dirty="0"/>
              <a:t> The most preventable urologic emergency</a:t>
            </a:r>
            <a:endParaRPr lang="en-US" sz="1500" dirty="0"/>
          </a:p>
          <a:p>
            <a:pPr>
              <a:spcAft>
                <a:spcPts val="400"/>
              </a:spcAft>
            </a:pPr>
            <a:r>
              <a:rPr lang="en-US" sz="1500" dirty="0"/>
              <a:t>Manual reduction; occasionally dorsal slit</a:t>
            </a:r>
          </a:p>
        </p:txBody>
      </p:sp>
      <p:sp>
        <p:nvSpPr>
          <p:cNvPr id="6" name="Title 1">
            <a:extLst>
              <a:ext uri="{FF2B5EF4-FFF2-40B4-BE49-F238E27FC236}">
                <a16:creationId xmlns:a16="http://schemas.microsoft.com/office/drawing/2014/main" id="{4C85AA9B-58DA-A834-7681-5B96134CC291}"/>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Phimosis and Paraphimosis</a:t>
            </a:r>
          </a:p>
        </p:txBody>
      </p:sp>
      <p:pic>
        <p:nvPicPr>
          <p:cNvPr id="7" name="Picture 6" descr="Clinical photograph of paraphimosis showing a swollen edematous glans with the retracted foreskin trapped behind it forming a constricting band."/>
          <p:cNvPicPr>
            <a:picLocks noChangeAspect="1"/>
          </p:cNvPicPr>
          <p:nvPr/>
        </p:nvPicPr>
        <p:blipFill>
          <a:blip r:embed="rId3"/>
          <a:stretch>
            <a:fillRect/>
          </a:stretch>
        </p:blipFill>
        <p:spPr>
          <a:xfrm>
            <a:off x="6766560" y="1691640"/>
            <a:ext cx="4480560" cy="4480560"/>
          </a:xfrm>
          <a:prstGeom prst="rect">
            <a:avLst/>
          </a:prstGeom>
        </p:spPr>
      </p:pic>
    </p:spTree>
    <p:extLst>
      <p:ext uri="{BB962C8B-B14F-4D97-AF65-F5344CB8AC3E}">
        <p14:creationId xmlns:p14="http://schemas.microsoft.com/office/powerpoint/2010/main" val="27759225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6771-0A04-402D-0230-5BDCF1EAAF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AAE0B-062B-A7A3-C13A-BA0F46D0D6F3}"/>
              </a:ext>
            </a:extLst>
          </p:cNvPr>
          <p:cNvSpPr>
            <a:spLocks noGrp="1"/>
          </p:cNvSpPr>
          <p:nvPr>
            <p:ph sz="half" idx="1"/>
          </p:nvPr>
        </p:nvSpPr>
        <p:spPr>
          <a:xfrm>
            <a:off x="502920" y="1691640"/>
            <a:ext cx="5943600" cy="4663440"/>
          </a:xfrm>
        </p:spPr>
        <p:txBody>
          <a:bodyPr wrap="square"/>
          <a:lstStyle/>
          <a:p>
            <a:pPr>
              <a:spcAft>
                <a:spcPts val="400"/>
              </a:spcAft>
            </a:pPr>
            <a:r>
              <a:rPr sz="1500"/>
              <a:t>Fibrotic plaque of the </a:t>
            </a:r>
            <a:r>
              <a:rPr sz="1500" b="1"/>
              <a:t>tunica albuginea</a:t>
            </a:r>
            <a:r>
              <a:rPr sz="1500"/>
              <a:t> (appearance #2 of 3)</a:t>
            </a:r>
            <a:endParaRPr lang="en-US" dirty="0">
              <a:solidFill>
                <a:schemeClr val="tx1">
                  <a:lumMod val="50000"/>
                  <a:lumOff val="50000"/>
                </a:schemeClr>
              </a:solidFill>
              <a:latin typeface="Calibri Light" panose="020F0302020204030204" pitchFamily="34" charset="0"/>
              <a:cs typeface="Calibri Light" panose="020F0302020204030204" pitchFamily="34" charset="0"/>
            </a:endParaRPr>
          </a:p>
          <a:p>
            <a:pPr>
              <a:spcAft>
                <a:spcPts val="400"/>
              </a:spcAft>
            </a:pPr>
            <a:r>
              <a:rPr sz="1500"/>
              <a:t>Repetitive microtrauma → subtunical bleeding → aberrant </a:t>
            </a:r>
            <a:r>
              <a:rPr sz="1500" b="1"/>
              <a:t>TGF-β wound healing</a:t>
            </a:r>
            <a:r>
              <a:rPr sz="1500"/>
              <a:t>, disordered collagen</a:t>
            </a:r>
          </a:p>
          <a:p>
            <a:pPr>
              <a:spcAft>
                <a:spcPts val="400"/>
              </a:spcAft>
            </a:pPr>
            <a:r>
              <a:rPr sz="1500" b="1"/>
              <a:t>Two phases:</a:t>
            </a:r>
            <a:r>
              <a:rPr sz="1500"/>
              <a:t> acute/active (pain, evolving curvature, 6–18 mo) → chronic/stable</a:t>
            </a:r>
          </a:p>
          <a:p>
            <a:pPr>
              <a:spcAft>
                <a:spcPts val="400"/>
              </a:spcAft>
            </a:pPr>
            <a:r>
              <a:rPr sz="1500"/>
              <a:t>Associations: </a:t>
            </a:r>
            <a:r>
              <a:rPr sz="1500" b="1"/>
              <a:t>Dupuytren contracture</a:t>
            </a:r>
            <a:r>
              <a:rPr sz="1500"/>
              <a:t>, plantar fibromatosis, diabetes, post-prostatectomy</a:t>
            </a:r>
          </a:p>
          <a:p>
            <a:pPr>
              <a:spcAft>
                <a:spcPts val="400"/>
              </a:spcAft>
            </a:pPr>
            <a:r>
              <a:rPr sz="1500"/>
              <a:t>Presents: plaque, curvature, shortening, pain, ± ED (often venous leak)</a:t>
            </a:r>
          </a:p>
        </p:txBody>
      </p:sp>
      <p:sp>
        <p:nvSpPr>
          <p:cNvPr id="6" name="Title 1">
            <a:extLst>
              <a:ext uri="{FF2B5EF4-FFF2-40B4-BE49-F238E27FC236}">
                <a16:creationId xmlns:a16="http://schemas.microsoft.com/office/drawing/2014/main" id="{4C85AA9B-58DA-A834-7681-5B96134CC291}"/>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Peyronie Disease 1 of 2: Mechanism</a:t>
            </a:r>
          </a:p>
        </p:txBody>
      </p:sp>
      <p:pic>
        <p:nvPicPr>
          <p:cNvPr id="7" name="Picture 6" descr="Diagram of Peyronie disease showing a fibrous plaque in the tunica albuginea causing dorsal curvature of the erect penis, with a cross-section identifying the corpora cavernosa and corpus spongiosum."/>
          <p:cNvPicPr>
            <a:picLocks noChangeAspect="1"/>
          </p:cNvPicPr>
          <p:nvPr/>
        </p:nvPicPr>
        <p:blipFill>
          <a:blip r:embed="rId3"/>
          <a:stretch>
            <a:fillRect/>
          </a:stretch>
        </p:blipFill>
        <p:spPr>
          <a:xfrm>
            <a:off x="6629400" y="1729816"/>
            <a:ext cx="4754880" cy="4404207"/>
          </a:xfrm>
          <a:prstGeom prst="rect">
            <a:avLst/>
          </a:prstGeom>
        </p:spPr>
      </p:pic>
    </p:spTree>
    <p:extLst>
      <p:ext uri="{BB962C8B-B14F-4D97-AF65-F5344CB8AC3E}">
        <p14:creationId xmlns:p14="http://schemas.microsoft.com/office/powerpoint/2010/main" val="27759225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Peyronie Disease 2 of 2: Treatment — Stable Phase Only</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Intralesional collagenase clostridium histolyticum</a:t>
            </a:r>
            <a:r>
              <a:rPr lang="en-US" sz="1600" dirty="0">
                <a:cs typeface="Calibri Light" panose="020F0302020204030204" pitchFamily="34" charset="0"/>
              </a:rPr>
              <a:t> + modeling — the only FDA-approved injectable</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Intralesional verapamil or interferon — alternatives</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Plication</a:t>
            </a:r>
            <a:r>
              <a:rPr lang="en-US" sz="1600" dirty="0">
                <a:cs typeface="Calibri Light" panose="020F0302020204030204" pitchFamily="34" charset="0"/>
              </a:rPr>
              <a:t> — good erections, adequate length, moderate curvature</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Plaque incision/excision + graft</a:t>
            </a:r>
            <a:r>
              <a:rPr lang="en-US" sz="1600" dirty="0">
                <a:cs typeface="Calibri Light" panose="020F0302020204030204" pitchFamily="34" charset="0"/>
              </a:rPr>
              <a:t> — severe curvature (higher ED risk)</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Penile prosthesis</a:t>
            </a:r>
            <a:r>
              <a:rPr lang="en-US" sz="1600" dirty="0">
                <a:cs typeface="Calibri Light" panose="020F0302020204030204" pitchFamily="34" charset="0"/>
              </a:rPr>
              <a:t> when refractory ED coexists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Nothing gets injected (board answer) or operated during the </a:t>
            </a:r>
            <a:r>
              <a:rPr lang="en-US" sz="1600" b="1" dirty="0">
                <a:cs typeface="Calibri Light" panose="020F0302020204030204" pitchFamily="34" charset="0"/>
              </a:rPr>
              <a:t>active phase</a:t>
            </a:r>
          </a:p>
        </p:txBody>
      </p:sp>
    </p:spTree>
    <p:extLst>
      <p:ext uri="{BB962C8B-B14F-4D97-AF65-F5344CB8AC3E}">
        <p14:creationId xmlns:p14="http://schemas.microsoft.com/office/powerpoint/2010/main" val="14307337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6771-0A04-402D-0230-5BDCF1EAAF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AAE0B-062B-A7A3-C13A-BA0F46D0D6F3}"/>
              </a:ext>
            </a:extLst>
          </p:cNvPr>
          <p:cNvSpPr>
            <a:spLocks noGrp="1"/>
          </p:cNvSpPr>
          <p:nvPr>
            <p:ph sz="half" idx="1"/>
          </p:nvPr>
        </p:nvSpPr>
        <p:spPr>
          <a:xfrm>
            <a:off x="502920" y="1691640"/>
            <a:ext cx="5943600" cy="4663440"/>
          </a:xfrm>
        </p:spPr>
        <p:txBody>
          <a:bodyPr wrap="square"/>
          <a:lstStyle/>
          <a:p>
            <a:pPr>
              <a:spcAft>
                <a:spcPts val="400"/>
              </a:spcAft>
            </a:pPr>
            <a:r>
              <a:rPr sz="1500" dirty="0"/>
              <a:t>Rupture of the </a:t>
            </a:r>
            <a:r>
              <a:rPr sz="1500" b="1" dirty="0"/>
              <a:t>tunica albuginea of the corpus cavernosum</a:t>
            </a:r>
            <a:r>
              <a:rPr sz="1500" dirty="0"/>
              <a:t> during erection</a:t>
            </a:r>
            <a:endParaRPr lang="en-US" dirty="0">
              <a:solidFill>
                <a:schemeClr val="tx1">
                  <a:lumMod val="50000"/>
                  <a:lumOff val="50000"/>
                </a:schemeClr>
              </a:solidFill>
              <a:latin typeface="Calibri Light" panose="020F0302020204030204" pitchFamily="34" charset="0"/>
              <a:cs typeface="Calibri Light" panose="020F0302020204030204" pitchFamily="34" charset="0"/>
            </a:endParaRPr>
          </a:p>
          <a:p>
            <a:pPr>
              <a:spcAft>
                <a:spcPts val="400"/>
              </a:spcAft>
            </a:pPr>
            <a:r>
              <a:rPr lang="en-US" sz="1500" dirty="0"/>
              <a:t>Tunica thins from ≈2 mm to </a:t>
            </a:r>
            <a:r>
              <a:rPr lang="en-US" sz="1500" b="1" dirty="0"/>
              <a:t>0.25–0.5 mm when erect</a:t>
            </a:r>
            <a:r>
              <a:rPr lang="en-US" sz="1500" dirty="0"/>
              <a:t> — why fracture is an erect-state injury</a:t>
            </a:r>
          </a:p>
          <a:p>
            <a:pPr>
              <a:spcAft>
                <a:spcPts val="400"/>
              </a:spcAft>
            </a:pPr>
            <a:r>
              <a:rPr sz="1500" dirty="0"/>
              <a:t>Pop → immediate detumescence → pain → </a:t>
            </a:r>
            <a:r>
              <a:rPr sz="1500" b="1" dirty="0"/>
              <a:t>eggplant deformity</a:t>
            </a:r>
            <a:r>
              <a:rPr sz="1500" dirty="0"/>
              <a:t> (Buck fascia contains the hematoma)</a:t>
            </a:r>
          </a:p>
          <a:p>
            <a:pPr>
              <a:spcAft>
                <a:spcPts val="400"/>
              </a:spcAft>
            </a:pPr>
            <a:r>
              <a:rPr sz="1500" b="1" dirty="0"/>
              <a:t>Urethral injury in 10–20%:</a:t>
            </a:r>
            <a:r>
              <a:rPr sz="1500" dirty="0"/>
              <a:t> blood at meatus, hematuria, cannot void → </a:t>
            </a:r>
            <a:r>
              <a:rPr sz="1500" b="1" dirty="0"/>
              <a:t>retrograde urethrogram</a:t>
            </a:r>
          </a:p>
          <a:p>
            <a:pPr>
              <a:spcAft>
                <a:spcPts val="400"/>
              </a:spcAft>
            </a:pPr>
            <a:r>
              <a:rPr sz="1500" b="1" dirty="0"/>
              <a:t>Emergency: prompt exploration and repair</a:t>
            </a:r>
            <a:r>
              <a:rPr sz="1500" dirty="0"/>
              <a:t> — delay → ED and curvature</a:t>
            </a:r>
          </a:p>
        </p:txBody>
      </p:sp>
      <p:sp>
        <p:nvSpPr>
          <p:cNvPr id="6" name="Title 1">
            <a:extLst>
              <a:ext uri="{FF2B5EF4-FFF2-40B4-BE49-F238E27FC236}">
                <a16:creationId xmlns:a16="http://schemas.microsoft.com/office/drawing/2014/main" id="{4C85AA9B-58DA-A834-7681-5B96134CC291}"/>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Penile Fracture</a:t>
            </a:r>
          </a:p>
        </p:txBody>
      </p:sp>
      <p:pic>
        <p:nvPicPr>
          <p:cNvPr id="7" name="Picture 6" descr="Two intraoperative photographs of penile fracture. Figure 1 shows the eggplant deformity with a swollen ecchymotic penile shaft. Figure 2 shows the surgically exposed transverse tear in the tunica albuginea."/>
          <p:cNvPicPr>
            <a:picLocks noChangeAspect="1"/>
          </p:cNvPicPr>
          <p:nvPr/>
        </p:nvPicPr>
        <p:blipFill>
          <a:blip r:embed="rId3"/>
          <a:stretch>
            <a:fillRect/>
          </a:stretch>
        </p:blipFill>
        <p:spPr>
          <a:xfrm>
            <a:off x="6629400" y="2877670"/>
            <a:ext cx="4754880" cy="2108498"/>
          </a:xfrm>
          <a:prstGeom prst="rect">
            <a:avLst/>
          </a:prstGeom>
        </p:spPr>
      </p:pic>
    </p:spTree>
    <p:extLst>
      <p:ext uri="{BB962C8B-B14F-4D97-AF65-F5344CB8AC3E}">
        <p14:creationId xmlns:p14="http://schemas.microsoft.com/office/powerpoint/2010/main" val="27759225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Poll 2: The Audible Snap</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A 30-year-old hears a snap during intercourse → immediate detumescence, pain, swelling, ecchymosis, deviation.</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Rupture of which structure?</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A. Corpus spongiosum</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B. Tunica albuginea of the corpus cavernosum</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C. Suspensory ligament</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D. Bulbourethral gland</a:t>
            </a:r>
          </a:p>
        </p:txBody>
      </p:sp>
    </p:spTree>
    <p:extLst>
      <p:ext uri="{BB962C8B-B14F-4D97-AF65-F5344CB8AC3E}">
        <p14:creationId xmlns:p14="http://schemas.microsoft.com/office/powerpoint/2010/main" val="14307337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668E454-3A2F-F355-AA23-7196041463A2}"/>
              </a:ext>
            </a:extLst>
          </p:cNvPr>
          <p:cNvSpPr txBox="1"/>
          <p:nvPr/>
        </p:nvSpPr>
        <p:spPr>
          <a:xfrm>
            <a:off x="0" y="2532888"/>
            <a:ext cx="12179302" cy="896112"/>
          </a:xfrm>
          <a:prstGeom prst="rect">
            <a:avLst/>
          </a:prstGeom>
          <a:noFill/>
        </p:spPr>
        <p:txBody>
          <a:bodyPr wrap="square" bIns="91440" rtlCol="0" anchor="ctr" anchorCtr="0">
            <a:noAutofit/>
          </a:bodyPr>
          <a:lstStyle/>
          <a:p>
            <a:pPr algn="ctr"/>
            <a:r>
              <a:rPr lang="en-US" sz="3200" dirty="0">
                <a:latin typeface="Georgia" panose="02040502050405020303" pitchFamily="18" charset="0"/>
              </a:rPr>
              <a:t>Break — Back in 5 minutes</a:t>
            </a:r>
          </a:p>
        </p:txBody>
      </p:sp>
    </p:spTree>
    <p:extLst>
      <p:ext uri="{BB962C8B-B14F-4D97-AF65-F5344CB8AC3E}">
        <p14:creationId xmlns:p14="http://schemas.microsoft.com/office/powerpoint/2010/main" val="24201147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668E454-3A2F-F355-AA23-7196041463A2}"/>
              </a:ext>
            </a:extLst>
          </p:cNvPr>
          <p:cNvSpPr txBox="1"/>
          <p:nvPr/>
        </p:nvSpPr>
        <p:spPr>
          <a:xfrm>
            <a:off x="0" y="2532888"/>
            <a:ext cx="12179302" cy="896112"/>
          </a:xfrm>
          <a:prstGeom prst="rect">
            <a:avLst/>
          </a:prstGeom>
          <a:noFill/>
        </p:spPr>
        <p:txBody>
          <a:bodyPr wrap="square" bIns="91440" rtlCol="0" anchor="ctr" anchorCtr="0">
            <a:noAutofit/>
          </a:bodyPr>
          <a:lstStyle/>
          <a:p>
            <a:pPr algn="ctr"/>
            <a:r>
              <a:rPr lang="en-US" sz="3200" dirty="0">
                <a:latin typeface="Georgia" panose="02040502050405020303" pitchFamily="18" charset="0"/>
              </a:rPr>
              <a:t>Part 6: Scrotum and Testis</a:t>
            </a:r>
          </a:p>
        </p:txBody>
      </p:sp>
    </p:spTree>
    <p:extLst>
      <p:ext uri="{BB962C8B-B14F-4D97-AF65-F5344CB8AC3E}">
        <p14:creationId xmlns:p14="http://schemas.microsoft.com/office/powerpoint/2010/main" val="24201147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Case A Revisited: The Acute Scrotum</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17-year-old · sudden severe left scrotal pain during lacrosse · 3 hours · nausea · prior self-resolving episode</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Differential:</a:t>
            </a:r>
            <a:r>
              <a:rPr lang="en-US" sz="1600" dirty="0">
                <a:cs typeface="Calibri Light" panose="020F0302020204030204" pitchFamily="34" charset="0"/>
              </a:rPr>
              <a:t> torsion · epididymitis/orchitis · torsed appendix testis · testicular rupture · incarcerated hernia · Fournier gangrene</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The prior self-resolving episode suggests </a:t>
            </a:r>
            <a:r>
              <a:rPr lang="en-US" sz="1600" b="1" dirty="0">
                <a:cs typeface="Calibri Light" panose="020F0302020204030204" pitchFamily="34" charset="0"/>
              </a:rPr>
              <a:t>intermittent torsion</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What one exam finding do you check first?</a:t>
            </a:r>
          </a:p>
        </p:txBody>
      </p:sp>
    </p:spTree>
    <p:extLst>
      <p:ext uri="{BB962C8B-B14F-4D97-AF65-F5344CB8AC3E}">
        <p14:creationId xmlns:p14="http://schemas.microsoft.com/office/powerpoint/2010/main" val="14307337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77359-BA5E-60C8-8553-C0FCFB6CC7B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1A5516A-40E0-F4F0-231C-336597DD20B7}"/>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Torsion vs Epididymitis: Five Discriminators</a:t>
            </a:r>
          </a:p>
        </p:txBody>
      </p:sp>
      <p:sp>
        <p:nvSpPr>
          <p:cNvPr id="7" name="Content Placeholder 2">
            <a:extLst>
              <a:ext uri="{FF2B5EF4-FFF2-40B4-BE49-F238E27FC236}">
                <a16:creationId xmlns:a16="http://schemas.microsoft.com/office/drawing/2014/main" id="{29499C47-E204-4621-8A69-334EBFD433BC}"/>
              </a:ext>
            </a:extLst>
          </p:cNvPr>
          <p:cNvSpPr txBox="1">
            <a:spLocks/>
          </p:cNvSpPr>
          <p:nvPr/>
        </p:nvSpPr>
        <p:spPr>
          <a:xfrm>
            <a:off x="640080" y="4041648"/>
            <a:ext cx="10881360" cy="2359152"/>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sz="1600" dirty="0"/>
              <a:t>Scrotal </a:t>
            </a:r>
            <a:r>
              <a:rPr sz="1600" b="1" dirty="0"/>
              <a:t>warmth and erythema occur in both</a:t>
            </a:r>
            <a:r>
              <a:rPr sz="1600" dirty="0"/>
              <a:t> — warmth alone excludes nothing</a:t>
            </a:r>
            <a:endParaRPr lang="en-US" sz="1600" dirty="0">
              <a:solidFill>
                <a:schemeClr val="tx1">
                  <a:lumMod val="50000"/>
                  <a:lumOff val="50000"/>
                </a:schemeClr>
              </a:solidFill>
              <a:latin typeface="Calibri Light" panose="020F0302020204030204" pitchFamily="34" charset="0"/>
              <a:cs typeface="Calibri Light" panose="020F0302020204030204" pitchFamily="34" charset="0"/>
            </a:endParaRPr>
          </a:p>
        </p:txBody>
      </p:sp>
      <p:graphicFrame>
        <p:nvGraphicFramePr>
          <p:cNvPr id="8" name="Table 7" descr="Table of five discriminators. Torsion has abrupt onset, peaks at ages 12 to 18 and neonatally, an absent cremasteric reflex, a high-riding transverse testis, a negative Prehn sign, and a normal urinalysis. Epididymitis has gradual onset over days, occurs in post-pubertal men and men over 35, a preserved cremasteric reflex, normal testis lie, a positive Prehn sign, and often pyuria."/>
          <p:cNvGraphicFramePr>
            <a:graphicFrameLocks noGrp="1"/>
          </p:cNvGraphicFramePr>
          <p:nvPr/>
        </p:nvGraphicFramePr>
        <p:xfrm>
          <a:off x="1066647" y="1508760"/>
          <a:ext cx="10058400" cy="2304288"/>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84048">
                <a:tc>
                  <a:txBody>
                    <a:bodyPr/>
                    <a:lstStyle/>
                    <a:p>
                      <a:endParaRPr/>
                    </a:p>
                  </a:txBody>
                  <a:tcPr marL="73152" marR="73152" marT="27432" marB="27432">
                    <a:solidFill>
                      <a:srgbClr val="C8102E"/>
                    </a:solidFill>
                  </a:tcPr>
                </a:tc>
                <a:tc>
                  <a:txBody>
                    <a:bodyPr/>
                    <a:lstStyle/>
                    <a:p>
                      <a:r>
                        <a:rPr sz="1400" b="1">
                          <a:solidFill>
                            <a:srgbClr val="FFFFFF"/>
                          </a:solidFill>
                          <a:latin typeface="Arial"/>
                        </a:rPr>
                        <a:t>Torsion</a:t>
                      </a:r>
                    </a:p>
                  </a:txBody>
                  <a:tcPr marL="73152" marR="73152" marT="27432" marB="27432">
                    <a:solidFill>
                      <a:srgbClr val="C8102E"/>
                    </a:solidFill>
                  </a:tcPr>
                </a:tc>
                <a:tc>
                  <a:txBody>
                    <a:bodyPr/>
                    <a:lstStyle/>
                    <a:p>
                      <a:r>
                        <a:rPr sz="1400" b="1">
                          <a:solidFill>
                            <a:srgbClr val="FFFFFF"/>
                          </a:solidFill>
                          <a:latin typeface="Arial"/>
                        </a:rPr>
                        <a:t>Epididymitis</a:t>
                      </a:r>
                    </a:p>
                  </a:txBody>
                  <a:tcPr marL="73152" marR="73152" marT="27432" marB="27432">
                    <a:solidFill>
                      <a:srgbClr val="C8102E"/>
                    </a:solidFill>
                  </a:tcPr>
                </a:tc>
                <a:extLst>
                  <a:ext uri="{0D108BD9-81ED-4DB2-BD59-A6C34878D82A}">
                    <a16:rowId xmlns:a16="http://schemas.microsoft.com/office/drawing/2014/main" val="10000"/>
                  </a:ext>
                </a:extLst>
              </a:tr>
              <a:tr h="384048">
                <a:tc>
                  <a:txBody>
                    <a:bodyPr/>
                    <a:lstStyle/>
                    <a:p>
                      <a:r>
                        <a:rPr sz="1300" b="0">
                          <a:solidFill>
                            <a:srgbClr val="3F3F3F"/>
                          </a:solidFill>
                          <a:latin typeface="Arial"/>
                        </a:rPr>
                        <a:t>Onset</a:t>
                      </a:r>
                    </a:p>
                  </a:txBody>
                  <a:tcPr marL="73152" marR="73152" marT="27432" marB="27432"/>
                </a:tc>
                <a:tc>
                  <a:txBody>
                    <a:bodyPr/>
                    <a:lstStyle/>
                    <a:p>
                      <a:r>
                        <a:rPr sz="1300" b="0">
                          <a:solidFill>
                            <a:srgbClr val="3F3F3F"/>
                          </a:solidFill>
                          <a:latin typeface="Arial"/>
                        </a:rPr>
                        <a:t>Abrupt (minutes)</a:t>
                      </a:r>
                    </a:p>
                  </a:txBody>
                  <a:tcPr marL="73152" marR="73152" marT="27432" marB="27432"/>
                </a:tc>
                <a:tc>
                  <a:txBody>
                    <a:bodyPr/>
                    <a:lstStyle/>
                    <a:p>
                      <a:r>
                        <a:rPr sz="1300" b="0">
                          <a:solidFill>
                            <a:srgbClr val="3F3F3F"/>
                          </a:solidFill>
                          <a:latin typeface="Arial"/>
                        </a:rPr>
                        <a:t>Gradual (days)</a:t>
                      </a:r>
                    </a:p>
                  </a:txBody>
                  <a:tcPr marL="73152" marR="73152" marT="27432" marB="27432"/>
                </a:tc>
                <a:extLst>
                  <a:ext uri="{0D108BD9-81ED-4DB2-BD59-A6C34878D82A}">
                    <a16:rowId xmlns:a16="http://schemas.microsoft.com/office/drawing/2014/main" val="10001"/>
                  </a:ext>
                </a:extLst>
              </a:tr>
              <a:tr h="384048">
                <a:tc>
                  <a:txBody>
                    <a:bodyPr/>
                    <a:lstStyle/>
                    <a:p>
                      <a:r>
                        <a:rPr sz="1300" b="0">
                          <a:solidFill>
                            <a:srgbClr val="3F3F3F"/>
                          </a:solidFill>
                          <a:latin typeface="Arial"/>
                        </a:rPr>
                        <a:t>Peak age</a:t>
                      </a:r>
                    </a:p>
                  </a:txBody>
                  <a:tcPr marL="73152" marR="73152" marT="27432" marB="27432"/>
                </a:tc>
                <a:tc>
                  <a:txBody>
                    <a:bodyPr/>
                    <a:lstStyle/>
                    <a:p>
                      <a:r>
                        <a:rPr sz="1300" b="0">
                          <a:solidFill>
                            <a:srgbClr val="3F3F3F"/>
                          </a:solidFill>
                          <a:latin typeface="Arial"/>
                        </a:rPr>
                        <a:t>12–18 y (and neonatal)</a:t>
                      </a:r>
                    </a:p>
                  </a:txBody>
                  <a:tcPr marL="73152" marR="73152" marT="27432" marB="27432"/>
                </a:tc>
                <a:tc>
                  <a:txBody>
                    <a:bodyPr/>
                    <a:lstStyle/>
                    <a:p>
                      <a:r>
                        <a:rPr sz="1300" b="0">
                          <a:solidFill>
                            <a:srgbClr val="3F3F3F"/>
                          </a:solidFill>
                          <a:latin typeface="Arial"/>
                        </a:rPr>
                        <a:t>Post-pubertal; &gt;35 y</a:t>
                      </a:r>
                    </a:p>
                  </a:txBody>
                  <a:tcPr marL="73152" marR="73152" marT="27432" marB="27432"/>
                </a:tc>
                <a:extLst>
                  <a:ext uri="{0D108BD9-81ED-4DB2-BD59-A6C34878D82A}">
                    <a16:rowId xmlns:a16="http://schemas.microsoft.com/office/drawing/2014/main" val="10002"/>
                  </a:ext>
                </a:extLst>
              </a:tr>
              <a:tr h="384048">
                <a:tc>
                  <a:txBody>
                    <a:bodyPr/>
                    <a:lstStyle/>
                    <a:p>
                      <a:r>
                        <a:rPr sz="1300" b="0">
                          <a:solidFill>
                            <a:srgbClr val="3F3F3F"/>
                          </a:solidFill>
                          <a:latin typeface="Arial"/>
                        </a:rPr>
                        <a:t>Cremasteric reflex</a:t>
                      </a:r>
                    </a:p>
                  </a:txBody>
                  <a:tcPr marL="73152" marR="73152" marT="27432" marB="27432"/>
                </a:tc>
                <a:tc>
                  <a:txBody>
                    <a:bodyPr/>
                    <a:lstStyle/>
                    <a:p>
                      <a:r>
                        <a:rPr sz="1300" b="1">
                          <a:solidFill>
                            <a:srgbClr val="3F3F3F"/>
                          </a:solidFill>
                          <a:latin typeface="Arial"/>
                        </a:rPr>
                        <a:t>Absent</a:t>
                      </a:r>
                    </a:p>
                  </a:txBody>
                  <a:tcPr marL="73152" marR="73152" marT="27432" marB="27432"/>
                </a:tc>
                <a:tc>
                  <a:txBody>
                    <a:bodyPr/>
                    <a:lstStyle/>
                    <a:p>
                      <a:r>
                        <a:rPr sz="1300" b="0">
                          <a:solidFill>
                            <a:srgbClr val="3F3F3F"/>
                          </a:solidFill>
                          <a:latin typeface="Arial"/>
                        </a:rPr>
                        <a:t>Present</a:t>
                      </a:r>
                    </a:p>
                  </a:txBody>
                  <a:tcPr marL="73152" marR="73152" marT="27432" marB="27432"/>
                </a:tc>
                <a:extLst>
                  <a:ext uri="{0D108BD9-81ED-4DB2-BD59-A6C34878D82A}">
                    <a16:rowId xmlns:a16="http://schemas.microsoft.com/office/drawing/2014/main" val="10003"/>
                  </a:ext>
                </a:extLst>
              </a:tr>
              <a:tr h="384048">
                <a:tc>
                  <a:txBody>
                    <a:bodyPr/>
                    <a:lstStyle/>
                    <a:p>
                      <a:r>
                        <a:rPr sz="1300" b="0">
                          <a:solidFill>
                            <a:srgbClr val="3F3F3F"/>
                          </a:solidFill>
                          <a:latin typeface="Arial"/>
                        </a:rPr>
                        <a:t>Testis lie</a:t>
                      </a:r>
                    </a:p>
                  </a:txBody>
                  <a:tcPr marL="73152" marR="73152" marT="27432" marB="27432"/>
                </a:tc>
                <a:tc>
                  <a:txBody>
                    <a:bodyPr/>
                    <a:lstStyle/>
                    <a:p>
                      <a:r>
                        <a:rPr sz="1300" b="0">
                          <a:solidFill>
                            <a:srgbClr val="3F3F3F"/>
                          </a:solidFill>
                          <a:latin typeface="Arial"/>
                        </a:rPr>
                        <a:t>High-riding, transverse</a:t>
                      </a:r>
                    </a:p>
                  </a:txBody>
                  <a:tcPr marL="73152" marR="73152" marT="27432" marB="27432"/>
                </a:tc>
                <a:tc>
                  <a:txBody>
                    <a:bodyPr/>
                    <a:lstStyle/>
                    <a:p>
                      <a:r>
                        <a:rPr sz="1300" b="0">
                          <a:solidFill>
                            <a:srgbClr val="3F3F3F"/>
                          </a:solidFill>
                          <a:latin typeface="Arial"/>
                        </a:rPr>
                        <a:t>Normal</a:t>
                      </a:r>
                    </a:p>
                  </a:txBody>
                  <a:tcPr marL="73152" marR="73152" marT="27432" marB="27432"/>
                </a:tc>
                <a:extLst>
                  <a:ext uri="{0D108BD9-81ED-4DB2-BD59-A6C34878D82A}">
                    <a16:rowId xmlns:a16="http://schemas.microsoft.com/office/drawing/2014/main" val="10004"/>
                  </a:ext>
                </a:extLst>
              </a:tr>
              <a:tr h="384048">
                <a:tc>
                  <a:txBody>
                    <a:bodyPr/>
                    <a:lstStyle/>
                    <a:p>
                      <a:r>
                        <a:rPr sz="1300" b="0">
                          <a:solidFill>
                            <a:srgbClr val="3F3F3F"/>
                          </a:solidFill>
                          <a:latin typeface="Arial"/>
                        </a:rPr>
                        <a:t>Prehn sign / UA</a:t>
                      </a:r>
                    </a:p>
                  </a:txBody>
                  <a:tcPr marL="73152" marR="73152" marT="27432" marB="27432"/>
                </a:tc>
                <a:tc>
                  <a:txBody>
                    <a:bodyPr/>
                    <a:lstStyle/>
                    <a:p>
                      <a:r>
                        <a:rPr sz="1300" b="0">
                          <a:solidFill>
                            <a:srgbClr val="3F3F3F"/>
                          </a:solidFill>
                          <a:latin typeface="Arial"/>
                        </a:rPr>
                        <a:t>Negative · UA normal</a:t>
                      </a:r>
                    </a:p>
                  </a:txBody>
                  <a:tcPr marL="73152" marR="73152" marT="27432" marB="27432"/>
                </a:tc>
                <a:tc>
                  <a:txBody>
                    <a:bodyPr/>
                    <a:lstStyle/>
                    <a:p>
                      <a:r>
                        <a:rPr sz="1300" b="0">
                          <a:solidFill>
                            <a:srgbClr val="3F3F3F"/>
                          </a:solidFill>
                          <a:latin typeface="Arial"/>
                        </a:rPr>
                        <a:t>Positive · often pyuria</a:t>
                      </a:r>
                    </a:p>
                  </a:txBody>
                  <a:tcPr marL="73152" marR="73152" marT="27432" marB="27432"/>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388891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6771-0A04-402D-0230-5BDCF1EAAF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AAE0B-062B-A7A3-C13A-BA0F46D0D6F3}"/>
              </a:ext>
            </a:extLst>
          </p:cNvPr>
          <p:cNvSpPr>
            <a:spLocks noGrp="1"/>
          </p:cNvSpPr>
          <p:nvPr>
            <p:ph sz="half" idx="1"/>
          </p:nvPr>
        </p:nvSpPr>
        <p:spPr>
          <a:xfrm>
            <a:off x="502920" y="1691640"/>
            <a:ext cx="5943600" cy="4663440"/>
          </a:xfrm>
        </p:spPr>
        <p:txBody>
          <a:bodyPr wrap="square"/>
          <a:lstStyle/>
          <a:p>
            <a:pPr>
              <a:spcAft>
                <a:spcPts val="400"/>
              </a:spcAft>
            </a:pPr>
            <a:r>
              <a:rPr sz="1500" b="1" dirty="0"/>
              <a:t>Bell-clapper deformity</a:t>
            </a:r>
            <a:r>
              <a:rPr sz="1500" dirty="0"/>
              <a:t> — high tunica insertion, freely hanging testis, </a:t>
            </a:r>
            <a:r>
              <a:rPr sz="1500" b="1" dirty="0"/>
              <a:t>bilateral in most</a:t>
            </a:r>
            <a:endParaRPr lang="en-US" dirty="0">
              <a:solidFill>
                <a:schemeClr val="tx1">
                  <a:lumMod val="50000"/>
                  <a:lumOff val="50000"/>
                </a:schemeClr>
              </a:solidFill>
              <a:latin typeface="Calibri Light" panose="020F0302020204030204" pitchFamily="34" charset="0"/>
              <a:cs typeface="Calibri Light" panose="020F0302020204030204" pitchFamily="34" charset="0"/>
            </a:endParaRPr>
          </a:p>
          <a:p>
            <a:pPr>
              <a:spcAft>
                <a:spcPts val="400"/>
              </a:spcAft>
            </a:pPr>
            <a:r>
              <a:rPr sz="1500" dirty="0"/>
              <a:t>Neonatal = </a:t>
            </a:r>
            <a:r>
              <a:rPr sz="1500" dirty="0" err="1"/>
              <a:t>extravaginal</a:t>
            </a:r>
            <a:r>
              <a:rPr sz="1500" dirty="0"/>
              <a:t> · adolescent = intravaginal</a:t>
            </a:r>
          </a:p>
          <a:p>
            <a:pPr>
              <a:spcAft>
                <a:spcPts val="400"/>
              </a:spcAft>
            </a:pPr>
            <a:r>
              <a:rPr sz="1500" b="1" dirty="0"/>
              <a:t>Salvage:</a:t>
            </a:r>
            <a:r>
              <a:rPr sz="1500" dirty="0"/>
              <a:t> &gt;90% at &lt;6 h · ≈50% at 12 h · &lt;10% beyond 24 h</a:t>
            </a:r>
          </a:p>
          <a:p>
            <a:pPr>
              <a:spcAft>
                <a:spcPts val="400"/>
              </a:spcAft>
            </a:pPr>
            <a:r>
              <a:rPr sz="1500" b="1" dirty="0"/>
              <a:t>Doppler supports but never overrides clinical suspicion — do not delay exploration for imaging</a:t>
            </a:r>
          </a:p>
          <a:p>
            <a:pPr>
              <a:spcAft>
                <a:spcPts val="400"/>
              </a:spcAft>
            </a:pPr>
            <a:r>
              <a:rPr sz="1500" dirty="0"/>
              <a:t>Manual detorsion (“open the book,” lateral) temporizes only</a:t>
            </a:r>
          </a:p>
          <a:p>
            <a:pPr>
              <a:spcAft>
                <a:spcPts val="400"/>
              </a:spcAft>
            </a:pPr>
            <a:r>
              <a:rPr sz="1500" b="1" dirty="0"/>
              <a:t>Bilateral orchiopexy</a:t>
            </a:r>
            <a:r>
              <a:rPr sz="1500" dirty="0"/>
              <a:t> — the defect is bilateral</a:t>
            </a:r>
          </a:p>
        </p:txBody>
      </p:sp>
      <p:sp>
        <p:nvSpPr>
          <p:cNvPr id="6" name="Title 1">
            <a:extLst>
              <a:ext uri="{FF2B5EF4-FFF2-40B4-BE49-F238E27FC236}">
                <a16:creationId xmlns:a16="http://schemas.microsoft.com/office/drawing/2014/main" id="{4C85AA9B-58DA-A834-7681-5B96134CC291}"/>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Testicular Torsion</a:t>
            </a:r>
          </a:p>
        </p:txBody>
      </p:sp>
      <p:pic>
        <p:nvPicPr>
          <p:cNvPr id="7" name="Picture 6" descr="Diagram comparing a normal testis with normal tunica vaginalis attachment, a bell clapper deformity in which the tunica inserts high and the testis hangs freely, and a torsed testis with a twisted spermatic cord."/>
          <p:cNvPicPr>
            <a:picLocks noChangeAspect="1"/>
          </p:cNvPicPr>
          <p:nvPr/>
        </p:nvPicPr>
        <p:blipFill>
          <a:blip r:embed="rId3"/>
          <a:stretch>
            <a:fillRect/>
          </a:stretch>
        </p:blipFill>
        <p:spPr>
          <a:xfrm>
            <a:off x="6629400" y="2148840"/>
            <a:ext cx="4754880" cy="3566160"/>
          </a:xfrm>
          <a:prstGeom prst="rect">
            <a:avLst/>
          </a:prstGeom>
        </p:spPr>
      </p:pic>
    </p:spTree>
    <p:extLst>
      <p:ext uri="{BB962C8B-B14F-4D97-AF65-F5344CB8AC3E}">
        <p14:creationId xmlns:p14="http://schemas.microsoft.com/office/powerpoint/2010/main" val="27759225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6771-0A04-402D-0230-5BDCF1EAAF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AAE0B-062B-A7A3-C13A-BA0F46D0D6F3}"/>
              </a:ext>
            </a:extLst>
          </p:cNvPr>
          <p:cNvSpPr>
            <a:spLocks noGrp="1"/>
          </p:cNvSpPr>
          <p:nvPr>
            <p:ph sz="half" idx="1"/>
          </p:nvPr>
        </p:nvSpPr>
        <p:spPr>
          <a:xfrm>
            <a:off x="502920" y="1691640"/>
            <a:ext cx="5943600" cy="4663440"/>
          </a:xfrm>
        </p:spPr>
        <p:txBody>
          <a:bodyPr wrap="square"/>
          <a:lstStyle/>
          <a:p>
            <a:pPr>
              <a:spcAft>
                <a:spcPts val="400"/>
              </a:spcAft>
            </a:pPr>
            <a:r>
              <a:rPr sz="1500" dirty="0"/>
              <a:t>Blunt trauma → tear of the tunica albuginea with extrusion of seminiferous tubules</a:t>
            </a:r>
            <a:endParaRPr lang="en-US" dirty="0">
              <a:solidFill>
                <a:schemeClr val="tx1">
                  <a:lumMod val="50000"/>
                  <a:lumOff val="50000"/>
                </a:schemeClr>
              </a:solidFill>
              <a:latin typeface="Calibri Light" panose="020F0302020204030204" pitchFamily="34" charset="0"/>
              <a:cs typeface="Calibri Light" panose="020F0302020204030204" pitchFamily="34" charset="0"/>
            </a:endParaRPr>
          </a:p>
          <a:p>
            <a:pPr>
              <a:spcAft>
                <a:spcPts val="400"/>
              </a:spcAft>
            </a:pPr>
            <a:r>
              <a:rPr sz="1500" b="1" dirty="0"/>
              <a:t>Ultrasound:</a:t>
            </a:r>
            <a:r>
              <a:rPr sz="1500" dirty="0"/>
              <a:t> heterogeneous parenchyma, contour loss, </a:t>
            </a:r>
            <a:r>
              <a:rPr sz="1500" dirty="0" err="1"/>
              <a:t>tunical</a:t>
            </a:r>
            <a:r>
              <a:rPr sz="1500" dirty="0"/>
              <a:t> discontinuity, hematocele</a:t>
            </a:r>
          </a:p>
          <a:p>
            <a:pPr>
              <a:spcAft>
                <a:spcPts val="400"/>
              </a:spcAft>
            </a:pPr>
            <a:r>
              <a:rPr sz="1500" b="1" dirty="0"/>
              <a:t>Explore within 72 h → salvage &gt;80–90%;</a:t>
            </a:r>
            <a:r>
              <a:rPr sz="1500" dirty="0"/>
              <a:t> delay → orchiectomy</a:t>
            </a:r>
          </a:p>
          <a:p>
            <a:pPr>
              <a:spcAft>
                <a:spcPts val="400"/>
              </a:spcAft>
            </a:pPr>
            <a:r>
              <a:rPr sz="1500" dirty="0"/>
              <a:t>A large hematocele is </a:t>
            </a:r>
            <a:r>
              <a:rPr sz="1500" b="1" dirty="0"/>
              <a:t>not</a:t>
            </a:r>
            <a:r>
              <a:rPr sz="1500" dirty="0"/>
              <a:t> </a:t>
            </a:r>
            <a:r>
              <a:rPr lang="en-US" sz="1500" dirty="0"/>
              <a:t>always </a:t>
            </a:r>
            <a:r>
              <a:rPr sz="1500" dirty="0"/>
              <a:t>observed</a:t>
            </a:r>
          </a:p>
          <a:p>
            <a:pPr>
              <a:spcAft>
                <a:spcPts val="400"/>
              </a:spcAft>
            </a:pPr>
            <a:r>
              <a:rPr sz="1500" dirty="0"/>
              <a:t>Same trauma spectrum: hematoma, hematocele, dislocation</a:t>
            </a:r>
          </a:p>
        </p:txBody>
      </p:sp>
      <p:sp>
        <p:nvSpPr>
          <p:cNvPr id="6" name="Title 1">
            <a:extLst>
              <a:ext uri="{FF2B5EF4-FFF2-40B4-BE49-F238E27FC236}">
                <a16:creationId xmlns:a16="http://schemas.microsoft.com/office/drawing/2014/main" id="{4C85AA9B-58DA-A834-7681-5B96134CC291}"/>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Testicular Rupture</a:t>
            </a:r>
          </a:p>
        </p:txBody>
      </p:sp>
      <p:pic>
        <p:nvPicPr>
          <p:cNvPr id="7" name="Picture 6" descr="Four-panel diagram of testicular trauma showing normal anatomy, testicular rupture with a torn tunica albuginea and extruded seminiferous tubules, testicular hematoma, and hematocele."/>
          <p:cNvPicPr>
            <a:picLocks noChangeAspect="1"/>
          </p:cNvPicPr>
          <p:nvPr/>
        </p:nvPicPr>
        <p:blipFill>
          <a:blip r:embed="rId3"/>
          <a:stretch>
            <a:fillRect/>
          </a:stretch>
        </p:blipFill>
        <p:spPr>
          <a:xfrm>
            <a:off x="7504852" y="1691640"/>
            <a:ext cx="3003975" cy="4480560"/>
          </a:xfrm>
          <a:prstGeom prst="rect">
            <a:avLst/>
          </a:prstGeom>
        </p:spPr>
      </p:pic>
    </p:spTree>
    <p:extLst>
      <p:ext uri="{BB962C8B-B14F-4D97-AF65-F5344CB8AC3E}">
        <p14:creationId xmlns:p14="http://schemas.microsoft.com/office/powerpoint/2010/main" val="27759225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6771-0A04-402D-0230-5BDCF1EAAF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AAE0B-062B-A7A3-C13A-BA0F46D0D6F3}"/>
              </a:ext>
            </a:extLst>
          </p:cNvPr>
          <p:cNvSpPr>
            <a:spLocks noGrp="1"/>
          </p:cNvSpPr>
          <p:nvPr>
            <p:ph sz="half" idx="1"/>
          </p:nvPr>
        </p:nvSpPr>
        <p:spPr>
          <a:xfrm>
            <a:off x="502920" y="1691640"/>
            <a:ext cx="5943600" cy="4663440"/>
          </a:xfrm>
        </p:spPr>
        <p:txBody>
          <a:bodyPr wrap="square"/>
          <a:lstStyle/>
          <a:p>
            <a:pPr>
              <a:spcAft>
                <a:spcPts val="400"/>
              </a:spcAft>
            </a:pPr>
            <a:r>
              <a:rPr sz="1500"/>
              <a:t>Mechanism: </a:t>
            </a:r>
            <a:r>
              <a:rPr sz="1500" b="1"/>
              <a:t>retrograde ascent</a:t>
            </a:r>
            <a:r>
              <a:rPr sz="1500"/>
              <a:t> along the vas from urethra/bladder</a:t>
            </a:r>
            <a:endParaRPr lang="en-US" dirty="0">
              <a:solidFill>
                <a:schemeClr val="tx1">
                  <a:lumMod val="50000"/>
                  <a:lumOff val="50000"/>
                </a:schemeClr>
              </a:solidFill>
              <a:latin typeface="Calibri Light" panose="020F0302020204030204" pitchFamily="34" charset="0"/>
              <a:cs typeface="Calibri Light" panose="020F0302020204030204" pitchFamily="34" charset="0"/>
            </a:endParaRPr>
          </a:p>
          <a:p>
            <a:pPr>
              <a:spcAft>
                <a:spcPts val="400"/>
              </a:spcAft>
            </a:pPr>
            <a:r>
              <a:rPr sz="1500"/>
              <a:t>Age pattern in one line: sexually active younger men vs coliform pattern with obstruction/instrumentation — </a:t>
            </a:r>
            <a:r>
              <a:rPr sz="1500" b="1"/>
              <a:t>organisms and treatment: Microbiology session</a:t>
            </a:r>
          </a:p>
          <a:p>
            <a:pPr>
              <a:spcAft>
                <a:spcPts val="400"/>
              </a:spcAft>
            </a:pPr>
            <a:r>
              <a:rPr sz="1500" b="1"/>
              <a:t>Mumps orchitis:</a:t>
            </a:r>
            <a:r>
              <a:rPr sz="1500"/>
              <a:t> post-pubertal; pressure necrosis inside the noncompliant tunica → tubular atrophy (blood-testis barrier callback)</a:t>
            </a:r>
          </a:p>
          <a:p>
            <a:pPr>
              <a:spcAft>
                <a:spcPts val="400"/>
              </a:spcAft>
            </a:pPr>
            <a:r>
              <a:rPr sz="1500"/>
              <a:t>Chronic granulomatous epididymitis → think TB</a:t>
            </a:r>
          </a:p>
          <a:p>
            <a:pPr>
              <a:spcAft>
                <a:spcPts val="400"/>
              </a:spcAft>
            </a:pPr>
            <a:r>
              <a:rPr sz="1500" b="1"/>
              <a:t>Fournier gangrene:</a:t>
            </a:r>
            <a:r>
              <a:rPr sz="1500"/>
              <a:t> perineal necrotizing fasciitis · diabetes/immunosuppression · pain out of proportion, crepitus · </a:t>
            </a:r>
            <a:r>
              <a:rPr sz="1500" b="1"/>
              <a:t>emergent debridement</a:t>
            </a:r>
          </a:p>
        </p:txBody>
      </p:sp>
      <p:sp>
        <p:nvSpPr>
          <p:cNvPr id="6" name="Title 1">
            <a:extLst>
              <a:ext uri="{FF2B5EF4-FFF2-40B4-BE49-F238E27FC236}">
                <a16:creationId xmlns:a16="http://schemas.microsoft.com/office/drawing/2014/main" id="{4C85AA9B-58DA-A834-7681-5B96134CC291}"/>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Epididymitis, Orchitis, Fournier Gangrene</a:t>
            </a:r>
          </a:p>
        </p:txBody>
      </p:sp>
      <p:pic>
        <p:nvPicPr>
          <p:cNvPr id="7" name="Picture 6" descr="Anatomic diagram of epididymitis showing the bladder, prostate, urethra, testicle, and scrotum, with an inset comparing a normal epididymis to an inflamed swollen epididymis."/>
          <p:cNvPicPr>
            <a:picLocks noChangeAspect="1"/>
          </p:cNvPicPr>
          <p:nvPr/>
        </p:nvPicPr>
        <p:blipFill>
          <a:blip r:embed="rId3"/>
          <a:stretch>
            <a:fillRect/>
          </a:stretch>
        </p:blipFill>
        <p:spPr>
          <a:xfrm>
            <a:off x="6657922" y="1691640"/>
            <a:ext cx="4697834" cy="4480560"/>
          </a:xfrm>
          <a:prstGeom prst="rect">
            <a:avLst/>
          </a:prstGeom>
        </p:spPr>
      </p:pic>
    </p:spTree>
    <p:extLst>
      <p:ext uri="{BB962C8B-B14F-4D97-AF65-F5344CB8AC3E}">
        <p14:creationId xmlns:p14="http://schemas.microsoft.com/office/powerpoint/2010/main" val="27759225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6771-0A04-402D-0230-5BDCF1EAAF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AAE0B-062B-A7A3-C13A-BA0F46D0D6F3}"/>
              </a:ext>
            </a:extLst>
          </p:cNvPr>
          <p:cNvSpPr>
            <a:spLocks noGrp="1"/>
          </p:cNvSpPr>
          <p:nvPr>
            <p:ph sz="half" idx="1"/>
          </p:nvPr>
        </p:nvSpPr>
        <p:spPr>
          <a:xfrm>
            <a:off x="502920" y="1691640"/>
            <a:ext cx="5943600" cy="4663440"/>
          </a:xfrm>
        </p:spPr>
        <p:txBody>
          <a:bodyPr wrap="square"/>
          <a:lstStyle/>
          <a:p>
            <a:pPr>
              <a:spcAft>
                <a:spcPts val="400"/>
              </a:spcAft>
            </a:pPr>
            <a:r>
              <a:rPr sz="1500"/>
              <a:t>Dilated pampiniform plexus — ≈15% of men, </a:t>
            </a:r>
            <a:r>
              <a:rPr sz="1500" b="1"/>
              <a:t>≈40% of men with primary infertility</a:t>
            </a:r>
            <a:endParaRPr lang="en-US" dirty="0">
              <a:solidFill>
                <a:schemeClr val="tx1">
                  <a:lumMod val="50000"/>
                  <a:lumOff val="50000"/>
                </a:schemeClr>
              </a:solidFill>
              <a:latin typeface="Calibri Light" panose="020F0302020204030204" pitchFamily="34" charset="0"/>
              <a:cs typeface="Calibri Light" panose="020F0302020204030204" pitchFamily="34" charset="0"/>
            </a:endParaRPr>
          </a:p>
          <a:p>
            <a:pPr>
              <a:spcAft>
                <a:spcPts val="400"/>
              </a:spcAft>
            </a:pPr>
            <a:r>
              <a:rPr sz="1500" b="1"/>
              <a:t>Left-sided predominance:</a:t>
            </a:r>
            <a:r>
              <a:rPr sz="1500"/>
              <a:t> left gonadal vein → left renal vein at 90°, longer column, ± nutcracker compression</a:t>
            </a:r>
          </a:p>
          <a:p>
            <a:pPr>
              <a:spcAft>
                <a:spcPts val="400"/>
              </a:spcAft>
            </a:pPr>
            <a:r>
              <a:rPr sz="1500"/>
              <a:t>Grades: I Valsalva-only · II palpable · III visible · “bag of worms,” </a:t>
            </a:r>
            <a:r>
              <a:rPr sz="1500" b="1"/>
              <a:t>decompresses supine</a:t>
            </a:r>
          </a:p>
          <a:p>
            <a:pPr>
              <a:spcAft>
                <a:spcPts val="400"/>
              </a:spcAft>
            </a:pPr>
            <a:r>
              <a:rPr sz="1500" b="1"/>
              <a:t>Red flag: isolated right-sided, or fails to decompress supine → image the retroperitoneum</a:t>
            </a:r>
          </a:p>
          <a:p>
            <a:pPr>
              <a:spcAft>
                <a:spcPts val="400"/>
              </a:spcAft>
            </a:pPr>
            <a:r>
              <a:rPr sz="1500"/>
              <a:t>Infertility mechanism: </a:t>
            </a:r>
            <a:r>
              <a:rPr sz="1500" b="1"/>
              <a:t>hyperthermia</a:t>
            </a:r>
            <a:r>
              <a:rPr sz="1500"/>
              <a:t>, oxidative stress/DNA fragmentation, metabolite reflux</a:t>
            </a:r>
          </a:p>
          <a:p>
            <a:pPr>
              <a:spcAft>
                <a:spcPts val="400"/>
              </a:spcAft>
            </a:pPr>
            <a:r>
              <a:rPr sz="1500" b="1"/>
              <a:t>Most common surgically correctable cause of male infertility</a:t>
            </a:r>
            <a:r>
              <a:rPr sz="1500"/>
              <a:t> — do not repair subclinical (US-only) varicoceles</a:t>
            </a:r>
          </a:p>
        </p:txBody>
      </p:sp>
      <p:sp>
        <p:nvSpPr>
          <p:cNvPr id="6" name="Title 1">
            <a:extLst>
              <a:ext uri="{FF2B5EF4-FFF2-40B4-BE49-F238E27FC236}">
                <a16:creationId xmlns:a16="http://schemas.microsoft.com/office/drawing/2014/main" id="{4C85AA9B-58DA-A834-7681-5B96134CC291}"/>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Varicocele</a:t>
            </a:r>
          </a:p>
        </p:txBody>
      </p:sp>
      <p:pic>
        <p:nvPicPr>
          <p:cNvPr id="7" name="Picture 6" descr="Diagram comparing a normal testis with a varicocele, showing dilated tortuous pampiniform plexus veins above the affected testis."/>
          <p:cNvPicPr>
            <a:picLocks noChangeAspect="1"/>
          </p:cNvPicPr>
          <p:nvPr/>
        </p:nvPicPr>
        <p:blipFill>
          <a:blip r:embed="rId3"/>
          <a:stretch>
            <a:fillRect/>
          </a:stretch>
        </p:blipFill>
        <p:spPr>
          <a:xfrm>
            <a:off x="7091532" y="1691640"/>
            <a:ext cx="3830614" cy="4480560"/>
          </a:xfrm>
          <a:prstGeom prst="rect">
            <a:avLst/>
          </a:prstGeom>
        </p:spPr>
      </p:pic>
    </p:spTree>
    <p:extLst>
      <p:ext uri="{BB962C8B-B14F-4D97-AF65-F5344CB8AC3E}">
        <p14:creationId xmlns:p14="http://schemas.microsoft.com/office/powerpoint/2010/main" val="27759225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6771-0A04-402D-0230-5BDCF1EAAF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AAE0B-062B-A7A3-C13A-BA0F46D0D6F3}"/>
              </a:ext>
            </a:extLst>
          </p:cNvPr>
          <p:cNvSpPr>
            <a:spLocks noGrp="1"/>
          </p:cNvSpPr>
          <p:nvPr>
            <p:ph sz="half" idx="1"/>
          </p:nvPr>
        </p:nvSpPr>
        <p:spPr>
          <a:xfrm>
            <a:off x="502920" y="1691640"/>
            <a:ext cx="5943600" cy="4663440"/>
          </a:xfrm>
        </p:spPr>
        <p:txBody>
          <a:bodyPr wrap="square"/>
          <a:lstStyle/>
          <a:p>
            <a:pPr>
              <a:spcAft>
                <a:spcPts val="400"/>
              </a:spcAft>
            </a:pPr>
            <a:r>
              <a:rPr sz="1500" b="1" dirty="0"/>
              <a:t>Hydrocele</a:t>
            </a:r>
            <a:r>
              <a:rPr sz="1500" dirty="0"/>
              <a:t> = fluid in the tunica vaginalis → </a:t>
            </a:r>
            <a:r>
              <a:rPr sz="1500" b="1" dirty="0"/>
              <a:t>transilluminates</a:t>
            </a:r>
            <a:endParaRPr lang="en-US" dirty="0">
              <a:solidFill>
                <a:schemeClr val="tx1">
                  <a:lumMod val="50000"/>
                  <a:lumOff val="50000"/>
                </a:schemeClr>
              </a:solidFill>
              <a:latin typeface="Calibri Light" panose="020F0302020204030204" pitchFamily="34" charset="0"/>
              <a:cs typeface="Calibri Light" panose="020F0302020204030204" pitchFamily="34" charset="0"/>
            </a:endParaRPr>
          </a:p>
          <a:p>
            <a:pPr lvl="1">
              <a:spcAft>
                <a:spcPts val="400"/>
              </a:spcAft>
            </a:pPr>
            <a:r>
              <a:rPr sz="1500" dirty="0"/>
              <a:t>Communicating (patent processus, pediatric, fluctuates, hernia association) — most resolve by 12–24 mo</a:t>
            </a:r>
            <a:r>
              <a:rPr lang="en-US" sz="1500" dirty="0"/>
              <a:t>nths</a:t>
            </a:r>
            <a:endParaRPr sz="1500" dirty="0"/>
          </a:p>
          <a:p>
            <a:pPr lvl="1">
              <a:spcAft>
                <a:spcPts val="400"/>
              </a:spcAft>
            </a:pPr>
            <a:r>
              <a:rPr sz="1500" dirty="0"/>
              <a:t>Non-communicating (adult) — may be </a:t>
            </a:r>
            <a:r>
              <a:rPr sz="1500" b="1" dirty="0"/>
              <a:t>reactive to infection, trauma, or tumor</a:t>
            </a:r>
          </a:p>
          <a:p>
            <a:pPr>
              <a:spcAft>
                <a:spcPts val="400"/>
              </a:spcAft>
            </a:pPr>
            <a:r>
              <a:rPr sz="1500" b="1" dirty="0"/>
              <a:t>Safety rule: every new adult hydrocele gets an ultrasound</a:t>
            </a:r>
            <a:r>
              <a:rPr sz="1500" dirty="0"/>
              <a:t> — it can conceal a tumor</a:t>
            </a:r>
          </a:p>
          <a:p>
            <a:pPr>
              <a:spcAft>
                <a:spcPts val="400"/>
              </a:spcAft>
            </a:pPr>
            <a:r>
              <a:rPr sz="1500" b="1" dirty="0"/>
              <a:t>Spermatocele / epididymal cyst:</a:t>
            </a:r>
            <a:r>
              <a:rPr sz="1500" dirty="0"/>
              <a:t> superior-posterior, </a:t>
            </a:r>
            <a:r>
              <a:rPr sz="1500" b="1" dirty="0"/>
              <a:t>separate from the testis</a:t>
            </a:r>
            <a:r>
              <a:rPr sz="1500" dirty="0"/>
              <a:t>, transilluminate, benign — excise only for pain</a:t>
            </a:r>
          </a:p>
          <a:p>
            <a:pPr>
              <a:spcAft>
                <a:spcPts val="400"/>
              </a:spcAft>
            </a:pPr>
            <a:r>
              <a:rPr sz="1500" b="1" dirty="0"/>
              <a:t>The discriminating finding is separability. A mass you cannot separate from the testis is a tumor until proven otherwise.</a:t>
            </a:r>
          </a:p>
        </p:txBody>
      </p:sp>
      <p:sp>
        <p:nvSpPr>
          <p:cNvPr id="6" name="Title 1">
            <a:extLst>
              <a:ext uri="{FF2B5EF4-FFF2-40B4-BE49-F238E27FC236}">
                <a16:creationId xmlns:a16="http://schemas.microsoft.com/office/drawing/2014/main" id="{4C85AA9B-58DA-A834-7681-5B96134CC291}"/>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Hydrocele, Spermatocele, Epididymal Cyst</a:t>
            </a:r>
          </a:p>
        </p:txBody>
      </p:sp>
      <p:pic>
        <p:nvPicPr>
          <p:cNvPr id="7" name="Picture 6" descr="Diagram of hydrocele types comparing normal anatomy, a non-communicating hydrocele with fluid confined around the testis, and a communicating hydrocele with a patent processus vaginalis connecting to the peritoneal cavity."/>
          <p:cNvPicPr>
            <a:picLocks noChangeAspect="1"/>
          </p:cNvPicPr>
          <p:nvPr/>
        </p:nvPicPr>
        <p:blipFill>
          <a:blip r:embed="rId3"/>
          <a:stretch>
            <a:fillRect/>
          </a:stretch>
        </p:blipFill>
        <p:spPr>
          <a:xfrm>
            <a:off x="6629400" y="2473036"/>
            <a:ext cx="4754880" cy="2917767"/>
          </a:xfrm>
          <a:prstGeom prst="rect">
            <a:avLst/>
          </a:prstGeom>
        </p:spPr>
      </p:pic>
    </p:spTree>
    <p:extLst>
      <p:ext uri="{BB962C8B-B14F-4D97-AF65-F5344CB8AC3E}">
        <p14:creationId xmlns:p14="http://schemas.microsoft.com/office/powerpoint/2010/main" val="27759225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Cryptorchidism</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Two-phase descent: transabdominal (INSL3, gubernaculum) → inguinoscrotal (androgen, genitofemoral/CGRP)</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≈3% term, ≈30% preterm · spontaneous descent by </a:t>
            </a:r>
            <a:r>
              <a:rPr lang="en-US" sz="1600" b="1" dirty="0">
                <a:cs typeface="Calibri Light" panose="020F0302020204030204" pitchFamily="34" charset="0"/>
              </a:rPr>
              <a:t>6 months</a:t>
            </a:r>
            <a:r>
              <a:rPr lang="en-US" sz="1600" dirty="0">
                <a:cs typeface="Calibri Light" panose="020F0302020204030204" pitchFamily="34" charset="0"/>
              </a:rPr>
              <a:t> or not at all</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Infertility:</a:t>
            </a:r>
            <a:r>
              <a:rPr lang="en-US" sz="1600" dirty="0">
                <a:cs typeface="Calibri Light" panose="020F0302020204030204" pitchFamily="34" charset="0"/>
              </a:rPr>
              <a:t> germ cell degeneration begins ≈6 months (thermal)</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Malignancy:</a:t>
            </a:r>
            <a:r>
              <a:rPr lang="en-US" sz="1600" dirty="0">
                <a:cs typeface="Calibri Light" panose="020F0302020204030204" pitchFamily="34" charset="0"/>
              </a:rPr>
              <a:t> RR ≈3–8× — and the </a:t>
            </a:r>
            <a:r>
              <a:rPr lang="en-US" sz="1600" b="1" dirty="0">
                <a:cs typeface="Calibri Light" panose="020F0302020204030204" pitchFamily="34" charset="0"/>
              </a:rPr>
              <a:t>contralateral descended testis is also at risk</a:t>
            </a:r>
            <a:r>
              <a:rPr lang="en-US" sz="1600" dirty="0">
                <a:cs typeface="Calibri Light" panose="020F0302020204030204" pitchFamily="34" charset="0"/>
              </a:rPr>
              <a:t> → this is a </a:t>
            </a:r>
            <a:r>
              <a:rPr lang="en-US" sz="1600" b="1" dirty="0">
                <a:cs typeface="Calibri Light" panose="020F0302020204030204" pitchFamily="34" charset="0"/>
              </a:rPr>
              <a:t>dysgenesis syndrome</a:t>
            </a:r>
            <a:r>
              <a:rPr lang="en-US" sz="1600" dirty="0">
                <a:cs typeface="Calibri Light" panose="020F0302020204030204" pitchFamily="34" charset="0"/>
              </a:rPr>
              <a:t>, not just position</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Orchiopexy 6–18 months:</a:t>
            </a:r>
            <a:r>
              <a:rPr lang="en-US" sz="1600" dirty="0">
                <a:cs typeface="Calibri Light" panose="020F0302020204030204" pitchFamily="34" charset="0"/>
              </a:rPr>
              <a:t> improves fertility, makes the testis examinable, reduces but does not eliminate cancer risk</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Distinguish retractile vs undescended vs ascending</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Bilateral non-palpable ± hypospadias = DSD workup:</a:t>
            </a:r>
            <a:r>
              <a:rPr lang="en-US" sz="1600" dirty="0">
                <a:cs typeface="Calibri Light" panose="020F0302020204030204" pitchFamily="34" charset="0"/>
              </a:rPr>
              <a:t> karyotype, 17-OHP, electrolytes</a:t>
            </a:r>
          </a:p>
        </p:txBody>
      </p:sp>
    </p:spTree>
    <p:extLst>
      <p:ext uri="{BB962C8B-B14F-4D97-AF65-F5344CB8AC3E}">
        <p14:creationId xmlns:p14="http://schemas.microsoft.com/office/powerpoint/2010/main" val="14307337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Poll 3: Four Hours In</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A 16-year-old has 4 hours of severe scrotal pain, an </a:t>
            </a:r>
            <a:r>
              <a:rPr lang="en-US" sz="1600" b="1" dirty="0">
                <a:cs typeface="Calibri Light" panose="020F0302020204030204" pitchFamily="34" charset="0"/>
              </a:rPr>
              <a:t>absent cremasteric reflex</a:t>
            </a:r>
            <a:r>
              <a:rPr lang="en-US" sz="1600" dirty="0">
                <a:cs typeface="Calibri Light" panose="020F0302020204030204" pitchFamily="34" charset="0"/>
              </a:rPr>
              <a:t>, and a high-riding testis. Ultrasound is available in 90 minutes.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What do you do?</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A. Order the ultrasound and analgesia</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B. Trial of antibiotics for epididymitis</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C. Emergent surgical exploration now</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D. Manual detorsion and discharge if pain improves</a:t>
            </a:r>
          </a:p>
        </p:txBody>
      </p:sp>
    </p:spTree>
    <p:extLst>
      <p:ext uri="{BB962C8B-B14F-4D97-AF65-F5344CB8AC3E}">
        <p14:creationId xmlns:p14="http://schemas.microsoft.com/office/powerpoint/2010/main" val="14307337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668E454-3A2F-F355-AA23-7196041463A2}"/>
              </a:ext>
            </a:extLst>
          </p:cNvPr>
          <p:cNvSpPr txBox="1"/>
          <p:nvPr/>
        </p:nvSpPr>
        <p:spPr>
          <a:xfrm>
            <a:off x="0" y="2532888"/>
            <a:ext cx="12179302" cy="896112"/>
          </a:xfrm>
          <a:prstGeom prst="rect">
            <a:avLst/>
          </a:prstGeom>
          <a:noFill/>
        </p:spPr>
        <p:txBody>
          <a:bodyPr wrap="square" bIns="91440" rtlCol="0" anchor="ctr" anchorCtr="0">
            <a:noAutofit/>
          </a:bodyPr>
          <a:lstStyle/>
          <a:p>
            <a:pPr algn="ctr"/>
            <a:r>
              <a:rPr lang="en-US" sz="3200" dirty="0">
                <a:latin typeface="Georgia" panose="02040502050405020303" pitchFamily="18" charset="0"/>
              </a:rPr>
              <a:t>Part 7: Testicular Tumors</a:t>
            </a:r>
          </a:p>
        </p:txBody>
      </p:sp>
    </p:spTree>
    <p:extLst>
      <p:ext uri="{BB962C8B-B14F-4D97-AF65-F5344CB8AC3E}">
        <p14:creationId xmlns:p14="http://schemas.microsoft.com/office/powerpoint/2010/main" val="24201147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The Painless Mass in a Young Man</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Most common solid malignancy in men 15–35</a:t>
            </a:r>
            <a:r>
              <a:rPr lang="en-US" sz="1600" dirty="0">
                <a:cs typeface="Calibri Light" panose="020F0302020204030204" pitchFamily="34" charset="0"/>
              </a:rPr>
              <a:t> — and highly curable, so </a:t>
            </a:r>
            <a:r>
              <a:rPr lang="en-US" sz="1600" b="1" dirty="0">
                <a:cs typeface="Calibri Light" panose="020F0302020204030204" pitchFamily="34" charset="0"/>
              </a:rPr>
              <a:t>delay is the enemy</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Risks: cryptorchidism · prior contralateral tumor · family history · GCNIS · infertility</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Presentation: painless, firm, </a:t>
            </a:r>
            <a:r>
              <a:rPr lang="en-US" sz="1600" b="1" dirty="0">
                <a:cs typeface="Calibri Light" panose="020F0302020204030204" pitchFamily="34" charset="0"/>
              </a:rPr>
              <a:t>non-transilluminating</a:t>
            </a:r>
            <a:r>
              <a:rPr lang="en-US" sz="1600" dirty="0">
                <a:cs typeface="Calibri Light" panose="020F0302020204030204" pitchFamily="34" charset="0"/>
              </a:rPr>
              <a:t> intratesticular mass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Ultrasound is highly sensitive — and every new adult hydrocele already bought one</a:t>
            </a:r>
          </a:p>
        </p:txBody>
      </p:sp>
    </p:spTree>
    <p:extLst>
      <p:ext uri="{BB962C8B-B14F-4D97-AF65-F5344CB8AC3E}">
        <p14:creationId xmlns:p14="http://schemas.microsoft.com/office/powerpoint/2010/main" val="14307337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Classification in One Slide</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Germ cell ≈95%</a:t>
            </a:r>
          </a:p>
          <a:p>
            <a:pPr marL="662931" lvl="1" indent="-342891" algn="l">
              <a:spcAft>
                <a:spcPts val="400"/>
              </a:spcAft>
              <a:buFont typeface="Arial" panose="020B0604020202020204" pitchFamily="34" charset="0"/>
              <a:buChar char="•"/>
            </a:pPr>
            <a:r>
              <a:rPr lang="en-US" sz="1600" b="1" dirty="0">
                <a:cs typeface="Calibri Light" panose="020F0302020204030204" pitchFamily="34" charset="0"/>
              </a:rPr>
              <a:t>Seminoma:</a:t>
            </a:r>
            <a:r>
              <a:rPr lang="en-US" sz="1600" dirty="0">
                <a:cs typeface="Calibri Light" panose="020F0302020204030204" pitchFamily="34" charset="0"/>
              </a:rPr>
              <a:t> “fried-egg” cells + lymphocytes · radio/chemosensitive · </a:t>
            </a:r>
            <a:r>
              <a:rPr lang="en-US" sz="1600" b="1" dirty="0">
                <a:cs typeface="Calibri Light" panose="020F0302020204030204" pitchFamily="34" charset="0"/>
              </a:rPr>
              <a:t>never makes AFP</a:t>
            </a:r>
          </a:p>
          <a:p>
            <a:pPr marL="662931" lvl="1" indent="-342891" algn="l">
              <a:spcAft>
                <a:spcPts val="400"/>
              </a:spcAft>
              <a:buFont typeface="Arial" panose="020B0604020202020204" pitchFamily="34" charset="0"/>
              <a:buChar char="•"/>
            </a:pPr>
            <a:r>
              <a:rPr lang="en-US" sz="1600" b="1" dirty="0">
                <a:cs typeface="Calibri Light" panose="020F0302020204030204" pitchFamily="34" charset="0"/>
              </a:rPr>
              <a:t>Non-seminomatous:</a:t>
            </a:r>
            <a:r>
              <a:rPr lang="en-US" sz="1600" dirty="0">
                <a:cs typeface="Calibri Light" panose="020F0302020204030204" pitchFamily="34" charset="0"/>
              </a:rPr>
              <a:t> embryonal · </a:t>
            </a:r>
            <a:r>
              <a:rPr lang="en-US" sz="1600" b="1" dirty="0">
                <a:cs typeface="Calibri Light" panose="020F0302020204030204" pitchFamily="34" charset="0"/>
              </a:rPr>
              <a:t>yolk sac (AFP)</a:t>
            </a:r>
            <a:r>
              <a:rPr lang="en-US" sz="1600" dirty="0">
                <a:cs typeface="Calibri Light" panose="020F0302020204030204" pitchFamily="34" charset="0"/>
              </a:rPr>
              <a:t> · </a:t>
            </a:r>
            <a:r>
              <a:rPr lang="en-US" sz="1600" b="1" dirty="0">
                <a:cs typeface="Calibri Light" panose="020F0302020204030204" pitchFamily="34" charset="0"/>
              </a:rPr>
              <a:t>choriocarcinoma (hCG, hematogenous — hemoptysis)</a:t>
            </a:r>
            <a:r>
              <a:rPr lang="en-US" sz="1600" dirty="0">
                <a:cs typeface="Calibri Light" panose="020F0302020204030204" pitchFamily="34" charset="0"/>
              </a:rPr>
              <a:t> · teratoma (chemoresistant → resect)</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Sex cord–stromal ≈5%:</a:t>
            </a:r>
            <a:r>
              <a:rPr lang="en-US" sz="1600" dirty="0">
                <a:cs typeface="Calibri Light" panose="020F0302020204030204" pitchFamily="34" charset="0"/>
              </a:rPr>
              <a:t> Leydig (androgen/estrogen secretion → precocious puberty or gynecomastia) · Sertoli</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Lymphoma</a:t>
            </a:r>
            <a:r>
              <a:rPr lang="en-US" sz="1600" dirty="0">
                <a:cs typeface="Calibri Light" panose="020F0302020204030204" pitchFamily="34" charset="0"/>
              </a:rPr>
              <a:t> — the most common testicular tumor </a:t>
            </a:r>
            <a:r>
              <a:rPr lang="en-US" sz="1600" b="1" dirty="0">
                <a:cs typeface="Calibri Light" panose="020F0302020204030204" pitchFamily="34" charset="0"/>
              </a:rPr>
              <a:t>over 60</a:t>
            </a:r>
          </a:p>
        </p:txBody>
      </p:sp>
    </p:spTree>
    <p:extLst>
      <p:ext uri="{BB962C8B-B14F-4D97-AF65-F5344CB8AC3E}">
        <p14:creationId xmlns:p14="http://schemas.microsoft.com/office/powerpoint/2010/main" val="14307337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77359-BA5E-60C8-8553-C0FCFB6CC7B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1A5516A-40E0-F4F0-231C-336597DD20B7}"/>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Tumor Markers — and the Rule That Gets Tested</a:t>
            </a:r>
          </a:p>
        </p:txBody>
      </p:sp>
      <p:sp>
        <p:nvSpPr>
          <p:cNvPr id="7" name="Content Placeholder 2">
            <a:extLst>
              <a:ext uri="{FF2B5EF4-FFF2-40B4-BE49-F238E27FC236}">
                <a16:creationId xmlns:a16="http://schemas.microsoft.com/office/drawing/2014/main" id="{29499C47-E204-4621-8A69-334EBFD433BC}"/>
              </a:ext>
            </a:extLst>
          </p:cNvPr>
          <p:cNvSpPr txBox="1">
            <a:spLocks/>
          </p:cNvSpPr>
          <p:nvPr/>
        </p:nvSpPr>
        <p:spPr>
          <a:xfrm>
            <a:off x="655320" y="3429000"/>
            <a:ext cx="10881360" cy="3282696"/>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spcAft>
                <a:spcPts val="400"/>
              </a:spcAft>
              <a:buFont typeface="Arial" panose="020B0604020202020204" pitchFamily="34" charset="0"/>
              <a:buChar char="•"/>
            </a:pPr>
            <a:r>
              <a:rPr lang="en-US" sz="1600" b="1" dirty="0"/>
              <a:t> </a:t>
            </a:r>
            <a:r>
              <a:rPr sz="1600" b="1" dirty="0"/>
              <a:t>Draw markers BEFORE orchiectomy</a:t>
            </a:r>
            <a:endParaRPr lang="en-US" sz="1600" b="1" dirty="0"/>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Draw markers AFTER orchiectomy even if normal pre-surgery</a:t>
            </a:r>
          </a:p>
          <a:p>
            <a:pPr marL="342891" indent="-342891" algn="l">
              <a:spcAft>
                <a:spcPts val="400"/>
              </a:spcAft>
              <a:buFont typeface="Arial" panose="020B0604020202020204" pitchFamily="34" charset="0"/>
              <a:buChar char="•"/>
            </a:pPr>
            <a:r>
              <a:rPr lang="en-US" sz="1600" dirty="0"/>
              <a:t>Post-orchiectomy decay to </a:t>
            </a:r>
            <a:r>
              <a:rPr lang="en-US" sz="1600" b="1" dirty="0"/>
              <a:t>nadir</a:t>
            </a:r>
            <a:r>
              <a:rPr lang="en-US" sz="1600" dirty="0"/>
              <a:t> is timed to </a:t>
            </a:r>
            <a:r>
              <a:rPr lang="en-US" sz="1600" b="1" dirty="0" err="1"/>
              <a:t>hCG</a:t>
            </a:r>
            <a:r>
              <a:rPr lang="en-US" sz="1600" b="1" dirty="0"/>
              <a:t> and AFP</a:t>
            </a:r>
            <a:r>
              <a:rPr lang="en-US" sz="1600" dirty="0"/>
              <a:t> half-lives → defines the </a:t>
            </a:r>
            <a:r>
              <a:rPr lang="en-US" sz="1600" b="1" dirty="0"/>
              <a:t>S category</a:t>
            </a:r>
            <a:r>
              <a:rPr lang="en-US" sz="1600" dirty="0"/>
              <a:t> and IGCCCG risk</a:t>
            </a:r>
          </a:p>
          <a:p>
            <a:pPr marL="342891" indent="-342891" algn="l">
              <a:spcAft>
                <a:spcPts val="400"/>
              </a:spcAft>
              <a:buFont typeface="Arial" panose="020B0604020202020204" pitchFamily="34" charset="0"/>
              <a:buChar char="•"/>
            </a:pPr>
            <a:r>
              <a:rPr lang="en-US" sz="1600" dirty="0"/>
              <a:t>A marker falling </a:t>
            </a:r>
            <a:r>
              <a:rPr lang="en-US" sz="1600" b="1" dirty="0"/>
              <a:t>slower than its expected half-life</a:t>
            </a:r>
            <a:r>
              <a:rPr lang="en-US" sz="1600" dirty="0"/>
              <a:t> = residual / metastatic disease</a:t>
            </a:r>
          </a:p>
          <a:p>
            <a:pPr marL="342891" indent="-342891" algn="l">
              <a:spcAft>
                <a:spcPts val="400"/>
              </a:spcAft>
              <a:buFont typeface="Arial" panose="020B0604020202020204" pitchFamily="34" charset="0"/>
              <a:buChar char="•"/>
            </a:pPr>
            <a:r>
              <a:rPr lang="en-US" sz="1600" b="1" dirty="0"/>
              <a:t>LDH is prognostic at diagnosis, not a decay tracker</a:t>
            </a:r>
            <a:r>
              <a:rPr lang="en-US" sz="1600" dirty="0"/>
              <a:t> — persistently elevated in ~30% of disease-free patients</a:t>
            </a:r>
          </a:p>
          <a:p>
            <a:pPr marL="342891" indent="-342891" algn="l">
              <a:spcAft>
                <a:spcPts val="400"/>
              </a:spcAft>
              <a:buFont typeface="Arial" panose="020B0604020202020204" pitchFamily="34" charset="0"/>
              <a:buChar char="•"/>
            </a:pPr>
            <a:endParaRPr lang="en-US" sz="1600" dirty="0">
              <a:cs typeface="Calibri Light" panose="020F0302020204030204" pitchFamily="34" charset="0"/>
            </a:endParaRPr>
          </a:p>
        </p:txBody>
      </p:sp>
      <p:graphicFrame>
        <p:nvGraphicFramePr>
          <p:cNvPr id="8" name="Table 7" descr="Table of testicular tumor markers. AFP is produced by yolk sac and embryonal tumors, and an elevated AFP excludes pure seminoma, mandating management as a non-seminomatous germ cell tumor. Beta hCG is produced by choriocarcinoma and embryonal carcinoma and is modestly elevated in up to fifteen percent of seminomas. LDH is nonspecific and reflects tumor burden."/>
          <p:cNvGraphicFramePr>
            <a:graphicFrameLocks noGrp="1"/>
          </p:cNvGraphicFramePr>
          <p:nvPr>
            <p:extLst>
              <p:ext uri="{D42A27DB-BD31-4B8C-83A1-F6EECF244321}">
                <p14:modId xmlns:p14="http://schemas.microsoft.com/office/powerpoint/2010/main" val="2734568273"/>
              </p:ext>
            </p:extLst>
          </p:nvPr>
        </p:nvGraphicFramePr>
        <p:xfrm>
          <a:off x="1066800" y="1556512"/>
          <a:ext cx="10058400" cy="1603248"/>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8046720">
                  <a:extLst>
                    <a:ext uri="{9D8B030D-6E8A-4147-A177-3AD203B41FA5}">
                      <a16:colId xmlns:a16="http://schemas.microsoft.com/office/drawing/2014/main" val="20001"/>
                    </a:ext>
                  </a:extLst>
                </a:gridCol>
              </a:tblGrid>
              <a:tr h="384048">
                <a:tc>
                  <a:txBody>
                    <a:bodyPr/>
                    <a:lstStyle/>
                    <a:p>
                      <a:r>
                        <a:rPr sz="1400" b="1">
                          <a:solidFill>
                            <a:srgbClr val="FFFFFF"/>
                          </a:solidFill>
                          <a:latin typeface="Arial"/>
                        </a:rPr>
                        <a:t>Marker</a:t>
                      </a:r>
                    </a:p>
                  </a:txBody>
                  <a:tcPr marL="73152" marR="73152" marT="27432" marB="27432">
                    <a:solidFill>
                      <a:srgbClr val="C8102E"/>
                    </a:solidFill>
                  </a:tcPr>
                </a:tc>
                <a:tc>
                  <a:txBody>
                    <a:bodyPr/>
                    <a:lstStyle/>
                    <a:p>
                      <a:r>
                        <a:rPr sz="1400" b="1">
                          <a:solidFill>
                            <a:srgbClr val="FFFFFF"/>
                          </a:solidFill>
                          <a:latin typeface="Arial"/>
                        </a:rPr>
                        <a:t>Association</a:t>
                      </a:r>
                    </a:p>
                  </a:txBody>
                  <a:tcPr marL="73152" marR="73152" marT="27432" marB="27432">
                    <a:solidFill>
                      <a:srgbClr val="C8102E"/>
                    </a:solidFill>
                  </a:tcPr>
                </a:tc>
                <a:extLst>
                  <a:ext uri="{0D108BD9-81ED-4DB2-BD59-A6C34878D82A}">
                    <a16:rowId xmlns:a16="http://schemas.microsoft.com/office/drawing/2014/main" val="10000"/>
                  </a:ext>
                </a:extLst>
              </a:tr>
              <a:tr h="384048">
                <a:tc>
                  <a:txBody>
                    <a:bodyPr/>
                    <a:lstStyle/>
                    <a:p>
                      <a:r>
                        <a:rPr sz="1300" b="1">
                          <a:solidFill>
                            <a:srgbClr val="3F3F3F"/>
                          </a:solidFill>
                          <a:latin typeface="Arial"/>
                        </a:rPr>
                        <a:t>AFP</a:t>
                      </a:r>
                    </a:p>
                  </a:txBody>
                  <a:tcPr marL="73152" marR="73152" marT="27432" marB="27432"/>
                </a:tc>
                <a:tc>
                  <a:txBody>
                    <a:bodyPr/>
                    <a:lstStyle/>
                    <a:p>
                      <a:r>
                        <a:rPr sz="1300" b="0">
                          <a:solidFill>
                            <a:srgbClr val="3F3F3F"/>
                          </a:solidFill>
                          <a:latin typeface="Arial"/>
                        </a:rPr>
                        <a:t>Yolk sac, embryonal. </a:t>
                      </a:r>
                      <a:r>
                        <a:rPr sz="1300" b="1">
                          <a:solidFill>
                            <a:srgbClr val="3F3F3F"/>
                          </a:solidFill>
                          <a:latin typeface="Arial"/>
                        </a:rPr>
                        <a:t>Elevated AFP excludes pure seminoma</a:t>
                      </a:r>
                      <a:r>
                        <a:rPr sz="1300" b="0">
                          <a:solidFill>
                            <a:srgbClr val="3F3F3F"/>
                          </a:solidFill>
                          <a:latin typeface="Arial"/>
                        </a:rPr>
                        <a:t> — manage as NSGCT regardless of histology report</a:t>
                      </a:r>
                    </a:p>
                  </a:txBody>
                  <a:tcPr marL="73152" marR="73152" marT="27432" marB="27432"/>
                </a:tc>
                <a:extLst>
                  <a:ext uri="{0D108BD9-81ED-4DB2-BD59-A6C34878D82A}">
                    <a16:rowId xmlns:a16="http://schemas.microsoft.com/office/drawing/2014/main" val="10001"/>
                  </a:ext>
                </a:extLst>
              </a:tr>
              <a:tr h="384048">
                <a:tc>
                  <a:txBody>
                    <a:bodyPr/>
                    <a:lstStyle/>
                    <a:p>
                      <a:r>
                        <a:rPr sz="1300" b="1">
                          <a:solidFill>
                            <a:srgbClr val="3F3F3F"/>
                          </a:solidFill>
                          <a:latin typeface="Arial"/>
                        </a:rPr>
                        <a:t>β-hCG</a:t>
                      </a:r>
                    </a:p>
                  </a:txBody>
                  <a:tcPr marL="73152" marR="73152" marT="27432" marB="27432"/>
                </a:tc>
                <a:tc>
                  <a:txBody>
                    <a:bodyPr/>
                    <a:lstStyle/>
                    <a:p>
                      <a:r>
                        <a:rPr sz="1300" b="0">
                          <a:solidFill>
                            <a:srgbClr val="3F3F3F"/>
                          </a:solidFill>
                          <a:latin typeface="Arial"/>
                        </a:rPr>
                        <a:t>Choriocarcinoma, embryonal — and up to ≈15% of seminomas (modest elevation acceptable)</a:t>
                      </a:r>
                    </a:p>
                  </a:txBody>
                  <a:tcPr marL="73152" marR="73152" marT="27432" marB="27432"/>
                </a:tc>
                <a:extLst>
                  <a:ext uri="{0D108BD9-81ED-4DB2-BD59-A6C34878D82A}">
                    <a16:rowId xmlns:a16="http://schemas.microsoft.com/office/drawing/2014/main" val="10002"/>
                  </a:ext>
                </a:extLst>
              </a:tr>
              <a:tr h="384048">
                <a:tc>
                  <a:txBody>
                    <a:bodyPr/>
                    <a:lstStyle/>
                    <a:p>
                      <a:r>
                        <a:rPr sz="1300" b="1">
                          <a:solidFill>
                            <a:srgbClr val="3F3F3F"/>
                          </a:solidFill>
                          <a:latin typeface="Arial"/>
                        </a:rPr>
                        <a:t>LDH</a:t>
                      </a:r>
                    </a:p>
                  </a:txBody>
                  <a:tcPr marL="73152" marR="73152" marT="27432" marB="27432"/>
                </a:tc>
                <a:tc>
                  <a:txBody>
                    <a:bodyPr/>
                    <a:lstStyle/>
                    <a:p>
                      <a:r>
                        <a:rPr sz="1300" b="0" dirty="0">
                          <a:solidFill>
                            <a:srgbClr val="3F3F3F"/>
                          </a:solidFill>
                          <a:latin typeface="Arial"/>
                        </a:rPr>
                        <a:t>Nonspecific; reflects tumor burden</a:t>
                      </a:r>
                    </a:p>
                  </a:txBody>
                  <a:tcPr marL="73152" marR="73152" marT="27432" marB="27432"/>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388891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Management Principles</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Radical inguinal orchiectomy with high cord ligation</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Never trans-scrotal</a:t>
            </a:r>
            <a:r>
              <a:rPr lang="en-US" sz="1600" dirty="0">
                <a:cs typeface="Calibri Light" panose="020F0302020204030204" pitchFamily="34" charset="0"/>
              </a:rPr>
              <a:t> — violating scrotal lymphatics redirects drainage from retroperitoneal to inguinal nodes (slide 12 payoff)</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Offer sperm banking before</a:t>
            </a:r>
            <a:r>
              <a:rPr lang="en-US" sz="1600" dirty="0">
                <a:cs typeface="Calibri Light" panose="020F0302020204030204" pitchFamily="34" charset="0"/>
              </a:rPr>
              <a:t> orchiectomy, chemotherapy, radiation, or RPLND — a recurring real-world failure</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Predictable spread: right → interaortocaval · left → left para-aortic → chest</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Contrast: prostate cancer → </a:t>
            </a:r>
            <a:r>
              <a:rPr lang="en-US" sz="1600" b="1" dirty="0">
                <a:cs typeface="Calibri Light" panose="020F0302020204030204" pitchFamily="34" charset="0"/>
              </a:rPr>
              <a:t>osteoblastic bone</a:t>
            </a:r>
            <a:r>
              <a:rPr lang="en-US" sz="1600" dirty="0">
                <a:cs typeface="Calibri Light" panose="020F0302020204030204" pitchFamily="34" charset="0"/>
              </a:rPr>
              <a:t> metastases (Batson plexus, ↑alk phos)</a:t>
            </a:r>
          </a:p>
        </p:txBody>
      </p:sp>
    </p:spTree>
    <p:extLst>
      <p:ext uri="{BB962C8B-B14F-4D97-AF65-F5344CB8AC3E}">
        <p14:creationId xmlns:p14="http://schemas.microsoft.com/office/powerpoint/2010/main" val="14307337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668E454-3A2F-F355-AA23-7196041463A2}"/>
              </a:ext>
            </a:extLst>
          </p:cNvPr>
          <p:cNvSpPr txBox="1"/>
          <p:nvPr/>
        </p:nvSpPr>
        <p:spPr>
          <a:xfrm>
            <a:off x="0" y="2532888"/>
            <a:ext cx="12179302" cy="896112"/>
          </a:xfrm>
          <a:prstGeom prst="rect">
            <a:avLst/>
          </a:prstGeom>
          <a:noFill/>
        </p:spPr>
        <p:txBody>
          <a:bodyPr wrap="square" bIns="91440" rtlCol="0" anchor="ctr" anchorCtr="0">
            <a:noAutofit/>
          </a:bodyPr>
          <a:lstStyle/>
          <a:p>
            <a:pPr algn="ctr"/>
            <a:r>
              <a:rPr lang="en-US" sz="3200" dirty="0">
                <a:latin typeface="Georgia" panose="02040502050405020303" pitchFamily="18" charset="0"/>
              </a:rPr>
              <a:t>Part 8: Prostate</a:t>
            </a:r>
          </a:p>
        </p:txBody>
      </p:sp>
    </p:spTree>
    <p:extLst>
      <p:ext uri="{BB962C8B-B14F-4D97-AF65-F5344CB8AC3E}">
        <p14:creationId xmlns:p14="http://schemas.microsoft.com/office/powerpoint/2010/main" val="24201147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BPH: True Hyperplasia of the Transition Zone</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Hyperplasia</a:t>
            </a:r>
            <a:r>
              <a:rPr lang="en-US" sz="1600" dirty="0">
                <a:cs typeface="Calibri Light" panose="020F0302020204030204" pitchFamily="34" charset="0"/>
              </a:rPr>
              <a:t> (cell number), not hypertrophy — stromal + epithelial, </a:t>
            </a:r>
            <a:r>
              <a:rPr lang="en-US" sz="1600" b="1" dirty="0">
                <a:cs typeface="Calibri Light" panose="020F0302020204030204" pitchFamily="34" charset="0"/>
              </a:rPr>
              <a:t>transition zone only</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DHT-dependent:</a:t>
            </a:r>
            <a:r>
              <a:rPr lang="en-US" sz="1600" dirty="0">
                <a:cs typeface="Calibri Light" panose="020F0302020204030204" pitchFamily="34" charset="0"/>
              </a:rPr>
              <a:t> no BPH in 5-AR deficiency or pre-pubertal castration → the mechanistic license for 5-ARIs</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Static component</a:t>
            </a:r>
            <a:r>
              <a:rPr lang="en-US" sz="1600" dirty="0">
                <a:cs typeface="Calibri Light" panose="020F0302020204030204" pitchFamily="34" charset="0"/>
              </a:rPr>
              <a:t> = adenoma bulk → treat with </a:t>
            </a:r>
            <a:r>
              <a:rPr lang="en-US" sz="1600" b="1" dirty="0">
                <a:cs typeface="Calibri Light" panose="020F0302020204030204" pitchFamily="34" charset="0"/>
              </a:rPr>
              <a:t>5-ARI</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Dynamic component</a:t>
            </a:r>
            <a:r>
              <a:rPr lang="en-US" sz="1600" dirty="0">
                <a:cs typeface="Calibri Light" panose="020F0302020204030204" pitchFamily="34" charset="0"/>
              </a:rPr>
              <a:t> = alpha-1a smooth-muscle tone (stroma, capsule, bladder neck) → treat with </a:t>
            </a:r>
            <a:r>
              <a:rPr lang="en-US" sz="1600" b="1" dirty="0">
                <a:cs typeface="Calibri Light" panose="020F0302020204030204" pitchFamily="34" charset="0"/>
              </a:rPr>
              <a:t>alpha-blocker</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Size correlates poorly with symptoms</a:t>
            </a:r>
            <a:r>
              <a:rPr lang="en-US" sz="1600" dirty="0">
                <a:cs typeface="Calibri Light" panose="020F0302020204030204" pitchFamily="34" charset="0"/>
              </a:rPr>
              <a:t> — a 30 gram gland with high tone can obstruct more than a 90 gram one</a:t>
            </a:r>
          </a:p>
        </p:txBody>
      </p:sp>
    </p:spTree>
    <p:extLst>
      <p:ext uri="{BB962C8B-B14F-4D97-AF65-F5344CB8AC3E}">
        <p14:creationId xmlns:p14="http://schemas.microsoft.com/office/powerpoint/2010/main" val="14307337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77359-BA5E-60C8-8553-C0FCFB6CC7B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1A5516A-40E0-F4F0-231C-336597DD20B7}"/>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LUTS and the Bladder’s Response</a:t>
            </a:r>
          </a:p>
        </p:txBody>
      </p:sp>
      <p:sp>
        <p:nvSpPr>
          <p:cNvPr id="7" name="Content Placeholder 2">
            <a:extLst>
              <a:ext uri="{FF2B5EF4-FFF2-40B4-BE49-F238E27FC236}">
                <a16:creationId xmlns:a16="http://schemas.microsoft.com/office/drawing/2014/main" id="{29499C47-E204-4621-8A69-334EBFD433BC}"/>
              </a:ext>
            </a:extLst>
          </p:cNvPr>
          <p:cNvSpPr txBox="1">
            <a:spLocks/>
          </p:cNvSpPr>
          <p:nvPr/>
        </p:nvSpPr>
        <p:spPr>
          <a:xfrm>
            <a:off x="655167" y="2819781"/>
            <a:ext cx="10881360" cy="3895344"/>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sz="1600" dirty="0"/>
              <a:t>Storage symptoms = </a:t>
            </a:r>
            <a:r>
              <a:rPr sz="1600" b="1" dirty="0"/>
              <a:t>secondary detrusor change</a:t>
            </a:r>
            <a:r>
              <a:rPr sz="1600" dirty="0"/>
              <a:t> → can persist after obstruction is relieved</a:t>
            </a:r>
            <a:endParaRPr lang="en-US" sz="1600" dirty="0">
              <a:cs typeface="Calibri Light" panose="020F0302020204030204" pitchFamily="34" charset="0"/>
            </a:endParaRPr>
          </a:p>
          <a:p>
            <a:pPr marL="342891" indent="-342891" algn="l">
              <a:spcAft>
                <a:spcPts val="400"/>
              </a:spcAft>
              <a:buFont typeface="Arial" panose="020B0604020202020204" pitchFamily="34" charset="0"/>
              <a:buChar char="•"/>
            </a:pPr>
            <a:r>
              <a:rPr sz="1600" dirty="0"/>
              <a:t>Bladder arc: hypertrophy → trabeculation → diverticula → decompensation (rising PVR)</a:t>
            </a:r>
          </a:p>
          <a:p>
            <a:pPr marL="342891" indent="-342891" algn="l">
              <a:spcAft>
                <a:spcPts val="400"/>
              </a:spcAft>
              <a:buFont typeface="Arial" panose="020B0604020202020204" pitchFamily="34" charset="0"/>
              <a:buChar char="•"/>
            </a:pPr>
            <a:r>
              <a:rPr sz="1600" dirty="0"/>
              <a:t>Endpoints: retention · UTI · stones · hematuria · </a:t>
            </a:r>
            <a:r>
              <a:rPr sz="1600" b="1" dirty="0"/>
              <a:t>bilateral hydronephrosis / post-renal azotemia</a:t>
            </a:r>
            <a:endParaRPr sz="1600" dirty="0"/>
          </a:p>
          <a:p>
            <a:pPr marL="342891" indent="-342891" algn="l">
              <a:spcAft>
                <a:spcPts val="400"/>
              </a:spcAft>
              <a:buFont typeface="Arial" panose="020B0604020202020204" pitchFamily="34" charset="0"/>
              <a:buChar char="•"/>
            </a:pPr>
            <a:r>
              <a:rPr sz="1600" dirty="0"/>
              <a:t>Mimics to exclude: anticholinergics/sympathomimetics · diabetes · neurogenic bladder · stricture · cancer</a:t>
            </a:r>
          </a:p>
        </p:txBody>
      </p:sp>
      <p:graphicFrame>
        <p:nvGraphicFramePr>
          <p:cNvPr id="8" name="Table 7" descr="Table dividing lower urinary tract symptoms. Storage or irritative symptoms are frequency, urgency, nocturia, and urge incontinence. Voiding or obstructive symptoms are weak stream, hesitancy, intermittency, straining, incomplete emptying, and terminal dribbling."/>
          <p:cNvGraphicFramePr>
            <a:graphicFrameLocks noGrp="1"/>
          </p:cNvGraphicFramePr>
          <p:nvPr>
            <p:extLst>
              <p:ext uri="{D42A27DB-BD31-4B8C-83A1-F6EECF244321}">
                <p14:modId xmlns:p14="http://schemas.microsoft.com/office/powerpoint/2010/main" val="3339167555"/>
              </p:ext>
            </p:extLst>
          </p:nvPr>
        </p:nvGraphicFramePr>
        <p:xfrm>
          <a:off x="1066647" y="1656206"/>
          <a:ext cx="10058400" cy="835152"/>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384048">
                <a:tc>
                  <a:txBody>
                    <a:bodyPr/>
                    <a:lstStyle/>
                    <a:p>
                      <a:r>
                        <a:rPr sz="1400" b="1">
                          <a:solidFill>
                            <a:srgbClr val="FFFFFF"/>
                          </a:solidFill>
                          <a:latin typeface="Arial"/>
                        </a:rPr>
                        <a:t>Storage (irritative)</a:t>
                      </a:r>
                    </a:p>
                  </a:txBody>
                  <a:tcPr marL="73152" marR="73152" marT="27432" marB="27432">
                    <a:solidFill>
                      <a:srgbClr val="C8102E"/>
                    </a:solidFill>
                  </a:tcPr>
                </a:tc>
                <a:tc>
                  <a:txBody>
                    <a:bodyPr/>
                    <a:lstStyle/>
                    <a:p>
                      <a:r>
                        <a:rPr sz="1400" b="1">
                          <a:solidFill>
                            <a:srgbClr val="FFFFFF"/>
                          </a:solidFill>
                          <a:latin typeface="Arial"/>
                        </a:rPr>
                        <a:t>Voiding (obstructive)</a:t>
                      </a:r>
                    </a:p>
                  </a:txBody>
                  <a:tcPr marL="73152" marR="73152" marT="27432" marB="27432">
                    <a:solidFill>
                      <a:srgbClr val="C8102E"/>
                    </a:solidFill>
                  </a:tcPr>
                </a:tc>
                <a:extLst>
                  <a:ext uri="{0D108BD9-81ED-4DB2-BD59-A6C34878D82A}">
                    <a16:rowId xmlns:a16="http://schemas.microsoft.com/office/drawing/2014/main" val="10000"/>
                  </a:ext>
                </a:extLst>
              </a:tr>
              <a:tr h="384048">
                <a:tc>
                  <a:txBody>
                    <a:bodyPr/>
                    <a:lstStyle/>
                    <a:p>
                      <a:r>
                        <a:rPr sz="1300" b="0" dirty="0">
                          <a:solidFill>
                            <a:srgbClr val="3F3F3F"/>
                          </a:solidFill>
                          <a:latin typeface="Arial"/>
                        </a:rPr>
                        <a:t>Frequency · urgency · nocturia · urge incontinence</a:t>
                      </a:r>
                    </a:p>
                  </a:txBody>
                  <a:tcPr marL="73152" marR="73152" marT="27432" marB="27432"/>
                </a:tc>
                <a:tc>
                  <a:txBody>
                    <a:bodyPr/>
                    <a:lstStyle/>
                    <a:p>
                      <a:r>
                        <a:rPr sz="1300" b="0" dirty="0">
                          <a:solidFill>
                            <a:srgbClr val="3F3F3F"/>
                          </a:solidFill>
                          <a:latin typeface="Arial"/>
                        </a:rPr>
                        <a:t>Weak stream · hesitancy · intermittency · straining · incomplete emptying · terminal dribbling</a:t>
                      </a:r>
                    </a:p>
                  </a:txBody>
                  <a:tcPr marL="73152" marR="73152" marT="27432" marB="27432"/>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8388891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BPH Management Ladder</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Watchful waiting + behavioral (evening fluids, caffeine, timed voiding)</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Medical:</a:t>
            </a:r>
            <a:r>
              <a:rPr lang="en-US" sz="1600" dirty="0">
                <a:cs typeface="Calibri Light" panose="020F0302020204030204" pitchFamily="34" charset="0"/>
              </a:rPr>
              <a:t> alpha-blocker (days) · 5-ARI (months, larger glands) · combination · tadalafil 5 mg daily</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MIST:</a:t>
            </a:r>
            <a:r>
              <a:rPr lang="en-US" sz="1600" dirty="0">
                <a:cs typeface="Calibri Light" panose="020F0302020204030204" pitchFamily="34" charset="0"/>
              </a:rPr>
              <a:t> water-vapor thermal therapy · prostatic urethral lift · </a:t>
            </a:r>
            <a:r>
              <a:rPr lang="en-US" sz="1600" b="1" dirty="0">
                <a:cs typeface="Calibri Light" panose="020F0302020204030204" pitchFamily="34" charset="0"/>
              </a:rPr>
              <a:t>Aquablation</a:t>
            </a:r>
            <a:r>
              <a:rPr lang="en-US" sz="1600" dirty="0">
                <a:cs typeface="Calibri Light" panose="020F0302020204030204" pitchFamily="34" charset="0"/>
              </a:rPr>
              <a:t> · temporary nitinol device · prostatic artery embolization</a:t>
            </a:r>
          </a:p>
          <a:p>
            <a:pPr marL="662931" lvl="1" indent="-342891" algn="l">
              <a:spcAft>
                <a:spcPts val="400"/>
              </a:spcAft>
              <a:buFont typeface="Arial" panose="020B0604020202020204" pitchFamily="34" charset="0"/>
              <a:buChar char="•"/>
            </a:pPr>
            <a:r>
              <a:rPr lang="en-US" sz="1600" dirty="0">
                <a:cs typeface="Calibri Light" panose="020F0302020204030204" pitchFamily="34" charset="0"/>
              </a:rPr>
              <a:t>The current shift favors </a:t>
            </a:r>
            <a:r>
              <a:rPr lang="en-US" sz="1600" b="1" dirty="0">
                <a:cs typeface="Calibri Light" panose="020F0302020204030204" pitchFamily="34" charset="0"/>
              </a:rPr>
              <a:t>ejaculation-preserving</a:t>
            </a:r>
            <a:r>
              <a:rPr lang="en-US" sz="1600" dirty="0">
                <a:cs typeface="Calibri Light" panose="020F0302020204030204" pitchFamily="34" charset="0"/>
              </a:rPr>
              <a:t> options</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Surgical:</a:t>
            </a:r>
            <a:r>
              <a:rPr lang="en-US" sz="1600" dirty="0">
                <a:cs typeface="Calibri Light" panose="020F0302020204030204" pitchFamily="34" charset="0"/>
              </a:rPr>
              <a:t> TURP · HoLEP · simple prostatectomy for the largest glands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Sequencing per the </a:t>
            </a:r>
            <a:r>
              <a:rPr lang="en-US" sz="1600" b="1" dirty="0">
                <a:cs typeface="Calibri Light" panose="020F0302020204030204" pitchFamily="34" charset="0"/>
              </a:rPr>
              <a:t>2026 AUA LUTS/BPH guideline</a:t>
            </a:r>
            <a:r>
              <a:rPr lang="en-US" sz="1600" dirty="0">
                <a:cs typeface="Calibri Light" panose="020F0302020204030204" pitchFamily="34" charset="0"/>
              </a:rPr>
              <a:t> (linked on the resource slide)</a:t>
            </a:r>
          </a:p>
        </p:txBody>
      </p:sp>
    </p:spTree>
    <p:extLst>
      <p:ext uri="{BB962C8B-B14F-4D97-AF65-F5344CB8AC3E}">
        <p14:creationId xmlns:p14="http://schemas.microsoft.com/office/powerpoint/2010/main" val="14307337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77359-BA5E-60C8-8553-C0FCFB6CC7B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1A5516A-40E0-F4F0-231C-336597DD20B7}"/>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Prostatitis: The NIH Categories</a:t>
            </a:r>
          </a:p>
        </p:txBody>
      </p:sp>
      <p:sp>
        <p:nvSpPr>
          <p:cNvPr id="7" name="Content Placeholder 2">
            <a:extLst>
              <a:ext uri="{FF2B5EF4-FFF2-40B4-BE49-F238E27FC236}">
                <a16:creationId xmlns:a16="http://schemas.microsoft.com/office/drawing/2014/main" id="{29499C47-E204-4621-8A69-334EBFD433BC}"/>
              </a:ext>
            </a:extLst>
          </p:cNvPr>
          <p:cNvSpPr txBox="1">
            <a:spLocks/>
          </p:cNvSpPr>
          <p:nvPr/>
        </p:nvSpPr>
        <p:spPr>
          <a:xfrm>
            <a:off x="655167" y="3800475"/>
            <a:ext cx="10881360" cy="274320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sz="1600" dirty="0"/>
              <a:t>Antibiotics need lipid solubility to reach prostatic fluid (fluoroquinolones, TMP-SMX)</a:t>
            </a:r>
            <a:endParaRPr lang="en-US" sz="1600" dirty="0">
              <a:cs typeface="Calibri Light" panose="020F0302020204030204" pitchFamily="34" charset="0"/>
            </a:endParaRPr>
          </a:p>
          <a:p>
            <a:pPr marL="342891" indent="-342891" algn="l">
              <a:spcAft>
                <a:spcPts val="400"/>
              </a:spcAft>
              <a:buFont typeface="Arial" panose="020B0604020202020204" pitchFamily="34" charset="0"/>
              <a:buChar char="•"/>
            </a:pPr>
            <a:r>
              <a:rPr sz="1600" b="1" dirty="0"/>
              <a:t>Repeated antibiotic courses for category III is a common and harmful error</a:t>
            </a:r>
            <a:r>
              <a:rPr sz="1600" dirty="0"/>
              <a:t> → UPOINT phenotyping, multimodal care (reference slide R11)</a:t>
            </a:r>
          </a:p>
        </p:txBody>
      </p:sp>
      <p:graphicFrame>
        <p:nvGraphicFramePr>
          <p:cNvPr id="8" name="Table 7" descr="Table of the four NIH prostatitis categories. Category one is acute bacterial prostatitis with fever, rigors, and an exquisitely tender prostate, with abscess and sepsis risk. Category two is chronic bacterial prostatitis with recurrent urinary tract infections from the same organism. Category three, chronic pelvic pain syndrome, is over ninety percent of prostatitis and is frequently not infectious. Category four is asymptomatic inflammatory prostatitis found incidentally."/>
          <p:cNvGraphicFramePr>
            <a:graphicFrameLocks noGrp="1"/>
          </p:cNvGraphicFramePr>
          <p:nvPr/>
        </p:nvGraphicFramePr>
        <p:xfrm>
          <a:off x="1066647" y="1508760"/>
          <a:ext cx="10058400" cy="2054352"/>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6126480">
                  <a:extLst>
                    <a:ext uri="{9D8B030D-6E8A-4147-A177-3AD203B41FA5}">
                      <a16:colId xmlns:a16="http://schemas.microsoft.com/office/drawing/2014/main" val="20002"/>
                    </a:ext>
                  </a:extLst>
                </a:gridCol>
              </a:tblGrid>
              <a:tr h="384048">
                <a:tc>
                  <a:txBody>
                    <a:bodyPr/>
                    <a:lstStyle/>
                    <a:p>
                      <a:r>
                        <a:rPr sz="1400" b="1">
                          <a:solidFill>
                            <a:srgbClr val="FFFFFF"/>
                          </a:solidFill>
                          <a:latin typeface="Arial"/>
                        </a:rPr>
                        <a:t>Category</a:t>
                      </a:r>
                    </a:p>
                  </a:txBody>
                  <a:tcPr marL="73152" marR="73152" marT="27432" marB="27432">
                    <a:solidFill>
                      <a:srgbClr val="C8102E"/>
                    </a:solidFill>
                  </a:tcPr>
                </a:tc>
                <a:tc>
                  <a:txBody>
                    <a:bodyPr/>
                    <a:lstStyle/>
                    <a:p>
                      <a:r>
                        <a:rPr sz="1400" b="1">
                          <a:solidFill>
                            <a:srgbClr val="FFFFFF"/>
                          </a:solidFill>
                          <a:latin typeface="Arial"/>
                        </a:rPr>
                        <a:t>Name</a:t>
                      </a:r>
                    </a:p>
                  </a:txBody>
                  <a:tcPr marL="73152" marR="73152" marT="27432" marB="27432">
                    <a:solidFill>
                      <a:srgbClr val="C8102E"/>
                    </a:solidFill>
                  </a:tcPr>
                </a:tc>
                <a:tc>
                  <a:txBody>
                    <a:bodyPr/>
                    <a:lstStyle/>
                    <a:p>
                      <a:r>
                        <a:rPr sz="1400" b="1">
                          <a:solidFill>
                            <a:srgbClr val="FFFFFF"/>
                          </a:solidFill>
                          <a:latin typeface="Arial"/>
                        </a:rPr>
                        <a:t>Key features</a:t>
                      </a:r>
                    </a:p>
                  </a:txBody>
                  <a:tcPr marL="73152" marR="73152" marT="27432" marB="27432">
                    <a:solidFill>
                      <a:srgbClr val="C8102E"/>
                    </a:solidFill>
                  </a:tcPr>
                </a:tc>
                <a:extLst>
                  <a:ext uri="{0D108BD9-81ED-4DB2-BD59-A6C34878D82A}">
                    <a16:rowId xmlns:a16="http://schemas.microsoft.com/office/drawing/2014/main" val="10000"/>
                  </a:ext>
                </a:extLst>
              </a:tr>
              <a:tr h="384048">
                <a:tc>
                  <a:txBody>
                    <a:bodyPr/>
                    <a:lstStyle/>
                    <a:p>
                      <a:r>
                        <a:rPr sz="1300" b="0">
                          <a:solidFill>
                            <a:srgbClr val="3F3F3F"/>
                          </a:solidFill>
                          <a:latin typeface="Arial"/>
                        </a:rPr>
                        <a:t>I</a:t>
                      </a:r>
                    </a:p>
                  </a:txBody>
                  <a:tcPr marL="73152" marR="73152" marT="27432" marB="27432"/>
                </a:tc>
                <a:tc>
                  <a:txBody>
                    <a:bodyPr/>
                    <a:lstStyle/>
                    <a:p>
                      <a:r>
                        <a:rPr sz="1300" b="0">
                          <a:solidFill>
                            <a:srgbClr val="3F3F3F"/>
                          </a:solidFill>
                          <a:latin typeface="Arial"/>
                        </a:rPr>
                        <a:t>Acute bacterial</a:t>
                      </a:r>
                    </a:p>
                  </a:txBody>
                  <a:tcPr marL="73152" marR="73152" marT="27432" marB="27432"/>
                </a:tc>
                <a:tc>
                  <a:txBody>
                    <a:bodyPr/>
                    <a:lstStyle/>
                    <a:p>
                      <a:r>
                        <a:rPr sz="1300" b="0">
                          <a:solidFill>
                            <a:srgbClr val="3F3F3F"/>
                          </a:solidFill>
                          <a:latin typeface="Arial"/>
                        </a:rPr>
                        <a:t>Fever, rigors, exquisitely tender boggy prostate · abscess/sepsis risk · </a:t>
                      </a:r>
                      <a:r>
                        <a:rPr sz="1300" b="1">
                          <a:solidFill>
                            <a:srgbClr val="3F3F3F"/>
                          </a:solidFill>
                          <a:latin typeface="Arial"/>
                        </a:rPr>
                        <a:t>no vigorous massage</a:t>
                      </a:r>
                    </a:p>
                  </a:txBody>
                  <a:tcPr marL="73152" marR="73152" marT="27432" marB="27432"/>
                </a:tc>
                <a:extLst>
                  <a:ext uri="{0D108BD9-81ED-4DB2-BD59-A6C34878D82A}">
                    <a16:rowId xmlns:a16="http://schemas.microsoft.com/office/drawing/2014/main" val="10001"/>
                  </a:ext>
                </a:extLst>
              </a:tr>
              <a:tr h="384048">
                <a:tc>
                  <a:txBody>
                    <a:bodyPr/>
                    <a:lstStyle/>
                    <a:p>
                      <a:r>
                        <a:rPr sz="1300" b="0">
                          <a:solidFill>
                            <a:srgbClr val="3F3F3F"/>
                          </a:solidFill>
                          <a:latin typeface="Arial"/>
                        </a:rPr>
                        <a:t>II</a:t>
                      </a:r>
                    </a:p>
                  </a:txBody>
                  <a:tcPr marL="73152" marR="73152" marT="27432" marB="27432"/>
                </a:tc>
                <a:tc>
                  <a:txBody>
                    <a:bodyPr/>
                    <a:lstStyle/>
                    <a:p>
                      <a:r>
                        <a:rPr sz="1300" b="0">
                          <a:solidFill>
                            <a:srgbClr val="3F3F3F"/>
                          </a:solidFill>
                          <a:latin typeface="Arial"/>
                        </a:rPr>
                        <a:t>Chronic bacterial</a:t>
                      </a:r>
                    </a:p>
                  </a:txBody>
                  <a:tcPr marL="73152" marR="73152" marT="27432" marB="27432"/>
                </a:tc>
                <a:tc>
                  <a:txBody>
                    <a:bodyPr/>
                    <a:lstStyle/>
                    <a:p>
                      <a:r>
                        <a:rPr sz="1300" b="0">
                          <a:solidFill>
                            <a:srgbClr val="3F3F3F"/>
                          </a:solidFill>
                          <a:latin typeface="Arial"/>
                        </a:rPr>
                        <a:t>Recurrent UTI, </a:t>
                      </a:r>
                      <a:r>
                        <a:rPr sz="1300" b="1">
                          <a:solidFill>
                            <a:srgbClr val="3F3F3F"/>
                          </a:solidFill>
                          <a:latin typeface="Arial"/>
                        </a:rPr>
                        <a:t>same organism</a:t>
                      </a:r>
                      <a:r>
                        <a:rPr sz="1300" b="0">
                          <a:solidFill>
                            <a:srgbClr val="3F3F3F"/>
                          </a:solidFill>
                          <a:latin typeface="Arial"/>
                        </a:rPr>
                        <a:t> — prostate as reservoir · prolonged therapy</a:t>
                      </a:r>
                    </a:p>
                  </a:txBody>
                  <a:tcPr marL="73152" marR="73152" marT="27432" marB="27432"/>
                </a:tc>
                <a:extLst>
                  <a:ext uri="{0D108BD9-81ED-4DB2-BD59-A6C34878D82A}">
                    <a16:rowId xmlns:a16="http://schemas.microsoft.com/office/drawing/2014/main" val="10002"/>
                  </a:ext>
                </a:extLst>
              </a:tr>
              <a:tr h="384048">
                <a:tc>
                  <a:txBody>
                    <a:bodyPr/>
                    <a:lstStyle/>
                    <a:p>
                      <a:r>
                        <a:rPr sz="1300" b="0">
                          <a:solidFill>
                            <a:srgbClr val="3F3F3F"/>
                          </a:solidFill>
                          <a:latin typeface="Arial"/>
                        </a:rPr>
                        <a:t>III</a:t>
                      </a:r>
                    </a:p>
                  </a:txBody>
                  <a:tcPr marL="73152" marR="73152" marT="27432" marB="27432"/>
                </a:tc>
                <a:tc>
                  <a:txBody>
                    <a:bodyPr/>
                    <a:lstStyle/>
                    <a:p>
                      <a:r>
                        <a:rPr sz="1300" b="1">
                          <a:solidFill>
                            <a:srgbClr val="3F3F3F"/>
                          </a:solidFill>
                          <a:latin typeface="Arial"/>
                        </a:rPr>
                        <a:t>CP/CPPS</a:t>
                      </a:r>
                    </a:p>
                  </a:txBody>
                  <a:tcPr marL="73152" marR="73152" marT="27432" marB="27432"/>
                </a:tc>
                <a:tc>
                  <a:txBody>
                    <a:bodyPr/>
                    <a:lstStyle/>
                    <a:p>
                      <a:r>
                        <a:rPr sz="1300" b="1">
                          <a:solidFill>
                            <a:srgbClr val="3F3F3F"/>
                          </a:solidFill>
                          <a:latin typeface="Arial"/>
                        </a:rPr>
                        <a:t>&gt;90% of prostatitis.</a:t>
                      </a:r>
                      <a:r>
                        <a:rPr sz="1300" b="0">
                          <a:solidFill>
                            <a:srgbClr val="3F3F3F"/>
                          </a:solidFill>
                          <a:latin typeface="Arial"/>
                        </a:rPr>
                        <a:t> IIIa inflammatory · IIIb non-inflammatory · frequently </a:t>
                      </a:r>
                      <a:r>
                        <a:rPr sz="1300" b="1">
                          <a:solidFill>
                            <a:srgbClr val="3F3F3F"/>
                          </a:solidFill>
                          <a:latin typeface="Arial"/>
                        </a:rPr>
                        <a:t>not infectious</a:t>
                      </a:r>
                    </a:p>
                  </a:txBody>
                  <a:tcPr marL="73152" marR="73152" marT="27432" marB="27432"/>
                </a:tc>
                <a:extLst>
                  <a:ext uri="{0D108BD9-81ED-4DB2-BD59-A6C34878D82A}">
                    <a16:rowId xmlns:a16="http://schemas.microsoft.com/office/drawing/2014/main" val="10003"/>
                  </a:ext>
                </a:extLst>
              </a:tr>
              <a:tr h="384048">
                <a:tc>
                  <a:txBody>
                    <a:bodyPr/>
                    <a:lstStyle/>
                    <a:p>
                      <a:r>
                        <a:rPr sz="1300" b="0">
                          <a:solidFill>
                            <a:srgbClr val="3F3F3F"/>
                          </a:solidFill>
                          <a:latin typeface="Arial"/>
                        </a:rPr>
                        <a:t>IV</a:t>
                      </a:r>
                    </a:p>
                  </a:txBody>
                  <a:tcPr marL="73152" marR="73152" marT="27432" marB="27432"/>
                </a:tc>
                <a:tc>
                  <a:txBody>
                    <a:bodyPr/>
                    <a:lstStyle/>
                    <a:p>
                      <a:r>
                        <a:rPr sz="1300" b="0">
                          <a:solidFill>
                            <a:srgbClr val="3F3F3F"/>
                          </a:solidFill>
                          <a:latin typeface="Arial"/>
                        </a:rPr>
                        <a:t>Asymptomatic inflammatory</a:t>
                      </a:r>
                    </a:p>
                  </a:txBody>
                  <a:tcPr marL="73152" marR="73152" marT="27432" marB="27432"/>
                </a:tc>
                <a:tc>
                  <a:txBody>
                    <a:bodyPr/>
                    <a:lstStyle/>
                    <a:p>
                      <a:r>
                        <a:rPr sz="1300" b="0">
                          <a:solidFill>
                            <a:srgbClr val="3F3F3F"/>
                          </a:solidFill>
                          <a:latin typeface="Arial"/>
                        </a:rPr>
                        <a:t>Incidental on biopsy or semen analysis</a:t>
                      </a:r>
                    </a:p>
                  </a:txBody>
                  <a:tcPr marL="73152" marR="73152" marT="27432" marB="27432"/>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388891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Prostate Cancer in Five Points</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Peripheral zone</a:t>
            </a:r>
            <a:r>
              <a:rPr lang="en-US" sz="1600" dirty="0">
                <a:cs typeface="Calibri Light" panose="020F0302020204030204" pitchFamily="34" charset="0"/>
              </a:rPr>
              <a:t> adenocarcinoma, usually multifocal · risks: age, African ancestry, family history, </a:t>
            </a:r>
            <a:r>
              <a:rPr lang="en-US" sz="1600" b="1" dirty="0">
                <a:cs typeface="Calibri Light" panose="020F0302020204030204" pitchFamily="34" charset="0"/>
              </a:rPr>
              <a:t>BRCA2</a:t>
            </a:r>
            <a:r>
              <a:rPr lang="en-US" sz="1600" dirty="0">
                <a:cs typeface="Calibri Light" panose="020F0302020204030204" pitchFamily="34" charset="0"/>
              </a:rPr>
              <a:t>, Lynch</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PSA is organ-specific, not cancer-specific</a:t>
            </a:r>
            <a:r>
              <a:rPr lang="en-US" sz="1600" dirty="0">
                <a:cs typeface="Calibri Light" panose="020F0302020204030204" pitchFamily="34" charset="0"/>
              </a:rPr>
              <a:t> — raised by BPH, prostatitis, instrumentation, retention, ejaculation · </a:t>
            </a:r>
            <a:r>
              <a:rPr lang="en-US" sz="1600" b="1" dirty="0">
                <a:cs typeface="Calibri Light" panose="020F0302020204030204" pitchFamily="34" charset="0"/>
              </a:rPr>
              <a:t>halved by 5-ARIs → double the value</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Pathway: risk assessment → </a:t>
            </a:r>
            <a:r>
              <a:rPr lang="en-US" sz="1600" b="1" dirty="0">
                <a:cs typeface="Calibri Light" panose="020F0302020204030204" pitchFamily="34" charset="0"/>
              </a:rPr>
              <a:t>mpMRI (PI-RADS)</a:t>
            </a:r>
            <a:r>
              <a:rPr lang="en-US" sz="1600" dirty="0">
                <a:cs typeface="Calibri Light" panose="020F0302020204030204" pitchFamily="34" charset="0"/>
              </a:rPr>
              <a:t> → targeted + systematic biopsy → </a:t>
            </a:r>
            <a:r>
              <a:rPr lang="en-US" sz="1600" b="1" dirty="0">
                <a:cs typeface="Calibri Light" panose="020F0302020204030204" pitchFamily="34" charset="0"/>
              </a:rPr>
              <a:t>Gleason / Grade Group 1–5</a:t>
            </a:r>
            <a:r>
              <a:rPr lang="en-US" sz="1600" dirty="0">
                <a:cs typeface="Calibri Light" panose="020F0302020204030204" pitchFamily="34" charset="0"/>
              </a:rPr>
              <a:t> drives management</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Spectrum: active surveillance → prostatectomy → radiation ± ADT → systemic therapy · mets are </a:t>
            </a:r>
            <a:r>
              <a:rPr lang="en-US" sz="1600" b="1" dirty="0">
                <a:cs typeface="Calibri Light" panose="020F0302020204030204" pitchFamily="34" charset="0"/>
              </a:rPr>
              <a:t>osteoblastic bone</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Screening is shared decision-making</a:t>
            </a:r>
            <a:r>
              <a:rPr lang="en-US" sz="1600" dirty="0">
                <a:cs typeface="Calibri Light" panose="020F0302020204030204" pitchFamily="34" charset="0"/>
              </a:rPr>
              <a:t> — mortality benefit vs overdiagnosis; ≈55–69 window; earlier for high-risk groups</a:t>
            </a:r>
          </a:p>
        </p:txBody>
      </p:sp>
    </p:spTree>
    <p:extLst>
      <p:ext uri="{BB962C8B-B14F-4D97-AF65-F5344CB8AC3E}">
        <p14:creationId xmlns:p14="http://schemas.microsoft.com/office/powerpoint/2010/main" val="14307337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668E454-3A2F-F355-AA23-7196041463A2}"/>
              </a:ext>
            </a:extLst>
          </p:cNvPr>
          <p:cNvSpPr txBox="1"/>
          <p:nvPr/>
        </p:nvSpPr>
        <p:spPr>
          <a:xfrm>
            <a:off x="0" y="2532888"/>
            <a:ext cx="12179302" cy="896112"/>
          </a:xfrm>
          <a:prstGeom prst="rect">
            <a:avLst/>
          </a:prstGeom>
          <a:noFill/>
        </p:spPr>
        <p:txBody>
          <a:bodyPr wrap="square" bIns="91440" rtlCol="0" anchor="ctr" anchorCtr="0">
            <a:noAutofit/>
          </a:bodyPr>
          <a:lstStyle/>
          <a:p>
            <a:pPr algn="ctr"/>
            <a:r>
              <a:rPr lang="en-US" sz="3200" dirty="0">
                <a:latin typeface="Georgia" panose="02040502050405020303" pitchFamily="18" charset="0"/>
              </a:rPr>
              <a:t>Part 9: ED, Premature Ejaculation, Infertility</a:t>
            </a:r>
          </a:p>
        </p:txBody>
      </p:sp>
    </p:spTree>
    <p:extLst>
      <p:ext uri="{BB962C8B-B14F-4D97-AF65-F5344CB8AC3E}">
        <p14:creationId xmlns:p14="http://schemas.microsoft.com/office/powerpoint/2010/main" val="24201147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77359-BA5E-60C8-8553-C0FCFB6CC7B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1A5516A-40E0-F4F0-231C-336597DD20B7}"/>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Erectile Dysfunction: Six Etiologic Buckets</a:t>
            </a:r>
          </a:p>
        </p:txBody>
      </p:sp>
      <p:sp>
        <p:nvSpPr>
          <p:cNvPr id="7" name="Content Placeholder 2">
            <a:extLst>
              <a:ext uri="{FF2B5EF4-FFF2-40B4-BE49-F238E27FC236}">
                <a16:creationId xmlns:a16="http://schemas.microsoft.com/office/drawing/2014/main" id="{29499C47-E204-4621-8A69-334EBFD433BC}"/>
              </a:ext>
            </a:extLst>
          </p:cNvPr>
          <p:cNvSpPr txBox="1">
            <a:spLocks/>
          </p:cNvSpPr>
          <p:nvPr/>
        </p:nvSpPr>
        <p:spPr>
          <a:xfrm>
            <a:off x="640080" y="4425696"/>
            <a:ext cx="10881360" cy="1975104"/>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sz="1600" dirty="0"/>
              <a:t>History sorts it: </a:t>
            </a:r>
            <a:endParaRPr lang="en-US" sz="1600" dirty="0"/>
          </a:p>
          <a:p>
            <a:pPr marL="342891" indent="-342891" algn="l">
              <a:spcAft>
                <a:spcPts val="400"/>
              </a:spcAft>
              <a:buFont typeface="Arial" panose="020B0604020202020204" pitchFamily="34" charset="0"/>
              <a:buChar char="•"/>
            </a:pPr>
            <a:r>
              <a:rPr lang="en-US" sz="1600" dirty="0"/>
              <a:t>S</a:t>
            </a:r>
            <a:r>
              <a:rPr sz="1600" dirty="0"/>
              <a:t>udden + situational + </a:t>
            </a:r>
            <a:r>
              <a:rPr sz="1600" b="1" dirty="0"/>
              <a:t>preserved morning erections</a:t>
            </a:r>
            <a:r>
              <a:rPr sz="1600" dirty="0"/>
              <a:t> → psychogenic </a:t>
            </a:r>
            <a:endParaRPr lang="en-US" sz="1600" dirty="0"/>
          </a:p>
          <a:p>
            <a:pPr marL="342891" indent="-342891" algn="l">
              <a:spcAft>
                <a:spcPts val="400"/>
              </a:spcAft>
              <a:buFont typeface="Arial" panose="020B0604020202020204" pitchFamily="34" charset="0"/>
              <a:buChar char="•"/>
            </a:pPr>
            <a:r>
              <a:rPr lang="en-US" sz="1600" dirty="0"/>
              <a:t>G</a:t>
            </a:r>
            <a:r>
              <a:rPr sz="1600" dirty="0"/>
              <a:t>radual + lost nocturnal erections → organic</a:t>
            </a:r>
            <a:endParaRPr lang="en-US" sz="1600" dirty="0">
              <a:cs typeface="Calibri Light" panose="020F0302020204030204" pitchFamily="34" charset="0"/>
            </a:endParaRPr>
          </a:p>
        </p:txBody>
      </p:sp>
      <p:graphicFrame>
        <p:nvGraphicFramePr>
          <p:cNvPr id="8" name="Table 7" descr="Table of erectile dysfunction etiologies. Vasculogenic, the most common, includes atherosclerosis, hypertension, diabetes, dyslipidemia, smoking, and obesity. Neurogenic includes diabetic neuropathy, spinal cord injury, multiple sclerosis, pelvic surgery, and radiation. Hormonal includes testosterone deficiency, hyperprolactinemia, and thyroid disease. Drug-induced includes thiazides, beta blockers, spironolactone, SSRIs, antipsychotics, 5-alpha-reductase inhibitors, and opioids. Anatomic includes Peyronie disease, venous leak, and post-priapism fibrosis. Psychogenic includes performance anxiety, depression, and relationship factors."/>
          <p:cNvGraphicFramePr>
            <a:graphicFrameLocks noGrp="1"/>
          </p:cNvGraphicFramePr>
          <p:nvPr/>
        </p:nvGraphicFramePr>
        <p:xfrm>
          <a:off x="1066647" y="1508760"/>
          <a:ext cx="10058399" cy="2688336"/>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7498079">
                  <a:extLst>
                    <a:ext uri="{9D8B030D-6E8A-4147-A177-3AD203B41FA5}">
                      <a16:colId xmlns:a16="http://schemas.microsoft.com/office/drawing/2014/main" val="20001"/>
                    </a:ext>
                  </a:extLst>
                </a:gridCol>
              </a:tblGrid>
              <a:tr h="384048">
                <a:tc>
                  <a:txBody>
                    <a:bodyPr/>
                    <a:lstStyle/>
                    <a:p>
                      <a:r>
                        <a:rPr sz="1400" b="1" dirty="0">
                          <a:solidFill>
                            <a:srgbClr val="FFFFFF"/>
                          </a:solidFill>
                          <a:latin typeface="Arial"/>
                        </a:rPr>
                        <a:t>Category</a:t>
                      </a:r>
                    </a:p>
                  </a:txBody>
                  <a:tcPr marL="73152" marR="73152" marT="27432" marB="27432">
                    <a:solidFill>
                      <a:srgbClr val="C8102E"/>
                    </a:solidFill>
                  </a:tcPr>
                </a:tc>
                <a:tc>
                  <a:txBody>
                    <a:bodyPr/>
                    <a:lstStyle/>
                    <a:p>
                      <a:r>
                        <a:rPr sz="1400" b="1">
                          <a:solidFill>
                            <a:srgbClr val="FFFFFF"/>
                          </a:solidFill>
                          <a:latin typeface="Arial"/>
                        </a:rPr>
                        <a:t>Examples</a:t>
                      </a:r>
                    </a:p>
                  </a:txBody>
                  <a:tcPr marL="73152" marR="73152" marT="27432" marB="27432">
                    <a:solidFill>
                      <a:srgbClr val="C8102E"/>
                    </a:solidFill>
                  </a:tcPr>
                </a:tc>
                <a:extLst>
                  <a:ext uri="{0D108BD9-81ED-4DB2-BD59-A6C34878D82A}">
                    <a16:rowId xmlns:a16="http://schemas.microsoft.com/office/drawing/2014/main" val="10000"/>
                  </a:ext>
                </a:extLst>
              </a:tr>
              <a:tr h="384048">
                <a:tc>
                  <a:txBody>
                    <a:bodyPr/>
                    <a:lstStyle/>
                    <a:p>
                      <a:r>
                        <a:rPr sz="1300" b="1">
                          <a:solidFill>
                            <a:srgbClr val="3F3F3F"/>
                          </a:solidFill>
                          <a:latin typeface="Arial"/>
                        </a:rPr>
                        <a:t>Vasculogenic</a:t>
                      </a:r>
                      <a:r>
                        <a:rPr sz="1300" b="0">
                          <a:solidFill>
                            <a:srgbClr val="3F3F3F"/>
                          </a:solidFill>
                          <a:latin typeface="Arial"/>
                        </a:rPr>
                        <a:t> (most common)</a:t>
                      </a:r>
                    </a:p>
                  </a:txBody>
                  <a:tcPr marL="73152" marR="73152" marT="27432" marB="27432"/>
                </a:tc>
                <a:tc>
                  <a:txBody>
                    <a:bodyPr/>
                    <a:lstStyle/>
                    <a:p>
                      <a:r>
                        <a:rPr sz="1300" b="0">
                          <a:solidFill>
                            <a:srgbClr val="3F3F3F"/>
                          </a:solidFill>
                          <a:latin typeface="Arial"/>
                        </a:rPr>
                        <a:t>Atherosclerosis · hypertension · diabetes · dyslipidemia · smoking · obesity</a:t>
                      </a:r>
                    </a:p>
                  </a:txBody>
                  <a:tcPr marL="73152" marR="73152" marT="27432" marB="27432"/>
                </a:tc>
                <a:extLst>
                  <a:ext uri="{0D108BD9-81ED-4DB2-BD59-A6C34878D82A}">
                    <a16:rowId xmlns:a16="http://schemas.microsoft.com/office/drawing/2014/main" val="10001"/>
                  </a:ext>
                </a:extLst>
              </a:tr>
              <a:tr h="384048">
                <a:tc>
                  <a:txBody>
                    <a:bodyPr/>
                    <a:lstStyle/>
                    <a:p>
                      <a:r>
                        <a:rPr sz="1300" b="0">
                          <a:solidFill>
                            <a:srgbClr val="3F3F3F"/>
                          </a:solidFill>
                          <a:latin typeface="Arial"/>
                        </a:rPr>
                        <a:t>Neurogenic</a:t>
                      </a:r>
                    </a:p>
                  </a:txBody>
                  <a:tcPr marL="73152" marR="73152" marT="27432" marB="27432"/>
                </a:tc>
                <a:tc>
                  <a:txBody>
                    <a:bodyPr/>
                    <a:lstStyle/>
                    <a:p>
                      <a:r>
                        <a:rPr sz="1300" b="0">
                          <a:solidFill>
                            <a:srgbClr val="3F3F3F"/>
                          </a:solidFill>
                          <a:latin typeface="Arial"/>
                        </a:rPr>
                        <a:t>Diabetic neuropathy · cord injury · MS · radical pelvic surgery · radiation</a:t>
                      </a:r>
                    </a:p>
                  </a:txBody>
                  <a:tcPr marL="73152" marR="73152" marT="27432" marB="27432"/>
                </a:tc>
                <a:extLst>
                  <a:ext uri="{0D108BD9-81ED-4DB2-BD59-A6C34878D82A}">
                    <a16:rowId xmlns:a16="http://schemas.microsoft.com/office/drawing/2014/main" val="10002"/>
                  </a:ext>
                </a:extLst>
              </a:tr>
              <a:tr h="384048">
                <a:tc>
                  <a:txBody>
                    <a:bodyPr/>
                    <a:lstStyle/>
                    <a:p>
                      <a:r>
                        <a:rPr sz="1300" b="0">
                          <a:solidFill>
                            <a:srgbClr val="3F3F3F"/>
                          </a:solidFill>
                          <a:latin typeface="Arial"/>
                        </a:rPr>
                        <a:t>Hormonal</a:t>
                      </a:r>
                    </a:p>
                  </a:txBody>
                  <a:tcPr marL="73152" marR="73152" marT="27432" marB="27432"/>
                </a:tc>
                <a:tc>
                  <a:txBody>
                    <a:bodyPr/>
                    <a:lstStyle/>
                    <a:p>
                      <a:r>
                        <a:rPr sz="1300" b="0" dirty="0">
                          <a:solidFill>
                            <a:srgbClr val="3F3F3F"/>
                          </a:solidFill>
                          <a:latin typeface="Arial"/>
                        </a:rPr>
                        <a:t>Testosterone deficiency · </a:t>
                      </a:r>
                      <a:r>
                        <a:rPr sz="1300" b="1" dirty="0">
                          <a:solidFill>
                            <a:srgbClr val="3F3F3F"/>
                          </a:solidFill>
                          <a:latin typeface="Arial"/>
                        </a:rPr>
                        <a:t>hyperprolactinemia</a:t>
                      </a:r>
                      <a:r>
                        <a:rPr sz="1300" b="0" dirty="0">
                          <a:solidFill>
                            <a:srgbClr val="3F3F3F"/>
                          </a:solidFill>
                          <a:latin typeface="Arial"/>
                        </a:rPr>
                        <a:t> · thyroid disease</a:t>
                      </a:r>
                    </a:p>
                  </a:txBody>
                  <a:tcPr marL="73152" marR="73152" marT="27432" marB="27432"/>
                </a:tc>
                <a:extLst>
                  <a:ext uri="{0D108BD9-81ED-4DB2-BD59-A6C34878D82A}">
                    <a16:rowId xmlns:a16="http://schemas.microsoft.com/office/drawing/2014/main" val="10003"/>
                  </a:ext>
                </a:extLst>
              </a:tr>
              <a:tr h="384048">
                <a:tc>
                  <a:txBody>
                    <a:bodyPr/>
                    <a:lstStyle/>
                    <a:p>
                      <a:r>
                        <a:rPr sz="1300" b="0">
                          <a:solidFill>
                            <a:srgbClr val="3F3F3F"/>
                          </a:solidFill>
                          <a:latin typeface="Arial"/>
                        </a:rPr>
                        <a:t>Drug-induced</a:t>
                      </a:r>
                    </a:p>
                  </a:txBody>
                  <a:tcPr marL="73152" marR="73152" marT="27432" marB="27432"/>
                </a:tc>
                <a:tc>
                  <a:txBody>
                    <a:bodyPr/>
                    <a:lstStyle/>
                    <a:p>
                      <a:r>
                        <a:rPr sz="1300" b="0">
                          <a:solidFill>
                            <a:srgbClr val="3F3F3F"/>
                          </a:solidFill>
                          <a:latin typeface="Arial"/>
                        </a:rPr>
                        <a:t>Thiazides · beta-blockers · spironolactone · </a:t>
                      </a:r>
                      <a:r>
                        <a:rPr sz="1300" b="1">
                          <a:solidFill>
                            <a:srgbClr val="3F3F3F"/>
                          </a:solidFill>
                          <a:latin typeface="Arial"/>
                        </a:rPr>
                        <a:t>SSRIs</a:t>
                      </a:r>
                      <a:r>
                        <a:rPr sz="1300" b="0">
                          <a:solidFill>
                            <a:srgbClr val="3F3F3F"/>
                          </a:solidFill>
                          <a:latin typeface="Arial"/>
                        </a:rPr>
                        <a:t> · antipsychotics · 5-ARIs · opioids</a:t>
                      </a:r>
                    </a:p>
                  </a:txBody>
                  <a:tcPr marL="73152" marR="73152" marT="27432" marB="27432"/>
                </a:tc>
                <a:extLst>
                  <a:ext uri="{0D108BD9-81ED-4DB2-BD59-A6C34878D82A}">
                    <a16:rowId xmlns:a16="http://schemas.microsoft.com/office/drawing/2014/main" val="10004"/>
                  </a:ext>
                </a:extLst>
              </a:tr>
              <a:tr h="384048">
                <a:tc>
                  <a:txBody>
                    <a:bodyPr/>
                    <a:lstStyle/>
                    <a:p>
                      <a:r>
                        <a:rPr sz="1300" b="0">
                          <a:solidFill>
                            <a:srgbClr val="3F3F3F"/>
                          </a:solidFill>
                          <a:latin typeface="Arial"/>
                        </a:rPr>
                        <a:t>Anatomic</a:t>
                      </a:r>
                    </a:p>
                  </a:txBody>
                  <a:tcPr marL="73152" marR="73152" marT="27432" marB="27432"/>
                </a:tc>
                <a:tc>
                  <a:txBody>
                    <a:bodyPr/>
                    <a:lstStyle/>
                    <a:p>
                      <a:r>
                        <a:rPr sz="1300" b="0">
                          <a:solidFill>
                            <a:srgbClr val="3F3F3F"/>
                          </a:solidFill>
                          <a:latin typeface="Arial"/>
                        </a:rPr>
                        <a:t>Peyronie · venous leak · post-priapism fibrosis</a:t>
                      </a:r>
                    </a:p>
                  </a:txBody>
                  <a:tcPr marL="73152" marR="73152" marT="27432" marB="27432"/>
                </a:tc>
                <a:extLst>
                  <a:ext uri="{0D108BD9-81ED-4DB2-BD59-A6C34878D82A}">
                    <a16:rowId xmlns:a16="http://schemas.microsoft.com/office/drawing/2014/main" val="10005"/>
                  </a:ext>
                </a:extLst>
              </a:tr>
              <a:tr h="384048">
                <a:tc>
                  <a:txBody>
                    <a:bodyPr/>
                    <a:lstStyle/>
                    <a:p>
                      <a:r>
                        <a:rPr sz="1300" b="0">
                          <a:solidFill>
                            <a:srgbClr val="3F3F3F"/>
                          </a:solidFill>
                          <a:latin typeface="Arial"/>
                        </a:rPr>
                        <a:t>Psychogenic</a:t>
                      </a:r>
                    </a:p>
                  </a:txBody>
                  <a:tcPr marL="73152" marR="73152" marT="27432" marB="27432"/>
                </a:tc>
                <a:tc>
                  <a:txBody>
                    <a:bodyPr/>
                    <a:lstStyle/>
                    <a:p>
                      <a:r>
                        <a:rPr sz="1300" b="0">
                          <a:solidFill>
                            <a:srgbClr val="3F3F3F"/>
                          </a:solidFill>
                          <a:latin typeface="Arial"/>
                        </a:rPr>
                        <a:t>Performance anxiety · depression · relationship factors</a:t>
                      </a:r>
                    </a:p>
                  </a:txBody>
                  <a:tcPr marL="73152" marR="73152" marT="27432" marB="27432"/>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388891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ED Is a Cardiovascular Sentinel</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Cavernosal arteries ≈ </a:t>
            </a:r>
            <a:r>
              <a:rPr lang="en-US" sz="1600" b="1" dirty="0">
                <a:cs typeface="Calibri Light" panose="020F0302020204030204" pitchFamily="34" charset="0"/>
              </a:rPr>
              <a:t>1–2 mm</a:t>
            </a:r>
            <a:r>
              <a:rPr lang="en-US" sz="1600" dirty="0">
                <a:cs typeface="Calibri Light" panose="020F0302020204030204" pitchFamily="34" charset="0"/>
              </a:rPr>
              <a:t> · coronaries ≈ </a:t>
            </a:r>
            <a:r>
              <a:rPr lang="en-US" sz="1600" b="1" dirty="0">
                <a:cs typeface="Calibri Light" panose="020F0302020204030204" pitchFamily="34" charset="0"/>
              </a:rPr>
              <a:t>3–4 mm</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The same endothelial dysfunction is symptomatic in the smaller vessel </a:t>
            </a:r>
            <a:r>
              <a:rPr lang="en-US" sz="1600" b="1" dirty="0">
                <a:cs typeface="Calibri Light" panose="020F0302020204030204" pitchFamily="34" charset="0"/>
              </a:rPr>
              <a:t>first</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ED commonly precedes a cardiac event by </a:t>
            </a:r>
            <a:r>
              <a:rPr lang="en-US" sz="1600" b="1" dirty="0">
                <a:cs typeface="Calibri Light" panose="020F0302020204030204" pitchFamily="34" charset="0"/>
              </a:rPr>
              <a:t>3 years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A 50-year-old with new ED has handed you a screening opportunity: </a:t>
            </a:r>
            <a:r>
              <a:rPr lang="en-US" sz="1600" b="1" dirty="0">
                <a:cs typeface="Calibri Light" panose="020F0302020204030204" pitchFamily="34" charset="0"/>
              </a:rPr>
              <a:t>lipids, A1c, blood pressure, smoking</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Do not just write for sildenafil</a:t>
            </a:r>
          </a:p>
        </p:txBody>
      </p:sp>
    </p:spTree>
    <p:extLst>
      <p:ext uri="{BB962C8B-B14F-4D97-AF65-F5344CB8AC3E}">
        <p14:creationId xmlns:p14="http://schemas.microsoft.com/office/powerpoint/2010/main" val="14307337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ED Treatment Ladder</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Lifestyle + risk-factor modification (exercise improves erections with an effect size rivaling medication)</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PDE-5 inhibitor</a:t>
            </a:r>
            <a:r>
              <a:rPr lang="en-US" sz="1600" dirty="0">
                <a:cs typeface="Calibri Light" panose="020F0302020204030204" pitchFamily="34" charset="0"/>
              </a:rPr>
              <a:t> — first line (details in pharmacology, next part)</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Intracavernosal injection (alprostadil / bimix / trimix) or intraurethral alprostadil</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Vacuum erection device (constriction ring ≤30 min)</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Penile prosthesis — highest satisfaction of any ED therapy.</a:t>
            </a:r>
            <a:r>
              <a:rPr lang="en-US" sz="1600" dirty="0">
                <a:cs typeface="Calibri Light" panose="020F0302020204030204" pitchFamily="34" charset="0"/>
              </a:rPr>
              <a:t> The correct answer for refractory disease, not an act of desperation</a:t>
            </a:r>
          </a:p>
        </p:txBody>
      </p:sp>
    </p:spTree>
    <p:extLst>
      <p:ext uri="{BB962C8B-B14F-4D97-AF65-F5344CB8AC3E}">
        <p14:creationId xmlns:p14="http://schemas.microsoft.com/office/powerpoint/2010/main" val="14307337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Premature Ejaculation — and the SSRI Two-Way Street</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Most common male sexual dysfunction</a:t>
            </a:r>
            <a:r>
              <a:rPr lang="en-US" sz="1600" dirty="0">
                <a:cs typeface="Calibri Light" panose="020F0302020204030204" pitchFamily="34" charset="0"/>
              </a:rPr>
              <a:t> · defined by short latency (≈1 min lifelong), inability to delay, and distress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Mechanism: </a:t>
            </a:r>
            <a:r>
              <a:rPr lang="en-US" sz="1600" b="1" dirty="0">
                <a:cs typeface="Calibri Light" panose="020F0302020204030204" pitchFamily="34" charset="0"/>
              </a:rPr>
              <a:t>central serotonergic threshold</a:t>
            </a:r>
            <a:r>
              <a:rPr lang="en-US" sz="1600" dirty="0">
                <a:cs typeface="Calibri Light" panose="020F0302020204030204" pitchFamily="34" charset="0"/>
              </a:rPr>
              <a:t> (slide 35) + genetics + hypersensitivity + psychological factors</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Treat comorbid ED first</a:t>
            </a:r>
            <a:r>
              <a:rPr lang="en-US" sz="1600" dirty="0">
                <a:cs typeface="Calibri Light" panose="020F0302020204030204" pitchFamily="34" charset="0"/>
              </a:rPr>
              <a:t> — rushing to beat a failing erection mimics PE</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Behavioral (stop-start, squeeze) · topical lidocaine-prilocaine (condom protects the partner) · </a:t>
            </a:r>
            <a:r>
              <a:rPr lang="en-US" sz="1600" b="1" dirty="0">
                <a:cs typeface="Calibri Light" panose="020F0302020204030204" pitchFamily="34" charset="0"/>
              </a:rPr>
              <a:t>SSRIs off-label</a:t>
            </a:r>
            <a:r>
              <a:rPr lang="en-US" sz="1600" dirty="0">
                <a:cs typeface="Calibri Light" panose="020F0302020204030204" pitchFamily="34" charset="0"/>
              </a:rPr>
              <a:t> (paroxetine strongest) · clomipramine</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The same serotonergic effect that treats PE is the adverse effect in patients on SSRIs for depression:</a:t>
            </a:r>
            <a:r>
              <a:rPr lang="en-US" sz="1600" dirty="0">
                <a:cs typeface="Calibri Light" panose="020F0302020204030204" pitchFamily="34" charset="0"/>
              </a:rPr>
              <a:t> delayed ejaculation, reduced libido — one mechanism, two framings (erections typically intact)</a:t>
            </a:r>
          </a:p>
        </p:txBody>
      </p:sp>
    </p:spTree>
    <p:extLst>
      <p:ext uri="{BB962C8B-B14F-4D97-AF65-F5344CB8AC3E}">
        <p14:creationId xmlns:p14="http://schemas.microsoft.com/office/powerpoint/2010/main" val="14307337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Male Infertility: Framework and Reference Limits</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≈15% of couples · male factor in ≈50% · </a:t>
            </a:r>
            <a:r>
              <a:rPr lang="en-US" sz="1600" b="1" dirty="0">
                <a:cs typeface="Calibri Light" panose="020F0302020204030204" pitchFamily="34" charset="0"/>
              </a:rPr>
              <a:t>evaluate both partners in parallel from day one</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Three compartments:</a:t>
            </a:r>
          </a:p>
          <a:p>
            <a:pPr marL="662931" lvl="1" indent="-342891" algn="l">
              <a:spcAft>
                <a:spcPts val="400"/>
              </a:spcAft>
              <a:buFont typeface="Arial" panose="020B0604020202020204" pitchFamily="34" charset="0"/>
              <a:buChar char="•"/>
            </a:pPr>
            <a:r>
              <a:rPr lang="en-US" sz="1600" b="1" dirty="0">
                <a:cs typeface="Calibri Light" panose="020F0302020204030204" pitchFamily="34" charset="0"/>
              </a:rPr>
              <a:t>Pre-testicular</a:t>
            </a:r>
            <a:r>
              <a:rPr lang="en-US" sz="1600" dirty="0">
                <a:cs typeface="Calibri Light" panose="020F0302020204030204" pitchFamily="34" charset="0"/>
              </a:rPr>
              <a:t> (often reversible): central hypogonadism, hyperprolactinemia, </a:t>
            </a:r>
            <a:r>
              <a:rPr lang="en-US" sz="1600" b="1" dirty="0">
                <a:cs typeface="Calibri Light" panose="020F0302020204030204" pitchFamily="34" charset="0"/>
              </a:rPr>
              <a:t>exogenous T / anabolics</a:t>
            </a:r>
            <a:r>
              <a:rPr lang="en-US" sz="1600" dirty="0">
                <a:cs typeface="Calibri Light" panose="020F0302020204030204" pitchFamily="34" charset="0"/>
              </a:rPr>
              <a:t>, opioids, obesity</a:t>
            </a:r>
          </a:p>
          <a:p>
            <a:pPr marL="662931" lvl="1" indent="-342891" algn="l">
              <a:spcAft>
                <a:spcPts val="400"/>
              </a:spcAft>
              <a:buFont typeface="Arial" panose="020B0604020202020204" pitchFamily="34" charset="0"/>
              <a:buChar char="•"/>
            </a:pPr>
            <a:r>
              <a:rPr lang="en-US" sz="1600" b="1" dirty="0">
                <a:cs typeface="Calibri Light" panose="020F0302020204030204" pitchFamily="34" charset="0"/>
              </a:rPr>
              <a:t>Testicular:</a:t>
            </a:r>
            <a:r>
              <a:rPr lang="en-US" sz="1600" dirty="0">
                <a:cs typeface="Calibri Light" panose="020F0302020204030204" pitchFamily="34" charset="0"/>
              </a:rPr>
              <a:t> Klinefelter · </a:t>
            </a:r>
            <a:r>
              <a:rPr lang="en-US" sz="1600" b="1" dirty="0">
                <a:cs typeface="Calibri Light" panose="020F0302020204030204" pitchFamily="34" charset="0"/>
              </a:rPr>
              <a:t>Y-microdeletions (AZFa/b/c)</a:t>
            </a:r>
            <a:r>
              <a:rPr lang="en-US" sz="1600" dirty="0">
                <a:cs typeface="Calibri Light" panose="020F0302020204030204" pitchFamily="34" charset="0"/>
              </a:rPr>
              <a:t> · cryptorchidism · varicocele · mumps · gonadotoxins</a:t>
            </a:r>
          </a:p>
          <a:p>
            <a:pPr marL="662931" lvl="1" indent="-342891" algn="l">
              <a:spcAft>
                <a:spcPts val="400"/>
              </a:spcAft>
              <a:buFont typeface="Arial" panose="020B0604020202020204" pitchFamily="34" charset="0"/>
              <a:buChar char="•"/>
            </a:pPr>
            <a:r>
              <a:rPr lang="en-US" sz="1600" b="1" dirty="0">
                <a:cs typeface="Calibri Light" panose="020F0302020204030204" pitchFamily="34" charset="0"/>
              </a:rPr>
              <a:t>Post-testicular:</a:t>
            </a:r>
            <a:r>
              <a:rPr lang="en-US" sz="1600" dirty="0">
                <a:cs typeface="Calibri Light" panose="020F0302020204030204" pitchFamily="34" charset="0"/>
              </a:rPr>
              <a:t> vasectomy · </a:t>
            </a:r>
            <a:r>
              <a:rPr lang="en-US" sz="1600" b="1" dirty="0">
                <a:cs typeface="Calibri Light" panose="020F0302020204030204" pitchFamily="34" charset="0"/>
              </a:rPr>
              <a:t>CBAVD (CFTR — test patient AND partner)</a:t>
            </a:r>
            <a:r>
              <a:rPr lang="en-US" sz="1600" dirty="0">
                <a:cs typeface="Calibri Light" panose="020F0302020204030204" pitchFamily="34" charset="0"/>
              </a:rPr>
              <a:t> · ejaculatory duct obstruction · retrograde ejaculation</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WHO 6th ed lower reference limits:</a:t>
            </a:r>
            <a:r>
              <a:rPr lang="en-US" sz="1600" dirty="0">
                <a:cs typeface="Calibri Light" panose="020F0302020204030204" pitchFamily="34" charset="0"/>
              </a:rPr>
              <a:t> volume 1.4 mL · conc 16 M/mL · total 39 M · motility 42% · progressive 30% · morphology 4%</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These are population reference limits from recent fathers — not fertile/infertile thresholds.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Two samples, ≥1 month apart (AUA/ASRM), 2–7 days abstinence </a:t>
            </a:r>
          </a:p>
          <a:p>
            <a:pPr marL="800091" lvl="1" indent="-342891" algn="l">
              <a:spcAft>
                <a:spcPts val="400"/>
              </a:spcAft>
              <a:buFont typeface="Arial" panose="020B0604020202020204" pitchFamily="34" charset="0"/>
              <a:buChar char="•"/>
            </a:pPr>
            <a:r>
              <a:rPr lang="en-US" sz="1600" dirty="0">
                <a:cs typeface="Calibri Light" panose="020F0302020204030204" pitchFamily="34" charset="0"/>
              </a:rPr>
              <a:t>Exception: azoospermia is confirmed 1–2 weeks later with pellet analysis (centrifuge the specimen, examine the concentrate for rare sperm — finding any = </a:t>
            </a:r>
            <a:r>
              <a:rPr lang="en-US" sz="1600" dirty="0" err="1">
                <a:cs typeface="Calibri Light" panose="020F0302020204030204" pitchFamily="34" charset="0"/>
              </a:rPr>
              <a:t>cryptozoospermia</a:t>
            </a:r>
            <a:r>
              <a:rPr lang="en-US" sz="1600" dirty="0">
                <a:cs typeface="Calibri Light" panose="020F0302020204030204" pitchFamily="34" charset="0"/>
              </a:rPr>
              <a:t>, may permit ICSI without surgical retrieval)</a:t>
            </a:r>
          </a:p>
        </p:txBody>
      </p:sp>
    </p:spTree>
    <p:extLst>
      <p:ext uri="{BB962C8B-B14F-4D97-AF65-F5344CB8AC3E}">
        <p14:creationId xmlns:p14="http://schemas.microsoft.com/office/powerpoint/2010/main" val="14307337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77359-BA5E-60C8-8553-C0FCFB6CC7B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1A5516A-40E0-F4F0-231C-336597DD20B7}"/>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Reading Azoospermia</a:t>
            </a:r>
          </a:p>
        </p:txBody>
      </p:sp>
      <p:sp>
        <p:nvSpPr>
          <p:cNvPr id="7" name="Content Placeholder 2">
            <a:extLst>
              <a:ext uri="{FF2B5EF4-FFF2-40B4-BE49-F238E27FC236}">
                <a16:creationId xmlns:a16="http://schemas.microsoft.com/office/drawing/2014/main" id="{29499C47-E204-4621-8A69-334EBFD433BC}"/>
              </a:ext>
            </a:extLst>
          </p:cNvPr>
          <p:cNvSpPr txBox="1">
            <a:spLocks/>
          </p:cNvSpPr>
          <p:nvPr/>
        </p:nvSpPr>
        <p:spPr>
          <a:xfrm>
            <a:off x="640080" y="3657600"/>
            <a:ext cx="10881360" cy="274320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sz="1600" dirty="0"/>
              <a:t>Low-volume + acidic + </a:t>
            </a:r>
            <a:r>
              <a:rPr sz="1600" b="1" dirty="0"/>
              <a:t>fructose-negative</a:t>
            </a:r>
            <a:r>
              <a:rPr sz="1600" dirty="0"/>
              <a:t> → ejaculatory duct obstruction or CBAVD (slide 8 payoff)</a:t>
            </a:r>
            <a:endParaRPr lang="en-US" sz="1600" dirty="0">
              <a:solidFill>
                <a:schemeClr val="tx1">
                  <a:lumMod val="50000"/>
                  <a:lumOff val="50000"/>
                </a:schemeClr>
              </a:solidFill>
              <a:cs typeface="Calibri Light" panose="020F0302020204030204" pitchFamily="34" charset="0"/>
            </a:endParaRPr>
          </a:p>
          <a:p>
            <a:pPr marL="342891" indent="-342891" algn="l">
              <a:spcAft>
                <a:spcPts val="400"/>
              </a:spcAft>
              <a:buFont typeface="Arial" panose="020B0604020202020204" pitchFamily="34" charset="0"/>
              <a:buChar char="•"/>
            </a:pPr>
            <a:r>
              <a:rPr sz="1600" dirty="0"/>
              <a:t>Post-ejaculatory urinalysis → retrograde ejaculation </a:t>
            </a:r>
            <a:endParaRPr lang="en-US" sz="1600" dirty="0"/>
          </a:p>
          <a:p>
            <a:pPr marL="342891" indent="-342891" algn="l">
              <a:spcAft>
                <a:spcPts val="400"/>
              </a:spcAft>
              <a:buFont typeface="Arial" panose="020B0604020202020204" pitchFamily="34" charset="0"/>
              <a:buChar char="•"/>
            </a:pPr>
            <a:r>
              <a:rPr sz="1600" dirty="0"/>
              <a:t>Karyotype + Y-microdeletions if &lt;5 M/mL or </a:t>
            </a:r>
            <a:r>
              <a:rPr sz="1600" dirty="0" err="1"/>
              <a:t>azoospermic</a:t>
            </a:r>
            <a:endParaRPr sz="1600" dirty="0"/>
          </a:p>
          <a:p>
            <a:pPr marL="342891" indent="-342891" algn="l">
              <a:spcAft>
                <a:spcPts val="400"/>
              </a:spcAft>
              <a:buFont typeface="Arial" panose="020B0604020202020204" pitchFamily="34" charset="0"/>
              <a:buChar char="•"/>
            </a:pPr>
            <a:r>
              <a:rPr sz="1600" dirty="0"/>
              <a:t>Complete </a:t>
            </a:r>
            <a:r>
              <a:rPr sz="1600" dirty="0" err="1"/>
              <a:t>AZFa</a:t>
            </a:r>
            <a:r>
              <a:rPr sz="1600" dirty="0"/>
              <a:t>/</a:t>
            </a:r>
            <a:r>
              <a:rPr sz="1600" dirty="0" err="1"/>
              <a:t>AZFb</a:t>
            </a:r>
            <a:r>
              <a:rPr sz="1600" dirty="0"/>
              <a:t> deletion predicts failed retrieval — changes counseling </a:t>
            </a:r>
            <a:r>
              <a:rPr sz="1600" b="1" dirty="0"/>
              <a:t>before</a:t>
            </a:r>
            <a:r>
              <a:rPr sz="1600" dirty="0"/>
              <a:t> surgery</a:t>
            </a:r>
          </a:p>
          <a:p>
            <a:pPr marL="342891" indent="-342891" algn="l">
              <a:spcAft>
                <a:spcPts val="400"/>
              </a:spcAft>
              <a:buFont typeface="Arial" panose="020B0604020202020204" pitchFamily="34" charset="0"/>
              <a:buChar char="•"/>
            </a:pPr>
            <a:r>
              <a:rPr sz="1600" b="1" dirty="0"/>
              <a:t>A semen analysis is a general health biomarker</a:t>
            </a:r>
            <a:r>
              <a:rPr sz="1600" dirty="0"/>
              <a:t> — infertile men carry higher cancer and comorbidity rates</a:t>
            </a:r>
          </a:p>
        </p:txBody>
      </p:sp>
      <p:graphicFrame>
        <p:nvGraphicFramePr>
          <p:cNvPr id="8" name="Table 7" descr="Table contrasting obstructive and non-obstructive azoospermia. In obstructive azoospermia testis volume is normal, FSH is normal, the vas may be absent as in congenital bilateral absence of the vas deferens, and sperm retrieval is essentially always successful. In non-obstructive azoospermia the testes are small and soft, FSH is elevated, the vas is present, and microTESE yield is variable."/>
          <p:cNvGraphicFramePr>
            <a:graphicFrameLocks noGrp="1"/>
          </p:cNvGraphicFramePr>
          <p:nvPr/>
        </p:nvGraphicFramePr>
        <p:xfrm>
          <a:off x="1066647" y="1508760"/>
          <a:ext cx="10058400" cy="192024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84048">
                <a:tc>
                  <a:txBody>
                    <a:bodyPr/>
                    <a:lstStyle/>
                    <a:p>
                      <a:endParaRPr/>
                    </a:p>
                  </a:txBody>
                  <a:tcPr marL="73152" marR="73152" marT="27432" marB="27432">
                    <a:solidFill>
                      <a:srgbClr val="C8102E"/>
                    </a:solidFill>
                  </a:tcPr>
                </a:tc>
                <a:tc>
                  <a:txBody>
                    <a:bodyPr/>
                    <a:lstStyle/>
                    <a:p>
                      <a:r>
                        <a:rPr sz="1400" b="1">
                          <a:solidFill>
                            <a:srgbClr val="FFFFFF"/>
                          </a:solidFill>
                          <a:latin typeface="Arial"/>
                        </a:rPr>
                        <a:t>Obstructive</a:t>
                      </a:r>
                    </a:p>
                  </a:txBody>
                  <a:tcPr marL="73152" marR="73152" marT="27432" marB="27432">
                    <a:solidFill>
                      <a:srgbClr val="C8102E"/>
                    </a:solidFill>
                  </a:tcPr>
                </a:tc>
                <a:tc>
                  <a:txBody>
                    <a:bodyPr/>
                    <a:lstStyle/>
                    <a:p>
                      <a:r>
                        <a:rPr sz="1400" b="1">
                          <a:solidFill>
                            <a:srgbClr val="FFFFFF"/>
                          </a:solidFill>
                          <a:latin typeface="Arial"/>
                        </a:rPr>
                        <a:t>Non-obstructive</a:t>
                      </a:r>
                    </a:p>
                  </a:txBody>
                  <a:tcPr marL="73152" marR="73152" marT="27432" marB="27432">
                    <a:solidFill>
                      <a:srgbClr val="C8102E"/>
                    </a:solidFill>
                  </a:tcPr>
                </a:tc>
                <a:extLst>
                  <a:ext uri="{0D108BD9-81ED-4DB2-BD59-A6C34878D82A}">
                    <a16:rowId xmlns:a16="http://schemas.microsoft.com/office/drawing/2014/main" val="10000"/>
                  </a:ext>
                </a:extLst>
              </a:tr>
              <a:tr h="384048">
                <a:tc>
                  <a:txBody>
                    <a:bodyPr/>
                    <a:lstStyle/>
                    <a:p>
                      <a:r>
                        <a:rPr sz="1300" b="0">
                          <a:solidFill>
                            <a:srgbClr val="3F3F3F"/>
                          </a:solidFill>
                          <a:latin typeface="Arial"/>
                        </a:rPr>
                        <a:t>Testis volume</a:t>
                      </a:r>
                    </a:p>
                  </a:txBody>
                  <a:tcPr marL="73152" marR="73152" marT="27432" marB="27432"/>
                </a:tc>
                <a:tc>
                  <a:txBody>
                    <a:bodyPr/>
                    <a:lstStyle/>
                    <a:p>
                      <a:r>
                        <a:rPr sz="1300" b="0">
                          <a:solidFill>
                            <a:srgbClr val="3F3F3F"/>
                          </a:solidFill>
                          <a:latin typeface="Arial"/>
                        </a:rPr>
                        <a:t>Normal</a:t>
                      </a:r>
                    </a:p>
                  </a:txBody>
                  <a:tcPr marL="73152" marR="73152" marT="27432" marB="27432"/>
                </a:tc>
                <a:tc>
                  <a:txBody>
                    <a:bodyPr/>
                    <a:lstStyle/>
                    <a:p>
                      <a:r>
                        <a:rPr sz="1300" b="0">
                          <a:solidFill>
                            <a:srgbClr val="3F3F3F"/>
                          </a:solidFill>
                          <a:latin typeface="Arial"/>
                        </a:rPr>
                        <a:t>Small, soft</a:t>
                      </a:r>
                    </a:p>
                  </a:txBody>
                  <a:tcPr marL="73152" marR="73152" marT="27432" marB="27432"/>
                </a:tc>
                <a:extLst>
                  <a:ext uri="{0D108BD9-81ED-4DB2-BD59-A6C34878D82A}">
                    <a16:rowId xmlns:a16="http://schemas.microsoft.com/office/drawing/2014/main" val="10001"/>
                  </a:ext>
                </a:extLst>
              </a:tr>
              <a:tr h="384048">
                <a:tc>
                  <a:txBody>
                    <a:bodyPr/>
                    <a:lstStyle/>
                    <a:p>
                      <a:r>
                        <a:rPr sz="1300" b="0">
                          <a:solidFill>
                            <a:srgbClr val="3F3F3F"/>
                          </a:solidFill>
                          <a:latin typeface="Arial"/>
                        </a:rPr>
                        <a:t>FSH</a:t>
                      </a:r>
                    </a:p>
                  </a:txBody>
                  <a:tcPr marL="73152" marR="73152" marT="27432" marB="27432"/>
                </a:tc>
                <a:tc>
                  <a:txBody>
                    <a:bodyPr/>
                    <a:lstStyle/>
                    <a:p>
                      <a:r>
                        <a:rPr sz="1300" b="0">
                          <a:solidFill>
                            <a:srgbClr val="3F3F3F"/>
                          </a:solidFill>
                          <a:latin typeface="Arial"/>
                        </a:rPr>
                        <a:t>Normal</a:t>
                      </a:r>
                    </a:p>
                  </a:txBody>
                  <a:tcPr marL="73152" marR="73152" marT="27432" marB="27432"/>
                </a:tc>
                <a:tc>
                  <a:txBody>
                    <a:bodyPr/>
                    <a:lstStyle/>
                    <a:p>
                      <a:r>
                        <a:rPr sz="1300" b="1">
                          <a:solidFill>
                            <a:srgbClr val="3F3F3F"/>
                          </a:solidFill>
                          <a:latin typeface="Arial"/>
                        </a:rPr>
                        <a:t>Elevated</a:t>
                      </a:r>
                    </a:p>
                  </a:txBody>
                  <a:tcPr marL="73152" marR="73152" marT="27432" marB="27432"/>
                </a:tc>
                <a:extLst>
                  <a:ext uri="{0D108BD9-81ED-4DB2-BD59-A6C34878D82A}">
                    <a16:rowId xmlns:a16="http://schemas.microsoft.com/office/drawing/2014/main" val="10002"/>
                  </a:ext>
                </a:extLst>
              </a:tr>
              <a:tr h="384048">
                <a:tc>
                  <a:txBody>
                    <a:bodyPr/>
                    <a:lstStyle/>
                    <a:p>
                      <a:r>
                        <a:rPr sz="1300" b="0">
                          <a:solidFill>
                            <a:srgbClr val="3F3F3F"/>
                          </a:solidFill>
                          <a:latin typeface="Arial"/>
                        </a:rPr>
                        <a:t>Vas deferens</a:t>
                      </a:r>
                    </a:p>
                  </a:txBody>
                  <a:tcPr marL="73152" marR="73152" marT="27432" marB="27432"/>
                </a:tc>
                <a:tc>
                  <a:txBody>
                    <a:bodyPr/>
                    <a:lstStyle/>
                    <a:p>
                      <a:r>
                        <a:rPr sz="1300" b="0">
                          <a:solidFill>
                            <a:srgbClr val="3F3F3F"/>
                          </a:solidFill>
                          <a:latin typeface="Arial"/>
                        </a:rPr>
                        <a:t>May be absent (CBAVD)</a:t>
                      </a:r>
                    </a:p>
                  </a:txBody>
                  <a:tcPr marL="73152" marR="73152" marT="27432" marB="27432"/>
                </a:tc>
                <a:tc>
                  <a:txBody>
                    <a:bodyPr/>
                    <a:lstStyle/>
                    <a:p>
                      <a:r>
                        <a:rPr sz="1300" b="0">
                          <a:solidFill>
                            <a:srgbClr val="3F3F3F"/>
                          </a:solidFill>
                          <a:latin typeface="Arial"/>
                        </a:rPr>
                        <a:t>Present</a:t>
                      </a:r>
                    </a:p>
                  </a:txBody>
                  <a:tcPr marL="73152" marR="73152" marT="27432" marB="27432"/>
                </a:tc>
                <a:extLst>
                  <a:ext uri="{0D108BD9-81ED-4DB2-BD59-A6C34878D82A}">
                    <a16:rowId xmlns:a16="http://schemas.microsoft.com/office/drawing/2014/main" val="10003"/>
                  </a:ext>
                </a:extLst>
              </a:tr>
              <a:tr h="384048">
                <a:tc>
                  <a:txBody>
                    <a:bodyPr/>
                    <a:lstStyle/>
                    <a:p>
                      <a:r>
                        <a:rPr sz="1300" b="0">
                          <a:solidFill>
                            <a:srgbClr val="3F3F3F"/>
                          </a:solidFill>
                          <a:latin typeface="Arial"/>
                        </a:rPr>
                        <a:t>Sperm retrieval</a:t>
                      </a:r>
                    </a:p>
                  </a:txBody>
                  <a:tcPr marL="73152" marR="73152" marT="27432" marB="27432"/>
                </a:tc>
                <a:tc>
                  <a:txBody>
                    <a:bodyPr/>
                    <a:lstStyle/>
                    <a:p>
                      <a:r>
                        <a:rPr sz="1300" b="0">
                          <a:solidFill>
                            <a:srgbClr val="3F3F3F"/>
                          </a:solidFill>
                          <a:latin typeface="Arial"/>
                        </a:rPr>
                        <a:t>Essentially always present</a:t>
                      </a:r>
                    </a:p>
                  </a:txBody>
                  <a:tcPr marL="73152" marR="73152" marT="27432" marB="27432"/>
                </a:tc>
                <a:tc>
                  <a:txBody>
                    <a:bodyPr/>
                    <a:lstStyle/>
                    <a:p>
                      <a:r>
                        <a:rPr sz="1300" b="0">
                          <a:solidFill>
                            <a:srgbClr val="3F3F3F"/>
                          </a:solidFill>
                          <a:latin typeface="Arial"/>
                        </a:rPr>
                        <a:t>microTESE — variable yield</a:t>
                      </a:r>
                    </a:p>
                  </a:txBody>
                  <a:tcPr marL="73152" marR="73152" marT="27432" marB="27432"/>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388891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668E454-3A2F-F355-AA23-7196041463A2}"/>
              </a:ext>
            </a:extLst>
          </p:cNvPr>
          <p:cNvSpPr txBox="1"/>
          <p:nvPr/>
        </p:nvSpPr>
        <p:spPr>
          <a:xfrm>
            <a:off x="0" y="2532888"/>
            <a:ext cx="12179302" cy="896112"/>
          </a:xfrm>
          <a:prstGeom prst="rect">
            <a:avLst/>
          </a:prstGeom>
          <a:noFill/>
        </p:spPr>
        <p:txBody>
          <a:bodyPr wrap="square" bIns="91440" rtlCol="0" anchor="ctr" anchorCtr="0">
            <a:noAutofit/>
          </a:bodyPr>
          <a:lstStyle/>
          <a:p>
            <a:pPr algn="ctr"/>
            <a:r>
              <a:rPr lang="en-US" sz="3200" dirty="0">
                <a:latin typeface="Georgia" panose="02040502050405020303" pitchFamily="18" charset="0"/>
              </a:rPr>
              <a:t>Part 10: Pharmacology</a:t>
            </a:r>
          </a:p>
        </p:txBody>
      </p:sp>
    </p:spTree>
    <p:extLst>
      <p:ext uri="{BB962C8B-B14F-4D97-AF65-F5344CB8AC3E}">
        <p14:creationId xmlns:p14="http://schemas.microsoft.com/office/powerpoint/2010/main" val="24201147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PDE-5 Inhibitors: Mechanism and the Counseling Point</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Inhibit PDE-5 → cGMP accumulates → </a:t>
            </a:r>
            <a:r>
              <a:rPr lang="en-US" sz="1600" b="1" dirty="0">
                <a:cs typeface="Calibri Light" panose="020F0302020204030204" pitchFamily="34" charset="0"/>
              </a:rPr>
              <a:t>amplify an existing NO signal — they do not create one</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They require sexual stimulation.</a:t>
            </a:r>
            <a:r>
              <a:rPr lang="en-US" sz="1600" dirty="0">
                <a:cs typeface="Calibri Light" panose="020F0302020204030204" pitchFamily="34" charset="0"/>
              </a:rPr>
              <a:t> The most common “it didn’t work” is a counseling failure, not a drug failure</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An adequate trial = maximal dose · correct timing · appropriate stomach · </a:t>
            </a:r>
            <a:r>
              <a:rPr lang="en-US" sz="1600" b="1" dirty="0">
                <a:cs typeface="Calibri Light" panose="020F0302020204030204" pitchFamily="34" charset="0"/>
              </a:rPr>
              <a:t>several attempts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Also treats: </a:t>
            </a:r>
            <a:r>
              <a:rPr lang="en-US" sz="1600" b="1" dirty="0">
                <a:cs typeface="Calibri Light" panose="020F0302020204030204" pitchFamily="34" charset="0"/>
              </a:rPr>
              <a:t>pulmonary arterial hypertension</a:t>
            </a:r>
            <a:r>
              <a:rPr lang="en-US" sz="1600" dirty="0">
                <a:cs typeface="Calibri Light" panose="020F0302020204030204" pitchFamily="34" charset="0"/>
              </a:rPr>
              <a:t> </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Tadalafil 5 mg daily for LUTS ± ED</a:t>
            </a:r>
            <a:r>
              <a:rPr lang="en-US" sz="1600" dirty="0">
                <a:cs typeface="Calibri Light" panose="020F0302020204030204" pitchFamily="34" charset="0"/>
              </a:rPr>
              <a:t> — the one-drug answer to Case C</a:t>
            </a:r>
          </a:p>
        </p:txBody>
      </p:sp>
    </p:spTree>
    <p:extLst>
      <p:ext uri="{BB962C8B-B14F-4D97-AF65-F5344CB8AC3E}">
        <p14:creationId xmlns:p14="http://schemas.microsoft.com/office/powerpoint/2010/main" val="14307337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77359-BA5E-60C8-8553-C0FCFB6CC7B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1A5516A-40E0-F4F0-231C-336597DD20B7}"/>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PDE-5 Agents, Contraindications, Rare Harms</a:t>
            </a:r>
          </a:p>
        </p:txBody>
      </p:sp>
      <p:sp>
        <p:nvSpPr>
          <p:cNvPr id="7" name="Content Placeholder 2">
            <a:extLst>
              <a:ext uri="{FF2B5EF4-FFF2-40B4-BE49-F238E27FC236}">
                <a16:creationId xmlns:a16="http://schemas.microsoft.com/office/drawing/2014/main" id="{29499C47-E204-4621-8A69-334EBFD433BC}"/>
              </a:ext>
            </a:extLst>
          </p:cNvPr>
          <p:cNvSpPr txBox="1">
            <a:spLocks/>
          </p:cNvSpPr>
          <p:nvPr/>
        </p:nvSpPr>
        <p:spPr>
          <a:xfrm>
            <a:off x="640080" y="3657600"/>
            <a:ext cx="10881360" cy="274320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sz="1600" b="1" dirty="0"/>
              <a:t>Absolute: nitrates in any form (including amyl nitrite) </a:t>
            </a:r>
            <a:r>
              <a:rPr lang="en-US" sz="1600" b="1" dirty="0"/>
              <a:t>and </a:t>
            </a:r>
            <a:r>
              <a:rPr lang="en-US" sz="1600" b="1" dirty="0" err="1"/>
              <a:t>R</a:t>
            </a:r>
            <a:r>
              <a:rPr sz="1600" b="1" dirty="0" err="1"/>
              <a:t>iociguat</a:t>
            </a:r>
            <a:r>
              <a:rPr sz="1600" dirty="0"/>
              <a:t> — same pathway, profound hypotension </a:t>
            </a:r>
            <a:endParaRPr lang="en-US" sz="1600" dirty="0"/>
          </a:p>
          <a:p>
            <a:pPr marL="342891" indent="-342891" algn="l">
              <a:spcAft>
                <a:spcPts val="400"/>
              </a:spcAft>
              <a:buFont typeface="Arial" panose="020B0604020202020204" pitchFamily="34" charset="0"/>
              <a:buChar char="•"/>
            </a:pPr>
            <a:r>
              <a:rPr lang="en-US" sz="1600" dirty="0"/>
              <a:t>S</a:t>
            </a:r>
            <a:r>
              <a:rPr sz="1600" dirty="0"/>
              <a:t>eparate 24 h (sildenafil/vardenafil), 48 h (tadalafil)</a:t>
            </a:r>
            <a:endParaRPr lang="en-US" sz="1600" dirty="0">
              <a:solidFill>
                <a:schemeClr val="tx1">
                  <a:lumMod val="50000"/>
                  <a:lumOff val="50000"/>
                </a:schemeClr>
              </a:solidFill>
              <a:cs typeface="Calibri Light" panose="020F0302020204030204" pitchFamily="34" charset="0"/>
            </a:endParaRPr>
          </a:p>
          <a:p>
            <a:pPr marL="342891" indent="-342891" algn="l">
              <a:spcAft>
                <a:spcPts val="400"/>
              </a:spcAft>
              <a:buFont typeface="Arial" panose="020B0604020202020204" pitchFamily="34" charset="0"/>
              <a:buChar char="•"/>
            </a:pPr>
            <a:r>
              <a:rPr sz="1600" dirty="0"/>
              <a:t>Alpha-blockers: additive hypotension — stabilize the alpha-blocker first · </a:t>
            </a:r>
            <a:endParaRPr lang="en-US" sz="1600" dirty="0"/>
          </a:p>
          <a:p>
            <a:pPr marL="342891" indent="-342891" algn="l">
              <a:spcAft>
                <a:spcPts val="400"/>
              </a:spcAft>
              <a:buFont typeface="Arial" panose="020B0604020202020204" pitchFamily="34" charset="0"/>
              <a:buChar char="•"/>
            </a:pPr>
            <a:r>
              <a:rPr sz="1600" dirty="0"/>
              <a:t>Practical cardiac screen: </a:t>
            </a:r>
            <a:r>
              <a:rPr sz="1600" b="1" dirty="0"/>
              <a:t>can he climb two flights </a:t>
            </a:r>
            <a:r>
              <a:rPr lang="en-US" sz="1600" b="1" dirty="0"/>
              <a:t>of stairs</a:t>
            </a:r>
            <a:endParaRPr sz="1600" b="1" dirty="0"/>
          </a:p>
          <a:p>
            <a:pPr marL="342891" indent="-342891" algn="l">
              <a:spcAft>
                <a:spcPts val="400"/>
              </a:spcAft>
              <a:buFont typeface="Arial" panose="020B0604020202020204" pitchFamily="34" charset="0"/>
              <a:buChar char="•"/>
            </a:pPr>
            <a:r>
              <a:rPr sz="1600" dirty="0"/>
              <a:t>Rare, board-relevant: </a:t>
            </a:r>
            <a:r>
              <a:rPr sz="1600" b="1" dirty="0"/>
              <a:t>NAION</a:t>
            </a:r>
            <a:r>
              <a:rPr sz="1600" dirty="0"/>
              <a:t> · sudden sensorineural hearing loss</a:t>
            </a:r>
          </a:p>
        </p:txBody>
      </p:sp>
      <p:graphicFrame>
        <p:nvGraphicFramePr>
          <p:cNvPr id="8" name="Table 7" descr="Table of the four PDE-5 inhibitors. Sildenafil has onset in 30 to 60 minutes, a 4 hour half-life, PDE-6 cross-reactivity causing blue-tinged vision, and delayed absorption with fatty meals. Vardenafil is similar with QT prolongation. Tadalafil has 2 hour onset and a 17.5 hour half-life giving a 36 hour window and daily dosing, with PDE-11 cross-reactivity causing back pain, and is food-independent. Avanafil has 15 minute onset, a 5 hour half-life, and is the most selective."/>
          <p:cNvGraphicFramePr>
            <a:graphicFrameLocks noGrp="1"/>
          </p:cNvGraphicFramePr>
          <p:nvPr/>
        </p:nvGraphicFramePr>
        <p:xfrm>
          <a:off x="1066647" y="1508760"/>
          <a:ext cx="10058400" cy="1987296"/>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5303520">
                  <a:extLst>
                    <a:ext uri="{9D8B030D-6E8A-4147-A177-3AD203B41FA5}">
                      <a16:colId xmlns:a16="http://schemas.microsoft.com/office/drawing/2014/main" val="20003"/>
                    </a:ext>
                  </a:extLst>
                </a:gridCol>
              </a:tblGrid>
              <a:tr h="384048">
                <a:tc>
                  <a:txBody>
                    <a:bodyPr/>
                    <a:lstStyle/>
                    <a:p>
                      <a:r>
                        <a:rPr sz="1400" b="1">
                          <a:solidFill>
                            <a:srgbClr val="FFFFFF"/>
                          </a:solidFill>
                          <a:latin typeface="Arial"/>
                        </a:rPr>
                        <a:t>Agent</a:t>
                      </a:r>
                    </a:p>
                  </a:txBody>
                  <a:tcPr marL="73152" marR="73152" marT="27432" marB="27432">
                    <a:solidFill>
                      <a:srgbClr val="C8102E"/>
                    </a:solidFill>
                  </a:tcPr>
                </a:tc>
                <a:tc>
                  <a:txBody>
                    <a:bodyPr/>
                    <a:lstStyle/>
                    <a:p>
                      <a:r>
                        <a:rPr sz="1400" b="1">
                          <a:solidFill>
                            <a:srgbClr val="FFFFFF"/>
                          </a:solidFill>
                          <a:latin typeface="Arial"/>
                        </a:rPr>
                        <a:t>Onset</a:t>
                      </a:r>
                    </a:p>
                  </a:txBody>
                  <a:tcPr marL="73152" marR="73152" marT="27432" marB="27432">
                    <a:solidFill>
                      <a:srgbClr val="C8102E"/>
                    </a:solidFill>
                  </a:tcPr>
                </a:tc>
                <a:tc>
                  <a:txBody>
                    <a:bodyPr/>
                    <a:lstStyle/>
                    <a:p>
                      <a:r>
                        <a:rPr sz="1400" b="1">
                          <a:solidFill>
                            <a:srgbClr val="FFFFFF"/>
                          </a:solidFill>
                          <a:latin typeface="Arial"/>
                        </a:rPr>
                        <a:t>Half-life</a:t>
                      </a:r>
                    </a:p>
                  </a:txBody>
                  <a:tcPr marL="73152" marR="73152" marT="27432" marB="27432">
                    <a:solidFill>
                      <a:srgbClr val="C8102E"/>
                    </a:solidFill>
                  </a:tcPr>
                </a:tc>
                <a:tc>
                  <a:txBody>
                    <a:bodyPr/>
                    <a:lstStyle/>
                    <a:p>
                      <a:r>
                        <a:rPr sz="1400" b="1">
                          <a:solidFill>
                            <a:srgbClr val="FFFFFF"/>
                          </a:solidFill>
                          <a:latin typeface="Arial"/>
                        </a:rPr>
                        <a:t>Distinguishing feature</a:t>
                      </a:r>
                    </a:p>
                  </a:txBody>
                  <a:tcPr marL="73152" marR="73152" marT="27432" marB="27432">
                    <a:solidFill>
                      <a:srgbClr val="C8102E"/>
                    </a:solidFill>
                  </a:tcPr>
                </a:tc>
                <a:extLst>
                  <a:ext uri="{0D108BD9-81ED-4DB2-BD59-A6C34878D82A}">
                    <a16:rowId xmlns:a16="http://schemas.microsoft.com/office/drawing/2014/main" val="10000"/>
                  </a:ext>
                </a:extLst>
              </a:tr>
              <a:tr h="384048">
                <a:tc>
                  <a:txBody>
                    <a:bodyPr/>
                    <a:lstStyle/>
                    <a:p>
                      <a:r>
                        <a:rPr sz="1300" b="0">
                          <a:solidFill>
                            <a:srgbClr val="3F3F3F"/>
                          </a:solidFill>
                          <a:latin typeface="Arial"/>
                        </a:rPr>
                        <a:t>Sildenafil</a:t>
                      </a:r>
                    </a:p>
                  </a:txBody>
                  <a:tcPr marL="73152" marR="73152" marT="27432" marB="27432"/>
                </a:tc>
                <a:tc>
                  <a:txBody>
                    <a:bodyPr/>
                    <a:lstStyle/>
                    <a:p>
                      <a:r>
                        <a:rPr sz="1300" b="0">
                          <a:solidFill>
                            <a:srgbClr val="3F3F3F"/>
                          </a:solidFill>
                          <a:latin typeface="Arial"/>
                        </a:rPr>
                        <a:t>30–60 min</a:t>
                      </a:r>
                    </a:p>
                  </a:txBody>
                  <a:tcPr marL="73152" marR="73152" marT="27432" marB="27432"/>
                </a:tc>
                <a:tc>
                  <a:txBody>
                    <a:bodyPr/>
                    <a:lstStyle/>
                    <a:p>
                      <a:r>
                        <a:rPr sz="1300" b="0">
                          <a:solidFill>
                            <a:srgbClr val="3F3F3F"/>
                          </a:solidFill>
                          <a:latin typeface="Arial"/>
                        </a:rPr>
                        <a:t>≈4 h</a:t>
                      </a:r>
                    </a:p>
                  </a:txBody>
                  <a:tcPr marL="73152" marR="73152" marT="27432" marB="27432"/>
                </a:tc>
                <a:tc>
                  <a:txBody>
                    <a:bodyPr/>
                    <a:lstStyle/>
                    <a:p>
                      <a:r>
                        <a:rPr sz="1300" b="1">
                          <a:solidFill>
                            <a:srgbClr val="3F3F3F"/>
                          </a:solidFill>
                          <a:latin typeface="Arial"/>
                        </a:rPr>
                        <a:t>PDE-6 → blue-tinged vision</a:t>
                      </a:r>
                      <a:r>
                        <a:rPr sz="1300" b="0">
                          <a:solidFill>
                            <a:srgbClr val="3F3F3F"/>
                          </a:solidFill>
                          <a:latin typeface="Arial"/>
                        </a:rPr>
                        <a:t> · fatty meals delay absorption</a:t>
                      </a:r>
                    </a:p>
                  </a:txBody>
                  <a:tcPr marL="73152" marR="73152" marT="27432" marB="27432"/>
                </a:tc>
                <a:extLst>
                  <a:ext uri="{0D108BD9-81ED-4DB2-BD59-A6C34878D82A}">
                    <a16:rowId xmlns:a16="http://schemas.microsoft.com/office/drawing/2014/main" val="10001"/>
                  </a:ext>
                </a:extLst>
              </a:tr>
              <a:tr h="384048">
                <a:tc>
                  <a:txBody>
                    <a:bodyPr/>
                    <a:lstStyle/>
                    <a:p>
                      <a:r>
                        <a:rPr sz="1300" b="0">
                          <a:solidFill>
                            <a:srgbClr val="3F3F3F"/>
                          </a:solidFill>
                          <a:latin typeface="Arial"/>
                        </a:rPr>
                        <a:t>Vardenafil</a:t>
                      </a:r>
                    </a:p>
                  </a:txBody>
                  <a:tcPr marL="73152" marR="73152" marT="27432" marB="27432"/>
                </a:tc>
                <a:tc>
                  <a:txBody>
                    <a:bodyPr/>
                    <a:lstStyle/>
                    <a:p>
                      <a:r>
                        <a:rPr sz="1300" b="0">
                          <a:solidFill>
                            <a:srgbClr val="3F3F3F"/>
                          </a:solidFill>
                          <a:latin typeface="Arial"/>
                        </a:rPr>
                        <a:t>30–60 min</a:t>
                      </a:r>
                    </a:p>
                  </a:txBody>
                  <a:tcPr marL="73152" marR="73152" marT="27432" marB="27432"/>
                </a:tc>
                <a:tc>
                  <a:txBody>
                    <a:bodyPr/>
                    <a:lstStyle/>
                    <a:p>
                      <a:r>
                        <a:rPr sz="1300" b="0">
                          <a:solidFill>
                            <a:srgbClr val="3F3F3F"/>
                          </a:solidFill>
                          <a:latin typeface="Arial"/>
                        </a:rPr>
                        <a:t>≈4 h</a:t>
                      </a:r>
                    </a:p>
                  </a:txBody>
                  <a:tcPr marL="73152" marR="73152" marT="27432" marB="27432"/>
                </a:tc>
                <a:tc>
                  <a:txBody>
                    <a:bodyPr/>
                    <a:lstStyle/>
                    <a:p>
                      <a:r>
                        <a:rPr sz="1300" b="0">
                          <a:solidFill>
                            <a:srgbClr val="3F3F3F"/>
                          </a:solidFill>
                          <a:latin typeface="Arial"/>
                        </a:rPr>
                        <a:t>QT prolongation</a:t>
                      </a:r>
                    </a:p>
                  </a:txBody>
                  <a:tcPr marL="73152" marR="73152" marT="27432" marB="27432"/>
                </a:tc>
                <a:extLst>
                  <a:ext uri="{0D108BD9-81ED-4DB2-BD59-A6C34878D82A}">
                    <a16:rowId xmlns:a16="http://schemas.microsoft.com/office/drawing/2014/main" val="10002"/>
                  </a:ext>
                </a:extLst>
              </a:tr>
              <a:tr h="384048">
                <a:tc>
                  <a:txBody>
                    <a:bodyPr/>
                    <a:lstStyle/>
                    <a:p>
                      <a:r>
                        <a:rPr sz="1300" b="0">
                          <a:solidFill>
                            <a:srgbClr val="3F3F3F"/>
                          </a:solidFill>
                          <a:latin typeface="Arial"/>
                        </a:rPr>
                        <a:t>Tadalafil</a:t>
                      </a:r>
                    </a:p>
                  </a:txBody>
                  <a:tcPr marL="73152" marR="73152" marT="27432" marB="27432"/>
                </a:tc>
                <a:tc>
                  <a:txBody>
                    <a:bodyPr/>
                    <a:lstStyle/>
                    <a:p>
                      <a:r>
                        <a:rPr sz="1300" b="0">
                          <a:solidFill>
                            <a:srgbClr val="3F3F3F"/>
                          </a:solidFill>
                          <a:latin typeface="Arial"/>
                        </a:rPr>
                        <a:t>≈2 h</a:t>
                      </a:r>
                    </a:p>
                  </a:txBody>
                  <a:tcPr marL="73152" marR="73152" marT="27432" marB="27432"/>
                </a:tc>
                <a:tc>
                  <a:txBody>
                    <a:bodyPr/>
                    <a:lstStyle/>
                    <a:p>
                      <a:r>
                        <a:rPr sz="1300" b="1">
                          <a:solidFill>
                            <a:srgbClr val="3F3F3F"/>
                          </a:solidFill>
                          <a:latin typeface="Arial"/>
                        </a:rPr>
                        <a:t>≈17.5 h</a:t>
                      </a:r>
                    </a:p>
                  </a:txBody>
                  <a:tcPr marL="73152" marR="73152" marT="27432" marB="27432"/>
                </a:tc>
                <a:tc>
                  <a:txBody>
                    <a:bodyPr/>
                    <a:lstStyle/>
                    <a:p>
                      <a:r>
                        <a:rPr sz="1300" b="1">
                          <a:solidFill>
                            <a:srgbClr val="3F3F3F"/>
                          </a:solidFill>
                          <a:latin typeface="Arial"/>
                        </a:rPr>
                        <a:t>36-h window · daily dosing · PDE-11 → back pain/myalgia</a:t>
                      </a:r>
                      <a:r>
                        <a:rPr sz="1300" b="0">
                          <a:solidFill>
                            <a:srgbClr val="3F3F3F"/>
                          </a:solidFill>
                          <a:latin typeface="Arial"/>
                        </a:rPr>
                        <a:t> · food-independent</a:t>
                      </a:r>
                    </a:p>
                  </a:txBody>
                  <a:tcPr marL="73152" marR="73152" marT="27432" marB="27432"/>
                </a:tc>
                <a:extLst>
                  <a:ext uri="{0D108BD9-81ED-4DB2-BD59-A6C34878D82A}">
                    <a16:rowId xmlns:a16="http://schemas.microsoft.com/office/drawing/2014/main" val="10003"/>
                  </a:ext>
                </a:extLst>
              </a:tr>
              <a:tr h="384048">
                <a:tc>
                  <a:txBody>
                    <a:bodyPr/>
                    <a:lstStyle/>
                    <a:p>
                      <a:r>
                        <a:rPr sz="1300" b="0">
                          <a:solidFill>
                            <a:srgbClr val="3F3F3F"/>
                          </a:solidFill>
                          <a:latin typeface="Arial"/>
                        </a:rPr>
                        <a:t>Avanafil</a:t>
                      </a:r>
                    </a:p>
                  </a:txBody>
                  <a:tcPr marL="73152" marR="73152" marT="27432" marB="27432"/>
                </a:tc>
                <a:tc>
                  <a:txBody>
                    <a:bodyPr/>
                    <a:lstStyle/>
                    <a:p>
                      <a:r>
                        <a:rPr sz="1300" b="0">
                          <a:solidFill>
                            <a:srgbClr val="3F3F3F"/>
                          </a:solidFill>
                          <a:latin typeface="Arial"/>
                        </a:rPr>
                        <a:t>≈15 min</a:t>
                      </a:r>
                    </a:p>
                  </a:txBody>
                  <a:tcPr marL="73152" marR="73152" marT="27432" marB="27432"/>
                </a:tc>
                <a:tc>
                  <a:txBody>
                    <a:bodyPr/>
                    <a:lstStyle/>
                    <a:p>
                      <a:r>
                        <a:rPr sz="1300" b="0">
                          <a:solidFill>
                            <a:srgbClr val="3F3F3F"/>
                          </a:solidFill>
                          <a:latin typeface="Arial"/>
                        </a:rPr>
                        <a:t>≈5 h</a:t>
                      </a:r>
                    </a:p>
                  </a:txBody>
                  <a:tcPr marL="73152" marR="73152" marT="27432" marB="27432"/>
                </a:tc>
                <a:tc>
                  <a:txBody>
                    <a:bodyPr/>
                    <a:lstStyle/>
                    <a:p>
                      <a:r>
                        <a:rPr sz="1300" b="0">
                          <a:solidFill>
                            <a:srgbClr val="3F3F3F"/>
                          </a:solidFill>
                          <a:latin typeface="Arial"/>
                        </a:rPr>
                        <a:t>Most selective, fastest onset</a:t>
                      </a:r>
                    </a:p>
                  </a:txBody>
                  <a:tcPr marL="73152" marR="73152" marT="27432" marB="27432"/>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388891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77359-BA5E-60C8-8553-C0FCFB6CC7B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1A5516A-40E0-F4F0-231C-336597DD20B7}"/>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BPH Drugs Mapped to Static and Dynamic</a:t>
            </a:r>
          </a:p>
        </p:txBody>
      </p:sp>
      <p:graphicFrame>
        <p:nvGraphicFramePr>
          <p:cNvPr id="8" name="Table 7" descr="Table of BPH drug classes. Alpha-1 blockers treat the dynamic component: doxazosin and terazosin are non-selective with orthostasis; tamsulosin and silodosin are alpha-1a selective causing retrograde or absent ejaculation; all require asking about planned cataract surgery because of intraoperative floppy iris syndrome. 5-alpha-reductase inhibitors treat the static component, shrink the gland over six months, halve the PSA, carry sexual side effects, and are teratogenic. Combination therapy is best for larger glands. Antimuscarinics and mirabegron treat storage symptoms after checking the post-void residual."/>
          <p:cNvGraphicFramePr>
            <a:graphicFrameLocks noGrp="1"/>
          </p:cNvGraphicFramePr>
          <p:nvPr>
            <p:extLst>
              <p:ext uri="{D42A27DB-BD31-4B8C-83A1-F6EECF244321}">
                <p14:modId xmlns:p14="http://schemas.microsoft.com/office/powerpoint/2010/main" val="2305639961"/>
              </p:ext>
            </p:extLst>
          </p:nvPr>
        </p:nvGraphicFramePr>
        <p:xfrm>
          <a:off x="1066800" y="1608773"/>
          <a:ext cx="10058400" cy="2450592"/>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384048">
                <a:tc>
                  <a:txBody>
                    <a:bodyPr/>
                    <a:lstStyle/>
                    <a:p>
                      <a:r>
                        <a:rPr sz="1400" b="1">
                          <a:solidFill>
                            <a:srgbClr val="FFFFFF"/>
                          </a:solidFill>
                          <a:latin typeface="Arial"/>
                        </a:rPr>
                        <a:t>Class</a:t>
                      </a:r>
                    </a:p>
                  </a:txBody>
                  <a:tcPr marL="73152" marR="73152" marT="27432" marB="27432">
                    <a:solidFill>
                      <a:srgbClr val="C8102E"/>
                    </a:solidFill>
                  </a:tcPr>
                </a:tc>
                <a:tc>
                  <a:txBody>
                    <a:bodyPr/>
                    <a:lstStyle/>
                    <a:p>
                      <a:r>
                        <a:rPr sz="1400" b="1">
                          <a:solidFill>
                            <a:srgbClr val="FFFFFF"/>
                          </a:solidFill>
                          <a:latin typeface="Arial"/>
                        </a:rPr>
                        <a:t>Agents</a:t>
                      </a:r>
                    </a:p>
                  </a:txBody>
                  <a:tcPr marL="73152" marR="73152" marT="27432" marB="27432">
                    <a:solidFill>
                      <a:srgbClr val="C8102E"/>
                    </a:solidFill>
                  </a:tcPr>
                </a:tc>
                <a:tc>
                  <a:txBody>
                    <a:bodyPr/>
                    <a:lstStyle/>
                    <a:p>
                      <a:r>
                        <a:rPr sz="1400" b="1">
                          <a:solidFill>
                            <a:srgbClr val="FFFFFF"/>
                          </a:solidFill>
                          <a:latin typeface="Arial"/>
                        </a:rPr>
                        <a:t>What to counsel</a:t>
                      </a:r>
                    </a:p>
                  </a:txBody>
                  <a:tcPr marL="73152" marR="73152" marT="27432" marB="27432">
                    <a:solidFill>
                      <a:srgbClr val="C8102E"/>
                    </a:solidFill>
                  </a:tcPr>
                </a:tc>
                <a:extLst>
                  <a:ext uri="{0D108BD9-81ED-4DB2-BD59-A6C34878D82A}">
                    <a16:rowId xmlns:a16="http://schemas.microsoft.com/office/drawing/2014/main" val="10000"/>
                  </a:ext>
                </a:extLst>
              </a:tr>
              <a:tr h="384048">
                <a:tc>
                  <a:txBody>
                    <a:bodyPr/>
                    <a:lstStyle/>
                    <a:p>
                      <a:r>
                        <a:rPr sz="1300" b="1">
                          <a:solidFill>
                            <a:srgbClr val="3F3F3F"/>
                          </a:solidFill>
                          <a:latin typeface="Arial"/>
                        </a:rPr>
                        <a:t>Alpha-1 blockers</a:t>
                      </a:r>
                      <a:r>
                        <a:rPr sz="1300" b="0">
                          <a:solidFill>
                            <a:srgbClr val="3F3F3F"/>
                          </a:solidFill>
                          <a:latin typeface="Arial"/>
                        </a:rPr>
                        <a:t> (dynamic)</a:t>
                      </a:r>
                    </a:p>
                  </a:txBody>
                  <a:tcPr marL="73152" marR="73152" marT="27432" marB="27432"/>
                </a:tc>
                <a:tc>
                  <a:txBody>
                    <a:bodyPr/>
                    <a:lstStyle/>
                    <a:p>
                      <a:r>
                        <a:rPr sz="1300" b="0">
                          <a:solidFill>
                            <a:srgbClr val="3F3F3F"/>
                          </a:solidFill>
                          <a:latin typeface="Arial"/>
                        </a:rPr>
                        <a:t>Doxazosin, terazosin (non-selective) · </a:t>
                      </a:r>
                      <a:r>
                        <a:rPr sz="1300" b="1">
                          <a:solidFill>
                            <a:srgbClr val="3F3F3F"/>
                          </a:solidFill>
                          <a:latin typeface="Arial"/>
                        </a:rPr>
                        <a:t>tamsulosin, silodosin</a:t>
                      </a:r>
                      <a:r>
                        <a:rPr sz="1300" b="0">
                          <a:solidFill>
                            <a:srgbClr val="3F3F3F"/>
                          </a:solidFill>
                          <a:latin typeface="Arial"/>
                        </a:rPr>
                        <a:t> (α-1a) · alfuzosin</a:t>
                      </a:r>
                    </a:p>
                  </a:txBody>
                  <a:tcPr marL="73152" marR="73152" marT="27432" marB="27432"/>
                </a:tc>
                <a:tc>
                  <a:txBody>
                    <a:bodyPr/>
                    <a:lstStyle/>
                    <a:p>
                      <a:r>
                        <a:rPr sz="1300" b="0">
                          <a:solidFill>
                            <a:srgbClr val="3F3F3F"/>
                          </a:solidFill>
                          <a:latin typeface="Arial"/>
                        </a:rPr>
                        <a:t>Onset in </a:t>
                      </a:r>
                      <a:r>
                        <a:rPr sz="1300" b="1">
                          <a:solidFill>
                            <a:srgbClr val="3F3F3F"/>
                          </a:solidFill>
                          <a:latin typeface="Arial"/>
                        </a:rPr>
                        <a:t>days</a:t>
                      </a:r>
                      <a:r>
                        <a:rPr sz="1300" b="0">
                          <a:solidFill>
                            <a:srgbClr val="3F3F3F"/>
                          </a:solidFill>
                          <a:latin typeface="Arial"/>
                        </a:rPr>
                        <a:t> · orthostasis (non-selective) · </a:t>
                      </a:r>
                      <a:r>
                        <a:rPr sz="1300" b="1">
                          <a:solidFill>
                            <a:srgbClr val="3F3F3F"/>
                          </a:solidFill>
                          <a:latin typeface="Arial"/>
                        </a:rPr>
                        <a:t>retrograde/absent ejaculation</a:t>
                      </a:r>
                      <a:r>
                        <a:rPr sz="1300" b="0">
                          <a:solidFill>
                            <a:srgbClr val="3F3F3F"/>
                          </a:solidFill>
                          <a:latin typeface="Arial"/>
                        </a:rPr>
                        <a:t> (selective) · </a:t>
                      </a:r>
                      <a:r>
                        <a:rPr sz="1300" b="1">
                          <a:solidFill>
                            <a:srgbClr val="3F3F3F"/>
                          </a:solidFill>
                          <a:latin typeface="Arial"/>
                        </a:rPr>
                        <a:t>ask about cataract surgery — floppy iris</a:t>
                      </a:r>
                    </a:p>
                  </a:txBody>
                  <a:tcPr marL="73152" marR="73152" marT="27432" marB="27432"/>
                </a:tc>
                <a:extLst>
                  <a:ext uri="{0D108BD9-81ED-4DB2-BD59-A6C34878D82A}">
                    <a16:rowId xmlns:a16="http://schemas.microsoft.com/office/drawing/2014/main" val="10001"/>
                  </a:ext>
                </a:extLst>
              </a:tr>
              <a:tr h="384048">
                <a:tc>
                  <a:txBody>
                    <a:bodyPr/>
                    <a:lstStyle/>
                    <a:p>
                      <a:r>
                        <a:rPr sz="1300" b="1" dirty="0">
                          <a:solidFill>
                            <a:srgbClr val="3F3F3F"/>
                          </a:solidFill>
                          <a:latin typeface="Arial"/>
                        </a:rPr>
                        <a:t>5-ARIs</a:t>
                      </a:r>
                      <a:r>
                        <a:rPr sz="1300" b="0" dirty="0">
                          <a:solidFill>
                            <a:srgbClr val="3F3F3F"/>
                          </a:solidFill>
                          <a:latin typeface="Arial"/>
                        </a:rPr>
                        <a:t> (static)</a:t>
                      </a:r>
                    </a:p>
                  </a:txBody>
                  <a:tcPr marL="73152" marR="73152" marT="27432" marB="27432"/>
                </a:tc>
                <a:tc>
                  <a:txBody>
                    <a:bodyPr/>
                    <a:lstStyle/>
                    <a:p>
                      <a:r>
                        <a:rPr sz="1300" b="0">
                          <a:solidFill>
                            <a:srgbClr val="3F3F3F"/>
                          </a:solidFill>
                          <a:latin typeface="Arial"/>
                        </a:rPr>
                        <a:t>Finasteride (type 2) · dutasteride (1+2)</a:t>
                      </a:r>
                    </a:p>
                  </a:txBody>
                  <a:tcPr marL="73152" marR="73152" marT="27432" marB="27432"/>
                </a:tc>
                <a:tc>
                  <a:txBody>
                    <a:bodyPr/>
                    <a:lstStyle/>
                    <a:p>
                      <a:r>
                        <a:rPr sz="1300" b="0">
                          <a:solidFill>
                            <a:srgbClr val="3F3F3F"/>
                          </a:solidFill>
                          <a:latin typeface="Arial"/>
                        </a:rPr>
                        <a:t>Gland shrinks 20–25% over </a:t>
                      </a:r>
                      <a:r>
                        <a:rPr sz="1300" b="1">
                          <a:solidFill>
                            <a:srgbClr val="3F3F3F"/>
                          </a:solidFill>
                          <a:latin typeface="Arial"/>
                        </a:rPr>
                        <a:t>6 mo</a:t>
                      </a:r>
                      <a:r>
                        <a:rPr sz="1300" b="0">
                          <a:solidFill>
                            <a:srgbClr val="3F3F3F"/>
                          </a:solidFill>
                          <a:latin typeface="Arial"/>
                        </a:rPr>
                        <a:t> · </a:t>
                      </a:r>
                      <a:r>
                        <a:rPr sz="1300" b="1">
                          <a:solidFill>
                            <a:srgbClr val="3F3F3F"/>
                          </a:solidFill>
                          <a:latin typeface="Arial"/>
                        </a:rPr>
                        <a:t>PSA halves — double the value</a:t>
                      </a:r>
                      <a:r>
                        <a:rPr sz="1300" b="0">
                          <a:solidFill>
                            <a:srgbClr val="3F3F3F"/>
                          </a:solidFill>
                          <a:latin typeface="Arial"/>
                        </a:rPr>
                        <a:t> · sexual AEs · </a:t>
                      </a:r>
                      <a:r>
                        <a:rPr sz="1300" b="1">
                          <a:solidFill>
                            <a:srgbClr val="3F3F3F"/>
                          </a:solidFill>
                          <a:latin typeface="Arial"/>
                        </a:rPr>
                        <a:t>teratogenic (Cat X): no handling of broken tablets in pregnancy</a:t>
                      </a:r>
                    </a:p>
                  </a:txBody>
                  <a:tcPr marL="73152" marR="73152" marT="27432" marB="27432"/>
                </a:tc>
                <a:extLst>
                  <a:ext uri="{0D108BD9-81ED-4DB2-BD59-A6C34878D82A}">
                    <a16:rowId xmlns:a16="http://schemas.microsoft.com/office/drawing/2014/main" val="10002"/>
                  </a:ext>
                </a:extLst>
              </a:tr>
              <a:tr h="384048">
                <a:tc>
                  <a:txBody>
                    <a:bodyPr/>
                    <a:lstStyle/>
                    <a:p>
                      <a:r>
                        <a:rPr sz="1300" b="0">
                          <a:solidFill>
                            <a:srgbClr val="3F3F3F"/>
                          </a:solidFill>
                          <a:latin typeface="Arial"/>
                        </a:rPr>
                        <a:t>Combination</a:t>
                      </a:r>
                    </a:p>
                  </a:txBody>
                  <a:tcPr marL="73152" marR="73152" marT="27432" marB="27432"/>
                </a:tc>
                <a:tc>
                  <a:txBody>
                    <a:bodyPr/>
                    <a:lstStyle/>
                    <a:p>
                      <a:r>
                        <a:rPr sz="1300" b="0">
                          <a:solidFill>
                            <a:srgbClr val="3F3F3F"/>
                          </a:solidFill>
                          <a:latin typeface="Arial"/>
                        </a:rPr>
                        <a:t>α-blocker + 5-ARI</a:t>
                      </a:r>
                    </a:p>
                  </a:txBody>
                  <a:tcPr marL="73152" marR="73152" marT="27432" marB="27432"/>
                </a:tc>
                <a:tc>
                  <a:txBody>
                    <a:bodyPr/>
                    <a:lstStyle/>
                    <a:p>
                      <a:r>
                        <a:rPr sz="1300" b="0">
                          <a:solidFill>
                            <a:srgbClr val="3F3F3F"/>
                          </a:solidFill>
                          <a:latin typeface="Arial"/>
                        </a:rPr>
                        <a:t>Best for progression in larger glands</a:t>
                      </a:r>
                    </a:p>
                  </a:txBody>
                  <a:tcPr marL="73152" marR="73152" marT="27432" marB="27432"/>
                </a:tc>
                <a:extLst>
                  <a:ext uri="{0D108BD9-81ED-4DB2-BD59-A6C34878D82A}">
                    <a16:rowId xmlns:a16="http://schemas.microsoft.com/office/drawing/2014/main" val="10003"/>
                  </a:ext>
                </a:extLst>
              </a:tr>
              <a:tr h="384048">
                <a:tc>
                  <a:txBody>
                    <a:bodyPr/>
                    <a:lstStyle/>
                    <a:p>
                      <a:r>
                        <a:rPr sz="1300" b="0">
                          <a:solidFill>
                            <a:srgbClr val="3F3F3F"/>
                          </a:solidFill>
                          <a:latin typeface="Arial"/>
                        </a:rPr>
                        <a:t>Storage add-ons</a:t>
                      </a:r>
                    </a:p>
                  </a:txBody>
                  <a:tcPr marL="73152" marR="73152" marT="27432" marB="27432"/>
                </a:tc>
                <a:tc>
                  <a:txBody>
                    <a:bodyPr/>
                    <a:lstStyle/>
                    <a:p>
                      <a:r>
                        <a:rPr sz="1300" b="0">
                          <a:solidFill>
                            <a:srgbClr val="3F3F3F"/>
                          </a:solidFill>
                          <a:latin typeface="Arial"/>
                        </a:rPr>
                        <a:t>Antimuscarinics · mirabegron</a:t>
                      </a:r>
                    </a:p>
                  </a:txBody>
                  <a:tcPr marL="73152" marR="73152" marT="27432" marB="27432"/>
                </a:tc>
                <a:tc>
                  <a:txBody>
                    <a:bodyPr/>
                    <a:lstStyle/>
                    <a:p>
                      <a:r>
                        <a:rPr sz="1300" b="1" dirty="0">
                          <a:solidFill>
                            <a:srgbClr val="3F3F3F"/>
                          </a:solidFill>
                          <a:latin typeface="Arial"/>
                        </a:rPr>
                        <a:t>Check post-void residual first</a:t>
                      </a:r>
                    </a:p>
                  </a:txBody>
                  <a:tcPr marL="73152" marR="73152" marT="27432" marB="27432"/>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388891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Androgen Therapy — and the Fertility-Sparing Alternatives</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Indication:</a:t>
            </a:r>
            <a:r>
              <a:rPr lang="en-US" sz="1600" dirty="0">
                <a:cs typeface="Calibri Light" panose="020F0302020204030204" pitchFamily="34" charset="0"/>
              </a:rPr>
              <a:t> consistent symptoms </a:t>
            </a:r>
            <a:r>
              <a:rPr lang="en-US" sz="1600" b="1" dirty="0">
                <a:cs typeface="Calibri Light" panose="020F0302020204030204" pitchFamily="34" charset="0"/>
              </a:rPr>
              <a:t>+ two morning total T &lt;300 ng/dL</a:t>
            </a:r>
            <a:r>
              <a:rPr lang="en-US" sz="1600" dirty="0">
                <a:cs typeface="Calibri Light" panose="020F0302020204030204" pitchFamily="34" charset="0"/>
              </a:rPr>
              <a:t> · get the </a:t>
            </a:r>
            <a:r>
              <a:rPr lang="en-US" sz="1600" b="1" dirty="0">
                <a:cs typeface="Calibri Light" panose="020F0302020204030204" pitchFamily="34" charset="0"/>
              </a:rPr>
              <a:t>LH</a:t>
            </a:r>
            <a:r>
              <a:rPr lang="en-US" sz="1600" dirty="0">
                <a:cs typeface="Calibri Light" panose="020F0302020204030204" pitchFamily="34" charset="0"/>
              </a:rPr>
              <a:t> (the fork), hematocrit, PSA if age-appropriate — and have the </a:t>
            </a:r>
            <a:r>
              <a:rPr lang="en-US" sz="1600" b="1" dirty="0">
                <a:cs typeface="Calibri Light" panose="020F0302020204030204" pitchFamily="34" charset="0"/>
              </a:rPr>
              <a:t>fertility conversation</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Adverse effects (all predictable): </a:t>
            </a:r>
            <a:r>
              <a:rPr lang="en-US" sz="1600" b="1" dirty="0">
                <a:cs typeface="Calibri Light" panose="020F0302020204030204" pitchFamily="34" charset="0"/>
              </a:rPr>
              <a:t>erythrocytosis</a:t>
            </a:r>
            <a:r>
              <a:rPr lang="en-US" sz="1600" dirty="0">
                <a:cs typeface="Calibri Light" panose="020F0302020204030204" pitchFamily="34" charset="0"/>
              </a:rPr>
              <a:t> · </a:t>
            </a:r>
            <a:r>
              <a:rPr lang="en-US" sz="1600" b="1" dirty="0">
                <a:cs typeface="Calibri Light" panose="020F0302020204030204" pitchFamily="34" charset="0"/>
              </a:rPr>
              <a:t>azoospermia + testicular atrophy</a:t>
            </a:r>
            <a:r>
              <a:rPr lang="en-US" sz="1600" dirty="0">
                <a:cs typeface="Calibri Light" panose="020F0302020204030204" pitchFamily="34" charset="0"/>
              </a:rPr>
              <a:t> · gynecomastia · acne · worsened OSA</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TRAVERSE (2023): CV non-inferior in at-risk hypogonadal men (MACE 7.0% vs 7.3%) — but more AF, PE, and AKI </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Fertility-sparing instead of T:</a:t>
            </a:r>
            <a:r>
              <a:rPr lang="en-US" sz="1600" dirty="0">
                <a:cs typeface="Calibri Light" panose="020F0302020204030204" pitchFamily="34" charset="0"/>
              </a:rPr>
              <a:t> </a:t>
            </a:r>
          </a:p>
          <a:p>
            <a:pPr marL="800091" lvl="1" indent="-342891" algn="l">
              <a:spcAft>
                <a:spcPts val="400"/>
              </a:spcAft>
              <a:buFont typeface="Arial" panose="020B0604020202020204" pitchFamily="34" charset="0"/>
              <a:buChar char="•"/>
            </a:pPr>
            <a:r>
              <a:rPr lang="en-US" sz="1400" dirty="0">
                <a:cs typeface="Calibri Light" panose="020F0302020204030204" pitchFamily="34" charset="0"/>
              </a:rPr>
              <a:t>clomiphene/enclomiphene (SERM → ↑endogenous LH/FSH) </a:t>
            </a:r>
          </a:p>
          <a:p>
            <a:pPr marL="800091" lvl="1" indent="-342891" algn="l">
              <a:spcAft>
                <a:spcPts val="400"/>
              </a:spcAft>
              <a:buFont typeface="Arial" panose="020B0604020202020204" pitchFamily="34" charset="0"/>
              <a:buChar char="•"/>
            </a:pPr>
            <a:r>
              <a:rPr lang="en-US" sz="1400" b="1" dirty="0" err="1">
                <a:cs typeface="Calibri Light" panose="020F0302020204030204" pitchFamily="34" charset="0"/>
              </a:rPr>
              <a:t>hCG</a:t>
            </a:r>
            <a:r>
              <a:rPr lang="en-US" sz="1400" dirty="0">
                <a:cs typeface="Calibri Light" panose="020F0302020204030204" pitchFamily="34" charset="0"/>
              </a:rPr>
              <a:t> (LH analog, preserves intratesticular T) </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Anabolic steroid users: axis recovery takes </a:t>
            </a:r>
            <a:r>
              <a:rPr lang="en-US" sz="1600" b="1" dirty="0">
                <a:cs typeface="Calibri Light" panose="020F0302020204030204" pitchFamily="34" charset="0"/>
              </a:rPr>
              <a:t>months to years</a:t>
            </a:r>
            <a:r>
              <a:rPr lang="en-US" sz="1600" dirty="0">
                <a:cs typeface="Calibri Light" panose="020F0302020204030204" pitchFamily="34" charset="0"/>
              </a:rPr>
              <a:t>, sometimes incomplete — screen non-judgmentally</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FDA relabeled the class in early 2025:</a:t>
            </a:r>
            <a:r>
              <a:rPr lang="en-US" sz="1600" dirty="0">
                <a:cs typeface="Calibri Light" panose="020F0302020204030204" pitchFamily="34" charset="0"/>
              </a:rPr>
              <a:t> </a:t>
            </a:r>
          </a:p>
          <a:p>
            <a:pPr marL="800091" lvl="1" indent="-342891" algn="l">
              <a:spcAft>
                <a:spcPts val="400"/>
              </a:spcAft>
              <a:buFont typeface="Arial" panose="020B0604020202020204" pitchFamily="34" charset="0"/>
              <a:buChar char="•"/>
            </a:pPr>
            <a:r>
              <a:rPr lang="en-US" sz="1400" dirty="0">
                <a:cs typeface="Calibri Light" panose="020F0302020204030204" pitchFamily="34" charset="0"/>
              </a:rPr>
              <a:t>Boxed warning for cardiovascular risk </a:t>
            </a:r>
            <a:r>
              <a:rPr lang="en-US" sz="1400" b="1" dirty="0">
                <a:cs typeface="Calibri Light" panose="020F0302020204030204" pitchFamily="34" charset="0"/>
              </a:rPr>
              <a:t>removed</a:t>
            </a:r>
          </a:p>
          <a:p>
            <a:pPr marL="800091" lvl="1" indent="-342891" algn="l">
              <a:spcAft>
                <a:spcPts val="400"/>
              </a:spcAft>
              <a:buFont typeface="Arial" panose="020B0604020202020204" pitchFamily="34" charset="0"/>
              <a:buChar char="•"/>
            </a:pPr>
            <a:r>
              <a:rPr lang="en-US" sz="1400" dirty="0">
                <a:cs typeface="Calibri Light" panose="020F0302020204030204" pitchFamily="34" charset="0"/>
              </a:rPr>
              <a:t>TRAVERSE results added to all labels</a:t>
            </a:r>
          </a:p>
          <a:p>
            <a:pPr marL="800091" lvl="1" indent="-342891" algn="l">
              <a:spcAft>
                <a:spcPts val="400"/>
              </a:spcAft>
              <a:buFont typeface="Arial" panose="020B0604020202020204" pitchFamily="34" charset="0"/>
              <a:buChar char="•"/>
            </a:pPr>
            <a:r>
              <a:rPr lang="en-US" sz="1400" dirty="0">
                <a:cs typeface="Calibri Light" panose="020F0302020204030204" pitchFamily="34" charset="0"/>
              </a:rPr>
              <a:t>New warning for increased blood pressure, limitation-of-use for age-related hypogonadism retained.</a:t>
            </a:r>
          </a:p>
          <a:p>
            <a:pPr marL="342891" indent="-342891" algn="l">
              <a:spcAft>
                <a:spcPts val="400"/>
              </a:spcAft>
              <a:buFont typeface="Arial" panose="020B0604020202020204" pitchFamily="34" charset="0"/>
              <a:buChar char="•"/>
            </a:pPr>
            <a:endParaRPr lang="en-US" sz="1600" dirty="0">
              <a:cs typeface="Calibri Light" panose="020F0302020204030204" pitchFamily="34" charset="0"/>
            </a:endParaRPr>
          </a:p>
        </p:txBody>
      </p:sp>
    </p:spTree>
    <p:extLst>
      <p:ext uri="{BB962C8B-B14F-4D97-AF65-F5344CB8AC3E}">
        <p14:creationId xmlns:p14="http://schemas.microsoft.com/office/powerpoint/2010/main" val="143073378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ADT for Prostate Cancer — The GnRH Pulsatility Payoff</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GnRH agonists</a:t>
            </a:r>
            <a:r>
              <a:rPr lang="en-US" sz="1600" dirty="0">
                <a:cs typeface="Calibri Light" panose="020F0302020204030204" pitchFamily="34" charset="0"/>
              </a:rPr>
              <a:t> (leuprolide, goserelin): continuous stimulation </a:t>
            </a:r>
            <a:r>
              <a:rPr lang="en-US" sz="1600" b="1" dirty="0">
                <a:cs typeface="Calibri Light" panose="020F0302020204030204" pitchFamily="34" charset="0"/>
              </a:rPr>
              <a:t>downregulates</a:t>
            </a:r>
            <a:r>
              <a:rPr lang="en-US" sz="1600" dirty="0">
                <a:cs typeface="Calibri Light" panose="020F0302020204030204" pitchFamily="34" charset="0"/>
              </a:rPr>
              <a:t> the receptor → castration · </a:t>
            </a:r>
          </a:p>
          <a:p>
            <a:pPr marL="800091" lvl="1" indent="-342891" algn="l">
              <a:spcAft>
                <a:spcPts val="400"/>
              </a:spcAft>
              <a:buFont typeface="Arial" panose="020B0604020202020204" pitchFamily="34" charset="0"/>
              <a:buChar char="•"/>
            </a:pPr>
            <a:r>
              <a:rPr lang="en-US" sz="1400" b="1" dirty="0">
                <a:cs typeface="Calibri Light" panose="020F0302020204030204" pitchFamily="34" charset="0"/>
              </a:rPr>
              <a:t>Initial testosterone flare</a:t>
            </a:r>
            <a:r>
              <a:rPr lang="en-US" sz="1400" dirty="0">
                <a:cs typeface="Calibri Light" panose="020F0302020204030204" pitchFamily="34" charset="0"/>
              </a:rPr>
              <a:t> → cover with an antiandrogen in high-burden disease</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GnRH antagonists</a:t>
            </a:r>
            <a:r>
              <a:rPr lang="en-US" sz="1600" dirty="0">
                <a:cs typeface="Calibri Light" panose="020F0302020204030204" pitchFamily="34" charset="0"/>
              </a:rPr>
              <a:t> (degarelix; oral relugolix): </a:t>
            </a:r>
            <a:r>
              <a:rPr lang="en-US" sz="1600" b="1" dirty="0">
                <a:cs typeface="Calibri Light" panose="020F0302020204030204" pitchFamily="34" charset="0"/>
              </a:rPr>
              <a:t>no flare</a:t>
            </a:r>
            <a:r>
              <a:rPr lang="en-US" sz="1600" dirty="0">
                <a:cs typeface="Calibri Light" panose="020F0302020204030204" pitchFamily="34" charset="0"/>
              </a:rPr>
              <a:t>, faster castration</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AR antagonists:</a:t>
            </a:r>
            <a:r>
              <a:rPr lang="en-US" sz="1600" dirty="0">
                <a:cs typeface="Calibri Light" panose="020F0302020204030204" pitchFamily="34" charset="0"/>
              </a:rPr>
              <a:t> </a:t>
            </a:r>
          </a:p>
          <a:p>
            <a:pPr marL="800091" lvl="1" indent="-342891" algn="l">
              <a:spcAft>
                <a:spcPts val="400"/>
              </a:spcAft>
              <a:buFont typeface="Arial" panose="020B0604020202020204" pitchFamily="34" charset="0"/>
              <a:buChar char="•"/>
            </a:pPr>
            <a:r>
              <a:rPr lang="en-US" sz="1400" dirty="0">
                <a:cs typeface="Calibri Light" panose="020F0302020204030204" pitchFamily="34" charset="0"/>
              </a:rPr>
              <a:t>bicalutamide · flutamide (hepatotoxic) </a:t>
            </a:r>
          </a:p>
          <a:p>
            <a:pPr marL="800091" lvl="1" indent="-342891" algn="l">
              <a:spcAft>
                <a:spcPts val="400"/>
              </a:spcAft>
              <a:buFont typeface="Arial" panose="020B0604020202020204" pitchFamily="34" charset="0"/>
              <a:buChar char="•"/>
            </a:pPr>
            <a:r>
              <a:rPr lang="en-US" sz="1400" dirty="0">
                <a:cs typeface="Calibri Light" panose="020F0302020204030204" pitchFamily="34" charset="0"/>
              </a:rPr>
              <a:t>2nd-gen: enzalutamide (seizure signal), apalutamide, darolutamide (least CNS)</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Abiraterone + prednisone:</a:t>
            </a:r>
            <a:r>
              <a:rPr lang="en-US" sz="1600" dirty="0">
                <a:cs typeface="Calibri Light" panose="020F0302020204030204" pitchFamily="34" charset="0"/>
              </a:rPr>
              <a:t> CYP17A1 blockade; prednisone prevents mineralocorticoid excess (HTN, hypokalemia)</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Systemic ADT toll — bone, metabolic, cognitive — on reference slide R4</a:t>
            </a:r>
          </a:p>
        </p:txBody>
      </p:sp>
    </p:spTree>
    <p:extLst>
      <p:ext uri="{BB962C8B-B14F-4D97-AF65-F5344CB8AC3E}">
        <p14:creationId xmlns:p14="http://schemas.microsoft.com/office/powerpoint/2010/main" val="14307337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214AF-ADDD-BC09-BE9D-3AB6E886B14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C22D9C6-2447-012A-7DC4-EA0A27A5D9D5}"/>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Three Cases — Revisited</a:t>
            </a:r>
          </a:p>
        </p:txBody>
      </p:sp>
      <p:sp>
        <p:nvSpPr>
          <p:cNvPr id="7" name="Content Placeholder 2">
            <a:extLst>
              <a:ext uri="{FF2B5EF4-FFF2-40B4-BE49-F238E27FC236}">
                <a16:creationId xmlns:a16="http://schemas.microsoft.com/office/drawing/2014/main" id="{DA87D14F-E20C-8194-ADB5-CF7B95A27261}"/>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Case A.</a:t>
            </a:r>
            <a:r>
              <a:rPr lang="en-US" sz="1600" dirty="0">
                <a:cs typeface="Calibri Light" panose="020F0302020204030204" pitchFamily="34" charset="0"/>
              </a:rPr>
              <a:t> 17-year-old male. Sudden severe left scrotal pain 3 hours ago during lacrosse. Nausea. One prior episode that resolved on its own.</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Case B.</a:t>
            </a:r>
            <a:r>
              <a:rPr lang="en-US" sz="1600" dirty="0">
                <a:cs typeface="Calibri Light" panose="020F0302020204030204" pitchFamily="34" charset="0"/>
              </a:rPr>
              <a:t> 34-year-old male. 18 months of infertility. “Working out hard.” Taking a supplement from a men’s clinic. Semen analysis: azoospermia.</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Case C.</a:t>
            </a:r>
            <a:r>
              <a:rPr lang="en-US" sz="1600" dirty="0">
                <a:cs typeface="Calibri Light" panose="020F0302020204030204" pitchFamily="34" charset="0"/>
              </a:rPr>
              <a:t> 68-year-old male. Nocturia ×3, weak stream, PSA 6.2. Mentions at the end of the visit that erections have declined over 2 years.</a:t>
            </a:r>
          </a:p>
        </p:txBody>
      </p:sp>
    </p:spTree>
    <p:extLst>
      <p:ext uri="{BB962C8B-B14F-4D97-AF65-F5344CB8AC3E}">
        <p14:creationId xmlns:p14="http://schemas.microsoft.com/office/powerpoint/2010/main" val="21967672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Cases Resolved</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A — Torsion.</a:t>
            </a:r>
            <a:r>
              <a:rPr lang="en-US" sz="1600" dirty="0">
                <a:cs typeface="Calibri Light" panose="020F0302020204030204" pitchFamily="34" charset="0"/>
              </a:rPr>
              <a:t> Absent cremasteric reflex, high transverse lie, negative Prehn, prior intermittent episodes → </a:t>
            </a:r>
            <a:r>
              <a:rPr lang="en-US" sz="1600" b="1" dirty="0">
                <a:cs typeface="Calibri Light" panose="020F0302020204030204" pitchFamily="34" charset="0"/>
              </a:rPr>
              <a:t>emergent exploration + bilateral orchiopexy. No waiting for ultrasound if delayed</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B — Exogenous testosterone.</a:t>
            </a:r>
            <a:r>
              <a:rPr lang="en-US" sz="1600" dirty="0">
                <a:cs typeface="Calibri Light" panose="020F0302020204030204" pitchFamily="34" charset="0"/>
              </a:rPr>
              <a:t> “Supplement” = androgen → LH suppressed → intratesticular T collapsed. Check LH/FSH/T/prolactin · stop the androgen · consider hCG + SERM · </a:t>
            </a:r>
            <a:r>
              <a:rPr lang="en-US" sz="1600" b="1" dirty="0">
                <a:cs typeface="Calibri Light" panose="020F0302020204030204" pitchFamily="34" charset="0"/>
              </a:rPr>
              <a:t>repeat SA ≥3 months</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C — Transition-zone BPH + sentinel ED + independent PSA workup.</a:t>
            </a:r>
            <a:r>
              <a:rPr lang="en-US" sz="1600" dirty="0">
                <a:cs typeface="Calibri Light" panose="020F0302020204030204" pitchFamily="34" charset="0"/>
              </a:rPr>
              <a:t> IPSS, PVR, repeat PSA, MRI pathway · </a:t>
            </a:r>
            <a:r>
              <a:rPr lang="en-US" sz="1600" b="1" dirty="0">
                <a:cs typeface="Calibri Light" panose="020F0302020204030204" pitchFamily="34" charset="0"/>
              </a:rPr>
              <a:t>daily tadalafil treats LUTS and ED with one drug</a:t>
            </a:r>
            <a:r>
              <a:rPr lang="en-US" sz="1600" dirty="0">
                <a:cs typeface="Calibri Light" panose="020F0302020204030204" pitchFamily="34" charset="0"/>
              </a:rPr>
              <a:t> (no nitrates) · lipids, A1c, BP</a:t>
            </a:r>
          </a:p>
        </p:txBody>
      </p:sp>
    </p:spTree>
    <p:extLst>
      <p:ext uri="{BB962C8B-B14F-4D97-AF65-F5344CB8AC3E}">
        <p14:creationId xmlns:p14="http://schemas.microsoft.com/office/powerpoint/2010/main" val="14307337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Ten Things to Remember</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spcAft>
                <a:spcPts val="400"/>
              </a:spcAft>
              <a:buAutoNum type="arabicPeriod"/>
            </a:pPr>
            <a:r>
              <a:rPr lang="en-US" sz="1600" dirty="0">
                <a:cs typeface="Calibri Light" panose="020F0302020204030204" pitchFamily="34" charset="0"/>
              </a:rPr>
              <a:t>BPH is transition zone; prostate cancer is peripheral zone</a:t>
            </a:r>
          </a:p>
          <a:p>
            <a:pPr marL="342900" indent="-342900" algn="l">
              <a:spcAft>
                <a:spcPts val="400"/>
              </a:spcAft>
              <a:buAutoNum type="arabicPeriod"/>
            </a:pPr>
            <a:r>
              <a:rPr lang="en-US" sz="1600" dirty="0">
                <a:cs typeface="Calibri Light" panose="020F0302020204030204" pitchFamily="34" charset="0"/>
              </a:rPr>
              <a:t>Spermatogenesis takes 3 months — every fertility intervention runs on that clock</a:t>
            </a:r>
          </a:p>
          <a:p>
            <a:pPr marL="342900" indent="-342900" algn="l">
              <a:spcAft>
                <a:spcPts val="400"/>
              </a:spcAft>
              <a:buAutoNum type="arabicPeriod"/>
            </a:pPr>
            <a:r>
              <a:rPr lang="en-US" sz="1600" dirty="0">
                <a:cs typeface="Calibri Light" panose="020F0302020204030204" pitchFamily="34" charset="0"/>
              </a:rPr>
              <a:t>Intratesticular testosterone drives spermatogenesis; exogenous T is a contraceptive</a:t>
            </a:r>
          </a:p>
          <a:p>
            <a:pPr marL="342900" indent="-342900" algn="l">
              <a:spcAft>
                <a:spcPts val="400"/>
              </a:spcAft>
              <a:buAutoNum type="arabicPeriod"/>
            </a:pPr>
            <a:r>
              <a:rPr lang="en-US" sz="1600" dirty="0">
                <a:cs typeface="Calibri Light" panose="020F0302020204030204" pitchFamily="34" charset="0"/>
              </a:rPr>
              <a:t>LH separates primary from secondary hypogonadism — get it before prescribing</a:t>
            </a:r>
          </a:p>
          <a:p>
            <a:pPr marL="342900" indent="-342900" algn="l">
              <a:spcAft>
                <a:spcPts val="400"/>
              </a:spcAft>
              <a:buAutoNum type="arabicPeriod"/>
            </a:pPr>
            <a:r>
              <a:rPr lang="en-US" sz="1600" dirty="0">
                <a:cs typeface="Calibri Light" panose="020F0302020204030204" pitchFamily="34" charset="0"/>
              </a:rPr>
              <a:t>Testosterone builds the body; DHT builds the prostate and the hairline</a:t>
            </a:r>
          </a:p>
          <a:p>
            <a:pPr marL="342900" indent="-342900" algn="l">
              <a:spcAft>
                <a:spcPts val="400"/>
              </a:spcAft>
              <a:buAutoNum type="arabicPeriod"/>
            </a:pPr>
            <a:r>
              <a:rPr lang="en-US" sz="1600" dirty="0">
                <a:cs typeface="Calibri Light" panose="020F0302020204030204" pitchFamily="34" charset="0"/>
              </a:rPr>
              <a:t>Point (parasympathetic S2–4) and Shoot (sympathetic T10–L2; pudendal expels)</a:t>
            </a:r>
          </a:p>
          <a:p>
            <a:pPr marL="342900" indent="-342900" algn="l">
              <a:spcAft>
                <a:spcPts val="400"/>
              </a:spcAft>
              <a:buAutoNum type="arabicPeriod"/>
            </a:pPr>
            <a:r>
              <a:rPr lang="en-US" sz="1600" dirty="0">
                <a:cs typeface="Calibri Light" panose="020F0302020204030204" pitchFamily="34" charset="0"/>
              </a:rPr>
              <a:t>PDE-5 inhibitors amplify a signal — never with nitrates</a:t>
            </a:r>
          </a:p>
          <a:p>
            <a:pPr marL="342900" indent="-342900" algn="l">
              <a:spcAft>
                <a:spcPts val="400"/>
              </a:spcAft>
              <a:buAutoNum type="arabicPeriod"/>
            </a:pPr>
            <a:r>
              <a:rPr lang="en-US" sz="1600" dirty="0">
                <a:cs typeface="Calibri Light" panose="020F0302020204030204" pitchFamily="34" charset="0"/>
              </a:rPr>
              <a:t>Torsion is clinical. Six hours. Do not wait for imaging (if delayed)</a:t>
            </a:r>
          </a:p>
          <a:p>
            <a:pPr marL="342900" indent="-342900" algn="l">
              <a:spcAft>
                <a:spcPts val="400"/>
              </a:spcAft>
              <a:buAutoNum type="arabicPeriod"/>
            </a:pPr>
            <a:r>
              <a:rPr lang="en-US" sz="1600" dirty="0">
                <a:cs typeface="Calibri Light" panose="020F0302020204030204" pitchFamily="34" charset="0"/>
              </a:rPr>
              <a:t>Testis drains retroperitoneal → inguinal orchiectomy · penis drains inguinal · bank sperm first</a:t>
            </a:r>
          </a:p>
          <a:p>
            <a:pPr algn="l">
              <a:spcAft>
                <a:spcPts val="400"/>
              </a:spcAft>
            </a:pPr>
            <a:r>
              <a:rPr lang="en-US" sz="1600" dirty="0">
                <a:cs typeface="Calibri Light" panose="020F0302020204030204" pitchFamily="34" charset="0"/>
              </a:rPr>
              <a:t>10. Replace the foreskin after the catheter — and new ED is a cardiovascular workup</a:t>
            </a:r>
          </a:p>
        </p:txBody>
      </p:sp>
    </p:spTree>
    <p:extLst>
      <p:ext uri="{BB962C8B-B14F-4D97-AF65-F5344CB8AC3E}">
        <p14:creationId xmlns:p14="http://schemas.microsoft.com/office/powerpoint/2010/main" val="14307337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Resources</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AUA Medical Student Curriculum</a:t>
            </a:r>
            <a:r>
              <a:rPr lang="en-US" sz="1600" dirty="0">
                <a:cs typeface="Calibri Light" panose="020F0302020204030204" pitchFamily="34" charset="0"/>
              </a:rPr>
              <a:t> (free account) — modules mapping to today: Acute Scrotum · BPH · Erectile Dysfunction · Male Infertility · Prostate Cancer/PSA · Urologic Emergencies</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AUA Male GU Exam</a:t>
            </a:r>
            <a:r>
              <a:rPr lang="en-US" sz="1600" dirty="0">
                <a:cs typeface="Calibri Light" panose="020F0302020204030204" pitchFamily="34" charset="0"/>
              </a:rPr>
              <a:t> video module — testicular and digital rectal examination</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StatPearls (free): Physiology of the Male Reproductive System · Physiology, Erection · Physiology, Testosterone</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AUA Guidelines: LUTS/BPH (2026) · Erectile Dysfunction — skim the algorithms</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Note:</a:t>
            </a:r>
            <a:r>
              <a:rPr lang="en-US" sz="1600" dirty="0">
                <a:cs typeface="Calibri Light" panose="020F0302020204030204" pitchFamily="34" charset="0"/>
              </a:rPr>
              <a:t> testicular cancer, penile cancer, cryptorchidism, Peyronie disease, prostatitis, and PE have </a:t>
            </a:r>
            <a:r>
              <a:rPr lang="en-US" sz="1600" b="1" dirty="0">
                <a:cs typeface="Calibri Light" panose="020F0302020204030204" pitchFamily="34" charset="0"/>
              </a:rPr>
              <a:t>no AUA student module</a:t>
            </a:r>
            <a:r>
              <a:rPr lang="en-US" sz="1600" dirty="0">
                <a:cs typeface="Calibri Light" panose="020F0302020204030204" pitchFamily="34" charset="0"/>
              </a:rPr>
              <a:t> — the reference slides that follow are your primary resource for those, but some of these topics available on </a:t>
            </a:r>
            <a:r>
              <a:rPr lang="en-US" sz="1600" dirty="0" err="1"/>
              <a:t>ScholarRX</a:t>
            </a:r>
            <a:r>
              <a:rPr lang="en-US" sz="1600" dirty="0"/>
              <a:t> </a:t>
            </a:r>
            <a:endParaRPr lang="en-US" sz="1600" dirty="0">
              <a:cs typeface="Calibri Light" panose="020F0302020204030204" pitchFamily="34" charset="0"/>
            </a:endParaRPr>
          </a:p>
          <a:p>
            <a:pPr marL="342891" indent="-342891" algn="l">
              <a:spcAft>
                <a:spcPts val="400"/>
              </a:spcAft>
              <a:buFont typeface="Arial" panose="020B0604020202020204" pitchFamily="34" charset="0"/>
              <a:buChar char="•"/>
            </a:pPr>
            <a:endParaRPr lang="en-US" sz="1600" dirty="0">
              <a:cs typeface="Calibri Light" panose="020F0302020204030204" pitchFamily="34" charset="0"/>
            </a:endParaRPr>
          </a:p>
        </p:txBody>
      </p:sp>
    </p:spTree>
    <p:extLst>
      <p:ext uri="{BB962C8B-B14F-4D97-AF65-F5344CB8AC3E}">
        <p14:creationId xmlns:p14="http://schemas.microsoft.com/office/powerpoint/2010/main" val="14307337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313B3-2EFA-4C3F-878B-9CDFD2847391}"/>
              </a:ext>
            </a:extLst>
          </p:cNvPr>
          <p:cNvSpPr>
            <a:spLocks noGrp="1"/>
          </p:cNvSpPr>
          <p:nvPr>
            <p:ph type="title"/>
          </p:nvPr>
        </p:nvSpPr>
        <p:spPr>
          <a:xfrm>
            <a:off x="838200" y="850901"/>
            <a:ext cx="10515600" cy="1325563"/>
          </a:xfrm>
        </p:spPr>
        <p:txBody>
          <a:bodyPr/>
          <a:lstStyle/>
          <a:p>
            <a:r>
              <a:rPr lang="en-US" dirty="0">
                <a:solidFill>
                  <a:srgbClr val="C8102E"/>
                </a:solidFill>
                <a:latin typeface="Calibri Light" panose="020F0302020204030204" pitchFamily="34" charset="0"/>
                <a:cs typeface="Calibri Light" panose="020F0302020204030204" pitchFamily="34" charset="0"/>
              </a:rPr>
              <a:t>Thank You</a:t>
            </a:r>
          </a:p>
        </p:txBody>
      </p:sp>
      <p:sp>
        <p:nvSpPr>
          <p:cNvPr id="3" name="Content Placeholder 2">
            <a:extLst>
              <a:ext uri="{FF2B5EF4-FFF2-40B4-BE49-F238E27FC236}">
                <a16:creationId xmlns:a16="http://schemas.microsoft.com/office/drawing/2014/main" id="{B99A418A-0AB6-3600-4288-A7B7CE2369B9}"/>
              </a:ext>
            </a:extLst>
          </p:cNvPr>
          <p:cNvSpPr>
            <a:spLocks noGrp="1"/>
          </p:cNvSpPr>
          <p:nvPr>
            <p:ph idx="1"/>
          </p:nvPr>
        </p:nvSpPr>
        <p:spPr/>
        <p:txBody>
          <a:bodyPr/>
          <a:lstStyle/>
          <a:p>
            <a:r>
              <a:rPr lang="en-US" dirty="0"/>
              <a:t>Vikas Desai, MD, FGPS</a:t>
            </a:r>
          </a:p>
          <a:p>
            <a:pPr marL="0" indent="0">
              <a:buNone/>
            </a:pPr>
            <a:r>
              <a:rPr lang="en-US" dirty="0"/>
              <a:t>   </a:t>
            </a:r>
            <a:r>
              <a:rPr lang="en-US" dirty="0" err="1"/>
              <a:t>vikas.desai@carle.com</a:t>
            </a: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32757762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668E454-3A2F-F355-AA23-7196041463A2}"/>
              </a:ext>
            </a:extLst>
          </p:cNvPr>
          <p:cNvSpPr txBox="1"/>
          <p:nvPr/>
        </p:nvSpPr>
        <p:spPr>
          <a:xfrm>
            <a:off x="0" y="2532888"/>
            <a:ext cx="12179302" cy="896112"/>
          </a:xfrm>
          <a:prstGeom prst="rect">
            <a:avLst/>
          </a:prstGeom>
          <a:noFill/>
        </p:spPr>
        <p:txBody>
          <a:bodyPr wrap="square" bIns="91440" rtlCol="0" anchor="ctr" anchorCtr="0">
            <a:noAutofit/>
          </a:bodyPr>
          <a:lstStyle/>
          <a:p>
            <a:pPr algn="ctr"/>
            <a:r>
              <a:rPr lang="en-US" sz="3200" dirty="0">
                <a:latin typeface="Georgia" panose="02040502050405020303" pitchFamily="18" charset="0"/>
              </a:rPr>
              <a:t>Reference Slides — Posted and Examinable</a:t>
            </a:r>
          </a:p>
        </p:txBody>
      </p:sp>
    </p:spTree>
    <p:extLst>
      <p:ext uri="{BB962C8B-B14F-4D97-AF65-F5344CB8AC3E}">
        <p14:creationId xmlns:p14="http://schemas.microsoft.com/office/powerpoint/2010/main" val="242011472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Reference R1 — Penile Cancer: Risk and Precursors</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Squamous cell carcinoma in ≈95%. Uncommon in the US; substantially more common in parts of Africa, South America, and Asia.</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Risk factors: </a:t>
            </a:r>
            <a:r>
              <a:rPr lang="en-US" sz="1600" b="1" dirty="0">
                <a:cs typeface="Calibri Light" panose="020F0302020204030204" pitchFamily="34" charset="0"/>
              </a:rPr>
              <a:t>phimosis and chronic inflammation</a:t>
            </a:r>
            <a:r>
              <a:rPr lang="en-US" sz="1600" dirty="0">
                <a:cs typeface="Calibri Light" panose="020F0302020204030204" pitchFamily="34" charset="0"/>
              </a:rPr>
              <a:t>, lichen sclerosus (BXO), smoking, </a:t>
            </a:r>
            <a:r>
              <a:rPr lang="en-US" sz="1600" b="1" dirty="0">
                <a:cs typeface="Calibri Light" panose="020F0302020204030204" pitchFamily="34" charset="0"/>
              </a:rPr>
              <a:t>HPV 16/18</a:t>
            </a:r>
            <a:r>
              <a:rPr lang="en-US" sz="1600" dirty="0">
                <a:cs typeface="Calibri Light" panose="020F0302020204030204" pitchFamily="34" charset="0"/>
              </a:rPr>
              <a:t> (≈half of cases), absence of neonatal circumcision.</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Premalignant lesions: penile intraepithelial neoplasia (PeIN); erythroplasia of Queyrat (glans); Bowen disease (shaft); verrucous carcinoma (locally destructive, rarely metastasizes).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Typical story: a non-healing glans or foreskin lesion with a long delay from embarrassment. </a:t>
            </a:r>
            <a:r>
              <a:rPr lang="en-US" sz="1600" b="1" dirty="0">
                <a:cs typeface="Calibri Light" panose="020F0302020204030204" pitchFamily="34" charset="0"/>
              </a:rPr>
              <a:t>Any non-healing penile lesion gets a biopsy.</a:t>
            </a:r>
          </a:p>
        </p:txBody>
      </p:sp>
    </p:spTree>
    <p:extLst>
      <p:ext uri="{BB962C8B-B14F-4D97-AF65-F5344CB8AC3E}">
        <p14:creationId xmlns:p14="http://schemas.microsoft.com/office/powerpoint/2010/main" val="14307337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Reference R2 — Penile Cancer: Spread and Treatment</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Penile lymphatics drain to inguinal nodes</a:t>
            </a:r>
            <a:r>
              <a:rPr lang="en-US" sz="1600" dirty="0">
                <a:cs typeface="Calibri Light" panose="020F0302020204030204" pitchFamily="34" charset="0"/>
              </a:rPr>
              <a:t> — the exact opposite of the testis. </a:t>
            </a:r>
            <a:r>
              <a:rPr lang="en-US" sz="1600" b="1" dirty="0">
                <a:cs typeface="Calibri Light" panose="020F0302020204030204" pitchFamily="34" charset="0"/>
              </a:rPr>
              <a:t>Inguinal node status is the dominant prognostic factor.</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Palpable nodes may be reactive or metastatic; imaging and sentinel/superficial dissection stage intermediate- and high-risk disease.</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Treatment is organ-sparing where feasible: topical therapy or laser for PeIN, glansectomy or partial penectomy with margins for invasive disease, total penectomy for extensive tumors.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Chemoradiation and systemic therapy for advanced nodal or metastatic disease.</a:t>
            </a:r>
          </a:p>
        </p:txBody>
      </p:sp>
    </p:spTree>
    <p:extLst>
      <p:ext uri="{BB962C8B-B14F-4D97-AF65-F5344CB8AC3E}">
        <p14:creationId xmlns:p14="http://schemas.microsoft.com/office/powerpoint/2010/main" val="143073378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Reference R3 — Testosterone Formulations</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IM cypionate/enanthate:</a:t>
            </a:r>
            <a:r>
              <a:rPr lang="en-US" sz="1600" dirty="0">
                <a:cs typeface="Calibri Light" panose="020F0302020204030204" pitchFamily="34" charset="0"/>
              </a:rPr>
              <a:t> inexpensive, peak-trough swings, highest erythrocytosis rates.</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IM undecanoate:</a:t>
            </a:r>
            <a:r>
              <a:rPr lang="en-US" sz="1600" dirty="0">
                <a:cs typeface="Calibri Light" panose="020F0302020204030204" pitchFamily="34" charset="0"/>
              </a:rPr>
              <a:t> long-acting; REMS program for pulmonary oil microembolism (POME) risk.</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Subcutaneous auto-injector:</a:t>
            </a:r>
            <a:r>
              <a:rPr lang="en-US" sz="1600" dirty="0">
                <a:cs typeface="Calibri Light" panose="020F0302020204030204" pitchFamily="34" charset="0"/>
              </a:rPr>
              <a:t> steadier levels, self-administered.</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Transdermal gel/solution:</a:t>
            </a:r>
            <a:r>
              <a:rPr lang="en-US" sz="1600" dirty="0">
                <a:cs typeface="Calibri Light" panose="020F0302020204030204" pitchFamily="34" charset="0"/>
              </a:rPr>
              <a:t> physiologic profile; </a:t>
            </a:r>
            <a:r>
              <a:rPr lang="en-US" sz="1600" b="1" dirty="0">
                <a:cs typeface="Calibri Light" panose="020F0302020204030204" pitchFamily="34" charset="0"/>
              </a:rPr>
              <a:t>counsel on skin-to-skin transference to women and children</a:t>
            </a:r>
            <a:r>
              <a:rPr lang="en-US" sz="1600" dirty="0">
                <a:cs typeface="Calibri Light" panose="020F0302020204030204" pitchFamily="34" charset="0"/>
              </a:rPr>
              <a:t> — wash hands, cover the site.</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Patch (skin irritation), pellets (surgical insertion, months-long), oral undecanoate (lymphatic absorption), buccal, intranasal.</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Monitor on any formulation: symptoms, trough or mid-interval T, </a:t>
            </a:r>
            <a:r>
              <a:rPr lang="en-US" sz="1600" b="1" dirty="0">
                <a:cs typeface="Calibri Light" panose="020F0302020204030204" pitchFamily="34" charset="0"/>
              </a:rPr>
              <a:t>hematocrit</a:t>
            </a:r>
            <a:r>
              <a:rPr lang="en-US" sz="1600" dirty="0">
                <a:cs typeface="Calibri Light" panose="020F0302020204030204" pitchFamily="34" charset="0"/>
              </a:rPr>
              <a:t>, PSA if age-appropriate.</a:t>
            </a:r>
          </a:p>
        </p:txBody>
      </p:sp>
    </p:spTree>
    <p:extLst>
      <p:ext uri="{BB962C8B-B14F-4D97-AF65-F5344CB8AC3E}">
        <p14:creationId xmlns:p14="http://schemas.microsoft.com/office/powerpoint/2010/main" val="14307337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Reference R4 — Systemic Consequences of ADT</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Hot flashes; loss of libido and erectile function; gynecomastia; fatigue; mood and cognitive effects.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Body composition: sarcopenia with increased fat mass; insulin resistance and metabolic syndrome; anemia.</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Bone: accelerated loss → baseline DEXA, calcium + vitamin D, and an antiresorptive (bisphosphonate or denosumab) for those at fracture risk.</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QT prolongation with some agents; cardiovascular risk-factor management throughout.</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Treat ADT like any systemic endocrine therapy: it needs its own survivorship plan.</a:t>
            </a:r>
          </a:p>
        </p:txBody>
      </p:sp>
    </p:spTree>
    <p:extLst>
      <p:ext uri="{BB962C8B-B14F-4D97-AF65-F5344CB8AC3E}">
        <p14:creationId xmlns:p14="http://schemas.microsoft.com/office/powerpoint/2010/main" val="143073378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Reference R5 — Drugs That Cause Male Sexual Dysfunction</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Thiazides, spironolactone, beta-blockers:</a:t>
            </a:r>
            <a:r>
              <a:rPr lang="en-US" sz="1600" dirty="0">
                <a:cs typeface="Calibri Light" panose="020F0302020204030204" pitchFamily="34" charset="0"/>
              </a:rPr>
              <a:t> ED, decreased libido, gynecomastia (spironolactone).</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SSRIs/SNRIs, TCAs:</a:t>
            </a:r>
            <a:r>
              <a:rPr lang="en-US" sz="1600" dirty="0">
                <a:cs typeface="Calibri Light" panose="020F0302020204030204" pitchFamily="34" charset="0"/>
              </a:rPr>
              <a:t> delayed or absent ejaculation, reduced libido, ED.</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Antipsychotics:</a:t>
            </a:r>
            <a:r>
              <a:rPr lang="en-US" sz="1600" dirty="0">
                <a:cs typeface="Calibri Light" panose="020F0302020204030204" pitchFamily="34" charset="0"/>
              </a:rPr>
              <a:t> hyperprolactinemia → secondary hypogonadism.</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Opioids:</a:t>
            </a:r>
            <a:r>
              <a:rPr lang="en-US" sz="1600" dirty="0">
                <a:cs typeface="Calibri Light" panose="020F0302020204030204" pitchFamily="34" charset="0"/>
              </a:rPr>
              <a:t> central suppression — opioid-induced androgen deficiency.</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5-ARIs, antiandrogens, GnRH agents:</a:t>
            </a:r>
            <a:r>
              <a:rPr lang="en-US" sz="1600" dirty="0">
                <a:cs typeface="Calibri Light" panose="020F0302020204030204" pitchFamily="34" charset="0"/>
              </a:rPr>
              <a:t> ED, libido loss, ejaculatory dysfunction.</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Alpha-1a blockers:</a:t>
            </a:r>
            <a:r>
              <a:rPr lang="en-US" sz="1600" dirty="0">
                <a:cs typeface="Calibri Light" panose="020F0302020204030204" pitchFamily="34" charset="0"/>
              </a:rPr>
              <a:t> retrograde/absent ejaculation </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Cimetidine, ketoconazole:</a:t>
            </a:r>
            <a:r>
              <a:rPr lang="en-US" sz="1600" dirty="0">
                <a:cs typeface="Calibri Light" panose="020F0302020204030204" pitchFamily="34" charset="0"/>
              </a:rPr>
              <a:t> antiandrogen effects.</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Anabolic steroids / exogenous T:</a:t>
            </a:r>
            <a:r>
              <a:rPr lang="en-US" sz="1600" dirty="0">
                <a:cs typeface="Calibri Light" panose="020F0302020204030204" pitchFamily="34" charset="0"/>
              </a:rPr>
              <a:t> azoospermia, atrophy </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Alkylating chemo, pelvic RT:</a:t>
            </a:r>
            <a:r>
              <a:rPr lang="en-US" sz="1600" dirty="0">
                <a:cs typeface="Calibri Light" panose="020F0302020204030204" pitchFamily="34" charset="0"/>
              </a:rPr>
              <a:t> often permanent </a:t>
            </a:r>
            <a:r>
              <a:rPr lang="en-US" sz="1600" dirty="0" err="1">
                <a:cs typeface="Calibri Light" panose="020F0302020204030204" pitchFamily="34" charset="0"/>
              </a:rPr>
              <a:t>gonadotoxicity</a:t>
            </a:r>
            <a:r>
              <a:rPr lang="en-US" sz="1600" dirty="0">
                <a:cs typeface="Calibri Light" panose="020F0302020204030204" pitchFamily="34" charset="0"/>
              </a:rPr>
              <a:t> </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Alcohol, tobacco</a:t>
            </a:r>
            <a:endParaRPr lang="en-US" sz="1600" dirty="0">
              <a:solidFill>
                <a:schemeClr val="tx1">
                  <a:lumMod val="50000"/>
                  <a:lumOff val="50000"/>
                </a:schemeClr>
              </a:solidFill>
              <a:cs typeface="Calibri Light" panose="020F0302020204030204" pitchFamily="34" charset="0"/>
            </a:endParaRPr>
          </a:p>
        </p:txBody>
      </p:sp>
    </p:spTree>
    <p:extLst>
      <p:ext uri="{BB962C8B-B14F-4D97-AF65-F5344CB8AC3E}">
        <p14:creationId xmlns:p14="http://schemas.microsoft.com/office/powerpoint/2010/main" val="143073378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Reference R6 — Injections, Devices, Prosthesis</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Intracavernosal alprostadil (PGE1):</a:t>
            </a:r>
            <a:r>
              <a:rPr lang="en-US" sz="1600" dirty="0">
                <a:cs typeface="Calibri Light" panose="020F0302020204030204" pitchFamily="34" charset="0"/>
              </a:rPr>
              <a:t> works via </a:t>
            </a:r>
            <a:r>
              <a:rPr lang="en-US" sz="1600" b="1" dirty="0">
                <a:cs typeface="Calibri Light" panose="020F0302020204030204" pitchFamily="34" charset="0"/>
              </a:rPr>
              <a:t>cAMP</a:t>
            </a:r>
            <a:r>
              <a:rPr lang="en-US" sz="1600" dirty="0">
                <a:cs typeface="Calibri Light" panose="020F0302020204030204" pitchFamily="34" charset="0"/>
              </a:rPr>
              <a:t> — a parallel pathway — so it works when PDE-5 inhibitors fail.</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Bimix/trimix:</a:t>
            </a:r>
            <a:r>
              <a:rPr lang="en-US" sz="1600" dirty="0">
                <a:cs typeface="Calibri Light" panose="020F0302020204030204" pitchFamily="34" charset="0"/>
              </a:rPr>
              <a:t> papaverine (non-selective PDE inhibitor) + phentolamine (alpha-blocker) ± alprostadil.</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Mandatory counseling for any injection: seek care for an erection lasting more than 4 hours.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Intraurethral alprostadil (MUSE) and topical formulations — less effective, needle-free.</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Vacuum erection device: constriction ring ≤ 30 minutes.</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Penile prosthesis (inflatable or malleable): highest satisfaction rates of any ED therapy</a:t>
            </a:r>
            <a:r>
              <a:rPr lang="en-US" sz="1600" dirty="0">
                <a:cs typeface="Calibri Light" panose="020F0302020204030204" pitchFamily="34" charset="0"/>
              </a:rPr>
              <a:t> — definitive treatment for refractory disease.</a:t>
            </a:r>
          </a:p>
        </p:txBody>
      </p:sp>
    </p:spTree>
    <p:extLst>
      <p:ext uri="{BB962C8B-B14F-4D97-AF65-F5344CB8AC3E}">
        <p14:creationId xmlns:p14="http://schemas.microsoft.com/office/powerpoint/2010/main" val="143073378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Reference R7 — The Supplement Problem</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The FDA repeatedly finds over-the-counter “male enhancement” products adulterated with </a:t>
            </a:r>
            <a:r>
              <a:rPr lang="en-US" sz="1600" b="1" dirty="0">
                <a:cs typeface="Calibri Light" panose="020F0302020204030204" pitchFamily="34" charset="0"/>
              </a:rPr>
              <a:t>undeclared sildenafil or tadalafil analogs</a:t>
            </a:r>
            <a:r>
              <a:rPr lang="en-US" sz="1600" dirty="0">
                <a:cs typeface="Calibri Light" panose="020F0302020204030204" pitchFamily="34" charset="0"/>
              </a:rPr>
              <a:t>.</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A patient on nitrates taking one of these is exposed to the full interaction — without knowing he took a PDE-5 inhibitor.</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Ask about supplements with the same seriousness as prescriptions</a:t>
            </a:r>
            <a:r>
              <a:rPr lang="en-US" sz="1600" dirty="0">
                <a:cs typeface="Calibri Light" panose="020F0302020204030204" pitchFamily="34" charset="0"/>
              </a:rPr>
              <a:t>, especially in men with ED and cardiac disease.</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Same vigilance for “testosterone boosters” and men’s-clinic injections — Case B’s lesson.</a:t>
            </a:r>
          </a:p>
        </p:txBody>
      </p:sp>
    </p:spTree>
    <p:extLst>
      <p:ext uri="{BB962C8B-B14F-4D97-AF65-F5344CB8AC3E}">
        <p14:creationId xmlns:p14="http://schemas.microsoft.com/office/powerpoint/2010/main" val="14307337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Reference R8 — Capacitation and the Acrosome Reaction</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Ejaculated sperm are mature but </a:t>
            </a:r>
            <a:r>
              <a:rPr lang="en-US" sz="1600" b="1" dirty="0">
                <a:cs typeface="Calibri Light" panose="020F0302020204030204" pitchFamily="34" charset="0"/>
              </a:rPr>
              <a:t>not yet fertilization-competent</a:t>
            </a:r>
            <a:r>
              <a:rPr lang="en-US" sz="1600" dirty="0">
                <a:cs typeface="Calibri Light" panose="020F0302020204030204" pitchFamily="34" charset="0"/>
              </a:rPr>
              <a:t>.</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Capacitation (female tract, hours):</a:t>
            </a:r>
            <a:r>
              <a:rPr lang="en-US" sz="1600" dirty="0">
                <a:cs typeface="Calibri Light" panose="020F0302020204030204" pitchFamily="34" charset="0"/>
              </a:rPr>
              <a:t> cholesterol efflux destabilizes the membrane; bicarbonate and calcium influx activate soluble adenylate cyclase → PKA signaling; tyrosine phosphorylation; </a:t>
            </a:r>
            <a:r>
              <a:rPr lang="en-US" sz="1600" b="1" dirty="0">
                <a:cs typeface="Calibri Light" panose="020F0302020204030204" pitchFamily="34" charset="0"/>
              </a:rPr>
              <a:t>hyperactivated motility</a:t>
            </a:r>
            <a:r>
              <a:rPr lang="en-US" sz="1600" dirty="0">
                <a:cs typeface="Calibri Light" panose="020F0302020204030204" pitchFamily="34" charset="0"/>
              </a:rPr>
              <a:t>.</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Acrosome reaction (at the zona pellucida):</a:t>
            </a:r>
            <a:r>
              <a:rPr lang="en-US" sz="1600" dirty="0">
                <a:cs typeface="Calibri Light" panose="020F0302020204030204" pitchFamily="34" charset="0"/>
              </a:rPr>
              <a:t> exocytosis of acrosomal enzymes (acrosin, hyaluronidase) enabling zona penetration; membrane fusion follows at the equatorial segment.</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Board distractor: neither event happens in the epididymis.</a:t>
            </a:r>
          </a:p>
        </p:txBody>
      </p:sp>
    </p:spTree>
    <p:extLst>
      <p:ext uri="{BB962C8B-B14F-4D97-AF65-F5344CB8AC3E}">
        <p14:creationId xmlns:p14="http://schemas.microsoft.com/office/powerpoint/2010/main" val="143073378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Reference R9 — Experiments of Nature</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b="1" dirty="0">
                <a:cs typeface="Calibri Light" panose="020F0302020204030204" pitchFamily="34" charset="0"/>
              </a:rPr>
              <a:t>5-alpha-reductase type 2 deficiency (46,XY):</a:t>
            </a:r>
            <a:r>
              <a:rPr lang="en-US" sz="1600" dirty="0">
                <a:cs typeface="Calibri Light" panose="020F0302020204030204" pitchFamily="34" charset="0"/>
              </a:rPr>
              <a:t> normal Wolffian (internal) ducts; undervirilized external genitalia at birth; marked virilization at puberty from the testosterone surge; </a:t>
            </a:r>
            <a:r>
              <a:rPr lang="en-US" sz="1600" b="1" dirty="0">
                <a:cs typeface="Calibri Light" panose="020F0302020204030204" pitchFamily="34" charset="0"/>
              </a:rPr>
              <a:t>no BPH, no male-pattern balding</a:t>
            </a:r>
            <a:r>
              <a:rPr lang="en-US" sz="1600" dirty="0">
                <a:cs typeface="Calibri Light" panose="020F0302020204030204" pitchFamily="34" charset="0"/>
              </a:rPr>
              <a:t> in adulthood. The physiologic proof-of-concept for finasteride.</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Complete androgen insensitivity (46,XY):</a:t>
            </a:r>
            <a:r>
              <a:rPr lang="en-US" sz="1600" dirty="0">
                <a:cs typeface="Calibri Light" panose="020F0302020204030204" pitchFamily="34" charset="0"/>
              </a:rPr>
              <a:t> defective androgen receptor; testes present (often inguinal); AMH intact → no uterus; external phenotype female; presents with primary amenorrhea or inguinal masses.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Together they dissect the axis: 5-AR deficiency separates testosterone’s jobs from DHT’s (what survives is testosterone; what fails is DHT), and CAIS shows both hormones act through one shared androgen receptor — the final common pathway.</a:t>
            </a:r>
          </a:p>
        </p:txBody>
      </p:sp>
    </p:spTree>
    <p:extLst>
      <p:ext uri="{BB962C8B-B14F-4D97-AF65-F5344CB8AC3E}">
        <p14:creationId xmlns:p14="http://schemas.microsoft.com/office/powerpoint/2010/main" val="143073378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Reference R10 — Worked Semen Analysis</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34-year-old, 18 months infertility. SA #1: volume 0.8 mL · pH 6.6 · azoospermia · fructose negative. SA #2 confirms.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Step 1 — volume and pH: </a:t>
            </a:r>
            <a:r>
              <a:rPr lang="en-US" sz="1600" b="1" dirty="0">
                <a:cs typeface="Calibri Light" panose="020F0302020204030204" pitchFamily="34" charset="0"/>
              </a:rPr>
              <a:t>low-volume, acidic, fructose-negative</a:t>
            </a:r>
            <a:r>
              <a:rPr lang="en-US" sz="1600" dirty="0">
                <a:cs typeface="Calibri Light" panose="020F0302020204030204" pitchFamily="34" charset="0"/>
              </a:rPr>
              <a:t> → the seminal vesicle contribution is missing → ejaculatory duct obstruction or CBAVD.</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Step 2 — exam: are the vasa palpable? Absent → </a:t>
            </a:r>
            <a:r>
              <a:rPr lang="en-US" sz="1600" b="1" dirty="0">
                <a:cs typeface="Calibri Light" panose="020F0302020204030204" pitchFamily="34" charset="0"/>
              </a:rPr>
              <a:t>CBAVD → CFTR testing for patient and partner</a:t>
            </a:r>
            <a:r>
              <a:rPr lang="en-US" sz="1600" dirty="0">
                <a:cs typeface="Calibri Light" panose="020F0302020204030204" pitchFamily="34" charset="0"/>
              </a:rPr>
              <a:t>.</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Step 3 — labs: normal testis volume + normal FSH fits obstruction (contrast: small testes + high FSH = non-obstructive).</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Step 4 — plan: surgical sperm retrieval + ICSI; genetic counseling.</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The pattern recognition, not the numbers, is the skill.</a:t>
            </a:r>
          </a:p>
        </p:txBody>
      </p:sp>
    </p:spTree>
    <p:extLst>
      <p:ext uri="{BB962C8B-B14F-4D97-AF65-F5344CB8AC3E}">
        <p14:creationId xmlns:p14="http://schemas.microsoft.com/office/powerpoint/2010/main" val="143073378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Reference R11 — CPPS and UPOINT</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Category III (CP/CPPS) is a </a:t>
            </a:r>
            <a:r>
              <a:rPr lang="en-US" sz="1600" b="1" dirty="0">
                <a:cs typeface="Calibri Light" panose="020F0302020204030204" pitchFamily="34" charset="0"/>
              </a:rPr>
              <a:t>phenotype-driven syndrome</a:t>
            </a:r>
            <a:r>
              <a:rPr lang="en-US" sz="1600" dirty="0">
                <a:cs typeface="Calibri Light" panose="020F0302020204030204" pitchFamily="34" charset="0"/>
              </a:rPr>
              <a:t>, frequently non-infectious — which is why serial antibiotics fail.</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U</a:t>
            </a:r>
            <a:r>
              <a:rPr lang="en-US" sz="1600" dirty="0">
                <a:cs typeface="Calibri Light" panose="020F0302020204030204" pitchFamily="34" charset="0"/>
              </a:rPr>
              <a:t>rinary — LUTS → alpha-blocker, behavioral </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P</a:t>
            </a:r>
            <a:r>
              <a:rPr lang="en-US" sz="1600" dirty="0">
                <a:cs typeface="Calibri Light" panose="020F0302020204030204" pitchFamily="34" charset="0"/>
              </a:rPr>
              <a:t>sychosocial — depression, catastrophizing → CBT, treatment of mood disease</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O</a:t>
            </a:r>
            <a:r>
              <a:rPr lang="en-US" sz="1600" dirty="0">
                <a:cs typeface="Calibri Light" panose="020F0302020204030204" pitchFamily="34" charset="0"/>
              </a:rPr>
              <a:t>rgan-specific — prostatic tenderness → anti-inflammatories, phytotherapy </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I</a:t>
            </a:r>
            <a:r>
              <a:rPr lang="en-US" sz="1600" dirty="0">
                <a:cs typeface="Calibri Light" panose="020F0302020204030204" pitchFamily="34" charset="0"/>
              </a:rPr>
              <a:t>nfection — documented → one targeted antibiotic course only</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N</a:t>
            </a:r>
            <a:r>
              <a:rPr lang="en-US" sz="1600" dirty="0">
                <a:cs typeface="Calibri Light" panose="020F0302020204030204" pitchFamily="34" charset="0"/>
              </a:rPr>
              <a:t>eurologic/systemic — IBS, fibromyalgia overlap → neuromodulators </a:t>
            </a:r>
          </a:p>
          <a:p>
            <a:pPr marL="342891" indent="-342891" algn="l">
              <a:spcAft>
                <a:spcPts val="400"/>
              </a:spcAft>
              <a:buFont typeface="Arial" panose="020B0604020202020204" pitchFamily="34" charset="0"/>
              <a:buChar char="•"/>
            </a:pPr>
            <a:r>
              <a:rPr lang="en-US" sz="1600" b="1" dirty="0">
                <a:cs typeface="Calibri Light" panose="020F0302020204030204" pitchFamily="34" charset="0"/>
              </a:rPr>
              <a:t>T</a:t>
            </a:r>
            <a:r>
              <a:rPr lang="en-US" sz="1600" dirty="0">
                <a:cs typeface="Calibri Light" panose="020F0302020204030204" pitchFamily="34" charset="0"/>
              </a:rPr>
              <a:t>enderness — pelvic-floor myalgia → </a:t>
            </a:r>
            <a:r>
              <a:rPr lang="en-US" sz="1600" b="1" dirty="0">
                <a:cs typeface="Calibri Light" panose="020F0302020204030204" pitchFamily="34" charset="0"/>
              </a:rPr>
              <a:t>pelvic-floor physical therapy</a:t>
            </a:r>
            <a:r>
              <a:rPr lang="en-US" sz="1600" dirty="0">
                <a:cs typeface="Calibri Light" panose="020F0302020204030204" pitchFamily="34" charset="0"/>
              </a:rPr>
              <a:t> (often the highest-yield single intervention)</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Multimodal beats monotherapy; set expectations for management, not cure.</a:t>
            </a:r>
          </a:p>
        </p:txBody>
      </p:sp>
    </p:spTree>
    <p:extLst>
      <p:ext uri="{BB962C8B-B14F-4D97-AF65-F5344CB8AC3E}">
        <p14:creationId xmlns:p14="http://schemas.microsoft.com/office/powerpoint/2010/main" val="143073378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CC7F9-60E0-F89C-5903-64E432A2E6D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CC9638E-65B6-C327-4DD4-165F5B91258C}"/>
              </a:ext>
            </a:extLst>
          </p:cNvPr>
          <p:cNvSpPr txBox="1">
            <a:spLocks/>
          </p:cNvSpPr>
          <p:nvPr/>
        </p:nvSpPr>
        <p:spPr>
          <a:xfrm>
            <a:off x="716280" y="436880"/>
            <a:ext cx="7614920" cy="1005840"/>
          </a:xfrm>
          <a:prstGeom prst="rect">
            <a:avLst/>
          </a:prstGeom>
        </p:spPr>
        <p:txBody>
          <a:bodyPr vert="horz" wrap="square"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dirty="0">
                <a:solidFill>
                  <a:srgbClr val="C8102E"/>
                </a:solidFill>
                <a:latin typeface="Calibri Light" panose="020F0302020204030204" pitchFamily="34" charset="0"/>
                <a:cs typeface="Calibri Light" panose="020F0302020204030204" pitchFamily="34" charset="0"/>
              </a:rPr>
              <a:t>Reference R12 — Circumcision: The Evidence in Brief</a:t>
            </a:r>
          </a:p>
        </p:txBody>
      </p:sp>
      <p:sp>
        <p:nvSpPr>
          <p:cNvPr id="7" name="Content Placeholder 2">
            <a:extLst>
              <a:ext uri="{FF2B5EF4-FFF2-40B4-BE49-F238E27FC236}">
                <a16:creationId xmlns:a16="http://schemas.microsoft.com/office/drawing/2014/main" id="{C9122678-CA78-D41F-4E75-3C0584392690}"/>
              </a:ext>
            </a:extLst>
          </p:cNvPr>
          <p:cNvSpPr txBox="1">
            <a:spLocks/>
          </p:cNvSpPr>
          <p:nvPr/>
        </p:nvSpPr>
        <p:spPr>
          <a:xfrm>
            <a:off x="731520" y="1691640"/>
            <a:ext cx="10424160" cy="4663440"/>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891" indent="-342891" algn="l">
              <a:spcAft>
                <a:spcPts val="400"/>
              </a:spcAft>
              <a:buFont typeface="Arial" panose="020B0604020202020204" pitchFamily="34" charset="0"/>
              <a:buChar char="•"/>
            </a:pPr>
            <a:r>
              <a:rPr lang="en-US" sz="1600" dirty="0">
                <a:cs typeface="Calibri Light" panose="020F0302020204030204" pitchFamily="34" charset="0"/>
              </a:rPr>
              <a:t>Protective associations: </a:t>
            </a:r>
          </a:p>
          <a:p>
            <a:pPr marL="800091" lvl="1" indent="-342891" algn="l">
              <a:spcAft>
                <a:spcPts val="400"/>
              </a:spcAft>
              <a:buFont typeface="Arial" panose="020B0604020202020204" pitchFamily="34" charset="0"/>
              <a:buChar char="•"/>
            </a:pPr>
            <a:r>
              <a:rPr lang="en-US" sz="1400" dirty="0">
                <a:cs typeface="Calibri Light" panose="020F0302020204030204" pitchFamily="34" charset="0"/>
              </a:rPr>
              <a:t>Reduced UTI in infancy</a:t>
            </a:r>
          </a:p>
          <a:p>
            <a:pPr marL="800091" lvl="1" indent="-342891" algn="l">
              <a:spcAft>
                <a:spcPts val="400"/>
              </a:spcAft>
              <a:buFont typeface="Arial" panose="020B0604020202020204" pitchFamily="34" charset="0"/>
              <a:buChar char="•"/>
            </a:pPr>
            <a:r>
              <a:rPr lang="en-US" sz="1400" dirty="0">
                <a:cs typeface="Calibri Light" panose="020F0302020204030204" pitchFamily="34" charset="0"/>
              </a:rPr>
              <a:t>Reduced HIV and some STI acquisition (strongest data from high-prevalence settings)</a:t>
            </a:r>
          </a:p>
          <a:p>
            <a:pPr marL="800091" lvl="1" indent="-342891" algn="l">
              <a:spcAft>
                <a:spcPts val="400"/>
              </a:spcAft>
              <a:buFont typeface="Arial" panose="020B0604020202020204" pitchFamily="34" charset="0"/>
              <a:buChar char="•"/>
            </a:pPr>
            <a:r>
              <a:rPr lang="en-US" sz="1400" dirty="0">
                <a:cs typeface="Calibri Light" panose="020F0302020204030204" pitchFamily="34" charset="0"/>
              </a:rPr>
              <a:t>Reduced penile cancer (largely via phimosis/chronic inflammation)</a:t>
            </a:r>
          </a:p>
          <a:p>
            <a:pPr marL="800091" lvl="1" indent="-342891" algn="l">
              <a:spcAft>
                <a:spcPts val="400"/>
              </a:spcAft>
              <a:buFont typeface="Arial" panose="020B0604020202020204" pitchFamily="34" charset="0"/>
              <a:buChar char="•"/>
            </a:pPr>
            <a:r>
              <a:rPr lang="en-US" sz="1400" dirty="0">
                <a:cs typeface="Calibri Light" panose="020F0302020204030204" pitchFamily="34" charset="0"/>
              </a:rPr>
              <a:t>Reduced HPV transmission.</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Risks: bleeding, infection, meatal stenosis, rare glans injury; anesthesia considerations.</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AAP position: benefits outweigh risks but are not large enough to recommend universally → </a:t>
            </a:r>
            <a:r>
              <a:rPr lang="en-US" sz="1600" b="1" dirty="0">
                <a:cs typeface="Calibri Light" panose="020F0302020204030204" pitchFamily="34" charset="0"/>
              </a:rPr>
              <a:t>parental shared decision-making</a:t>
            </a:r>
            <a:r>
              <a:rPr lang="en-US" sz="1600" dirty="0">
                <a:cs typeface="Calibri Light" panose="020F0302020204030204" pitchFamily="34" charset="0"/>
              </a:rPr>
              <a:t>.</a:t>
            </a:r>
          </a:p>
          <a:p>
            <a:pPr marL="342891" indent="-342891" algn="l">
              <a:spcAft>
                <a:spcPts val="400"/>
              </a:spcAft>
              <a:buFont typeface="Arial" panose="020B0604020202020204" pitchFamily="34" charset="0"/>
              <a:buChar char="•"/>
            </a:pPr>
            <a:r>
              <a:rPr lang="en-US" sz="1600" dirty="0">
                <a:cs typeface="Calibri Light" panose="020F0302020204030204" pitchFamily="34" charset="0"/>
              </a:rPr>
              <a:t>Medical indications in adults: pathologic phimosis, recurrent balanitis, BXO.</a:t>
            </a:r>
          </a:p>
        </p:txBody>
      </p:sp>
    </p:spTree>
    <p:extLst>
      <p:ext uri="{BB962C8B-B14F-4D97-AF65-F5344CB8AC3E}">
        <p14:creationId xmlns:p14="http://schemas.microsoft.com/office/powerpoint/2010/main" val="1430733788"/>
      </p:ext>
    </p:extLst>
  </p:cSld>
  <p:clrMapOvr>
    <a:masterClrMapping/>
  </p:clrMapOvr>
</p:sld>
</file>

<file path=ppt/theme/theme1.xml><?xml version="1.0" encoding="utf-8"?>
<a:theme xmlns:a="http://schemas.openxmlformats.org/drawingml/2006/main" name="Office Theme">
  <a:themeElements>
    <a:clrScheme name="Custom 2">
      <a:dk1>
        <a:srgbClr val="55555A"/>
      </a:dk1>
      <a:lt1>
        <a:srgbClr val="FFFFFF"/>
      </a:lt1>
      <a:dk2>
        <a:srgbClr val="003B51"/>
      </a:dk2>
      <a:lt2>
        <a:srgbClr val="C41F33"/>
      </a:lt2>
      <a:accent1>
        <a:srgbClr val="C41F33"/>
      </a:accent1>
      <a:accent2>
        <a:srgbClr val="32AFC7"/>
      </a:accent2>
      <a:accent3>
        <a:srgbClr val="E9B214"/>
      </a:accent3>
      <a:accent4>
        <a:srgbClr val="94C93C"/>
      </a:accent4>
      <a:accent5>
        <a:srgbClr val="EE7A22"/>
      </a:accent5>
      <a:accent6>
        <a:srgbClr val="9E5DA6"/>
      </a:accent6>
      <a:hlink>
        <a:srgbClr val="32AFC7"/>
      </a:hlink>
      <a:folHlink>
        <a:srgbClr val="9E5DA6"/>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A3C32B96-1ED0-DE44-936D-819F67352A35}" vid="{619E3310-EA2F-B446-B2F6-8912C55DEFF7}"/>
    </a:ext>
  </a:extLst>
</a:theme>
</file>

<file path=ppt/theme/theme2.xml><?xml version="1.0" encoding="utf-8"?>
<a:theme xmlns:a="http://schemas.openxmlformats.org/drawingml/2006/main" name="8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4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3_Office Theme">
  <a:themeElements>
    <a:clrScheme name="Custom 2">
      <a:dk1>
        <a:srgbClr val="55555A"/>
      </a:dk1>
      <a:lt1>
        <a:srgbClr val="FFFFFF"/>
      </a:lt1>
      <a:dk2>
        <a:srgbClr val="003B51"/>
      </a:dk2>
      <a:lt2>
        <a:srgbClr val="C41F33"/>
      </a:lt2>
      <a:accent1>
        <a:srgbClr val="C41F33"/>
      </a:accent1>
      <a:accent2>
        <a:srgbClr val="32AFC7"/>
      </a:accent2>
      <a:accent3>
        <a:srgbClr val="E9B214"/>
      </a:accent3>
      <a:accent4>
        <a:srgbClr val="94C93C"/>
      </a:accent4>
      <a:accent5>
        <a:srgbClr val="EE7A22"/>
      </a:accent5>
      <a:accent6>
        <a:srgbClr val="9E5DA6"/>
      </a:accent6>
      <a:hlink>
        <a:srgbClr val="32AFC7"/>
      </a:hlink>
      <a:folHlink>
        <a:srgbClr val="9E5DA6"/>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A3C32B96-1ED0-DE44-936D-819F67352A35}" vid="{81732EB9-F3AB-964C-BE92-272322B4EF32}"/>
    </a:ext>
  </a:extLst>
</a:theme>
</file>

<file path=ppt/theme/theme5.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1_Office Theme">
  <a:themeElements>
    <a:clrScheme name="Custom 2">
      <a:dk1>
        <a:srgbClr val="55555A"/>
      </a:dk1>
      <a:lt1>
        <a:srgbClr val="FFFFFF"/>
      </a:lt1>
      <a:dk2>
        <a:srgbClr val="003B51"/>
      </a:dk2>
      <a:lt2>
        <a:srgbClr val="C41F33"/>
      </a:lt2>
      <a:accent1>
        <a:srgbClr val="C41F33"/>
      </a:accent1>
      <a:accent2>
        <a:srgbClr val="32AFC7"/>
      </a:accent2>
      <a:accent3>
        <a:srgbClr val="E9B214"/>
      </a:accent3>
      <a:accent4>
        <a:srgbClr val="94C93C"/>
      </a:accent4>
      <a:accent5>
        <a:srgbClr val="EE7A22"/>
      </a:accent5>
      <a:accent6>
        <a:srgbClr val="9E5DA6"/>
      </a:accent6>
      <a:hlink>
        <a:srgbClr val="32AFC7"/>
      </a:hlink>
      <a:folHlink>
        <a:srgbClr val="9E5DA6"/>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A3C32B96-1ED0-DE44-936D-819F67352A35}" vid="{279AFBEF-01B7-364D-BDBF-D3787B675AD2}"/>
    </a:ext>
  </a:extLst>
</a:theme>
</file>

<file path=ppt/theme/theme7.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2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3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5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1.xml><?xml version="1.0" encoding="utf-8"?>
<a:theme xmlns:a="http://schemas.openxmlformats.org/drawingml/2006/main" name="6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xml><?xml version="1.0" encoding="utf-8"?>
<a:theme xmlns:a="http://schemas.openxmlformats.org/drawingml/2006/main" name="7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263dfd0-69be-4b5c-88b4-bc7a2f4c0113">
      <Value>3869</Value>
      <Value>1201</Value>
      <Value>3909</Value>
      <Value>3908</Value>
    </TaxCatchAll>
    <Description xmlns="478fa4bd-aeb3-472a-9671-183365a3bac7" xsi:nil="true"/>
    <Applicable_x0020_Regions xmlns="478fa4bd-aeb3-472a-9671-183365a3bac7">System-wide</Applicable_x0020_Regions>
    <TaxKeywordTaxHTField xmlns="6263dfd0-69be-4b5c-88b4-bc7a2f4c0113">
      <Terms xmlns="http://schemas.microsoft.com/office/infopath/2007/PartnerControls">
        <TermInfo xmlns="http://schemas.microsoft.com/office/infopath/2007/PartnerControls">
          <TermName xmlns="http://schemas.microsoft.com/office/infopath/2007/PartnerControls">Presentation</TermName>
          <TermId xmlns="http://schemas.microsoft.com/office/infopath/2007/PartnerControls">0ccff85a-b658-4deb-ade9-d06062a08905</TermId>
        </TermInfo>
        <TermInfo xmlns="http://schemas.microsoft.com/office/infopath/2007/PartnerControls">
          <TermName xmlns="http://schemas.microsoft.com/office/infopath/2007/PartnerControls">Brand</TermName>
          <TermId xmlns="http://schemas.microsoft.com/office/infopath/2007/PartnerControls">4571eb74-f7e5-499f-b0f6-dc128a2d16d8</TermId>
        </TermInfo>
        <TermInfo xmlns="http://schemas.microsoft.com/office/infopath/2007/PartnerControls">
          <TermName xmlns="http://schemas.microsoft.com/office/infopath/2007/PartnerControls">Marketing</TermName>
          <TermId xmlns="http://schemas.microsoft.com/office/infopath/2007/PartnerControls">ca941287-f370-4e74-8929-6a7c2956adcf</TermId>
        </TermInfo>
        <TermInfo xmlns="http://schemas.microsoft.com/office/infopath/2007/PartnerControls">
          <TermName xmlns="http://schemas.microsoft.com/office/infopath/2007/PartnerControls">PPT</TermName>
          <TermId xmlns="http://schemas.microsoft.com/office/infopath/2007/PartnerControls">978bf248-51bb-40e3-86e7-a82b8698ae33</TermId>
        </TermInfo>
      </Terms>
    </TaxKeywordTaxHTField>
    <Category xmlns="478fa4bd-aeb3-472a-9671-183365a3bac7">Branded Templates</Category>
    <lcf76f155ced4ddcb4097134ff3c332f xmlns="478fa4bd-aeb3-472a-9671-183365a3bac7">
      <Terms xmlns="http://schemas.microsoft.com/office/infopath/2007/PartnerControls"/>
    </lcf76f155ced4ddcb4097134ff3c332f>
    <Owner xmlns="478fa4bd-aeb3-472a-9671-183365a3bac7">
      <UserInfo>
        <DisplayName>Cyndi.Wiggs</DisplayName>
        <AccountId>6580</AccountId>
        <AccountType/>
      </UserInfo>
    </Owner>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DAB7195759C56488730808DA10A934C" ma:contentTypeVersion="19" ma:contentTypeDescription="Create a new document." ma:contentTypeScope="" ma:versionID="0af4df766822f938551f94287052f027">
  <xsd:schema xmlns:xsd="http://www.w3.org/2001/XMLSchema" xmlns:xs="http://www.w3.org/2001/XMLSchema" xmlns:p="http://schemas.microsoft.com/office/2006/metadata/properties" xmlns:ns2="478fa4bd-aeb3-472a-9671-183365a3bac7" xmlns:ns3="6263dfd0-69be-4b5c-88b4-bc7a2f4c0113" targetNamespace="http://schemas.microsoft.com/office/2006/metadata/properties" ma:root="true" ma:fieldsID="9a4a303af96ef84ab341ad6cd057904e" ns2:_="" ns3:_="">
    <xsd:import namespace="478fa4bd-aeb3-472a-9671-183365a3bac7"/>
    <xsd:import namespace="6263dfd0-69be-4b5c-88b4-bc7a2f4c0113"/>
    <xsd:element name="properties">
      <xsd:complexType>
        <xsd:sequence>
          <xsd:element name="documentManagement">
            <xsd:complexType>
              <xsd:all>
                <xsd:element ref="ns2:Owner" minOccurs="0"/>
                <xsd:element ref="ns2:Category" minOccurs="0"/>
                <xsd:element ref="ns3:TaxCatchAll" minOccurs="0"/>
                <xsd:element ref="ns2:Applicable_x0020_Regions" minOccurs="0"/>
                <xsd:element ref="ns2:Description" minOccurs="0"/>
                <xsd:element ref="ns2:lcf76f155ced4ddcb4097134ff3c332f" minOccurs="0"/>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OCR" minOccurs="0"/>
                <xsd:element ref="ns2:MediaServiceGenerationTime" minOccurs="0"/>
                <xsd:element ref="ns2:MediaServiceEventHashCode" minOccurs="0"/>
                <xsd:element ref="ns3:TaxKeyword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8fa4bd-aeb3-472a-9671-183365a3bac7" elementFormDefault="qualified">
    <xsd:import namespace="http://schemas.microsoft.com/office/2006/documentManagement/types"/>
    <xsd:import namespace="http://schemas.microsoft.com/office/infopath/2007/PartnerControls"/>
    <xsd:element name="Owner" ma:index="8" nillable="true" ma:displayName="Owner" ma:list="UserInfo" ma:SharePointGroup="0" ma:internalName="Owner"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ategory" ma:index="9" nillable="true" ma:displayName="Category" ma:format="Dropdown" ma:internalName="Category" ma:readOnly="false">
      <xsd:simpleType>
        <xsd:restriction base="dms:Choice">
          <xsd:enumeration value="Brand Style Guides"/>
          <xsd:enumeration value="Email Signatures"/>
          <xsd:enumeration value="Branded Templates"/>
          <xsd:enumeration value="Logos"/>
          <xsd:enumeration value="Processes"/>
          <xsd:enumeration value="Documents"/>
          <xsd:enumeration value="Approved Images"/>
        </xsd:restriction>
      </xsd:simpleType>
    </xsd:element>
    <xsd:element name="Applicable_x0020_Regions" ma:index="11" nillable="true" ma:displayName="Applicable Regions" ma:format="Dropdown" ma:internalName="Applicable_x0020_Regions" ma:readOnly="false">
      <xsd:simpleType>
        <xsd:restriction base="dms:Choice">
          <xsd:enumeration value="System-wide"/>
          <xsd:enumeration value="Champaign-Urbana"/>
          <xsd:enumeration value="Bloomington-Normal"/>
          <xsd:enumeration value="Greater Peoria"/>
          <xsd:enumeration value="Olney"/>
        </xsd:restriction>
      </xsd:simpleType>
    </xsd:element>
    <xsd:element name="Description" ma:index="12" nillable="true" ma:displayName="Description" ma:format="Dropdown" ma:internalName="Description">
      <xsd:simpleType>
        <xsd:restriction base="dms:Note">
          <xsd:maxLength value="255"/>
        </xsd:restrictio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f55dce59-7d6d-46ee-a536-6f7928558a61" ma:termSetId="09814cd3-568e-fe90-9814-8d621ff8fb84" ma:anchorId="fba54fb3-c3e1-fe81-a776-ca4b69148c4d" ma:open="true" ma:isKeyword="false">
      <xsd:complexType>
        <xsd:sequence>
          <xsd:element ref="pc:Terms" minOccurs="0" maxOccurs="1"/>
        </xsd:sequence>
      </xsd:complexType>
    </xsd:element>
    <xsd:element name="MediaServiceMetadata" ma:index="15" nillable="true" ma:displayName="MediaServiceMetadata" ma:hidden="true" ma:internalName="MediaServiceMetadata" ma:readOnly="true">
      <xsd:simpleType>
        <xsd:restriction base="dms:Note"/>
      </xsd:simpleType>
    </xsd:element>
    <xsd:element name="MediaServiceFastMetadata" ma:index="16" nillable="true" ma:displayName="MediaServiceFastMetadata" ma:hidden="true" ma:internalName="MediaServiceFastMetadata" ma:readOnly="true">
      <xsd:simpleType>
        <xsd:restriction base="dms:Note"/>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263dfd0-69be-4b5c-88b4-bc7a2f4c0113"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1d566bbd-c9db-411a-a2be-5cc691bec375}" ma:internalName="TaxCatchAll" ma:showField="CatchAllData" ma:web="6263dfd0-69be-4b5c-88b4-bc7a2f4c0113">
      <xsd:complexType>
        <xsd:complexContent>
          <xsd:extension base="dms:MultiChoiceLookup">
            <xsd:sequence>
              <xsd:element name="Value" type="dms:Lookup" maxOccurs="unbounded" minOccurs="0" nillable="true"/>
            </xsd:sequence>
          </xsd:extension>
        </xsd:complexContent>
      </xsd:complexType>
    </xsd:element>
    <xsd:element name="TaxKeywordTaxHTField" ma:index="24" nillable="true" ma:taxonomy="true" ma:internalName="TaxKeywordTaxHTField" ma:taxonomyFieldName="TaxKeyword" ma:displayName="Enterprise Keywords" ma:fieldId="{23f27201-bee3-471e-b2e7-b64fd8b7ca38}" ma:taxonomyMulti="true" ma:sspId="f55dce59-7d6d-46ee-a536-6f7928558a61" ma:termSetId="00000000-0000-0000-0000-000000000000" ma:anchorId="00000000-0000-0000-0000-000000000000" ma:open="true" ma:isKeyword="tru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43D218-5F85-4B2B-B955-116CEE63B66D}">
  <ds:schemaRefs>
    <ds:schemaRef ds:uri="http://schemas.microsoft.com/office/2006/documentManagement/types"/>
    <ds:schemaRef ds:uri="http://schemas.microsoft.com/office/2006/metadata/properties"/>
    <ds:schemaRef ds:uri="e940f3c8-853d-46f6-b1ee-fb67b5fd5ab1"/>
    <ds:schemaRef ds:uri="http://purl.org/dc/terms/"/>
    <ds:schemaRef ds:uri="http://schemas.openxmlformats.org/package/2006/metadata/core-properties"/>
    <ds:schemaRef ds:uri="http://purl.org/dc/dcmitype/"/>
    <ds:schemaRef ds:uri="http://schemas.microsoft.com/office/infopath/2007/PartnerControls"/>
    <ds:schemaRef ds:uri="9d773a33-a69b-4bb0-a10a-280e009da0e5"/>
    <ds:schemaRef ds:uri="http://www.w3.org/XML/1998/namespace"/>
    <ds:schemaRef ds:uri="http://purl.org/dc/elements/1.1/"/>
    <ds:schemaRef ds:uri="6263dfd0-69be-4b5c-88b4-bc7a2f4c0113"/>
    <ds:schemaRef ds:uri="478fa4bd-aeb3-472a-9671-183365a3bac7"/>
  </ds:schemaRefs>
</ds:datastoreItem>
</file>

<file path=customXml/itemProps2.xml><?xml version="1.0" encoding="utf-8"?>
<ds:datastoreItem xmlns:ds="http://schemas.openxmlformats.org/officeDocument/2006/customXml" ds:itemID="{F5D80274-FF25-4D1B-B5B6-C7691EA3415C}">
  <ds:schemaRefs>
    <ds:schemaRef ds:uri="http://schemas.microsoft.com/sharepoint/v3/contenttype/forms"/>
  </ds:schemaRefs>
</ds:datastoreItem>
</file>

<file path=customXml/itemProps3.xml><?xml version="1.0" encoding="utf-8"?>
<ds:datastoreItem xmlns:ds="http://schemas.openxmlformats.org/officeDocument/2006/customXml" ds:itemID="{9006FF07-70FC-4176-AE33-5E72C850D8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8fa4bd-aeb3-472a-9671-183365a3bac7"/>
    <ds:schemaRef ds:uri="6263dfd0-69be-4b5c-88b4-bc7a2f4c01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23825</TotalTime>
  <Words>9839</Words>
  <Application>Microsoft Macintosh PowerPoint</Application>
  <PresentationFormat>Widescreen</PresentationFormat>
  <Paragraphs>839</Paragraphs>
  <Slides>95</Slides>
  <Notes>73</Notes>
  <HiddenSlides>0</HiddenSlides>
  <MMClips>0</MMClips>
  <ScaleCrop>false</ScaleCrop>
  <HeadingPairs>
    <vt:vector size="6" baseType="variant">
      <vt:variant>
        <vt:lpstr>Fonts Used</vt:lpstr>
      </vt:variant>
      <vt:variant>
        <vt:i4>9</vt:i4>
      </vt:variant>
      <vt:variant>
        <vt:lpstr>Theme</vt:lpstr>
      </vt:variant>
      <vt:variant>
        <vt:i4>12</vt:i4>
      </vt:variant>
      <vt:variant>
        <vt:lpstr>Slide Titles</vt:lpstr>
      </vt:variant>
      <vt:variant>
        <vt:i4>95</vt:i4>
      </vt:variant>
    </vt:vector>
  </HeadingPairs>
  <TitlesOfParts>
    <vt:vector size="116" baseType="lpstr">
      <vt:lpstr>Aptos</vt:lpstr>
      <vt:lpstr>Arial</vt:lpstr>
      <vt:lpstr>Calibri</vt:lpstr>
      <vt:lpstr>Calibri Light</vt:lpstr>
      <vt:lpstr>Georgia</vt:lpstr>
      <vt:lpstr>Nunito Sans Normal</vt:lpstr>
      <vt:lpstr>Nunito Sans Normal ExtraLight</vt:lpstr>
      <vt:lpstr>Nunito Sans Normal Medium</vt:lpstr>
      <vt:lpstr>Nunito Sans Normal SemiBold</vt:lpstr>
      <vt:lpstr>Office Theme</vt:lpstr>
      <vt:lpstr>8_Custom Design</vt:lpstr>
      <vt:lpstr>4_Custom Design</vt:lpstr>
      <vt:lpstr>3_Office Theme</vt:lpstr>
      <vt:lpstr>Custom Design</vt:lpstr>
      <vt:lpstr>1_Office Theme</vt:lpstr>
      <vt:lpstr>1_Custom Design</vt:lpstr>
      <vt:lpstr>2_Custom Design</vt:lpstr>
      <vt:lpstr>3_Custom Design</vt:lpstr>
      <vt:lpstr>5_Custom Design</vt:lpstr>
      <vt:lpstr>6_Custom Design</vt:lpstr>
      <vt:lpstr>7_Custom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Carle Health Power Point Template</dc:title>
  <dc:creator>Cyndi.Wiggs</dc:creator>
  <cp:keywords>Brand; Marketing; PPT; Presentation</cp:keywords>
  <cp:lastModifiedBy>Vikas Desai</cp:lastModifiedBy>
  <cp:revision>36</cp:revision>
  <dcterms:created xsi:type="dcterms:W3CDTF">2024-05-24T18:04:42Z</dcterms:created>
  <dcterms:modified xsi:type="dcterms:W3CDTF">2026-08-26T20:09:24Z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0x010100EDAB7195759C56488730808DA10A934C</vt:lpwstr>
  </property>
  <property fmtid="{D5CDD505-2E9C-101B-9397-08002B2CF9AE}" pid="3" name="TaxKeyword">
    <vt:lpwstr>3869;#Presentation|0ccff85a-b658-4deb-ade9-d06062a08905;#1201;#Brand|4571eb74-f7e5-499f-b0f6-dc128a2d16d8;#3909;#Marketing|ca941287-f370-4e74-8929-6a7c2956adcf;#3908;#PPT|978bf248-51bb-40e3-86e7-a82b8698ae33</vt:lpwstr>
  </property>
  <property fmtid="{D5CDD505-2E9C-101B-9397-08002B2CF9AE}" pid="4" name="MediaServiceImageTags">
    <vt:lpwstr/>
  </property>
</Properties>
</file>