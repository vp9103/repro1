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70" r:id="rId5"/>
    <p:sldId id="261" r:id="rId6"/>
    <p:sldId id="260" r:id="rId7"/>
    <p:sldId id="271" r:id="rId8"/>
    <p:sldId id="262" r:id="rId9"/>
    <p:sldId id="272" r:id="rId10"/>
    <p:sldId id="274" r:id="rId11"/>
    <p:sldId id="273" r:id="rId12"/>
    <p:sldId id="276" r:id="rId13"/>
    <p:sldId id="263" r:id="rId14"/>
    <p:sldId id="266" r:id="rId15"/>
    <p:sldId id="264" r:id="rId16"/>
    <p:sldId id="267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15"/>
    <p:restoredTop sz="95794"/>
  </p:normalViewPr>
  <p:slideViewPr>
    <p:cSldViewPr snapToGrid="0">
      <p:cViewPr varScale="1">
        <p:scale>
          <a:sx n="78" d="100"/>
          <a:sy n="78" d="100"/>
        </p:scale>
        <p:origin x="1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8F9FCE-D6A2-4572-B130-DBC5334B2B80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427ABDC-023C-47C7-BD14-AC52EBBDCA22}">
      <dgm:prSet/>
      <dgm:spPr/>
      <dgm:t>
        <a:bodyPr/>
        <a:lstStyle/>
        <a:p>
          <a:r>
            <a:rPr lang="en-US"/>
            <a:t>Serous cystadenoma</a:t>
          </a:r>
        </a:p>
      </dgm:t>
    </dgm:pt>
    <dgm:pt modelId="{5F3BFF5E-1935-4850-BCF3-08EC0864B833}" type="parTrans" cxnId="{3EB0FFAF-8DC7-446B-93E7-C92258603500}">
      <dgm:prSet/>
      <dgm:spPr/>
      <dgm:t>
        <a:bodyPr/>
        <a:lstStyle/>
        <a:p>
          <a:endParaRPr lang="en-US"/>
        </a:p>
      </dgm:t>
    </dgm:pt>
    <dgm:pt modelId="{7D0B7188-9277-4701-962C-2E486954EA13}" type="sibTrans" cxnId="{3EB0FFAF-8DC7-446B-93E7-C92258603500}">
      <dgm:prSet/>
      <dgm:spPr/>
      <dgm:t>
        <a:bodyPr/>
        <a:lstStyle/>
        <a:p>
          <a:endParaRPr lang="en-US"/>
        </a:p>
      </dgm:t>
    </dgm:pt>
    <dgm:pt modelId="{F0E64E4F-04F3-4012-82D6-4E370552CB97}">
      <dgm:prSet/>
      <dgm:spPr/>
      <dgm:t>
        <a:bodyPr/>
        <a:lstStyle/>
        <a:p>
          <a:r>
            <a:rPr lang="en-US"/>
            <a:t>Most common ovarian neoplasm</a:t>
          </a:r>
        </a:p>
      </dgm:t>
    </dgm:pt>
    <dgm:pt modelId="{33F94591-DC7F-4909-A583-11EC89ABD2A8}" type="parTrans" cxnId="{A34ABE82-E9DC-4C62-A7DB-31D79B4CD126}">
      <dgm:prSet/>
      <dgm:spPr/>
      <dgm:t>
        <a:bodyPr/>
        <a:lstStyle/>
        <a:p>
          <a:endParaRPr lang="en-US"/>
        </a:p>
      </dgm:t>
    </dgm:pt>
    <dgm:pt modelId="{7AD35A9E-AE2A-47A9-B15C-718A5A70362F}" type="sibTrans" cxnId="{A34ABE82-E9DC-4C62-A7DB-31D79B4CD126}">
      <dgm:prSet/>
      <dgm:spPr/>
      <dgm:t>
        <a:bodyPr/>
        <a:lstStyle/>
        <a:p>
          <a:endParaRPr lang="en-US"/>
        </a:p>
      </dgm:t>
    </dgm:pt>
    <dgm:pt modelId="{B6CCF74E-1737-4792-8231-7610BB673755}">
      <dgm:prSet/>
      <dgm:spPr/>
      <dgm:t>
        <a:bodyPr/>
        <a:lstStyle/>
        <a:p>
          <a:r>
            <a:rPr lang="en-US"/>
            <a:t>Mucinous cystadenoma</a:t>
          </a:r>
        </a:p>
      </dgm:t>
    </dgm:pt>
    <dgm:pt modelId="{20D3E075-294D-4769-A653-3DEC0144068C}" type="parTrans" cxnId="{66F5A11F-4037-4A56-B417-CBFD1D62F3EC}">
      <dgm:prSet/>
      <dgm:spPr/>
      <dgm:t>
        <a:bodyPr/>
        <a:lstStyle/>
        <a:p>
          <a:endParaRPr lang="en-US"/>
        </a:p>
      </dgm:t>
    </dgm:pt>
    <dgm:pt modelId="{8100AB1E-4FFB-4670-9D4F-C13E47EBF626}" type="sibTrans" cxnId="{66F5A11F-4037-4A56-B417-CBFD1D62F3EC}">
      <dgm:prSet/>
      <dgm:spPr/>
      <dgm:t>
        <a:bodyPr/>
        <a:lstStyle/>
        <a:p>
          <a:endParaRPr lang="en-US"/>
        </a:p>
      </dgm:t>
    </dgm:pt>
    <dgm:pt modelId="{37656EAB-70D7-44F6-8230-7F95DBA8EFEB}">
      <dgm:prSet/>
      <dgm:spPr/>
      <dgm:t>
        <a:bodyPr/>
        <a:lstStyle/>
        <a:p>
          <a:r>
            <a:rPr lang="en-US"/>
            <a:t>Brenner (usually benign)</a:t>
          </a:r>
        </a:p>
      </dgm:t>
    </dgm:pt>
    <dgm:pt modelId="{FF50C5BB-ACDB-4D5B-85EA-3B125B71B419}" type="parTrans" cxnId="{B575EE06-09ED-47C1-B34D-7B3EF1B6C2AC}">
      <dgm:prSet/>
      <dgm:spPr/>
      <dgm:t>
        <a:bodyPr/>
        <a:lstStyle/>
        <a:p>
          <a:endParaRPr lang="en-US"/>
        </a:p>
      </dgm:t>
    </dgm:pt>
    <dgm:pt modelId="{9EC13149-F67E-4E6E-8CC1-6E2F0AECD8F3}" type="sibTrans" cxnId="{B575EE06-09ED-47C1-B34D-7B3EF1B6C2AC}">
      <dgm:prSet/>
      <dgm:spPr/>
      <dgm:t>
        <a:bodyPr/>
        <a:lstStyle/>
        <a:p>
          <a:endParaRPr lang="en-US"/>
        </a:p>
      </dgm:t>
    </dgm:pt>
    <dgm:pt modelId="{2FEAF5B4-AF56-45CC-99BD-494281F61748}">
      <dgm:prSet/>
      <dgm:spPr/>
      <dgm:t>
        <a:bodyPr/>
        <a:lstStyle/>
        <a:p>
          <a:r>
            <a:rPr lang="en-US"/>
            <a:t>Coffee bean nuclei</a:t>
          </a:r>
        </a:p>
      </dgm:t>
    </dgm:pt>
    <dgm:pt modelId="{504A8E9F-5E9D-41A6-8F3D-B30D3F8F1EED}" type="parTrans" cxnId="{860461F0-CE03-4C48-8320-5F88A5D9A4E9}">
      <dgm:prSet/>
      <dgm:spPr/>
      <dgm:t>
        <a:bodyPr/>
        <a:lstStyle/>
        <a:p>
          <a:endParaRPr lang="en-US"/>
        </a:p>
      </dgm:t>
    </dgm:pt>
    <dgm:pt modelId="{6C610955-9762-45BA-A6D1-6B55F37A35BF}" type="sibTrans" cxnId="{860461F0-CE03-4C48-8320-5F88A5D9A4E9}">
      <dgm:prSet/>
      <dgm:spPr/>
      <dgm:t>
        <a:bodyPr/>
        <a:lstStyle/>
        <a:p>
          <a:endParaRPr lang="en-US"/>
        </a:p>
      </dgm:t>
    </dgm:pt>
    <dgm:pt modelId="{2476F46F-2677-7049-B1B0-70DF4F84CBF3}" type="pres">
      <dgm:prSet presAssocID="{E58F9FCE-D6A2-4572-B130-DBC5334B2B80}" presName="Name0" presStyleCnt="0">
        <dgm:presLayoutVars>
          <dgm:dir/>
          <dgm:animLvl val="lvl"/>
          <dgm:resizeHandles val="exact"/>
        </dgm:presLayoutVars>
      </dgm:prSet>
      <dgm:spPr/>
    </dgm:pt>
    <dgm:pt modelId="{3DF1772F-84D2-F043-A404-97B56C2600B5}" type="pres">
      <dgm:prSet presAssocID="{A427ABDC-023C-47C7-BD14-AC52EBBDCA22}" presName="composite" presStyleCnt="0"/>
      <dgm:spPr/>
    </dgm:pt>
    <dgm:pt modelId="{0970D00C-FD16-F943-AB50-F464115809EC}" type="pres">
      <dgm:prSet presAssocID="{A427ABDC-023C-47C7-BD14-AC52EBBDCA2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C4E3BE5-12CA-874A-BCF4-A3C734609749}" type="pres">
      <dgm:prSet presAssocID="{A427ABDC-023C-47C7-BD14-AC52EBBDCA22}" presName="desTx" presStyleLbl="alignAccFollowNode1" presStyleIdx="0" presStyleCnt="3">
        <dgm:presLayoutVars>
          <dgm:bulletEnabled val="1"/>
        </dgm:presLayoutVars>
      </dgm:prSet>
      <dgm:spPr/>
    </dgm:pt>
    <dgm:pt modelId="{819726D2-14B3-424E-98F1-302A72B471A4}" type="pres">
      <dgm:prSet presAssocID="{7D0B7188-9277-4701-962C-2E486954EA13}" presName="space" presStyleCnt="0"/>
      <dgm:spPr/>
    </dgm:pt>
    <dgm:pt modelId="{E01141C2-5E13-A64F-A69F-27A21ADE29A9}" type="pres">
      <dgm:prSet presAssocID="{B6CCF74E-1737-4792-8231-7610BB673755}" presName="composite" presStyleCnt="0"/>
      <dgm:spPr/>
    </dgm:pt>
    <dgm:pt modelId="{142D55BB-E472-E647-AEFC-1AA23C835444}" type="pres">
      <dgm:prSet presAssocID="{B6CCF74E-1737-4792-8231-7610BB67375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F735343-9994-B34A-A7CC-83493983DCC7}" type="pres">
      <dgm:prSet presAssocID="{B6CCF74E-1737-4792-8231-7610BB673755}" presName="desTx" presStyleLbl="alignAccFollowNode1" presStyleIdx="1" presStyleCnt="3">
        <dgm:presLayoutVars>
          <dgm:bulletEnabled val="1"/>
        </dgm:presLayoutVars>
      </dgm:prSet>
      <dgm:spPr/>
    </dgm:pt>
    <dgm:pt modelId="{4E055613-EC1B-9A41-9783-84ED803CFFC6}" type="pres">
      <dgm:prSet presAssocID="{8100AB1E-4FFB-4670-9D4F-C13E47EBF626}" presName="space" presStyleCnt="0"/>
      <dgm:spPr/>
    </dgm:pt>
    <dgm:pt modelId="{E0C6FB83-AADE-9A49-B52C-D2049C93F04C}" type="pres">
      <dgm:prSet presAssocID="{37656EAB-70D7-44F6-8230-7F95DBA8EFEB}" presName="composite" presStyleCnt="0"/>
      <dgm:spPr/>
    </dgm:pt>
    <dgm:pt modelId="{F11DB952-F023-1745-8CD1-9DC070726CA8}" type="pres">
      <dgm:prSet presAssocID="{37656EAB-70D7-44F6-8230-7F95DBA8EFE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ADCD12B-66ED-2542-8C14-75360755D6C1}" type="pres">
      <dgm:prSet presAssocID="{37656EAB-70D7-44F6-8230-7F95DBA8EFE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BD72801-4EF7-FF48-8A3B-0D4D4AE5E0AA}" type="presOf" srcId="{E58F9FCE-D6A2-4572-B130-DBC5334B2B80}" destId="{2476F46F-2677-7049-B1B0-70DF4F84CBF3}" srcOrd="0" destOrd="0" presId="urn:microsoft.com/office/officeart/2005/8/layout/hList1"/>
    <dgm:cxn modelId="{B575EE06-09ED-47C1-B34D-7B3EF1B6C2AC}" srcId="{E58F9FCE-D6A2-4572-B130-DBC5334B2B80}" destId="{37656EAB-70D7-44F6-8230-7F95DBA8EFEB}" srcOrd="2" destOrd="0" parTransId="{FF50C5BB-ACDB-4D5B-85EA-3B125B71B419}" sibTransId="{9EC13149-F67E-4E6E-8CC1-6E2F0AECD8F3}"/>
    <dgm:cxn modelId="{B34A6B08-2FEE-8644-909A-A22A5CF19D26}" type="presOf" srcId="{37656EAB-70D7-44F6-8230-7F95DBA8EFEB}" destId="{F11DB952-F023-1745-8CD1-9DC070726CA8}" srcOrd="0" destOrd="0" presId="urn:microsoft.com/office/officeart/2005/8/layout/hList1"/>
    <dgm:cxn modelId="{B0EBD217-D5B9-AA42-8631-7F5DC0C42068}" type="presOf" srcId="{F0E64E4F-04F3-4012-82D6-4E370552CB97}" destId="{8C4E3BE5-12CA-874A-BCF4-A3C734609749}" srcOrd="0" destOrd="0" presId="urn:microsoft.com/office/officeart/2005/8/layout/hList1"/>
    <dgm:cxn modelId="{66F5A11F-4037-4A56-B417-CBFD1D62F3EC}" srcId="{E58F9FCE-D6A2-4572-B130-DBC5334B2B80}" destId="{B6CCF74E-1737-4792-8231-7610BB673755}" srcOrd="1" destOrd="0" parTransId="{20D3E075-294D-4769-A653-3DEC0144068C}" sibTransId="{8100AB1E-4FFB-4670-9D4F-C13E47EBF626}"/>
    <dgm:cxn modelId="{1321B063-927D-9F47-8F72-8B7C7A7A94B7}" type="presOf" srcId="{2FEAF5B4-AF56-45CC-99BD-494281F61748}" destId="{0ADCD12B-66ED-2542-8C14-75360755D6C1}" srcOrd="0" destOrd="0" presId="urn:microsoft.com/office/officeart/2005/8/layout/hList1"/>
    <dgm:cxn modelId="{452C3F4C-5272-A34D-859D-40510F15EB1E}" type="presOf" srcId="{A427ABDC-023C-47C7-BD14-AC52EBBDCA22}" destId="{0970D00C-FD16-F943-AB50-F464115809EC}" srcOrd="0" destOrd="0" presId="urn:microsoft.com/office/officeart/2005/8/layout/hList1"/>
    <dgm:cxn modelId="{A34ABE82-E9DC-4C62-A7DB-31D79B4CD126}" srcId="{A427ABDC-023C-47C7-BD14-AC52EBBDCA22}" destId="{F0E64E4F-04F3-4012-82D6-4E370552CB97}" srcOrd="0" destOrd="0" parTransId="{33F94591-DC7F-4909-A583-11EC89ABD2A8}" sibTransId="{7AD35A9E-AE2A-47A9-B15C-718A5A70362F}"/>
    <dgm:cxn modelId="{A8223291-30A1-C043-9BC3-8E902570443D}" type="presOf" srcId="{B6CCF74E-1737-4792-8231-7610BB673755}" destId="{142D55BB-E472-E647-AEFC-1AA23C835444}" srcOrd="0" destOrd="0" presId="urn:microsoft.com/office/officeart/2005/8/layout/hList1"/>
    <dgm:cxn modelId="{3EB0FFAF-8DC7-446B-93E7-C92258603500}" srcId="{E58F9FCE-D6A2-4572-B130-DBC5334B2B80}" destId="{A427ABDC-023C-47C7-BD14-AC52EBBDCA22}" srcOrd="0" destOrd="0" parTransId="{5F3BFF5E-1935-4850-BCF3-08EC0864B833}" sibTransId="{7D0B7188-9277-4701-962C-2E486954EA13}"/>
    <dgm:cxn modelId="{860461F0-CE03-4C48-8320-5F88A5D9A4E9}" srcId="{37656EAB-70D7-44F6-8230-7F95DBA8EFEB}" destId="{2FEAF5B4-AF56-45CC-99BD-494281F61748}" srcOrd="0" destOrd="0" parTransId="{504A8E9F-5E9D-41A6-8F3D-B30D3F8F1EED}" sibTransId="{6C610955-9762-45BA-A6D1-6B55F37A35BF}"/>
    <dgm:cxn modelId="{AC8FFBA1-A51F-7843-9012-B8E30DC30CF9}" type="presParOf" srcId="{2476F46F-2677-7049-B1B0-70DF4F84CBF3}" destId="{3DF1772F-84D2-F043-A404-97B56C2600B5}" srcOrd="0" destOrd="0" presId="urn:microsoft.com/office/officeart/2005/8/layout/hList1"/>
    <dgm:cxn modelId="{5C0D6FC2-9320-2645-8DF8-E96D8B6E24F9}" type="presParOf" srcId="{3DF1772F-84D2-F043-A404-97B56C2600B5}" destId="{0970D00C-FD16-F943-AB50-F464115809EC}" srcOrd="0" destOrd="0" presId="urn:microsoft.com/office/officeart/2005/8/layout/hList1"/>
    <dgm:cxn modelId="{030D684A-4A12-714B-9DD4-7ADE31ED8C64}" type="presParOf" srcId="{3DF1772F-84D2-F043-A404-97B56C2600B5}" destId="{8C4E3BE5-12CA-874A-BCF4-A3C734609749}" srcOrd="1" destOrd="0" presId="urn:microsoft.com/office/officeart/2005/8/layout/hList1"/>
    <dgm:cxn modelId="{EA44293D-1205-1E4A-B193-BA477102B01A}" type="presParOf" srcId="{2476F46F-2677-7049-B1B0-70DF4F84CBF3}" destId="{819726D2-14B3-424E-98F1-302A72B471A4}" srcOrd="1" destOrd="0" presId="urn:microsoft.com/office/officeart/2005/8/layout/hList1"/>
    <dgm:cxn modelId="{F23192FD-8990-8645-B381-7B84AC49DDCE}" type="presParOf" srcId="{2476F46F-2677-7049-B1B0-70DF4F84CBF3}" destId="{E01141C2-5E13-A64F-A69F-27A21ADE29A9}" srcOrd="2" destOrd="0" presId="urn:microsoft.com/office/officeart/2005/8/layout/hList1"/>
    <dgm:cxn modelId="{6B4796D7-4718-BA4E-804F-F5057FF4F7C8}" type="presParOf" srcId="{E01141C2-5E13-A64F-A69F-27A21ADE29A9}" destId="{142D55BB-E472-E647-AEFC-1AA23C835444}" srcOrd="0" destOrd="0" presId="urn:microsoft.com/office/officeart/2005/8/layout/hList1"/>
    <dgm:cxn modelId="{7796259E-AEEB-D34E-B498-8371B928D456}" type="presParOf" srcId="{E01141C2-5E13-A64F-A69F-27A21ADE29A9}" destId="{9F735343-9994-B34A-A7CC-83493983DCC7}" srcOrd="1" destOrd="0" presId="urn:microsoft.com/office/officeart/2005/8/layout/hList1"/>
    <dgm:cxn modelId="{9BFF1313-2292-EB4F-9290-10E56ACB68D9}" type="presParOf" srcId="{2476F46F-2677-7049-B1B0-70DF4F84CBF3}" destId="{4E055613-EC1B-9A41-9783-84ED803CFFC6}" srcOrd="3" destOrd="0" presId="urn:microsoft.com/office/officeart/2005/8/layout/hList1"/>
    <dgm:cxn modelId="{FC5AC126-FD8B-B44C-A16E-F8F7939705AB}" type="presParOf" srcId="{2476F46F-2677-7049-B1B0-70DF4F84CBF3}" destId="{E0C6FB83-AADE-9A49-B52C-D2049C93F04C}" srcOrd="4" destOrd="0" presId="urn:microsoft.com/office/officeart/2005/8/layout/hList1"/>
    <dgm:cxn modelId="{30E00CD0-04BA-804E-A01D-25F6DBEFB9A7}" type="presParOf" srcId="{E0C6FB83-AADE-9A49-B52C-D2049C93F04C}" destId="{F11DB952-F023-1745-8CD1-9DC070726CA8}" srcOrd="0" destOrd="0" presId="urn:microsoft.com/office/officeart/2005/8/layout/hList1"/>
    <dgm:cxn modelId="{9559FA80-1728-7A4A-8526-B15C78E72CCE}" type="presParOf" srcId="{E0C6FB83-AADE-9A49-B52C-D2049C93F04C}" destId="{0ADCD12B-66ED-2542-8C14-75360755D6C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1D9D30-B1DC-46A7-BBA4-8BDB418FD5A6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08CEE9D-70C2-44EB-B6C5-B703FBEB3E18}">
      <dgm:prSet/>
      <dgm:spPr/>
      <dgm:t>
        <a:bodyPr/>
        <a:lstStyle/>
        <a:p>
          <a:r>
            <a:rPr lang="en-US" dirty="0"/>
            <a:t>Serous cystadenocarcinoma</a:t>
          </a:r>
        </a:p>
      </dgm:t>
    </dgm:pt>
    <dgm:pt modelId="{72413524-C53B-4715-9B39-987CBE71D494}" type="parTrans" cxnId="{8B09D0CF-3667-49DD-B130-B4B41E0C3CA1}">
      <dgm:prSet/>
      <dgm:spPr/>
      <dgm:t>
        <a:bodyPr/>
        <a:lstStyle/>
        <a:p>
          <a:endParaRPr lang="en-US"/>
        </a:p>
      </dgm:t>
    </dgm:pt>
    <dgm:pt modelId="{5CB00BE4-2881-4E61-8565-49ACC7D95F14}" type="sibTrans" cxnId="{8B09D0CF-3667-49DD-B130-B4B41E0C3CA1}">
      <dgm:prSet/>
      <dgm:spPr/>
      <dgm:t>
        <a:bodyPr/>
        <a:lstStyle/>
        <a:p>
          <a:endParaRPr lang="en-US"/>
        </a:p>
      </dgm:t>
    </dgm:pt>
    <dgm:pt modelId="{820609D4-56A5-4A17-A0CE-4B1C49963EFA}">
      <dgm:prSet/>
      <dgm:spPr/>
      <dgm:t>
        <a:bodyPr/>
        <a:lstStyle/>
        <a:p>
          <a:r>
            <a:rPr lang="en-US"/>
            <a:t>Most common malignant ovarian neoplasm</a:t>
          </a:r>
        </a:p>
      </dgm:t>
    </dgm:pt>
    <dgm:pt modelId="{2FBDA50B-F94E-4BD7-AC71-2B9CAF60FA68}" type="parTrans" cxnId="{9EBA1609-7BB9-4D15-ABD1-F3C5D7231E06}">
      <dgm:prSet/>
      <dgm:spPr/>
      <dgm:t>
        <a:bodyPr/>
        <a:lstStyle/>
        <a:p>
          <a:endParaRPr lang="en-US"/>
        </a:p>
      </dgm:t>
    </dgm:pt>
    <dgm:pt modelId="{BE434006-A0AB-4206-9D48-6176CF239371}" type="sibTrans" cxnId="{9EBA1609-7BB9-4D15-ABD1-F3C5D7231E06}">
      <dgm:prSet/>
      <dgm:spPr/>
      <dgm:t>
        <a:bodyPr/>
        <a:lstStyle/>
        <a:p>
          <a:endParaRPr lang="en-US"/>
        </a:p>
      </dgm:t>
    </dgm:pt>
    <dgm:pt modelId="{A2280117-E8EC-49B5-97CF-38EAC5F3A26B}">
      <dgm:prSet/>
      <dgm:spPr/>
      <dgm:t>
        <a:bodyPr/>
        <a:lstStyle/>
        <a:p>
          <a:r>
            <a:rPr lang="en-US"/>
            <a:t>Psammoma bodies</a:t>
          </a:r>
        </a:p>
      </dgm:t>
    </dgm:pt>
    <dgm:pt modelId="{8B62B527-D027-42AC-A7D7-33B6D6D478F6}" type="parTrans" cxnId="{16109704-7E72-4625-AF2C-EB95949E20BF}">
      <dgm:prSet/>
      <dgm:spPr/>
      <dgm:t>
        <a:bodyPr/>
        <a:lstStyle/>
        <a:p>
          <a:endParaRPr lang="en-US"/>
        </a:p>
      </dgm:t>
    </dgm:pt>
    <dgm:pt modelId="{F24EF370-C958-4252-A6A4-799383F482E6}" type="sibTrans" cxnId="{16109704-7E72-4625-AF2C-EB95949E20BF}">
      <dgm:prSet/>
      <dgm:spPr/>
      <dgm:t>
        <a:bodyPr/>
        <a:lstStyle/>
        <a:p>
          <a:endParaRPr lang="en-US"/>
        </a:p>
      </dgm:t>
    </dgm:pt>
    <dgm:pt modelId="{97EA99C5-8020-4ECD-8DEE-3D0773FA66A7}">
      <dgm:prSet/>
      <dgm:spPr/>
      <dgm:t>
        <a:bodyPr/>
        <a:lstStyle/>
        <a:p>
          <a:r>
            <a:rPr lang="en-US"/>
            <a:t>Thought to be derived from fallopian tube </a:t>
          </a:r>
        </a:p>
      </dgm:t>
    </dgm:pt>
    <dgm:pt modelId="{BBF3AE17-CD2E-4CBE-94C2-2F669DF50952}" type="parTrans" cxnId="{B198CB67-8DDE-4203-881E-6FD42D735ABF}">
      <dgm:prSet/>
      <dgm:spPr/>
      <dgm:t>
        <a:bodyPr/>
        <a:lstStyle/>
        <a:p>
          <a:endParaRPr lang="en-US"/>
        </a:p>
      </dgm:t>
    </dgm:pt>
    <dgm:pt modelId="{F6A7C219-C2E7-4594-8B6D-AFBBFAC98160}" type="sibTrans" cxnId="{B198CB67-8DDE-4203-881E-6FD42D735ABF}">
      <dgm:prSet/>
      <dgm:spPr/>
      <dgm:t>
        <a:bodyPr/>
        <a:lstStyle/>
        <a:p>
          <a:endParaRPr lang="en-US"/>
        </a:p>
      </dgm:t>
    </dgm:pt>
    <dgm:pt modelId="{5DD05924-7A15-4963-B067-3E2DAF2C5824}">
      <dgm:prSet/>
      <dgm:spPr/>
      <dgm:t>
        <a:bodyPr/>
        <a:lstStyle/>
        <a:p>
          <a:r>
            <a:rPr lang="en-US"/>
            <a:t>Mucinous cystadenocarcinoma</a:t>
          </a:r>
        </a:p>
      </dgm:t>
    </dgm:pt>
    <dgm:pt modelId="{86C00298-E25F-4794-86BD-E910C8133B7E}" type="parTrans" cxnId="{EAFA0564-0E14-48D6-A7E1-1C91B0A6E7BF}">
      <dgm:prSet/>
      <dgm:spPr/>
      <dgm:t>
        <a:bodyPr/>
        <a:lstStyle/>
        <a:p>
          <a:endParaRPr lang="en-US"/>
        </a:p>
      </dgm:t>
    </dgm:pt>
    <dgm:pt modelId="{FC739CFB-4C6D-4BBA-A89A-F25CB36406B6}" type="sibTrans" cxnId="{EAFA0564-0E14-48D6-A7E1-1C91B0A6E7BF}">
      <dgm:prSet/>
      <dgm:spPr/>
      <dgm:t>
        <a:bodyPr/>
        <a:lstStyle/>
        <a:p>
          <a:endParaRPr lang="en-US"/>
        </a:p>
      </dgm:t>
    </dgm:pt>
    <dgm:pt modelId="{829C3E9A-10E3-4146-9346-71B28C2653C7}">
      <dgm:prSet/>
      <dgm:spPr/>
      <dgm:t>
        <a:bodyPr/>
        <a:lstStyle/>
        <a:p>
          <a:r>
            <a:rPr lang="en-US"/>
            <a:t>May be metastatic from Gi tumor</a:t>
          </a:r>
        </a:p>
      </dgm:t>
    </dgm:pt>
    <dgm:pt modelId="{92ACFA48-CADE-4097-834D-0C54B29717C7}" type="parTrans" cxnId="{4E6F36DA-AC13-4EB0-B1AC-E073BC409B01}">
      <dgm:prSet/>
      <dgm:spPr/>
      <dgm:t>
        <a:bodyPr/>
        <a:lstStyle/>
        <a:p>
          <a:endParaRPr lang="en-US"/>
        </a:p>
      </dgm:t>
    </dgm:pt>
    <dgm:pt modelId="{A7D66980-9740-4013-849E-DC9580319EB8}" type="sibTrans" cxnId="{4E6F36DA-AC13-4EB0-B1AC-E073BC409B01}">
      <dgm:prSet/>
      <dgm:spPr/>
      <dgm:t>
        <a:bodyPr/>
        <a:lstStyle/>
        <a:p>
          <a:endParaRPr lang="en-US"/>
        </a:p>
      </dgm:t>
    </dgm:pt>
    <dgm:pt modelId="{DC199A02-8800-4FF5-BA00-15B2B7DF80FD}">
      <dgm:prSet/>
      <dgm:spPr/>
      <dgm:t>
        <a:bodyPr/>
        <a:lstStyle/>
        <a:p>
          <a:r>
            <a:rPr lang="en-US"/>
            <a:t>Risk factors: smoking</a:t>
          </a:r>
        </a:p>
      </dgm:t>
    </dgm:pt>
    <dgm:pt modelId="{E1F5CBC4-02C6-4097-AC5D-5823BA1E1B82}" type="parTrans" cxnId="{C46553A2-94EF-43CB-A5F4-206368EE5825}">
      <dgm:prSet/>
      <dgm:spPr/>
      <dgm:t>
        <a:bodyPr/>
        <a:lstStyle/>
        <a:p>
          <a:endParaRPr lang="en-US"/>
        </a:p>
      </dgm:t>
    </dgm:pt>
    <dgm:pt modelId="{8C7C0482-F093-46DB-BD59-E82FA1ACDA37}" type="sibTrans" cxnId="{C46553A2-94EF-43CB-A5F4-206368EE5825}">
      <dgm:prSet/>
      <dgm:spPr/>
      <dgm:t>
        <a:bodyPr/>
        <a:lstStyle/>
        <a:p>
          <a:endParaRPr lang="en-US"/>
        </a:p>
      </dgm:t>
    </dgm:pt>
    <dgm:pt modelId="{91CD5C72-D6E8-42A7-BB41-ED936806F2B0}">
      <dgm:prSet/>
      <dgm:spPr/>
      <dgm:t>
        <a:bodyPr/>
        <a:lstStyle/>
        <a:p>
          <a:r>
            <a:rPr lang="en-US"/>
            <a:t>Endometrioid</a:t>
          </a:r>
        </a:p>
      </dgm:t>
    </dgm:pt>
    <dgm:pt modelId="{6FEA7A51-12BF-4112-B0FA-02DEE5FB8D0B}" type="parTrans" cxnId="{D0D07A9C-19FE-4A54-AAA8-CBCEA2CA65A1}">
      <dgm:prSet/>
      <dgm:spPr/>
      <dgm:t>
        <a:bodyPr/>
        <a:lstStyle/>
        <a:p>
          <a:endParaRPr lang="en-US"/>
        </a:p>
      </dgm:t>
    </dgm:pt>
    <dgm:pt modelId="{4F4D7B46-A04D-4DC1-AF08-57FEB6CB9826}" type="sibTrans" cxnId="{D0D07A9C-19FE-4A54-AAA8-CBCEA2CA65A1}">
      <dgm:prSet/>
      <dgm:spPr/>
      <dgm:t>
        <a:bodyPr/>
        <a:lstStyle/>
        <a:p>
          <a:endParaRPr lang="en-US"/>
        </a:p>
      </dgm:t>
    </dgm:pt>
    <dgm:pt modelId="{182A401C-03CC-4DC0-8ED3-1446A809921E}">
      <dgm:prSet/>
      <dgm:spPr/>
      <dgm:t>
        <a:bodyPr/>
        <a:lstStyle/>
        <a:p>
          <a:r>
            <a:rPr lang="en-US"/>
            <a:t>Risk factors: endometriosis and Lynch syndrome</a:t>
          </a:r>
        </a:p>
      </dgm:t>
    </dgm:pt>
    <dgm:pt modelId="{3FDAF43B-67E6-45B7-840D-6921486ED774}" type="parTrans" cxnId="{5022738A-865E-4430-8763-6EADA58313B7}">
      <dgm:prSet/>
      <dgm:spPr/>
      <dgm:t>
        <a:bodyPr/>
        <a:lstStyle/>
        <a:p>
          <a:endParaRPr lang="en-US"/>
        </a:p>
      </dgm:t>
    </dgm:pt>
    <dgm:pt modelId="{55385C09-47BC-4CDF-8A8F-D0A1DE31F2B3}" type="sibTrans" cxnId="{5022738A-865E-4430-8763-6EADA58313B7}">
      <dgm:prSet/>
      <dgm:spPr/>
      <dgm:t>
        <a:bodyPr/>
        <a:lstStyle/>
        <a:p>
          <a:endParaRPr lang="en-US"/>
        </a:p>
      </dgm:t>
    </dgm:pt>
    <dgm:pt modelId="{32718708-EDCF-4DE7-A7AC-FBAD86474E12}">
      <dgm:prSet/>
      <dgm:spPr/>
      <dgm:t>
        <a:bodyPr/>
        <a:lstStyle/>
        <a:p>
          <a:r>
            <a:rPr lang="en-US"/>
            <a:t>Thought to be derived from endometrium</a:t>
          </a:r>
        </a:p>
      </dgm:t>
    </dgm:pt>
    <dgm:pt modelId="{4977090A-7DFC-4327-A80A-E8BB0C8FDBF9}" type="parTrans" cxnId="{445B634C-6366-4959-A524-EB8586831FBB}">
      <dgm:prSet/>
      <dgm:spPr/>
      <dgm:t>
        <a:bodyPr/>
        <a:lstStyle/>
        <a:p>
          <a:endParaRPr lang="en-US"/>
        </a:p>
      </dgm:t>
    </dgm:pt>
    <dgm:pt modelId="{6B41771A-F6E7-46B4-B048-34BFE479A672}" type="sibTrans" cxnId="{445B634C-6366-4959-A524-EB8586831FBB}">
      <dgm:prSet/>
      <dgm:spPr/>
      <dgm:t>
        <a:bodyPr/>
        <a:lstStyle/>
        <a:p>
          <a:endParaRPr lang="en-US"/>
        </a:p>
      </dgm:t>
    </dgm:pt>
    <dgm:pt modelId="{28AEE2D2-C1C8-4B2B-AB28-7A627EFBCDDA}">
      <dgm:prSet/>
      <dgm:spPr/>
      <dgm:t>
        <a:bodyPr/>
        <a:lstStyle/>
        <a:p>
          <a:r>
            <a:rPr lang="en-US"/>
            <a:t>Clear Cell</a:t>
          </a:r>
        </a:p>
      </dgm:t>
    </dgm:pt>
    <dgm:pt modelId="{BC13AFC4-1C42-4E77-8874-7AE281282356}" type="parTrans" cxnId="{9002AFD5-ADF7-4A01-AC14-00BFE7DD0CF5}">
      <dgm:prSet/>
      <dgm:spPr/>
      <dgm:t>
        <a:bodyPr/>
        <a:lstStyle/>
        <a:p>
          <a:endParaRPr lang="en-US"/>
        </a:p>
      </dgm:t>
    </dgm:pt>
    <dgm:pt modelId="{2A29A2D5-7904-40D6-8F28-FE06BEA7DAE8}" type="sibTrans" cxnId="{9002AFD5-ADF7-4A01-AC14-00BFE7DD0CF5}">
      <dgm:prSet/>
      <dgm:spPr/>
      <dgm:t>
        <a:bodyPr/>
        <a:lstStyle/>
        <a:p>
          <a:endParaRPr lang="en-US"/>
        </a:p>
      </dgm:t>
    </dgm:pt>
    <dgm:pt modelId="{4950DD26-FB2D-354D-9215-60D96C110B6A}" type="pres">
      <dgm:prSet presAssocID="{4E1D9D30-B1DC-46A7-BBA4-8BDB418FD5A6}" presName="Name0" presStyleCnt="0">
        <dgm:presLayoutVars>
          <dgm:dir/>
          <dgm:animLvl val="lvl"/>
          <dgm:resizeHandles val="exact"/>
        </dgm:presLayoutVars>
      </dgm:prSet>
      <dgm:spPr/>
    </dgm:pt>
    <dgm:pt modelId="{7C2627EA-6877-9D4B-9FE4-38CCA3056C05}" type="pres">
      <dgm:prSet presAssocID="{808CEE9D-70C2-44EB-B6C5-B703FBEB3E18}" presName="linNode" presStyleCnt="0"/>
      <dgm:spPr/>
    </dgm:pt>
    <dgm:pt modelId="{8B896BA4-4FF9-1047-8F02-428BD9EBF3F8}" type="pres">
      <dgm:prSet presAssocID="{808CEE9D-70C2-44EB-B6C5-B703FBEB3E1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6650DCC6-CEEB-FB48-A858-798EA4712A70}" type="pres">
      <dgm:prSet presAssocID="{808CEE9D-70C2-44EB-B6C5-B703FBEB3E18}" presName="descendantText" presStyleLbl="alignAccFollowNode1" presStyleIdx="0" presStyleCnt="3">
        <dgm:presLayoutVars>
          <dgm:bulletEnabled val="1"/>
        </dgm:presLayoutVars>
      </dgm:prSet>
      <dgm:spPr/>
    </dgm:pt>
    <dgm:pt modelId="{66EA1707-AF89-CB46-A453-2EBB3724859D}" type="pres">
      <dgm:prSet presAssocID="{5CB00BE4-2881-4E61-8565-49ACC7D95F14}" presName="sp" presStyleCnt="0"/>
      <dgm:spPr/>
    </dgm:pt>
    <dgm:pt modelId="{46E0E0AE-3CD2-1B45-A595-14026614F538}" type="pres">
      <dgm:prSet presAssocID="{5DD05924-7A15-4963-B067-3E2DAF2C5824}" presName="linNode" presStyleCnt="0"/>
      <dgm:spPr/>
    </dgm:pt>
    <dgm:pt modelId="{7E3A2633-8882-7543-883F-1E9E3C271AC0}" type="pres">
      <dgm:prSet presAssocID="{5DD05924-7A15-4963-B067-3E2DAF2C5824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40C4183-946F-5548-B45F-BCEBDBB581CE}" type="pres">
      <dgm:prSet presAssocID="{5DD05924-7A15-4963-B067-3E2DAF2C5824}" presName="descendantText" presStyleLbl="alignAccFollowNode1" presStyleIdx="1" presStyleCnt="3">
        <dgm:presLayoutVars>
          <dgm:bulletEnabled val="1"/>
        </dgm:presLayoutVars>
      </dgm:prSet>
      <dgm:spPr/>
    </dgm:pt>
    <dgm:pt modelId="{3B843EFD-22C8-4745-9D35-8507261C5BBA}" type="pres">
      <dgm:prSet presAssocID="{FC739CFB-4C6D-4BBA-A89A-F25CB36406B6}" presName="sp" presStyleCnt="0"/>
      <dgm:spPr/>
    </dgm:pt>
    <dgm:pt modelId="{3A68ED52-FEAA-FB4F-8D95-4E52EDEBB7FA}" type="pres">
      <dgm:prSet presAssocID="{91CD5C72-D6E8-42A7-BB41-ED936806F2B0}" presName="linNode" presStyleCnt="0"/>
      <dgm:spPr/>
    </dgm:pt>
    <dgm:pt modelId="{227FC12B-AE0D-4E49-9280-198373B61F65}" type="pres">
      <dgm:prSet presAssocID="{91CD5C72-D6E8-42A7-BB41-ED936806F2B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051269B-8078-FD40-8B67-3B556A34535E}" type="pres">
      <dgm:prSet presAssocID="{91CD5C72-D6E8-42A7-BB41-ED936806F2B0}" presName="descendantText" presStyleLbl="alignAccFollowNode1" presStyleIdx="2" presStyleCnt="3">
        <dgm:presLayoutVars>
          <dgm:bulletEnabled val="1"/>
        </dgm:presLayoutVars>
      </dgm:prSet>
      <dgm:spPr/>
    </dgm:pt>
    <dgm:pt modelId="{8F462C3F-E717-3F4E-801E-E37C5A27E0F8}" type="pres">
      <dgm:prSet presAssocID="{4F4D7B46-A04D-4DC1-AF08-57FEB6CB9826}" presName="sp" presStyleCnt="0"/>
      <dgm:spPr/>
    </dgm:pt>
    <dgm:pt modelId="{52C9A810-7250-8641-BEAA-D3469F9ADE7B}" type="pres">
      <dgm:prSet presAssocID="{28AEE2D2-C1C8-4B2B-AB28-7A627EFBCDDA}" presName="linNode" presStyleCnt="0"/>
      <dgm:spPr/>
    </dgm:pt>
    <dgm:pt modelId="{D947C50D-3C5A-D94B-BBA5-4603A16BFCEE}" type="pres">
      <dgm:prSet presAssocID="{28AEE2D2-C1C8-4B2B-AB28-7A627EFBCDDA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16109704-7E72-4625-AF2C-EB95949E20BF}" srcId="{808CEE9D-70C2-44EB-B6C5-B703FBEB3E18}" destId="{A2280117-E8EC-49B5-97CF-38EAC5F3A26B}" srcOrd="1" destOrd="0" parTransId="{8B62B527-D027-42AC-A7D7-33B6D6D478F6}" sibTransId="{F24EF370-C958-4252-A6A4-799383F482E6}"/>
    <dgm:cxn modelId="{9EBA1609-7BB9-4D15-ABD1-F3C5D7231E06}" srcId="{808CEE9D-70C2-44EB-B6C5-B703FBEB3E18}" destId="{820609D4-56A5-4A17-A0CE-4B1C49963EFA}" srcOrd="0" destOrd="0" parTransId="{2FBDA50B-F94E-4BD7-AC71-2B9CAF60FA68}" sibTransId="{BE434006-A0AB-4206-9D48-6176CF239371}"/>
    <dgm:cxn modelId="{529E781E-4294-C149-941B-400DDA0E7FBA}" type="presOf" srcId="{829C3E9A-10E3-4146-9346-71B28C2653C7}" destId="{540C4183-946F-5548-B45F-BCEBDBB581CE}" srcOrd="0" destOrd="0" presId="urn:microsoft.com/office/officeart/2005/8/layout/vList5"/>
    <dgm:cxn modelId="{C870F61E-2608-1A4E-A15F-29C8737AFDF2}" type="presOf" srcId="{28AEE2D2-C1C8-4B2B-AB28-7A627EFBCDDA}" destId="{D947C50D-3C5A-D94B-BBA5-4603A16BFCEE}" srcOrd="0" destOrd="0" presId="urn:microsoft.com/office/officeart/2005/8/layout/vList5"/>
    <dgm:cxn modelId="{CE5A3134-D358-B745-878A-C3CC1972A8EE}" type="presOf" srcId="{97EA99C5-8020-4ECD-8DEE-3D0773FA66A7}" destId="{6650DCC6-CEEB-FB48-A858-798EA4712A70}" srcOrd="0" destOrd="2" presId="urn:microsoft.com/office/officeart/2005/8/layout/vList5"/>
    <dgm:cxn modelId="{EAFA0564-0E14-48D6-A7E1-1C91B0A6E7BF}" srcId="{4E1D9D30-B1DC-46A7-BBA4-8BDB418FD5A6}" destId="{5DD05924-7A15-4963-B067-3E2DAF2C5824}" srcOrd="1" destOrd="0" parTransId="{86C00298-E25F-4794-86BD-E910C8133B7E}" sibTransId="{FC739CFB-4C6D-4BBA-A89A-F25CB36406B6}"/>
    <dgm:cxn modelId="{90BA5B64-228E-6F47-A423-7493D69172D1}" type="presOf" srcId="{5DD05924-7A15-4963-B067-3E2DAF2C5824}" destId="{7E3A2633-8882-7543-883F-1E9E3C271AC0}" srcOrd="0" destOrd="0" presId="urn:microsoft.com/office/officeart/2005/8/layout/vList5"/>
    <dgm:cxn modelId="{B198CB67-8DDE-4203-881E-6FD42D735ABF}" srcId="{808CEE9D-70C2-44EB-B6C5-B703FBEB3E18}" destId="{97EA99C5-8020-4ECD-8DEE-3D0773FA66A7}" srcOrd="2" destOrd="0" parTransId="{BBF3AE17-CD2E-4CBE-94C2-2F669DF50952}" sibTransId="{F6A7C219-C2E7-4594-8B6D-AFBBFAC98160}"/>
    <dgm:cxn modelId="{445B634C-6366-4959-A524-EB8586831FBB}" srcId="{91CD5C72-D6E8-42A7-BB41-ED936806F2B0}" destId="{32718708-EDCF-4DE7-A7AC-FBAD86474E12}" srcOrd="1" destOrd="0" parTransId="{4977090A-7DFC-4327-A80A-E8BB0C8FDBF9}" sibTransId="{6B41771A-F6E7-46B4-B048-34BFE479A672}"/>
    <dgm:cxn modelId="{57C27770-1323-044B-B4ED-501588957D62}" type="presOf" srcId="{A2280117-E8EC-49B5-97CF-38EAC5F3A26B}" destId="{6650DCC6-CEEB-FB48-A858-798EA4712A70}" srcOrd="0" destOrd="1" presId="urn:microsoft.com/office/officeart/2005/8/layout/vList5"/>
    <dgm:cxn modelId="{5022738A-865E-4430-8763-6EADA58313B7}" srcId="{91CD5C72-D6E8-42A7-BB41-ED936806F2B0}" destId="{182A401C-03CC-4DC0-8ED3-1446A809921E}" srcOrd="0" destOrd="0" parTransId="{3FDAF43B-67E6-45B7-840D-6921486ED774}" sibTransId="{55385C09-47BC-4CDF-8A8F-D0A1DE31F2B3}"/>
    <dgm:cxn modelId="{FE18378B-BFFD-BF4F-8B1D-68F0F6FFDA13}" type="presOf" srcId="{808CEE9D-70C2-44EB-B6C5-B703FBEB3E18}" destId="{8B896BA4-4FF9-1047-8F02-428BD9EBF3F8}" srcOrd="0" destOrd="0" presId="urn:microsoft.com/office/officeart/2005/8/layout/vList5"/>
    <dgm:cxn modelId="{CDE01797-FBD6-3F4B-AFBB-2285FD3C394C}" type="presOf" srcId="{91CD5C72-D6E8-42A7-BB41-ED936806F2B0}" destId="{227FC12B-AE0D-4E49-9280-198373B61F65}" srcOrd="0" destOrd="0" presId="urn:microsoft.com/office/officeart/2005/8/layout/vList5"/>
    <dgm:cxn modelId="{D0D07A9C-19FE-4A54-AAA8-CBCEA2CA65A1}" srcId="{4E1D9D30-B1DC-46A7-BBA4-8BDB418FD5A6}" destId="{91CD5C72-D6E8-42A7-BB41-ED936806F2B0}" srcOrd="2" destOrd="0" parTransId="{6FEA7A51-12BF-4112-B0FA-02DEE5FB8D0B}" sibTransId="{4F4D7B46-A04D-4DC1-AF08-57FEB6CB9826}"/>
    <dgm:cxn modelId="{C46553A2-94EF-43CB-A5F4-206368EE5825}" srcId="{5DD05924-7A15-4963-B067-3E2DAF2C5824}" destId="{DC199A02-8800-4FF5-BA00-15B2B7DF80FD}" srcOrd="1" destOrd="0" parTransId="{E1F5CBC4-02C6-4097-AC5D-5823BA1E1B82}" sibTransId="{8C7C0482-F093-46DB-BD59-E82FA1ACDA37}"/>
    <dgm:cxn modelId="{512282B3-2353-F142-928A-EA2EB95DEE94}" type="presOf" srcId="{4E1D9D30-B1DC-46A7-BBA4-8BDB418FD5A6}" destId="{4950DD26-FB2D-354D-9215-60D96C110B6A}" srcOrd="0" destOrd="0" presId="urn:microsoft.com/office/officeart/2005/8/layout/vList5"/>
    <dgm:cxn modelId="{D156A0B4-BB6F-4F41-83ED-D26D69AA5ACB}" type="presOf" srcId="{DC199A02-8800-4FF5-BA00-15B2B7DF80FD}" destId="{540C4183-946F-5548-B45F-BCEBDBB581CE}" srcOrd="0" destOrd="1" presId="urn:microsoft.com/office/officeart/2005/8/layout/vList5"/>
    <dgm:cxn modelId="{6B4DC4C0-1A4B-0F4F-B05E-176C8170180D}" type="presOf" srcId="{32718708-EDCF-4DE7-A7AC-FBAD86474E12}" destId="{3051269B-8078-FD40-8B67-3B556A34535E}" srcOrd="0" destOrd="1" presId="urn:microsoft.com/office/officeart/2005/8/layout/vList5"/>
    <dgm:cxn modelId="{40349FC4-3208-D84A-97A5-92CBB4488D1D}" type="presOf" srcId="{820609D4-56A5-4A17-A0CE-4B1C49963EFA}" destId="{6650DCC6-CEEB-FB48-A858-798EA4712A70}" srcOrd="0" destOrd="0" presId="urn:microsoft.com/office/officeart/2005/8/layout/vList5"/>
    <dgm:cxn modelId="{8B09D0CF-3667-49DD-B130-B4B41E0C3CA1}" srcId="{4E1D9D30-B1DC-46A7-BBA4-8BDB418FD5A6}" destId="{808CEE9D-70C2-44EB-B6C5-B703FBEB3E18}" srcOrd="0" destOrd="0" parTransId="{72413524-C53B-4715-9B39-987CBE71D494}" sibTransId="{5CB00BE4-2881-4E61-8565-49ACC7D95F14}"/>
    <dgm:cxn modelId="{9002AFD5-ADF7-4A01-AC14-00BFE7DD0CF5}" srcId="{4E1D9D30-B1DC-46A7-BBA4-8BDB418FD5A6}" destId="{28AEE2D2-C1C8-4B2B-AB28-7A627EFBCDDA}" srcOrd="3" destOrd="0" parTransId="{BC13AFC4-1C42-4E77-8874-7AE281282356}" sibTransId="{2A29A2D5-7904-40D6-8F28-FE06BEA7DAE8}"/>
    <dgm:cxn modelId="{4E6F36DA-AC13-4EB0-B1AC-E073BC409B01}" srcId="{5DD05924-7A15-4963-B067-3E2DAF2C5824}" destId="{829C3E9A-10E3-4146-9346-71B28C2653C7}" srcOrd="0" destOrd="0" parTransId="{92ACFA48-CADE-4097-834D-0C54B29717C7}" sibTransId="{A7D66980-9740-4013-849E-DC9580319EB8}"/>
    <dgm:cxn modelId="{BACFC9F5-4492-A149-817D-08B5980D704F}" type="presOf" srcId="{182A401C-03CC-4DC0-8ED3-1446A809921E}" destId="{3051269B-8078-FD40-8B67-3B556A34535E}" srcOrd="0" destOrd="0" presId="urn:microsoft.com/office/officeart/2005/8/layout/vList5"/>
    <dgm:cxn modelId="{414E8D5D-DF10-5340-A1DA-052A4A340752}" type="presParOf" srcId="{4950DD26-FB2D-354D-9215-60D96C110B6A}" destId="{7C2627EA-6877-9D4B-9FE4-38CCA3056C05}" srcOrd="0" destOrd="0" presId="urn:microsoft.com/office/officeart/2005/8/layout/vList5"/>
    <dgm:cxn modelId="{1F93BBF1-3397-5A41-83F7-515F77098E0E}" type="presParOf" srcId="{7C2627EA-6877-9D4B-9FE4-38CCA3056C05}" destId="{8B896BA4-4FF9-1047-8F02-428BD9EBF3F8}" srcOrd="0" destOrd="0" presId="urn:microsoft.com/office/officeart/2005/8/layout/vList5"/>
    <dgm:cxn modelId="{872AC16D-1139-3F4F-8571-85CCDC789A79}" type="presParOf" srcId="{7C2627EA-6877-9D4B-9FE4-38CCA3056C05}" destId="{6650DCC6-CEEB-FB48-A858-798EA4712A70}" srcOrd="1" destOrd="0" presId="urn:microsoft.com/office/officeart/2005/8/layout/vList5"/>
    <dgm:cxn modelId="{F0D163DE-1A45-DD43-A876-1253FD599F7E}" type="presParOf" srcId="{4950DD26-FB2D-354D-9215-60D96C110B6A}" destId="{66EA1707-AF89-CB46-A453-2EBB3724859D}" srcOrd="1" destOrd="0" presId="urn:microsoft.com/office/officeart/2005/8/layout/vList5"/>
    <dgm:cxn modelId="{4DA6D373-CEC2-9347-B336-45ADB5ECDF2D}" type="presParOf" srcId="{4950DD26-FB2D-354D-9215-60D96C110B6A}" destId="{46E0E0AE-3CD2-1B45-A595-14026614F538}" srcOrd="2" destOrd="0" presId="urn:microsoft.com/office/officeart/2005/8/layout/vList5"/>
    <dgm:cxn modelId="{114823D9-5316-E64B-BFED-0B534E399689}" type="presParOf" srcId="{46E0E0AE-3CD2-1B45-A595-14026614F538}" destId="{7E3A2633-8882-7543-883F-1E9E3C271AC0}" srcOrd="0" destOrd="0" presId="urn:microsoft.com/office/officeart/2005/8/layout/vList5"/>
    <dgm:cxn modelId="{378A4A6F-DF6E-EE48-A98E-07993354341D}" type="presParOf" srcId="{46E0E0AE-3CD2-1B45-A595-14026614F538}" destId="{540C4183-946F-5548-B45F-BCEBDBB581CE}" srcOrd="1" destOrd="0" presId="urn:microsoft.com/office/officeart/2005/8/layout/vList5"/>
    <dgm:cxn modelId="{5C5F1CF6-54C8-8242-83BA-C8C5E7B89383}" type="presParOf" srcId="{4950DD26-FB2D-354D-9215-60D96C110B6A}" destId="{3B843EFD-22C8-4745-9D35-8507261C5BBA}" srcOrd="3" destOrd="0" presId="urn:microsoft.com/office/officeart/2005/8/layout/vList5"/>
    <dgm:cxn modelId="{8C13A8C0-258E-D241-B53B-8C5B7C8EFBE0}" type="presParOf" srcId="{4950DD26-FB2D-354D-9215-60D96C110B6A}" destId="{3A68ED52-FEAA-FB4F-8D95-4E52EDEBB7FA}" srcOrd="4" destOrd="0" presId="urn:microsoft.com/office/officeart/2005/8/layout/vList5"/>
    <dgm:cxn modelId="{9DCDCE48-BA57-BD4E-BC0A-7C422C791408}" type="presParOf" srcId="{3A68ED52-FEAA-FB4F-8D95-4E52EDEBB7FA}" destId="{227FC12B-AE0D-4E49-9280-198373B61F65}" srcOrd="0" destOrd="0" presId="urn:microsoft.com/office/officeart/2005/8/layout/vList5"/>
    <dgm:cxn modelId="{2F4D60B0-33B4-024C-BE62-CF759CD7A497}" type="presParOf" srcId="{3A68ED52-FEAA-FB4F-8D95-4E52EDEBB7FA}" destId="{3051269B-8078-FD40-8B67-3B556A34535E}" srcOrd="1" destOrd="0" presId="urn:microsoft.com/office/officeart/2005/8/layout/vList5"/>
    <dgm:cxn modelId="{E466FBB4-AC59-BA44-A7F5-B272953925DE}" type="presParOf" srcId="{4950DD26-FB2D-354D-9215-60D96C110B6A}" destId="{8F462C3F-E717-3F4E-801E-E37C5A27E0F8}" srcOrd="5" destOrd="0" presId="urn:microsoft.com/office/officeart/2005/8/layout/vList5"/>
    <dgm:cxn modelId="{1E05DA7D-2493-6449-81A9-C2854265CA02}" type="presParOf" srcId="{4950DD26-FB2D-354D-9215-60D96C110B6A}" destId="{52C9A810-7250-8641-BEAA-D3469F9ADE7B}" srcOrd="6" destOrd="0" presId="urn:microsoft.com/office/officeart/2005/8/layout/vList5"/>
    <dgm:cxn modelId="{F3667D65-041B-EB4D-91EC-A14632D9512D}" type="presParOf" srcId="{52C9A810-7250-8641-BEAA-D3469F9ADE7B}" destId="{D947C50D-3C5A-D94B-BBA5-4603A16BFCE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E2AC68-F928-4F33-BDE4-5ABC0747E57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DC84F5C-6C58-4F4A-8742-B6D5838CEC15}">
      <dgm:prSet/>
      <dgm:spPr/>
      <dgm:t>
        <a:bodyPr/>
        <a:lstStyle/>
        <a:p>
          <a:r>
            <a:rPr lang="en-US"/>
            <a:t>Thecoma</a:t>
          </a:r>
        </a:p>
      </dgm:t>
    </dgm:pt>
    <dgm:pt modelId="{45170D62-E2FA-4075-A2D0-5A26F7D7BC76}" type="parTrans" cxnId="{E7A35861-8AEC-4E48-9751-8BF521ED8F5B}">
      <dgm:prSet/>
      <dgm:spPr/>
      <dgm:t>
        <a:bodyPr/>
        <a:lstStyle/>
        <a:p>
          <a:endParaRPr lang="en-US"/>
        </a:p>
      </dgm:t>
    </dgm:pt>
    <dgm:pt modelId="{B6DDBE4B-3704-43E3-A52D-1C33DB705DA2}" type="sibTrans" cxnId="{E7A35861-8AEC-4E48-9751-8BF521ED8F5B}">
      <dgm:prSet/>
      <dgm:spPr/>
      <dgm:t>
        <a:bodyPr/>
        <a:lstStyle/>
        <a:p>
          <a:endParaRPr lang="en-US"/>
        </a:p>
      </dgm:t>
    </dgm:pt>
    <dgm:pt modelId="{1B1B972A-E78C-4A73-A034-86F5CBE4B4A5}">
      <dgm:prSet/>
      <dgm:spPr/>
      <dgm:t>
        <a:bodyPr/>
        <a:lstStyle/>
        <a:p>
          <a:r>
            <a:rPr lang="en-US"/>
            <a:t>Benign</a:t>
          </a:r>
        </a:p>
      </dgm:t>
    </dgm:pt>
    <dgm:pt modelId="{42428275-BA8B-4118-B5E6-DC41018F0069}" type="parTrans" cxnId="{1A7BEB21-7CD5-45A8-891F-4FDF52E697FE}">
      <dgm:prSet/>
      <dgm:spPr/>
      <dgm:t>
        <a:bodyPr/>
        <a:lstStyle/>
        <a:p>
          <a:endParaRPr lang="en-US"/>
        </a:p>
      </dgm:t>
    </dgm:pt>
    <dgm:pt modelId="{FF3323C5-56DA-4A5C-97CC-6B68A71C5D3F}" type="sibTrans" cxnId="{1A7BEB21-7CD5-45A8-891F-4FDF52E697FE}">
      <dgm:prSet/>
      <dgm:spPr/>
      <dgm:t>
        <a:bodyPr/>
        <a:lstStyle/>
        <a:p>
          <a:endParaRPr lang="en-US"/>
        </a:p>
      </dgm:t>
    </dgm:pt>
    <dgm:pt modelId="{F8943FEE-97BC-43A2-8ABD-6DA87F31570D}">
      <dgm:prSet/>
      <dgm:spPr/>
      <dgm:t>
        <a:bodyPr/>
        <a:lstStyle/>
        <a:p>
          <a:r>
            <a:rPr lang="en-US"/>
            <a:t>Produces estrogen</a:t>
          </a:r>
        </a:p>
      </dgm:t>
    </dgm:pt>
    <dgm:pt modelId="{12EEEC01-4289-4008-8A87-43EE8F2A9AA7}" type="parTrans" cxnId="{D26F0AED-1CBD-40CE-AB87-53CB9853066B}">
      <dgm:prSet/>
      <dgm:spPr/>
      <dgm:t>
        <a:bodyPr/>
        <a:lstStyle/>
        <a:p>
          <a:endParaRPr lang="en-US"/>
        </a:p>
      </dgm:t>
    </dgm:pt>
    <dgm:pt modelId="{D03AA429-E9C5-471A-8F36-627099CF59A5}" type="sibTrans" cxnId="{D26F0AED-1CBD-40CE-AB87-53CB9853066B}">
      <dgm:prSet/>
      <dgm:spPr/>
      <dgm:t>
        <a:bodyPr/>
        <a:lstStyle/>
        <a:p>
          <a:endParaRPr lang="en-US"/>
        </a:p>
      </dgm:t>
    </dgm:pt>
    <dgm:pt modelId="{58B2621E-1E99-4687-B8BC-043DA4DD5167}">
      <dgm:prSet/>
      <dgm:spPr/>
      <dgm:t>
        <a:bodyPr/>
        <a:lstStyle/>
        <a:p>
          <a:r>
            <a:rPr lang="en-US"/>
            <a:t>Granulosa cell tumor</a:t>
          </a:r>
        </a:p>
      </dgm:t>
    </dgm:pt>
    <dgm:pt modelId="{50A24097-0D08-40AB-8FBD-28A126EC457F}" type="parTrans" cxnId="{CC8AE60D-51BB-42A1-A57C-0B5D913C035B}">
      <dgm:prSet/>
      <dgm:spPr/>
      <dgm:t>
        <a:bodyPr/>
        <a:lstStyle/>
        <a:p>
          <a:endParaRPr lang="en-US"/>
        </a:p>
      </dgm:t>
    </dgm:pt>
    <dgm:pt modelId="{5F49FE5D-E531-424B-AE7C-4296128D45D9}" type="sibTrans" cxnId="{CC8AE60D-51BB-42A1-A57C-0B5D913C035B}">
      <dgm:prSet/>
      <dgm:spPr/>
      <dgm:t>
        <a:bodyPr/>
        <a:lstStyle/>
        <a:p>
          <a:endParaRPr lang="en-US"/>
        </a:p>
      </dgm:t>
    </dgm:pt>
    <dgm:pt modelId="{E20142A5-C33C-4B09-94B6-64C26962467D}">
      <dgm:prSet/>
      <dgm:spPr/>
      <dgm:t>
        <a:bodyPr/>
        <a:lstStyle/>
        <a:p>
          <a:r>
            <a:rPr lang="en-US" dirty="0"/>
            <a:t>Malignant</a:t>
          </a:r>
        </a:p>
      </dgm:t>
    </dgm:pt>
    <dgm:pt modelId="{A6A7F692-D54B-4BCB-9365-E88EE0E341C5}" type="parTrans" cxnId="{7CFB1DB0-B73F-4E4E-8CD2-160AD5B98372}">
      <dgm:prSet/>
      <dgm:spPr/>
      <dgm:t>
        <a:bodyPr/>
        <a:lstStyle/>
        <a:p>
          <a:endParaRPr lang="en-US"/>
        </a:p>
      </dgm:t>
    </dgm:pt>
    <dgm:pt modelId="{F130C50F-3683-4D1B-80C1-567160056A9E}" type="sibTrans" cxnId="{7CFB1DB0-B73F-4E4E-8CD2-160AD5B98372}">
      <dgm:prSet/>
      <dgm:spPr/>
      <dgm:t>
        <a:bodyPr/>
        <a:lstStyle/>
        <a:p>
          <a:endParaRPr lang="en-US"/>
        </a:p>
      </dgm:t>
    </dgm:pt>
    <dgm:pt modelId="{06E2EDB5-FDFF-4BD3-BD55-610F99B524F6}">
      <dgm:prSet/>
      <dgm:spPr/>
      <dgm:t>
        <a:bodyPr/>
        <a:lstStyle/>
        <a:p>
          <a:r>
            <a:rPr lang="en-US" dirty="0"/>
            <a:t>Produces estrogen</a:t>
          </a:r>
        </a:p>
      </dgm:t>
    </dgm:pt>
    <dgm:pt modelId="{1806014A-1592-4AC9-886D-34DC7E5AABF1}" type="parTrans" cxnId="{E6D36ABA-8290-446A-90A4-0B8CB4ED5843}">
      <dgm:prSet/>
      <dgm:spPr/>
      <dgm:t>
        <a:bodyPr/>
        <a:lstStyle/>
        <a:p>
          <a:endParaRPr lang="en-US"/>
        </a:p>
      </dgm:t>
    </dgm:pt>
    <dgm:pt modelId="{7785CA6F-48C8-40EF-969F-3B234E5763C4}" type="sibTrans" cxnId="{E6D36ABA-8290-446A-90A4-0B8CB4ED5843}">
      <dgm:prSet/>
      <dgm:spPr/>
      <dgm:t>
        <a:bodyPr/>
        <a:lstStyle/>
        <a:p>
          <a:endParaRPr lang="en-US"/>
        </a:p>
      </dgm:t>
    </dgm:pt>
    <dgm:pt modelId="{ED5CFC57-A71C-4468-8922-A274629712CA}">
      <dgm:prSet/>
      <dgm:spPr/>
      <dgm:t>
        <a:bodyPr/>
        <a:lstStyle/>
        <a:p>
          <a:r>
            <a:rPr lang="en-US"/>
            <a:t>Call-Exner bodies</a:t>
          </a:r>
        </a:p>
      </dgm:t>
    </dgm:pt>
    <dgm:pt modelId="{91B63DFA-0E14-4E37-BAD4-68C93796F0BA}" type="parTrans" cxnId="{4E7B7832-E19A-444A-8A20-B514B51361F5}">
      <dgm:prSet/>
      <dgm:spPr/>
      <dgm:t>
        <a:bodyPr/>
        <a:lstStyle/>
        <a:p>
          <a:endParaRPr lang="en-US"/>
        </a:p>
      </dgm:t>
    </dgm:pt>
    <dgm:pt modelId="{20105C93-02A1-487D-83E0-BCCD8DD4951A}" type="sibTrans" cxnId="{4E7B7832-E19A-444A-8A20-B514B51361F5}">
      <dgm:prSet/>
      <dgm:spPr/>
      <dgm:t>
        <a:bodyPr/>
        <a:lstStyle/>
        <a:p>
          <a:endParaRPr lang="en-US"/>
        </a:p>
      </dgm:t>
    </dgm:pt>
    <dgm:pt modelId="{C7CFC6F8-1639-4548-BB5C-10AEFA5D0EBD}">
      <dgm:prSet/>
      <dgm:spPr/>
      <dgm:t>
        <a:bodyPr/>
        <a:lstStyle/>
        <a:p>
          <a:r>
            <a:rPr lang="en-US"/>
            <a:t>Sertoli-Leydig tumor</a:t>
          </a:r>
        </a:p>
      </dgm:t>
    </dgm:pt>
    <dgm:pt modelId="{813901FA-229D-42F6-8FA7-4878CD368E3E}" type="parTrans" cxnId="{A32FA01D-EF58-4314-8AC0-955B181D66B8}">
      <dgm:prSet/>
      <dgm:spPr/>
      <dgm:t>
        <a:bodyPr/>
        <a:lstStyle/>
        <a:p>
          <a:endParaRPr lang="en-US"/>
        </a:p>
      </dgm:t>
    </dgm:pt>
    <dgm:pt modelId="{76B10F51-EA17-4E7F-B89D-3EA8316DACE7}" type="sibTrans" cxnId="{A32FA01D-EF58-4314-8AC0-955B181D66B8}">
      <dgm:prSet/>
      <dgm:spPr/>
      <dgm:t>
        <a:bodyPr/>
        <a:lstStyle/>
        <a:p>
          <a:endParaRPr lang="en-US"/>
        </a:p>
      </dgm:t>
    </dgm:pt>
    <dgm:pt modelId="{BFDC8F48-0F75-4D7D-A802-E00DB29E269C}">
      <dgm:prSet/>
      <dgm:spPr/>
      <dgm:t>
        <a:bodyPr/>
        <a:lstStyle/>
        <a:p>
          <a:r>
            <a:rPr lang="en-US" dirty="0"/>
            <a:t>Benign or malignant</a:t>
          </a:r>
        </a:p>
      </dgm:t>
    </dgm:pt>
    <dgm:pt modelId="{468380F7-4A76-4E99-BF4C-656CAE8B8A98}" type="parTrans" cxnId="{7FA56468-51C5-4F16-9822-941801C0CEB8}">
      <dgm:prSet/>
      <dgm:spPr/>
      <dgm:t>
        <a:bodyPr/>
        <a:lstStyle/>
        <a:p>
          <a:endParaRPr lang="en-US"/>
        </a:p>
      </dgm:t>
    </dgm:pt>
    <dgm:pt modelId="{CAF77996-34DD-4301-A484-7761F8FFC55C}" type="sibTrans" cxnId="{7FA56468-51C5-4F16-9822-941801C0CEB8}">
      <dgm:prSet/>
      <dgm:spPr/>
      <dgm:t>
        <a:bodyPr/>
        <a:lstStyle/>
        <a:p>
          <a:endParaRPr lang="en-US"/>
        </a:p>
      </dgm:t>
    </dgm:pt>
    <dgm:pt modelId="{E2BFAB7B-8BC5-49A1-A34C-F26A7C993C21}">
      <dgm:prSet/>
      <dgm:spPr/>
      <dgm:t>
        <a:bodyPr/>
        <a:lstStyle/>
        <a:p>
          <a:r>
            <a:rPr lang="en-US" dirty="0"/>
            <a:t>Produces androgens</a:t>
          </a:r>
        </a:p>
      </dgm:t>
    </dgm:pt>
    <dgm:pt modelId="{2D281B0F-D887-4CC1-A08C-AB0A4DA71987}" type="parTrans" cxnId="{CBFD0B67-5B4C-4C98-B8E7-2AC39CEFE482}">
      <dgm:prSet/>
      <dgm:spPr/>
      <dgm:t>
        <a:bodyPr/>
        <a:lstStyle/>
        <a:p>
          <a:endParaRPr lang="en-US"/>
        </a:p>
      </dgm:t>
    </dgm:pt>
    <dgm:pt modelId="{A77B8CBA-EBE9-44F2-B389-3FB9C89EDD41}" type="sibTrans" cxnId="{CBFD0B67-5B4C-4C98-B8E7-2AC39CEFE482}">
      <dgm:prSet/>
      <dgm:spPr/>
      <dgm:t>
        <a:bodyPr/>
        <a:lstStyle/>
        <a:p>
          <a:endParaRPr lang="en-US"/>
        </a:p>
      </dgm:t>
    </dgm:pt>
    <dgm:pt modelId="{5E1A119E-A11D-432A-A668-C508AFDE28BA}">
      <dgm:prSet/>
      <dgm:spPr/>
      <dgm:t>
        <a:bodyPr/>
        <a:lstStyle/>
        <a:p>
          <a:r>
            <a:rPr lang="en-US"/>
            <a:t>Fibroma</a:t>
          </a:r>
        </a:p>
      </dgm:t>
    </dgm:pt>
    <dgm:pt modelId="{89C496BC-9ACB-4A70-BAB1-AA332B05135F}" type="parTrans" cxnId="{BB66BC6E-0717-4FE0-80B7-52BF8CDBE0FC}">
      <dgm:prSet/>
      <dgm:spPr/>
      <dgm:t>
        <a:bodyPr/>
        <a:lstStyle/>
        <a:p>
          <a:endParaRPr lang="en-US"/>
        </a:p>
      </dgm:t>
    </dgm:pt>
    <dgm:pt modelId="{4078DDA4-A27F-4BDD-9EB8-2C6DE0FB278D}" type="sibTrans" cxnId="{BB66BC6E-0717-4FE0-80B7-52BF8CDBE0FC}">
      <dgm:prSet/>
      <dgm:spPr/>
      <dgm:t>
        <a:bodyPr/>
        <a:lstStyle/>
        <a:p>
          <a:endParaRPr lang="en-US"/>
        </a:p>
      </dgm:t>
    </dgm:pt>
    <dgm:pt modelId="{D5799444-9B74-4ABA-AF2E-F3A99995127E}">
      <dgm:prSet/>
      <dgm:spPr/>
      <dgm:t>
        <a:bodyPr/>
        <a:lstStyle/>
        <a:p>
          <a:r>
            <a:rPr lang="en-US" dirty="0"/>
            <a:t>Benign</a:t>
          </a:r>
        </a:p>
      </dgm:t>
    </dgm:pt>
    <dgm:pt modelId="{7EE95885-B022-4A43-895A-55812436A60B}" type="parTrans" cxnId="{FC60ADF2-9191-4BF4-AC10-88E98E0FE98E}">
      <dgm:prSet/>
      <dgm:spPr/>
      <dgm:t>
        <a:bodyPr/>
        <a:lstStyle/>
        <a:p>
          <a:endParaRPr lang="en-US"/>
        </a:p>
      </dgm:t>
    </dgm:pt>
    <dgm:pt modelId="{13D8CEB5-40B8-4366-AC23-307E1081BB67}" type="sibTrans" cxnId="{FC60ADF2-9191-4BF4-AC10-88E98E0FE98E}">
      <dgm:prSet/>
      <dgm:spPr/>
      <dgm:t>
        <a:bodyPr/>
        <a:lstStyle/>
        <a:p>
          <a:endParaRPr lang="en-US"/>
        </a:p>
      </dgm:t>
    </dgm:pt>
    <dgm:pt modelId="{8B3D756C-03E8-4D41-B495-4F5CA3A4051B}">
      <dgm:prSet/>
      <dgm:spPr/>
      <dgm:t>
        <a:bodyPr/>
        <a:lstStyle/>
        <a:p>
          <a:r>
            <a:rPr lang="en-US"/>
            <a:t>Associated with Meig syndrome (ovarian fibroma + ascites + pleural effusion)</a:t>
          </a:r>
        </a:p>
      </dgm:t>
    </dgm:pt>
    <dgm:pt modelId="{4BB452C2-2FF7-4A33-9C6A-CD8FE44C3435}" type="parTrans" cxnId="{7FBEECF9-05A4-41D6-8CCC-F653832A6C18}">
      <dgm:prSet/>
      <dgm:spPr/>
      <dgm:t>
        <a:bodyPr/>
        <a:lstStyle/>
        <a:p>
          <a:endParaRPr lang="en-US"/>
        </a:p>
      </dgm:t>
    </dgm:pt>
    <dgm:pt modelId="{DC350B32-85CF-490B-AC0D-84895EEC3ED2}" type="sibTrans" cxnId="{7FBEECF9-05A4-41D6-8CCC-F653832A6C18}">
      <dgm:prSet/>
      <dgm:spPr/>
      <dgm:t>
        <a:bodyPr/>
        <a:lstStyle/>
        <a:p>
          <a:endParaRPr lang="en-US"/>
        </a:p>
      </dgm:t>
    </dgm:pt>
    <dgm:pt modelId="{81EC5733-5CEE-A445-93F3-91866A7C857D}">
      <dgm:prSet/>
      <dgm:spPr/>
      <dgm:t>
        <a:bodyPr/>
        <a:lstStyle/>
        <a:p>
          <a:r>
            <a:rPr lang="en-US" dirty="0"/>
            <a:t>Usually adolescents</a:t>
          </a:r>
        </a:p>
      </dgm:t>
    </dgm:pt>
    <dgm:pt modelId="{D88188BD-3C04-FC44-9752-BD0B10011163}" type="parTrans" cxnId="{016AB606-772A-EF40-B701-8CBD40D8FB47}">
      <dgm:prSet/>
      <dgm:spPr/>
      <dgm:t>
        <a:bodyPr/>
        <a:lstStyle/>
        <a:p>
          <a:endParaRPr lang="en-US"/>
        </a:p>
      </dgm:t>
    </dgm:pt>
    <dgm:pt modelId="{28980B3F-FFA5-C54E-9957-A8D2038FE47B}" type="sibTrans" cxnId="{016AB606-772A-EF40-B701-8CBD40D8FB47}">
      <dgm:prSet/>
      <dgm:spPr/>
      <dgm:t>
        <a:bodyPr/>
        <a:lstStyle/>
        <a:p>
          <a:endParaRPr lang="en-US"/>
        </a:p>
      </dgm:t>
    </dgm:pt>
    <dgm:pt modelId="{DA412B08-9031-F342-9A7F-BDD60EBE933D}">
      <dgm:prSet/>
      <dgm:spPr/>
      <dgm:t>
        <a:bodyPr/>
        <a:lstStyle/>
        <a:p>
          <a:r>
            <a:rPr lang="en-US" dirty="0"/>
            <a:t>Juvenile and Adult types</a:t>
          </a:r>
        </a:p>
      </dgm:t>
    </dgm:pt>
    <dgm:pt modelId="{0D4A14A8-F1E8-0243-8E05-D463B95A1FED}" type="parTrans" cxnId="{6B1259B0-C56A-594F-92B7-BC7D05EC06A9}">
      <dgm:prSet/>
      <dgm:spPr/>
    </dgm:pt>
    <dgm:pt modelId="{A0DAA312-494E-1C49-B471-B0F6070186CB}" type="sibTrans" cxnId="{6B1259B0-C56A-594F-92B7-BC7D05EC06A9}">
      <dgm:prSet/>
      <dgm:spPr/>
    </dgm:pt>
    <dgm:pt modelId="{09643670-2FE8-6346-9894-A9623FE7F021}" type="pres">
      <dgm:prSet presAssocID="{CCE2AC68-F928-4F33-BDE4-5ABC0747E570}" presName="Name0" presStyleCnt="0">
        <dgm:presLayoutVars>
          <dgm:dir/>
          <dgm:animLvl val="lvl"/>
          <dgm:resizeHandles val="exact"/>
        </dgm:presLayoutVars>
      </dgm:prSet>
      <dgm:spPr/>
    </dgm:pt>
    <dgm:pt modelId="{8D15637E-4576-2646-A608-FD96806C8A4A}" type="pres">
      <dgm:prSet presAssocID="{0DC84F5C-6C58-4F4A-8742-B6D5838CEC15}" presName="linNode" presStyleCnt="0"/>
      <dgm:spPr/>
    </dgm:pt>
    <dgm:pt modelId="{249ABEF9-EF6F-1243-B02C-71140359389C}" type="pres">
      <dgm:prSet presAssocID="{0DC84F5C-6C58-4F4A-8742-B6D5838CEC15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79CAD67-BDBE-C648-AA13-745DDA9B6082}" type="pres">
      <dgm:prSet presAssocID="{0DC84F5C-6C58-4F4A-8742-B6D5838CEC15}" presName="descendantText" presStyleLbl="alignAccFollowNode1" presStyleIdx="0" presStyleCnt="4">
        <dgm:presLayoutVars>
          <dgm:bulletEnabled val="1"/>
        </dgm:presLayoutVars>
      </dgm:prSet>
      <dgm:spPr/>
    </dgm:pt>
    <dgm:pt modelId="{117B5FC2-00BC-754D-8DE9-47A703CF80B7}" type="pres">
      <dgm:prSet presAssocID="{B6DDBE4B-3704-43E3-A52D-1C33DB705DA2}" presName="sp" presStyleCnt="0"/>
      <dgm:spPr/>
    </dgm:pt>
    <dgm:pt modelId="{F274B133-1822-A641-AF51-EC7364BEBC32}" type="pres">
      <dgm:prSet presAssocID="{58B2621E-1E99-4687-B8BC-043DA4DD5167}" presName="linNode" presStyleCnt="0"/>
      <dgm:spPr/>
    </dgm:pt>
    <dgm:pt modelId="{4026B0A1-58BD-AF4F-8490-FBC5B8026FC1}" type="pres">
      <dgm:prSet presAssocID="{58B2621E-1E99-4687-B8BC-043DA4DD516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B108611-B338-2849-BE0B-B746150CAAD5}" type="pres">
      <dgm:prSet presAssocID="{58B2621E-1E99-4687-B8BC-043DA4DD5167}" presName="descendantText" presStyleLbl="alignAccFollowNode1" presStyleIdx="1" presStyleCnt="4">
        <dgm:presLayoutVars>
          <dgm:bulletEnabled val="1"/>
        </dgm:presLayoutVars>
      </dgm:prSet>
      <dgm:spPr/>
    </dgm:pt>
    <dgm:pt modelId="{362F3B1B-9D66-D14C-B1F2-0DE19B815CC8}" type="pres">
      <dgm:prSet presAssocID="{5F49FE5D-E531-424B-AE7C-4296128D45D9}" presName="sp" presStyleCnt="0"/>
      <dgm:spPr/>
    </dgm:pt>
    <dgm:pt modelId="{46F33D95-59B2-AD43-8D4E-ED5F62F97BDD}" type="pres">
      <dgm:prSet presAssocID="{C7CFC6F8-1639-4548-BB5C-10AEFA5D0EBD}" presName="linNode" presStyleCnt="0"/>
      <dgm:spPr/>
    </dgm:pt>
    <dgm:pt modelId="{107006A9-DDB1-5240-82B1-ADF4D6E253EA}" type="pres">
      <dgm:prSet presAssocID="{C7CFC6F8-1639-4548-BB5C-10AEFA5D0EB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4904D86-5BF7-1D47-A7A6-D3E95236117C}" type="pres">
      <dgm:prSet presAssocID="{C7CFC6F8-1639-4548-BB5C-10AEFA5D0EBD}" presName="descendantText" presStyleLbl="alignAccFollowNode1" presStyleIdx="2" presStyleCnt="4">
        <dgm:presLayoutVars>
          <dgm:bulletEnabled val="1"/>
        </dgm:presLayoutVars>
      </dgm:prSet>
      <dgm:spPr/>
    </dgm:pt>
    <dgm:pt modelId="{61767083-7EC9-EC42-9F29-282E5958CEAE}" type="pres">
      <dgm:prSet presAssocID="{76B10F51-EA17-4E7F-B89D-3EA8316DACE7}" presName="sp" presStyleCnt="0"/>
      <dgm:spPr/>
    </dgm:pt>
    <dgm:pt modelId="{27B4A06C-C4C3-7E43-BCF4-FF1AE7AD415D}" type="pres">
      <dgm:prSet presAssocID="{5E1A119E-A11D-432A-A668-C508AFDE28BA}" presName="linNode" presStyleCnt="0"/>
      <dgm:spPr/>
    </dgm:pt>
    <dgm:pt modelId="{168E4FEB-7043-6847-856C-3ADB874908BF}" type="pres">
      <dgm:prSet presAssocID="{5E1A119E-A11D-432A-A668-C508AFDE28BA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0E257E8A-037C-7846-9247-6A3B00B24B0F}" type="pres">
      <dgm:prSet presAssocID="{5E1A119E-A11D-432A-A668-C508AFDE28BA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016AB606-772A-EF40-B701-8CBD40D8FB47}" srcId="{C7CFC6F8-1639-4548-BB5C-10AEFA5D0EBD}" destId="{81EC5733-5CEE-A445-93F3-91866A7C857D}" srcOrd="1" destOrd="0" parTransId="{D88188BD-3C04-FC44-9752-BD0B10011163}" sibTransId="{28980B3F-FFA5-C54E-9957-A8D2038FE47B}"/>
    <dgm:cxn modelId="{F96DD90A-0E86-8740-8D71-49158B63891A}" type="presOf" srcId="{5E1A119E-A11D-432A-A668-C508AFDE28BA}" destId="{168E4FEB-7043-6847-856C-3ADB874908BF}" srcOrd="0" destOrd="0" presId="urn:microsoft.com/office/officeart/2005/8/layout/vList5"/>
    <dgm:cxn modelId="{CC8AE60D-51BB-42A1-A57C-0B5D913C035B}" srcId="{CCE2AC68-F928-4F33-BDE4-5ABC0747E570}" destId="{58B2621E-1E99-4687-B8BC-043DA4DD5167}" srcOrd="1" destOrd="0" parTransId="{50A24097-0D08-40AB-8FBD-28A126EC457F}" sibTransId="{5F49FE5D-E531-424B-AE7C-4296128D45D9}"/>
    <dgm:cxn modelId="{A32FA01D-EF58-4314-8AC0-955B181D66B8}" srcId="{CCE2AC68-F928-4F33-BDE4-5ABC0747E570}" destId="{C7CFC6F8-1639-4548-BB5C-10AEFA5D0EBD}" srcOrd="2" destOrd="0" parTransId="{813901FA-229D-42F6-8FA7-4878CD368E3E}" sibTransId="{76B10F51-EA17-4E7F-B89D-3EA8316DACE7}"/>
    <dgm:cxn modelId="{1A7BEB21-7CD5-45A8-891F-4FDF52E697FE}" srcId="{0DC84F5C-6C58-4F4A-8742-B6D5838CEC15}" destId="{1B1B972A-E78C-4A73-A034-86F5CBE4B4A5}" srcOrd="0" destOrd="0" parTransId="{42428275-BA8B-4118-B5E6-DC41018F0069}" sibTransId="{FF3323C5-56DA-4A5C-97CC-6B68A71C5D3F}"/>
    <dgm:cxn modelId="{2A511724-43A7-5249-A372-F56D3739B42D}" type="presOf" srcId="{E2BFAB7B-8BC5-49A1-A34C-F26A7C993C21}" destId="{A4904D86-5BF7-1D47-A7A6-D3E95236117C}" srcOrd="0" destOrd="2" presId="urn:microsoft.com/office/officeart/2005/8/layout/vList5"/>
    <dgm:cxn modelId="{E95AF527-889D-8F48-9CDD-C9A932012348}" type="presOf" srcId="{8B3D756C-03E8-4D41-B495-4F5CA3A4051B}" destId="{0E257E8A-037C-7846-9247-6A3B00B24B0F}" srcOrd="0" destOrd="1" presId="urn:microsoft.com/office/officeart/2005/8/layout/vList5"/>
    <dgm:cxn modelId="{79C8E828-FF5A-E343-83B8-0999C95167FF}" type="presOf" srcId="{C7CFC6F8-1639-4548-BB5C-10AEFA5D0EBD}" destId="{107006A9-DDB1-5240-82B1-ADF4D6E253EA}" srcOrd="0" destOrd="0" presId="urn:microsoft.com/office/officeart/2005/8/layout/vList5"/>
    <dgm:cxn modelId="{6E9AEA2B-610A-7F46-81FA-F86133C2EBF1}" type="presOf" srcId="{58B2621E-1E99-4687-B8BC-043DA4DD5167}" destId="{4026B0A1-58BD-AF4F-8490-FBC5B8026FC1}" srcOrd="0" destOrd="0" presId="urn:microsoft.com/office/officeart/2005/8/layout/vList5"/>
    <dgm:cxn modelId="{4E7B7832-E19A-444A-8A20-B514B51361F5}" srcId="{58B2621E-1E99-4687-B8BC-043DA4DD5167}" destId="{ED5CFC57-A71C-4468-8922-A274629712CA}" srcOrd="3" destOrd="0" parTransId="{91B63DFA-0E14-4E37-BAD4-68C93796F0BA}" sibTransId="{20105C93-02A1-487D-83E0-BCCD8DD4951A}"/>
    <dgm:cxn modelId="{E7A35861-8AEC-4E48-9751-8BF521ED8F5B}" srcId="{CCE2AC68-F928-4F33-BDE4-5ABC0747E570}" destId="{0DC84F5C-6C58-4F4A-8742-B6D5838CEC15}" srcOrd="0" destOrd="0" parTransId="{45170D62-E2FA-4075-A2D0-5A26F7D7BC76}" sibTransId="{B6DDBE4B-3704-43E3-A52D-1C33DB705DA2}"/>
    <dgm:cxn modelId="{CBFD0B67-5B4C-4C98-B8E7-2AC39CEFE482}" srcId="{C7CFC6F8-1639-4548-BB5C-10AEFA5D0EBD}" destId="{E2BFAB7B-8BC5-49A1-A34C-F26A7C993C21}" srcOrd="2" destOrd="0" parTransId="{2D281B0F-D887-4CC1-A08C-AB0A4DA71987}" sibTransId="{A77B8CBA-EBE9-44F2-B389-3FB9C89EDD41}"/>
    <dgm:cxn modelId="{7FA56468-51C5-4F16-9822-941801C0CEB8}" srcId="{C7CFC6F8-1639-4548-BB5C-10AEFA5D0EBD}" destId="{BFDC8F48-0F75-4D7D-A802-E00DB29E269C}" srcOrd="0" destOrd="0" parTransId="{468380F7-4A76-4E99-BF4C-656CAE8B8A98}" sibTransId="{CAF77996-34DD-4301-A484-7761F8FFC55C}"/>
    <dgm:cxn modelId="{1677D868-047A-924F-9C37-564C491E7798}" type="presOf" srcId="{ED5CFC57-A71C-4468-8922-A274629712CA}" destId="{9B108611-B338-2849-BE0B-B746150CAAD5}" srcOrd="0" destOrd="3" presId="urn:microsoft.com/office/officeart/2005/8/layout/vList5"/>
    <dgm:cxn modelId="{BB66BC6E-0717-4FE0-80B7-52BF8CDBE0FC}" srcId="{CCE2AC68-F928-4F33-BDE4-5ABC0747E570}" destId="{5E1A119E-A11D-432A-A668-C508AFDE28BA}" srcOrd="3" destOrd="0" parTransId="{89C496BC-9ACB-4A70-BAB1-AA332B05135F}" sibTransId="{4078DDA4-A27F-4BDD-9EB8-2C6DE0FB278D}"/>
    <dgm:cxn modelId="{45D94A74-E7CA-EF47-A16D-6CDCC4B377EA}" type="presOf" srcId="{F8943FEE-97BC-43A2-8ABD-6DA87F31570D}" destId="{979CAD67-BDBE-C648-AA13-745DDA9B6082}" srcOrd="0" destOrd="1" presId="urn:microsoft.com/office/officeart/2005/8/layout/vList5"/>
    <dgm:cxn modelId="{9F01E076-3DC3-DD42-93FD-6C155B18457E}" type="presOf" srcId="{E20142A5-C33C-4B09-94B6-64C26962467D}" destId="{9B108611-B338-2849-BE0B-B746150CAAD5}" srcOrd="0" destOrd="0" presId="urn:microsoft.com/office/officeart/2005/8/layout/vList5"/>
    <dgm:cxn modelId="{594AA279-DEC3-784E-8B53-171418D5CF2C}" type="presOf" srcId="{BFDC8F48-0F75-4D7D-A802-E00DB29E269C}" destId="{A4904D86-5BF7-1D47-A7A6-D3E95236117C}" srcOrd="0" destOrd="0" presId="urn:microsoft.com/office/officeart/2005/8/layout/vList5"/>
    <dgm:cxn modelId="{BCB3CE7C-CC7A-9C4B-A4C7-ECB57A43D26E}" type="presOf" srcId="{81EC5733-5CEE-A445-93F3-91866A7C857D}" destId="{A4904D86-5BF7-1D47-A7A6-D3E95236117C}" srcOrd="0" destOrd="1" presId="urn:microsoft.com/office/officeart/2005/8/layout/vList5"/>
    <dgm:cxn modelId="{9661E896-3BBA-F14D-B811-3C2081BEC5C7}" type="presOf" srcId="{1B1B972A-E78C-4A73-A034-86F5CBE4B4A5}" destId="{979CAD67-BDBE-C648-AA13-745DDA9B6082}" srcOrd="0" destOrd="0" presId="urn:microsoft.com/office/officeart/2005/8/layout/vList5"/>
    <dgm:cxn modelId="{0A6417A8-9435-B644-BE8B-8713E72884F7}" type="presOf" srcId="{DA412B08-9031-F342-9A7F-BDD60EBE933D}" destId="{9B108611-B338-2849-BE0B-B746150CAAD5}" srcOrd="0" destOrd="1" presId="urn:microsoft.com/office/officeart/2005/8/layout/vList5"/>
    <dgm:cxn modelId="{7CFB1DB0-B73F-4E4E-8CD2-160AD5B98372}" srcId="{58B2621E-1E99-4687-B8BC-043DA4DD5167}" destId="{E20142A5-C33C-4B09-94B6-64C26962467D}" srcOrd="0" destOrd="0" parTransId="{A6A7F692-D54B-4BCB-9365-E88EE0E341C5}" sibTransId="{F130C50F-3683-4D1B-80C1-567160056A9E}"/>
    <dgm:cxn modelId="{6B1259B0-C56A-594F-92B7-BC7D05EC06A9}" srcId="{58B2621E-1E99-4687-B8BC-043DA4DD5167}" destId="{DA412B08-9031-F342-9A7F-BDD60EBE933D}" srcOrd="1" destOrd="0" parTransId="{0D4A14A8-F1E8-0243-8E05-D463B95A1FED}" sibTransId="{A0DAA312-494E-1C49-B471-B0F6070186CB}"/>
    <dgm:cxn modelId="{E6D36ABA-8290-446A-90A4-0B8CB4ED5843}" srcId="{58B2621E-1E99-4687-B8BC-043DA4DD5167}" destId="{06E2EDB5-FDFF-4BD3-BD55-610F99B524F6}" srcOrd="2" destOrd="0" parTransId="{1806014A-1592-4AC9-886D-34DC7E5AABF1}" sibTransId="{7785CA6F-48C8-40EF-969F-3B234E5763C4}"/>
    <dgm:cxn modelId="{1156AABA-DBB9-314F-9868-E37B15C44958}" type="presOf" srcId="{06E2EDB5-FDFF-4BD3-BD55-610F99B524F6}" destId="{9B108611-B338-2849-BE0B-B746150CAAD5}" srcOrd="0" destOrd="2" presId="urn:microsoft.com/office/officeart/2005/8/layout/vList5"/>
    <dgm:cxn modelId="{B9FC63DE-A522-D24C-B999-F49DEC6F9AE3}" type="presOf" srcId="{0DC84F5C-6C58-4F4A-8742-B6D5838CEC15}" destId="{249ABEF9-EF6F-1243-B02C-71140359389C}" srcOrd="0" destOrd="0" presId="urn:microsoft.com/office/officeart/2005/8/layout/vList5"/>
    <dgm:cxn modelId="{D26F0AED-1CBD-40CE-AB87-53CB9853066B}" srcId="{0DC84F5C-6C58-4F4A-8742-B6D5838CEC15}" destId="{F8943FEE-97BC-43A2-8ABD-6DA87F31570D}" srcOrd="1" destOrd="0" parTransId="{12EEEC01-4289-4008-8A87-43EE8F2A9AA7}" sibTransId="{D03AA429-E9C5-471A-8F36-627099CF59A5}"/>
    <dgm:cxn modelId="{BFEFCBED-C486-6F43-B530-F5E0B05E47A1}" type="presOf" srcId="{CCE2AC68-F928-4F33-BDE4-5ABC0747E570}" destId="{09643670-2FE8-6346-9894-A9623FE7F021}" srcOrd="0" destOrd="0" presId="urn:microsoft.com/office/officeart/2005/8/layout/vList5"/>
    <dgm:cxn modelId="{FC60ADF2-9191-4BF4-AC10-88E98E0FE98E}" srcId="{5E1A119E-A11D-432A-A668-C508AFDE28BA}" destId="{D5799444-9B74-4ABA-AF2E-F3A99995127E}" srcOrd="0" destOrd="0" parTransId="{7EE95885-B022-4A43-895A-55812436A60B}" sibTransId="{13D8CEB5-40B8-4366-AC23-307E1081BB67}"/>
    <dgm:cxn modelId="{0CAC9EF3-BBA3-0140-98C4-27EFCA6BF074}" type="presOf" srcId="{D5799444-9B74-4ABA-AF2E-F3A99995127E}" destId="{0E257E8A-037C-7846-9247-6A3B00B24B0F}" srcOrd="0" destOrd="0" presId="urn:microsoft.com/office/officeart/2005/8/layout/vList5"/>
    <dgm:cxn modelId="{7FBEECF9-05A4-41D6-8CCC-F653832A6C18}" srcId="{5E1A119E-A11D-432A-A668-C508AFDE28BA}" destId="{8B3D756C-03E8-4D41-B495-4F5CA3A4051B}" srcOrd="1" destOrd="0" parTransId="{4BB452C2-2FF7-4A33-9C6A-CD8FE44C3435}" sibTransId="{DC350B32-85CF-490B-AC0D-84895EEC3ED2}"/>
    <dgm:cxn modelId="{7DBFD8AC-94DE-3A4E-9CC8-E21F034DCFFD}" type="presParOf" srcId="{09643670-2FE8-6346-9894-A9623FE7F021}" destId="{8D15637E-4576-2646-A608-FD96806C8A4A}" srcOrd="0" destOrd="0" presId="urn:microsoft.com/office/officeart/2005/8/layout/vList5"/>
    <dgm:cxn modelId="{DF90BFD2-F6B6-7D4C-8FF4-4DFE4E2B5C2C}" type="presParOf" srcId="{8D15637E-4576-2646-A608-FD96806C8A4A}" destId="{249ABEF9-EF6F-1243-B02C-71140359389C}" srcOrd="0" destOrd="0" presId="urn:microsoft.com/office/officeart/2005/8/layout/vList5"/>
    <dgm:cxn modelId="{AC7276E7-2E1C-0746-8984-7E590A23947E}" type="presParOf" srcId="{8D15637E-4576-2646-A608-FD96806C8A4A}" destId="{979CAD67-BDBE-C648-AA13-745DDA9B6082}" srcOrd="1" destOrd="0" presId="urn:microsoft.com/office/officeart/2005/8/layout/vList5"/>
    <dgm:cxn modelId="{5B00011B-9906-2945-BAFD-0566D49C42DE}" type="presParOf" srcId="{09643670-2FE8-6346-9894-A9623FE7F021}" destId="{117B5FC2-00BC-754D-8DE9-47A703CF80B7}" srcOrd="1" destOrd="0" presId="urn:microsoft.com/office/officeart/2005/8/layout/vList5"/>
    <dgm:cxn modelId="{455B357E-93C2-7644-BB0B-0727F778A1E7}" type="presParOf" srcId="{09643670-2FE8-6346-9894-A9623FE7F021}" destId="{F274B133-1822-A641-AF51-EC7364BEBC32}" srcOrd="2" destOrd="0" presId="urn:microsoft.com/office/officeart/2005/8/layout/vList5"/>
    <dgm:cxn modelId="{4142F43E-C85C-2F40-929C-774F6FC6CAB5}" type="presParOf" srcId="{F274B133-1822-A641-AF51-EC7364BEBC32}" destId="{4026B0A1-58BD-AF4F-8490-FBC5B8026FC1}" srcOrd="0" destOrd="0" presId="urn:microsoft.com/office/officeart/2005/8/layout/vList5"/>
    <dgm:cxn modelId="{012F2DAD-75F2-4449-89BC-A2E6BE84A3C8}" type="presParOf" srcId="{F274B133-1822-A641-AF51-EC7364BEBC32}" destId="{9B108611-B338-2849-BE0B-B746150CAAD5}" srcOrd="1" destOrd="0" presId="urn:microsoft.com/office/officeart/2005/8/layout/vList5"/>
    <dgm:cxn modelId="{2BFB8580-6BB4-D64C-B6E5-4F405E838319}" type="presParOf" srcId="{09643670-2FE8-6346-9894-A9623FE7F021}" destId="{362F3B1B-9D66-D14C-B1F2-0DE19B815CC8}" srcOrd="3" destOrd="0" presId="urn:microsoft.com/office/officeart/2005/8/layout/vList5"/>
    <dgm:cxn modelId="{7D7E9BCF-E13E-7047-BCF2-49A297D635A1}" type="presParOf" srcId="{09643670-2FE8-6346-9894-A9623FE7F021}" destId="{46F33D95-59B2-AD43-8D4E-ED5F62F97BDD}" srcOrd="4" destOrd="0" presId="urn:microsoft.com/office/officeart/2005/8/layout/vList5"/>
    <dgm:cxn modelId="{68AFD231-D68F-A349-A017-8A1BD2D33D63}" type="presParOf" srcId="{46F33D95-59B2-AD43-8D4E-ED5F62F97BDD}" destId="{107006A9-DDB1-5240-82B1-ADF4D6E253EA}" srcOrd="0" destOrd="0" presId="urn:microsoft.com/office/officeart/2005/8/layout/vList5"/>
    <dgm:cxn modelId="{EE0C9D84-32C6-F845-B76E-E542FA853926}" type="presParOf" srcId="{46F33D95-59B2-AD43-8D4E-ED5F62F97BDD}" destId="{A4904D86-5BF7-1D47-A7A6-D3E95236117C}" srcOrd="1" destOrd="0" presId="urn:microsoft.com/office/officeart/2005/8/layout/vList5"/>
    <dgm:cxn modelId="{BA1B8C40-1DA8-2D4A-AC8E-EBDA1E43DF66}" type="presParOf" srcId="{09643670-2FE8-6346-9894-A9623FE7F021}" destId="{61767083-7EC9-EC42-9F29-282E5958CEAE}" srcOrd="5" destOrd="0" presId="urn:microsoft.com/office/officeart/2005/8/layout/vList5"/>
    <dgm:cxn modelId="{6CB4332B-BDD0-F44E-8344-660461AA18F0}" type="presParOf" srcId="{09643670-2FE8-6346-9894-A9623FE7F021}" destId="{27B4A06C-C4C3-7E43-BCF4-FF1AE7AD415D}" srcOrd="6" destOrd="0" presId="urn:microsoft.com/office/officeart/2005/8/layout/vList5"/>
    <dgm:cxn modelId="{4616D439-3833-4046-BB33-DEDCA42E5DF0}" type="presParOf" srcId="{27B4A06C-C4C3-7E43-BCF4-FF1AE7AD415D}" destId="{168E4FEB-7043-6847-856C-3ADB874908BF}" srcOrd="0" destOrd="0" presId="urn:microsoft.com/office/officeart/2005/8/layout/vList5"/>
    <dgm:cxn modelId="{D28BA727-F1D1-D74F-AD04-4094AA9EE828}" type="presParOf" srcId="{27B4A06C-C4C3-7E43-BCF4-FF1AE7AD415D}" destId="{0E257E8A-037C-7846-9247-6A3B00B24B0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0D00C-FD16-F943-AB50-F464115809EC}">
      <dsp:nvSpPr>
        <dsp:cNvPr id="0" name=""/>
        <dsp:cNvSpPr/>
      </dsp:nvSpPr>
      <dsp:spPr>
        <a:xfrm>
          <a:off x="1988" y="1694076"/>
          <a:ext cx="1939099" cy="7257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Serous cystadenoma</a:t>
          </a:r>
        </a:p>
      </dsp:txBody>
      <dsp:txXfrm>
        <a:off x="1988" y="1694076"/>
        <a:ext cx="1939099" cy="725729"/>
      </dsp:txXfrm>
    </dsp:sp>
    <dsp:sp modelId="{8C4E3BE5-12CA-874A-BCF4-A3C734609749}">
      <dsp:nvSpPr>
        <dsp:cNvPr id="0" name=""/>
        <dsp:cNvSpPr/>
      </dsp:nvSpPr>
      <dsp:spPr>
        <a:xfrm>
          <a:off x="1988" y="2419805"/>
          <a:ext cx="1939099" cy="139995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Most common ovarian neoplasm</a:t>
          </a:r>
        </a:p>
      </dsp:txBody>
      <dsp:txXfrm>
        <a:off x="1988" y="2419805"/>
        <a:ext cx="1939099" cy="1399950"/>
      </dsp:txXfrm>
    </dsp:sp>
    <dsp:sp modelId="{142D55BB-E472-E647-AEFC-1AA23C835444}">
      <dsp:nvSpPr>
        <dsp:cNvPr id="0" name=""/>
        <dsp:cNvSpPr/>
      </dsp:nvSpPr>
      <dsp:spPr>
        <a:xfrm>
          <a:off x="2212562" y="1694076"/>
          <a:ext cx="1939099" cy="725729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Mucinous cystadenoma</a:t>
          </a:r>
        </a:p>
      </dsp:txBody>
      <dsp:txXfrm>
        <a:off x="2212562" y="1694076"/>
        <a:ext cx="1939099" cy="725729"/>
      </dsp:txXfrm>
    </dsp:sp>
    <dsp:sp modelId="{9F735343-9994-B34A-A7CC-83493983DCC7}">
      <dsp:nvSpPr>
        <dsp:cNvPr id="0" name=""/>
        <dsp:cNvSpPr/>
      </dsp:nvSpPr>
      <dsp:spPr>
        <a:xfrm>
          <a:off x="2212562" y="2419805"/>
          <a:ext cx="1939099" cy="1399950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DB952-F023-1745-8CD1-9DC070726CA8}">
      <dsp:nvSpPr>
        <dsp:cNvPr id="0" name=""/>
        <dsp:cNvSpPr/>
      </dsp:nvSpPr>
      <dsp:spPr>
        <a:xfrm>
          <a:off x="4423135" y="1694076"/>
          <a:ext cx="1939099" cy="725729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Brenner (usually benign)</a:t>
          </a:r>
        </a:p>
      </dsp:txBody>
      <dsp:txXfrm>
        <a:off x="4423135" y="1694076"/>
        <a:ext cx="1939099" cy="725729"/>
      </dsp:txXfrm>
    </dsp:sp>
    <dsp:sp modelId="{0ADCD12B-66ED-2542-8C14-75360755D6C1}">
      <dsp:nvSpPr>
        <dsp:cNvPr id="0" name=""/>
        <dsp:cNvSpPr/>
      </dsp:nvSpPr>
      <dsp:spPr>
        <a:xfrm>
          <a:off x="4423135" y="2419805"/>
          <a:ext cx="1939099" cy="1399950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Coffee bean nuclei</a:t>
          </a:r>
        </a:p>
      </dsp:txBody>
      <dsp:txXfrm>
        <a:off x="4423135" y="2419805"/>
        <a:ext cx="1939099" cy="13999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0DCC6-CEEB-FB48-A858-798EA4712A70}">
      <dsp:nvSpPr>
        <dsp:cNvPr id="0" name=""/>
        <dsp:cNvSpPr/>
      </dsp:nvSpPr>
      <dsp:spPr>
        <a:xfrm rot="5400000">
          <a:off x="3796750" y="-1370139"/>
          <a:ext cx="1061843" cy="407310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Most common malignant ovarian neoplasm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Psammoma bodies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Thought to be derived from fallopian tube </a:t>
          </a:r>
        </a:p>
      </dsp:txBody>
      <dsp:txXfrm rot="-5400000">
        <a:off x="2291121" y="187325"/>
        <a:ext cx="4021268" cy="958173"/>
      </dsp:txXfrm>
    </dsp:sp>
    <dsp:sp modelId="{8B896BA4-4FF9-1047-8F02-428BD9EBF3F8}">
      <dsp:nvSpPr>
        <dsp:cNvPr id="0" name=""/>
        <dsp:cNvSpPr/>
      </dsp:nvSpPr>
      <dsp:spPr>
        <a:xfrm>
          <a:off x="0" y="2759"/>
          <a:ext cx="2291120" cy="1327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Serous cystadenocarcinoma</a:t>
          </a:r>
        </a:p>
      </dsp:txBody>
      <dsp:txXfrm>
        <a:off x="64794" y="67553"/>
        <a:ext cx="2161532" cy="1197716"/>
      </dsp:txXfrm>
    </dsp:sp>
    <dsp:sp modelId="{540C4183-946F-5548-B45F-BCEBDBB581CE}">
      <dsp:nvSpPr>
        <dsp:cNvPr id="0" name=""/>
        <dsp:cNvSpPr/>
      </dsp:nvSpPr>
      <dsp:spPr>
        <a:xfrm rot="5400000">
          <a:off x="3796750" y="23529"/>
          <a:ext cx="1061843" cy="4073103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May be metastatic from Gi tumor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Risk factors: smoking</a:t>
          </a:r>
        </a:p>
      </dsp:txBody>
      <dsp:txXfrm rot="-5400000">
        <a:off x="2291121" y="1580994"/>
        <a:ext cx="4021268" cy="958173"/>
      </dsp:txXfrm>
    </dsp:sp>
    <dsp:sp modelId="{7E3A2633-8882-7543-883F-1E9E3C271AC0}">
      <dsp:nvSpPr>
        <dsp:cNvPr id="0" name=""/>
        <dsp:cNvSpPr/>
      </dsp:nvSpPr>
      <dsp:spPr>
        <a:xfrm>
          <a:off x="0" y="1396429"/>
          <a:ext cx="2291120" cy="1327304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Mucinous cystadenocarcinoma</a:t>
          </a:r>
        </a:p>
      </dsp:txBody>
      <dsp:txXfrm>
        <a:off x="64794" y="1461223"/>
        <a:ext cx="2161532" cy="1197716"/>
      </dsp:txXfrm>
    </dsp:sp>
    <dsp:sp modelId="{3051269B-8078-FD40-8B67-3B556A34535E}">
      <dsp:nvSpPr>
        <dsp:cNvPr id="0" name=""/>
        <dsp:cNvSpPr/>
      </dsp:nvSpPr>
      <dsp:spPr>
        <a:xfrm rot="5400000">
          <a:off x="3796750" y="1417199"/>
          <a:ext cx="1061843" cy="4073103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Risk factors: endometriosis and Lynch syndrome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Thought to be derived from endometrium</a:t>
          </a:r>
        </a:p>
      </dsp:txBody>
      <dsp:txXfrm rot="-5400000">
        <a:off x="2291121" y="2974664"/>
        <a:ext cx="4021268" cy="958173"/>
      </dsp:txXfrm>
    </dsp:sp>
    <dsp:sp modelId="{227FC12B-AE0D-4E49-9280-198373B61F65}">
      <dsp:nvSpPr>
        <dsp:cNvPr id="0" name=""/>
        <dsp:cNvSpPr/>
      </dsp:nvSpPr>
      <dsp:spPr>
        <a:xfrm>
          <a:off x="0" y="2790098"/>
          <a:ext cx="2291120" cy="1327304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Endometrioid</a:t>
          </a:r>
        </a:p>
      </dsp:txBody>
      <dsp:txXfrm>
        <a:off x="64794" y="2854892"/>
        <a:ext cx="2161532" cy="1197716"/>
      </dsp:txXfrm>
    </dsp:sp>
    <dsp:sp modelId="{D947C50D-3C5A-D94B-BBA5-4603A16BFCEE}">
      <dsp:nvSpPr>
        <dsp:cNvPr id="0" name=""/>
        <dsp:cNvSpPr/>
      </dsp:nvSpPr>
      <dsp:spPr>
        <a:xfrm>
          <a:off x="0" y="4183768"/>
          <a:ext cx="2291120" cy="1327304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Clear Cell</a:t>
          </a:r>
        </a:p>
      </dsp:txBody>
      <dsp:txXfrm>
        <a:off x="64794" y="4248562"/>
        <a:ext cx="2161532" cy="11977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CAD67-BDBE-C648-AA13-745DDA9B6082}">
      <dsp:nvSpPr>
        <dsp:cNvPr id="0" name=""/>
        <dsp:cNvSpPr/>
      </dsp:nvSpPr>
      <dsp:spPr>
        <a:xfrm rot="5400000">
          <a:off x="3796750" y="-1370139"/>
          <a:ext cx="1061843" cy="407310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Benign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Produces estrogen</a:t>
          </a:r>
        </a:p>
      </dsp:txBody>
      <dsp:txXfrm rot="-5400000">
        <a:off x="2291121" y="187325"/>
        <a:ext cx="4021268" cy="958173"/>
      </dsp:txXfrm>
    </dsp:sp>
    <dsp:sp modelId="{249ABEF9-EF6F-1243-B02C-71140359389C}">
      <dsp:nvSpPr>
        <dsp:cNvPr id="0" name=""/>
        <dsp:cNvSpPr/>
      </dsp:nvSpPr>
      <dsp:spPr>
        <a:xfrm>
          <a:off x="0" y="2759"/>
          <a:ext cx="2291120" cy="1327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Thecoma</a:t>
          </a:r>
        </a:p>
      </dsp:txBody>
      <dsp:txXfrm>
        <a:off x="64794" y="67553"/>
        <a:ext cx="2161532" cy="1197716"/>
      </dsp:txXfrm>
    </dsp:sp>
    <dsp:sp modelId="{9B108611-B338-2849-BE0B-B746150CAAD5}">
      <dsp:nvSpPr>
        <dsp:cNvPr id="0" name=""/>
        <dsp:cNvSpPr/>
      </dsp:nvSpPr>
      <dsp:spPr>
        <a:xfrm rot="5400000">
          <a:off x="3796750" y="23529"/>
          <a:ext cx="1061843" cy="4073103"/>
        </a:xfrm>
        <a:prstGeom prst="round2Same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Malignant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Juvenile and Adult types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Produces estrogen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Call-Exner bodies</a:t>
          </a:r>
        </a:p>
      </dsp:txBody>
      <dsp:txXfrm rot="-5400000">
        <a:off x="2291121" y="1580994"/>
        <a:ext cx="4021268" cy="958173"/>
      </dsp:txXfrm>
    </dsp:sp>
    <dsp:sp modelId="{4026B0A1-58BD-AF4F-8490-FBC5B8026FC1}">
      <dsp:nvSpPr>
        <dsp:cNvPr id="0" name=""/>
        <dsp:cNvSpPr/>
      </dsp:nvSpPr>
      <dsp:spPr>
        <a:xfrm>
          <a:off x="0" y="1396429"/>
          <a:ext cx="2291120" cy="1327304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Granulosa cell tumor</a:t>
          </a:r>
        </a:p>
      </dsp:txBody>
      <dsp:txXfrm>
        <a:off x="64794" y="1461223"/>
        <a:ext cx="2161532" cy="1197716"/>
      </dsp:txXfrm>
    </dsp:sp>
    <dsp:sp modelId="{A4904D86-5BF7-1D47-A7A6-D3E95236117C}">
      <dsp:nvSpPr>
        <dsp:cNvPr id="0" name=""/>
        <dsp:cNvSpPr/>
      </dsp:nvSpPr>
      <dsp:spPr>
        <a:xfrm rot="5400000">
          <a:off x="3796750" y="1417199"/>
          <a:ext cx="1061843" cy="4073103"/>
        </a:xfrm>
        <a:prstGeom prst="round2Same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Benign or malignant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Usually adolescents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Produces androgens</a:t>
          </a:r>
        </a:p>
      </dsp:txBody>
      <dsp:txXfrm rot="-5400000">
        <a:off x="2291121" y="2974664"/>
        <a:ext cx="4021268" cy="958173"/>
      </dsp:txXfrm>
    </dsp:sp>
    <dsp:sp modelId="{107006A9-DDB1-5240-82B1-ADF4D6E253EA}">
      <dsp:nvSpPr>
        <dsp:cNvPr id="0" name=""/>
        <dsp:cNvSpPr/>
      </dsp:nvSpPr>
      <dsp:spPr>
        <a:xfrm>
          <a:off x="0" y="2790098"/>
          <a:ext cx="2291120" cy="1327304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Sertoli-Leydig tumor</a:t>
          </a:r>
        </a:p>
      </dsp:txBody>
      <dsp:txXfrm>
        <a:off x="64794" y="2854892"/>
        <a:ext cx="2161532" cy="1197716"/>
      </dsp:txXfrm>
    </dsp:sp>
    <dsp:sp modelId="{0E257E8A-037C-7846-9247-6A3B00B24B0F}">
      <dsp:nvSpPr>
        <dsp:cNvPr id="0" name=""/>
        <dsp:cNvSpPr/>
      </dsp:nvSpPr>
      <dsp:spPr>
        <a:xfrm rot="5400000">
          <a:off x="3796750" y="2810868"/>
          <a:ext cx="1061843" cy="4073103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Benign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Associated with Meig syndrome (ovarian fibroma + ascites + pleural effusion)</a:t>
          </a:r>
        </a:p>
      </dsp:txBody>
      <dsp:txXfrm rot="-5400000">
        <a:off x="2291121" y="4368333"/>
        <a:ext cx="4021268" cy="958173"/>
      </dsp:txXfrm>
    </dsp:sp>
    <dsp:sp modelId="{168E4FEB-7043-6847-856C-3ADB874908BF}">
      <dsp:nvSpPr>
        <dsp:cNvPr id="0" name=""/>
        <dsp:cNvSpPr/>
      </dsp:nvSpPr>
      <dsp:spPr>
        <a:xfrm>
          <a:off x="0" y="4183768"/>
          <a:ext cx="2291120" cy="1327304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Fibroma</a:t>
          </a:r>
        </a:p>
      </dsp:txBody>
      <dsp:txXfrm>
        <a:off x="64794" y="4248562"/>
        <a:ext cx="2161532" cy="1197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C263-5D98-DA44-B2A5-E91F07EB3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F61F0-B7F5-D04C-B4C8-197E42A79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C3E62-1B11-1F05-7462-82C03899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864EF-4CEC-C7FC-9FB3-06EEBC62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29CFF-2403-699F-A4F1-C8ED6A89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9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1599B-03B4-080B-E5CF-D386FA06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29554-52B8-9BEF-C0A8-B7EB83A50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9CF55-24CA-C102-6B1D-5EBC69E8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96824-6397-8020-0883-23B24368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1677E-CC26-6777-6449-50A5DA3C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2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03F8-B5CC-E0A9-973E-52F5F8B97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EC7DE-E5B3-E020-C870-E836A3439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BD101-CB01-4ABE-7038-4EC2E002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01567-EEAF-2C68-6F38-3151D57D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B4665-E1DF-DFED-5E15-AB40BAC8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2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38B5-BC5A-3A61-3B47-48E63A65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361C8-2B21-36DF-8E89-7A0729B83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D5637-1253-998F-A262-DB949A08E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66E79-27E8-2CE9-924D-EE9EFDF0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6103C-FFEE-1B42-DC2D-4552D5C2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80225-4F92-A3A4-92E3-B3B60834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6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2712-3753-E796-C37D-2D68B706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3DAC5-8A1F-D718-FFF7-0AA20447D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1A0EB-E6DA-7D8F-1E05-AE219E1CC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AE68E-6B61-A8CB-B23D-3F41741F9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E030D-F91E-C829-A5E3-67A1E44B1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610F0-97F3-C914-EA65-1E731B011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A5253A-4F7D-BB45-EED5-C01DA7517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8A1B6-225A-B996-8CDD-B1E9F36A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4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ACD2-95F5-364C-39D8-0068051A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4C60-DB4C-4DE6-F1F3-F100982ED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E5343-6A12-9976-AB57-73510B23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D13ED-30FC-3EF0-CCF3-B17C6F47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7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145D5-668C-2828-0402-E92957D0B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A8517-B4CE-66E6-71C4-0B86BBED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435F0-395F-96C5-5833-2D3D1DA5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91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2BCE-447B-E2C3-0980-273F2297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E12AA-8E8C-0B18-072A-C4C9D91A4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613D4-5C60-4CA1-F3D2-D039C0F7C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52B05-C601-0690-9139-DE6C8D5C1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1F2CC-BC65-7D35-E201-572FE315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A00E6-E0BE-AFC6-831C-1C8AF520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47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0367-0DA6-F53C-D0AE-B01156BE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80CFA6-190B-E66D-858C-A6DB47B9F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D2A27-AC05-FFC4-86F8-81CEDCC39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332F7-508B-E07E-313F-EC642ACD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3D5F7-BD08-9895-0F25-F5EE187D3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273D9-5FF0-2468-BB5C-504B45CE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46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031B-54EF-3E04-6DD6-11B495FE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88B1D-074A-AD2B-3063-53BEC972C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8B11A-F1FB-E573-B6A5-2E4223FCB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F6BAF-E2F0-DED4-4B76-CEF7AF7E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9AD47-F33F-89DE-5FDD-06CA5EEE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74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82A4E3-55CD-62B1-2471-579D972B8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6FCD3-84BB-F931-3439-88683B44C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5916-9488-14AE-D5D4-AA4CC303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DFD55-E711-29D4-CAEA-EE28604FE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64423-184A-BD8E-C685-CB3369C6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09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A18374-4746-3F31-A0A4-E00E0423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AC8B6-2BBA-DF37-2EC7-0097B7E00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32CA7-4369-D24E-B307-4D581894C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98C3E-BEB0-C64E-B75E-3B881A4B308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2FE32-0E9B-F065-DA7C-5D9C5B6FB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A6106-D2B5-D8AC-7979-9C2306CDF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2F0F9-D2A2-CD44-BAEC-ED083169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6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2A42-F946-7424-03CB-77ABA9F4D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Adnexal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796EB-0F62-2200-D0A5-BE87FF397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+mj-lt"/>
              </a:rPr>
              <a:t>Masses</a:t>
            </a:r>
          </a:p>
        </p:txBody>
      </p:sp>
    </p:spTree>
    <p:extLst>
      <p:ext uri="{BB962C8B-B14F-4D97-AF65-F5344CB8AC3E}">
        <p14:creationId xmlns:p14="http://schemas.microsoft.com/office/powerpoint/2010/main" val="869503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086B-DEBB-74B8-EF4B-E5904CBE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Adnexal Masses</a:t>
            </a:r>
          </a:p>
        </p:txBody>
      </p:sp>
      <p:pic>
        <p:nvPicPr>
          <p:cNvPr id="5" name="Content Placeholder 4" descr="A close-up of a uterus&#10;&#10;Description automatically generated">
            <a:extLst>
              <a:ext uri="{FF2B5EF4-FFF2-40B4-BE49-F238E27FC236}">
                <a16:creationId xmlns:a16="http://schemas.microsoft.com/office/drawing/2014/main" id="{AC301E45-9553-D078-8CA2-FBC847432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8600" y="2001044"/>
            <a:ext cx="6654800" cy="4000500"/>
          </a:xfr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F66B3A1E-2265-BC5D-EC0B-C8339F1DB43C}"/>
              </a:ext>
            </a:extLst>
          </p:cNvPr>
          <p:cNvSpPr/>
          <p:nvPr/>
        </p:nvSpPr>
        <p:spPr>
          <a:xfrm>
            <a:off x="3185652" y="2153265"/>
            <a:ext cx="2064774" cy="2359741"/>
          </a:xfrm>
          <a:prstGeom prst="frame">
            <a:avLst>
              <a:gd name="adj1" fmla="val 3929"/>
            </a:avLst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30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9695B-8F60-C77A-D48E-B2954AEA1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Non-Ovarian Adnexal Masses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77E8A-4F67-6CBA-F555-BD0CC98D0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Hydrosalpinx</a:t>
            </a:r>
          </a:p>
          <a:p>
            <a:r>
              <a:rPr lang="en-US"/>
              <a:t>Tubo-ovarian abscess</a:t>
            </a:r>
          </a:p>
          <a:p>
            <a:r>
              <a:rPr lang="en-US"/>
              <a:t>Ectopic pregnancy</a:t>
            </a:r>
          </a:p>
          <a:p>
            <a:r>
              <a:rPr lang="en-US"/>
              <a:t>Paratubal cyst</a:t>
            </a:r>
          </a:p>
          <a:p>
            <a:r>
              <a:rPr lang="en-US"/>
              <a:t>GI-related masses</a:t>
            </a:r>
            <a:endParaRPr lang="en-US" dirty="0"/>
          </a:p>
        </p:txBody>
      </p:sp>
      <p:pic>
        <p:nvPicPr>
          <p:cNvPr id="1026" name="Picture 2" descr="Ovarian Cysts | Children's Hospital Colorado">
            <a:extLst>
              <a:ext uri="{FF2B5EF4-FFF2-40B4-BE49-F238E27FC236}">
                <a16:creationId xmlns:a16="http://schemas.microsoft.com/office/drawing/2014/main" id="{9E024630-7D98-CED6-D86B-937F975660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5" t="9931" r="40000" b="67456"/>
          <a:stretch/>
        </p:blipFill>
        <p:spPr bwMode="auto">
          <a:xfrm>
            <a:off x="5198807" y="4251494"/>
            <a:ext cx="6477000" cy="179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Avoid Ectopic Pregnancy With IVF?">
            <a:extLst>
              <a:ext uri="{FF2B5EF4-FFF2-40B4-BE49-F238E27FC236}">
                <a16:creationId xmlns:a16="http://schemas.microsoft.com/office/drawing/2014/main" id="{87A0D486-25DA-15B7-FB44-F4A6168C51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3586" b="40215"/>
          <a:stretch/>
        </p:blipFill>
        <p:spPr bwMode="auto">
          <a:xfrm>
            <a:off x="609600" y="4630064"/>
            <a:ext cx="5486400" cy="179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ydrosalpinx : Symptoms, Causes, and Treatment">
            <a:extLst>
              <a:ext uri="{FF2B5EF4-FFF2-40B4-BE49-F238E27FC236}">
                <a16:creationId xmlns:a16="http://schemas.microsoft.com/office/drawing/2014/main" id="{49813C8A-7032-8324-073B-98A580AD8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490" y="1227246"/>
            <a:ext cx="4898923" cy="326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ubo-ovarian Abscess">
            <a:extLst>
              <a:ext uri="{FF2B5EF4-FFF2-40B4-BE49-F238E27FC236}">
                <a16:creationId xmlns:a16="http://schemas.microsoft.com/office/drawing/2014/main" id="{35E7A6AD-EE73-23E1-7D48-C4D3543CEC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73" t="60125" r="9118"/>
          <a:stretch/>
        </p:blipFill>
        <p:spPr bwMode="auto">
          <a:xfrm>
            <a:off x="7698659" y="1926625"/>
            <a:ext cx="4198374" cy="232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408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9695B-8F60-C77A-D48E-B2954AEA1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Ovarian Adnexal Masses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77E8A-4F67-6CBA-F555-BD0CC98D0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Cyst</a:t>
            </a:r>
          </a:p>
          <a:p>
            <a:r>
              <a:rPr lang="en-US" dirty="0"/>
              <a:t>Corpus Luteum</a:t>
            </a:r>
          </a:p>
          <a:p>
            <a:r>
              <a:rPr lang="en-US" dirty="0"/>
              <a:t>Hemorrhagic cyst</a:t>
            </a:r>
          </a:p>
          <a:p>
            <a:r>
              <a:rPr lang="en-US" dirty="0"/>
              <a:t>Endometrioma</a:t>
            </a:r>
          </a:p>
        </p:txBody>
      </p:sp>
      <p:pic>
        <p:nvPicPr>
          <p:cNvPr id="2050" name="Picture 2" descr="EPOS&amp;trade;">
            <a:extLst>
              <a:ext uri="{FF2B5EF4-FFF2-40B4-BE49-F238E27FC236}">
                <a16:creationId xmlns:a16="http://schemas.microsoft.com/office/drawing/2014/main" id="{4CB2D807-EE51-7B2D-F54F-6C23A7C125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11" t="9931" r="21506" b="40215"/>
          <a:stretch/>
        </p:blipFill>
        <p:spPr bwMode="auto">
          <a:xfrm>
            <a:off x="6754761" y="1333186"/>
            <a:ext cx="3746091" cy="252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varian Cysts">
            <a:extLst>
              <a:ext uri="{FF2B5EF4-FFF2-40B4-BE49-F238E27FC236}">
                <a16:creationId xmlns:a16="http://schemas.microsoft.com/office/drawing/2014/main" id="{2E6B8BC3-006C-E62A-D120-E0F50767C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5" t="19823" r="38215" b="34623"/>
          <a:stretch/>
        </p:blipFill>
        <p:spPr bwMode="auto">
          <a:xfrm>
            <a:off x="363794" y="3881509"/>
            <a:ext cx="2810796" cy="261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atchful waiting' with routine ultrasound safer than removing benign ovarian  cysts, study suggests - USF Health NewsUSF Health News">
            <a:extLst>
              <a:ext uri="{FF2B5EF4-FFF2-40B4-BE49-F238E27FC236}">
                <a16:creationId xmlns:a16="http://schemas.microsoft.com/office/drawing/2014/main" id="{5FC932DF-E3C5-3927-3D6F-3BA57F029B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91" t="9262" r="19291" b="19370"/>
          <a:stretch/>
        </p:blipFill>
        <p:spPr bwMode="auto">
          <a:xfrm>
            <a:off x="3174590" y="3895841"/>
            <a:ext cx="3105765" cy="276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Endometrioma of ovary : r/Endo">
            <a:extLst>
              <a:ext uri="{FF2B5EF4-FFF2-40B4-BE49-F238E27FC236}">
                <a16:creationId xmlns:a16="http://schemas.microsoft.com/office/drawing/2014/main" id="{B060F6DC-9EAA-2729-C937-0CFC368DE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0" t="22788" r="13150" b="28875"/>
          <a:stretch/>
        </p:blipFill>
        <p:spPr bwMode="auto">
          <a:xfrm>
            <a:off x="6096000" y="3881509"/>
            <a:ext cx="6136019" cy="276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4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cell division&#10;&#10;Description automatically generated">
            <a:extLst>
              <a:ext uri="{FF2B5EF4-FFF2-40B4-BE49-F238E27FC236}">
                <a16:creationId xmlns:a16="http://schemas.microsoft.com/office/drawing/2014/main" id="{1E3A12B3-60CA-1BC2-34AA-143AFD9F3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7" y="1245067"/>
            <a:ext cx="9760867" cy="5485830"/>
          </a:xfrm>
          <a:prstGeom prst="rect">
            <a:avLst/>
          </a:prstGeom>
        </p:spPr>
      </p:pic>
      <p:pic>
        <p:nvPicPr>
          <p:cNvPr id="4" name="Picture 3" descr="A white cloud with blue circles and pink dots&#10;&#10;Description automatically generated">
            <a:extLst>
              <a:ext uri="{FF2B5EF4-FFF2-40B4-BE49-F238E27FC236}">
                <a16:creationId xmlns:a16="http://schemas.microsoft.com/office/drawing/2014/main" id="{CDFCF698-65FC-A401-88D1-62C889972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364" y="1341600"/>
            <a:ext cx="6711302" cy="5282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096650-E5DB-8B44-83E5-F95CD317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Ovarian Cells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7AB566-4EDD-453E-8D42-80210736F551}"/>
              </a:ext>
            </a:extLst>
          </p:cNvPr>
          <p:cNvCxnSpPr>
            <a:cxnSpLocks/>
          </p:cNvCxnSpPr>
          <p:nvPr/>
        </p:nvCxnSpPr>
        <p:spPr>
          <a:xfrm flipH="1">
            <a:off x="6853766" y="1527108"/>
            <a:ext cx="817034" cy="6333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59098C-E953-FB06-CB5C-EBB3A0163A77}"/>
              </a:ext>
            </a:extLst>
          </p:cNvPr>
          <p:cNvCxnSpPr>
            <a:cxnSpLocks/>
          </p:cNvCxnSpPr>
          <p:nvPr/>
        </p:nvCxnSpPr>
        <p:spPr>
          <a:xfrm>
            <a:off x="3352800" y="1732855"/>
            <a:ext cx="160867" cy="8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930D84-76D4-C5E6-5B41-0925123FAB35}"/>
              </a:ext>
            </a:extLst>
          </p:cNvPr>
          <p:cNvSpPr txBox="1"/>
          <p:nvPr/>
        </p:nvSpPr>
        <p:spPr>
          <a:xfrm>
            <a:off x="7670800" y="1341600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Epithelium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8EDA41-0351-5409-DF64-B1E600B2760E}"/>
              </a:ext>
            </a:extLst>
          </p:cNvPr>
          <p:cNvSpPr txBox="1"/>
          <p:nvPr/>
        </p:nvSpPr>
        <p:spPr>
          <a:xfrm>
            <a:off x="2573867" y="1425078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Germ cell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EBD13F-B47B-5EDD-D281-35D62DC18DDF}"/>
              </a:ext>
            </a:extLst>
          </p:cNvPr>
          <p:cNvSpPr txBox="1"/>
          <p:nvPr/>
        </p:nvSpPr>
        <p:spPr>
          <a:xfrm>
            <a:off x="2483497" y="4697967"/>
            <a:ext cx="2399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Sex-cord and</a:t>
            </a:r>
          </a:p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 stroma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9CAB64-F4E0-69A5-D99B-C067A00D8613}"/>
              </a:ext>
            </a:extLst>
          </p:cNvPr>
          <p:cNvCxnSpPr>
            <a:cxnSpLocks/>
          </p:cNvCxnSpPr>
          <p:nvPr/>
        </p:nvCxnSpPr>
        <p:spPr>
          <a:xfrm>
            <a:off x="3513667" y="5127347"/>
            <a:ext cx="9398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50CBEC-1D60-8D6D-779C-6A2011C6529E}"/>
              </a:ext>
            </a:extLst>
          </p:cNvPr>
          <p:cNvCxnSpPr>
            <a:cxnSpLocks/>
          </p:cNvCxnSpPr>
          <p:nvPr/>
        </p:nvCxnSpPr>
        <p:spPr>
          <a:xfrm>
            <a:off x="3513667" y="5127347"/>
            <a:ext cx="1079587" cy="3055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5082D0-096F-3615-93BC-139D50E9D23B}"/>
              </a:ext>
            </a:extLst>
          </p:cNvPr>
          <p:cNvCxnSpPr>
            <a:cxnSpLocks/>
          </p:cNvCxnSpPr>
          <p:nvPr/>
        </p:nvCxnSpPr>
        <p:spPr>
          <a:xfrm flipV="1">
            <a:off x="3513667" y="4775202"/>
            <a:ext cx="1017469" cy="3521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25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diagram of cell division&#10;&#10;Description automatically generated">
            <a:extLst>
              <a:ext uri="{FF2B5EF4-FFF2-40B4-BE49-F238E27FC236}">
                <a16:creationId xmlns:a16="http://schemas.microsoft.com/office/drawing/2014/main" id="{7125EDE5-F3CF-C81F-D941-AA8E8E602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7" y="1245067"/>
            <a:ext cx="9760867" cy="5485830"/>
          </a:xfrm>
          <a:prstGeom prst="rect">
            <a:avLst/>
          </a:prstGeom>
        </p:spPr>
      </p:pic>
      <p:pic>
        <p:nvPicPr>
          <p:cNvPr id="4" name="Picture 3" descr="A white cloud with blue circles and pink dots&#10;&#10;Description automatically generated">
            <a:extLst>
              <a:ext uri="{FF2B5EF4-FFF2-40B4-BE49-F238E27FC236}">
                <a16:creationId xmlns:a16="http://schemas.microsoft.com/office/drawing/2014/main" id="{CDFCF698-65FC-A401-88D1-62C889972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364" y="1341600"/>
            <a:ext cx="6711302" cy="5282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096650-E5DB-8B44-83E5-F95CD317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Ovarian Tumors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7AB566-4EDD-453E-8D42-80210736F551}"/>
              </a:ext>
            </a:extLst>
          </p:cNvPr>
          <p:cNvCxnSpPr>
            <a:cxnSpLocks/>
          </p:cNvCxnSpPr>
          <p:nvPr/>
        </p:nvCxnSpPr>
        <p:spPr>
          <a:xfrm flipH="1">
            <a:off x="6853766" y="1527108"/>
            <a:ext cx="817034" cy="6333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59098C-E953-FB06-CB5C-EBB3A0163A77}"/>
              </a:ext>
            </a:extLst>
          </p:cNvPr>
          <p:cNvCxnSpPr>
            <a:cxnSpLocks/>
          </p:cNvCxnSpPr>
          <p:nvPr/>
        </p:nvCxnSpPr>
        <p:spPr>
          <a:xfrm>
            <a:off x="3352800" y="1732855"/>
            <a:ext cx="160867" cy="8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930D84-76D4-C5E6-5B41-0925123FAB35}"/>
              </a:ext>
            </a:extLst>
          </p:cNvPr>
          <p:cNvSpPr txBox="1"/>
          <p:nvPr/>
        </p:nvSpPr>
        <p:spPr>
          <a:xfrm>
            <a:off x="7670800" y="1341600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Epithelial cell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8EDA41-0351-5409-DF64-B1E600B2760E}"/>
              </a:ext>
            </a:extLst>
          </p:cNvPr>
          <p:cNvSpPr txBox="1"/>
          <p:nvPr/>
        </p:nvSpPr>
        <p:spPr>
          <a:xfrm>
            <a:off x="2573867" y="1425078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Germ cell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EBD13F-B47B-5EDD-D281-35D62DC18DDF}"/>
              </a:ext>
            </a:extLst>
          </p:cNvPr>
          <p:cNvSpPr txBox="1"/>
          <p:nvPr/>
        </p:nvSpPr>
        <p:spPr>
          <a:xfrm>
            <a:off x="2515895" y="4785127"/>
            <a:ext cx="1428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Sex-cord-</a:t>
            </a:r>
          </a:p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stromal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9CAB64-F4E0-69A5-D99B-C067A00D8613}"/>
              </a:ext>
            </a:extLst>
          </p:cNvPr>
          <p:cNvCxnSpPr>
            <a:cxnSpLocks/>
          </p:cNvCxnSpPr>
          <p:nvPr/>
        </p:nvCxnSpPr>
        <p:spPr>
          <a:xfrm>
            <a:off x="3513667" y="5127347"/>
            <a:ext cx="9398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50CBEC-1D60-8D6D-779C-6A2011C6529E}"/>
              </a:ext>
            </a:extLst>
          </p:cNvPr>
          <p:cNvCxnSpPr>
            <a:cxnSpLocks/>
          </p:cNvCxnSpPr>
          <p:nvPr/>
        </p:nvCxnSpPr>
        <p:spPr>
          <a:xfrm>
            <a:off x="3513667" y="5127347"/>
            <a:ext cx="1079587" cy="3055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5082D0-096F-3615-93BC-139D50E9D23B}"/>
              </a:ext>
            </a:extLst>
          </p:cNvPr>
          <p:cNvCxnSpPr>
            <a:cxnSpLocks/>
          </p:cNvCxnSpPr>
          <p:nvPr/>
        </p:nvCxnSpPr>
        <p:spPr>
          <a:xfrm flipV="1">
            <a:off x="3513667" y="4775202"/>
            <a:ext cx="1017469" cy="3521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204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838B-A943-FF3D-05DF-EB2A3DAC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1A1D-D8D4-2D39-2B15-5ADC5BF5B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Ovarian Cancer Health Guide | Symptoms, Types &amp; Treatment">
            <a:extLst>
              <a:ext uri="{FF2B5EF4-FFF2-40B4-BE49-F238E27FC236}">
                <a16:creationId xmlns:a16="http://schemas.microsoft.com/office/drawing/2014/main" id="{FCCB360E-AB86-7966-A5AC-5EA3ED41D0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75"/>
          <a:stretch/>
        </p:blipFill>
        <p:spPr bwMode="auto">
          <a:xfrm>
            <a:off x="636587" y="681037"/>
            <a:ext cx="10918825" cy="541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52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cell division&#10;&#10;Description automatically generated">
            <a:extLst>
              <a:ext uri="{FF2B5EF4-FFF2-40B4-BE49-F238E27FC236}">
                <a16:creationId xmlns:a16="http://schemas.microsoft.com/office/drawing/2014/main" id="{C4484B6B-5FD8-474A-9CB7-8A9A40AFE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7" y="1245067"/>
            <a:ext cx="9760867" cy="5485830"/>
          </a:xfrm>
          <a:prstGeom prst="rect">
            <a:avLst/>
          </a:prstGeom>
        </p:spPr>
      </p:pic>
      <p:pic>
        <p:nvPicPr>
          <p:cNvPr id="4" name="Picture 3" descr="A white cloud with blue circles and pink dots&#10;&#10;Description automatically generated">
            <a:extLst>
              <a:ext uri="{FF2B5EF4-FFF2-40B4-BE49-F238E27FC236}">
                <a16:creationId xmlns:a16="http://schemas.microsoft.com/office/drawing/2014/main" id="{CDFCF698-65FC-A401-88D1-62C889972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364" y="1341600"/>
            <a:ext cx="6711302" cy="5282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096650-E5DB-8B44-83E5-F95CD317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Ovarian Tumors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7AB566-4EDD-453E-8D42-80210736F551}"/>
              </a:ext>
            </a:extLst>
          </p:cNvPr>
          <p:cNvCxnSpPr>
            <a:cxnSpLocks/>
          </p:cNvCxnSpPr>
          <p:nvPr/>
        </p:nvCxnSpPr>
        <p:spPr>
          <a:xfrm flipH="1">
            <a:off x="6853766" y="1527108"/>
            <a:ext cx="817034" cy="6333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59098C-E953-FB06-CB5C-EBB3A0163A77}"/>
              </a:ext>
            </a:extLst>
          </p:cNvPr>
          <p:cNvCxnSpPr>
            <a:cxnSpLocks/>
          </p:cNvCxnSpPr>
          <p:nvPr/>
        </p:nvCxnSpPr>
        <p:spPr>
          <a:xfrm>
            <a:off x="3352800" y="1732855"/>
            <a:ext cx="160867" cy="8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930D84-76D4-C5E6-5B41-0925123FAB35}"/>
              </a:ext>
            </a:extLst>
          </p:cNvPr>
          <p:cNvSpPr txBox="1"/>
          <p:nvPr/>
        </p:nvSpPr>
        <p:spPr>
          <a:xfrm>
            <a:off x="7670800" y="1341600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Epithelial cell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8EDA41-0351-5409-DF64-B1E600B2760E}"/>
              </a:ext>
            </a:extLst>
          </p:cNvPr>
          <p:cNvSpPr txBox="1"/>
          <p:nvPr/>
        </p:nvSpPr>
        <p:spPr>
          <a:xfrm>
            <a:off x="2573867" y="1425078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Germ cell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EBD13F-B47B-5EDD-D281-35D62DC18DDF}"/>
              </a:ext>
            </a:extLst>
          </p:cNvPr>
          <p:cNvSpPr txBox="1"/>
          <p:nvPr/>
        </p:nvSpPr>
        <p:spPr>
          <a:xfrm>
            <a:off x="2515895" y="4785127"/>
            <a:ext cx="1428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Sex-cord-</a:t>
            </a:r>
          </a:p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stromal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9CAB64-F4E0-69A5-D99B-C067A00D8613}"/>
              </a:ext>
            </a:extLst>
          </p:cNvPr>
          <p:cNvCxnSpPr>
            <a:cxnSpLocks/>
          </p:cNvCxnSpPr>
          <p:nvPr/>
        </p:nvCxnSpPr>
        <p:spPr>
          <a:xfrm>
            <a:off x="3513667" y="5127347"/>
            <a:ext cx="9398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50CBEC-1D60-8D6D-779C-6A2011C6529E}"/>
              </a:ext>
            </a:extLst>
          </p:cNvPr>
          <p:cNvCxnSpPr>
            <a:cxnSpLocks/>
          </p:cNvCxnSpPr>
          <p:nvPr/>
        </p:nvCxnSpPr>
        <p:spPr>
          <a:xfrm>
            <a:off x="3513667" y="5127347"/>
            <a:ext cx="1079587" cy="3055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5082D0-096F-3615-93BC-139D50E9D23B}"/>
              </a:ext>
            </a:extLst>
          </p:cNvPr>
          <p:cNvCxnSpPr>
            <a:cxnSpLocks/>
          </p:cNvCxnSpPr>
          <p:nvPr/>
        </p:nvCxnSpPr>
        <p:spPr>
          <a:xfrm flipV="1">
            <a:off x="3513667" y="4775202"/>
            <a:ext cx="1017469" cy="3521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19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19517-00F6-8131-B7F3-D7E5261A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Benign Epithelial Ovarian Tumors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9014A8-2B91-BEB4-5774-5516A9E5C1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265386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5096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19517-00F6-8131-B7F3-D7E5261A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Malignant Epithelial Ovarian Tumors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BBF7FE-BEEE-26FB-9A4E-17B4D2D50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239736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7029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9517-00F6-8131-B7F3-D7E5261A7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Malignant Epithelial Ovarian Tumors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B58E7-B46F-CC57-27E1-2996AC432D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Most common in postmenopausal women</a:t>
            </a:r>
          </a:p>
          <a:p>
            <a:r>
              <a:rPr lang="en-US" dirty="0"/>
              <a:t>Comprise &gt;90% of ovarian cancers</a:t>
            </a:r>
          </a:p>
          <a:p>
            <a:r>
              <a:rPr lang="en-US" dirty="0"/>
              <a:t>Leading cause of gynecologic cancer related death</a:t>
            </a:r>
          </a:p>
          <a:p>
            <a:r>
              <a:rPr lang="en-US" dirty="0"/>
              <a:t>CA-125 is biomarker used for 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37D5A-53D7-E037-1E94-DA4F7BCEB5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Risk factors:</a:t>
            </a:r>
          </a:p>
          <a:p>
            <a:pPr lvl="1"/>
            <a:r>
              <a:rPr lang="en-US" dirty="0"/>
              <a:t>Advanced age</a:t>
            </a:r>
          </a:p>
          <a:p>
            <a:pPr lvl="1"/>
            <a:r>
              <a:rPr lang="en-US" dirty="0"/>
              <a:t>Early menarche and late menopause</a:t>
            </a:r>
          </a:p>
          <a:p>
            <a:pPr lvl="1"/>
            <a:r>
              <a:rPr lang="en-US" dirty="0"/>
              <a:t>Family history</a:t>
            </a:r>
          </a:p>
          <a:p>
            <a:pPr lvl="1"/>
            <a:r>
              <a:rPr lang="en-US" dirty="0"/>
              <a:t>Nulliparity</a:t>
            </a:r>
          </a:p>
          <a:p>
            <a:pPr lvl="1"/>
            <a:r>
              <a:rPr lang="en-US" dirty="0"/>
              <a:t>BRCA mutations</a:t>
            </a:r>
          </a:p>
          <a:p>
            <a:r>
              <a:rPr lang="en-US" dirty="0"/>
              <a:t>Protective factors:</a:t>
            </a:r>
          </a:p>
          <a:p>
            <a:pPr lvl="1"/>
            <a:r>
              <a:rPr lang="en-US" dirty="0"/>
              <a:t>Hormonal contraception use</a:t>
            </a:r>
          </a:p>
          <a:p>
            <a:pPr lvl="1"/>
            <a:r>
              <a:rPr lang="en-US" dirty="0"/>
              <a:t>Bilateral salpingectomy or tubal ligation</a:t>
            </a:r>
          </a:p>
          <a:p>
            <a:pPr lvl="1"/>
            <a:r>
              <a:rPr lang="en-US" dirty="0"/>
              <a:t>Breastfeeding</a:t>
            </a:r>
          </a:p>
          <a:p>
            <a:pPr lvl="1"/>
            <a:r>
              <a:rPr lang="en-US" dirty="0"/>
              <a:t>Multiparity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2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CB48-8611-0C0E-09E1-DCD0E4584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138F-367D-1599-0DBE-3022BB0B65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B1B1B"/>
                </a:solidFill>
                <a:effectLst/>
                <a:latin typeface="Open Sans" panose="020B0606030504020204" pitchFamily="34" charset="0"/>
              </a:rPr>
              <a:t>BRCA1: 39%–59% of women will develop ovarian cancer</a:t>
            </a:r>
          </a:p>
          <a:p>
            <a:r>
              <a:rPr lang="en-US" dirty="0">
                <a:solidFill>
                  <a:srgbClr val="1B1B1B"/>
                </a:solidFill>
                <a:latin typeface="Open Sans" panose="020B0606030504020204" pitchFamily="34" charset="0"/>
              </a:rPr>
              <a:t>BRCA2: </a:t>
            </a:r>
            <a:r>
              <a:rPr lang="en-US" b="0" i="0" dirty="0">
                <a:solidFill>
                  <a:srgbClr val="1B1B1B"/>
                </a:solidFill>
                <a:effectLst/>
                <a:latin typeface="Open Sans" panose="020B0606030504020204" pitchFamily="34" charset="0"/>
              </a:rPr>
              <a:t>11%–20% of women will develop ovarian cancer</a:t>
            </a:r>
          </a:p>
          <a:p>
            <a:r>
              <a:rPr lang="en-US" dirty="0">
                <a:solidFill>
                  <a:srgbClr val="1B1B1B"/>
                </a:solidFill>
                <a:latin typeface="Open Sans" panose="020B0606030504020204" pitchFamily="34" charset="0"/>
              </a:rPr>
              <a:t>General population: 1.1% of women will develop ovarian cancer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D6924-40B8-8B8B-C4A8-9E5156DD4E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Risk Reduction:</a:t>
            </a:r>
          </a:p>
          <a:p>
            <a:pPr lvl="1"/>
            <a:r>
              <a:rPr lang="en-US" dirty="0"/>
              <a:t>Oral contraceptives (lowers risk by ~50%)</a:t>
            </a:r>
          </a:p>
          <a:p>
            <a:pPr lvl="1"/>
            <a:r>
              <a:rPr lang="en-US" dirty="0"/>
              <a:t>Risk reducing bilateral </a:t>
            </a:r>
            <a:r>
              <a:rPr lang="en-US" dirty="0" err="1"/>
              <a:t>salpingo</a:t>
            </a:r>
            <a:r>
              <a:rPr lang="en-US" dirty="0"/>
              <a:t>-oophorectomy after age 35-40</a:t>
            </a:r>
          </a:p>
        </p:txBody>
      </p:sp>
    </p:spTree>
    <p:extLst>
      <p:ext uri="{BB962C8B-B14F-4D97-AF65-F5344CB8AC3E}">
        <p14:creationId xmlns:p14="http://schemas.microsoft.com/office/powerpoint/2010/main" val="3605164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cell division&#10;&#10;Description automatically generated">
            <a:extLst>
              <a:ext uri="{FF2B5EF4-FFF2-40B4-BE49-F238E27FC236}">
                <a16:creationId xmlns:a16="http://schemas.microsoft.com/office/drawing/2014/main" id="{B3838D7F-6FEF-2FD3-7998-15C5DFE33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7" y="1245067"/>
            <a:ext cx="9760867" cy="5485830"/>
          </a:xfrm>
          <a:prstGeom prst="rect">
            <a:avLst/>
          </a:prstGeom>
        </p:spPr>
      </p:pic>
      <p:pic>
        <p:nvPicPr>
          <p:cNvPr id="4" name="Picture 3" descr="A white cloud with blue circles and pink dots&#10;&#10;Description automatically generated">
            <a:extLst>
              <a:ext uri="{FF2B5EF4-FFF2-40B4-BE49-F238E27FC236}">
                <a16:creationId xmlns:a16="http://schemas.microsoft.com/office/drawing/2014/main" id="{CDFCF698-65FC-A401-88D1-62C889972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364" y="1341600"/>
            <a:ext cx="6711302" cy="5282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096650-E5DB-8B44-83E5-F95CD317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Ovarian Tumors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7AB566-4EDD-453E-8D42-80210736F551}"/>
              </a:ext>
            </a:extLst>
          </p:cNvPr>
          <p:cNvCxnSpPr>
            <a:cxnSpLocks/>
          </p:cNvCxnSpPr>
          <p:nvPr/>
        </p:nvCxnSpPr>
        <p:spPr>
          <a:xfrm flipH="1">
            <a:off x="6853766" y="1527108"/>
            <a:ext cx="817034" cy="6333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59098C-E953-FB06-CB5C-EBB3A0163A77}"/>
              </a:ext>
            </a:extLst>
          </p:cNvPr>
          <p:cNvCxnSpPr>
            <a:cxnSpLocks/>
          </p:cNvCxnSpPr>
          <p:nvPr/>
        </p:nvCxnSpPr>
        <p:spPr>
          <a:xfrm>
            <a:off x="3352800" y="1732855"/>
            <a:ext cx="160867" cy="8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930D84-76D4-C5E6-5B41-0925123FAB35}"/>
              </a:ext>
            </a:extLst>
          </p:cNvPr>
          <p:cNvSpPr txBox="1"/>
          <p:nvPr/>
        </p:nvSpPr>
        <p:spPr>
          <a:xfrm>
            <a:off x="7670800" y="1341600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Epithelial cell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8EDA41-0351-5409-DF64-B1E600B2760E}"/>
              </a:ext>
            </a:extLst>
          </p:cNvPr>
          <p:cNvSpPr txBox="1"/>
          <p:nvPr/>
        </p:nvSpPr>
        <p:spPr>
          <a:xfrm>
            <a:off x="2573867" y="1425078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Germ cell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EBD13F-B47B-5EDD-D281-35D62DC18DDF}"/>
              </a:ext>
            </a:extLst>
          </p:cNvPr>
          <p:cNvSpPr txBox="1"/>
          <p:nvPr/>
        </p:nvSpPr>
        <p:spPr>
          <a:xfrm>
            <a:off x="2515895" y="4785127"/>
            <a:ext cx="1428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Sex-cord-</a:t>
            </a:r>
          </a:p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stromal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9CAB64-F4E0-69A5-D99B-C067A00D8613}"/>
              </a:ext>
            </a:extLst>
          </p:cNvPr>
          <p:cNvCxnSpPr>
            <a:cxnSpLocks/>
          </p:cNvCxnSpPr>
          <p:nvPr/>
        </p:nvCxnSpPr>
        <p:spPr>
          <a:xfrm>
            <a:off x="3513667" y="5127347"/>
            <a:ext cx="9398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50CBEC-1D60-8D6D-779C-6A2011C6529E}"/>
              </a:ext>
            </a:extLst>
          </p:cNvPr>
          <p:cNvCxnSpPr>
            <a:cxnSpLocks/>
          </p:cNvCxnSpPr>
          <p:nvPr/>
        </p:nvCxnSpPr>
        <p:spPr>
          <a:xfrm>
            <a:off x="3513667" y="5127347"/>
            <a:ext cx="1079587" cy="3055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5082D0-096F-3615-93BC-139D50E9D23B}"/>
              </a:ext>
            </a:extLst>
          </p:cNvPr>
          <p:cNvCxnSpPr>
            <a:cxnSpLocks/>
          </p:cNvCxnSpPr>
          <p:nvPr/>
        </p:nvCxnSpPr>
        <p:spPr>
          <a:xfrm flipV="1">
            <a:off x="3513667" y="4775202"/>
            <a:ext cx="1017469" cy="3521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48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CC909-F618-2AD7-A08E-B97E97EA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Germ Cell Tumors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0BD1B-2D7A-6194-8528-122007F31A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Dysgerminoma</a:t>
            </a:r>
          </a:p>
          <a:p>
            <a:pPr lvl="1"/>
            <a:r>
              <a:rPr lang="en-US" dirty="0"/>
              <a:t>Malignant</a:t>
            </a:r>
          </a:p>
          <a:p>
            <a:pPr lvl="1"/>
            <a:r>
              <a:rPr lang="en-US" dirty="0"/>
              <a:t>Tumor markers: </a:t>
            </a:r>
            <a:r>
              <a:rPr lang="en-US" dirty="0" err="1"/>
              <a:t>hCG</a:t>
            </a:r>
            <a:r>
              <a:rPr lang="en-US" dirty="0"/>
              <a:t> and LDH</a:t>
            </a:r>
          </a:p>
          <a:p>
            <a:r>
              <a:rPr lang="en-US" dirty="0"/>
              <a:t>Mature teratoma (dermoid)</a:t>
            </a:r>
          </a:p>
          <a:p>
            <a:pPr lvl="1"/>
            <a:r>
              <a:rPr lang="en-US" dirty="0"/>
              <a:t>Benign</a:t>
            </a:r>
          </a:p>
          <a:p>
            <a:pPr lvl="1"/>
            <a:r>
              <a:rPr lang="en-US" dirty="0"/>
              <a:t>All 3 germ layers (</a:t>
            </a:r>
            <a:r>
              <a:rPr lang="en-US" dirty="0" err="1"/>
              <a:t>eg.</a:t>
            </a:r>
            <a:r>
              <a:rPr lang="en-US" dirty="0"/>
              <a:t> Teeth, hair, sebaceous material)</a:t>
            </a:r>
          </a:p>
          <a:p>
            <a:r>
              <a:rPr lang="en-US" dirty="0"/>
              <a:t>Immature teratoma</a:t>
            </a:r>
          </a:p>
          <a:p>
            <a:pPr lvl="1"/>
            <a:r>
              <a:rPr lang="en-US" dirty="0"/>
              <a:t>Malignant</a:t>
            </a:r>
          </a:p>
          <a:p>
            <a:pPr lvl="1"/>
            <a:r>
              <a:rPr lang="en-US" dirty="0"/>
              <a:t>Contains neuroectoderm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31ECF-9D15-DCCD-EB31-FFADB4AEB1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Yolk sac (endodermal sinus) tumor</a:t>
            </a:r>
          </a:p>
          <a:p>
            <a:pPr lvl="1"/>
            <a:r>
              <a:rPr lang="en-US" dirty="0"/>
              <a:t>Malignant</a:t>
            </a:r>
          </a:p>
          <a:p>
            <a:pPr lvl="1"/>
            <a:r>
              <a:rPr lang="en-US" dirty="0"/>
              <a:t>Schiller-Duval bodies</a:t>
            </a:r>
          </a:p>
          <a:p>
            <a:pPr lvl="1"/>
            <a:r>
              <a:rPr lang="en-US" dirty="0"/>
              <a:t>Tumor marker: AFP</a:t>
            </a:r>
          </a:p>
          <a:p>
            <a:r>
              <a:rPr lang="en-US" dirty="0"/>
              <a:t>Choriocarcinoma</a:t>
            </a:r>
          </a:p>
          <a:p>
            <a:pPr lvl="1"/>
            <a:r>
              <a:rPr lang="en-US" dirty="0"/>
              <a:t>Malignant</a:t>
            </a:r>
          </a:p>
          <a:p>
            <a:pPr lvl="1"/>
            <a:r>
              <a:rPr lang="en-US" dirty="0"/>
              <a:t>Tumor marker: </a:t>
            </a:r>
            <a:r>
              <a:rPr lang="en-US" dirty="0" err="1"/>
              <a:t>hCG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53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cell division&#10;&#10;Description automatically generated">
            <a:extLst>
              <a:ext uri="{FF2B5EF4-FFF2-40B4-BE49-F238E27FC236}">
                <a16:creationId xmlns:a16="http://schemas.microsoft.com/office/drawing/2014/main" id="{EE0DB3B7-997E-E23E-056E-92D1B28D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7" y="1245067"/>
            <a:ext cx="9760867" cy="5485830"/>
          </a:xfrm>
          <a:prstGeom prst="rect">
            <a:avLst/>
          </a:prstGeom>
        </p:spPr>
      </p:pic>
      <p:pic>
        <p:nvPicPr>
          <p:cNvPr id="4" name="Picture 3" descr="A white cloud with blue circles and pink dots&#10;&#10;Description automatically generated">
            <a:extLst>
              <a:ext uri="{FF2B5EF4-FFF2-40B4-BE49-F238E27FC236}">
                <a16:creationId xmlns:a16="http://schemas.microsoft.com/office/drawing/2014/main" id="{CDFCF698-65FC-A401-88D1-62C889972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364" y="1341600"/>
            <a:ext cx="6711302" cy="5282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096650-E5DB-8B44-83E5-F95CD317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Ovarian Tumors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7AB566-4EDD-453E-8D42-80210736F551}"/>
              </a:ext>
            </a:extLst>
          </p:cNvPr>
          <p:cNvCxnSpPr>
            <a:cxnSpLocks/>
          </p:cNvCxnSpPr>
          <p:nvPr/>
        </p:nvCxnSpPr>
        <p:spPr>
          <a:xfrm flipH="1">
            <a:off x="6853766" y="1527108"/>
            <a:ext cx="817034" cy="6333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59098C-E953-FB06-CB5C-EBB3A0163A77}"/>
              </a:ext>
            </a:extLst>
          </p:cNvPr>
          <p:cNvCxnSpPr>
            <a:cxnSpLocks/>
          </p:cNvCxnSpPr>
          <p:nvPr/>
        </p:nvCxnSpPr>
        <p:spPr>
          <a:xfrm>
            <a:off x="3352800" y="1732855"/>
            <a:ext cx="160867" cy="8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930D84-76D4-C5E6-5B41-0925123FAB35}"/>
              </a:ext>
            </a:extLst>
          </p:cNvPr>
          <p:cNvSpPr txBox="1"/>
          <p:nvPr/>
        </p:nvSpPr>
        <p:spPr>
          <a:xfrm>
            <a:off x="7670800" y="1341600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Epithelial cell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8EDA41-0351-5409-DF64-B1E600B2760E}"/>
              </a:ext>
            </a:extLst>
          </p:cNvPr>
          <p:cNvSpPr txBox="1"/>
          <p:nvPr/>
        </p:nvSpPr>
        <p:spPr>
          <a:xfrm>
            <a:off x="2573867" y="1425078"/>
            <a:ext cx="18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Germ cell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EBD13F-B47B-5EDD-D281-35D62DC18DDF}"/>
              </a:ext>
            </a:extLst>
          </p:cNvPr>
          <p:cNvSpPr txBox="1"/>
          <p:nvPr/>
        </p:nvSpPr>
        <p:spPr>
          <a:xfrm>
            <a:off x="2515895" y="4785127"/>
            <a:ext cx="1428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Sex-cord-</a:t>
            </a:r>
          </a:p>
          <a:p>
            <a:r>
              <a:rPr lang="en-US" sz="1400" dirty="0">
                <a:solidFill>
                  <a:schemeClr val="bg1"/>
                </a:solidFill>
                <a:latin typeface="Chalkduster" panose="03050602040202020205" pitchFamily="66" charset="77"/>
              </a:rPr>
              <a:t>stromal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9CAB64-F4E0-69A5-D99B-C067A00D8613}"/>
              </a:ext>
            </a:extLst>
          </p:cNvPr>
          <p:cNvCxnSpPr>
            <a:cxnSpLocks/>
          </p:cNvCxnSpPr>
          <p:nvPr/>
        </p:nvCxnSpPr>
        <p:spPr>
          <a:xfrm>
            <a:off x="3513667" y="5127347"/>
            <a:ext cx="9398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50CBEC-1D60-8D6D-779C-6A2011C6529E}"/>
              </a:ext>
            </a:extLst>
          </p:cNvPr>
          <p:cNvCxnSpPr>
            <a:cxnSpLocks/>
          </p:cNvCxnSpPr>
          <p:nvPr/>
        </p:nvCxnSpPr>
        <p:spPr>
          <a:xfrm>
            <a:off x="3513667" y="5127347"/>
            <a:ext cx="1079587" cy="3055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5082D0-096F-3615-93BC-139D50E9D23B}"/>
              </a:ext>
            </a:extLst>
          </p:cNvPr>
          <p:cNvCxnSpPr>
            <a:cxnSpLocks/>
          </p:cNvCxnSpPr>
          <p:nvPr/>
        </p:nvCxnSpPr>
        <p:spPr>
          <a:xfrm flipV="1">
            <a:off x="3513667" y="4775202"/>
            <a:ext cx="1017469" cy="3521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04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0B427-E098-7E1A-BB8B-68600AFE4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Sex-cord-stromal Tumors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5665DA-F133-6017-AAD0-5357EB1DA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60629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8999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350D-CDBD-925D-A04E-BDDAD877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Ovarian Torsion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B670-AA33-BED6-0C1C-32AD65652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Twisting of ovary along suspensory ligament (</a:t>
            </a:r>
            <a:r>
              <a:rPr lang="en-US" dirty="0" err="1"/>
              <a:t>infundibulopelvic</a:t>
            </a:r>
            <a:r>
              <a:rPr lang="en-US" dirty="0"/>
              <a:t> ligament) and utero-ovarian ligament results in occlusion of blood vessels to ovary</a:t>
            </a:r>
          </a:p>
          <a:p>
            <a:r>
              <a:rPr lang="en-US" dirty="0"/>
              <a:t>Considered gynecologic emergency in order to preserve ovarian function</a:t>
            </a:r>
          </a:p>
        </p:txBody>
      </p:sp>
      <p:pic>
        <p:nvPicPr>
          <p:cNvPr id="7170" name="Picture 2" descr="Large left ovarian cyst with bluish black oedematous tube after... |  Download Scientific Diagram">
            <a:extLst>
              <a:ext uri="{FF2B5EF4-FFF2-40B4-BE49-F238E27FC236}">
                <a16:creationId xmlns:a16="http://schemas.microsoft.com/office/drawing/2014/main" id="{59A976C4-7DE6-0DA4-C8D9-34AC440BC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3663563"/>
            <a:ext cx="5130800" cy="302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Jimi's blog | UK Consultant Gynaecologist &amp; Obstetrician">
            <a:extLst>
              <a:ext uri="{FF2B5EF4-FFF2-40B4-BE49-F238E27FC236}">
                <a16:creationId xmlns:a16="http://schemas.microsoft.com/office/drawing/2014/main" id="{443C87AA-C753-451D-5E18-C30B8C248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71" y="4012504"/>
            <a:ext cx="5779729" cy="26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64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10586</TotalTime>
  <Words>388</Words>
  <Application>Microsoft Office PowerPoint</Application>
  <PresentationFormat>Widescreen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Chalkduster</vt:lpstr>
      <vt:lpstr>Open Sans</vt:lpstr>
      <vt:lpstr>Office Theme</vt:lpstr>
      <vt:lpstr>Adnexal</vt:lpstr>
      <vt:lpstr>Adnexal Masses</vt:lpstr>
      <vt:lpstr>Non-Ovarian Adnexal Masses</vt:lpstr>
      <vt:lpstr>Common Ovarian Adnexal Masses</vt:lpstr>
      <vt:lpstr>Types of Ovarian Cells</vt:lpstr>
      <vt:lpstr>Types of Ovarian Tumors</vt:lpstr>
      <vt:lpstr>PowerPoint Presentation</vt:lpstr>
      <vt:lpstr>Types of Ovarian Tumors</vt:lpstr>
      <vt:lpstr>Benign Epithelial Ovarian Tumors</vt:lpstr>
      <vt:lpstr>Malignant Epithelial Ovarian Tumors</vt:lpstr>
      <vt:lpstr>Malignant Epithelial Ovarian Tumors</vt:lpstr>
      <vt:lpstr>BRCA</vt:lpstr>
      <vt:lpstr>Types of Ovarian Tumors</vt:lpstr>
      <vt:lpstr>Germ Cell Tumors</vt:lpstr>
      <vt:lpstr>Types of Ovarian Tumors</vt:lpstr>
      <vt:lpstr>Sex-cord-stromal Tumors</vt:lpstr>
      <vt:lpstr>Ovarian Torsion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Valerie Jennings</dc:creator>
  <cp:lastModifiedBy>Buzicky, Stacey</cp:lastModifiedBy>
  <cp:revision>4</cp:revision>
  <dcterms:created xsi:type="dcterms:W3CDTF">2024-08-19T18:49:37Z</dcterms:created>
  <dcterms:modified xsi:type="dcterms:W3CDTF">2024-08-27T13:16:24Z</dcterms:modified>
</cp:coreProperties>
</file>