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0"/>
  </p:notesMasterIdLst>
  <p:sldIdLst>
    <p:sldId id="256" r:id="rId2"/>
    <p:sldId id="354" r:id="rId3"/>
    <p:sldId id="376" r:id="rId4"/>
    <p:sldId id="424" r:id="rId5"/>
    <p:sldId id="378" r:id="rId6"/>
    <p:sldId id="377" r:id="rId7"/>
    <p:sldId id="379" r:id="rId8"/>
    <p:sldId id="380" r:id="rId9"/>
    <p:sldId id="381" r:id="rId10"/>
    <p:sldId id="383" r:id="rId11"/>
    <p:sldId id="384" r:id="rId12"/>
    <p:sldId id="385" r:id="rId13"/>
    <p:sldId id="387" r:id="rId14"/>
    <p:sldId id="291" r:id="rId15"/>
    <p:sldId id="388" r:id="rId16"/>
    <p:sldId id="293" r:id="rId17"/>
    <p:sldId id="368" r:id="rId18"/>
    <p:sldId id="294" r:id="rId19"/>
    <p:sldId id="302" r:id="rId20"/>
    <p:sldId id="303" r:id="rId21"/>
    <p:sldId id="292" r:id="rId22"/>
    <p:sldId id="367" r:id="rId23"/>
    <p:sldId id="295" r:id="rId24"/>
    <p:sldId id="275" r:id="rId25"/>
    <p:sldId id="402" r:id="rId26"/>
    <p:sldId id="296" r:id="rId27"/>
    <p:sldId id="403" r:id="rId28"/>
    <p:sldId id="399" r:id="rId29"/>
    <p:sldId id="297" r:id="rId30"/>
    <p:sldId id="405" r:id="rId31"/>
    <p:sldId id="290" r:id="rId32"/>
    <p:sldId id="267" r:id="rId33"/>
    <p:sldId id="298" r:id="rId34"/>
    <p:sldId id="258" r:id="rId35"/>
    <p:sldId id="265" r:id="rId36"/>
    <p:sldId id="268" r:id="rId37"/>
    <p:sldId id="390" r:id="rId38"/>
    <p:sldId id="391" r:id="rId39"/>
    <p:sldId id="392" r:id="rId40"/>
    <p:sldId id="398" r:id="rId41"/>
    <p:sldId id="269" r:id="rId42"/>
    <p:sldId id="276" r:id="rId43"/>
    <p:sldId id="285" r:id="rId44"/>
    <p:sldId id="311" r:id="rId45"/>
    <p:sldId id="279" r:id="rId46"/>
    <p:sldId id="286" r:id="rId47"/>
    <p:sldId id="280" r:id="rId48"/>
    <p:sldId id="312" r:id="rId49"/>
    <p:sldId id="287" r:id="rId50"/>
    <p:sldId id="313" r:id="rId51"/>
    <p:sldId id="282" r:id="rId52"/>
    <p:sldId id="389" r:id="rId53"/>
    <p:sldId id="417" r:id="rId54"/>
    <p:sldId id="414" r:id="rId55"/>
    <p:sldId id="413" r:id="rId56"/>
    <p:sldId id="407" r:id="rId57"/>
    <p:sldId id="408" r:id="rId58"/>
    <p:sldId id="422" r:id="rId59"/>
    <p:sldId id="416" r:id="rId60"/>
    <p:sldId id="423" r:id="rId61"/>
    <p:sldId id="412" r:id="rId62"/>
    <p:sldId id="411" r:id="rId63"/>
    <p:sldId id="409" r:id="rId64"/>
    <p:sldId id="410" r:id="rId65"/>
    <p:sldId id="415" r:id="rId66"/>
    <p:sldId id="421" r:id="rId67"/>
    <p:sldId id="418" r:id="rId68"/>
    <p:sldId id="420"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561594-AC76-4CDA-9995-EB7CF85A9870}" v="14" dt="2025-07-22T02:21:42.0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116" d="100"/>
          <a:sy n="116" d="100"/>
        </p:scale>
        <p:origin x="108"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51B889-56E5-4A31-ABBD-9F6086B52C36}" type="datetimeFigureOut">
              <a:t>7/22/2025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D30610-2579-474E-B28D-CD3FBBCD1F4A}" type="slidenum">
              <a:t>‹#›</a:t>
            </a:fld>
            <a:endParaRPr lang="en-US"/>
          </a:p>
        </p:txBody>
      </p:sp>
    </p:spTree>
    <p:extLst>
      <p:ext uri="{BB962C8B-B14F-4D97-AF65-F5344CB8AC3E}">
        <p14:creationId xmlns:p14="http://schemas.microsoft.com/office/powerpoint/2010/main" val="1701002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3700" y="692150"/>
            <a:ext cx="6070600" cy="3416300"/>
          </a:xfrm>
        </p:spPr>
      </p:sp>
      <p:sp>
        <p:nvSpPr>
          <p:cNvPr id="3" name="Notes Placeholder 2"/>
          <p:cNvSpPr>
            <a:spLocks noGrp="1"/>
          </p:cNvSpPr>
          <p:nvPr>
            <p:ph type="body" idx="1"/>
          </p:nvPr>
        </p:nvSpPr>
        <p:spPr/>
        <p:txBody>
          <a:bodyPr/>
          <a:lstStyle/>
          <a:p>
            <a:r>
              <a:rPr lang="en-US" dirty="0"/>
              <a:t>Here are some of the older oral drug classes used in T2DM. The</a:t>
            </a:r>
            <a:r>
              <a:rPr lang="en-US" baseline="0" dirty="0"/>
              <a:t> table describes the mechanism of action of each class, its advantages, disadvantages and cost. Less commonly used classes are denoted in grey font.</a:t>
            </a:r>
            <a:endParaRPr lang="en-US"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pPr defTabSz="457200" eaLnBrk="1" fontAlgn="auto" hangingPunct="1">
              <a:spcBef>
                <a:spcPts val="0"/>
              </a:spcBef>
              <a:spcAft>
                <a:spcPts val="0"/>
              </a:spcAft>
              <a:defRPr/>
            </a:pPr>
            <a:fld id="{6908E522-90D2-7F42-B56B-7A012DF25694}" type="slidenum">
              <a:rPr lang="en-US" smtClean="0">
                <a:solidFill>
                  <a:prstClr val="black"/>
                </a:solidFill>
                <a:latin typeface="Calibri"/>
              </a:rPr>
              <a:pPr defTabSz="457200" eaLnBrk="1" fontAlgn="auto" hangingPunct="1">
                <a:spcBef>
                  <a:spcPts val="0"/>
                </a:spcBef>
                <a:spcAft>
                  <a:spcPts val="0"/>
                </a:spcAft>
                <a:defRPr/>
              </a:pPr>
              <a:t>37</a:t>
            </a:fld>
            <a:endParaRPr lang="en-US">
              <a:solidFill>
                <a:prstClr val="black"/>
              </a:solidFill>
              <a:latin typeface="Calibri"/>
            </a:endParaRPr>
          </a:p>
        </p:txBody>
      </p:sp>
    </p:spTree>
    <p:extLst>
      <p:ext uri="{BB962C8B-B14F-4D97-AF65-F5344CB8AC3E}">
        <p14:creationId xmlns:p14="http://schemas.microsoft.com/office/powerpoint/2010/main" val="12497743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3700" y="692150"/>
            <a:ext cx="6070600" cy="3416300"/>
          </a:xfrm>
        </p:spPr>
      </p:sp>
      <p:sp>
        <p:nvSpPr>
          <p:cNvPr id="3" name="Notes Placeholder 2"/>
          <p:cNvSpPr>
            <a:spLocks noGrp="1"/>
          </p:cNvSpPr>
          <p:nvPr>
            <p:ph type="body" idx="1"/>
          </p:nvPr>
        </p:nvSpPr>
        <p:spPr/>
        <p:txBody>
          <a:bodyPr/>
          <a:lstStyle/>
          <a:p>
            <a:r>
              <a:rPr lang="en-US" dirty="0"/>
              <a:t>Additional oral agent classes used in T2DM are included on this slide. The</a:t>
            </a:r>
            <a:r>
              <a:rPr lang="en-US" baseline="0" dirty="0"/>
              <a:t> table describes the mechanism of action of each class, its advantages, disadvantages and cost. Less commonly used classes are denoted in grey font.</a:t>
            </a:r>
            <a:endParaRPr lang="en-US"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pPr defTabSz="457200" eaLnBrk="1" fontAlgn="auto" hangingPunct="1">
              <a:spcBef>
                <a:spcPts val="0"/>
              </a:spcBef>
              <a:spcAft>
                <a:spcPts val="0"/>
              </a:spcAft>
              <a:defRPr/>
            </a:pPr>
            <a:fld id="{6908E522-90D2-7F42-B56B-7A012DF25694}" type="slidenum">
              <a:rPr lang="en-US" smtClean="0">
                <a:solidFill>
                  <a:prstClr val="black"/>
                </a:solidFill>
                <a:latin typeface="Calibri"/>
              </a:rPr>
              <a:pPr defTabSz="457200" eaLnBrk="1" fontAlgn="auto" hangingPunct="1">
                <a:spcBef>
                  <a:spcPts val="0"/>
                </a:spcBef>
                <a:spcAft>
                  <a:spcPts val="0"/>
                </a:spcAft>
                <a:defRPr/>
              </a:pPr>
              <a:t>38</a:t>
            </a:fld>
            <a:endParaRPr lang="en-US">
              <a:solidFill>
                <a:prstClr val="black"/>
              </a:solidFill>
              <a:latin typeface="Calibri"/>
            </a:endParaRPr>
          </a:p>
        </p:txBody>
      </p:sp>
    </p:spTree>
    <p:extLst>
      <p:ext uri="{BB962C8B-B14F-4D97-AF65-F5344CB8AC3E}">
        <p14:creationId xmlns:p14="http://schemas.microsoft.com/office/powerpoint/2010/main" val="42849457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3700" y="692150"/>
            <a:ext cx="6070600" cy="3416300"/>
          </a:xfrm>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b="0" dirty="0"/>
              <a:t>Here now are the injectable drugs used in T2DM. The</a:t>
            </a:r>
            <a:r>
              <a:rPr lang="en-US" sz="1600" b="0" baseline="0" dirty="0"/>
              <a:t> table describes the mechanism of action of each class, its advantages, disadvantages and cost. Less commonly used classes are denoted in grey font.</a:t>
            </a:r>
            <a:endParaRPr lang="en-US" sz="1600" b="0" dirty="0"/>
          </a:p>
          <a:p>
            <a:endParaRPr lang="en-US"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pPr defTabSz="457200" eaLnBrk="1" fontAlgn="auto" hangingPunct="1">
              <a:spcBef>
                <a:spcPts val="0"/>
              </a:spcBef>
              <a:spcAft>
                <a:spcPts val="0"/>
              </a:spcAft>
              <a:defRPr/>
            </a:pPr>
            <a:fld id="{6908E522-90D2-7F42-B56B-7A012DF25694}" type="slidenum">
              <a:rPr lang="en-US" smtClean="0">
                <a:solidFill>
                  <a:prstClr val="black"/>
                </a:solidFill>
                <a:latin typeface="Calibri"/>
              </a:rPr>
              <a:pPr defTabSz="457200" eaLnBrk="1" fontAlgn="auto" hangingPunct="1">
                <a:spcBef>
                  <a:spcPts val="0"/>
                </a:spcBef>
                <a:spcAft>
                  <a:spcPts val="0"/>
                </a:spcAft>
                <a:defRPr/>
              </a:pPr>
              <a:t>39</a:t>
            </a:fld>
            <a:endParaRPr lang="en-US">
              <a:solidFill>
                <a:prstClr val="black"/>
              </a:solidFill>
              <a:latin typeface="Calibri"/>
            </a:endParaRPr>
          </a:p>
        </p:txBody>
      </p:sp>
    </p:spTree>
    <p:extLst>
      <p:ext uri="{BB962C8B-B14F-4D97-AF65-F5344CB8AC3E}">
        <p14:creationId xmlns:p14="http://schemas.microsoft.com/office/powerpoint/2010/main" val="79949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7/22/2025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7/22/2025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7/22/2025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7/22/2025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www.museodelprado.es/en/the-collection/artist/hamen-y-leon-juan-van-der/b2d4f6e4-fcc7-4645-a417-1b72b301fa9a"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jpeg"/><Relationship Id="rId1" Type="http://schemas.openxmlformats.org/officeDocument/2006/relationships/slideLayout" Target="../slideLayouts/slideLayout2.xml"/><Relationship Id="rId4" Type="http://schemas.openxmlformats.org/officeDocument/2006/relationships/image" Target="../media/image41.jpeg"/></Relationships>
</file>

<file path=ppt/slides/_rels/slide5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Diabetes Mellitus</a:t>
            </a:r>
          </a:p>
        </p:txBody>
      </p:sp>
      <p:sp>
        <p:nvSpPr>
          <p:cNvPr id="3" name="Subtitle 2"/>
          <p:cNvSpPr>
            <a:spLocks noGrp="1"/>
          </p:cNvSpPr>
          <p:nvPr>
            <p:ph type="subTitle" idx="1"/>
          </p:nvPr>
        </p:nvSpPr>
        <p:spPr/>
        <p:txBody>
          <a:bodyPr vert="horz" lIns="91440" tIns="45720" rIns="91440" bIns="45720" rtlCol="0" anchor="t">
            <a:normAutofit/>
          </a:bodyPr>
          <a:lstStyle/>
          <a:p>
            <a:r>
              <a:rPr lang="en-US" dirty="0"/>
              <a:t>Sathya Subbiah, MD</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74C8D-F140-8CBB-0086-60EB00741E3C}"/>
              </a:ext>
            </a:extLst>
          </p:cNvPr>
          <p:cNvSpPr>
            <a:spLocks noGrp="1"/>
          </p:cNvSpPr>
          <p:nvPr>
            <p:ph type="title"/>
          </p:nvPr>
        </p:nvSpPr>
        <p:spPr/>
        <p:txBody>
          <a:bodyPr/>
          <a:lstStyle/>
          <a:p>
            <a:r>
              <a:rPr lang="en-US" sz="2800" dirty="0">
                <a:latin typeface="Aptos"/>
              </a:rPr>
              <a:t>Objectives</a:t>
            </a:r>
            <a:endParaRPr lang="en-US" dirty="0"/>
          </a:p>
        </p:txBody>
      </p:sp>
      <p:sp>
        <p:nvSpPr>
          <p:cNvPr id="3" name="Content Placeholder 2">
            <a:extLst>
              <a:ext uri="{FF2B5EF4-FFF2-40B4-BE49-F238E27FC236}">
                <a16:creationId xmlns:a16="http://schemas.microsoft.com/office/drawing/2014/main" id="{EEB3BA36-C27E-035F-DF59-7845595165D5}"/>
              </a:ext>
            </a:extLst>
          </p:cNvPr>
          <p:cNvSpPr>
            <a:spLocks noGrp="1"/>
          </p:cNvSpPr>
          <p:nvPr>
            <p:ph idx="1"/>
          </p:nvPr>
        </p:nvSpPr>
        <p:spPr/>
        <p:txBody>
          <a:bodyPr vert="horz" lIns="91440" tIns="45720" rIns="91440" bIns="45720" rtlCol="0" anchor="t">
            <a:normAutofit lnSpcReduction="10000"/>
          </a:bodyPr>
          <a:lstStyle/>
          <a:p>
            <a:endParaRPr lang="en-US" dirty="0"/>
          </a:p>
          <a:p>
            <a:r>
              <a:rPr lang="en-US" sz="1500" dirty="0">
                <a:latin typeface="PT Serif"/>
              </a:rPr>
              <a:t>Explain the histology and function of the islets of Langerhans.</a:t>
            </a:r>
            <a:r>
              <a:rPr lang="en-US" sz="1100" b="1" dirty="0">
                <a:solidFill>
                  <a:srgbClr val="FFFFFF"/>
                </a:solidFill>
                <a:latin typeface="PT Serif"/>
              </a:rPr>
              <a:t>2</a:t>
            </a:r>
            <a:endParaRPr lang="en-US" dirty="0"/>
          </a:p>
          <a:p>
            <a:r>
              <a:rPr lang="en-US" sz="1500" dirty="0">
                <a:latin typeface="PT Serif"/>
              </a:rPr>
              <a:t>Explain insulin and glucagon synthesis and sites of production.</a:t>
            </a:r>
            <a:r>
              <a:rPr lang="en-US" sz="1100" b="1" dirty="0">
                <a:solidFill>
                  <a:srgbClr val="FFFFFF"/>
                </a:solidFill>
                <a:latin typeface="PT Serif"/>
              </a:rPr>
              <a:t>3</a:t>
            </a:r>
            <a:endParaRPr lang="en-US" dirty="0"/>
          </a:p>
          <a:p>
            <a:r>
              <a:rPr lang="en-US" sz="1500" dirty="0">
                <a:latin typeface="PT Serif"/>
              </a:rPr>
              <a:t>Explain the physiologic actions of insulin and glucagon.</a:t>
            </a:r>
            <a:r>
              <a:rPr lang="en-US" sz="1100" b="1" dirty="0">
                <a:solidFill>
                  <a:srgbClr val="FFFFFF"/>
                </a:solidFill>
                <a:latin typeface="PT Serif"/>
              </a:rPr>
              <a:t>4</a:t>
            </a:r>
            <a:endParaRPr lang="en-US" dirty="0"/>
          </a:p>
          <a:p>
            <a:r>
              <a:rPr lang="en-US" sz="1500" dirty="0">
                <a:latin typeface="PT Serif"/>
              </a:rPr>
              <a:t>Explain the regulation of insulin and glucagon release.</a:t>
            </a:r>
            <a:endParaRPr lang="en-US" dirty="0"/>
          </a:p>
          <a:p>
            <a:pPr marL="0" indent="0">
              <a:buNone/>
            </a:pPr>
            <a:endParaRPr lang="en-US" sz="1200" dirty="0">
              <a:latin typeface="Calibri"/>
              <a:ea typeface="Calibri"/>
              <a:cs typeface="Calibri"/>
            </a:endParaRPr>
          </a:p>
          <a:p>
            <a:r>
              <a:rPr lang="en-US" sz="1200" dirty="0">
                <a:latin typeface="Calibri"/>
                <a:ea typeface="Calibri"/>
                <a:cs typeface="Calibri"/>
              </a:rPr>
              <a:t>Identify insulin target tissues and relevant physiological effects of insulin secretion</a:t>
            </a:r>
          </a:p>
          <a:p>
            <a:r>
              <a:rPr lang="en-US" sz="1200" dirty="0">
                <a:latin typeface="Calibri"/>
                <a:ea typeface="Calibri"/>
                <a:cs typeface="Calibri"/>
              </a:rPr>
              <a:t>Understand the etiology and risk factors for type 1 and type 2 diabetes</a:t>
            </a:r>
          </a:p>
          <a:p>
            <a:r>
              <a:rPr lang="en-US" sz="1200" dirty="0">
                <a:latin typeface="Calibri"/>
                <a:ea typeface="Calibri"/>
                <a:cs typeface="Calibri"/>
              </a:rPr>
              <a:t>Describe the pathophysiology and symptoms of type 1 and type 2 diabetes</a:t>
            </a:r>
          </a:p>
          <a:p>
            <a:r>
              <a:rPr lang="en-US" sz="1200" dirty="0">
                <a:latin typeface="Calibri"/>
                <a:ea typeface="Calibri"/>
                <a:cs typeface="Calibri"/>
              </a:rPr>
              <a:t>Describe the mechanistic basis for changes in vital signs and electrolytes in patients with DKA</a:t>
            </a:r>
          </a:p>
          <a:p>
            <a:r>
              <a:rPr lang="en-US" sz="1200" dirty="0">
                <a:latin typeface="Calibri"/>
                <a:ea typeface="Calibri"/>
                <a:cs typeface="Calibri"/>
              </a:rPr>
              <a:t>Discuss the acute management of DKA and potential complications associated with treatment</a:t>
            </a:r>
          </a:p>
          <a:p>
            <a:r>
              <a:rPr lang="en-US" sz="1200" dirty="0">
                <a:latin typeface="Calibri"/>
                <a:ea typeface="Calibri"/>
                <a:cs typeface="Calibri"/>
              </a:rPr>
              <a:t>Define normoglycemia and outline the diagnostic criteria for diabetes</a:t>
            </a:r>
          </a:p>
          <a:p>
            <a:r>
              <a:rPr lang="en-US" sz="1200" dirty="0">
                <a:latin typeface="Calibri"/>
                <a:ea typeface="Calibri"/>
                <a:cs typeface="Calibri"/>
              </a:rPr>
              <a:t>Describe hyperosmolar hyperglycemic state (HHS)</a:t>
            </a:r>
          </a:p>
          <a:p>
            <a:r>
              <a:rPr lang="en-US" sz="1200" dirty="0">
                <a:latin typeface="Calibri"/>
                <a:ea typeface="Calibri"/>
                <a:cs typeface="Calibri"/>
              </a:rPr>
              <a:t>Discuss the long-term management and treatment of type 1 and type 2 diabetes and it's complications </a:t>
            </a:r>
          </a:p>
          <a:p>
            <a:endParaRPr lang="en-US" sz="1500" dirty="0">
              <a:latin typeface="PT Serif"/>
            </a:endParaRPr>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7153437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4CC25-AE6B-D408-6E48-BE17C256D8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FB113A-F7CF-DBDD-ABD7-95131D464565}"/>
              </a:ext>
            </a:extLst>
          </p:cNvPr>
          <p:cNvSpPr>
            <a:spLocks noGrp="1"/>
          </p:cNvSpPr>
          <p:nvPr>
            <p:ph type="title"/>
          </p:nvPr>
        </p:nvSpPr>
        <p:spPr/>
        <p:txBody>
          <a:bodyPr>
            <a:normAutofit/>
          </a:bodyPr>
          <a:lstStyle/>
          <a:p>
            <a:r>
              <a:rPr lang="en-US" sz="2800" dirty="0">
                <a:latin typeface="Aptos"/>
              </a:rPr>
              <a:t>Pancreas </a:t>
            </a:r>
            <a:endParaRPr lang="en-US" sz="2800" dirty="0"/>
          </a:p>
        </p:txBody>
      </p:sp>
      <p:sp>
        <p:nvSpPr>
          <p:cNvPr id="3" name="Content Placeholder 2">
            <a:extLst>
              <a:ext uri="{FF2B5EF4-FFF2-40B4-BE49-F238E27FC236}">
                <a16:creationId xmlns:a16="http://schemas.microsoft.com/office/drawing/2014/main" id="{A133FD1E-0133-0BAC-2BE1-BBCEBC3A8B35}"/>
              </a:ext>
            </a:extLst>
          </p:cNvPr>
          <p:cNvSpPr>
            <a:spLocks noGrp="1"/>
          </p:cNvSpPr>
          <p:nvPr>
            <p:ph idx="1"/>
          </p:nvPr>
        </p:nvSpPr>
        <p:spPr/>
        <p:txBody>
          <a:bodyPr vert="horz" lIns="91440" tIns="45720" rIns="91440" bIns="45720" rtlCol="0" anchor="t">
            <a:normAutofit fontScale="85000" lnSpcReduction="20000"/>
          </a:bodyPr>
          <a:lstStyle/>
          <a:p>
            <a:endParaRPr lang="en-US" dirty="0"/>
          </a:p>
          <a:p>
            <a:r>
              <a:rPr lang="en-US" dirty="0">
                <a:ea typeface="+mn-lt"/>
                <a:cs typeface="+mn-lt"/>
              </a:rPr>
              <a:t>- Exocrine 80%</a:t>
            </a:r>
            <a:endParaRPr lang="en-US" dirty="0"/>
          </a:p>
          <a:p>
            <a:r>
              <a:rPr lang="en-US" dirty="0">
                <a:ea typeface="+mn-lt"/>
                <a:cs typeface="+mn-lt"/>
              </a:rPr>
              <a:t>- Endocrine - Dysfunction causes disturbance in nutrient homeostasis</a:t>
            </a:r>
            <a:endParaRPr lang="en-US" dirty="0"/>
          </a:p>
          <a:p>
            <a:pPr marL="0" indent="0">
              <a:buNone/>
            </a:pPr>
            <a:endParaRPr lang="en-US" dirty="0"/>
          </a:p>
          <a:p>
            <a:r>
              <a:rPr lang="en-US" dirty="0">
                <a:ea typeface="+mn-lt"/>
                <a:cs typeface="+mn-lt"/>
              </a:rPr>
              <a:t>- The pancreas has tiny glands called islets of Langerhans, which</a:t>
            </a:r>
            <a:endParaRPr lang="en-US"/>
          </a:p>
          <a:p>
            <a:pPr marL="0" indent="0">
              <a:buNone/>
            </a:pPr>
            <a:r>
              <a:rPr lang="en-US" dirty="0">
                <a:ea typeface="+mn-lt"/>
                <a:cs typeface="+mn-lt"/>
              </a:rPr>
              <a:t>secrete hormones.</a:t>
            </a:r>
            <a:endParaRPr lang="en-US" dirty="0"/>
          </a:p>
          <a:p>
            <a:r>
              <a:rPr lang="en-US" dirty="0">
                <a:ea typeface="+mn-lt"/>
                <a:cs typeface="+mn-lt"/>
              </a:rPr>
              <a:t>- Alpha cells- Glucagon</a:t>
            </a:r>
            <a:endParaRPr lang="en-US"/>
          </a:p>
          <a:p>
            <a:r>
              <a:rPr lang="en-US" dirty="0">
                <a:ea typeface="+mn-lt"/>
                <a:cs typeface="+mn-lt"/>
              </a:rPr>
              <a:t>- </a:t>
            </a:r>
            <a:r>
              <a:rPr lang="en-US" dirty="0">
                <a:solidFill>
                  <a:srgbClr val="FF0000"/>
                </a:solidFill>
                <a:ea typeface="+mn-lt"/>
                <a:cs typeface="+mn-lt"/>
              </a:rPr>
              <a:t>Beta cells- Insulin and its precursors</a:t>
            </a:r>
            <a:endParaRPr lang="en-US" dirty="0">
              <a:solidFill>
                <a:srgbClr val="FF0000"/>
              </a:solidFill>
            </a:endParaRPr>
          </a:p>
          <a:p>
            <a:r>
              <a:rPr lang="en-US" dirty="0">
                <a:ea typeface="+mn-lt"/>
                <a:cs typeface="+mn-lt"/>
              </a:rPr>
              <a:t>- Delta cell- somatostatin</a:t>
            </a:r>
            <a:endParaRPr lang="en-US"/>
          </a:p>
          <a:p>
            <a:r>
              <a:rPr lang="en-US" dirty="0">
                <a:ea typeface="+mn-lt"/>
                <a:cs typeface="+mn-lt"/>
              </a:rPr>
              <a:t>- Epsilon cell- ghrelin ( predominantly Ghrelin is produced from stomach)</a:t>
            </a:r>
            <a:endParaRPr lang="en-US" dirty="0"/>
          </a:p>
          <a:p>
            <a:r>
              <a:rPr lang="en-US" dirty="0">
                <a:ea typeface="+mn-lt"/>
                <a:cs typeface="+mn-lt"/>
              </a:rPr>
              <a:t>- PP cells- pancreatic polypeptide</a:t>
            </a:r>
            <a:endParaRPr lang="en-US"/>
          </a:p>
          <a:p>
            <a:endParaRPr lang="en-US" dirty="0"/>
          </a:p>
          <a:p>
            <a:endParaRPr lang="en-US" dirty="0"/>
          </a:p>
        </p:txBody>
      </p:sp>
    </p:spTree>
    <p:extLst>
      <p:ext uri="{BB962C8B-B14F-4D97-AF65-F5344CB8AC3E}">
        <p14:creationId xmlns:p14="http://schemas.microsoft.com/office/powerpoint/2010/main" val="1380479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D420A-1EB4-3742-53F7-D8D1A861ED3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286AF19-8832-3455-903B-AF7A5E82181B}"/>
              </a:ext>
            </a:extLst>
          </p:cNvPr>
          <p:cNvSpPr>
            <a:spLocks noGrp="1"/>
          </p:cNvSpPr>
          <p:nvPr>
            <p:ph idx="1"/>
          </p:nvPr>
        </p:nvSpPr>
        <p:spPr/>
        <p:txBody>
          <a:bodyPr vert="horz" lIns="91440" tIns="45720" rIns="91440" bIns="45720" rtlCol="0" anchor="t">
            <a:normAutofit/>
          </a:bodyPr>
          <a:lstStyle/>
          <a:p>
            <a:r>
              <a:rPr lang="en-US" sz="1200" dirty="0">
                <a:solidFill>
                  <a:srgbClr val="160E33"/>
                </a:solidFill>
                <a:latin typeface="Lato"/>
                <a:ea typeface="Lato"/>
                <a:cs typeface="Lato"/>
              </a:rPr>
              <a:t>He identified nine different cell types: one in particular greatly fascinated him. It was a “small, irregularly polygonal structure. Its cytoplasm is brilliant and free of any granules. Its nucleus distinct, round and moderate size…these cells lie together generally in considerable numbers, diffusely scattered” throughout the pancreas.--Royal Canadian Institute for Science</a:t>
            </a:r>
          </a:p>
          <a:p>
            <a:endParaRPr lang="en-US" sz="1200" dirty="0">
              <a:solidFill>
                <a:srgbClr val="160E33"/>
              </a:solidFill>
              <a:latin typeface="Lato"/>
              <a:ea typeface="Lato"/>
              <a:cs typeface="Lato"/>
            </a:endParaRPr>
          </a:p>
        </p:txBody>
      </p:sp>
      <p:pic>
        <p:nvPicPr>
          <p:cNvPr id="4" name="Picture 3" descr="A person with a beard&#10;&#10;AI-generated content may be incorrect.">
            <a:extLst>
              <a:ext uri="{FF2B5EF4-FFF2-40B4-BE49-F238E27FC236}">
                <a16:creationId xmlns:a16="http://schemas.microsoft.com/office/drawing/2014/main" id="{5F8E3F4C-50FD-2B3D-F383-D60371E9D3FA}"/>
              </a:ext>
            </a:extLst>
          </p:cNvPr>
          <p:cNvPicPr>
            <a:picLocks noChangeAspect="1"/>
          </p:cNvPicPr>
          <p:nvPr/>
        </p:nvPicPr>
        <p:blipFill>
          <a:blip r:embed="rId2"/>
          <a:stretch>
            <a:fillRect/>
          </a:stretch>
        </p:blipFill>
        <p:spPr>
          <a:xfrm>
            <a:off x="5229225" y="2447925"/>
            <a:ext cx="3886200" cy="4352925"/>
          </a:xfrm>
          <a:prstGeom prst="rect">
            <a:avLst/>
          </a:prstGeom>
        </p:spPr>
      </p:pic>
    </p:spTree>
    <p:extLst>
      <p:ext uri="{BB962C8B-B14F-4D97-AF65-F5344CB8AC3E}">
        <p14:creationId xmlns:p14="http://schemas.microsoft.com/office/powerpoint/2010/main" val="25161736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58BA2-B47E-4391-A613-945C117D69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E17242-1430-CE0A-50CF-055099BC6722}"/>
              </a:ext>
            </a:extLst>
          </p:cNvPr>
          <p:cNvSpPr>
            <a:spLocks noGrp="1"/>
          </p:cNvSpPr>
          <p:nvPr>
            <p:ph type="title"/>
          </p:nvPr>
        </p:nvSpPr>
        <p:spPr/>
        <p:txBody>
          <a:bodyPr/>
          <a:lstStyle/>
          <a:p>
            <a:endParaRPr lang="en-US"/>
          </a:p>
        </p:txBody>
      </p:sp>
      <p:pic>
        <p:nvPicPr>
          <p:cNvPr id="4" name="Content Placeholder 3" descr="A pink and black cells with black arrows&#10;&#10;AI-generated content may be incorrect.">
            <a:extLst>
              <a:ext uri="{FF2B5EF4-FFF2-40B4-BE49-F238E27FC236}">
                <a16:creationId xmlns:a16="http://schemas.microsoft.com/office/drawing/2014/main" id="{4B02EADE-7C29-C4C7-59EC-B7A5D883E011}"/>
              </a:ext>
            </a:extLst>
          </p:cNvPr>
          <p:cNvPicPr>
            <a:picLocks noGrp="1" noChangeAspect="1"/>
          </p:cNvPicPr>
          <p:nvPr>
            <p:ph idx="1"/>
          </p:nvPr>
        </p:nvPicPr>
        <p:blipFill>
          <a:blip r:embed="rId2"/>
          <a:stretch>
            <a:fillRect/>
          </a:stretch>
        </p:blipFill>
        <p:spPr>
          <a:xfrm>
            <a:off x="159944" y="1711325"/>
            <a:ext cx="5776112" cy="4351338"/>
          </a:xfrm>
        </p:spPr>
      </p:pic>
      <p:pic>
        <p:nvPicPr>
          <p:cNvPr id="6" name="Picture 5" descr="A microscope view of a cell&#10;&#10;AI-generated content may be incorrect.">
            <a:extLst>
              <a:ext uri="{FF2B5EF4-FFF2-40B4-BE49-F238E27FC236}">
                <a16:creationId xmlns:a16="http://schemas.microsoft.com/office/drawing/2014/main" id="{AAC7BC61-4731-BC9C-1BAF-5EE5467709DC}"/>
              </a:ext>
            </a:extLst>
          </p:cNvPr>
          <p:cNvPicPr>
            <a:picLocks noChangeAspect="1"/>
          </p:cNvPicPr>
          <p:nvPr/>
        </p:nvPicPr>
        <p:blipFill>
          <a:blip r:embed="rId3"/>
          <a:stretch>
            <a:fillRect/>
          </a:stretch>
        </p:blipFill>
        <p:spPr>
          <a:xfrm>
            <a:off x="7011865" y="1933575"/>
            <a:ext cx="3664194" cy="3571875"/>
          </a:xfrm>
          <a:prstGeom prst="rect">
            <a:avLst/>
          </a:prstGeom>
        </p:spPr>
      </p:pic>
    </p:spTree>
    <p:extLst>
      <p:ext uri="{BB962C8B-B14F-4D97-AF65-F5344CB8AC3E}">
        <p14:creationId xmlns:p14="http://schemas.microsoft.com/office/powerpoint/2010/main" val="76214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78816-5D6D-5B07-6012-DA68D2435A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27595A-DC47-DDEA-6527-85E59064C3C8}"/>
              </a:ext>
            </a:extLst>
          </p:cNvPr>
          <p:cNvSpPr>
            <a:spLocks noGrp="1"/>
          </p:cNvSpPr>
          <p:nvPr>
            <p:ph type="title"/>
          </p:nvPr>
        </p:nvSpPr>
        <p:spPr/>
        <p:txBody>
          <a:bodyPr/>
          <a:lstStyle/>
          <a:p>
            <a:endParaRPr lang="en-US"/>
          </a:p>
        </p:txBody>
      </p:sp>
      <p:pic>
        <p:nvPicPr>
          <p:cNvPr id="4" name="Content Placeholder 3" descr="A diagram of the human body&#10;&#10;AI-generated content may be incorrect.">
            <a:extLst>
              <a:ext uri="{FF2B5EF4-FFF2-40B4-BE49-F238E27FC236}">
                <a16:creationId xmlns:a16="http://schemas.microsoft.com/office/drawing/2014/main" id="{280B15CD-AD9E-F4B3-355D-79C46C16CFDE}"/>
              </a:ext>
            </a:extLst>
          </p:cNvPr>
          <p:cNvPicPr>
            <a:picLocks noGrp="1" noChangeAspect="1"/>
          </p:cNvPicPr>
          <p:nvPr>
            <p:ph idx="1"/>
          </p:nvPr>
        </p:nvPicPr>
        <p:blipFill>
          <a:blip r:embed="rId2"/>
          <a:stretch>
            <a:fillRect/>
          </a:stretch>
        </p:blipFill>
        <p:spPr>
          <a:xfrm>
            <a:off x="5434199" y="2161823"/>
            <a:ext cx="5219326" cy="3583691"/>
          </a:xfrm>
        </p:spPr>
      </p:pic>
      <p:sp>
        <p:nvSpPr>
          <p:cNvPr id="7" name="TextBox 6">
            <a:extLst>
              <a:ext uri="{FF2B5EF4-FFF2-40B4-BE49-F238E27FC236}">
                <a16:creationId xmlns:a16="http://schemas.microsoft.com/office/drawing/2014/main" id="{050ED7B1-EF04-F96C-86EA-7C6A070DB27E}"/>
              </a:ext>
            </a:extLst>
          </p:cNvPr>
          <p:cNvSpPr txBox="1"/>
          <p:nvPr/>
        </p:nvSpPr>
        <p:spPr>
          <a:xfrm>
            <a:off x="1543050" y="2828925"/>
            <a:ext cx="27432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a:latin typeface="PT Serif"/>
              </a:rPr>
              <a:t>Insulin release is stimulated by parasympathetic stimulation.</a:t>
            </a:r>
          </a:p>
          <a:p>
            <a:pPr>
              <a:buFont typeface=""/>
              <a:buChar char="•"/>
            </a:pPr>
            <a:r>
              <a:rPr lang="en-US">
                <a:latin typeface="PT Serif"/>
              </a:rPr>
              <a:t>Glucagon release is stimulated by sympathetic activation.</a:t>
            </a:r>
          </a:p>
        </p:txBody>
      </p:sp>
    </p:spTree>
    <p:extLst>
      <p:ext uri="{BB962C8B-B14F-4D97-AF65-F5344CB8AC3E}">
        <p14:creationId xmlns:p14="http://schemas.microsoft.com/office/powerpoint/2010/main" val="6397053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02AFA-6D4B-3E05-4D54-F07CEC7A91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EE5681-8169-51CA-FDD8-AC61DD5AA21F}"/>
              </a:ext>
            </a:extLst>
          </p:cNvPr>
          <p:cNvSpPr>
            <a:spLocks noGrp="1"/>
          </p:cNvSpPr>
          <p:nvPr>
            <p:ph type="title"/>
          </p:nvPr>
        </p:nvSpPr>
        <p:spPr/>
        <p:txBody>
          <a:bodyPr/>
          <a:lstStyle/>
          <a:p>
            <a:r>
              <a:rPr lang="en-US" dirty="0"/>
              <a:t>Insulin is a peptide hormone</a:t>
            </a:r>
          </a:p>
        </p:txBody>
      </p:sp>
      <p:pic>
        <p:nvPicPr>
          <p:cNvPr id="4" name="Content Placeholder 3" descr="A diagram of a chain of protein&#10;&#10;AI-generated content may be incorrect.">
            <a:extLst>
              <a:ext uri="{FF2B5EF4-FFF2-40B4-BE49-F238E27FC236}">
                <a16:creationId xmlns:a16="http://schemas.microsoft.com/office/drawing/2014/main" id="{A5159E5B-8C5D-DA45-0DD6-2D5D4FD7BCFA}"/>
              </a:ext>
            </a:extLst>
          </p:cNvPr>
          <p:cNvPicPr>
            <a:picLocks noGrp="1" noChangeAspect="1"/>
          </p:cNvPicPr>
          <p:nvPr>
            <p:ph idx="1"/>
          </p:nvPr>
        </p:nvPicPr>
        <p:blipFill>
          <a:blip r:embed="rId2"/>
          <a:stretch>
            <a:fillRect/>
          </a:stretch>
        </p:blipFill>
        <p:spPr>
          <a:xfrm>
            <a:off x="590926" y="2290982"/>
            <a:ext cx="4361697" cy="2487173"/>
          </a:xfrm>
        </p:spPr>
      </p:pic>
      <p:sp>
        <p:nvSpPr>
          <p:cNvPr id="5" name="TextBox 4">
            <a:extLst>
              <a:ext uri="{FF2B5EF4-FFF2-40B4-BE49-F238E27FC236}">
                <a16:creationId xmlns:a16="http://schemas.microsoft.com/office/drawing/2014/main" id="{C9BF99ED-911C-BD24-BD18-3AF79C784456}"/>
              </a:ext>
            </a:extLst>
          </p:cNvPr>
          <p:cNvSpPr txBox="1"/>
          <p:nvPr/>
        </p:nvSpPr>
        <p:spPr>
          <a:xfrm>
            <a:off x="6381750" y="1714500"/>
            <a:ext cx="2743200" cy="48954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1725"/>
              </a:lnSpc>
            </a:pPr>
            <a:r>
              <a:rPr lang="en-US" err="1">
                <a:cs typeface="Segoe UI"/>
              </a:rPr>
              <a:t>Preproinsulin</a:t>
            </a:r>
            <a:r>
              <a:rPr lang="en-US" dirty="0">
                <a:cs typeface="Segoe UI"/>
              </a:rPr>
              <a:t> is cleaved to form proinsulin, which is broken into insulin + C peptide in </a:t>
            </a:r>
            <a:r>
              <a:rPr lang="en-US" dirty="0">
                <a:solidFill>
                  <a:srgbClr val="FF0000"/>
                </a:solidFill>
                <a:cs typeface="Segoe UI"/>
              </a:rPr>
              <a:t>equimolar amounts</a:t>
            </a:r>
            <a:r>
              <a:rPr lang="en-US" dirty="0">
                <a:cs typeface="Segoe UI"/>
              </a:rPr>
              <a:t> </a:t>
            </a:r>
            <a:endParaRPr lang="en-US" dirty="0"/>
          </a:p>
          <a:p>
            <a:pPr>
              <a:lnSpc>
                <a:spcPts val="1725"/>
              </a:lnSpc>
            </a:pPr>
            <a:endParaRPr lang="en-US" dirty="0">
              <a:cs typeface="Segoe UI"/>
            </a:endParaRPr>
          </a:p>
          <a:p>
            <a:pPr>
              <a:lnSpc>
                <a:spcPts val="1725"/>
              </a:lnSpc>
            </a:pPr>
            <a:r>
              <a:rPr lang="en-US" dirty="0">
                <a:cs typeface="Segoe UI"/>
              </a:rPr>
              <a:t>Secretion :Human pancreas makes about 30 units/day. </a:t>
            </a:r>
            <a:endParaRPr lang="en-US">
              <a:cs typeface="Segoe UI"/>
            </a:endParaRPr>
          </a:p>
          <a:p>
            <a:pPr>
              <a:lnSpc>
                <a:spcPts val="1725"/>
              </a:lnSpc>
            </a:pPr>
            <a:endParaRPr lang="en-US" dirty="0">
              <a:cs typeface="Segoe UI"/>
            </a:endParaRPr>
          </a:p>
          <a:p>
            <a:pPr>
              <a:lnSpc>
                <a:spcPts val="1725"/>
              </a:lnSpc>
            </a:pPr>
            <a:r>
              <a:rPr lang="en-US" dirty="0">
                <a:cs typeface="Segoe UI"/>
              </a:rPr>
              <a:t>Basal=10 units, constantly made in tiny amount. ​</a:t>
            </a:r>
            <a:endParaRPr lang="en-US"/>
          </a:p>
          <a:p>
            <a:pPr>
              <a:lnSpc>
                <a:spcPts val="1725"/>
              </a:lnSpc>
            </a:pPr>
            <a:r>
              <a:rPr lang="en-US" dirty="0">
                <a:cs typeface="Segoe UI"/>
              </a:rPr>
              <a:t>Why? Insulin is an</a:t>
            </a:r>
            <a:r>
              <a:rPr lang="en-US" dirty="0">
                <a:solidFill>
                  <a:srgbClr val="FF0000"/>
                </a:solidFill>
                <a:cs typeface="Segoe UI"/>
              </a:rPr>
              <a:t> anabolic hormone</a:t>
            </a:r>
            <a:r>
              <a:rPr lang="en-US" dirty="0">
                <a:cs typeface="Segoe UI"/>
              </a:rPr>
              <a:t>- necessary for life. ​</a:t>
            </a:r>
          </a:p>
          <a:p>
            <a:pPr>
              <a:lnSpc>
                <a:spcPts val="1725"/>
              </a:lnSpc>
            </a:pPr>
            <a:r>
              <a:rPr lang="en-US" dirty="0">
                <a:cs typeface="Segoe UI"/>
              </a:rPr>
              <a:t>​</a:t>
            </a:r>
          </a:p>
          <a:p>
            <a:pPr>
              <a:lnSpc>
                <a:spcPts val="1725"/>
              </a:lnSpc>
            </a:pPr>
            <a:r>
              <a:rPr lang="en-US" dirty="0">
                <a:cs typeface="Segoe UI"/>
              </a:rPr>
              <a:t>Prandial- rest is produced after meal ingestion. Glucose is the most potent stimulator. ​</a:t>
            </a:r>
          </a:p>
          <a:p>
            <a:pPr>
              <a:lnSpc>
                <a:spcPts val="1725"/>
              </a:lnSpc>
            </a:pPr>
            <a:r>
              <a:rPr lang="en-US" dirty="0">
                <a:cs typeface="Segoe UI"/>
              </a:rPr>
              <a:t>​</a:t>
            </a:r>
          </a:p>
        </p:txBody>
      </p:sp>
    </p:spTree>
    <p:extLst>
      <p:ext uri="{BB962C8B-B14F-4D97-AF65-F5344CB8AC3E}">
        <p14:creationId xmlns:p14="http://schemas.microsoft.com/office/powerpoint/2010/main" val="165419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F12BA-732F-8A76-ABF9-4A031C2FCB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64E8FB-D32D-3858-9CA8-8754B85B0742}"/>
              </a:ext>
            </a:extLst>
          </p:cNvPr>
          <p:cNvSpPr>
            <a:spLocks noGrp="1"/>
          </p:cNvSpPr>
          <p:nvPr>
            <p:ph type="title"/>
          </p:nvPr>
        </p:nvSpPr>
        <p:spPr/>
        <p:txBody>
          <a:bodyPr/>
          <a:lstStyle/>
          <a:p>
            <a:r>
              <a:rPr lang="en-US" dirty="0"/>
              <a:t>Insulin – Anabolic hormone</a:t>
            </a:r>
          </a:p>
        </p:txBody>
      </p:sp>
      <p:sp>
        <p:nvSpPr>
          <p:cNvPr id="3" name="Content Placeholder 2">
            <a:extLst>
              <a:ext uri="{FF2B5EF4-FFF2-40B4-BE49-F238E27FC236}">
                <a16:creationId xmlns:a16="http://schemas.microsoft.com/office/drawing/2014/main" id="{5132B057-4F48-0FAD-A5ED-DD79DEE24544}"/>
              </a:ext>
            </a:extLst>
          </p:cNvPr>
          <p:cNvSpPr>
            <a:spLocks noGrp="1"/>
          </p:cNvSpPr>
          <p:nvPr>
            <p:ph idx="1"/>
          </p:nvPr>
        </p:nvSpPr>
        <p:spPr/>
        <p:txBody>
          <a:bodyPr vert="horz" lIns="91440" tIns="45720" rIns="91440" bIns="45720" rtlCol="0" anchor="t">
            <a:normAutofit/>
          </a:bodyPr>
          <a:lstStyle/>
          <a:p>
            <a:r>
              <a:rPr lang="en-US" sz="1600" dirty="0">
                <a:latin typeface="PT Serif"/>
              </a:rPr>
              <a:t>The normal fasting glucose level is 60 to 100 mg/dL. Maintaining this normal level is important</a:t>
            </a:r>
            <a:endParaRPr lang="en-US" dirty="0">
              <a:latin typeface="Aptos" panose="020B0004020202020204"/>
            </a:endParaRPr>
          </a:p>
          <a:p>
            <a:r>
              <a:rPr lang="en-US" sz="1600" dirty="0">
                <a:latin typeface="PT Serif"/>
              </a:rPr>
              <a:t>After a glucose load, the level of blood glucose increases. The excess glucose signals the endocrine pancreas to secrete insulin, which promotes glucose storage in the liver and muscles. This stored </a:t>
            </a:r>
            <a:r>
              <a:rPr lang="en-US" sz="1600" b="1" dirty="0">
                <a:latin typeface="PT Serif"/>
              </a:rPr>
              <a:t>glycogen</a:t>
            </a:r>
            <a:r>
              <a:rPr lang="en-US" sz="1600" dirty="0">
                <a:latin typeface="PT Serif"/>
              </a:rPr>
              <a:t> is the primary short-term storage form of glucose.</a:t>
            </a:r>
            <a:endParaRPr lang="en-US"/>
          </a:p>
          <a:p>
            <a:r>
              <a:rPr lang="en-US" sz="1600" dirty="0">
                <a:latin typeface="PT Serif"/>
              </a:rPr>
              <a:t>When the liver is sa</a:t>
            </a:r>
            <a:r>
              <a:rPr lang="en-US" sz="1600" u="sng" dirty="0">
                <a:latin typeface="PT Serif"/>
              </a:rPr>
              <a:t>t</a:t>
            </a:r>
            <a:r>
              <a:rPr lang="en-US" sz="1600" dirty="0">
                <a:latin typeface="PT Serif"/>
              </a:rPr>
              <a:t>urated with glycogen, any additional glucose taken up by hepatocytes is instead converted to fatty acids, which enter the blood as lipoproteins. These can provide free fatty acids for adipocytes. The adipocytes are stimulated by insulin to take up glucose and convert it to glycerol. In the adipocyte, this glycerol combines with the free fatty acid to make </a:t>
            </a:r>
            <a:r>
              <a:rPr lang="en-US" sz="1600" b="1" dirty="0">
                <a:latin typeface="PT Serif"/>
              </a:rPr>
              <a:t>triglycerides</a:t>
            </a:r>
            <a:r>
              <a:rPr lang="en-US" sz="1600" dirty="0">
                <a:latin typeface="PT Serif"/>
              </a:rPr>
              <a:t>, stored in the adipocyte for future energy use. So insulin leads to storage: liver glycogen and adipocyte triglycerides.</a:t>
            </a:r>
            <a:endParaRPr lang="en-US" dirty="0"/>
          </a:p>
        </p:txBody>
      </p:sp>
    </p:spTree>
    <p:extLst>
      <p:ext uri="{BB962C8B-B14F-4D97-AF65-F5344CB8AC3E}">
        <p14:creationId xmlns:p14="http://schemas.microsoft.com/office/powerpoint/2010/main" val="1502031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DE06F-25D0-FBD9-4D12-7C655B836D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6C658E-11D5-A0A2-B557-ED2D65A405A0}"/>
              </a:ext>
            </a:extLst>
          </p:cNvPr>
          <p:cNvSpPr>
            <a:spLocks noGrp="1"/>
          </p:cNvSpPr>
          <p:nvPr>
            <p:ph type="title"/>
          </p:nvPr>
        </p:nvSpPr>
        <p:spPr/>
        <p:txBody>
          <a:bodyPr/>
          <a:lstStyle/>
          <a:p>
            <a:r>
              <a:rPr lang="en-US" dirty="0"/>
              <a:t>Insulin secretion</a:t>
            </a:r>
          </a:p>
        </p:txBody>
      </p:sp>
      <p:sp>
        <p:nvSpPr>
          <p:cNvPr id="3" name="Content Placeholder 2">
            <a:extLst>
              <a:ext uri="{FF2B5EF4-FFF2-40B4-BE49-F238E27FC236}">
                <a16:creationId xmlns:a16="http://schemas.microsoft.com/office/drawing/2014/main" id="{A60AA72B-B988-A0B8-B051-6F35E3B03272}"/>
              </a:ext>
            </a:extLst>
          </p:cNvPr>
          <p:cNvSpPr>
            <a:spLocks noGrp="1"/>
          </p:cNvSpPr>
          <p:nvPr>
            <p:ph idx="1"/>
          </p:nvPr>
        </p:nvSpPr>
        <p:spPr/>
        <p:txBody>
          <a:bodyPr/>
          <a:lstStyle/>
          <a:p>
            <a:endParaRPr lang="en-US"/>
          </a:p>
        </p:txBody>
      </p:sp>
      <p:pic>
        <p:nvPicPr>
          <p:cNvPr id="5" name="Content Placeholder 4" descr="A diagram of a cell membrane&#10;&#10;AI-generated content may be incorrect.">
            <a:extLst>
              <a:ext uri="{FF2B5EF4-FFF2-40B4-BE49-F238E27FC236}">
                <a16:creationId xmlns:a16="http://schemas.microsoft.com/office/drawing/2014/main" id="{F69A0A84-951D-70A1-1513-979B890E9958}"/>
              </a:ext>
            </a:extLst>
          </p:cNvPr>
          <p:cNvPicPr>
            <a:picLocks noChangeAspect="1"/>
          </p:cNvPicPr>
          <p:nvPr/>
        </p:nvPicPr>
        <p:blipFill>
          <a:blip r:embed="rId2"/>
          <a:stretch>
            <a:fillRect/>
          </a:stretch>
        </p:blipFill>
        <p:spPr>
          <a:xfrm>
            <a:off x="838200" y="1885262"/>
            <a:ext cx="5181600" cy="3851063"/>
          </a:xfrm>
          <a:prstGeom prst="rect">
            <a:avLst/>
          </a:prstGeom>
        </p:spPr>
      </p:pic>
      <p:sp>
        <p:nvSpPr>
          <p:cNvPr id="6" name="TextBox 5">
            <a:extLst>
              <a:ext uri="{FF2B5EF4-FFF2-40B4-BE49-F238E27FC236}">
                <a16:creationId xmlns:a16="http://schemas.microsoft.com/office/drawing/2014/main" id="{B5CFD496-AD17-4A65-88D6-BBF1AB351944}"/>
              </a:ext>
            </a:extLst>
          </p:cNvPr>
          <p:cNvSpPr txBox="1"/>
          <p:nvPr/>
        </p:nvSpPr>
        <p:spPr>
          <a:xfrm>
            <a:off x="7119937" y="2607469"/>
            <a:ext cx="314325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Glut 2 for glucose sensing at pancreas.</a:t>
            </a:r>
          </a:p>
          <a:p>
            <a:r>
              <a:rPr lang="en-US" dirty="0"/>
              <a:t>Glut 4 for glucose uptake in fat and muscle.</a:t>
            </a:r>
          </a:p>
        </p:txBody>
      </p:sp>
    </p:spTree>
    <p:extLst>
      <p:ext uri="{BB962C8B-B14F-4D97-AF65-F5344CB8AC3E}">
        <p14:creationId xmlns:p14="http://schemas.microsoft.com/office/powerpoint/2010/main" val="1411806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0BDE7-C8B6-6523-166A-9BD0C55FFF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C2C375-AAAD-069F-4586-A33F560FFE4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79650C4-366A-E610-9AEE-8ED386D37F1C}"/>
              </a:ext>
            </a:extLst>
          </p:cNvPr>
          <p:cNvSpPr>
            <a:spLocks noGrp="1"/>
          </p:cNvSpPr>
          <p:nvPr>
            <p:ph idx="1"/>
          </p:nvPr>
        </p:nvSpPr>
        <p:spPr/>
        <p:txBody>
          <a:bodyPr vert="horz" lIns="91440" tIns="45720" rIns="91440" bIns="45720" rtlCol="0" anchor="t">
            <a:normAutofit/>
          </a:bodyPr>
          <a:lstStyle/>
          <a:p>
            <a:r>
              <a:rPr lang="en-US" sz="1700" b="1" dirty="0">
                <a:latin typeface="Lucida Sans"/>
              </a:rPr>
              <a:t>Hormone Transport and Receptor Binding</a:t>
            </a:r>
            <a:endParaRPr lang="en-US" dirty="0"/>
          </a:p>
          <a:p>
            <a:r>
              <a:rPr lang="en-US" sz="1600" dirty="0">
                <a:latin typeface="PT Serif"/>
              </a:rPr>
              <a:t>After synthesis in the islet cells as water-soluble peptide hormones, both insulin and glucagon travel unbound in the circulation to their target cells. Three primary actions occur next:</a:t>
            </a:r>
            <a:endParaRPr lang="en-US" dirty="0"/>
          </a:p>
          <a:p>
            <a:r>
              <a:rPr lang="en-US" sz="1600" dirty="0">
                <a:latin typeface="PT Serif"/>
              </a:rPr>
              <a:t>Insulin stimulates glucose uptake into cells.</a:t>
            </a:r>
            <a:endParaRPr lang="en-US" dirty="0"/>
          </a:p>
          <a:p>
            <a:r>
              <a:rPr lang="en-US" sz="1600" b="1" dirty="0">
                <a:latin typeface="PT Serif"/>
              </a:rPr>
              <a:t>Glucose Uptake. </a:t>
            </a:r>
            <a:r>
              <a:rPr lang="en-US" sz="1600" dirty="0">
                <a:latin typeface="PT Serif"/>
              </a:rPr>
              <a:t>Insulin is a storage hormone that facilitates the conversion of glucose to glycogen, fat, and other storable substances. To do this, insulin binds to target cells by using the </a:t>
            </a:r>
            <a:r>
              <a:rPr lang="en-US" sz="1600" b="1" dirty="0">
                <a:latin typeface="PT Serif"/>
              </a:rPr>
              <a:t>insulin receptor</a:t>
            </a:r>
            <a:r>
              <a:rPr lang="en-US" sz="1600" dirty="0">
                <a:latin typeface="PT Serif"/>
              </a:rPr>
              <a:t>, a </a:t>
            </a:r>
            <a:r>
              <a:rPr lang="en-US" sz="1600" u="sng" dirty="0">
                <a:latin typeface="PT Serif"/>
              </a:rPr>
              <a:t>receptor tyrosine kinase </a:t>
            </a:r>
          </a:p>
          <a:p>
            <a:endParaRPr lang="en-US" sz="1600" u="sng" dirty="0">
              <a:latin typeface="PT Serif"/>
            </a:endParaRPr>
          </a:p>
        </p:txBody>
      </p:sp>
    </p:spTree>
    <p:extLst>
      <p:ext uri="{BB962C8B-B14F-4D97-AF65-F5344CB8AC3E}">
        <p14:creationId xmlns:p14="http://schemas.microsoft.com/office/powerpoint/2010/main" val="22283052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B5885-8900-CA59-223C-B0608DF73A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6341E6-F0A6-6FB7-2DD8-60B144164FCC}"/>
              </a:ext>
            </a:extLst>
          </p:cNvPr>
          <p:cNvSpPr>
            <a:spLocks noGrp="1"/>
          </p:cNvSpPr>
          <p:nvPr>
            <p:ph type="title"/>
          </p:nvPr>
        </p:nvSpPr>
        <p:spPr/>
        <p:txBody>
          <a:bodyPr/>
          <a:lstStyle/>
          <a:p>
            <a:r>
              <a:rPr lang="en-US" dirty="0"/>
              <a:t>Glucose uptake</a:t>
            </a:r>
          </a:p>
        </p:txBody>
      </p:sp>
      <p:pic>
        <p:nvPicPr>
          <p:cNvPr id="4" name="Content Placeholder 3" descr="Diagram of a cell membrane&#10;&#10;AI-generated content may be incorrect.">
            <a:extLst>
              <a:ext uri="{FF2B5EF4-FFF2-40B4-BE49-F238E27FC236}">
                <a16:creationId xmlns:a16="http://schemas.microsoft.com/office/drawing/2014/main" id="{4BCD7001-54FE-D053-3FB4-4E1CC90875A5}"/>
              </a:ext>
            </a:extLst>
          </p:cNvPr>
          <p:cNvPicPr>
            <a:picLocks noGrp="1" noChangeAspect="1"/>
          </p:cNvPicPr>
          <p:nvPr>
            <p:ph idx="1"/>
          </p:nvPr>
        </p:nvPicPr>
        <p:blipFill>
          <a:blip r:embed="rId2"/>
          <a:stretch>
            <a:fillRect/>
          </a:stretch>
        </p:blipFill>
        <p:spPr>
          <a:xfrm>
            <a:off x="7727439" y="2042951"/>
            <a:ext cx="3356996" cy="4573911"/>
          </a:xfrm>
        </p:spPr>
      </p:pic>
      <p:sp>
        <p:nvSpPr>
          <p:cNvPr id="5" name="TextBox 4">
            <a:extLst>
              <a:ext uri="{FF2B5EF4-FFF2-40B4-BE49-F238E27FC236}">
                <a16:creationId xmlns:a16="http://schemas.microsoft.com/office/drawing/2014/main" id="{D8D8E959-5BF1-8B81-55A5-33777D447C37}"/>
              </a:ext>
            </a:extLst>
          </p:cNvPr>
          <p:cNvSpPr txBox="1"/>
          <p:nvPr/>
        </p:nvSpPr>
        <p:spPr>
          <a:xfrm>
            <a:off x="704850" y="1847850"/>
            <a:ext cx="5476875"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PT Serif"/>
              </a:rPr>
              <a:t>Autophosphorylation of </a:t>
            </a:r>
            <a:r>
              <a:rPr lang="en-US"/>
              <a:t>tyrosine</a:t>
            </a:r>
            <a:r>
              <a:rPr lang="en-US">
                <a:latin typeface="PT Serif"/>
              </a:rPr>
              <a:t> residues starts the signaling pathway, which ends with </a:t>
            </a:r>
            <a:r>
              <a:rPr lang="en-US" b="1">
                <a:latin typeface="PT Serif"/>
              </a:rPr>
              <a:t>glucose transporter type 4</a:t>
            </a:r>
            <a:r>
              <a:rPr lang="en-US">
                <a:latin typeface="PT Serif"/>
              </a:rPr>
              <a:t> (</a:t>
            </a:r>
            <a:r>
              <a:rPr lang="en-US" b="1">
                <a:latin typeface="PT Serif"/>
              </a:rPr>
              <a:t>GLUT4</a:t>
            </a:r>
            <a:r>
              <a:rPr lang="en-US">
                <a:latin typeface="PT Serif"/>
              </a:rPr>
              <a:t>)</a:t>
            </a:r>
            <a:r>
              <a:rPr lang="en-US" b="1">
                <a:latin typeface="PT Serif"/>
              </a:rPr>
              <a:t> </a:t>
            </a:r>
            <a:r>
              <a:rPr lang="en-US">
                <a:latin typeface="PT Serif"/>
              </a:rPr>
              <a:t>moving to the cell membrane. This allows glucose to enter the cell by using </a:t>
            </a:r>
            <a:r>
              <a:rPr lang="en-US"/>
              <a:t>facilitated diffusion</a:t>
            </a:r>
            <a:r>
              <a:rPr lang="en-US">
                <a:latin typeface="PT Serif"/>
              </a:rPr>
              <a:t> down its </a:t>
            </a:r>
            <a:r>
              <a:rPr lang="en-US"/>
              <a:t>concentration gradient</a:t>
            </a:r>
            <a:r>
              <a:rPr lang="en-US">
                <a:latin typeface="PT Serif"/>
              </a:rPr>
              <a:t>. (Intracellular glucose levels are very low, since glucose is quickly metabolized). This pathway stimulates the formation of glycogen, lipids, and proteins in multiple cell types. Separately, another insulin-dependent pathway, the mitogen-activated protein (MAP) </a:t>
            </a:r>
            <a:r>
              <a:rPr lang="en-US"/>
              <a:t>kinase</a:t>
            </a:r>
            <a:r>
              <a:rPr lang="en-US">
                <a:latin typeface="PT Serif"/>
              </a:rPr>
              <a:t> pathway, promotes cell growth and DNA synthesis.</a:t>
            </a:r>
            <a:endParaRPr lang="en-US"/>
          </a:p>
        </p:txBody>
      </p:sp>
    </p:spTree>
    <p:extLst>
      <p:ext uri="{BB962C8B-B14F-4D97-AF65-F5344CB8AC3E}">
        <p14:creationId xmlns:p14="http://schemas.microsoft.com/office/powerpoint/2010/main" val="35578484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5F7B8-7CB5-4C41-B840-D1C860CE14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EF9731-A64F-3AAF-B60E-0290A3AFEA6F}"/>
              </a:ext>
            </a:extLst>
          </p:cNvPr>
          <p:cNvSpPr>
            <a:spLocks noGrp="1"/>
          </p:cNvSpPr>
          <p:nvPr>
            <p:ph type="title"/>
          </p:nvPr>
        </p:nvSpPr>
        <p:spPr/>
        <p:txBody>
          <a:bodyPr/>
          <a:lstStyle/>
          <a:p>
            <a:pPr marL="285750" indent="-285750">
              <a:spcBef>
                <a:spcPts val="1000"/>
              </a:spcBef>
              <a:buFont typeface="Arial"/>
              <a:buChar char="•"/>
            </a:pPr>
            <a:r>
              <a:rPr lang="en-US" sz="1600" dirty="0">
                <a:solidFill>
                  <a:srgbClr val="FF0000"/>
                </a:solidFill>
                <a:latin typeface="PT Serif"/>
              </a:rPr>
              <a:t>Glucagon is catabolic</a:t>
            </a:r>
            <a:endParaRPr lang="en-US" sz="1600" dirty="0">
              <a:latin typeface="PT Serif"/>
            </a:endParaRPr>
          </a:p>
          <a:p>
            <a:pPr marL="285750" indent="-285750">
              <a:spcBef>
                <a:spcPts val="1000"/>
              </a:spcBef>
              <a:buFont typeface="Arial"/>
              <a:buChar char="•"/>
            </a:pPr>
            <a:r>
              <a:rPr lang="en-US" sz="1600" dirty="0">
                <a:latin typeface="PT Serif"/>
              </a:rPr>
              <a:t>Glucagon stimulates </a:t>
            </a:r>
            <a:r>
              <a:rPr lang="en-US" sz="1600" u="sng" dirty="0">
                <a:latin typeface="PT Serif"/>
              </a:rPr>
              <a:t>glycogenolysis.</a:t>
            </a:r>
            <a:endParaRPr lang="en-US" sz="1600" dirty="0">
              <a:latin typeface="PT Serif"/>
            </a:endParaRPr>
          </a:p>
          <a:p>
            <a:pPr marL="285750" indent="-285750">
              <a:spcBef>
                <a:spcPts val="1000"/>
              </a:spcBef>
              <a:buFont typeface="Arial"/>
              <a:buChar char="•"/>
            </a:pPr>
            <a:r>
              <a:rPr lang="en-US" sz="1600" dirty="0">
                <a:latin typeface="PT Serif"/>
              </a:rPr>
              <a:t>Glucagon stimulates </a:t>
            </a:r>
            <a:r>
              <a:rPr lang="en-US" sz="1600" u="sng" dirty="0">
                <a:latin typeface="PT Serif"/>
              </a:rPr>
              <a:t>gluconeogenesis – production of glucose from </a:t>
            </a:r>
            <a:r>
              <a:rPr lang="en-US" sz="1600" u="sng" dirty="0" err="1">
                <a:latin typeface="PT Serif"/>
              </a:rPr>
              <a:t>non carbohydrates</a:t>
            </a:r>
            <a:r>
              <a:rPr lang="en-US" sz="1600" u="sng" dirty="0">
                <a:latin typeface="PT Serif"/>
              </a:rPr>
              <a:t>.</a:t>
            </a:r>
            <a:endParaRPr lang="en-US" sz="1600" dirty="0">
              <a:latin typeface="PT Serif"/>
            </a:endParaRPr>
          </a:p>
          <a:p>
            <a:endParaRPr lang="en-US" dirty="0"/>
          </a:p>
        </p:txBody>
      </p:sp>
      <p:sp>
        <p:nvSpPr>
          <p:cNvPr id="3" name="Content Placeholder 2">
            <a:extLst>
              <a:ext uri="{FF2B5EF4-FFF2-40B4-BE49-F238E27FC236}">
                <a16:creationId xmlns:a16="http://schemas.microsoft.com/office/drawing/2014/main" id="{8EBC6877-1DF7-9CF3-B657-683229739B11}"/>
              </a:ext>
            </a:extLst>
          </p:cNvPr>
          <p:cNvSpPr>
            <a:spLocks noGrp="1"/>
          </p:cNvSpPr>
          <p:nvPr>
            <p:ph idx="1"/>
          </p:nvPr>
        </p:nvSpPr>
        <p:spPr/>
        <p:txBody>
          <a:bodyPr vert="horz" lIns="91440" tIns="45720" rIns="91440" bIns="45720" rtlCol="0" anchor="t">
            <a:normAutofit/>
          </a:bodyPr>
          <a:lstStyle/>
          <a:p>
            <a:r>
              <a:rPr lang="en-US" sz="1600" b="1" dirty="0">
                <a:latin typeface="PT Serif"/>
              </a:rPr>
              <a:t>Glycogenolysis.</a:t>
            </a:r>
            <a:r>
              <a:rPr lang="en-US" sz="1600" dirty="0">
                <a:latin typeface="PT Serif"/>
              </a:rPr>
              <a:t> Opposing the function of insulin, glucagon performs </a:t>
            </a:r>
            <a:r>
              <a:rPr lang="en-US" sz="1600" b="1" dirty="0">
                <a:latin typeface="PT Serif"/>
              </a:rPr>
              <a:t>glycogenolysis</a:t>
            </a:r>
            <a:r>
              <a:rPr lang="en-US" sz="1600" dirty="0">
                <a:latin typeface="PT Serif"/>
              </a:rPr>
              <a:t>—the breakdown of stored glycogen to provide glucose (and energy). This mainly occurs in the liver, where glucagon receptors are dense.</a:t>
            </a:r>
          </a:p>
          <a:p>
            <a:endParaRPr lang="en-US" sz="1600" dirty="0">
              <a:latin typeface="PT Serif"/>
            </a:endParaRPr>
          </a:p>
        </p:txBody>
      </p:sp>
      <p:pic>
        <p:nvPicPr>
          <p:cNvPr id="4" name="Picture 3" descr="A diagram of a protein formation&#10;&#10;AI-generated content may be incorrect.">
            <a:extLst>
              <a:ext uri="{FF2B5EF4-FFF2-40B4-BE49-F238E27FC236}">
                <a16:creationId xmlns:a16="http://schemas.microsoft.com/office/drawing/2014/main" id="{6E8C09F8-68C4-12CE-BA9E-F13EB7B56C60}"/>
              </a:ext>
            </a:extLst>
          </p:cNvPr>
          <p:cNvPicPr>
            <a:picLocks noChangeAspect="1"/>
          </p:cNvPicPr>
          <p:nvPr/>
        </p:nvPicPr>
        <p:blipFill>
          <a:blip r:embed="rId2"/>
          <a:stretch>
            <a:fillRect/>
          </a:stretch>
        </p:blipFill>
        <p:spPr>
          <a:xfrm>
            <a:off x="5267464" y="2790825"/>
            <a:ext cx="5267047" cy="4067175"/>
          </a:xfrm>
          <a:prstGeom prst="rect">
            <a:avLst/>
          </a:prstGeom>
        </p:spPr>
      </p:pic>
    </p:spTree>
    <p:extLst>
      <p:ext uri="{BB962C8B-B14F-4D97-AF65-F5344CB8AC3E}">
        <p14:creationId xmlns:p14="http://schemas.microsoft.com/office/powerpoint/2010/main" val="3630876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29342-6489-8759-2330-6EDFFB0613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8B60C4-0AC9-ECDD-ACFD-3FE5B5042317}"/>
              </a:ext>
            </a:extLst>
          </p:cNvPr>
          <p:cNvSpPr>
            <a:spLocks noGrp="1"/>
          </p:cNvSpPr>
          <p:nvPr>
            <p:ph type="title"/>
          </p:nvPr>
        </p:nvSpPr>
        <p:spPr/>
        <p:txBody>
          <a:bodyPr/>
          <a:lstStyle/>
          <a:p>
            <a:r>
              <a:rPr lang="en-US" dirty="0"/>
              <a:t>How do insulin and glucagon act together?</a:t>
            </a:r>
          </a:p>
        </p:txBody>
      </p:sp>
      <p:pic>
        <p:nvPicPr>
          <p:cNvPr id="4" name="Content Placeholder 3">
            <a:extLst>
              <a:ext uri="{FF2B5EF4-FFF2-40B4-BE49-F238E27FC236}">
                <a16:creationId xmlns:a16="http://schemas.microsoft.com/office/drawing/2014/main" id="{F9C0DAB4-6294-B244-8223-A98A895C4AAE}"/>
              </a:ext>
            </a:extLst>
          </p:cNvPr>
          <p:cNvPicPr>
            <a:picLocks noGrp="1" noChangeAspect="1"/>
          </p:cNvPicPr>
          <p:nvPr>
            <p:ph idx="1"/>
          </p:nvPr>
        </p:nvPicPr>
        <p:blipFill>
          <a:blip r:embed="rId2"/>
          <a:stretch>
            <a:fillRect/>
          </a:stretch>
        </p:blipFill>
        <p:spPr>
          <a:xfrm>
            <a:off x="999356" y="1680239"/>
            <a:ext cx="8278762" cy="3803910"/>
          </a:xfrm>
        </p:spPr>
      </p:pic>
    </p:spTree>
    <p:extLst>
      <p:ext uri="{BB962C8B-B14F-4D97-AF65-F5344CB8AC3E}">
        <p14:creationId xmlns:p14="http://schemas.microsoft.com/office/powerpoint/2010/main" val="3546869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5EAFC-8626-0B4F-38D3-4B18D31A9A42}"/>
              </a:ext>
            </a:extLst>
          </p:cNvPr>
          <p:cNvSpPr>
            <a:spLocks noGrp="1"/>
          </p:cNvSpPr>
          <p:nvPr>
            <p:ph type="title"/>
          </p:nvPr>
        </p:nvSpPr>
        <p:spPr/>
        <p:txBody>
          <a:bodyPr/>
          <a:lstStyle/>
          <a:p>
            <a:r>
              <a:rPr lang="en-US" dirty="0"/>
              <a:t>Diabetes Mellitus</a:t>
            </a:r>
          </a:p>
        </p:txBody>
      </p:sp>
      <p:sp>
        <p:nvSpPr>
          <p:cNvPr id="3" name="Content Placeholder 2">
            <a:extLst>
              <a:ext uri="{FF2B5EF4-FFF2-40B4-BE49-F238E27FC236}">
                <a16:creationId xmlns:a16="http://schemas.microsoft.com/office/drawing/2014/main" id="{9878F6DB-DBAB-760C-D81E-2A7D01773858}"/>
              </a:ext>
            </a:extLst>
          </p:cNvPr>
          <p:cNvSpPr>
            <a:spLocks noGrp="1"/>
          </p:cNvSpPr>
          <p:nvPr>
            <p:ph idx="1"/>
          </p:nvPr>
        </p:nvSpPr>
        <p:spPr/>
        <p:txBody>
          <a:bodyPr vert="horz" lIns="91440" tIns="45720" rIns="91440" bIns="45720" rtlCol="0" anchor="t">
            <a:normAutofit/>
          </a:bodyPr>
          <a:lstStyle/>
          <a:p>
            <a:r>
              <a:rPr lang="en-US" sz="1800" dirty="0">
                <a:solidFill>
                  <a:srgbClr val="383636"/>
                </a:solidFill>
                <a:latin typeface="Helvetica Neue"/>
              </a:rPr>
              <a:t>Diabetes mellitus is a group of metabolic </a:t>
            </a:r>
            <a:r>
              <a:rPr lang="en-US" sz="1800" dirty="0">
                <a:solidFill>
                  <a:srgbClr val="FF0000"/>
                </a:solidFill>
                <a:latin typeface="Helvetica Neue"/>
              </a:rPr>
              <a:t>disorders of carbohydrate(fuel) metabolism</a:t>
            </a:r>
            <a:r>
              <a:rPr lang="en-US" sz="1800" dirty="0">
                <a:solidFill>
                  <a:srgbClr val="383636"/>
                </a:solidFill>
                <a:latin typeface="Helvetica Neue"/>
              </a:rPr>
              <a:t> in which glucose is both underutilized as an energy source </a:t>
            </a:r>
            <a:r>
              <a:rPr lang="en-US" sz="1800" u="sng" dirty="0">
                <a:solidFill>
                  <a:srgbClr val="383636"/>
                </a:solidFill>
                <a:latin typeface="Helvetica Neue"/>
              </a:rPr>
              <a:t>and </a:t>
            </a:r>
            <a:r>
              <a:rPr lang="en-US" sz="1800" dirty="0">
                <a:solidFill>
                  <a:srgbClr val="383636"/>
                </a:solidFill>
                <a:latin typeface="Helvetica Neue"/>
              </a:rPr>
              <a:t>overproduced due to inappropriate gluconeogenesis and glycogenolysis, resulting in hyperglycemia </a:t>
            </a:r>
          </a:p>
          <a:p>
            <a:r>
              <a:rPr lang="en-US" sz="1800" dirty="0">
                <a:solidFill>
                  <a:srgbClr val="383636"/>
                </a:solidFill>
                <a:latin typeface="Helvetica Neue"/>
              </a:rPr>
              <a:t>Dx in </a:t>
            </a:r>
            <a:r>
              <a:rPr lang="en-US" sz="1800" dirty="0" err="1">
                <a:solidFill>
                  <a:srgbClr val="383636"/>
                </a:solidFill>
                <a:latin typeface="Helvetica Neue"/>
              </a:rPr>
              <a:t>non pregnant</a:t>
            </a:r>
            <a:r>
              <a:rPr lang="en-US" sz="1800" dirty="0">
                <a:solidFill>
                  <a:srgbClr val="383636"/>
                </a:solidFill>
                <a:latin typeface="Helvetica Neue"/>
              </a:rPr>
              <a:t> adults</a:t>
            </a:r>
          </a:p>
          <a:p>
            <a:endParaRPr lang="en-US" sz="1800" dirty="0">
              <a:solidFill>
                <a:srgbClr val="383636"/>
              </a:solidFill>
              <a:latin typeface="Helvetica Neue"/>
            </a:endParaRPr>
          </a:p>
        </p:txBody>
      </p:sp>
      <p:graphicFrame>
        <p:nvGraphicFramePr>
          <p:cNvPr id="5" name="Table 4">
            <a:extLst>
              <a:ext uri="{FF2B5EF4-FFF2-40B4-BE49-F238E27FC236}">
                <a16:creationId xmlns:a16="http://schemas.microsoft.com/office/drawing/2014/main" id="{D1B7246D-DE39-DCD6-EAF8-227EC08C9173}"/>
              </a:ext>
            </a:extLst>
          </p:cNvPr>
          <p:cNvGraphicFramePr>
            <a:graphicFrameLocks noGrp="1"/>
          </p:cNvGraphicFramePr>
          <p:nvPr>
            <p:extLst>
              <p:ext uri="{D42A27DB-BD31-4B8C-83A1-F6EECF244321}">
                <p14:modId xmlns:p14="http://schemas.microsoft.com/office/powerpoint/2010/main" val="1096936868"/>
              </p:ext>
            </p:extLst>
          </p:nvPr>
        </p:nvGraphicFramePr>
        <p:xfrm>
          <a:off x="513064" y="3013710"/>
          <a:ext cx="10956322" cy="3108960"/>
        </p:xfrm>
        <a:graphic>
          <a:graphicData uri="http://schemas.openxmlformats.org/drawingml/2006/table">
            <a:tbl>
              <a:tblPr bandRow="1">
                <a:tableStyleId>{5C22544A-7EE6-4342-B048-85BDC9FD1C3A}</a:tableStyleId>
              </a:tblPr>
              <a:tblGrid>
                <a:gridCol w="10956322">
                  <a:extLst>
                    <a:ext uri="{9D8B030D-6E8A-4147-A177-3AD203B41FA5}">
                      <a16:colId xmlns:a16="http://schemas.microsoft.com/office/drawing/2014/main" val="3110107996"/>
                    </a:ext>
                  </a:extLst>
                </a:gridCol>
              </a:tblGrid>
              <a:tr h="0">
                <a:tc>
                  <a:txBody>
                    <a:bodyPr/>
                    <a:lstStyle/>
                    <a:p>
                      <a:pPr algn="l" fontAlgn="t"/>
                      <a:r>
                        <a:rPr lang="en-US" dirty="0">
                          <a:effectLst/>
                        </a:rPr>
                        <a:t>A1C ≥6.5%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noFill/>
                  </a:tcPr>
                </a:tc>
                <a:extLst>
                  <a:ext uri="{0D108BD9-81ED-4DB2-BD59-A6C34878D82A}">
                    <a16:rowId xmlns:a16="http://schemas.microsoft.com/office/drawing/2014/main" val="1207331343"/>
                  </a:ext>
                </a:extLst>
              </a:tr>
              <a:tr h="0">
                <a:tc>
                  <a:txBody>
                    <a:bodyPr/>
                    <a:lstStyle/>
                    <a:p>
                      <a:pPr algn="l" fontAlgn="t"/>
                      <a:r>
                        <a:rPr lang="en-US" dirty="0">
                          <a:effectLst/>
                        </a:rPr>
                        <a:t>OR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noFill/>
                  </a:tcPr>
                </a:tc>
                <a:extLst>
                  <a:ext uri="{0D108BD9-81ED-4DB2-BD59-A6C34878D82A}">
                    <a16:rowId xmlns:a16="http://schemas.microsoft.com/office/drawing/2014/main" val="2059937040"/>
                  </a:ext>
                </a:extLst>
              </a:tr>
              <a:tr h="0">
                <a:tc>
                  <a:txBody>
                    <a:bodyPr/>
                    <a:lstStyle/>
                    <a:p>
                      <a:pPr algn="l" fontAlgn="t"/>
                      <a:r>
                        <a:rPr lang="en-US" dirty="0">
                          <a:effectLst/>
                        </a:rPr>
                        <a:t>FPG ≥126 mg/dL . Fasting is defined as no caloric intake for at least 8 h.</a:t>
                      </a:r>
                      <a:r>
                        <a:rPr lang="en-US" b="1" u="sng" dirty="0">
                          <a:solidFill>
                            <a:srgbClr val="0F5DB9"/>
                          </a:solidFill>
                          <a:effectLst/>
                        </a:rPr>
                        <a:t>*</a:t>
                      </a:r>
                      <a:r>
                        <a:rPr lang="en-US" dirty="0">
                          <a:effectLst/>
                        </a:rPr>
                        <a:t>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noFill/>
                  </a:tcPr>
                </a:tc>
                <a:extLst>
                  <a:ext uri="{0D108BD9-81ED-4DB2-BD59-A6C34878D82A}">
                    <a16:rowId xmlns:a16="http://schemas.microsoft.com/office/drawing/2014/main" val="1626608582"/>
                  </a:ext>
                </a:extLst>
              </a:tr>
              <a:tr h="0">
                <a:tc>
                  <a:txBody>
                    <a:bodyPr/>
                    <a:lstStyle/>
                    <a:p>
                      <a:pPr algn="l" fontAlgn="t"/>
                      <a:r>
                        <a:rPr lang="en-US" dirty="0">
                          <a:effectLst/>
                        </a:rPr>
                        <a:t>OR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noFill/>
                  </a:tcPr>
                </a:tc>
                <a:extLst>
                  <a:ext uri="{0D108BD9-81ED-4DB2-BD59-A6C34878D82A}">
                    <a16:rowId xmlns:a16="http://schemas.microsoft.com/office/drawing/2014/main" val="2149877885"/>
                  </a:ext>
                </a:extLst>
              </a:tr>
              <a:tr h="0">
                <a:tc>
                  <a:txBody>
                    <a:bodyPr/>
                    <a:lstStyle/>
                    <a:p>
                      <a:pPr algn="l" fontAlgn="t"/>
                      <a:r>
                        <a:rPr lang="en-US" dirty="0">
                          <a:effectLst/>
                        </a:rPr>
                        <a:t>2-h PG ≥200 mg/dL during OGTT. The test should be performed as described by the WHO, using a glucose load containing the equivalent of 75 g anhydrous glucose dissolved in water.</a:t>
                      </a:r>
                      <a:r>
                        <a:rPr lang="en-US" b="1" u="sng" dirty="0">
                          <a:solidFill>
                            <a:srgbClr val="0F5DB9"/>
                          </a:solidFill>
                          <a:effectLst/>
                        </a:rPr>
                        <a:t>*</a:t>
                      </a:r>
                      <a:r>
                        <a:rPr lang="en-US" dirty="0">
                          <a:effectLst/>
                        </a:rPr>
                        <a:t>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noFill/>
                  </a:tcPr>
                </a:tc>
                <a:extLst>
                  <a:ext uri="{0D108BD9-81ED-4DB2-BD59-A6C34878D82A}">
                    <a16:rowId xmlns:a16="http://schemas.microsoft.com/office/drawing/2014/main" val="811598979"/>
                  </a:ext>
                </a:extLst>
              </a:tr>
              <a:tr h="0">
                <a:tc>
                  <a:txBody>
                    <a:bodyPr/>
                    <a:lstStyle/>
                    <a:p>
                      <a:pPr algn="l" fontAlgn="t"/>
                      <a:r>
                        <a:rPr lang="en-US" dirty="0">
                          <a:effectLst/>
                        </a:rPr>
                        <a:t>OR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noFill/>
                  </a:tcPr>
                </a:tc>
                <a:extLst>
                  <a:ext uri="{0D108BD9-81ED-4DB2-BD59-A6C34878D82A}">
                    <a16:rowId xmlns:a16="http://schemas.microsoft.com/office/drawing/2014/main" val="2857573301"/>
                  </a:ext>
                </a:extLst>
              </a:tr>
              <a:tr h="0">
                <a:tc>
                  <a:txBody>
                    <a:bodyPr/>
                    <a:lstStyle/>
                    <a:p>
                      <a:pPr algn="l" fontAlgn="t"/>
                      <a:r>
                        <a:rPr lang="en-US" dirty="0">
                          <a:effectLst/>
                        </a:rPr>
                        <a:t>In an individual with classic symptoms of hyperglycemia or hyperglycemic crisis, a random plasma glucose ≥200 mg/dL (≥11.1 mmol/L). Random is any time of the day without regard to time since previous meal.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noFill/>
                  </a:tcPr>
                </a:tc>
                <a:extLst>
                  <a:ext uri="{0D108BD9-81ED-4DB2-BD59-A6C34878D82A}">
                    <a16:rowId xmlns:a16="http://schemas.microsoft.com/office/drawing/2014/main" val="495138434"/>
                  </a:ext>
                </a:extLst>
              </a:tr>
            </a:tbl>
          </a:graphicData>
        </a:graphic>
      </p:graphicFrame>
    </p:spTree>
    <p:extLst>
      <p:ext uri="{BB962C8B-B14F-4D97-AF65-F5344CB8AC3E}">
        <p14:creationId xmlns:p14="http://schemas.microsoft.com/office/powerpoint/2010/main" val="25091744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DA873-8EC5-61D8-6622-D52B1EE8412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54F407D-B7E0-E58D-242C-AF0889EADDC0}"/>
              </a:ext>
            </a:extLst>
          </p:cNvPr>
          <p:cNvSpPr>
            <a:spLocks noGrp="1"/>
          </p:cNvSpPr>
          <p:nvPr>
            <p:ph idx="1"/>
          </p:nvPr>
        </p:nvSpPr>
        <p:spPr/>
        <p:txBody>
          <a:bodyPr vert="horz" lIns="91440" tIns="45720" rIns="91440" bIns="45720" rtlCol="0" anchor="t">
            <a:normAutofit/>
          </a:bodyPr>
          <a:lstStyle/>
          <a:p>
            <a:r>
              <a:rPr lang="en-US" sz="2000" b="1" dirty="0">
                <a:solidFill>
                  <a:srgbClr val="1C1D1F"/>
                </a:solidFill>
                <a:latin typeface="Nunito"/>
              </a:rPr>
              <a:t>Total:</a:t>
            </a:r>
            <a:r>
              <a:rPr lang="en-US" sz="2000" dirty="0">
                <a:solidFill>
                  <a:srgbClr val="1C1D1F"/>
                </a:solidFill>
                <a:latin typeface="Nunito"/>
              </a:rPr>
              <a:t> 38.4 million people have diabetes (11.6% of the U.S. population)</a:t>
            </a:r>
            <a:endParaRPr lang="en-US" sz="2000" dirty="0"/>
          </a:p>
          <a:p>
            <a:r>
              <a:rPr lang="en-US" sz="2000" b="1">
                <a:solidFill>
                  <a:srgbClr val="1C1D1F"/>
                </a:solidFill>
                <a:latin typeface="Nunito"/>
              </a:rPr>
              <a:t>Diagnosed:</a:t>
            </a:r>
            <a:r>
              <a:rPr lang="en-US" sz="2000">
                <a:solidFill>
                  <a:srgbClr val="1C1D1F"/>
                </a:solidFill>
                <a:latin typeface="Nunito"/>
              </a:rPr>
              <a:t> 29.7 million people, including 29.4 million adults</a:t>
            </a:r>
            <a:endParaRPr lang="en-US" sz="2000" dirty="0"/>
          </a:p>
          <a:p>
            <a:r>
              <a:rPr lang="en-US" sz="2000" b="1" dirty="0">
                <a:solidFill>
                  <a:srgbClr val="1C1D1F"/>
                </a:solidFill>
                <a:latin typeface="Nunito"/>
              </a:rPr>
              <a:t>Undiagnosed:</a:t>
            </a:r>
            <a:r>
              <a:rPr lang="en-US" sz="2000" dirty="0">
                <a:solidFill>
                  <a:srgbClr val="1C1D1F"/>
                </a:solidFill>
                <a:latin typeface="Nunito"/>
              </a:rPr>
              <a:t> 8.7 million people (22.8% of adults with diabetes are undiagnosed)</a:t>
            </a:r>
            <a:endParaRPr lang="en-US" sz="2000" dirty="0"/>
          </a:p>
          <a:p>
            <a:endParaRPr lang="en-US" sz="2000" dirty="0"/>
          </a:p>
        </p:txBody>
      </p:sp>
    </p:spTree>
    <p:extLst>
      <p:ext uri="{BB962C8B-B14F-4D97-AF65-F5344CB8AC3E}">
        <p14:creationId xmlns:p14="http://schemas.microsoft.com/office/powerpoint/2010/main" val="31600922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FE02A-FB5C-7D6E-ACC6-3C35EC5F494E}"/>
              </a:ext>
            </a:extLst>
          </p:cNvPr>
          <p:cNvSpPr>
            <a:spLocks noGrp="1"/>
          </p:cNvSpPr>
          <p:nvPr>
            <p:ph type="title"/>
          </p:nvPr>
        </p:nvSpPr>
        <p:spPr/>
        <p:txBody>
          <a:bodyPr/>
          <a:lstStyle/>
          <a:p>
            <a:r>
              <a:rPr lang="en-US" dirty="0"/>
              <a:t>Pre DM </a:t>
            </a:r>
          </a:p>
        </p:txBody>
      </p:sp>
      <p:graphicFrame>
        <p:nvGraphicFramePr>
          <p:cNvPr id="5" name="Content Placeholder 4">
            <a:extLst>
              <a:ext uri="{FF2B5EF4-FFF2-40B4-BE49-F238E27FC236}">
                <a16:creationId xmlns:a16="http://schemas.microsoft.com/office/drawing/2014/main" id="{7DD34227-3B0E-A321-F63F-325DD62A4B3C}"/>
              </a:ext>
            </a:extLst>
          </p:cNvPr>
          <p:cNvGraphicFramePr>
            <a:graphicFrameLocks noGrp="1"/>
          </p:cNvGraphicFramePr>
          <p:nvPr>
            <p:ph idx="1"/>
            <p:extLst>
              <p:ext uri="{D42A27DB-BD31-4B8C-83A1-F6EECF244321}">
                <p14:modId xmlns:p14="http://schemas.microsoft.com/office/powerpoint/2010/main" val="942058640"/>
              </p:ext>
            </p:extLst>
          </p:nvPr>
        </p:nvGraphicFramePr>
        <p:xfrm>
          <a:off x="838200" y="1825625"/>
          <a:ext cx="10515600" cy="1828800"/>
        </p:xfrm>
        <a:graphic>
          <a:graphicData uri="http://schemas.openxmlformats.org/drawingml/2006/table">
            <a:tbl>
              <a:tblPr bandRow="1">
                <a:tableStyleId>{5C22544A-7EE6-4342-B048-85BDC9FD1C3A}</a:tableStyleId>
              </a:tblPr>
              <a:tblGrid>
                <a:gridCol w="10515600">
                  <a:extLst>
                    <a:ext uri="{9D8B030D-6E8A-4147-A177-3AD203B41FA5}">
                      <a16:colId xmlns:a16="http://schemas.microsoft.com/office/drawing/2014/main" val="3592868775"/>
                    </a:ext>
                  </a:extLst>
                </a:gridCol>
              </a:tblGrid>
              <a:tr h="0">
                <a:tc>
                  <a:txBody>
                    <a:bodyPr/>
                    <a:lstStyle/>
                    <a:p>
                      <a:pPr algn="l" fontAlgn="t"/>
                      <a:r>
                        <a:rPr lang="en-US" dirty="0">
                          <a:effectLst/>
                        </a:rPr>
                        <a:t>A1C 5.7–6.4%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extLst>
                  <a:ext uri="{0D108BD9-81ED-4DB2-BD59-A6C34878D82A}">
                    <a16:rowId xmlns:a16="http://schemas.microsoft.com/office/drawing/2014/main" val="3598055933"/>
                  </a:ext>
                </a:extLst>
              </a:tr>
              <a:tr h="0">
                <a:tc>
                  <a:txBody>
                    <a:bodyPr/>
                    <a:lstStyle/>
                    <a:p>
                      <a:pPr algn="l" fontAlgn="t"/>
                      <a:r>
                        <a:rPr lang="en-US" dirty="0">
                          <a:effectLst/>
                        </a:rPr>
                        <a:t>OR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extLst>
                  <a:ext uri="{0D108BD9-81ED-4DB2-BD59-A6C34878D82A}">
                    <a16:rowId xmlns:a16="http://schemas.microsoft.com/office/drawing/2014/main" val="2490862153"/>
                  </a:ext>
                </a:extLst>
              </a:tr>
              <a:tr h="0">
                <a:tc>
                  <a:txBody>
                    <a:bodyPr/>
                    <a:lstStyle/>
                    <a:p>
                      <a:pPr algn="l" fontAlgn="t"/>
                      <a:r>
                        <a:rPr lang="en-US" dirty="0">
                          <a:effectLst/>
                        </a:rPr>
                        <a:t>FPG 100 mg/dL to 125 mg/dL (IFG)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extLst>
                  <a:ext uri="{0D108BD9-81ED-4DB2-BD59-A6C34878D82A}">
                    <a16:rowId xmlns:a16="http://schemas.microsoft.com/office/drawing/2014/main" val="3997352735"/>
                  </a:ext>
                </a:extLst>
              </a:tr>
              <a:tr h="0">
                <a:tc>
                  <a:txBody>
                    <a:bodyPr/>
                    <a:lstStyle/>
                    <a:p>
                      <a:pPr algn="l" fontAlgn="t"/>
                      <a:r>
                        <a:rPr lang="en-US" dirty="0">
                          <a:effectLst/>
                        </a:rPr>
                        <a:t>OR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extLst>
                  <a:ext uri="{0D108BD9-81ED-4DB2-BD59-A6C34878D82A}">
                    <a16:rowId xmlns:a16="http://schemas.microsoft.com/office/drawing/2014/main" val="670581172"/>
                  </a:ext>
                </a:extLst>
              </a:tr>
              <a:tr h="0">
                <a:tc>
                  <a:txBody>
                    <a:bodyPr/>
                    <a:lstStyle/>
                    <a:p>
                      <a:pPr algn="l" fontAlgn="t"/>
                      <a:r>
                        <a:rPr lang="en-US" dirty="0">
                          <a:effectLst/>
                        </a:rPr>
                        <a:t>2-h PG during 75-g OGTT 140 mg/dL to 199 mg/dL (IGT)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extLst>
                  <a:ext uri="{0D108BD9-81ED-4DB2-BD59-A6C34878D82A}">
                    <a16:rowId xmlns:a16="http://schemas.microsoft.com/office/drawing/2014/main" val="3877743448"/>
                  </a:ext>
                </a:extLst>
              </a:tr>
            </a:tbl>
          </a:graphicData>
        </a:graphic>
      </p:graphicFrame>
      <p:sp>
        <p:nvSpPr>
          <p:cNvPr id="6" name="TextBox 5">
            <a:extLst>
              <a:ext uri="{FF2B5EF4-FFF2-40B4-BE49-F238E27FC236}">
                <a16:creationId xmlns:a16="http://schemas.microsoft.com/office/drawing/2014/main" id="{E9BA011C-20B6-4CEC-481F-D3452857D7CB}"/>
              </a:ext>
            </a:extLst>
          </p:cNvPr>
          <p:cNvSpPr txBox="1"/>
          <p:nvPr/>
        </p:nvSpPr>
        <p:spPr>
          <a:xfrm>
            <a:off x="2762250" y="3819525"/>
            <a:ext cx="274320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383636"/>
                </a:solidFill>
                <a:highlight>
                  <a:srgbClr val="FFFFFF"/>
                </a:highlight>
                <a:latin typeface="Helvetica Neue"/>
              </a:rPr>
              <a:t>Prediabetes is associated with heightened cardiovascular risk; therefore, screening for and treatment of modifiable risk factors—lipids, smoking cessation for cardiovascular disease are suggested.</a:t>
            </a:r>
            <a:endParaRPr lang="en-US" dirty="0"/>
          </a:p>
        </p:txBody>
      </p:sp>
    </p:spTree>
    <p:extLst>
      <p:ext uri="{BB962C8B-B14F-4D97-AF65-F5344CB8AC3E}">
        <p14:creationId xmlns:p14="http://schemas.microsoft.com/office/powerpoint/2010/main" val="40992565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054C8-CAC2-8A6D-C5E1-AE0DB7A389AA}"/>
              </a:ext>
            </a:extLst>
          </p:cNvPr>
          <p:cNvSpPr>
            <a:spLocks noGrp="1"/>
          </p:cNvSpPr>
          <p:nvPr>
            <p:ph type="title"/>
          </p:nvPr>
        </p:nvSpPr>
        <p:spPr/>
        <p:txBody>
          <a:bodyPr/>
          <a:lstStyle/>
          <a:p>
            <a:r>
              <a:rPr lang="en-US" dirty="0"/>
              <a:t>GLYCATION of Hb</a:t>
            </a:r>
          </a:p>
        </p:txBody>
      </p:sp>
      <p:pic>
        <p:nvPicPr>
          <p:cNvPr id="4" name="Content Placeholder 3" descr="A diagram of blood sugar&#10;&#10;AI-generated content may be incorrect.">
            <a:extLst>
              <a:ext uri="{FF2B5EF4-FFF2-40B4-BE49-F238E27FC236}">
                <a16:creationId xmlns:a16="http://schemas.microsoft.com/office/drawing/2014/main" id="{ACCBEC7A-2311-3618-3DD1-1E80B605C635}"/>
              </a:ext>
            </a:extLst>
          </p:cNvPr>
          <p:cNvPicPr>
            <a:picLocks noGrp="1" noChangeAspect="1"/>
          </p:cNvPicPr>
          <p:nvPr>
            <p:ph idx="1"/>
          </p:nvPr>
        </p:nvPicPr>
        <p:blipFill>
          <a:blip r:embed="rId2"/>
          <a:stretch>
            <a:fillRect/>
          </a:stretch>
        </p:blipFill>
        <p:spPr>
          <a:xfrm>
            <a:off x="651885" y="1980467"/>
            <a:ext cx="6563879" cy="3346329"/>
          </a:xfrm>
        </p:spPr>
      </p:pic>
      <p:sp>
        <p:nvSpPr>
          <p:cNvPr id="5" name="TextBox 4">
            <a:extLst>
              <a:ext uri="{FF2B5EF4-FFF2-40B4-BE49-F238E27FC236}">
                <a16:creationId xmlns:a16="http://schemas.microsoft.com/office/drawing/2014/main" id="{E4226E7B-9A25-2688-DF8D-C2138DDB246E}"/>
              </a:ext>
            </a:extLst>
          </p:cNvPr>
          <p:cNvSpPr txBox="1"/>
          <p:nvPr/>
        </p:nvSpPr>
        <p:spPr>
          <a:xfrm>
            <a:off x="7319519" y="1055140"/>
            <a:ext cx="2743200"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Glycation of protein and lipids--- Advanced Glycation </a:t>
            </a:r>
            <a:r>
              <a:rPr lang="en-US" dirty="0" err="1"/>
              <a:t>Endproducts</a:t>
            </a:r>
            <a:r>
              <a:rPr lang="en-US" dirty="0"/>
              <a:t>.</a:t>
            </a:r>
          </a:p>
          <a:p>
            <a:endParaRPr lang="en-US" dirty="0"/>
          </a:p>
          <a:p>
            <a:r>
              <a:rPr lang="en-US" dirty="0"/>
              <a:t> AGE </a:t>
            </a:r>
          </a:p>
          <a:p>
            <a:pPr marL="342900" indent="-342900">
              <a:buAutoNum type="arabicPeriod"/>
            </a:pPr>
            <a:r>
              <a:rPr lang="en-US" dirty="0"/>
              <a:t>Increase viscosity </a:t>
            </a:r>
          </a:p>
          <a:p>
            <a:pPr marL="342900" indent="-342900">
              <a:buAutoNum type="arabicPeriod"/>
            </a:pPr>
            <a:r>
              <a:rPr lang="en-US" dirty="0"/>
              <a:t>Increase free radical damage to endothelium and vascular smooth muscle</a:t>
            </a:r>
          </a:p>
        </p:txBody>
      </p:sp>
    </p:spTree>
    <p:extLst>
      <p:ext uri="{BB962C8B-B14F-4D97-AF65-F5344CB8AC3E}">
        <p14:creationId xmlns:p14="http://schemas.microsoft.com/office/powerpoint/2010/main" val="33874083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6DA8D-38EF-F404-F61B-6B506A2A6F41}"/>
              </a:ext>
            </a:extLst>
          </p:cNvPr>
          <p:cNvSpPr>
            <a:spLocks noGrp="1"/>
          </p:cNvSpPr>
          <p:nvPr>
            <p:ph type="title"/>
          </p:nvPr>
        </p:nvSpPr>
        <p:spPr/>
        <p:txBody>
          <a:bodyPr/>
          <a:lstStyle/>
          <a:p>
            <a:r>
              <a:rPr lang="en-US" dirty="0"/>
              <a:t>Glycohemoglobin A1c</a:t>
            </a:r>
          </a:p>
        </p:txBody>
      </p:sp>
      <p:sp>
        <p:nvSpPr>
          <p:cNvPr id="3" name="Content Placeholder 2">
            <a:extLst>
              <a:ext uri="{FF2B5EF4-FFF2-40B4-BE49-F238E27FC236}">
                <a16:creationId xmlns:a16="http://schemas.microsoft.com/office/drawing/2014/main" id="{594F2D2B-0E38-176B-7FCC-8C5CC4A58CCE}"/>
              </a:ext>
            </a:extLst>
          </p:cNvPr>
          <p:cNvSpPr>
            <a:spLocks noGrp="1"/>
          </p:cNvSpPr>
          <p:nvPr>
            <p:ph idx="1"/>
          </p:nvPr>
        </p:nvSpPr>
        <p:spPr/>
        <p:txBody>
          <a:bodyPr vert="horz" lIns="91440" tIns="45720" rIns="91440" bIns="45720" rtlCol="0" anchor="t">
            <a:normAutofit/>
          </a:bodyPr>
          <a:lstStyle/>
          <a:p>
            <a:r>
              <a:rPr lang="en-US" sz="1800" dirty="0">
                <a:solidFill>
                  <a:srgbClr val="383636"/>
                </a:solidFill>
                <a:latin typeface="Helvetica Neue"/>
              </a:rPr>
              <a:t>A1C reflects glucose bound to hemoglobin over the life span of the erythrocyte (∼120 days) and is thus a “weighted” average that is more heavily affected by recent blood glucose exposure. </a:t>
            </a:r>
            <a:endParaRPr lang="en-US" sz="1800" dirty="0">
              <a:solidFill>
                <a:srgbClr val="000000"/>
              </a:solidFill>
              <a:latin typeface="Aptos" panose="020B0004020202020204"/>
            </a:endParaRPr>
          </a:p>
          <a:p>
            <a:r>
              <a:rPr lang="en-US" sz="1800" dirty="0">
                <a:solidFill>
                  <a:srgbClr val="383636"/>
                </a:solidFill>
                <a:latin typeface="Helvetica Neue"/>
              </a:rPr>
              <a:t>A1C is an indirect measure of glucose exposure, and factors that affect hemoglobin concentrations or erythrocyte turnover can affect A1C (e.g., thalassemia or folate deficiency) . anemia, people treated with erythropoietin, or hemodialysis or HIV treatment</a:t>
            </a:r>
            <a:endParaRPr lang="en-US" sz="1800">
              <a:solidFill>
                <a:srgbClr val="000000"/>
              </a:solidFill>
              <a:latin typeface="Aptos" panose="020B0004020202020204"/>
            </a:endParaRPr>
          </a:p>
          <a:p>
            <a:endParaRPr lang="en-US" sz="1800" dirty="0">
              <a:solidFill>
                <a:srgbClr val="383636"/>
              </a:solidFill>
              <a:latin typeface="Helvetica Neue"/>
            </a:endParaRPr>
          </a:p>
        </p:txBody>
      </p:sp>
      <p:graphicFrame>
        <p:nvGraphicFramePr>
          <p:cNvPr id="5" name="Table 4">
            <a:extLst>
              <a:ext uri="{FF2B5EF4-FFF2-40B4-BE49-F238E27FC236}">
                <a16:creationId xmlns:a16="http://schemas.microsoft.com/office/drawing/2014/main" id="{7ACE875C-D16C-228C-6690-2BF288BEED20}"/>
              </a:ext>
            </a:extLst>
          </p:cNvPr>
          <p:cNvGraphicFramePr>
            <a:graphicFrameLocks noGrp="1"/>
          </p:cNvGraphicFramePr>
          <p:nvPr>
            <p:extLst>
              <p:ext uri="{D42A27DB-BD31-4B8C-83A1-F6EECF244321}">
                <p14:modId xmlns:p14="http://schemas.microsoft.com/office/powerpoint/2010/main" val="3809668509"/>
              </p:ext>
            </p:extLst>
          </p:nvPr>
        </p:nvGraphicFramePr>
        <p:xfrm>
          <a:off x="1009650" y="3409950"/>
          <a:ext cx="6302889" cy="3429682"/>
        </p:xfrm>
        <a:graphic>
          <a:graphicData uri="http://schemas.openxmlformats.org/drawingml/2006/table">
            <a:tbl>
              <a:tblPr bandRow="1">
                <a:tableStyleId>{5C22544A-7EE6-4342-B048-85BDC9FD1C3A}</a:tableStyleId>
              </a:tblPr>
              <a:tblGrid>
                <a:gridCol w="2100963">
                  <a:extLst>
                    <a:ext uri="{9D8B030D-6E8A-4147-A177-3AD203B41FA5}">
                      <a16:colId xmlns:a16="http://schemas.microsoft.com/office/drawing/2014/main" val="2138368671"/>
                    </a:ext>
                  </a:extLst>
                </a:gridCol>
                <a:gridCol w="2100963">
                  <a:extLst>
                    <a:ext uri="{9D8B030D-6E8A-4147-A177-3AD203B41FA5}">
                      <a16:colId xmlns:a16="http://schemas.microsoft.com/office/drawing/2014/main" val="904324487"/>
                    </a:ext>
                  </a:extLst>
                </a:gridCol>
                <a:gridCol w="2100963">
                  <a:extLst>
                    <a:ext uri="{9D8B030D-6E8A-4147-A177-3AD203B41FA5}">
                      <a16:colId xmlns:a16="http://schemas.microsoft.com/office/drawing/2014/main" val="382982827"/>
                    </a:ext>
                  </a:extLst>
                </a:gridCol>
              </a:tblGrid>
              <a:tr h="503602">
                <a:tc>
                  <a:txBody>
                    <a:bodyPr/>
                    <a:lstStyle/>
                    <a:p>
                      <a:pPr algn="l" fontAlgn="t"/>
                      <a:r>
                        <a:rPr lang="en-US" b="1">
                          <a:effectLst/>
                        </a:rPr>
                        <a:t>A1C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AFAFA"/>
                    </a:solidFill>
                  </a:tcPr>
                </a:tc>
                <a:tc>
                  <a:txBody>
                    <a:bodyPr/>
                    <a:lstStyle/>
                    <a:p>
                      <a:pPr algn="l" fontAlgn="t"/>
                      <a:r>
                        <a:rPr lang="en-US" b="1">
                          <a:effectLst/>
                        </a:rPr>
                        <a:t>mg/dL</a:t>
                      </a:r>
                      <a:r>
                        <a:rPr lang="en-US" b="1" u="sng">
                          <a:solidFill>
                            <a:srgbClr val="0F5DB9"/>
                          </a:solidFill>
                          <a:effectLst/>
                        </a:rPr>
                        <a:t>*</a:t>
                      </a:r>
                      <a:endParaRPr lang="en-US" b="1">
                        <a:effectLst/>
                      </a:endParaRP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AFAFA"/>
                    </a:solidFill>
                  </a:tcPr>
                </a:tc>
                <a:tc>
                  <a:txBody>
                    <a:bodyPr/>
                    <a:lstStyle/>
                    <a:p>
                      <a:pPr algn="l" fontAlgn="t"/>
                      <a:r>
                        <a:rPr lang="en-US" b="1">
                          <a:effectLst/>
                        </a:rPr>
                        <a:t>mmol/L</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AFAFA"/>
                    </a:solidFill>
                  </a:tcPr>
                </a:tc>
                <a:extLst>
                  <a:ext uri="{0D108BD9-81ED-4DB2-BD59-A6C34878D82A}">
                    <a16:rowId xmlns:a16="http://schemas.microsoft.com/office/drawing/2014/main" val="3034157829"/>
                  </a:ext>
                </a:extLst>
              </a:tr>
              <a:tr h="326899">
                <a:tc>
                  <a:txBody>
                    <a:bodyPr/>
                    <a:lstStyle/>
                    <a:p>
                      <a:pPr algn="l" fontAlgn="t"/>
                      <a:r>
                        <a:rPr lang="en-US">
                          <a:effectLst/>
                        </a:rPr>
                        <a:t>5 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fontAlgn="t"/>
                      <a:r>
                        <a:rPr lang="en-US">
                          <a:effectLst/>
                        </a:rPr>
                        <a:t>97 (76–120)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fontAlgn="t"/>
                      <a:r>
                        <a:rPr lang="en-US">
                          <a:effectLst/>
                        </a:rPr>
                        <a:t>5.4 (4.2–6.7)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extLst>
                  <a:ext uri="{0D108BD9-81ED-4DB2-BD59-A6C34878D82A}">
                    <a16:rowId xmlns:a16="http://schemas.microsoft.com/office/drawing/2014/main" val="4137792524"/>
                  </a:ext>
                </a:extLst>
              </a:tr>
              <a:tr h="326899">
                <a:tc>
                  <a:txBody>
                    <a:bodyPr/>
                    <a:lstStyle/>
                    <a:p>
                      <a:pPr algn="l" fontAlgn="t"/>
                      <a:r>
                        <a:rPr lang="en-US">
                          <a:effectLst/>
                        </a:rPr>
                        <a:t>6 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fontAlgn="t"/>
                      <a:r>
                        <a:rPr lang="en-US">
                          <a:effectLst/>
                        </a:rPr>
                        <a:t>126 (100–152)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fontAlgn="t"/>
                      <a:r>
                        <a:rPr lang="en-US">
                          <a:effectLst/>
                        </a:rPr>
                        <a:t>7.0 (5.5–8.5)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extLst>
                  <a:ext uri="{0D108BD9-81ED-4DB2-BD59-A6C34878D82A}">
                    <a16:rowId xmlns:a16="http://schemas.microsoft.com/office/drawing/2014/main" val="2849984073"/>
                  </a:ext>
                </a:extLst>
              </a:tr>
              <a:tr h="326899">
                <a:tc>
                  <a:txBody>
                    <a:bodyPr/>
                    <a:lstStyle/>
                    <a:p>
                      <a:pPr algn="l" fontAlgn="t"/>
                      <a:r>
                        <a:rPr lang="en-US">
                          <a:effectLst/>
                        </a:rPr>
                        <a:t>7 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fontAlgn="t"/>
                      <a:r>
                        <a:rPr lang="en-US">
                          <a:effectLst/>
                        </a:rPr>
                        <a:t>154 (123–185)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fontAlgn="t"/>
                      <a:r>
                        <a:rPr lang="en-US">
                          <a:effectLst/>
                        </a:rPr>
                        <a:t>8.6 (6.8–10.3)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extLst>
                  <a:ext uri="{0D108BD9-81ED-4DB2-BD59-A6C34878D82A}">
                    <a16:rowId xmlns:a16="http://schemas.microsoft.com/office/drawing/2014/main" val="3069479994"/>
                  </a:ext>
                </a:extLst>
              </a:tr>
              <a:tr h="326899">
                <a:tc>
                  <a:txBody>
                    <a:bodyPr/>
                    <a:lstStyle/>
                    <a:p>
                      <a:pPr algn="l" fontAlgn="t"/>
                      <a:r>
                        <a:rPr lang="en-US">
                          <a:effectLst/>
                        </a:rPr>
                        <a:t>8 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fontAlgn="t"/>
                      <a:r>
                        <a:rPr lang="en-US">
                          <a:effectLst/>
                        </a:rPr>
                        <a:t>183 (147–217)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fontAlgn="t"/>
                      <a:r>
                        <a:rPr lang="en-US">
                          <a:effectLst/>
                        </a:rPr>
                        <a:t>10.2 (8.1–12.1)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extLst>
                  <a:ext uri="{0D108BD9-81ED-4DB2-BD59-A6C34878D82A}">
                    <a16:rowId xmlns:a16="http://schemas.microsoft.com/office/drawing/2014/main" val="2352749185"/>
                  </a:ext>
                </a:extLst>
              </a:tr>
              <a:tr h="326899">
                <a:tc>
                  <a:txBody>
                    <a:bodyPr/>
                    <a:lstStyle/>
                    <a:p>
                      <a:pPr algn="l" fontAlgn="t"/>
                      <a:r>
                        <a:rPr lang="en-US">
                          <a:effectLst/>
                        </a:rPr>
                        <a:t>9 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fontAlgn="t"/>
                      <a:r>
                        <a:rPr lang="en-US">
                          <a:effectLst/>
                        </a:rPr>
                        <a:t>212 (170–249)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fontAlgn="t"/>
                      <a:r>
                        <a:rPr lang="en-US">
                          <a:effectLst/>
                        </a:rPr>
                        <a:t>11.8 (9.4–13.9)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extLst>
                  <a:ext uri="{0D108BD9-81ED-4DB2-BD59-A6C34878D82A}">
                    <a16:rowId xmlns:a16="http://schemas.microsoft.com/office/drawing/2014/main" val="1951548606"/>
                  </a:ext>
                </a:extLst>
              </a:tr>
              <a:tr h="326899">
                <a:tc>
                  <a:txBody>
                    <a:bodyPr/>
                    <a:lstStyle/>
                    <a:p>
                      <a:pPr algn="l" fontAlgn="t"/>
                      <a:r>
                        <a:rPr lang="en-US">
                          <a:effectLst/>
                        </a:rPr>
                        <a:t>10 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fontAlgn="t"/>
                      <a:r>
                        <a:rPr lang="en-US">
                          <a:effectLst/>
                        </a:rPr>
                        <a:t>240 (193–282)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fontAlgn="t"/>
                      <a:r>
                        <a:rPr lang="en-US">
                          <a:effectLst/>
                        </a:rPr>
                        <a:t>13.4 (10.7–15.7)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extLst>
                  <a:ext uri="{0D108BD9-81ED-4DB2-BD59-A6C34878D82A}">
                    <a16:rowId xmlns:a16="http://schemas.microsoft.com/office/drawing/2014/main" val="772202636"/>
                  </a:ext>
                </a:extLst>
              </a:tr>
              <a:tr h="326899">
                <a:tc>
                  <a:txBody>
                    <a:bodyPr/>
                    <a:lstStyle/>
                    <a:p>
                      <a:pPr algn="l" fontAlgn="t"/>
                      <a:r>
                        <a:rPr lang="en-US">
                          <a:effectLst/>
                        </a:rPr>
                        <a:t>11 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fontAlgn="t"/>
                      <a:r>
                        <a:rPr lang="en-US">
                          <a:effectLst/>
                        </a:rPr>
                        <a:t>269 (217–314)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fontAlgn="t"/>
                      <a:r>
                        <a:rPr lang="en-US">
                          <a:effectLst/>
                        </a:rPr>
                        <a:t>14.9 (12.0–17.5)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extLst>
                  <a:ext uri="{0D108BD9-81ED-4DB2-BD59-A6C34878D82A}">
                    <a16:rowId xmlns:a16="http://schemas.microsoft.com/office/drawing/2014/main" val="2690896176"/>
                  </a:ext>
                </a:extLst>
              </a:tr>
              <a:tr h="326899">
                <a:tc>
                  <a:txBody>
                    <a:bodyPr/>
                    <a:lstStyle/>
                    <a:p>
                      <a:pPr algn="l" fontAlgn="t"/>
                      <a:r>
                        <a:rPr lang="en-US">
                          <a:effectLst/>
                        </a:rPr>
                        <a:t>12 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fontAlgn="t"/>
                      <a:r>
                        <a:rPr lang="en-US">
                          <a:effectLst/>
                        </a:rPr>
                        <a:t>298 (240–347)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fontAlgn="t"/>
                      <a:r>
                        <a:rPr lang="en-US">
                          <a:effectLst/>
                        </a:rPr>
                        <a:t>16.5 (13.3–19.3)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extLst>
                  <a:ext uri="{0D108BD9-81ED-4DB2-BD59-A6C34878D82A}">
                    <a16:rowId xmlns:a16="http://schemas.microsoft.com/office/drawing/2014/main" val="2961935694"/>
                  </a:ext>
                </a:extLst>
              </a:tr>
            </a:tbl>
          </a:graphicData>
        </a:graphic>
      </p:graphicFrame>
      <p:graphicFrame>
        <p:nvGraphicFramePr>
          <p:cNvPr id="7" name="Table 6">
            <a:extLst>
              <a:ext uri="{FF2B5EF4-FFF2-40B4-BE49-F238E27FC236}">
                <a16:creationId xmlns:a16="http://schemas.microsoft.com/office/drawing/2014/main" id="{D79A6CC7-37C0-6B28-7657-594576A3BD5F}"/>
              </a:ext>
            </a:extLst>
          </p:cNvPr>
          <p:cNvGraphicFramePr>
            <a:graphicFrameLocks noGrp="1"/>
          </p:cNvGraphicFramePr>
          <p:nvPr>
            <p:extLst>
              <p:ext uri="{D42A27DB-BD31-4B8C-83A1-F6EECF244321}">
                <p14:modId xmlns:p14="http://schemas.microsoft.com/office/powerpoint/2010/main" val="382322541"/>
              </p:ext>
            </p:extLst>
          </p:nvPr>
        </p:nvGraphicFramePr>
        <p:xfrm>
          <a:off x="5229225" y="5105400"/>
          <a:ext cx="6515100" cy="1656337"/>
        </p:xfrm>
        <a:graphic>
          <a:graphicData uri="http://schemas.openxmlformats.org/drawingml/2006/table">
            <a:tbl>
              <a:tblPr bandRow="1">
                <a:tableStyleId>{5C22544A-7EE6-4342-B048-85BDC9FD1C3A}</a:tableStyleId>
              </a:tblPr>
              <a:tblGrid>
                <a:gridCol w="3257550">
                  <a:extLst>
                    <a:ext uri="{9D8B030D-6E8A-4147-A177-3AD203B41FA5}">
                      <a16:colId xmlns:a16="http://schemas.microsoft.com/office/drawing/2014/main" val="2569125676"/>
                    </a:ext>
                  </a:extLst>
                </a:gridCol>
                <a:gridCol w="3257550">
                  <a:extLst>
                    <a:ext uri="{9D8B030D-6E8A-4147-A177-3AD203B41FA5}">
                      <a16:colId xmlns:a16="http://schemas.microsoft.com/office/drawing/2014/main" val="311811558"/>
                    </a:ext>
                  </a:extLst>
                </a:gridCol>
              </a:tblGrid>
              <a:tr h="376177">
                <a:tc>
                  <a:txBody>
                    <a:bodyPr/>
                    <a:lstStyle/>
                    <a:p>
                      <a:pPr fontAlgn="t"/>
                      <a:r>
                        <a:rPr lang="en-US">
                          <a:effectLst/>
                        </a:rPr>
                        <a:t>A1C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fontAlgn="t"/>
                      <a:r>
                        <a:rPr lang="en-US">
                          <a:effectLst/>
                        </a:rPr>
                        <a:t>&lt;7.0% (&lt;53 mmol/mol)</a:t>
                      </a:r>
                      <a:r>
                        <a:rPr lang="en-US" b="1" u="sng">
                          <a:solidFill>
                            <a:srgbClr val="0F5DB9"/>
                          </a:solidFill>
                          <a:effectLst/>
                        </a:rPr>
                        <a:t>*†</a:t>
                      </a:r>
                      <a:r>
                        <a:rPr lang="en-US">
                          <a:effectLst/>
                        </a:rPr>
                        <a:t>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extLst>
                  <a:ext uri="{0D108BD9-81ED-4DB2-BD59-A6C34878D82A}">
                    <a16:rowId xmlns:a16="http://schemas.microsoft.com/office/drawing/2014/main" val="4264409593"/>
                  </a:ext>
                </a:extLst>
              </a:tr>
              <a:tr h="0">
                <a:tc>
                  <a:txBody>
                    <a:bodyPr/>
                    <a:lstStyle/>
                    <a:p>
                      <a:pPr fontAlgn="t"/>
                      <a:r>
                        <a:rPr lang="en-US">
                          <a:effectLst/>
                        </a:rPr>
                        <a:t>Preprandial capillary plasma glucose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fontAlgn="t"/>
                      <a:r>
                        <a:rPr lang="en-US">
                          <a:effectLst/>
                        </a:rPr>
                        <a:t>80–130 mg/dL</a:t>
                      </a:r>
                      <a:r>
                        <a:rPr lang="en-US" b="1" u="sng">
                          <a:solidFill>
                            <a:srgbClr val="0F5DB9"/>
                          </a:solidFill>
                          <a:effectLst/>
                        </a:rPr>
                        <a:t>*</a:t>
                      </a:r>
                      <a:r>
                        <a:rPr lang="en-US">
                          <a:effectLst/>
                        </a:rPr>
                        <a:t> (4.4–7.2 mmol/L)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extLst>
                  <a:ext uri="{0D108BD9-81ED-4DB2-BD59-A6C34878D82A}">
                    <a16:rowId xmlns:a16="http://schemas.microsoft.com/office/drawing/2014/main" val="381374804"/>
                  </a:ext>
                </a:extLst>
              </a:tr>
              <a:tr h="0">
                <a:tc>
                  <a:txBody>
                    <a:bodyPr/>
                    <a:lstStyle/>
                    <a:p>
                      <a:pPr fontAlgn="t"/>
                      <a:r>
                        <a:rPr lang="en-US">
                          <a:effectLst/>
                        </a:rPr>
                        <a:t>Peak postprandial capillary plasma glucose</a:t>
                      </a:r>
                      <a:r>
                        <a:rPr lang="en-US" b="1" u="sng">
                          <a:solidFill>
                            <a:srgbClr val="0F5DB9"/>
                          </a:solidFill>
                          <a:effectLst/>
                        </a:rPr>
                        <a:t>‡</a:t>
                      </a:r>
                      <a:r>
                        <a:rPr lang="en-US">
                          <a:effectLst/>
                        </a:rPr>
                        <a:t>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fontAlgn="t"/>
                      <a:r>
                        <a:rPr lang="en-US">
                          <a:effectLst/>
                        </a:rPr>
                        <a:t>&lt;180 mg/dL</a:t>
                      </a:r>
                      <a:r>
                        <a:rPr lang="en-US" b="1" u="sng">
                          <a:solidFill>
                            <a:srgbClr val="0F5DB9"/>
                          </a:solidFill>
                          <a:effectLst/>
                        </a:rPr>
                        <a:t>*</a:t>
                      </a:r>
                      <a:r>
                        <a:rPr lang="en-US">
                          <a:effectLst/>
                        </a:rPr>
                        <a:t> (&lt;10.0 mmol/L)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extLst>
                  <a:ext uri="{0D108BD9-81ED-4DB2-BD59-A6C34878D82A}">
                    <a16:rowId xmlns:a16="http://schemas.microsoft.com/office/drawing/2014/main" val="880153807"/>
                  </a:ext>
                </a:extLst>
              </a:tr>
            </a:tbl>
          </a:graphicData>
        </a:graphic>
      </p:graphicFrame>
    </p:spTree>
    <p:extLst>
      <p:ext uri="{BB962C8B-B14F-4D97-AF65-F5344CB8AC3E}">
        <p14:creationId xmlns:p14="http://schemas.microsoft.com/office/powerpoint/2010/main" val="30784493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0ABBD-8BB7-DB62-DF0D-DEA9E0FCCD58}"/>
              </a:ext>
            </a:extLst>
          </p:cNvPr>
          <p:cNvSpPr>
            <a:spLocks noGrp="1"/>
          </p:cNvSpPr>
          <p:nvPr>
            <p:ph type="title"/>
          </p:nvPr>
        </p:nvSpPr>
        <p:spPr/>
        <p:txBody>
          <a:bodyPr/>
          <a:lstStyle/>
          <a:p>
            <a:r>
              <a:rPr lang="en-US" dirty="0"/>
              <a:t>Monitoring </a:t>
            </a:r>
          </a:p>
        </p:txBody>
      </p:sp>
      <p:sp>
        <p:nvSpPr>
          <p:cNvPr id="3" name="Content Placeholder 2">
            <a:extLst>
              <a:ext uri="{FF2B5EF4-FFF2-40B4-BE49-F238E27FC236}">
                <a16:creationId xmlns:a16="http://schemas.microsoft.com/office/drawing/2014/main" id="{E23D6372-7868-7CC6-4721-80B188762257}"/>
              </a:ext>
            </a:extLst>
          </p:cNvPr>
          <p:cNvSpPr>
            <a:spLocks noGrp="1"/>
          </p:cNvSpPr>
          <p:nvPr>
            <p:ph idx="1"/>
          </p:nvPr>
        </p:nvSpPr>
        <p:spPr/>
        <p:txBody>
          <a:bodyPr vert="horz" lIns="91440" tIns="45720" rIns="91440" bIns="45720" rtlCol="0" anchor="t">
            <a:normAutofit/>
          </a:bodyPr>
          <a:lstStyle/>
          <a:p>
            <a:pPr>
              <a:buFont typeface="Calibri" panose="020B0604020202020204" pitchFamily="34" charset="0"/>
              <a:buChar char="-"/>
            </a:pPr>
            <a:r>
              <a:rPr lang="en-US" dirty="0"/>
              <a:t>Using fingerstick blood glucose - </a:t>
            </a:r>
          </a:p>
          <a:p>
            <a:pPr>
              <a:buFont typeface="Calibri" panose="020B0604020202020204" pitchFamily="34" charset="0"/>
              <a:buChar char="-"/>
            </a:pPr>
            <a:r>
              <a:rPr lang="en-US" dirty="0"/>
              <a:t>Using continuous glucose monitoring ( sensor)</a:t>
            </a:r>
          </a:p>
          <a:p>
            <a:pPr>
              <a:buFont typeface="Calibri" panose="020B0604020202020204" pitchFamily="34" charset="0"/>
              <a:buChar char="-"/>
            </a:pPr>
            <a:r>
              <a:rPr lang="en-US" sz="1800" u="sng" dirty="0">
                <a:solidFill>
                  <a:srgbClr val="FF0000"/>
                </a:solidFill>
                <a:latin typeface="Helvetica Neue"/>
              </a:rPr>
              <a:t>CGM measures interstitial glucose </a:t>
            </a:r>
            <a:r>
              <a:rPr lang="en-US" sz="1800" dirty="0">
                <a:solidFill>
                  <a:srgbClr val="383636"/>
                </a:solidFill>
                <a:latin typeface="Helvetica Neue"/>
              </a:rPr>
              <a:t>which correlates well with plasma glucose</a:t>
            </a:r>
            <a:endParaRPr lang="en-US" sz="1800">
              <a:solidFill>
                <a:srgbClr val="000000"/>
              </a:solidFill>
              <a:latin typeface="Aptos" panose="020B0004020202020204"/>
            </a:endParaRPr>
          </a:p>
          <a:p>
            <a:pPr>
              <a:buFont typeface="Calibri" panose="020B0604020202020204" pitchFamily="34" charset="0"/>
              <a:buChar char="-"/>
            </a:pPr>
            <a:r>
              <a:rPr lang="en-US" sz="1800" dirty="0">
                <a:solidFill>
                  <a:srgbClr val="383636"/>
                </a:solidFill>
                <a:latin typeface="Helvetica Neue"/>
              </a:rPr>
              <a:t>mean CGM glucose, correlates with A1C </a:t>
            </a:r>
            <a:endParaRPr lang="en-US" sz="1800">
              <a:solidFill>
                <a:srgbClr val="000000"/>
              </a:solidFill>
              <a:latin typeface="Aptos" panose="020B0004020202020204"/>
            </a:endParaRPr>
          </a:p>
          <a:p>
            <a:pPr>
              <a:buFont typeface="Calibri" panose="020B0604020202020204" pitchFamily="34" charset="0"/>
              <a:buChar char="-"/>
            </a:pPr>
            <a:r>
              <a:rPr lang="en-US" sz="1800" dirty="0">
                <a:solidFill>
                  <a:srgbClr val="383636"/>
                </a:solidFill>
                <a:latin typeface="Helvetica Neue"/>
              </a:rPr>
              <a:t> TIME IN RANGE 70% ( </a:t>
            </a:r>
            <a:r>
              <a:rPr lang="en-US" sz="1200" dirty="0">
                <a:solidFill>
                  <a:srgbClr val="383636"/>
                </a:solidFill>
                <a:latin typeface="Helvetica Neue"/>
              </a:rPr>
              <a:t>SUGARS between 70-180) -- correlates with a1c of 7 </a:t>
            </a:r>
            <a:r>
              <a:rPr lang="en-US" sz="1200" dirty="0" err="1">
                <a:solidFill>
                  <a:srgbClr val="383636"/>
                </a:solidFill>
                <a:latin typeface="Helvetica Neue"/>
              </a:rPr>
              <a:t>approx</a:t>
            </a:r>
            <a:endParaRPr lang="en-US" dirty="0" err="1">
              <a:solidFill>
                <a:srgbClr val="000000"/>
              </a:solidFill>
              <a:latin typeface="Aptos" panose="020B0004020202020204"/>
            </a:endParaRPr>
          </a:p>
          <a:p>
            <a:pPr>
              <a:buFont typeface="Calibri" panose="020B0604020202020204" pitchFamily="34" charset="0"/>
              <a:buChar char="-"/>
            </a:pPr>
            <a:r>
              <a:rPr lang="en-US" sz="1200" dirty="0">
                <a:solidFill>
                  <a:srgbClr val="383636"/>
                </a:solidFill>
                <a:latin typeface="Helvetica Neue"/>
              </a:rPr>
              <a:t>Time below range (&lt;70 and &lt;54 mg/dL and time above range (&gt;180 mg/d]) </a:t>
            </a:r>
            <a:endParaRPr lang="en-US">
              <a:solidFill>
                <a:srgbClr val="000000"/>
              </a:solidFill>
              <a:latin typeface="Aptos" panose="020B0004020202020204"/>
            </a:endParaRPr>
          </a:p>
          <a:p>
            <a:pPr marL="0" indent="0">
              <a:buNone/>
            </a:pPr>
            <a:r>
              <a:rPr lang="en-US" sz="1200" dirty="0">
                <a:solidFill>
                  <a:srgbClr val="383636"/>
                </a:solidFill>
                <a:latin typeface="Helvetica Neue"/>
              </a:rPr>
              <a:t>are useful parameters </a:t>
            </a:r>
            <a:endParaRPr lang="en-US" dirty="0"/>
          </a:p>
        </p:txBody>
      </p:sp>
      <p:pic>
        <p:nvPicPr>
          <p:cNvPr id="4" name="Picture 3" descr="UK Dexcom G7 Glucose Monitor Device for ...">
            <a:extLst>
              <a:ext uri="{FF2B5EF4-FFF2-40B4-BE49-F238E27FC236}">
                <a16:creationId xmlns:a16="http://schemas.microsoft.com/office/drawing/2014/main" id="{B717915D-ADA0-F393-0C35-30F6998F36AF}"/>
              </a:ext>
            </a:extLst>
          </p:cNvPr>
          <p:cNvPicPr>
            <a:picLocks noChangeAspect="1"/>
          </p:cNvPicPr>
          <p:nvPr/>
        </p:nvPicPr>
        <p:blipFill>
          <a:blip r:embed="rId2"/>
          <a:stretch>
            <a:fillRect/>
          </a:stretch>
        </p:blipFill>
        <p:spPr>
          <a:xfrm>
            <a:off x="9917033" y="122680"/>
            <a:ext cx="1434417" cy="2175679"/>
          </a:xfrm>
          <a:prstGeom prst="rect">
            <a:avLst/>
          </a:prstGeom>
        </p:spPr>
      </p:pic>
      <p:pic>
        <p:nvPicPr>
          <p:cNvPr id="5" name="Picture 4" descr="Which Blood Glucose Meter is Right For ...">
            <a:extLst>
              <a:ext uri="{FF2B5EF4-FFF2-40B4-BE49-F238E27FC236}">
                <a16:creationId xmlns:a16="http://schemas.microsoft.com/office/drawing/2014/main" id="{D52E7076-7B04-CE1E-80E4-F97E5FF5532C}"/>
              </a:ext>
            </a:extLst>
          </p:cNvPr>
          <p:cNvPicPr>
            <a:picLocks noChangeAspect="1"/>
          </p:cNvPicPr>
          <p:nvPr/>
        </p:nvPicPr>
        <p:blipFill>
          <a:blip r:embed="rId3"/>
          <a:stretch>
            <a:fillRect/>
          </a:stretch>
        </p:blipFill>
        <p:spPr>
          <a:xfrm>
            <a:off x="6499908" y="482"/>
            <a:ext cx="2857500" cy="1600200"/>
          </a:xfrm>
          <a:prstGeom prst="rect">
            <a:avLst/>
          </a:prstGeom>
        </p:spPr>
      </p:pic>
      <p:pic>
        <p:nvPicPr>
          <p:cNvPr id="6" name="Picture 5" descr="Key points included in a standard ambulatory glucose profile (AGP) report. Adapted from Holt et al. (20).">
            <a:extLst>
              <a:ext uri="{FF2B5EF4-FFF2-40B4-BE49-F238E27FC236}">
                <a16:creationId xmlns:a16="http://schemas.microsoft.com/office/drawing/2014/main" id="{5044AB82-FF45-3F76-387F-6BA13CDCBCE0}"/>
              </a:ext>
            </a:extLst>
          </p:cNvPr>
          <p:cNvPicPr>
            <a:picLocks noChangeAspect="1"/>
          </p:cNvPicPr>
          <p:nvPr/>
        </p:nvPicPr>
        <p:blipFill>
          <a:blip r:embed="rId4"/>
          <a:stretch>
            <a:fillRect/>
          </a:stretch>
        </p:blipFill>
        <p:spPr>
          <a:xfrm>
            <a:off x="8352291" y="2453166"/>
            <a:ext cx="3213519" cy="4391996"/>
          </a:xfrm>
          <a:prstGeom prst="rect">
            <a:avLst/>
          </a:prstGeom>
        </p:spPr>
      </p:pic>
    </p:spTree>
    <p:extLst>
      <p:ext uri="{BB962C8B-B14F-4D97-AF65-F5344CB8AC3E}">
        <p14:creationId xmlns:p14="http://schemas.microsoft.com/office/powerpoint/2010/main" val="11575352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B7F93-1C1E-6BFD-C412-19F15489835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DEFBE07-FC63-1981-03B0-7242D1BE934B}"/>
              </a:ext>
            </a:extLst>
          </p:cNvPr>
          <p:cNvSpPr>
            <a:spLocks noGrp="1"/>
          </p:cNvSpPr>
          <p:nvPr>
            <p:ph idx="1"/>
          </p:nvPr>
        </p:nvSpPr>
        <p:spPr/>
        <p:txBody>
          <a:bodyPr vert="horz" lIns="91440" tIns="45720" rIns="91440" bIns="45720" rtlCol="0" anchor="t">
            <a:normAutofit/>
          </a:bodyPr>
          <a:lstStyle/>
          <a:p>
            <a:r>
              <a:rPr lang="en-US" sz="1800" dirty="0">
                <a:solidFill>
                  <a:srgbClr val="383636"/>
                </a:solidFill>
                <a:latin typeface="Helvetica Neue"/>
              </a:rPr>
              <a:t>The Diabetes Control and Complications Trial (DCCT) , a prospective randomized controlled trial of intensive (mean A1C ∼7% [∼53 mmol/mol]) versus standard (mean A1C ∼9% [∼75 mmol/mol]) glycemic management in people with type 1 diabetes, showed definitively that better glycemic status is associated with 50–76% reductions in rates of development and progression of microvascular complications (retinopathy, neuropathy, and diabetic kidney disease)</a:t>
            </a:r>
            <a:endParaRPr lang="en-US" sz="1800" dirty="0"/>
          </a:p>
        </p:txBody>
      </p:sp>
    </p:spTree>
    <p:extLst>
      <p:ext uri="{BB962C8B-B14F-4D97-AF65-F5344CB8AC3E}">
        <p14:creationId xmlns:p14="http://schemas.microsoft.com/office/powerpoint/2010/main" val="8925114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9CBDE-F32D-F0C1-FDD5-593371038947}"/>
              </a:ext>
            </a:extLst>
          </p:cNvPr>
          <p:cNvSpPr>
            <a:spLocks noGrp="1"/>
          </p:cNvSpPr>
          <p:nvPr>
            <p:ph type="title"/>
          </p:nvPr>
        </p:nvSpPr>
        <p:spPr/>
        <p:txBody>
          <a:bodyPr/>
          <a:lstStyle/>
          <a:p>
            <a:r>
              <a:rPr lang="en-US" dirty="0"/>
              <a:t>Classification</a:t>
            </a:r>
          </a:p>
        </p:txBody>
      </p:sp>
      <p:sp>
        <p:nvSpPr>
          <p:cNvPr id="3" name="Content Placeholder 2">
            <a:extLst>
              <a:ext uri="{FF2B5EF4-FFF2-40B4-BE49-F238E27FC236}">
                <a16:creationId xmlns:a16="http://schemas.microsoft.com/office/drawing/2014/main" id="{BD1C4298-36EC-5237-2F19-66B69646F94B}"/>
              </a:ext>
            </a:extLst>
          </p:cNvPr>
          <p:cNvSpPr>
            <a:spLocks noGrp="1"/>
          </p:cNvSpPr>
          <p:nvPr>
            <p:ph idx="1"/>
          </p:nvPr>
        </p:nvSpPr>
        <p:spPr/>
        <p:txBody>
          <a:bodyPr vert="horz" lIns="91440" tIns="45720" rIns="91440" bIns="45720" rtlCol="0" anchor="t">
            <a:normAutofit fontScale="92500" lnSpcReduction="10000"/>
          </a:bodyPr>
          <a:lstStyle/>
          <a:p>
            <a:endParaRPr lang="en-US" sz="1200" dirty="0">
              <a:solidFill>
                <a:srgbClr val="383636"/>
              </a:solidFill>
              <a:latin typeface="Helvetica Neue"/>
            </a:endParaRPr>
          </a:p>
          <a:p>
            <a:r>
              <a:rPr lang="en-US" sz="1800" dirty="0">
                <a:solidFill>
                  <a:srgbClr val="383636"/>
                </a:solidFill>
                <a:latin typeface="Helvetica Neue"/>
              </a:rPr>
              <a:t>1. Type 1 diabetes (due to autoimmune β-cell destruction, usually leading to </a:t>
            </a:r>
            <a:r>
              <a:rPr lang="en-US" sz="1800" dirty="0">
                <a:solidFill>
                  <a:srgbClr val="FF0000"/>
                </a:solidFill>
                <a:latin typeface="Helvetica Neue"/>
              </a:rPr>
              <a:t>absolute insulin deficiency</a:t>
            </a:r>
            <a:r>
              <a:rPr lang="en-US" sz="1800" dirty="0">
                <a:solidFill>
                  <a:srgbClr val="383636"/>
                </a:solidFill>
                <a:latin typeface="Helvetica Neue"/>
              </a:rPr>
              <a:t>, including latent autoimmune diabetes in adults)</a:t>
            </a:r>
            <a:endParaRPr lang="en-US" sz="1800" dirty="0"/>
          </a:p>
          <a:p>
            <a:r>
              <a:rPr lang="en-US" sz="1800" dirty="0">
                <a:solidFill>
                  <a:srgbClr val="383636"/>
                </a:solidFill>
                <a:latin typeface="Helvetica Neue"/>
              </a:rPr>
              <a:t>2. Type 2 diabetes (due to a nonautoimmune progressive loss of adequate β-cell insulin secretion, frequently on the background of insulin resistance)</a:t>
            </a:r>
            <a:endParaRPr lang="en-US" sz="1800" dirty="0"/>
          </a:p>
          <a:p>
            <a:r>
              <a:rPr lang="en-US" sz="1800" dirty="0">
                <a:solidFill>
                  <a:srgbClr val="383636"/>
                </a:solidFill>
                <a:latin typeface="Helvetica Neue"/>
              </a:rPr>
              <a:t>3. Specific types of diabetes due to other causes, e.g., monogenic diabetes syndromes, diseases of the exocrine pancreas, and drug- or chemical-induced diabetes</a:t>
            </a:r>
            <a:endParaRPr lang="en-US" sz="1800" dirty="0"/>
          </a:p>
          <a:p>
            <a:r>
              <a:rPr lang="en-US" sz="1800" dirty="0">
                <a:solidFill>
                  <a:srgbClr val="383636"/>
                </a:solidFill>
                <a:latin typeface="Helvetica Neue"/>
              </a:rPr>
              <a:t>4. Gestational diabetes mellitus (diabetes diagnosed in the second or third trimester of pregnancy that was not clearly overt diabetes prior to gestation or other types of diabetes occurring throughout pregnancy, such as type 1 diabetes).</a:t>
            </a:r>
            <a:endParaRPr lang="en-US" sz="1800" dirty="0"/>
          </a:p>
          <a:p>
            <a:r>
              <a:rPr lang="en-US" sz="1800" b="1" dirty="0">
                <a:solidFill>
                  <a:srgbClr val="383636"/>
                </a:solidFill>
                <a:latin typeface="Helvetica Neue"/>
              </a:rPr>
              <a:t>AABBCC</a:t>
            </a:r>
            <a:r>
              <a:rPr lang="en-US" sz="1800" dirty="0">
                <a:solidFill>
                  <a:srgbClr val="383636"/>
                </a:solidFill>
                <a:latin typeface="Helvetica Neue"/>
              </a:rPr>
              <a:t> approach: </a:t>
            </a:r>
            <a:r>
              <a:rPr lang="en-US" sz="1800" b="1" dirty="0">
                <a:solidFill>
                  <a:srgbClr val="383636"/>
                </a:solidFill>
                <a:latin typeface="Helvetica Neue"/>
              </a:rPr>
              <a:t>A</a:t>
            </a:r>
            <a:r>
              <a:rPr lang="en-US" sz="1800" dirty="0">
                <a:solidFill>
                  <a:srgbClr val="383636"/>
                </a:solidFill>
                <a:latin typeface="Helvetica Neue"/>
              </a:rPr>
              <a:t>ge (e.g., for individuals &lt;35 years old, consider type 1 diabetes); </a:t>
            </a:r>
            <a:r>
              <a:rPr lang="en-US" sz="1800" b="1" dirty="0">
                <a:solidFill>
                  <a:srgbClr val="383636"/>
                </a:solidFill>
                <a:latin typeface="Helvetica Neue"/>
              </a:rPr>
              <a:t>A</a:t>
            </a:r>
            <a:r>
              <a:rPr lang="en-US" sz="1800" dirty="0">
                <a:solidFill>
                  <a:srgbClr val="383636"/>
                </a:solidFill>
                <a:latin typeface="Helvetica Neue"/>
              </a:rPr>
              <a:t>utoimmunity (e.g., personal or family history of autoimmune disease or polyglandular autoimmune syndromes); </a:t>
            </a:r>
            <a:r>
              <a:rPr lang="en-US" sz="1800" b="1" dirty="0">
                <a:solidFill>
                  <a:srgbClr val="383636"/>
                </a:solidFill>
                <a:latin typeface="Helvetica Neue"/>
              </a:rPr>
              <a:t>B</a:t>
            </a:r>
            <a:r>
              <a:rPr lang="en-US" sz="1800" dirty="0">
                <a:solidFill>
                  <a:srgbClr val="383636"/>
                </a:solidFill>
                <a:latin typeface="Helvetica Neue"/>
              </a:rPr>
              <a:t>ody habitus (e.g., BMI &lt;25 kg/m); </a:t>
            </a:r>
            <a:r>
              <a:rPr lang="en-US" sz="1800" b="1" dirty="0">
                <a:solidFill>
                  <a:srgbClr val="383636"/>
                </a:solidFill>
                <a:latin typeface="Helvetica Neue"/>
              </a:rPr>
              <a:t>B</a:t>
            </a:r>
            <a:r>
              <a:rPr lang="en-US" sz="1800" dirty="0">
                <a:solidFill>
                  <a:srgbClr val="383636"/>
                </a:solidFill>
                <a:latin typeface="Helvetica Neue"/>
              </a:rPr>
              <a:t>ackground (e.g., family history of type 1 diabetes); </a:t>
            </a:r>
            <a:r>
              <a:rPr lang="en-US" sz="1800" b="1" dirty="0">
                <a:solidFill>
                  <a:srgbClr val="383636"/>
                </a:solidFill>
                <a:latin typeface="Helvetica Neue"/>
              </a:rPr>
              <a:t>C</a:t>
            </a:r>
            <a:r>
              <a:rPr lang="en-US" sz="1800" dirty="0">
                <a:solidFill>
                  <a:srgbClr val="383636"/>
                </a:solidFill>
                <a:latin typeface="Helvetica Neue"/>
              </a:rPr>
              <a:t>ontrol (preferred term is “goal,” i.e., the inability to achieve glycemic goals on noninsulin therapies); and </a:t>
            </a:r>
            <a:r>
              <a:rPr lang="en-US" sz="1800" b="1" dirty="0">
                <a:solidFill>
                  <a:srgbClr val="383636"/>
                </a:solidFill>
                <a:latin typeface="Helvetica Neue"/>
              </a:rPr>
              <a:t>C</a:t>
            </a:r>
            <a:r>
              <a:rPr lang="en-US" sz="1800" dirty="0">
                <a:solidFill>
                  <a:srgbClr val="383636"/>
                </a:solidFill>
                <a:latin typeface="Helvetica Neue"/>
              </a:rPr>
              <a:t>omorbidities (e.g., treatment with immune checkpoint inhibitors for cancer can cause acute autoimmune type 1 diabetes)</a:t>
            </a:r>
          </a:p>
          <a:p>
            <a:r>
              <a:rPr lang="en-US" sz="1800" dirty="0">
                <a:solidFill>
                  <a:srgbClr val="383636"/>
                </a:solidFill>
                <a:latin typeface="Helvetica Neue"/>
              </a:rPr>
              <a:t>Loss of pancreas tissue- pancreatitis, surgery </a:t>
            </a:r>
            <a:r>
              <a:rPr lang="en-US" sz="1800" dirty="0" err="1">
                <a:solidFill>
                  <a:srgbClr val="383636"/>
                </a:solidFill>
                <a:latin typeface="Helvetica Neue"/>
              </a:rPr>
              <a:t>etc</a:t>
            </a:r>
            <a:r>
              <a:rPr lang="en-US" sz="1800" dirty="0">
                <a:solidFill>
                  <a:srgbClr val="383636"/>
                </a:solidFill>
                <a:latin typeface="Helvetica Neue"/>
              </a:rPr>
              <a:t> – use insulin for therapy</a:t>
            </a:r>
          </a:p>
        </p:txBody>
      </p:sp>
    </p:spTree>
    <p:extLst>
      <p:ext uri="{BB962C8B-B14F-4D97-AF65-F5344CB8AC3E}">
        <p14:creationId xmlns:p14="http://schemas.microsoft.com/office/powerpoint/2010/main" val="29785889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B8EB3-DD33-2F8C-F367-D35EFECC1E33}"/>
              </a:ext>
            </a:extLst>
          </p:cNvPr>
          <p:cNvSpPr>
            <a:spLocks noGrp="1"/>
          </p:cNvSpPr>
          <p:nvPr>
            <p:ph type="title"/>
          </p:nvPr>
        </p:nvSpPr>
        <p:spPr/>
        <p:txBody>
          <a:bodyPr/>
          <a:lstStyle/>
          <a:p>
            <a:endParaRPr lang="en-US"/>
          </a:p>
        </p:txBody>
      </p:sp>
      <p:pic>
        <p:nvPicPr>
          <p:cNvPr id="4" name="Content Placeholder 3" descr="A screenshot of a white sheet&#10;&#10;AI-generated content may be incorrect.">
            <a:extLst>
              <a:ext uri="{FF2B5EF4-FFF2-40B4-BE49-F238E27FC236}">
                <a16:creationId xmlns:a16="http://schemas.microsoft.com/office/drawing/2014/main" id="{D0680947-39B9-F501-BFC9-9C884EE2C95C}"/>
              </a:ext>
            </a:extLst>
          </p:cNvPr>
          <p:cNvPicPr>
            <a:picLocks noGrp="1" noChangeAspect="1"/>
          </p:cNvPicPr>
          <p:nvPr>
            <p:ph idx="1"/>
          </p:nvPr>
        </p:nvPicPr>
        <p:blipFill>
          <a:blip r:embed="rId2"/>
          <a:stretch>
            <a:fillRect/>
          </a:stretch>
        </p:blipFill>
        <p:spPr>
          <a:xfrm>
            <a:off x="3070460" y="1825625"/>
            <a:ext cx="6051079" cy="4351338"/>
          </a:xfrm>
        </p:spPr>
      </p:pic>
    </p:spTree>
    <p:extLst>
      <p:ext uri="{BB962C8B-B14F-4D97-AF65-F5344CB8AC3E}">
        <p14:creationId xmlns:p14="http://schemas.microsoft.com/office/powerpoint/2010/main" val="30712591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CA638-3D2B-A963-92DE-173D6D69A5A7}"/>
              </a:ext>
            </a:extLst>
          </p:cNvPr>
          <p:cNvSpPr>
            <a:spLocks noGrp="1"/>
          </p:cNvSpPr>
          <p:nvPr>
            <p:ph type="title"/>
          </p:nvPr>
        </p:nvSpPr>
        <p:spPr/>
        <p:txBody>
          <a:bodyPr/>
          <a:lstStyle/>
          <a:p>
            <a:r>
              <a:rPr lang="en-US" dirty="0"/>
              <a:t>Autoimmunity in type 1 </a:t>
            </a:r>
          </a:p>
        </p:txBody>
      </p:sp>
      <p:sp>
        <p:nvSpPr>
          <p:cNvPr id="3" name="Content Placeholder 2">
            <a:extLst>
              <a:ext uri="{FF2B5EF4-FFF2-40B4-BE49-F238E27FC236}">
                <a16:creationId xmlns:a16="http://schemas.microsoft.com/office/drawing/2014/main" id="{F60232C8-E558-0751-A434-CCCE63DD9909}"/>
              </a:ext>
            </a:extLst>
          </p:cNvPr>
          <p:cNvSpPr>
            <a:spLocks noGrp="1"/>
          </p:cNvSpPr>
          <p:nvPr>
            <p:ph idx="1"/>
          </p:nvPr>
        </p:nvSpPr>
        <p:spPr/>
        <p:txBody>
          <a:bodyPr vert="horz" lIns="91440" tIns="45720" rIns="91440" bIns="45720" rtlCol="0" anchor="t">
            <a:normAutofit/>
          </a:bodyPr>
          <a:lstStyle/>
          <a:p>
            <a:r>
              <a:rPr lang="en-US" sz="1800" dirty="0">
                <a:solidFill>
                  <a:srgbClr val="383636"/>
                </a:solidFill>
                <a:latin typeface="Helvetica Neue"/>
              </a:rPr>
              <a:t>Type 1 diabetes is immune- related in 95% of diabetes and is caused by autoimmune destruction of the pancreatic β-cells. Highest incidence in Scandinavians / Northern European descent. </a:t>
            </a:r>
            <a:endParaRPr lang="en-US" sz="1800" dirty="0">
              <a:solidFill>
                <a:srgbClr val="000000"/>
              </a:solidFill>
              <a:latin typeface="Aptos" panose="020B0004020202020204"/>
            </a:endParaRPr>
          </a:p>
          <a:p>
            <a:r>
              <a:rPr lang="en-US" sz="1800" dirty="0">
                <a:solidFill>
                  <a:srgbClr val="383636"/>
                </a:solidFill>
                <a:latin typeface="Helvetica Neue"/>
              </a:rPr>
              <a:t>Autoimmune markers include islet cell autoantibodies and autoantibodies to glutamic acid decarboxylase (GAD) (such as </a:t>
            </a:r>
            <a:r>
              <a:rPr lang="en-US" sz="1800" dirty="0">
                <a:solidFill>
                  <a:srgbClr val="FF0000"/>
                </a:solidFill>
                <a:latin typeface="Helvetica Neue"/>
              </a:rPr>
              <a:t>GAD65- seen in 75%)</a:t>
            </a:r>
            <a:r>
              <a:rPr lang="en-US" sz="1800" dirty="0">
                <a:solidFill>
                  <a:srgbClr val="383636"/>
                </a:solidFill>
                <a:latin typeface="Helvetica Neue"/>
              </a:rPr>
              <a:t>, insulin, the tyrosine phosphatases islet antigen 2 (IA-2) and IA-2b, and zinc transporter 8 (ZnT8). </a:t>
            </a:r>
            <a:endParaRPr lang="en-US" sz="1800" dirty="0">
              <a:solidFill>
                <a:srgbClr val="000000"/>
              </a:solidFill>
              <a:latin typeface="Aptos" panose="020B0004020202020204"/>
            </a:endParaRPr>
          </a:p>
          <a:p>
            <a:r>
              <a:rPr lang="en-US" sz="1800" dirty="0">
                <a:solidFill>
                  <a:srgbClr val="383636"/>
                </a:solidFill>
                <a:latin typeface="Helvetica Neue"/>
              </a:rPr>
              <a:t> </a:t>
            </a:r>
            <a:r>
              <a:rPr lang="en-US" sz="1800" dirty="0" err="1">
                <a:solidFill>
                  <a:srgbClr val="383636"/>
                </a:solidFill>
                <a:latin typeface="Helvetica Neue"/>
              </a:rPr>
              <a:t>Cromosome</a:t>
            </a:r>
            <a:r>
              <a:rPr lang="en-US" sz="1800" dirty="0">
                <a:solidFill>
                  <a:srgbClr val="383636"/>
                </a:solidFill>
                <a:latin typeface="Helvetica Neue"/>
              </a:rPr>
              <a:t> 6 short arm- The disease has </a:t>
            </a:r>
            <a:r>
              <a:rPr lang="en-US" sz="1800" dirty="0">
                <a:solidFill>
                  <a:srgbClr val="FF0000"/>
                </a:solidFill>
                <a:latin typeface="Helvetica Neue"/>
              </a:rPr>
              <a:t>strong HLA</a:t>
            </a:r>
            <a:r>
              <a:rPr lang="en-US" sz="1800" dirty="0">
                <a:solidFill>
                  <a:srgbClr val="383636"/>
                </a:solidFill>
                <a:latin typeface="Helvetica Neue"/>
              </a:rPr>
              <a:t> associations, with linkage to the </a:t>
            </a:r>
            <a:r>
              <a:rPr lang="en-US" sz="1800" i="1" dirty="0">
                <a:solidFill>
                  <a:srgbClr val="383636"/>
                </a:solidFill>
                <a:latin typeface="Helvetica Neue"/>
              </a:rPr>
              <a:t>DQB1</a:t>
            </a:r>
            <a:r>
              <a:rPr lang="en-US" sz="1800" dirty="0">
                <a:solidFill>
                  <a:srgbClr val="383636"/>
                </a:solidFill>
                <a:latin typeface="Helvetica Neue"/>
              </a:rPr>
              <a:t> and </a:t>
            </a:r>
            <a:r>
              <a:rPr lang="en-US" sz="1800" i="1" dirty="0">
                <a:solidFill>
                  <a:srgbClr val="383636"/>
                </a:solidFill>
                <a:latin typeface="Helvetica Neue"/>
              </a:rPr>
              <a:t>DRB1</a:t>
            </a:r>
            <a:r>
              <a:rPr lang="en-US" sz="1800" dirty="0">
                <a:solidFill>
                  <a:srgbClr val="383636"/>
                </a:solidFill>
                <a:latin typeface="Helvetica Neue"/>
              </a:rPr>
              <a:t> haplotypes, and genetic screening has been used in some research studies to identify high-risk populations. Specific alleles in these genes can be either predisposing (e.g., </a:t>
            </a:r>
            <a:r>
              <a:rPr lang="en-US" sz="1800" dirty="0">
                <a:solidFill>
                  <a:srgbClr val="FF0000"/>
                </a:solidFill>
                <a:latin typeface="Helvetica Neue"/>
              </a:rPr>
              <a:t>DR</a:t>
            </a:r>
            <a:r>
              <a:rPr lang="en-US" sz="1800" dirty="0">
                <a:solidFill>
                  <a:srgbClr val="383636"/>
                </a:solidFill>
                <a:latin typeface="Helvetica Neue"/>
              </a:rPr>
              <a:t>B1*0301-DQB1*0201 [</a:t>
            </a:r>
            <a:r>
              <a:rPr lang="en-US" sz="1800" dirty="0">
                <a:solidFill>
                  <a:srgbClr val="FF0000"/>
                </a:solidFill>
                <a:latin typeface="Helvetica Neue"/>
              </a:rPr>
              <a:t>DR3</a:t>
            </a:r>
            <a:r>
              <a:rPr lang="en-US" sz="1800" dirty="0">
                <a:solidFill>
                  <a:srgbClr val="383636"/>
                </a:solidFill>
                <a:latin typeface="Helvetica Neue"/>
              </a:rPr>
              <a:t>-DQ2] and DRB1*0401-DQB1*0302 [</a:t>
            </a:r>
            <a:r>
              <a:rPr lang="en-US" sz="1800" dirty="0">
                <a:solidFill>
                  <a:srgbClr val="FF0000"/>
                </a:solidFill>
                <a:latin typeface="Helvetica Neue"/>
              </a:rPr>
              <a:t>DR4-</a:t>
            </a:r>
            <a:r>
              <a:rPr lang="en-US" sz="1800" dirty="0">
                <a:solidFill>
                  <a:srgbClr val="383636"/>
                </a:solidFill>
                <a:latin typeface="Helvetica Neue"/>
              </a:rPr>
              <a:t>DQ8]) </a:t>
            </a:r>
          </a:p>
          <a:p>
            <a:r>
              <a:rPr lang="en-US" sz="1800" dirty="0">
                <a:solidFill>
                  <a:srgbClr val="383636"/>
                </a:solidFill>
                <a:latin typeface="Helvetica Neue"/>
              </a:rPr>
              <a:t> Type 1 diabetes can be associated with polyglandular autoimmune syndromes-</a:t>
            </a:r>
            <a:r>
              <a:rPr lang="en-US" sz="1800" dirty="0">
                <a:solidFill>
                  <a:srgbClr val="383636"/>
                </a:solidFill>
                <a:ea typeface="+mn-lt"/>
                <a:cs typeface="+mn-lt"/>
              </a:rPr>
              <a:t>Hashimoto thyroiditis, </a:t>
            </a:r>
            <a:r>
              <a:rPr lang="en-US" sz="1800" err="1">
                <a:solidFill>
                  <a:srgbClr val="383636"/>
                </a:solidFill>
                <a:ea typeface="+mn-lt"/>
                <a:cs typeface="+mn-lt"/>
              </a:rPr>
              <a:t>Graves</a:t>
            </a:r>
            <a:r>
              <a:rPr lang="en-US" sz="1800" dirty="0">
                <a:solidFill>
                  <a:srgbClr val="383636"/>
                </a:solidFill>
                <a:ea typeface="+mn-lt"/>
                <a:cs typeface="+mn-lt"/>
              </a:rPr>
              <a:t> disease, celiac disease, Addison disease, vitiligo, autoimmune hepatitis, myasthenia gravis, and pernicious anemia </a:t>
            </a:r>
            <a:endParaRPr lang="en-US" sz="1800" dirty="0">
              <a:solidFill>
                <a:srgbClr val="000000"/>
              </a:solidFill>
              <a:ea typeface="+mn-lt"/>
              <a:cs typeface="+mn-lt"/>
            </a:endParaRPr>
          </a:p>
          <a:p>
            <a:endParaRPr lang="en-US" sz="1800" dirty="0">
              <a:solidFill>
                <a:srgbClr val="383636"/>
              </a:solidFill>
              <a:latin typeface="Aptos"/>
            </a:endParaRPr>
          </a:p>
          <a:p>
            <a:endParaRPr lang="en-US" sz="1800" dirty="0">
              <a:solidFill>
                <a:srgbClr val="383636"/>
              </a:solidFill>
              <a:latin typeface="Helvetica Neue"/>
            </a:endParaRPr>
          </a:p>
        </p:txBody>
      </p:sp>
      <p:sp>
        <p:nvSpPr>
          <p:cNvPr id="4" name="Star: 5 Points 3">
            <a:extLst>
              <a:ext uri="{FF2B5EF4-FFF2-40B4-BE49-F238E27FC236}">
                <a16:creationId xmlns:a16="http://schemas.microsoft.com/office/drawing/2014/main" id="{FE95A454-6AC6-2723-A6BD-1EF646C6E737}"/>
              </a:ext>
            </a:extLst>
          </p:cNvPr>
          <p:cNvSpPr/>
          <p:nvPr/>
        </p:nvSpPr>
        <p:spPr>
          <a:xfrm>
            <a:off x="160137" y="2580534"/>
            <a:ext cx="577703" cy="675168"/>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049337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D75A7-3773-DA68-DB18-7BE7F8AAC5A5}"/>
              </a:ext>
            </a:extLst>
          </p:cNvPr>
          <p:cNvSpPr>
            <a:spLocks noGrp="1"/>
          </p:cNvSpPr>
          <p:nvPr>
            <p:ph type="title"/>
          </p:nvPr>
        </p:nvSpPr>
        <p:spPr/>
        <p:txBody>
          <a:bodyPr/>
          <a:lstStyle/>
          <a:p>
            <a:r>
              <a:rPr lang="en-US" dirty="0"/>
              <a:t>Genetics </a:t>
            </a:r>
          </a:p>
        </p:txBody>
      </p:sp>
      <p:sp>
        <p:nvSpPr>
          <p:cNvPr id="3" name="Content Placeholder 2">
            <a:extLst>
              <a:ext uri="{FF2B5EF4-FFF2-40B4-BE49-F238E27FC236}">
                <a16:creationId xmlns:a16="http://schemas.microsoft.com/office/drawing/2014/main" id="{A354DE96-D80A-18BD-E263-1FEAAFAAE7B8}"/>
              </a:ext>
            </a:extLst>
          </p:cNvPr>
          <p:cNvSpPr>
            <a:spLocks noGrp="1"/>
          </p:cNvSpPr>
          <p:nvPr>
            <p:ph idx="1"/>
          </p:nvPr>
        </p:nvSpPr>
        <p:spPr>
          <a:xfrm>
            <a:off x="752475" y="1701800"/>
            <a:ext cx="10515600" cy="4351338"/>
          </a:xfrm>
        </p:spPr>
        <p:txBody>
          <a:bodyPr vert="horz" lIns="91440" tIns="45720" rIns="91440" bIns="45720" rtlCol="0" anchor="t">
            <a:noAutofit/>
          </a:bodyPr>
          <a:lstStyle/>
          <a:p>
            <a:pPr marL="0" indent="0">
              <a:buNone/>
            </a:pPr>
            <a:endParaRPr lang="en-US" sz="1400" dirty="0">
              <a:ea typeface="+mn-lt"/>
              <a:cs typeface="+mn-lt"/>
            </a:endParaRPr>
          </a:p>
          <a:p>
            <a:r>
              <a:rPr lang="en-US" sz="2000" dirty="0">
                <a:ea typeface="+mn-lt"/>
                <a:cs typeface="+mn-lt"/>
              </a:rPr>
              <a:t>Family members of type 1 diabetes have an increased lifetime risk of developing type 1</a:t>
            </a:r>
            <a:endParaRPr lang="en-US" sz="2000" dirty="0"/>
          </a:p>
          <a:p>
            <a:r>
              <a:rPr lang="en-US" sz="2000" dirty="0">
                <a:ea typeface="+mn-lt"/>
                <a:cs typeface="+mn-lt"/>
              </a:rPr>
              <a:t>Offspring of mother - risk of 3%</a:t>
            </a:r>
            <a:endParaRPr lang="en-US" sz="2000" dirty="0"/>
          </a:p>
          <a:p>
            <a:r>
              <a:rPr lang="en-US" sz="2000" dirty="0">
                <a:ea typeface="+mn-lt"/>
                <a:cs typeface="+mn-lt"/>
              </a:rPr>
              <a:t>Offspring a father - risk of 6%</a:t>
            </a:r>
            <a:endParaRPr lang="en-US" sz="2000" dirty="0"/>
          </a:p>
          <a:p>
            <a:pPr marL="0" indent="0">
              <a:buNone/>
            </a:pPr>
            <a:endParaRPr lang="en-US" sz="2000" dirty="0">
              <a:solidFill>
                <a:srgbClr val="FF0000"/>
              </a:solidFill>
            </a:endParaRPr>
          </a:p>
          <a:p>
            <a:r>
              <a:rPr lang="en-US" sz="2000" dirty="0">
                <a:ea typeface="+mn-lt"/>
                <a:cs typeface="+mn-lt"/>
              </a:rPr>
              <a:t>Monozygotic twin studies show environmental factors Play a role - 50% genetic / 50% Environmental factors.</a:t>
            </a:r>
            <a:endParaRPr lang="en-US" sz="2000" dirty="0"/>
          </a:p>
          <a:p>
            <a:endParaRPr lang="en-US" sz="2000" dirty="0"/>
          </a:p>
        </p:txBody>
      </p:sp>
    </p:spTree>
    <p:extLst>
      <p:ext uri="{BB962C8B-B14F-4D97-AF65-F5344CB8AC3E}">
        <p14:creationId xmlns:p14="http://schemas.microsoft.com/office/powerpoint/2010/main" val="39191651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D4636-30B3-0EC1-76D6-9BDC2304E73C}"/>
              </a:ext>
            </a:extLst>
          </p:cNvPr>
          <p:cNvSpPr>
            <a:spLocks noGrp="1"/>
          </p:cNvSpPr>
          <p:nvPr>
            <p:ph type="title"/>
          </p:nvPr>
        </p:nvSpPr>
        <p:spPr/>
        <p:txBody>
          <a:bodyPr/>
          <a:lstStyle/>
          <a:p>
            <a:endParaRPr lang="en-US"/>
          </a:p>
        </p:txBody>
      </p:sp>
      <p:pic>
        <p:nvPicPr>
          <p:cNvPr id="4" name="Content Placeholder 3" descr="A diagram of a diabetes&#10;&#10;AI-generated content may be incorrect.">
            <a:extLst>
              <a:ext uri="{FF2B5EF4-FFF2-40B4-BE49-F238E27FC236}">
                <a16:creationId xmlns:a16="http://schemas.microsoft.com/office/drawing/2014/main" id="{0A12DF3E-50D0-897E-4671-93A64336678D}"/>
              </a:ext>
            </a:extLst>
          </p:cNvPr>
          <p:cNvPicPr>
            <a:picLocks noGrp="1" noChangeAspect="1"/>
          </p:cNvPicPr>
          <p:nvPr>
            <p:ph idx="1"/>
          </p:nvPr>
        </p:nvPicPr>
        <p:blipFill>
          <a:blip r:embed="rId2"/>
          <a:stretch>
            <a:fillRect/>
          </a:stretch>
        </p:blipFill>
        <p:spPr>
          <a:xfrm>
            <a:off x="2161457" y="1825625"/>
            <a:ext cx="7869086" cy="4351338"/>
          </a:xfrm>
        </p:spPr>
      </p:pic>
      <p:sp>
        <p:nvSpPr>
          <p:cNvPr id="5" name="TextBox 4">
            <a:extLst>
              <a:ext uri="{FF2B5EF4-FFF2-40B4-BE49-F238E27FC236}">
                <a16:creationId xmlns:a16="http://schemas.microsoft.com/office/drawing/2014/main" id="{F9C4922E-59FF-35EC-D30E-E1100CA05CCA}"/>
              </a:ext>
            </a:extLst>
          </p:cNvPr>
          <p:cNvSpPr txBox="1"/>
          <p:nvPr/>
        </p:nvSpPr>
        <p:spPr>
          <a:xfrm>
            <a:off x="7643539" y="6239454"/>
            <a:ext cx="336481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Diabetes 2005 Vol 54</a:t>
            </a:r>
          </a:p>
        </p:txBody>
      </p:sp>
    </p:spTree>
    <p:extLst>
      <p:ext uri="{BB962C8B-B14F-4D97-AF65-F5344CB8AC3E}">
        <p14:creationId xmlns:p14="http://schemas.microsoft.com/office/powerpoint/2010/main" val="41823733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72E13-7702-AAC2-37FC-24D638AA7AE5}"/>
              </a:ext>
            </a:extLst>
          </p:cNvPr>
          <p:cNvSpPr>
            <a:spLocks noGrp="1"/>
          </p:cNvSpPr>
          <p:nvPr>
            <p:ph type="title"/>
          </p:nvPr>
        </p:nvSpPr>
        <p:spPr/>
        <p:txBody>
          <a:bodyPr/>
          <a:lstStyle/>
          <a:p>
            <a:r>
              <a:rPr lang="en-US" dirty="0"/>
              <a:t>CIADM</a:t>
            </a:r>
          </a:p>
        </p:txBody>
      </p:sp>
      <p:sp>
        <p:nvSpPr>
          <p:cNvPr id="3" name="Content Placeholder 2">
            <a:extLst>
              <a:ext uri="{FF2B5EF4-FFF2-40B4-BE49-F238E27FC236}">
                <a16:creationId xmlns:a16="http://schemas.microsoft.com/office/drawing/2014/main" id="{4AB8427F-1A0B-16FD-EA4F-B23472830827}"/>
              </a:ext>
            </a:extLst>
          </p:cNvPr>
          <p:cNvSpPr>
            <a:spLocks noGrp="1"/>
          </p:cNvSpPr>
          <p:nvPr>
            <p:ph idx="1"/>
          </p:nvPr>
        </p:nvSpPr>
        <p:spPr>
          <a:xfrm>
            <a:off x="85725" y="1501775"/>
            <a:ext cx="10515600" cy="4351338"/>
          </a:xfrm>
        </p:spPr>
        <p:txBody>
          <a:bodyPr vert="horz" lIns="91440" tIns="45720" rIns="91440" bIns="45720" rtlCol="0" anchor="t">
            <a:normAutofit/>
          </a:bodyPr>
          <a:lstStyle/>
          <a:p>
            <a:r>
              <a:rPr lang="en-US" sz="1800" dirty="0">
                <a:solidFill>
                  <a:srgbClr val="383636"/>
                </a:solidFill>
                <a:latin typeface="Helvetica Neue"/>
              </a:rPr>
              <a:t> </a:t>
            </a:r>
            <a:endParaRPr lang="en-US" sz="1800">
              <a:solidFill>
                <a:srgbClr val="000000"/>
              </a:solidFill>
              <a:latin typeface="Aptos" panose="020B0004020202020204"/>
            </a:endParaRPr>
          </a:p>
        </p:txBody>
      </p:sp>
      <p:pic>
        <p:nvPicPr>
          <p:cNvPr id="4" name="Picture 3" descr="A diagram of a cell&#10;&#10;AI-generated content may be incorrect.">
            <a:extLst>
              <a:ext uri="{FF2B5EF4-FFF2-40B4-BE49-F238E27FC236}">
                <a16:creationId xmlns:a16="http://schemas.microsoft.com/office/drawing/2014/main" id="{8B12F8FE-9222-905B-3BDA-8F55C57BFB15}"/>
              </a:ext>
            </a:extLst>
          </p:cNvPr>
          <p:cNvPicPr>
            <a:picLocks noChangeAspect="1"/>
          </p:cNvPicPr>
          <p:nvPr/>
        </p:nvPicPr>
        <p:blipFill>
          <a:blip r:embed="rId2"/>
          <a:stretch>
            <a:fillRect/>
          </a:stretch>
        </p:blipFill>
        <p:spPr>
          <a:xfrm>
            <a:off x="6662738" y="0"/>
            <a:ext cx="5153025" cy="6496050"/>
          </a:xfrm>
          <a:prstGeom prst="rect">
            <a:avLst/>
          </a:prstGeom>
        </p:spPr>
      </p:pic>
      <p:sp>
        <p:nvSpPr>
          <p:cNvPr id="5" name="TextBox 4">
            <a:extLst>
              <a:ext uri="{FF2B5EF4-FFF2-40B4-BE49-F238E27FC236}">
                <a16:creationId xmlns:a16="http://schemas.microsoft.com/office/drawing/2014/main" id="{67C336F2-9A05-7B75-A439-A83D377D956C}"/>
              </a:ext>
            </a:extLst>
          </p:cNvPr>
          <p:cNvSpPr txBox="1"/>
          <p:nvPr/>
        </p:nvSpPr>
        <p:spPr>
          <a:xfrm>
            <a:off x="855744" y="2060432"/>
            <a:ext cx="5383710" cy="35897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90000"/>
              </a:lnSpc>
              <a:spcBef>
                <a:spcPts val="1000"/>
              </a:spcBef>
              <a:buFont typeface="Arial"/>
              <a:buChar char="•"/>
            </a:pPr>
            <a:r>
              <a:rPr lang="en-US" dirty="0">
                <a:solidFill>
                  <a:srgbClr val="383636"/>
                </a:solidFill>
                <a:latin typeface="Arial"/>
                <a:cs typeface="Arial"/>
              </a:rPr>
              <a:t>Introduction of immunotherapy, specifically checkpoint inhibitors, most commonly occurs with agents that block the programmed cell death protein 1/programmed cell death ligand 1 pathway for cancer treatment has led to unexpected adverse events, including immune system activation precipitating autoimmune disease. </a:t>
            </a:r>
            <a:endParaRPr lang="en-US" dirty="0">
              <a:latin typeface="Arial"/>
              <a:cs typeface="Arial"/>
            </a:endParaRPr>
          </a:p>
          <a:p>
            <a:pPr marL="285750" indent="-285750">
              <a:lnSpc>
                <a:spcPct val="90000"/>
              </a:lnSpc>
              <a:spcBef>
                <a:spcPts val="1000"/>
              </a:spcBef>
              <a:buFont typeface="Arial"/>
              <a:buChar char="•"/>
            </a:pPr>
            <a:r>
              <a:rPr lang="en-US" dirty="0">
                <a:solidFill>
                  <a:srgbClr val="383636"/>
                </a:solidFill>
                <a:latin typeface="Arial"/>
                <a:cs typeface="Arial"/>
              </a:rPr>
              <a:t>Incidence 1%</a:t>
            </a:r>
            <a:endParaRPr lang="en-US" dirty="0">
              <a:latin typeface="Arial"/>
              <a:cs typeface="Arial"/>
            </a:endParaRPr>
          </a:p>
          <a:p>
            <a:pPr marL="285750" indent="-285750">
              <a:lnSpc>
                <a:spcPct val="90000"/>
              </a:lnSpc>
              <a:spcBef>
                <a:spcPts val="1000"/>
              </a:spcBef>
              <a:buFont typeface="Arial"/>
              <a:buChar char="•"/>
            </a:pPr>
            <a:r>
              <a:rPr lang="en-US" dirty="0">
                <a:solidFill>
                  <a:srgbClr val="383636"/>
                </a:solidFill>
                <a:latin typeface="Arial"/>
                <a:cs typeface="Arial"/>
              </a:rPr>
              <a:t>Fulminant onset of type 1 diabetes can occur, with DKA and low or undetectable levels of C-peptide as a marker of endogenous β-cell function</a:t>
            </a:r>
            <a:endParaRPr lang="en-US" dirty="0"/>
          </a:p>
        </p:txBody>
      </p:sp>
    </p:spTree>
    <p:extLst>
      <p:ext uri="{BB962C8B-B14F-4D97-AF65-F5344CB8AC3E}">
        <p14:creationId xmlns:p14="http://schemas.microsoft.com/office/powerpoint/2010/main" val="40142577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48059-CDAF-82DA-3265-E6C121C40F4A}"/>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CFF400C1-7FA0-2B74-5353-A811D89A2C96}"/>
              </a:ext>
            </a:extLst>
          </p:cNvPr>
          <p:cNvPicPr>
            <a:picLocks noGrp="1" noChangeAspect="1"/>
          </p:cNvPicPr>
          <p:nvPr>
            <p:ph idx="1"/>
          </p:nvPr>
        </p:nvPicPr>
        <p:blipFill>
          <a:blip r:embed="rId2"/>
          <a:stretch>
            <a:fillRect/>
          </a:stretch>
        </p:blipFill>
        <p:spPr>
          <a:xfrm>
            <a:off x="7020754" y="1701800"/>
            <a:ext cx="4170292" cy="4351338"/>
          </a:xfrm>
        </p:spPr>
      </p:pic>
      <p:sp>
        <p:nvSpPr>
          <p:cNvPr id="5" name="TextBox 4">
            <a:extLst>
              <a:ext uri="{FF2B5EF4-FFF2-40B4-BE49-F238E27FC236}">
                <a16:creationId xmlns:a16="http://schemas.microsoft.com/office/drawing/2014/main" id="{56AA4267-DED2-E190-0B9F-6EDF13F4C19F}"/>
              </a:ext>
            </a:extLst>
          </p:cNvPr>
          <p:cNvSpPr txBox="1"/>
          <p:nvPr/>
        </p:nvSpPr>
        <p:spPr>
          <a:xfrm>
            <a:off x="6879185" y="6256070"/>
            <a:ext cx="357252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Endocrine practice, Vol 30:issue 6</a:t>
            </a:r>
          </a:p>
        </p:txBody>
      </p:sp>
      <p:pic>
        <p:nvPicPr>
          <p:cNvPr id="6" name="Picture 5" descr="A close-up of a chart&#10;&#10;AI-generated content may be incorrect.">
            <a:extLst>
              <a:ext uri="{FF2B5EF4-FFF2-40B4-BE49-F238E27FC236}">
                <a16:creationId xmlns:a16="http://schemas.microsoft.com/office/drawing/2014/main" id="{9317AF19-1AEA-A57F-382D-718FC3DBDB20}"/>
              </a:ext>
            </a:extLst>
          </p:cNvPr>
          <p:cNvPicPr>
            <a:picLocks noChangeAspect="1"/>
          </p:cNvPicPr>
          <p:nvPr/>
        </p:nvPicPr>
        <p:blipFill>
          <a:blip r:embed="rId3"/>
          <a:stretch>
            <a:fillRect/>
          </a:stretch>
        </p:blipFill>
        <p:spPr>
          <a:xfrm>
            <a:off x="700088" y="2114550"/>
            <a:ext cx="5524500" cy="3038475"/>
          </a:xfrm>
          <a:prstGeom prst="rect">
            <a:avLst/>
          </a:prstGeom>
        </p:spPr>
      </p:pic>
      <p:sp>
        <p:nvSpPr>
          <p:cNvPr id="7" name="TextBox 6">
            <a:extLst>
              <a:ext uri="{FF2B5EF4-FFF2-40B4-BE49-F238E27FC236}">
                <a16:creationId xmlns:a16="http://schemas.microsoft.com/office/drawing/2014/main" id="{8E1E2F42-B323-45A7-D477-7B817523DF76}"/>
              </a:ext>
            </a:extLst>
          </p:cNvPr>
          <p:cNvSpPr txBox="1"/>
          <p:nvPr/>
        </p:nvSpPr>
        <p:spPr>
          <a:xfrm>
            <a:off x="1470550" y="5541566"/>
            <a:ext cx="358083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Diabetes care  Vol 46: Issue 6</a:t>
            </a:r>
          </a:p>
        </p:txBody>
      </p:sp>
    </p:spTree>
    <p:extLst>
      <p:ext uri="{BB962C8B-B14F-4D97-AF65-F5344CB8AC3E}">
        <p14:creationId xmlns:p14="http://schemas.microsoft.com/office/powerpoint/2010/main" val="16796161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23834-52B8-AC3C-3FDE-BF723445E623}"/>
              </a:ext>
            </a:extLst>
          </p:cNvPr>
          <p:cNvSpPr>
            <a:spLocks noGrp="1"/>
          </p:cNvSpPr>
          <p:nvPr>
            <p:ph type="title"/>
          </p:nvPr>
        </p:nvSpPr>
        <p:spPr/>
        <p:txBody>
          <a:bodyPr>
            <a:normAutofit fontScale="90000"/>
          </a:bodyPr>
          <a:lstStyle/>
          <a:p>
            <a:r>
              <a:rPr lang="en-US">
                <a:solidFill>
                  <a:srgbClr val="454545"/>
                </a:solidFill>
                <a:latin typeface="EB Garamond"/>
                <a:ea typeface="EB Garamond"/>
              </a:rPr>
              <a:t>Hamen y León, Juan van der</a:t>
            </a:r>
            <a:endParaRPr lang="en-US"/>
          </a:p>
          <a:p>
            <a:r>
              <a:rPr lang="en-US" sz="1100" dirty="0">
                <a:solidFill>
                  <a:srgbClr val="757575"/>
                </a:solidFill>
                <a:latin typeface="EB Garamond"/>
                <a:ea typeface="EB Garamond"/>
              </a:rPr>
              <a:t>Madrid, 1596 - Madrid, 1631</a:t>
            </a:r>
            <a:endParaRPr lang="en-US" dirty="0"/>
          </a:p>
          <a:p>
            <a:r>
              <a:rPr lang="en-US" sz="900" cap="all" dirty="0">
                <a:solidFill>
                  <a:srgbClr val="A71C15"/>
                </a:solidFill>
                <a:latin typeface="Montserrat"/>
                <a:hlinkClick r:id="rId2"/>
              </a:rPr>
              <a:t>See author's file</a:t>
            </a:r>
            <a:endParaRPr lang="en-US"/>
          </a:p>
          <a:p>
            <a:r>
              <a:rPr lang="en-US" sz="2600" i="1" dirty="0">
                <a:solidFill>
                  <a:srgbClr val="454545"/>
                </a:solidFill>
              </a:rPr>
              <a:t>Still Life with Sweetmeats and Glass Vessels</a:t>
            </a:r>
            <a:endParaRPr lang="en-US" dirty="0"/>
          </a:p>
          <a:p>
            <a:endParaRPr lang="en-US" dirty="0"/>
          </a:p>
        </p:txBody>
      </p:sp>
      <p:pic>
        <p:nvPicPr>
          <p:cNvPr id="4" name="Content Placeholder 3" descr="A painting of a vase and a plate of food&#10;&#10;AI-generated content may be incorrect.">
            <a:extLst>
              <a:ext uri="{FF2B5EF4-FFF2-40B4-BE49-F238E27FC236}">
                <a16:creationId xmlns:a16="http://schemas.microsoft.com/office/drawing/2014/main" id="{7C165F31-3F1D-6652-51FB-974DCB7EA796}"/>
              </a:ext>
            </a:extLst>
          </p:cNvPr>
          <p:cNvPicPr>
            <a:picLocks noGrp="1" noChangeAspect="1"/>
          </p:cNvPicPr>
          <p:nvPr>
            <p:ph idx="1"/>
          </p:nvPr>
        </p:nvPicPr>
        <p:blipFill>
          <a:blip r:embed="rId3"/>
          <a:stretch>
            <a:fillRect/>
          </a:stretch>
        </p:blipFill>
        <p:spPr>
          <a:xfrm>
            <a:off x="1393409" y="1825625"/>
            <a:ext cx="9405181" cy="4351338"/>
          </a:xfrm>
        </p:spPr>
      </p:pic>
    </p:spTree>
    <p:extLst>
      <p:ext uri="{BB962C8B-B14F-4D97-AF65-F5344CB8AC3E}">
        <p14:creationId xmlns:p14="http://schemas.microsoft.com/office/powerpoint/2010/main" val="17407107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90EC4-4F4A-17DD-38BA-8A767FD8111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618261F-95A7-6D9D-D0D7-7E36D109642E}"/>
              </a:ext>
            </a:extLst>
          </p:cNvPr>
          <p:cNvSpPr>
            <a:spLocks noGrp="1"/>
          </p:cNvSpPr>
          <p:nvPr>
            <p:ph idx="1"/>
          </p:nvPr>
        </p:nvSpPr>
        <p:spPr>
          <a:xfrm>
            <a:off x="501502" y="1559811"/>
            <a:ext cx="10515600" cy="4351338"/>
          </a:xfrm>
        </p:spPr>
        <p:txBody>
          <a:bodyPr vert="horz" lIns="91440" tIns="45720" rIns="91440" bIns="45720" rtlCol="0" anchor="t">
            <a:normAutofit/>
          </a:bodyPr>
          <a:lstStyle/>
          <a:p>
            <a:r>
              <a:rPr lang="en-US" sz="1800" dirty="0">
                <a:solidFill>
                  <a:srgbClr val="383636"/>
                </a:solidFill>
                <a:latin typeface="Helvetica Neue"/>
              </a:rPr>
              <a:t>Type 2 diabetes accounts for 90–95% of all diabetes. This form encompasses individuals who generally have </a:t>
            </a:r>
            <a:r>
              <a:rPr lang="en-US" sz="1800" dirty="0">
                <a:solidFill>
                  <a:srgbClr val="FF0000"/>
                </a:solidFill>
                <a:latin typeface="Helvetica Neue"/>
              </a:rPr>
              <a:t>relative </a:t>
            </a:r>
            <a:r>
              <a:rPr lang="en-US" sz="1800" dirty="0">
                <a:solidFill>
                  <a:srgbClr val="383636"/>
                </a:solidFill>
                <a:latin typeface="Helvetica Neue"/>
              </a:rPr>
              <a:t>(rather than absolute) insulin deficiency and </a:t>
            </a:r>
            <a:r>
              <a:rPr lang="en-US" sz="1800" dirty="0">
                <a:solidFill>
                  <a:srgbClr val="FF0000"/>
                </a:solidFill>
                <a:latin typeface="Helvetica Neue"/>
              </a:rPr>
              <a:t>have insulin resistance </a:t>
            </a:r>
            <a:r>
              <a:rPr lang="en-US" sz="1800" dirty="0">
                <a:solidFill>
                  <a:srgbClr val="383636"/>
                </a:solidFill>
                <a:latin typeface="Helvetica Neue"/>
              </a:rPr>
              <a:t>(i.e., decreased biological responses to insulin like glucose uptake into skeletal muscle).</a:t>
            </a:r>
          </a:p>
          <a:p>
            <a:r>
              <a:rPr lang="en-US" sz="1800" dirty="0">
                <a:solidFill>
                  <a:srgbClr val="000000"/>
                </a:solidFill>
                <a:latin typeface="Calibri"/>
                <a:ea typeface="Calibri"/>
                <a:cs typeface="Calibri"/>
              </a:rPr>
              <a:t>60-80% of individuals with type 2 diabetes are obese (BMI &gt;30)</a:t>
            </a:r>
          </a:p>
          <a:p>
            <a:r>
              <a:rPr lang="en-US" sz="1800" dirty="0">
                <a:solidFill>
                  <a:srgbClr val="FF0000"/>
                </a:solidFill>
                <a:latin typeface="Calibri"/>
                <a:ea typeface="Calibri"/>
                <a:cs typeface="Calibri"/>
              </a:rPr>
              <a:t>Abdominal/visceral fat accumulation is tightly correlated with insulin resistance</a:t>
            </a:r>
            <a:endParaRPr lang="en-US" sz="1800" dirty="0">
              <a:solidFill>
                <a:srgbClr val="000000"/>
              </a:solidFill>
              <a:latin typeface="Calibri"/>
              <a:ea typeface="Calibri"/>
              <a:cs typeface="Calibri"/>
            </a:endParaRPr>
          </a:p>
          <a:p>
            <a:r>
              <a:rPr lang="en-US" sz="1800" b="1" dirty="0">
                <a:latin typeface="Calibri"/>
                <a:ea typeface="Calibri"/>
                <a:cs typeface="Calibri"/>
              </a:rPr>
              <a:t>Insulin resistance </a:t>
            </a:r>
            <a:r>
              <a:rPr lang="en-US" sz="1800" dirty="0">
                <a:latin typeface="Calibri"/>
                <a:ea typeface="Calibri"/>
                <a:cs typeface="Calibri"/>
              </a:rPr>
              <a:t>initially leads to a hyperinsulinemia state to compensate. </a:t>
            </a:r>
          </a:p>
          <a:p>
            <a:r>
              <a:rPr lang="en-US" sz="1800" dirty="0">
                <a:latin typeface="Calibri"/>
                <a:ea typeface="Calibri"/>
                <a:cs typeface="Calibri"/>
              </a:rPr>
              <a:t>Lack of the ability for the pancreas to compensate (beta cell exhaustion)</a:t>
            </a:r>
            <a:endParaRPr lang="en-US" dirty="0">
              <a:latin typeface="Aptos" panose="020B0004020202020204"/>
              <a:ea typeface="Calibri"/>
              <a:cs typeface="Calibri"/>
            </a:endParaRPr>
          </a:p>
          <a:p>
            <a:pPr marL="0" indent="0">
              <a:buNone/>
            </a:pPr>
            <a:r>
              <a:rPr lang="en-US" sz="1800" dirty="0">
                <a:latin typeface="Calibri"/>
                <a:ea typeface="Calibri"/>
                <a:cs typeface="Calibri"/>
              </a:rPr>
              <a:t> leads to diagnosis of type 2 diabetes.</a:t>
            </a:r>
            <a:endParaRPr lang="en-US"/>
          </a:p>
        </p:txBody>
      </p:sp>
      <p:pic>
        <p:nvPicPr>
          <p:cNvPr id="7" name="Content Placeholder 3" descr="A diagram of insulin resistance&#10;&#10;AI-generated content may be incorrect.">
            <a:extLst>
              <a:ext uri="{FF2B5EF4-FFF2-40B4-BE49-F238E27FC236}">
                <a16:creationId xmlns:a16="http://schemas.microsoft.com/office/drawing/2014/main" id="{C020C52F-1165-7E10-355D-96271A991FED}"/>
              </a:ext>
            </a:extLst>
          </p:cNvPr>
          <p:cNvPicPr>
            <a:picLocks noChangeAspect="1"/>
          </p:cNvPicPr>
          <p:nvPr/>
        </p:nvPicPr>
        <p:blipFill>
          <a:blip r:embed="rId2"/>
          <a:stretch>
            <a:fillRect/>
          </a:stretch>
        </p:blipFill>
        <p:spPr>
          <a:xfrm>
            <a:off x="8381152" y="2335102"/>
            <a:ext cx="2966628" cy="4293744"/>
          </a:xfrm>
          <a:prstGeom prst="rect">
            <a:avLst/>
          </a:prstGeom>
        </p:spPr>
      </p:pic>
    </p:spTree>
    <p:extLst>
      <p:ext uri="{BB962C8B-B14F-4D97-AF65-F5344CB8AC3E}">
        <p14:creationId xmlns:p14="http://schemas.microsoft.com/office/powerpoint/2010/main" val="29622033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B5DB6-4819-56E8-344D-DBCB656D2949}"/>
              </a:ext>
            </a:extLst>
          </p:cNvPr>
          <p:cNvSpPr>
            <a:spLocks noGrp="1"/>
          </p:cNvSpPr>
          <p:nvPr>
            <p:ph type="title"/>
          </p:nvPr>
        </p:nvSpPr>
        <p:spPr/>
        <p:txBody>
          <a:bodyPr/>
          <a:lstStyle/>
          <a:p>
            <a:r>
              <a:rPr lang="en-US" dirty="0"/>
              <a:t>Leptin- Peripheral and central actions</a:t>
            </a:r>
          </a:p>
        </p:txBody>
      </p:sp>
      <p:pic>
        <p:nvPicPr>
          <p:cNvPr id="4" name="Content Placeholder 3" descr="A diagram of different types of cells&#10;&#10;AI-generated content may be incorrect.">
            <a:extLst>
              <a:ext uri="{FF2B5EF4-FFF2-40B4-BE49-F238E27FC236}">
                <a16:creationId xmlns:a16="http://schemas.microsoft.com/office/drawing/2014/main" id="{79890D00-73E9-9980-289F-449421861E04}"/>
              </a:ext>
            </a:extLst>
          </p:cNvPr>
          <p:cNvPicPr>
            <a:picLocks noGrp="1" noChangeAspect="1"/>
          </p:cNvPicPr>
          <p:nvPr>
            <p:ph idx="1"/>
          </p:nvPr>
        </p:nvPicPr>
        <p:blipFill>
          <a:blip r:embed="rId2"/>
          <a:stretch>
            <a:fillRect/>
          </a:stretch>
        </p:blipFill>
        <p:spPr>
          <a:xfrm>
            <a:off x="3856992" y="1825625"/>
            <a:ext cx="4478015" cy="4351338"/>
          </a:xfrm>
        </p:spPr>
      </p:pic>
      <p:sp>
        <p:nvSpPr>
          <p:cNvPr id="5" name="TextBox 4">
            <a:extLst>
              <a:ext uri="{FF2B5EF4-FFF2-40B4-BE49-F238E27FC236}">
                <a16:creationId xmlns:a16="http://schemas.microsoft.com/office/drawing/2014/main" id="{E045C6F0-0CD8-0259-66FC-33E0A05885B4}"/>
              </a:ext>
            </a:extLst>
          </p:cNvPr>
          <p:cNvSpPr txBox="1"/>
          <p:nvPr/>
        </p:nvSpPr>
        <p:spPr>
          <a:xfrm>
            <a:off x="8997774" y="5608031"/>
            <a:ext cx="288294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Endocrine reviews Vol 42: Issue 1</a:t>
            </a:r>
          </a:p>
        </p:txBody>
      </p:sp>
    </p:spTree>
    <p:extLst>
      <p:ext uri="{BB962C8B-B14F-4D97-AF65-F5344CB8AC3E}">
        <p14:creationId xmlns:p14="http://schemas.microsoft.com/office/powerpoint/2010/main" val="26623319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5ECADB-95EE-A9AF-5808-ACDDEDE4F633}"/>
              </a:ext>
            </a:extLst>
          </p:cNvPr>
          <p:cNvSpPr txBox="1"/>
          <p:nvPr/>
        </p:nvSpPr>
        <p:spPr>
          <a:xfrm>
            <a:off x="7619999" y="752354"/>
            <a:ext cx="266217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Brain</a:t>
            </a:r>
          </a:p>
        </p:txBody>
      </p:sp>
      <p:sp>
        <p:nvSpPr>
          <p:cNvPr id="4" name="TextBox 3">
            <a:extLst>
              <a:ext uri="{FF2B5EF4-FFF2-40B4-BE49-F238E27FC236}">
                <a16:creationId xmlns:a16="http://schemas.microsoft.com/office/drawing/2014/main" id="{BAA73807-ED0B-8832-6FAC-28045F9A5706}"/>
              </a:ext>
            </a:extLst>
          </p:cNvPr>
          <p:cNvSpPr txBox="1"/>
          <p:nvPr/>
        </p:nvSpPr>
        <p:spPr>
          <a:xfrm>
            <a:off x="8825695" y="1562581"/>
            <a:ext cx="256572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Leptin from fat</a:t>
            </a:r>
          </a:p>
        </p:txBody>
      </p:sp>
      <p:sp>
        <p:nvSpPr>
          <p:cNvPr id="5" name="TextBox 4">
            <a:extLst>
              <a:ext uri="{FF2B5EF4-FFF2-40B4-BE49-F238E27FC236}">
                <a16:creationId xmlns:a16="http://schemas.microsoft.com/office/drawing/2014/main" id="{00AC7656-58FE-CFCE-018D-FB23DA0AB5D3}"/>
              </a:ext>
            </a:extLst>
          </p:cNvPr>
          <p:cNvSpPr txBox="1"/>
          <p:nvPr/>
        </p:nvSpPr>
        <p:spPr>
          <a:xfrm>
            <a:off x="7070203" y="2594658"/>
            <a:ext cx="235351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Ghrelin from stomach/ duodenum</a:t>
            </a:r>
          </a:p>
        </p:txBody>
      </p:sp>
      <p:sp>
        <p:nvSpPr>
          <p:cNvPr id="8" name="Arrow: Up 7">
            <a:extLst>
              <a:ext uri="{FF2B5EF4-FFF2-40B4-BE49-F238E27FC236}">
                <a16:creationId xmlns:a16="http://schemas.microsoft.com/office/drawing/2014/main" id="{584815DB-8EFD-3657-E4E5-2159D73EE203}"/>
              </a:ext>
            </a:extLst>
          </p:cNvPr>
          <p:cNvSpPr/>
          <p:nvPr/>
        </p:nvSpPr>
        <p:spPr>
          <a:xfrm>
            <a:off x="7764683" y="1331088"/>
            <a:ext cx="9645" cy="1080303"/>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Up 9">
            <a:extLst>
              <a:ext uri="{FF2B5EF4-FFF2-40B4-BE49-F238E27FC236}">
                <a16:creationId xmlns:a16="http://schemas.microsoft.com/office/drawing/2014/main" id="{D063A28E-89CE-8DEC-6D8E-46E4CE48E007}"/>
              </a:ext>
            </a:extLst>
          </p:cNvPr>
          <p:cNvSpPr/>
          <p:nvPr/>
        </p:nvSpPr>
        <p:spPr>
          <a:xfrm>
            <a:off x="8526683" y="1128532"/>
            <a:ext cx="57873" cy="655898"/>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981DBDC-FB01-A572-05A7-042973AAA566}"/>
              </a:ext>
            </a:extLst>
          </p:cNvPr>
          <p:cNvSpPr txBox="1"/>
          <p:nvPr/>
        </p:nvSpPr>
        <p:spPr>
          <a:xfrm>
            <a:off x="8902861" y="1273215"/>
            <a:ext cx="123463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Satiety </a:t>
            </a:r>
          </a:p>
        </p:txBody>
      </p:sp>
      <p:sp>
        <p:nvSpPr>
          <p:cNvPr id="12" name="TextBox 11">
            <a:extLst>
              <a:ext uri="{FF2B5EF4-FFF2-40B4-BE49-F238E27FC236}">
                <a16:creationId xmlns:a16="http://schemas.microsoft.com/office/drawing/2014/main" id="{60A3F350-9949-3152-F67D-B2BE9017B37D}"/>
              </a:ext>
            </a:extLst>
          </p:cNvPr>
          <p:cNvSpPr txBox="1"/>
          <p:nvPr/>
        </p:nvSpPr>
        <p:spPr>
          <a:xfrm>
            <a:off x="6707408" y="1784671"/>
            <a:ext cx="98975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Hunger</a:t>
            </a:r>
          </a:p>
        </p:txBody>
      </p:sp>
      <p:sp>
        <p:nvSpPr>
          <p:cNvPr id="13" name="TextBox 12">
            <a:extLst>
              <a:ext uri="{FF2B5EF4-FFF2-40B4-BE49-F238E27FC236}">
                <a16:creationId xmlns:a16="http://schemas.microsoft.com/office/drawing/2014/main" id="{35DE6506-2C72-9A70-DEB0-E50BA52C5A3C}"/>
              </a:ext>
            </a:extLst>
          </p:cNvPr>
          <p:cNvSpPr txBox="1"/>
          <p:nvPr/>
        </p:nvSpPr>
        <p:spPr>
          <a:xfrm>
            <a:off x="609600" y="0"/>
            <a:ext cx="2438400" cy="86792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001D35"/>
                </a:solidFill>
                <a:latin typeface="Google Sans"/>
              </a:rPr>
              <a:t>Ghrelin and leptin are two hormones that play opposing roles in regulating appetite and energy balance. </a:t>
            </a:r>
          </a:p>
          <a:p>
            <a:r>
              <a:rPr lang="en-US" dirty="0">
                <a:solidFill>
                  <a:srgbClr val="001D35"/>
                </a:solidFill>
                <a:latin typeface="Google Sans"/>
              </a:rPr>
              <a:t>Ghrelin:</a:t>
            </a:r>
          </a:p>
          <a:p>
            <a:pPr marL="228600" indent="-228600">
              <a:buFont typeface=""/>
              <a:buChar char="•"/>
            </a:pPr>
            <a:r>
              <a:rPr lang="en-US" b="1" dirty="0">
                <a:solidFill>
                  <a:srgbClr val="001D35"/>
                </a:solidFill>
                <a:latin typeface="Google Sans"/>
              </a:rPr>
              <a:t>Function:</a:t>
            </a:r>
            <a:r>
              <a:rPr lang="en-US" dirty="0">
                <a:solidFill>
                  <a:srgbClr val="001D35"/>
                </a:solidFill>
                <a:latin typeface="Google Sans"/>
              </a:rPr>
              <a:t> Ghrelin is primarily known for stimulating appetite and increasing food intake.  </a:t>
            </a:r>
          </a:p>
          <a:p>
            <a:pPr marL="228600" indent="-228600">
              <a:buFont typeface=""/>
              <a:buChar char="•"/>
            </a:pPr>
            <a:r>
              <a:rPr lang="en-US" b="1" dirty="0">
                <a:solidFill>
                  <a:srgbClr val="001D35"/>
                </a:solidFill>
                <a:latin typeface="Google Sans"/>
              </a:rPr>
              <a:t>Levels:</a:t>
            </a:r>
            <a:r>
              <a:rPr lang="en-US" dirty="0">
                <a:solidFill>
                  <a:srgbClr val="001D35"/>
                </a:solidFill>
                <a:latin typeface="Google Sans"/>
              </a:rPr>
              <a:t> Ghrelin levels tend to rise before a meal and decrease after eating. </a:t>
            </a:r>
          </a:p>
          <a:p>
            <a:pPr marL="228600" indent="-228600">
              <a:buFont typeface=""/>
              <a:buChar char="•"/>
            </a:pPr>
            <a:r>
              <a:rPr lang="en-US" dirty="0">
                <a:solidFill>
                  <a:srgbClr val="001D35"/>
                </a:solidFill>
                <a:latin typeface="Google Sans"/>
              </a:rPr>
              <a:t>Leptin:</a:t>
            </a:r>
            <a:endParaRPr lang="en-US" dirty="0">
              <a:solidFill>
                <a:srgbClr val="0B57D0"/>
              </a:solidFill>
              <a:latin typeface="Google Sans"/>
            </a:endParaRPr>
          </a:p>
          <a:p>
            <a:pPr marL="228600" indent="-228600">
              <a:buFont typeface=""/>
              <a:buChar char="•"/>
            </a:pPr>
            <a:r>
              <a:rPr lang="en-US" b="1" dirty="0">
                <a:solidFill>
                  <a:srgbClr val="001D35"/>
                </a:solidFill>
                <a:latin typeface="Google Sans"/>
              </a:rPr>
              <a:t>Function:</a:t>
            </a:r>
            <a:r>
              <a:rPr lang="en-US" dirty="0">
                <a:solidFill>
                  <a:srgbClr val="001D35"/>
                </a:solidFill>
                <a:latin typeface="Google Sans"/>
              </a:rPr>
              <a:t> Leptin acts as a satiety signal, signaling the body that it has enough energy stored. It suppresses appetite and reduces food intake.</a:t>
            </a:r>
          </a:p>
          <a:p>
            <a:r>
              <a:rPr lang="en-US" dirty="0">
                <a:solidFill>
                  <a:srgbClr val="001D35"/>
                </a:solidFill>
                <a:latin typeface="Google Sans"/>
              </a:rPr>
              <a:t>. </a:t>
            </a:r>
          </a:p>
          <a:p>
            <a:pPr marL="228600" indent="-228600">
              <a:buFont typeface=""/>
              <a:buChar char="•"/>
            </a:pPr>
            <a:endParaRPr lang="en-US">
              <a:solidFill>
                <a:srgbClr val="0B57D0"/>
              </a:solidFill>
              <a:latin typeface="Google Sans"/>
            </a:endParaRPr>
          </a:p>
          <a:p>
            <a:pPr marL="228600" indent="-228600">
              <a:buFont typeface=""/>
              <a:buChar char="•"/>
            </a:pPr>
            <a:endParaRPr lang="en-US">
              <a:solidFill>
                <a:srgbClr val="0B57D0"/>
              </a:solidFill>
              <a:latin typeface="Google Sans"/>
            </a:endParaRPr>
          </a:p>
          <a:p>
            <a:endParaRPr lang="en-US">
              <a:solidFill>
                <a:srgbClr val="001D35"/>
              </a:solidFill>
              <a:latin typeface="Google Sans"/>
            </a:endParaRPr>
          </a:p>
          <a:p>
            <a:pPr marL="228600" indent="-228600">
              <a:buFont typeface=""/>
              <a:buChar char="•"/>
            </a:pPr>
            <a:endParaRPr lang="en-US" dirty="0">
              <a:solidFill>
                <a:srgbClr val="001D35"/>
              </a:solidFill>
              <a:latin typeface="Google Sans"/>
            </a:endParaRPr>
          </a:p>
          <a:p>
            <a:endParaRPr lang="en-US">
              <a:solidFill>
                <a:srgbClr val="001D35"/>
              </a:solidFill>
              <a:latin typeface="Google Sans"/>
            </a:endParaRPr>
          </a:p>
          <a:p>
            <a:endParaRPr lang="en-US">
              <a:solidFill>
                <a:srgbClr val="001D35"/>
              </a:solidFill>
              <a:latin typeface="Google Sans"/>
            </a:endParaRPr>
          </a:p>
        </p:txBody>
      </p:sp>
      <p:sp>
        <p:nvSpPr>
          <p:cNvPr id="14" name="TextBox 13">
            <a:extLst>
              <a:ext uri="{FF2B5EF4-FFF2-40B4-BE49-F238E27FC236}">
                <a16:creationId xmlns:a16="http://schemas.microsoft.com/office/drawing/2014/main" id="{800E440A-45F5-ABC4-6E8D-82D03D4922A4}"/>
              </a:ext>
            </a:extLst>
          </p:cNvPr>
          <p:cNvSpPr txBox="1"/>
          <p:nvPr/>
        </p:nvSpPr>
        <p:spPr>
          <a:xfrm>
            <a:off x="8905875" y="3429000"/>
            <a:ext cx="27432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01D35"/>
                </a:solidFill>
                <a:latin typeface="Google Sans"/>
              </a:rPr>
              <a:t>Ghrelin stimulates appetite, while leptin suppresses it. </a:t>
            </a:r>
            <a:r>
              <a:rPr lang="en-US">
                <a:latin typeface="Google Sans"/>
              </a:rPr>
              <a:t>​</a:t>
            </a:r>
            <a:endParaRPr lang="en-US"/>
          </a:p>
        </p:txBody>
      </p:sp>
      <p:sp>
        <p:nvSpPr>
          <p:cNvPr id="15" name="TextBox 14">
            <a:extLst>
              <a:ext uri="{FF2B5EF4-FFF2-40B4-BE49-F238E27FC236}">
                <a16:creationId xmlns:a16="http://schemas.microsoft.com/office/drawing/2014/main" id="{A5D59A7C-149A-0107-FF8C-1C99E057887D}"/>
              </a:ext>
            </a:extLst>
          </p:cNvPr>
          <p:cNvSpPr txBox="1"/>
          <p:nvPr/>
        </p:nvSpPr>
        <p:spPr>
          <a:xfrm>
            <a:off x="3848100" y="3238500"/>
            <a:ext cx="2743200"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001D35"/>
                </a:solidFill>
                <a:highlight>
                  <a:srgbClr val="FFFFFF"/>
                </a:highlight>
                <a:latin typeface="Google Sans"/>
              </a:rPr>
              <a:t>Leptin levels are directly proportional to the amount of body fat. </a:t>
            </a:r>
            <a:endParaRPr lang="en-US" dirty="0"/>
          </a:p>
          <a:p>
            <a:pPr>
              <a:buFont typeface=""/>
              <a:buChar char="•"/>
            </a:pPr>
            <a:r>
              <a:rPr lang="en-US" b="1" dirty="0">
                <a:solidFill>
                  <a:srgbClr val="001D35"/>
                </a:solidFill>
                <a:highlight>
                  <a:srgbClr val="FFFFFF"/>
                </a:highlight>
                <a:latin typeface="Google Sans"/>
              </a:rPr>
              <a:t>Leptin Resistance:</a:t>
            </a:r>
            <a:r>
              <a:rPr lang="en-US" dirty="0">
                <a:solidFill>
                  <a:srgbClr val="001D35"/>
                </a:solidFill>
                <a:highlight>
                  <a:srgbClr val="FFFFFF"/>
                </a:highlight>
                <a:latin typeface="Google Sans"/>
              </a:rPr>
              <a:t> In some individuals, particularly those with obesity, the body can become resistant to leptin's effects, leading to continued hunger even with high leptin levels. </a:t>
            </a:r>
          </a:p>
        </p:txBody>
      </p:sp>
      <p:sp>
        <p:nvSpPr>
          <p:cNvPr id="3" name="Star: 5 Points 2">
            <a:extLst>
              <a:ext uri="{FF2B5EF4-FFF2-40B4-BE49-F238E27FC236}">
                <a16:creationId xmlns:a16="http://schemas.microsoft.com/office/drawing/2014/main" id="{DE1F4E1C-3401-4F27-63AD-E0306575E990}"/>
              </a:ext>
            </a:extLst>
          </p:cNvPr>
          <p:cNvSpPr/>
          <p:nvPr/>
        </p:nvSpPr>
        <p:spPr>
          <a:xfrm>
            <a:off x="11581623" y="232629"/>
            <a:ext cx="365052" cy="799214"/>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92425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B5A9D-8868-D396-6720-AE5D1660D6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F490B8-434E-C562-4478-A5388EA9A808}"/>
              </a:ext>
            </a:extLst>
          </p:cNvPr>
          <p:cNvSpPr>
            <a:spLocks noGrp="1"/>
          </p:cNvSpPr>
          <p:nvPr>
            <p:ph type="title"/>
          </p:nvPr>
        </p:nvSpPr>
        <p:spPr/>
        <p:txBody>
          <a:bodyPr/>
          <a:lstStyle/>
          <a:p>
            <a:r>
              <a:rPr lang="en-US" dirty="0"/>
              <a:t>Metabolic syndrome</a:t>
            </a:r>
          </a:p>
        </p:txBody>
      </p:sp>
      <p:sp>
        <p:nvSpPr>
          <p:cNvPr id="3" name="Content Placeholder 2">
            <a:extLst>
              <a:ext uri="{FF2B5EF4-FFF2-40B4-BE49-F238E27FC236}">
                <a16:creationId xmlns:a16="http://schemas.microsoft.com/office/drawing/2014/main" id="{085272CB-A39F-27C6-5D89-64E21C2734EF}"/>
              </a:ext>
            </a:extLst>
          </p:cNvPr>
          <p:cNvSpPr>
            <a:spLocks noGrp="1"/>
          </p:cNvSpPr>
          <p:nvPr>
            <p:ph idx="1"/>
          </p:nvPr>
        </p:nvSpPr>
        <p:spPr/>
        <p:txBody>
          <a:bodyPr vert="horz" lIns="91440" tIns="45720" rIns="91440" bIns="45720" rtlCol="0" anchor="t">
            <a:normAutofit fontScale="77500" lnSpcReduction="20000"/>
          </a:bodyPr>
          <a:lstStyle/>
          <a:p>
            <a:pPr marL="0" indent="0">
              <a:buNone/>
            </a:pPr>
            <a:endParaRPr lang="en-US" sz="1800" dirty="0">
              <a:solidFill>
                <a:srgbClr val="FF0000"/>
              </a:solidFill>
              <a:latin typeface="Calibri"/>
              <a:ea typeface="Calibri"/>
              <a:cs typeface="Calibri"/>
            </a:endParaRPr>
          </a:p>
          <a:p>
            <a:r>
              <a:rPr lang="en-US" sz="1800" dirty="0">
                <a:solidFill>
                  <a:srgbClr val="001D35"/>
                </a:solidFill>
                <a:ea typeface="+mn-lt"/>
                <a:cs typeface="+mn-lt"/>
              </a:rPr>
              <a:t>Metabolic syndrome is a cluster of medical conditions that increases the risk of heart disease, stroke, and type 2 diabetes. </a:t>
            </a:r>
            <a:endParaRPr lang="en-US" sz="1800" b="1">
              <a:solidFill>
                <a:srgbClr val="000000"/>
              </a:solidFill>
              <a:latin typeface="Calibri"/>
              <a:ea typeface="Calibri"/>
              <a:cs typeface="Calibri"/>
            </a:endParaRPr>
          </a:p>
          <a:p>
            <a:r>
              <a:rPr lang="en-US" sz="1800" dirty="0">
                <a:solidFill>
                  <a:srgbClr val="001D35"/>
                </a:solidFill>
                <a:ea typeface="+mn-lt"/>
                <a:cs typeface="+mn-lt"/>
              </a:rPr>
              <a:t>It's diagnosed when a person has at least three of the following: </a:t>
            </a:r>
            <a:endParaRPr lang="en-US" sz="1800">
              <a:solidFill>
                <a:srgbClr val="000000"/>
              </a:solidFill>
              <a:ea typeface="+mn-lt"/>
              <a:cs typeface="+mn-lt"/>
            </a:endParaRPr>
          </a:p>
          <a:p>
            <a:r>
              <a:rPr lang="en-US" sz="1800" dirty="0">
                <a:solidFill>
                  <a:srgbClr val="001D35"/>
                </a:solidFill>
                <a:ea typeface="+mn-lt"/>
                <a:cs typeface="+mn-lt"/>
              </a:rPr>
              <a:t>Conditions associated with Metabolic Syndrome:</a:t>
            </a:r>
            <a:endParaRPr lang="en-US" sz="1800"/>
          </a:p>
          <a:p>
            <a:r>
              <a:rPr lang="en-US" sz="1800" b="1" dirty="0">
                <a:solidFill>
                  <a:srgbClr val="001D35"/>
                </a:solidFill>
                <a:ea typeface="+mn-lt"/>
                <a:cs typeface="+mn-lt"/>
              </a:rPr>
              <a:t>High Blood Pressure:</a:t>
            </a:r>
            <a:r>
              <a:rPr lang="en-US" sz="1800" dirty="0">
                <a:solidFill>
                  <a:srgbClr val="001D35"/>
                </a:solidFill>
                <a:ea typeface="+mn-lt"/>
                <a:cs typeface="+mn-lt"/>
              </a:rPr>
              <a:t> A reading of 130/85 mmHg or higher.</a:t>
            </a:r>
            <a:endParaRPr lang="en-US" sz="1800"/>
          </a:p>
          <a:p>
            <a:r>
              <a:rPr lang="en-US" sz="1800" b="1" dirty="0">
                <a:solidFill>
                  <a:srgbClr val="001D35"/>
                </a:solidFill>
                <a:ea typeface="+mn-lt"/>
                <a:cs typeface="+mn-lt"/>
              </a:rPr>
              <a:t>High Blood Sugar:</a:t>
            </a:r>
            <a:r>
              <a:rPr lang="en-US" sz="1800" dirty="0">
                <a:solidFill>
                  <a:srgbClr val="001D35"/>
                </a:solidFill>
                <a:ea typeface="+mn-lt"/>
                <a:cs typeface="+mn-lt"/>
              </a:rPr>
              <a:t> Fasting glucose level of 100 mg/dL or higher.</a:t>
            </a:r>
            <a:endParaRPr lang="en-US" sz="1800"/>
          </a:p>
          <a:p>
            <a:r>
              <a:rPr lang="en-US" sz="1800" b="1" dirty="0">
                <a:solidFill>
                  <a:srgbClr val="001D35"/>
                </a:solidFill>
                <a:ea typeface="+mn-lt"/>
                <a:cs typeface="+mn-lt"/>
              </a:rPr>
              <a:t>Excess Abdominal Fat:</a:t>
            </a:r>
            <a:r>
              <a:rPr lang="en-US" sz="1800" dirty="0">
                <a:solidFill>
                  <a:srgbClr val="001D35"/>
                </a:solidFill>
                <a:ea typeface="+mn-lt"/>
                <a:cs typeface="+mn-lt"/>
              </a:rPr>
              <a:t> Waist circumference of 40 inches or more for men and 35 inches or more for women.--Visceral fat linked to vascular disease</a:t>
            </a:r>
            <a:endParaRPr lang="en-US" sz="1800"/>
          </a:p>
          <a:p>
            <a:r>
              <a:rPr lang="en-US" sz="1800" b="1" dirty="0">
                <a:solidFill>
                  <a:srgbClr val="001D35"/>
                </a:solidFill>
                <a:ea typeface="+mn-lt"/>
                <a:cs typeface="+mn-lt"/>
              </a:rPr>
              <a:t>High Triglycerides:</a:t>
            </a:r>
            <a:r>
              <a:rPr lang="en-US" sz="1800" dirty="0">
                <a:solidFill>
                  <a:srgbClr val="001D35"/>
                </a:solidFill>
                <a:ea typeface="+mn-lt"/>
                <a:cs typeface="+mn-lt"/>
              </a:rPr>
              <a:t> Fasting triglycerides level of 150 mg/dL or higher.</a:t>
            </a:r>
            <a:endParaRPr lang="en-US" sz="1800"/>
          </a:p>
          <a:p>
            <a:r>
              <a:rPr lang="en-US" sz="1800" b="1" dirty="0">
                <a:solidFill>
                  <a:srgbClr val="001D35"/>
                </a:solidFill>
                <a:ea typeface="+mn-lt"/>
                <a:cs typeface="+mn-lt"/>
              </a:rPr>
              <a:t>Low HDL (Good) Cholesterol:</a:t>
            </a:r>
            <a:r>
              <a:rPr lang="en-US" sz="1800" dirty="0">
                <a:solidFill>
                  <a:srgbClr val="001D35"/>
                </a:solidFill>
                <a:ea typeface="+mn-lt"/>
                <a:cs typeface="+mn-lt"/>
              </a:rPr>
              <a:t> HDL cholesterol level less than 40 mg/dL in men or 50 mg/dL in women. </a:t>
            </a:r>
            <a:endParaRPr lang="en-US" sz="1800" dirty="0"/>
          </a:p>
          <a:p>
            <a:endParaRPr lang="en-US" sz="1200" b="1" dirty="0">
              <a:solidFill>
                <a:srgbClr val="000000"/>
              </a:solidFill>
              <a:latin typeface="Calibri"/>
              <a:ea typeface="Calibri"/>
              <a:cs typeface="Calibri"/>
            </a:endParaRPr>
          </a:p>
          <a:p>
            <a:endParaRPr lang="en-US" sz="1200" dirty="0">
              <a:solidFill>
                <a:srgbClr val="FF0000"/>
              </a:solidFill>
              <a:latin typeface="Calibri"/>
              <a:ea typeface="Calibri"/>
              <a:cs typeface="Calibri"/>
            </a:endParaRPr>
          </a:p>
          <a:p>
            <a:r>
              <a:rPr lang="en-US" sz="1800" dirty="0">
                <a:solidFill>
                  <a:srgbClr val="FF0000"/>
                </a:solidFill>
                <a:latin typeface="Calibri"/>
                <a:ea typeface="Calibri"/>
                <a:cs typeface="Calibri"/>
              </a:rPr>
              <a:t>Acanthosis nigricans as an indicator for insulin resistance or diabetes</a:t>
            </a:r>
            <a:endParaRPr lang="en-US" sz="1800">
              <a:latin typeface="Calibri"/>
              <a:ea typeface="Calibri"/>
              <a:cs typeface="Calibri"/>
            </a:endParaRPr>
          </a:p>
          <a:p>
            <a:r>
              <a:rPr lang="en-US" sz="1800" dirty="0">
                <a:latin typeface="Calibri"/>
                <a:ea typeface="Calibri"/>
                <a:cs typeface="Calibri"/>
              </a:rPr>
              <a:t>Characterized by velvety, papillomatous, hyperkeratotic, darkly pigmented skin lesions found in body folds such as the neck, axilla, and groin</a:t>
            </a:r>
          </a:p>
          <a:p>
            <a:r>
              <a:rPr lang="en-US" sz="1800" dirty="0"/>
              <a:t>High circulating insulin levels of insulin bind to the insulin like growth factor receptors in melanin containing skin cells which leads to skin hyperplasia with papillomatosis and hyperpigmentation. </a:t>
            </a:r>
          </a:p>
          <a:p>
            <a:endParaRPr lang="en-US" dirty="0"/>
          </a:p>
        </p:txBody>
      </p:sp>
      <p:pic>
        <p:nvPicPr>
          <p:cNvPr id="4" name="Picture 3" descr="ACD A-Z of Skin - Acanthosis Nigricans">
            <a:extLst>
              <a:ext uri="{FF2B5EF4-FFF2-40B4-BE49-F238E27FC236}">
                <a16:creationId xmlns:a16="http://schemas.microsoft.com/office/drawing/2014/main" id="{D0AE5B72-2D7F-73F1-AF8E-D3D5AD38A853}"/>
              </a:ext>
            </a:extLst>
          </p:cNvPr>
          <p:cNvPicPr>
            <a:picLocks noChangeAspect="1"/>
          </p:cNvPicPr>
          <p:nvPr/>
        </p:nvPicPr>
        <p:blipFill>
          <a:blip r:embed="rId2"/>
          <a:stretch>
            <a:fillRect/>
          </a:stretch>
        </p:blipFill>
        <p:spPr>
          <a:xfrm>
            <a:off x="10210800" y="138"/>
            <a:ext cx="1924050" cy="2085699"/>
          </a:xfrm>
          <a:prstGeom prst="rect">
            <a:avLst/>
          </a:prstGeom>
        </p:spPr>
      </p:pic>
    </p:spTree>
    <p:extLst>
      <p:ext uri="{BB962C8B-B14F-4D97-AF65-F5344CB8AC3E}">
        <p14:creationId xmlns:p14="http://schemas.microsoft.com/office/powerpoint/2010/main" val="39472121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9CB11-B652-AE16-32E5-D6223C1498E1}"/>
              </a:ext>
            </a:extLst>
          </p:cNvPr>
          <p:cNvSpPr>
            <a:spLocks noGrp="1"/>
          </p:cNvSpPr>
          <p:nvPr>
            <p:ph type="title"/>
          </p:nvPr>
        </p:nvSpPr>
        <p:spPr/>
        <p:txBody>
          <a:bodyPr/>
          <a:lstStyle/>
          <a:p>
            <a:r>
              <a:rPr lang="en-US" dirty="0"/>
              <a:t>Prevention of Type 2 DM- Diabetes prevention trial</a:t>
            </a:r>
          </a:p>
        </p:txBody>
      </p:sp>
      <p:sp>
        <p:nvSpPr>
          <p:cNvPr id="3" name="Content Placeholder 2">
            <a:extLst>
              <a:ext uri="{FF2B5EF4-FFF2-40B4-BE49-F238E27FC236}">
                <a16:creationId xmlns:a16="http://schemas.microsoft.com/office/drawing/2014/main" id="{511A83FB-7F6D-E0C9-B11B-93085C7A8234}"/>
              </a:ext>
            </a:extLst>
          </p:cNvPr>
          <p:cNvSpPr>
            <a:spLocks noGrp="1"/>
          </p:cNvSpPr>
          <p:nvPr>
            <p:ph idx="1"/>
          </p:nvPr>
        </p:nvSpPr>
        <p:spPr/>
        <p:txBody>
          <a:bodyPr vert="horz" lIns="91440" tIns="45720" rIns="91440" bIns="45720" rtlCol="0" anchor="t">
            <a:normAutofit/>
          </a:bodyPr>
          <a:lstStyle/>
          <a:p>
            <a:r>
              <a:rPr lang="en-US" sz="1800" dirty="0">
                <a:solidFill>
                  <a:srgbClr val="383636"/>
                </a:solidFill>
                <a:latin typeface="Helvetica Neue"/>
              </a:rPr>
              <a:t>In the DPP, </a:t>
            </a:r>
            <a:r>
              <a:rPr lang="en-US" sz="1800" dirty="0">
                <a:solidFill>
                  <a:srgbClr val="FF0000"/>
                </a:solidFill>
                <a:latin typeface="Helvetica Neue"/>
              </a:rPr>
              <a:t>weight loss was an important factor in reducing the risk of progression,</a:t>
            </a:r>
            <a:r>
              <a:rPr lang="en-US" sz="1800" dirty="0">
                <a:solidFill>
                  <a:srgbClr val="383636"/>
                </a:solidFill>
                <a:latin typeface="Helvetica Neue"/>
              </a:rPr>
              <a:t> with every kilogram of weight loss conferring a 16% reduction in risk of progression over 3.2 years </a:t>
            </a:r>
          </a:p>
          <a:p>
            <a:r>
              <a:rPr lang="en-US" sz="1800" dirty="0">
                <a:solidFill>
                  <a:srgbClr val="383636"/>
                </a:solidFill>
                <a:latin typeface="Helvetica Neue"/>
              </a:rPr>
              <a:t>In the DPP, </a:t>
            </a:r>
            <a:r>
              <a:rPr lang="en-US" sz="1800" dirty="0">
                <a:solidFill>
                  <a:srgbClr val="FF0000"/>
                </a:solidFill>
                <a:latin typeface="Helvetica Neue"/>
              </a:rPr>
              <a:t>metformin</a:t>
            </a:r>
            <a:r>
              <a:rPr lang="en-US" sz="1800" dirty="0">
                <a:solidFill>
                  <a:srgbClr val="383636"/>
                </a:solidFill>
                <a:latin typeface="Helvetica Neue"/>
              </a:rPr>
              <a:t> was as effective as lifestyle modification in participants with BMI ≥35 kg/m</a:t>
            </a:r>
            <a:r>
              <a:rPr lang="en-US" sz="1800" baseline="30000" dirty="0">
                <a:solidFill>
                  <a:srgbClr val="383636"/>
                </a:solidFill>
                <a:latin typeface="Helvetica Neue"/>
              </a:rPr>
              <a:t>2</a:t>
            </a:r>
            <a:r>
              <a:rPr lang="en-US" sz="1800" dirty="0">
                <a:solidFill>
                  <a:srgbClr val="383636"/>
                </a:solidFill>
                <a:latin typeface="Helvetica Neue"/>
              </a:rPr>
              <a:t> and in younger participants aged 25–44 years . In individuals with a history of GDM in the DPP, metformin and intensive lifestyle modification led to an equivalent 50% reduction in diabetes risk . Both interventions remained highly effective during a 10-year follow-up period </a:t>
            </a:r>
          </a:p>
          <a:p>
            <a:r>
              <a:rPr lang="en-US" sz="1800" u="sng" dirty="0">
                <a:solidFill>
                  <a:srgbClr val="FF0000"/>
                </a:solidFill>
                <a:latin typeface="Helvetica Neue"/>
              </a:rPr>
              <a:t>Decreased vitamin B12 levels</a:t>
            </a:r>
            <a:r>
              <a:rPr lang="en-US" sz="1800" u="sng" dirty="0">
                <a:solidFill>
                  <a:srgbClr val="383636"/>
                </a:solidFill>
                <a:latin typeface="Helvetica Neue"/>
              </a:rPr>
              <a:t> </a:t>
            </a:r>
            <a:r>
              <a:rPr lang="en-US" sz="1800" dirty="0">
                <a:solidFill>
                  <a:srgbClr val="383636"/>
                </a:solidFill>
                <a:latin typeface="Helvetica Neue"/>
              </a:rPr>
              <a:t>due to impaired absorption are a known consequence of long-term treatment with metformin . Periodic assessment of vitamin B12 level in those taking metformin chronically should be considered </a:t>
            </a:r>
          </a:p>
          <a:p>
            <a:r>
              <a:rPr lang="en-US" sz="1800" dirty="0">
                <a:solidFill>
                  <a:srgbClr val="383636"/>
                </a:solidFill>
                <a:latin typeface="Helvetica Neue"/>
              </a:rPr>
              <a:t>Newer Therapies- GLP 1 agonists – </a:t>
            </a:r>
          </a:p>
          <a:p>
            <a:pPr marL="0" indent="0">
              <a:buNone/>
            </a:pPr>
            <a:r>
              <a:rPr lang="en-US" sz="1800" dirty="0" err="1">
                <a:solidFill>
                  <a:srgbClr val="383636"/>
                </a:solidFill>
                <a:latin typeface="Helvetica Neue"/>
              </a:rPr>
              <a:t>Semaglutide</a:t>
            </a:r>
            <a:r>
              <a:rPr lang="en-US" sz="1800" dirty="0">
                <a:solidFill>
                  <a:srgbClr val="383636"/>
                </a:solidFill>
                <a:latin typeface="Helvetica Neue"/>
              </a:rPr>
              <a:t> , Liraglutide </a:t>
            </a:r>
            <a:r>
              <a:rPr lang="en-US" sz="1800" dirty="0" err="1">
                <a:solidFill>
                  <a:srgbClr val="383636"/>
                </a:solidFill>
                <a:latin typeface="Helvetica Neue"/>
              </a:rPr>
              <a:t>etc</a:t>
            </a:r>
            <a:r>
              <a:rPr lang="en-US" sz="1800" dirty="0">
                <a:solidFill>
                  <a:srgbClr val="383636"/>
                </a:solidFill>
                <a:latin typeface="Helvetica Neue"/>
              </a:rPr>
              <a:t> </a:t>
            </a:r>
            <a:endParaRPr lang="en-US"/>
          </a:p>
          <a:p>
            <a:endParaRPr lang="en-US" sz="1800" dirty="0">
              <a:solidFill>
                <a:srgbClr val="383636"/>
              </a:solidFill>
              <a:latin typeface="Helvetica Neue"/>
            </a:endParaRPr>
          </a:p>
        </p:txBody>
      </p:sp>
      <p:pic>
        <p:nvPicPr>
          <p:cNvPr id="4" name="Graphic 3" descr="D P P and D P P O S Timeline.  A graphic showing changes from 1996 to present.">
            <a:extLst>
              <a:ext uri="{FF2B5EF4-FFF2-40B4-BE49-F238E27FC236}">
                <a16:creationId xmlns:a16="http://schemas.microsoft.com/office/drawing/2014/main" id="{8E2A2698-D268-6980-7C56-33A25BB3383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78907" y="4255972"/>
            <a:ext cx="4778414" cy="1914917"/>
          </a:xfrm>
          <a:prstGeom prst="rect">
            <a:avLst/>
          </a:prstGeom>
        </p:spPr>
      </p:pic>
      <p:sp>
        <p:nvSpPr>
          <p:cNvPr id="5" name="Star: 5 Points 4">
            <a:extLst>
              <a:ext uri="{FF2B5EF4-FFF2-40B4-BE49-F238E27FC236}">
                <a16:creationId xmlns:a16="http://schemas.microsoft.com/office/drawing/2014/main" id="{9712F037-EF5E-BD00-CA77-84E04F34EFB0}"/>
              </a:ext>
            </a:extLst>
          </p:cNvPr>
          <p:cNvSpPr/>
          <p:nvPr/>
        </p:nvSpPr>
        <p:spPr>
          <a:xfrm>
            <a:off x="86492" y="3432461"/>
            <a:ext cx="639726" cy="648587"/>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658212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A9C0B-1016-ADBC-CDD9-46027AC9C7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A166E4-5786-73A6-05F1-B862FBDF2268}"/>
              </a:ext>
            </a:extLst>
          </p:cNvPr>
          <p:cNvSpPr>
            <a:spLocks noGrp="1"/>
          </p:cNvSpPr>
          <p:nvPr>
            <p:ph type="title"/>
          </p:nvPr>
        </p:nvSpPr>
        <p:spPr/>
        <p:txBody>
          <a:bodyPr/>
          <a:lstStyle/>
          <a:p>
            <a:r>
              <a:rPr lang="en-US" dirty="0"/>
              <a:t>Symptoms </a:t>
            </a:r>
          </a:p>
        </p:txBody>
      </p:sp>
      <p:sp>
        <p:nvSpPr>
          <p:cNvPr id="3" name="Content Placeholder 2">
            <a:extLst>
              <a:ext uri="{FF2B5EF4-FFF2-40B4-BE49-F238E27FC236}">
                <a16:creationId xmlns:a16="http://schemas.microsoft.com/office/drawing/2014/main" id="{505562EE-A34D-F953-6DA4-177FFBAF6E1A}"/>
              </a:ext>
            </a:extLst>
          </p:cNvPr>
          <p:cNvSpPr>
            <a:spLocks noGrp="1"/>
          </p:cNvSpPr>
          <p:nvPr>
            <p:ph idx="1"/>
          </p:nvPr>
        </p:nvSpPr>
        <p:spPr/>
        <p:txBody>
          <a:bodyPr vert="horz" lIns="91440" tIns="45720" rIns="91440" bIns="45720" rtlCol="0" anchor="t">
            <a:normAutofit/>
          </a:bodyPr>
          <a:lstStyle/>
          <a:p>
            <a:r>
              <a:rPr lang="en-US" sz="1200" dirty="0">
                <a:solidFill>
                  <a:srgbClr val="FF0000"/>
                </a:solidFill>
                <a:latin typeface="Calibri"/>
                <a:ea typeface="Calibri"/>
                <a:cs typeface="Calibri"/>
              </a:rPr>
              <a:t>What are common symptoms for diabetes?</a:t>
            </a:r>
            <a:endParaRPr lang="en-US" dirty="0"/>
          </a:p>
          <a:p>
            <a:r>
              <a:rPr lang="en-US" sz="1200" b="1" u="sng" dirty="0">
                <a:latin typeface="Calibri"/>
                <a:ea typeface="Calibri"/>
                <a:cs typeface="Calibri"/>
              </a:rPr>
              <a:t>P</a:t>
            </a:r>
            <a:r>
              <a:rPr lang="en-US" sz="1200" b="1" dirty="0">
                <a:latin typeface="Calibri"/>
                <a:ea typeface="Calibri"/>
                <a:cs typeface="Calibri"/>
              </a:rPr>
              <a:t>olyuria</a:t>
            </a:r>
            <a:r>
              <a:rPr lang="en-US" sz="1200" dirty="0">
                <a:latin typeface="Calibri"/>
                <a:ea typeface="Calibri"/>
                <a:cs typeface="Calibri"/>
              </a:rPr>
              <a:t> – due to osmotic diuresis (glucose in blood attracts water; excess glucose is removed from blood by the kidneys and excreted via the urine, along with water and electrolytes) </a:t>
            </a:r>
            <a:r>
              <a:rPr lang="en-US" sz="1200" b="1" dirty="0">
                <a:latin typeface="Calibri"/>
                <a:ea typeface="Calibri"/>
                <a:cs typeface="Calibri"/>
              </a:rPr>
              <a:t>= hyperosmolar state (loss of water and high glucose/sodium)</a:t>
            </a:r>
            <a:endParaRPr lang="en-US"/>
          </a:p>
          <a:p>
            <a:r>
              <a:rPr lang="en-US" sz="1200" b="1" u="sng" dirty="0">
                <a:latin typeface="Calibri"/>
                <a:ea typeface="Calibri"/>
                <a:cs typeface="Calibri"/>
              </a:rPr>
              <a:t>P</a:t>
            </a:r>
            <a:r>
              <a:rPr lang="en-US" sz="1200" b="1" dirty="0">
                <a:latin typeface="Calibri"/>
                <a:ea typeface="Calibri"/>
                <a:cs typeface="Calibri"/>
              </a:rPr>
              <a:t>olydipsia</a:t>
            </a:r>
            <a:r>
              <a:rPr lang="en-US" sz="1200" dirty="0">
                <a:latin typeface="Calibri"/>
                <a:ea typeface="Calibri"/>
                <a:cs typeface="Calibri"/>
              </a:rPr>
              <a:t> – excessive thirst due to hyperosmolar state/ water loss</a:t>
            </a:r>
            <a:endParaRPr lang="en-US"/>
          </a:p>
          <a:p>
            <a:r>
              <a:rPr lang="en-US" sz="1200" b="1" u="sng" dirty="0">
                <a:latin typeface="Calibri"/>
                <a:ea typeface="Calibri"/>
                <a:cs typeface="Calibri"/>
              </a:rPr>
              <a:t>P</a:t>
            </a:r>
            <a:r>
              <a:rPr lang="en-US" sz="1200" b="1" dirty="0">
                <a:latin typeface="Calibri"/>
                <a:ea typeface="Calibri"/>
                <a:cs typeface="Calibri"/>
              </a:rPr>
              <a:t>olyphagia</a:t>
            </a:r>
            <a:r>
              <a:rPr lang="en-US" sz="1200" dirty="0">
                <a:latin typeface="Calibri"/>
                <a:ea typeface="Calibri"/>
                <a:cs typeface="Calibri"/>
              </a:rPr>
              <a:t> – increased hunger; due to lack of insulin and ability for glucose to enter cells. Body cannot convert glucose into usable source of energy. </a:t>
            </a:r>
            <a:endParaRPr lang="en-US"/>
          </a:p>
          <a:p>
            <a:r>
              <a:rPr lang="en-US" sz="1200" dirty="0">
                <a:latin typeface="Calibri"/>
                <a:ea typeface="Calibri"/>
                <a:cs typeface="Calibri"/>
              </a:rPr>
              <a:t>Weight loss – despite normal or increased appetite; due to depletion of water, glycogen( glucose stores); skeletal muscle catabolism and conversion of amino acids to glucose via gluconeogenesis in the liver</a:t>
            </a:r>
            <a:endParaRPr lang="en-US"/>
          </a:p>
          <a:p>
            <a:r>
              <a:rPr lang="en-US" sz="1200" dirty="0">
                <a:latin typeface="Calibri"/>
                <a:ea typeface="Calibri"/>
                <a:cs typeface="Calibri"/>
              </a:rPr>
              <a:t>Dizziness and weakness – due to dehydration, low BP, whole body potassium loss</a:t>
            </a:r>
            <a:endParaRPr lang="en-US"/>
          </a:p>
          <a:p>
            <a:r>
              <a:rPr lang="en-US" sz="1200" dirty="0">
                <a:latin typeface="Calibri"/>
                <a:ea typeface="Calibri"/>
                <a:cs typeface="Calibri"/>
              </a:rPr>
              <a:t>High ketones contribute to nausea and vomiting (cause unknown), leading to decreased food and fluid intake, exacerbating hyperosmolar state. Ketones also result in sweet, fruity breath odor and increased respiratory compensation (Kussmaul respiration)</a:t>
            </a:r>
            <a:endParaRPr lang="en-US"/>
          </a:p>
          <a:p>
            <a:r>
              <a:rPr lang="en-US" sz="1200" dirty="0">
                <a:latin typeface="Calibri"/>
                <a:ea typeface="Calibri"/>
                <a:cs typeface="Calibri"/>
              </a:rPr>
              <a:t>Hyperkalemia-induced cardiac arrhythmias...???</a:t>
            </a:r>
            <a:endParaRPr lang="en-US" dirty="0"/>
          </a:p>
          <a:p>
            <a:r>
              <a:rPr lang="en-US" sz="1200" dirty="0">
                <a:latin typeface="Calibri"/>
                <a:ea typeface="Calibri"/>
                <a:cs typeface="Calibri"/>
              </a:rPr>
              <a:t>Blurry vision – due to exposure of lenses and retinas to hyperosmolar fluids, </a:t>
            </a:r>
            <a:endParaRPr lang="en-US" dirty="0"/>
          </a:p>
        </p:txBody>
      </p:sp>
      <p:pic>
        <p:nvPicPr>
          <p:cNvPr id="4" name="Picture 3" descr="http://www.shanghaiskyclinic.com/sites/default/files/diabetes_image_0.jpg">
            <a:extLst>
              <a:ext uri="{FF2B5EF4-FFF2-40B4-BE49-F238E27FC236}">
                <a16:creationId xmlns:a16="http://schemas.microsoft.com/office/drawing/2014/main" id="{C0EF9C23-B829-26DD-181E-0CB5C9D026B4}"/>
              </a:ext>
            </a:extLst>
          </p:cNvPr>
          <p:cNvPicPr>
            <a:picLocks noChangeAspect="1"/>
          </p:cNvPicPr>
          <p:nvPr/>
        </p:nvPicPr>
        <p:blipFill>
          <a:blip r:embed="rId2"/>
          <a:stretch>
            <a:fillRect/>
          </a:stretch>
        </p:blipFill>
        <p:spPr>
          <a:xfrm>
            <a:off x="7210425" y="4129087"/>
            <a:ext cx="3390900" cy="2657475"/>
          </a:xfrm>
          <a:prstGeom prst="rect">
            <a:avLst/>
          </a:prstGeom>
        </p:spPr>
      </p:pic>
    </p:spTree>
    <p:extLst>
      <p:ext uri="{BB962C8B-B14F-4D97-AF65-F5344CB8AC3E}">
        <p14:creationId xmlns:p14="http://schemas.microsoft.com/office/powerpoint/2010/main" val="36464030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EF98-8BF7-68AF-9A36-74AEE4EECA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07F7CC-A37F-F601-0F3E-DC8135F8697F}"/>
              </a:ext>
            </a:extLst>
          </p:cNvPr>
          <p:cNvSpPr>
            <a:spLocks noGrp="1"/>
          </p:cNvSpPr>
          <p:nvPr>
            <p:ph type="title"/>
          </p:nvPr>
        </p:nvSpPr>
        <p:spPr/>
        <p:txBody>
          <a:bodyPr/>
          <a:lstStyle/>
          <a:p>
            <a:r>
              <a:rPr lang="en-US" dirty="0"/>
              <a:t>Treatment </a:t>
            </a:r>
          </a:p>
        </p:txBody>
      </p:sp>
      <p:sp>
        <p:nvSpPr>
          <p:cNvPr id="5" name="Content Placeholder 4">
            <a:extLst>
              <a:ext uri="{FF2B5EF4-FFF2-40B4-BE49-F238E27FC236}">
                <a16:creationId xmlns:a16="http://schemas.microsoft.com/office/drawing/2014/main" id="{162B6D2E-AE0F-5099-A9BC-A6AF60087A4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0253877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F0148-E13C-8340-D331-A6EB6F532E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A5B264-A6C5-F930-BE01-C125703C3ADB}"/>
              </a:ext>
            </a:extLst>
          </p:cNvPr>
          <p:cNvSpPr>
            <a:spLocks noGrp="1"/>
          </p:cNvSpPr>
          <p:nvPr>
            <p:ph type="title"/>
          </p:nvPr>
        </p:nvSpPr>
        <p:spPr/>
        <p:txBody>
          <a:bodyPr/>
          <a:lstStyle/>
          <a:p>
            <a:endParaRPr lang="en-US"/>
          </a:p>
        </p:txBody>
      </p:sp>
      <p:pic>
        <p:nvPicPr>
          <p:cNvPr id="4" name="Content Placeholder 3" descr="A diagram of a person&amp;#39;s body&#10;&#10;AI-generated content may be incorrect.">
            <a:extLst>
              <a:ext uri="{FF2B5EF4-FFF2-40B4-BE49-F238E27FC236}">
                <a16:creationId xmlns:a16="http://schemas.microsoft.com/office/drawing/2014/main" id="{8C93B167-A37B-47E5-9EA8-73236A9B96E9}"/>
              </a:ext>
            </a:extLst>
          </p:cNvPr>
          <p:cNvPicPr>
            <a:picLocks noGrp="1" noChangeAspect="1"/>
          </p:cNvPicPr>
          <p:nvPr>
            <p:ph idx="1"/>
          </p:nvPr>
        </p:nvPicPr>
        <p:blipFill>
          <a:blip r:embed="rId2"/>
          <a:stretch>
            <a:fillRect/>
          </a:stretch>
        </p:blipFill>
        <p:spPr>
          <a:xfrm>
            <a:off x="942975" y="1239044"/>
            <a:ext cx="9599029" cy="5412008"/>
          </a:xfrm>
        </p:spPr>
      </p:pic>
      <p:sp>
        <p:nvSpPr>
          <p:cNvPr id="5" name="TextBox 4">
            <a:extLst>
              <a:ext uri="{FF2B5EF4-FFF2-40B4-BE49-F238E27FC236}">
                <a16:creationId xmlns:a16="http://schemas.microsoft.com/office/drawing/2014/main" id="{28A9F089-CED6-2BB6-CBD3-B1D1DE393EDA}"/>
              </a:ext>
            </a:extLst>
          </p:cNvPr>
          <p:cNvSpPr txBox="1"/>
          <p:nvPr/>
        </p:nvSpPr>
        <p:spPr>
          <a:xfrm>
            <a:off x="1562100" y="4819650"/>
            <a:ext cx="27432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latin typeface="Calibri"/>
                <a:ea typeface="Calibri"/>
                <a:cs typeface="Calibri"/>
              </a:rPr>
              <a:t>References:</a:t>
            </a:r>
          </a:p>
          <a:p>
            <a:pPr marL="228600" indent="-228600">
              <a:buFont typeface=""/>
              <a:buAutoNum type="arabicPeriod"/>
            </a:pPr>
            <a:r>
              <a:rPr lang="en-US" sz="1200">
                <a:latin typeface="Calibri"/>
                <a:ea typeface="Calibri"/>
                <a:cs typeface="Calibri"/>
              </a:rPr>
              <a:t>DeFronzo RA. Banting Lecture. From the triumvirate to the ominous octet: a new paradigm for the treatment of type 2 diabetes mellitus. </a:t>
            </a:r>
            <a:br>
              <a:rPr lang="en-US" sz="1200">
                <a:latin typeface="Calibri"/>
                <a:ea typeface="Calibri"/>
                <a:cs typeface="Calibri"/>
              </a:rPr>
            </a:br>
            <a:r>
              <a:rPr lang="en-US" sz="1200" i="1">
                <a:latin typeface="Calibri"/>
                <a:ea typeface="Calibri"/>
                <a:cs typeface="Calibri"/>
              </a:rPr>
              <a:t>Diabetes. </a:t>
            </a:r>
            <a:r>
              <a:rPr lang="en-US" sz="1200">
                <a:latin typeface="Calibri"/>
                <a:ea typeface="Calibri"/>
                <a:cs typeface="Calibri"/>
              </a:rPr>
              <a:t>2009;58:773-795.</a:t>
            </a:r>
          </a:p>
          <a:p>
            <a:r>
              <a:rPr lang="en-US" sz="1200">
                <a:latin typeface="Calibri"/>
                <a:ea typeface="Calibri"/>
                <a:cs typeface="Calibri"/>
              </a:rPr>
              <a:t>Drucker DJ. Enhancing incretin action for the treatment of type 2 diabetes. </a:t>
            </a:r>
            <a:r>
              <a:rPr lang="en-US" sz="1200" i="1">
                <a:latin typeface="Calibri"/>
                <a:ea typeface="Calibri"/>
                <a:cs typeface="Calibri"/>
              </a:rPr>
              <a:t>Diabetes Care. </a:t>
            </a:r>
            <a:r>
              <a:rPr lang="en-US" sz="1200">
                <a:latin typeface="Calibri"/>
                <a:ea typeface="Calibri"/>
                <a:cs typeface="Calibri"/>
              </a:rPr>
              <a:t>2003;26:2929-2940</a:t>
            </a:r>
            <a:endParaRPr lang="en-US"/>
          </a:p>
        </p:txBody>
      </p:sp>
    </p:spTree>
    <p:extLst>
      <p:ext uri="{BB962C8B-B14F-4D97-AF65-F5344CB8AC3E}">
        <p14:creationId xmlns:p14="http://schemas.microsoft.com/office/powerpoint/2010/main" val="25324312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278937" y="199939"/>
          <a:ext cx="11637820" cy="6581242"/>
        </p:xfrm>
        <a:graphic>
          <a:graphicData uri="http://schemas.openxmlformats.org/drawingml/2006/table">
            <a:tbl>
              <a:tblPr firstRow="1" bandRow="1">
                <a:tableStyleId>{5C22544A-7EE6-4342-B048-85BDC9FD1C3A}</a:tableStyleId>
              </a:tblPr>
              <a:tblGrid>
                <a:gridCol w="1993389">
                  <a:extLst>
                    <a:ext uri="{9D8B030D-6E8A-4147-A177-3AD203B41FA5}">
                      <a16:colId xmlns:a16="http://schemas.microsoft.com/office/drawing/2014/main" val="20000"/>
                    </a:ext>
                  </a:extLst>
                </a:gridCol>
                <a:gridCol w="3018237">
                  <a:extLst>
                    <a:ext uri="{9D8B030D-6E8A-4147-A177-3AD203B41FA5}">
                      <a16:colId xmlns:a16="http://schemas.microsoft.com/office/drawing/2014/main" val="20001"/>
                    </a:ext>
                  </a:extLst>
                </a:gridCol>
                <a:gridCol w="3266001">
                  <a:extLst>
                    <a:ext uri="{9D8B030D-6E8A-4147-A177-3AD203B41FA5}">
                      <a16:colId xmlns:a16="http://schemas.microsoft.com/office/drawing/2014/main" val="20002"/>
                    </a:ext>
                  </a:extLst>
                </a:gridCol>
                <a:gridCol w="3360193">
                  <a:extLst>
                    <a:ext uri="{9D8B030D-6E8A-4147-A177-3AD203B41FA5}">
                      <a16:colId xmlns:a16="http://schemas.microsoft.com/office/drawing/2014/main" val="20003"/>
                    </a:ext>
                  </a:extLst>
                </a:gridCol>
              </a:tblGrid>
              <a:tr h="651165">
                <a:tc gridSpan="4">
                  <a:txBody>
                    <a:bodyPr/>
                    <a:lstStyle/>
                    <a:p>
                      <a:pPr marL="0" marR="0" algn="ctr" eaLnBrk="0" fontAlgn="base" hangingPunct="0">
                        <a:spcBef>
                          <a:spcPts val="0"/>
                        </a:spcBef>
                        <a:spcAft>
                          <a:spcPts val="0"/>
                        </a:spcAft>
                      </a:pPr>
                      <a:endParaRPr lang="en-US" sz="2200" dirty="0">
                        <a:solidFill>
                          <a:srgbClr val="FFFFFF"/>
                        </a:solidFill>
                        <a:effectLst>
                          <a:outerShdw blurRad="38100" dist="38100" dir="2700000" algn="tl">
                            <a:srgbClr val="000000">
                              <a:alpha val="43137"/>
                            </a:srgbClr>
                          </a:outerShdw>
                        </a:effectLst>
                        <a:latin typeface="+mj-lt"/>
                        <a:ea typeface="Cambria"/>
                        <a:cs typeface="Times New Roman"/>
                      </a:endParaRPr>
                    </a:p>
                  </a:txBody>
                  <a:tcPr marL="0" marR="0" marT="0" marB="0">
                    <a:solidFill>
                      <a:schemeClr val="accent1">
                        <a:lumMod val="20000"/>
                        <a:lumOff val="80000"/>
                      </a:schemeClr>
                    </a:solidFill>
                  </a:tcPr>
                </a:tc>
                <a:tc hMerge="1">
                  <a:txBody>
                    <a:bodyPr/>
                    <a:lstStyle/>
                    <a:p>
                      <a:pPr marL="0" marR="0" algn="ctr" fontAlgn="base">
                        <a:spcBef>
                          <a:spcPts val="0"/>
                        </a:spcBef>
                        <a:spcAft>
                          <a:spcPts val="0"/>
                        </a:spcAft>
                      </a:pPr>
                      <a:endParaRPr lang="en-US" sz="2200" dirty="0">
                        <a:solidFill>
                          <a:srgbClr val="FFFFFF"/>
                        </a:solidFill>
                        <a:effectLst>
                          <a:outerShdw blurRad="38100" dist="38100" dir="2700000" algn="tl">
                            <a:srgbClr val="000000">
                              <a:alpha val="43137"/>
                            </a:srgbClr>
                          </a:outerShdw>
                        </a:effectLst>
                        <a:latin typeface="+mj-lt"/>
                        <a:ea typeface="Cambria"/>
                        <a:cs typeface="Times New Roman"/>
                      </a:endParaRPr>
                    </a:p>
                  </a:txBody>
                  <a:tcPr marL="0" marR="0" marT="0" marB="0">
                    <a:solidFill>
                      <a:srgbClr val="00005C"/>
                    </a:solidFill>
                  </a:tcPr>
                </a:tc>
                <a:tc hMerge="1">
                  <a:txBody>
                    <a:bodyPr/>
                    <a:lstStyle/>
                    <a:p>
                      <a:pPr marL="0" marR="0" algn="ctr" fontAlgn="base">
                        <a:spcBef>
                          <a:spcPts val="0"/>
                        </a:spcBef>
                        <a:spcAft>
                          <a:spcPts val="0"/>
                        </a:spcAft>
                      </a:pPr>
                      <a:endParaRPr lang="en-US" sz="2200" dirty="0">
                        <a:solidFill>
                          <a:srgbClr val="FFFFFF"/>
                        </a:solidFill>
                        <a:effectLst>
                          <a:outerShdw blurRad="38100" dist="38100" dir="2700000" algn="tl">
                            <a:srgbClr val="000000">
                              <a:alpha val="43137"/>
                            </a:srgbClr>
                          </a:outerShdw>
                        </a:effectLst>
                        <a:latin typeface="+mj-lt"/>
                        <a:ea typeface="Cambria"/>
                        <a:cs typeface="Times New Roman"/>
                      </a:endParaRPr>
                    </a:p>
                  </a:txBody>
                  <a:tcPr marL="0" marR="0" marT="0" marB="0">
                    <a:solidFill>
                      <a:srgbClr val="00005C"/>
                    </a:solidFill>
                  </a:tcPr>
                </a:tc>
                <a:tc hMerge="1">
                  <a:txBody>
                    <a:bodyPr/>
                    <a:lstStyle/>
                    <a:p>
                      <a:pPr marL="0" marR="0" algn="ctr" fontAlgn="base">
                        <a:spcBef>
                          <a:spcPts val="0"/>
                        </a:spcBef>
                        <a:spcAft>
                          <a:spcPts val="0"/>
                        </a:spcAft>
                      </a:pPr>
                      <a:endParaRPr lang="en-US" sz="2200" dirty="0">
                        <a:solidFill>
                          <a:srgbClr val="FFFFFF"/>
                        </a:solidFill>
                        <a:effectLst>
                          <a:outerShdw blurRad="38100" dist="38100" dir="2700000" algn="tl">
                            <a:srgbClr val="000000">
                              <a:alpha val="43137"/>
                            </a:srgbClr>
                          </a:outerShdw>
                        </a:effectLst>
                        <a:latin typeface="+mj-lt"/>
                        <a:ea typeface="Cambria"/>
                        <a:cs typeface="Times New Roman"/>
                      </a:endParaRPr>
                    </a:p>
                  </a:txBody>
                  <a:tcPr marL="0" marR="0" marT="0" marB="0">
                    <a:solidFill>
                      <a:srgbClr val="00005C"/>
                    </a:solidFill>
                  </a:tcPr>
                </a:tc>
                <a:extLst>
                  <a:ext uri="{0D108BD9-81ED-4DB2-BD59-A6C34878D82A}">
                    <a16:rowId xmlns:a16="http://schemas.microsoft.com/office/drawing/2014/main" val="10005"/>
                  </a:ext>
                </a:extLst>
              </a:tr>
              <a:tr h="651165">
                <a:tc>
                  <a:txBody>
                    <a:bodyPr/>
                    <a:lstStyle/>
                    <a:p>
                      <a:pPr marL="0" marR="0" algn="ctr" eaLnBrk="0" fontAlgn="base" hangingPunct="0">
                        <a:spcBef>
                          <a:spcPts val="0"/>
                        </a:spcBef>
                        <a:spcAft>
                          <a:spcPts val="0"/>
                        </a:spcAft>
                      </a:pPr>
                      <a:r>
                        <a:rPr lang="en-US" sz="2200" b="1" kern="1200" dirty="0">
                          <a:solidFill>
                            <a:srgbClr val="FFFFFF"/>
                          </a:solidFill>
                          <a:effectLst>
                            <a:outerShdw blurRad="38100" dist="38100" dir="2700000" algn="tl">
                              <a:srgbClr val="000000">
                                <a:alpha val="43137"/>
                              </a:srgbClr>
                            </a:outerShdw>
                          </a:effectLst>
                          <a:latin typeface="+mj-lt"/>
                          <a:ea typeface="MS PGothic"/>
                          <a:cs typeface="Arial"/>
                        </a:rPr>
                        <a:t>Oral Class</a:t>
                      </a:r>
                      <a:endParaRPr lang="en-US" sz="2200" dirty="0">
                        <a:solidFill>
                          <a:srgbClr val="FFFFFF"/>
                        </a:solidFill>
                        <a:effectLst>
                          <a:outerShdw blurRad="38100" dist="38100" dir="2700000" algn="tl">
                            <a:srgbClr val="000000">
                              <a:alpha val="43137"/>
                            </a:srgbClr>
                          </a:outerShdw>
                        </a:effectLst>
                        <a:latin typeface="+mj-lt"/>
                        <a:ea typeface="Cambria"/>
                        <a:cs typeface="Times New Roman"/>
                      </a:endParaRPr>
                    </a:p>
                  </a:txBody>
                  <a:tcPr marL="0" marR="0" marT="0" marB="0">
                    <a:solidFill>
                      <a:srgbClr val="00005C"/>
                    </a:solidFill>
                  </a:tcPr>
                </a:tc>
                <a:tc>
                  <a:txBody>
                    <a:bodyPr/>
                    <a:lstStyle/>
                    <a:p>
                      <a:pPr marL="0" marR="0" algn="ctr" fontAlgn="base">
                        <a:spcBef>
                          <a:spcPts val="0"/>
                        </a:spcBef>
                        <a:spcAft>
                          <a:spcPts val="0"/>
                        </a:spcAft>
                      </a:pPr>
                      <a:r>
                        <a:rPr lang="en-US" sz="2200" dirty="0">
                          <a:solidFill>
                            <a:srgbClr val="FFFFFF"/>
                          </a:solidFill>
                          <a:effectLst>
                            <a:outerShdw blurRad="38100" dist="38100" dir="2700000" algn="tl">
                              <a:srgbClr val="000000">
                                <a:alpha val="43137"/>
                              </a:srgbClr>
                            </a:outerShdw>
                          </a:effectLst>
                          <a:latin typeface="+mj-lt"/>
                          <a:ea typeface="Cambria"/>
                          <a:cs typeface="Times New Roman"/>
                        </a:rPr>
                        <a:t>Mechanism</a:t>
                      </a:r>
                    </a:p>
                  </a:txBody>
                  <a:tcPr marL="0" marR="0" marT="0" marB="0">
                    <a:solidFill>
                      <a:srgbClr val="00005C"/>
                    </a:solidFill>
                  </a:tcPr>
                </a:tc>
                <a:tc>
                  <a:txBody>
                    <a:bodyPr/>
                    <a:lstStyle/>
                    <a:p>
                      <a:pPr marL="0" marR="0" algn="ctr" fontAlgn="base">
                        <a:spcBef>
                          <a:spcPts val="0"/>
                        </a:spcBef>
                        <a:spcAft>
                          <a:spcPts val="0"/>
                        </a:spcAft>
                      </a:pPr>
                      <a:r>
                        <a:rPr lang="en-US" sz="2200" dirty="0">
                          <a:solidFill>
                            <a:srgbClr val="FFFFFF"/>
                          </a:solidFill>
                          <a:effectLst>
                            <a:outerShdw blurRad="38100" dist="38100" dir="2700000" algn="tl">
                              <a:srgbClr val="000000">
                                <a:alpha val="43137"/>
                              </a:srgbClr>
                            </a:outerShdw>
                          </a:effectLst>
                          <a:latin typeface="+mj-lt"/>
                          <a:ea typeface="Cambria"/>
                          <a:cs typeface="Times New Roman"/>
                        </a:rPr>
                        <a:t>Advantages</a:t>
                      </a:r>
                    </a:p>
                  </a:txBody>
                  <a:tcPr marL="0" marR="0" marT="0" marB="0">
                    <a:solidFill>
                      <a:srgbClr val="00005C"/>
                    </a:solidFill>
                  </a:tcPr>
                </a:tc>
                <a:tc>
                  <a:txBody>
                    <a:bodyPr/>
                    <a:lstStyle/>
                    <a:p>
                      <a:pPr marL="0" marR="0" algn="ctr" fontAlgn="base">
                        <a:spcBef>
                          <a:spcPts val="0"/>
                        </a:spcBef>
                        <a:spcAft>
                          <a:spcPts val="0"/>
                        </a:spcAft>
                      </a:pPr>
                      <a:r>
                        <a:rPr lang="en-US" sz="2200" dirty="0">
                          <a:solidFill>
                            <a:srgbClr val="FFFFFF"/>
                          </a:solidFill>
                          <a:effectLst>
                            <a:outerShdw blurRad="38100" dist="38100" dir="2700000" algn="tl">
                              <a:srgbClr val="000000">
                                <a:alpha val="43137"/>
                              </a:srgbClr>
                            </a:outerShdw>
                          </a:effectLst>
                          <a:latin typeface="+mj-lt"/>
                          <a:ea typeface="Cambria"/>
                          <a:cs typeface="Times New Roman"/>
                        </a:rPr>
                        <a:t>Disadvantages</a:t>
                      </a:r>
                    </a:p>
                  </a:txBody>
                  <a:tcPr marL="0" marR="0" marT="0" marB="0">
                    <a:solidFill>
                      <a:srgbClr val="00005C"/>
                    </a:solidFill>
                  </a:tcPr>
                </a:tc>
                <a:extLst>
                  <a:ext uri="{0D108BD9-81ED-4DB2-BD59-A6C34878D82A}">
                    <a16:rowId xmlns:a16="http://schemas.microsoft.com/office/drawing/2014/main" val="10000"/>
                  </a:ext>
                </a:extLst>
              </a:tr>
              <a:tr h="1306060">
                <a:tc>
                  <a:txBody>
                    <a:bodyPr/>
                    <a:lstStyle/>
                    <a:p>
                      <a:r>
                        <a:rPr lang="en-US" b="1" dirty="0" err="1"/>
                        <a:t>Biguanides</a:t>
                      </a:r>
                      <a:endParaRPr lang="en-US" b="1" dirty="0"/>
                    </a:p>
                  </a:txBody>
                  <a:tcPr marL="121920" marR="121920"/>
                </a:tc>
                <a:tc>
                  <a:txBody>
                    <a:bodyPr/>
                    <a:lstStyle/>
                    <a:p>
                      <a:pPr>
                        <a:buFont typeface="Arial"/>
                        <a:buChar char="•"/>
                      </a:pPr>
                      <a:r>
                        <a:rPr lang="en-US" dirty="0"/>
                        <a:t> Activates AMP-kinase (?other)</a:t>
                      </a:r>
                    </a:p>
                    <a:p>
                      <a:pPr>
                        <a:buFont typeface="Arial"/>
                        <a:buChar char="•"/>
                      </a:pPr>
                      <a:r>
                        <a:rPr lang="en-US" baseline="0" dirty="0"/>
                        <a:t> </a:t>
                      </a:r>
                      <a:r>
                        <a:rPr lang="en-US" sz="1800" b="1" kern="1200" dirty="0" err="1">
                          <a:solidFill>
                            <a:schemeClr val="dk1"/>
                          </a:solidFill>
                          <a:latin typeface="+mn-lt"/>
                          <a:ea typeface="+mn-ea"/>
                          <a:cs typeface="+mn-cs"/>
                          <a:sym typeface="Symbol"/>
                        </a:rPr>
                        <a:t></a:t>
                      </a:r>
                      <a:r>
                        <a:rPr lang="en-US" b="1" dirty="0"/>
                        <a:t> </a:t>
                      </a:r>
                      <a:r>
                        <a:rPr lang="en-US" baseline="0" dirty="0"/>
                        <a:t>Hepatic glucose production</a:t>
                      </a:r>
                      <a:endParaRPr lang="en-US" dirty="0"/>
                    </a:p>
                  </a:txBody>
                  <a:tcPr marL="121920" marR="121920"/>
                </a:tc>
                <a:tc>
                  <a:txBody>
                    <a:bodyPr/>
                    <a:lstStyle/>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t>  Extensive experience</a:t>
                      </a:r>
                    </a:p>
                    <a:p>
                      <a:pPr>
                        <a:buFont typeface="Arial"/>
                        <a:buChar char="•"/>
                      </a:pPr>
                      <a:r>
                        <a:rPr lang="en-US" dirty="0"/>
                        <a:t> No hypoglycemia</a:t>
                      </a:r>
                    </a:p>
                    <a:p>
                      <a:pPr>
                        <a:buFont typeface="Arial"/>
                        <a:buChar char="•"/>
                      </a:pPr>
                      <a:r>
                        <a:rPr lang="en-US" dirty="0"/>
                        <a:t> Weight neutral</a:t>
                      </a:r>
                    </a:p>
                    <a:p>
                      <a:pPr>
                        <a:buFont typeface="Arial"/>
                        <a:buChar char="•"/>
                      </a:pPr>
                      <a:r>
                        <a:rPr lang="en-US" dirty="0"/>
                        <a:t> ? </a:t>
                      </a:r>
                      <a:r>
                        <a:rPr lang="en-US" sz="1800" b="1" kern="1200" dirty="0" err="1">
                          <a:solidFill>
                            <a:schemeClr val="dk1"/>
                          </a:solidFill>
                          <a:latin typeface="+mn-lt"/>
                          <a:ea typeface="+mn-ea"/>
                          <a:cs typeface="+mn-cs"/>
                          <a:sym typeface="Symbol"/>
                        </a:rPr>
                        <a:t></a:t>
                      </a:r>
                      <a:r>
                        <a:rPr lang="en-US" b="1" dirty="0"/>
                        <a:t> </a:t>
                      </a:r>
                      <a:r>
                        <a:rPr lang="en-US" dirty="0"/>
                        <a:t>CVD</a:t>
                      </a:r>
                    </a:p>
                  </a:txBody>
                  <a:tcPr marL="121920" marR="121920"/>
                </a:tc>
                <a:tc>
                  <a:txBody>
                    <a:bodyPr/>
                    <a:lstStyle/>
                    <a:p>
                      <a:pPr>
                        <a:buFont typeface="Arial"/>
                        <a:buChar char="•"/>
                      </a:pPr>
                      <a:r>
                        <a:rPr lang="en-US" dirty="0"/>
                        <a:t> Gastrointestinal</a:t>
                      </a:r>
                    </a:p>
                    <a:p>
                      <a:pPr>
                        <a:buFont typeface="Arial"/>
                        <a:buChar char="•"/>
                      </a:pPr>
                      <a:r>
                        <a:rPr lang="en-US" dirty="0"/>
                        <a:t> Lactic acidosis (rare)</a:t>
                      </a:r>
                    </a:p>
                    <a:p>
                      <a:pPr>
                        <a:buFont typeface="Arial"/>
                        <a:buChar char="•"/>
                      </a:pPr>
                      <a:r>
                        <a:rPr lang="en-US" dirty="0"/>
                        <a:t> B-12 deficiency</a:t>
                      </a:r>
                    </a:p>
                    <a:p>
                      <a:pPr>
                        <a:buFont typeface="Arial"/>
                        <a:buChar char="•"/>
                      </a:pPr>
                      <a:r>
                        <a:rPr lang="en-US" baseline="0" dirty="0"/>
                        <a:t> Contraindications</a:t>
                      </a:r>
                      <a:endParaRPr lang="en-US" dirty="0"/>
                    </a:p>
                  </a:txBody>
                  <a:tcPr marL="121920" marR="121920"/>
                </a:tc>
                <a:extLst>
                  <a:ext uri="{0D108BD9-81ED-4DB2-BD59-A6C34878D82A}">
                    <a16:rowId xmlns:a16="http://schemas.microsoft.com/office/drawing/2014/main" val="10001"/>
                  </a:ext>
                </a:extLst>
              </a:tr>
              <a:tr h="1423285">
                <a:tc>
                  <a:txBody>
                    <a:bodyPr/>
                    <a:lstStyle/>
                    <a:p>
                      <a:r>
                        <a:rPr lang="en-US" b="1" dirty="0"/>
                        <a:t>Sulfonylureas</a:t>
                      </a:r>
                    </a:p>
                    <a:p>
                      <a:endParaRPr lang="en-US" b="1" baseline="0" dirty="0"/>
                    </a:p>
                  </a:txBody>
                  <a:tcPr marL="121920" marR="121920"/>
                </a:tc>
                <a:tc>
                  <a:txBody>
                    <a:bodyPr/>
                    <a:lstStyle/>
                    <a:p>
                      <a:pPr>
                        <a:buFont typeface="Arial"/>
                        <a:buChar char="•"/>
                      </a:pPr>
                      <a:r>
                        <a:rPr lang="en-US" dirty="0"/>
                        <a:t> Closes K</a:t>
                      </a:r>
                      <a:r>
                        <a:rPr lang="en-US" sz="2400" b="0" baseline="-25000" dirty="0"/>
                        <a:t>ATP</a:t>
                      </a:r>
                      <a:r>
                        <a:rPr lang="en-US" dirty="0"/>
                        <a:t> channels</a:t>
                      </a:r>
                    </a:p>
                    <a:p>
                      <a:pPr>
                        <a:buFont typeface="Arial"/>
                        <a:buChar char="•"/>
                      </a:pPr>
                      <a:r>
                        <a:rPr lang="en-US" dirty="0"/>
                        <a:t> </a:t>
                      </a:r>
                      <a:r>
                        <a:rPr lang="en-US" sz="1800" b="1" kern="1200" dirty="0" err="1">
                          <a:solidFill>
                            <a:schemeClr val="dk1"/>
                          </a:solidFill>
                          <a:latin typeface="+mn-lt"/>
                          <a:ea typeface="+mn-ea"/>
                          <a:cs typeface="+mn-cs"/>
                          <a:sym typeface="Symbol"/>
                        </a:rPr>
                        <a:t></a:t>
                      </a:r>
                      <a:r>
                        <a:rPr lang="en-US" b="1" dirty="0"/>
                        <a:t> </a:t>
                      </a:r>
                      <a:r>
                        <a:rPr lang="en-US" dirty="0"/>
                        <a:t>Insulin secretion</a:t>
                      </a:r>
                    </a:p>
                  </a:txBody>
                  <a:tcPr marL="121920" marR="121920"/>
                </a:tc>
                <a:tc>
                  <a:txBody>
                    <a:bodyPr/>
                    <a:lstStyle/>
                    <a:p>
                      <a:pPr>
                        <a:buFont typeface="Arial"/>
                        <a:buChar char="•"/>
                      </a:pPr>
                      <a:r>
                        <a:rPr lang="en-US" dirty="0"/>
                        <a:t> Extensive experience</a:t>
                      </a:r>
                    </a:p>
                    <a:p>
                      <a:pPr>
                        <a:buFont typeface="Arial"/>
                        <a:buChar char="•"/>
                      </a:pPr>
                      <a:r>
                        <a:rPr lang="en-US" dirty="0"/>
                        <a:t> </a:t>
                      </a:r>
                      <a:r>
                        <a:rPr lang="en-US" sz="1800" b="1" kern="1200" dirty="0">
                          <a:solidFill>
                            <a:schemeClr val="dk1"/>
                          </a:solidFill>
                          <a:latin typeface="+mn-lt"/>
                          <a:ea typeface="+mn-ea"/>
                          <a:cs typeface="+mn-cs"/>
                          <a:sym typeface="Symbol"/>
                        </a:rPr>
                        <a:t> </a:t>
                      </a:r>
                      <a:r>
                        <a:rPr lang="en-US" dirty="0" err="1"/>
                        <a:t>Microvascular</a:t>
                      </a:r>
                      <a:r>
                        <a:rPr lang="en-US" dirty="0"/>
                        <a:t> risk</a:t>
                      </a:r>
                    </a:p>
                  </a:txBody>
                  <a:tcPr marL="121920" marR="121920"/>
                </a:tc>
                <a:tc>
                  <a:txBody>
                    <a:bodyPr/>
                    <a:lstStyle/>
                    <a:p>
                      <a:pPr>
                        <a:buFont typeface="Arial"/>
                        <a:buChar char="•"/>
                      </a:pPr>
                      <a:r>
                        <a:rPr lang="en-US" dirty="0"/>
                        <a:t> Hypoglycemia</a:t>
                      </a:r>
                    </a:p>
                    <a:p>
                      <a:pPr>
                        <a:buFont typeface="Arial"/>
                        <a:buChar char="•"/>
                      </a:pPr>
                      <a:r>
                        <a:rPr lang="en-US" dirty="0"/>
                        <a:t> </a:t>
                      </a:r>
                      <a:r>
                        <a:rPr lang="en-US" sz="1800" b="0" kern="1200" dirty="0">
                          <a:solidFill>
                            <a:schemeClr val="dk1"/>
                          </a:solidFill>
                          <a:latin typeface="+mn-lt"/>
                          <a:ea typeface="+mn-ea"/>
                          <a:cs typeface="+mn-cs"/>
                          <a:sym typeface="Symbol"/>
                        </a:rPr>
                        <a:t> </a:t>
                      </a:r>
                      <a:r>
                        <a:rPr lang="en-US" dirty="0"/>
                        <a:t>Weight</a:t>
                      </a:r>
                      <a:r>
                        <a:rPr lang="en-US" baseline="0" dirty="0"/>
                        <a:t> </a:t>
                      </a:r>
                    </a:p>
                    <a:p>
                      <a:pPr>
                        <a:buFont typeface="Arial"/>
                        <a:buChar char="•"/>
                      </a:pPr>
                      <a:r>
                        <a:rPr lang="en-US" baseline="0" dirty="0"/>
                        <a:t> Low durability</a:t>
                      </a:r>
                    </a:p>
                    <a:p>
                      <a:pPr>
                        <a:buFont typeface="Arial"/>
                        <a:buChar char="•"/>
                      </a:pPr>
                      <a:r>
                        <a:rPr lang="en-US" baseline="0" dirty="0"/>
                        <a:t>Caution in renal insufficiency</a:t>
                      </a:r>
                    </a:p>
                  </a:txBody>
                  <a:tcPr marL="121920" marR="121920"/>
                </a:tc>
                <a:extLst>
                  <a:ext uri="{0D108BD9-81ED-4DB2-BD59-A6C34878D82A}">
                    <a16:rowId xmlns:a16="http://schemas.microsoft.com/office/drawing/2014/main" val="10002"/>
                  </a:ext>
                </a:extLst>
              </a:tr>
              <a:tr h="942108">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1" baseline="0" dirty="0" err="1">
                          <a:solidFill>
                            <a:srgbClr val="7F7F7F"/>
                          </a:solidFill>
                        </a:rPr>
                        <a:t>Meglitinides</a:t>
                      </a:r>
                      <a:endParaRPr lang="en-US" b="1" dirty="0">
                        <a:solidFill>
                          <a:srgbClr val="7F7F7F"/>
                        </a:solidFill>
                      </a:endParaRPr>
                    </a:p>
                    <a:p>
                      <a:endParaRPr lang="en-US" b="1" dirty="0">
                        <a:solidFill>
                          <a:srgbClr val="7F7F7F"/>
                        </a:solidFill>
                      </a:endParaRPr>
                    </a:p>
                  </a:txBody>
                  <a:tcPr marL="121920" marR="121920"/>
                </a:tc>
                <a:tc>
                  <a:txBody>
                    <a:bodyPr/>
                    <a:lstStyle/>
                    <a:p>
                      <a:pPr>
                        <a:buFont typeface="Arial"/>
                        <a:buChar char="•"/>
                      </a:pPr>
                      <a:r>
                        <a:rPr lang="en-US" dirty="0">
                          <a:solidFill>
                            <a:srgbClr val="7F7F7F"/>
                          </a:solidFill>
                        </a:rPr>
                        <a:t> Closes K</a:t>
                      </a:r>
                      <a:r>
                        <a:rPr lang="en-US" sz="2400" b="0" baseline="-25000" dirty="0">
                          <a:solidFill>
                            <a:srgbClr val="7F7F7F"/>
                          </a:solidFill>
                        </a:rPr>
                        <a:t>ATP</a:t>
                      </a:r>
                      <a:r>
                        <a:rPr lang="en-US" dirty="0">
                          <a:solidFill>
                            <a:srgbClr val="7F7F7F"/>
                          </a:solidFill>
                        </a:rPr>
                        <a:t> channels</a:t>
                      </a:r>
                    </a:p>
                    <a:p>
                      <a:pPr>
                        <a:buFont typeface="Arial"/>
                        <a:buChar char="•"/>
                      </a:pPr>
                      <a:r>
                        <a:rPr lang="en-US" dirty="0">
                          <a:solidFill>
                            <a:srgbClr val="7F7F7F"/>
                          </a:solidFill>
                        </a:rPr>
                        <a:t> </a:t>
                      </a:r>
                      <a:r>
                        <a:rPr lang="en-US" sz="1800" b="1" kern="1200" dirty="0">
                          <a:solidFill>
                            <a:srgbClr val="7F7F7F"/>
                          </a:solidFill>
                          <a:latin typeface="+mn-lt"/>
                          <a:ea typeface="+mn-ea"/>
                          <a:cs typeface="+mn-cs"/>
                          <a:sym typeface="Symbol"/>
                        </a:rPr>
                        <a:t></a:t>
                      </a:r>
                      <a:r>
                        <a:rPr lang="en-US" b="1" dirty="0">
                          <a:solidFill>
                            <a:srgbClr val="7F7F7F"/>
                          </a:solidFill>
                        </a:rPr>
                        <a:t> </a:t>
                      </a:r>
                      <a:r>
                        <a:rPr lang="en-US" dirty="0">
                          <a:solidFill>
                            <a:srgbClr val="7F7F7F"/>
                          </a:solidFill>
                        </a:rPr>
                        <a:t>Insulin secretion</a:t>
                      </a:r>
                    </a:p>
                    <a:p>
                      <a:pPr>
                        <a:buFont typeface="Arial"/>
                        <a:buNone/>
                      </a:pPr>
                      <a:endParaRPr lang="en-US" dirty="0">
                        <a:solidFill>
                          <a:srgbClr val="7F7F7F"/>
                        </a:solidFill>
                      </a:endParaRPr>
                    </a:p>
                  </a:txBody>
                  <a:tcPr marL="121920" marR="121920"/>
                </a:tc>
                <a:tc>
                  <a:txBody>
                    <a:bodyPr/>
                    <a:lstStyle/>
                    <a:p>
                      <a:pPr>
                        <a:buFont typeface="Arial"/>
                        <a:buChar char="•"/>
                      </a:pPr>
                      <a:r>
                        <a:rPr lang="en-US" sz="1800" b="1" kern="1200" baseline="0" dirty="0">
                          <a:solidFill>
                            <a:schemeClr val="tx1">
                              <a:lumMod val="50000"/>
                              <a:lumOff val="50000"/>
                            </a:schemeClr>
                          </a:solidFill>
                          <a:latin typeface="+mn-lt"/>
                          <a:ea typeface="+mn-ea"/>
                          <a:cs typeface="+mn-cs"/>
                          <a:sym typeface="Symbol"/>
                        </a:rPr>
                        <a:t> </a:t>
                      </a:r>
                      <a:r>
                        <a:rPr lang="en-US" sz="1800" b="1" kern="1200" dirty="0">
                          <a:solidFill>
                            <a:schemeClr val="tx1">
                              <a:lumMod val="50000"/>
                              <a:lumOff val="50000"/>
                            </a:schemeClr>
                          </a:solidFill>
                          <a:latin typeface="+mn-lt"/>
                          <a:ea typeface="+mn-ea"/>
                          <a:cs typeface="+mn-cs"/>
                          <a:sym typeface="Symbol"/>
                        </a:rPr>
                        <a:t></a:t>
                      </a:r>
                      <a:r>
                        <a:rPr lang="en-US" sz="1800" b="0" kern="1200" dirty="0">
                          <a:solidFill>
                            <a:schemeClr val="tx1">
                              <a:lumMod val="50000"/>
                              <a:lumOff val="50000"/>
                            </a:schemeClr>
                          </a:solidFill>
                          <a:latin typeface="+mn-lt"/>
                          <a:ea typeface="+mn-ea"/>
                          <a:cs typeface="+mn-cs"/>
                          <a:sym typeface="Symbol"/>
                        </a:rPr>
                        <a:t> Postprandial glucose</a:t>
                      </a:r>
                    </a:p>
                    <a:p>
                      <a:pPr>
                        <a:buFont typeface="Arial"/>
                        <a:buChar char="•"/>
                      </a:pPr>
                      <a:r>
                        <a:rPr lang="en-US" dirty="0">
                          <a:solidFill>
                            <a:schemeClr val="tx1">
                              <a:lumMod val="50000"/>
                              <a:lumOff val="50000"/>
                            </a:schemeClr>
                          </a:solidFill>
                        </a:rPr>
                        <a:t> Dosing flexibility</a:t>
                      </a:r>
                    </a:p>
                  </a:txBody>
                  <a:tcPr marL="121920" marR="121920"/>
                </a:tc>
                <a:tc>
                  <a:txBody>
                    <a:bodyPr/>
                    <a:lstStyle/>
                    <a:p>
                      <a:pPr>
                        <a:buFont typeface="Arial"/>
                        <a:buChar char="•"/>
                      </a:pPr>
                      <a:r>
                        <a:rPr lang="en-US" dirty="0">
                          <a:solidFill>
                            <a:srgbClr val="7F7F7F"/>
                          </a:solidFill>
                        </a:rPr>
                        <a:t> Hypoglycemia</a:t>
                      </a:r>
                    </a:p>
                    <a:p>
                      <a:pPr>
                        <a:buFont typeface="Arial"/>
                        <a:buChar char="•"/>
                      </a:pPr>
                      <a:r>
                        <a:rPr lang="en-US" dirty="0">
                          <a:solidFill>
                            <a:srgbClr val="7F7F7F"/>
                          </a:solidFill>
                        </a:rPr>
                        <a:t> </a:t>
                      </a:r>
                      <a:r>
                        <a:rPr lang="en-US" sz="1800" b="0" kern="1200" dirty="0">
                          <a:solidFill>
                            <a:srgbClr val="7F7F7F"/>
                          </a:solidFill>
                          <a:latin typeface="+mn-lt"/>
                          <a:ea typeface="+mn-ea"/>
                          <a:cs typeface="+mn-cs"/>
                          <a:sym typeface="Symbol"/>
                        </a:rPr>
                        <a:t> </a:t>
                      </a:r>
                      <a:r>
                        <a:rPr lang="en-US" dirty="0">
                          <a:solidFill>
                            <a:srgbClr val="7F7F7F"/>
                          </a:solidFill>
                        </a:rPr>
                        <a:t>Weight</a:t>
                      </a:r>
                      <a:r>
                        <a:rPr lang="en-US" baseline="0" dirty="0">
                          <a:solidFill>
                            <a:srgbClr val="7F7F7F"/>
                          </a:solidFill>
                        </a:rPr>
                        <a:t> </a:t>
                      </a:r>
                    </a:p>
                    <a:p>
                      <a:pPr>
                        <a:buFont typeface="Arial"/>
                        <a:buChar char="•"/>
                      </a:pPr>
                      <a:r>
                        <a:rPr lang="en-US" baseline="0" dirty="0">
                          <a:solidFill>
                            <a:srgbClr val="7F7F7F"/>
                          </a:solidFill>
                        </a:rPr>
                        <a:t> Dosing frequency</a:t>
                      </a:r>
                      <a:endParaRPr lang="en-US" dirty="0">
                        <a:solidFill>
                          <a:srgbClr val="7F7F7F"/>
                        </a:solidFill>
                      </a:endParaRPr>
                    </a:p>
                  </a:txBody>
                  <a:tcPr marL="121920" marR="121920"/>
                </a:tc>
                <a:extLst>
                  <a:ext uri="{0D108BD9-81ED-4DB2-BD59-A6C34878D82A}">
                    <a16:rowId xmlns:a16="http://schemas.microsoft.com/office/drawing/2014/main" val="10003"/>
                  </a:ext>
                </a:extLst>
              </a:tr>
              <a:tr h="1607459">
                <a:tc>
                  <a:txBody>
                    <a:bodyPr/>
                    <a:lstStyle/>
                    <a:p>
                      <a:r>
                        <a:rPr lang="en-US" b="1" dirty="0"/>
                        <a:t>TZDs</a:t>
                      </a:r>
                    </a:p>
                  </a:txBody>
                  <a:tcPr marL="121920" marR="121920"/>
                </a:tc>
                <a:tc>
                  <a:txBody>
                    <a:bodyPr/>
                    <a:lstStyle/>
                    <a:p>
                      <a:pPr>
                        <a:buFont typeface="Arial"/>
                        <a:buChar char="•"/>
                      </a:pPr>
                      <a:r>
                        <a:rPr lang="en-US" dirty="0"/>
                        <a:t> PPAR-</a:t>
                      </a:r>
                      <a:r>
                        <a:rPr lang="en-US" dirty="0" err="1">
                          <a:latin typeface="Symbol" charset="2"/>
                          <a:cs typeface="Symbol" charset="2"/>
                        </a:rPr>
                        <a:t>g</a:t>
                      </a:r>
                      <a:r>
                        <a:rPr lang="en-US" dirty="0"/>
                        <a:t> activator</a:t>
                      </a:r>
                    </a:p>
                    <a:p>
                      <a:pPr>
                        <a:buFont typeface="Arial"/>
                        <a:buChar char="•"/>
                      </a:pPr>
                      <a:r>
                        <a:rPr lang="en-US" dirty="0"/>
                        <a:t> </a:t>
                      </a:r>
                      <a:r>
                        <a:rPr lang="en-US" sz="1800" b="1" kern="1200" dirty="0">
                          <a:solidFill>
                            <a:schemeClr val="dk1"/>
                          </a:solidFill>
                          <a:latin typeface="+mn-lt"/>
                          <a:ea typeface="+mn-ea"/>
                          <a:cs typeface="+mn-cs"/>
                          <a:sym typeface="Symbol"/>
                        </a:rPr>
                        <a:t></a:t>
                      </a:r>
                      <a:r>
                        <a:rPr lang="en-US" b="1" dirty="0"/>
                        <a:t> </a:t>
                      </a:r>
                      <a:r>
                        <a:rPr lang="en-US" b="0" dirty="0"/>
                        <a:t>I</a:t>
                      </a:r>
                      <a:r>
                        <a:rPr lang="en-US" dirty="0"/>
                        <a:t>nsulin sensitivity</a:t>
                      </a:r>
                    </a:p>
                  </a:txBody>
                  <a:tcPr marL="121920" marR="121920"/>
                </a:tc>
                <a:tc>
                  <a:txBody>
                    <a:bodyPr/>
                    <a:lstStyle/>
                    <a:p>
                      <a:pPr>
                        <a:buFont typeface="Arial"/>
                        <a:buChar char="•"/>
                      </a:pPr>
                      <a:r>
                        <a:rPr lang="en-US" dirty="0"/>
                        <a:t> No hypoglycemia</a:t>
                      </a:r>
                    </a:p>
                    <a:p>
                      <a:pPr>
                        <a:buFont typeface="Arial"/>
                        <a:buChar char="•"/>
                      </a:pPr>
                      <a:r>
                        <a:rPr lang="en-US" dirty="0"/>
                        <a:t> Durability</a:t>
                      </a:r>
                    </a:p>
                    <a:p>
                      <a:pPr>
                        <a:buFont typeface="Arial"/>
                        <a:buChar char="•"/>
                      </a:pPr>
                      <a:r>
                        <a:rPr lang="en-US" dirty="0"/>
                        <a:t> </a:t>
                      </a:r>
                      <a:r>
                        <a:rPr lang="en-US" sz="1800" b="0" kern="1200" dirty="0">
                          <a:solidFill>
                            <a:schemeClr val="dk1"/>
                          </a:solidFill>
                          <a:latin typeface="+mn-lt"/>
                          <a:ea typeface="+mn-ea"/>
                          <a:cs typeface="+mn-cs"/>
                          <a:sym typeface="Symbol"/>
                        </a:rPr>
                        <a:t> TGs (</a:t>
                      </a:r>
                      <a:r>
                        <a:rPr lang="en-US" sz="1800" b="0" kern="1200" dirty="0" err="1">
                          <a:solidFill>
                            <a:schemeClr val="dk1"/>
                          </a:solidFill>
                          <a:latin typeface="+mn-lt"/>
                          <a:ea typeface="+mn-ea"/>
                          <a:cs typeface="+mn-cs"/>
                          <a:sym typeface="Symbol"/>
                        </a:rPr>
                        <a:t>pio</a:t>
                      </a:r>
                      <a:r>
                        <a:rPr lang="en-US" sz="1800" b="0" kern="1200" dirty="0">
                          <a:solidFill>
                            <a:schemeClr val="dk1"/>
                          </a:solidFill>
                          <a:latin typeface="+mn-lt"/>
                          <a:ea typeface="+mn-ea"/>
                          <a:cs typeface="+mn-cs"/>
                          <a:sym typeface="Symbol"/>
                        </a:rPr>
                        <a:t>)</a:t>
                      </a:r>
                    </a:p>
                    <a:p>
                      <a:pPr>
                        <a:buFont typeface="Arial"/>
                        <a:buChar char="•"/>
                      </a:pPr>
                      <a:r>
                        <a:rPr lang="en-US" sz="1800" b="0" kern="1200" baseline="0" dirty="0">
                          <a:solidFill>
                            <a:schemeClr val="dk1"/>
                          </a:solidFill>
                          <a:latin typeface="+mn-lt"/>
                          <a:ea typeface="+mn-ea"/>
                          <a:cs typeface="+mn-cs"/>
                          <a:sym typeface="Symbol"/>
                        </a:rPr>
                        <a:t> </a:t>
                      </a:r>
                      <a:r>
                        <a:rPr lang="en-US" sz="1800" b="0" kern="1200" dirty="0">
                          <a:solidFill>
                            <a:schemeClr val="dk1"/>
                          </a:solidFill>
                          <a:latin typeface="+mn-lt"/>
                          <a:ea typeface="+mn-ea"/>
                          <a:cs typeface="+mn-cs"/>
                          <a:sym typeface="Symbol"/>
                        </a:rPr>
                        <a:t> HDL-C </a:t>
                      </a:r>
                    </a:p>
                    <a:p>
                      <a:pPr>
                        <a:buFont typeface="Arial"/>
                        <a:buChar char="•"/>
                      </a:pPr>
                      <a:r>
                        <a:rPr lang="en-US" dirty="0"/>
                        <a:t> ? </a:t>
                      </a:r>
                      <a:r>
                        <a:rPr lang="en-US" sz="1800" b="1" kern="1200" dirty="0">
                          <a:solidFill>
                            <a:schemeClr val="dk1"/>
                          </a:solidFill>
                          <a:latin typeface="+mn-lt"/>
                          <a:ea typeface="+mn-ea"/>
                          <a:cs typeface="+mn-cs"/>
                          <a:sym typeface="Symbol"/>
                        </a:rPr>
                        <a:t></a:t>
                      </a:r>
                      <a:r>
                        <a:rPr lang="en-US" b="1" dirty="0"/>
                        <a:t> </a:t>
                      </a:r>
                      <a:r>
                        <a:rPr lang="en-US" dirty="0"/>
                        <a:t>CVD events</a:t>
                      </a:r>
                      <a:r>
                        <a:rPr lang="en-US" baseline="0" dirty="0"/>
                        <a:t> (</a:t>
                      </a:r>
                      <a:r>
                        <a:rPr lang="en-US" baseline="0" dirty="0" err="1"/>
                        <a:t>pio</a:t>
                      </a:r>
                      <a:r>
                        <a:rPr lang="en-US" baseline="0" dirty="0"/>
                        <a:t>)</a:t>
                      </a:r>
                      <a:endParaRPr lang="en-US" b="0" dirty="0"/>
                    </a:p>
                  </a:txBody>
                  <a:tcPr marL="121920" marR="121920"/>
                </a:tc>
                <a:tc>
                  <a:txBody>
                    <a:bodyPr/>
                    <a:lstStyle/>
                    <a:p>
                      <a:pPr>
                        <a:buFont typeface="Arial"/>
                        <a:buChar char="•"/>
                      </a:pPr>
                      <a:r>
                        <a:rPr lang="en-US" dirty="0"/>
                        <a:t> </a:t>
                      </a:r>
                      <a:r>
                        <a:rPr lang="en-US" sz="1800" b="0" kern="1200" dirty="0">
                          <a:solidFill>
                            <a:schemeClr val="dk1"/>
                          </a:solidFill>
                          <a:latin typeface="+mn-lt"/>
                          <a:ea typeface="+mn-ea"/>
                          <a:cs typeface="+mn-cs"/>
                          <a:sym typeface="Symbol"/>
                        </a:rPr>
                        <a:t> </a:t>
                      </a:r>
                      <a:r>
                        <a:rPr lang="en-US" dirty="0"/>
                        <a:t>Weight </a:t>
                      </a:r>
                    </a:p>
                    <a:p>
                      <a:pPr>
                        <a:buFont typeface="Arial"/>
                        <a:buChar char="•"/>
                      </a:pPr>
                      <a:r>
                        <a:rPr lang="en-US" baseline="0" dirty="0"/>
                        <a:t> </a:t>
                      </a:r>
                      <a:r>
                        <a:rPr lang="en-US" dirty="0"/>
                        <a:t>Edema/heart</a:t>
                      </a:r>
                      <a:r>
                        <a:rPr lang="en-US" baseline="0" dirty="0"/>
                        <a:t> failure</a:t>
                      </a:r>
                    </a:p>
                    <a:p>
                      <a:pPr>
                        <a:buFont typeface="Arial"/>
                        <a:buChar char="•"/>
                      </a:pPr>
                      <a:r>
                        <a:rPr lang="en-US" baseline="0" dirty="0"/>
                        <a:t> Bone fractures</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baseline="0" dirty="0"/>
                        <a:t> </a:t>
                      </a:r>
                      <a:r>
                        <a:rPr lang="en-US" sz="1800" b="0" kern="1200" dirty="0">
                          <a:solidFill>
                            <a:schemeClr val="dk1"/>
                          </a:solidFill>
                          <a:latin typeface="+mn-lt"/>
                          <a:ea typeface="+mn-ea"/>
                          <a:cs typeface="+mn-cs"/>
                          <a:sym typeface="Symbol"/>
                        </a:rPr>
                        <a:t> </a:t>
                      </a:r>
                      <a:r>
                        <a:rPr lang="en-US" baseline="0" dirty="0"/>
                        <a:t>LDL-C (</a:t>
                      </a:r>
                      <a:r>
                        <a:rPr lang="en-US" baseline="0" dirty="0" err="1"/>
                        <a:t>rosi</a:t>
                      </a:r>
                      <a:r>
                        <a:rPr lang="en-US" baseline="0" dirty="0"/>
                        <a:t>)</a:t>
                      </a:r>
                    </a:p>
                  </a:txBody>
                  <a:tcPr marL="121920" marR="121920"/>
                </a:tc>
                <a:extLst>
                  <a:ext uri="{0D108BD9-81ED-4DB2-BD59-A6C34878D82A}">
                    <a16:rowId xmlns:a16="http://schemas.microsoft.com/office/drawing/2014/main" val="10004"/>
                  </a:ext>
                </a:extLst>
              </a:tr>
            </a:tbl>
          </a:graphicData>
        </a:graphic>
      </p:graphicFrame>
      <p:sp>
        <p:nvSpPr>
          <p:cNvPr id="6" name="TextBox 21"/>
          <p:cNvSpPr txBox="1">
            <a:spLocks noChangeArrowheads="1"/>
          </p:cNvSpPr>
          <p:nvPr/>
        </p:nvSpPr>
        <p:spPr bwMode="auto">
          <a:xfrm>
            <a:off x="8451273" y="6334788"/>
            <a:ext cx="3577828" cy="523212"/>
          </a:xfrm>
          <a:prstGeom prst="rect">
            <a:avLst/>
          </a:prstGeom>
          <a:noFill/>
          <a:ln w="9525">
            <a:noFill/>
            <a:miter lim="800000"/>
            <a:headEnd/>
            <a:tailEnd/>
          </a:ln>
        </p:spPr>
        <p:txBody>
          <a:bodyPr wrap="square" lIns="91431" tIns="45716" rIns="91431" bIns="45716">
            <a:prstTxWarp prst="textNoShape">
              <a:avLst/>
            </a:prstTxWarp>
            <a:spAutoFit/>
          </a:bodyPr>
          <a:lstStyle/>
          <a:p>
            <a:pPr algn="r" fontAlgn="base" hangingPunct="1">
              <a:spcBef>
                <a:spcPct val="0"/>
              </a:spcBef>
              <a:spcAft>
                <a:spcPct val="0"/>
              </a:spcAft>
              <a:defRPr/>
            </a:pPr>
            <a:r>
              <a:rPr lang="en-US" sz="1400" i="1" kern="1200" dirty="0">
                <a:latin typeface="Times"/>
                <a:ea typeface="Times New Roman" charset="0"/>
                <a:cs typeface="Times"/>
              </a:rPr>
              <a:t>Diabetes Care</a:t>
            </a:r>
            <a:r>
              <a:rPr lang="en-US" sz="1400" kern="1200" dirty="0">
                <a:latin typeface="Times"/>
                <a:ea typeface="Times New Roman" charset="0"/>
                <a:cs typeface="Times"/>
              </a:rPr>
              <a:t> 2015;38:140-149; </a:t>
            </a:r>
          </a:p>
          <a:p>
            <a:pPr algn="r" fontAlgn="base" hangingPunct="1">
              <a:spcBef>
                <a:spcPct val="0"/>
              </a:spcBef>
              <a:spcAft>
                <a:spcPct val="0"/>
              </a:spcAft>
              <a:defRPr/>
            </a:pPr>
            <a:r>
              <a:rPr lang="en-US" sz="1400" i="1" kern="1200" dirty="0" err="1">
                <a:latin typeface="Times"/>
                <a:ea typeface="Times New Roman" charset="0"/>
                <a:cs typeface="Times"/>
              </a:rPr>
              <a:t>Diabetologia</a:t>
            </a:r>
            <a:r>
              <a:rPr lang="en-US" sz="1400" kern="1200" dirty="0">
                <a:latin typeface="Times"/>
                <a:ea typeface="Times New Roman" charset="0"/>
                <a:cs typeface="Times"/>
              </a:rPr>
              <a:t> </a:t>
            </a:r>
            <a:r>
              <a:rPr lang="en-US" sz="1400" kern="1200" dirty="0">
                <a:latin typeface="Times New Roman" charset="0"/>
                <a:ea typeface="Times New Roman" charset="0"/>
                <a:cs typeface="Times New Roman" charset="0"/>
              </a:rPr>
              <a:t>2015;58:429-442</a:t>
            </a:r>
          </a:p>
        </p:txBody>
      </p:sp>
      <p:sp>
        <p:nvSpPr>
          <p:cNvPr id="5" name="TextBox 12"/>
          <p:cNvSpPr txBox="1">
            <a:spLocks noChangeArrowheads="1"/>
          </p:cNvSpPr>
          <p:nvPr/>
        </p:nvSpPr>
        <p:spPr bwMode="auto">
          <a:xfrm>
            <a:off x="803564" y="0"/>
            <a:ext cx="9864436" cy="646331"/>
          </a:xfrm>
          <a:prstGeom prst="rect">
            <a:avLst/>
          </a:prstGeom>
          <a:noFill/>
          <a:ln w="9525">
            <a:noFill/>
            <a:miter lim="800000"/>
            <a:headEnd/>
            <a:tailEnd/>
          </a:ln>
        </p:spPr>
        <p:txBody>
          <a:bodyPr wrap="square">
            <a:prstTxWarp prst="textNoShape">
              <a:avLst/>
            </a:prstTxWarp>
            <a:spAutoFit/>
          </a:bodyPr>
          <a:lstStyle/>
          <a:p>
            <a:pPr algn="ctr" defTabSz="457200" fontAlgn="base" hangingPunct="1">
              <a:spcBef>
                <a:spcPct val="0"/>
              </a:spcBef>
              <a:spcAft>
                <a:spcPct val="0"/>
              </a:spcAft>
              <a:defRPr/>
            </a:pPr>
            <a:r>
              <a:rPr lang="en-US" sz="3600" b="1" kern="1200" dirty="0">
                <a:solidFill>
                  <a:srgbClr val="000090"/>
                </a:solidFill>
                <a:ea typeface="Times" charset="0"/>
                <a:cs typeface="Calibri"/>
              </a:rPr>
              <a:t>Properties of anti-hyperglycemic agents</a:t>
            </a:r>
          </a:p>
        </p:txBody>
      </p:sp>
    </p:spTree>
    <p:extLst>
      <p:ext uri="{BB962C8B-B14F-4D97-AF65-F5344CB8AC3E}">
        <p14:creationId xmlns:p14="http://schemas.microsoft.com/office/powerpoint/2010/main" val="7036733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3517792"/>
              </p:ext>
            </p:extLst>
          </p:nvPr>
        </p:nvGraphicFramePr>
        <p:xfrm>
          <a:off x="-1" y="44627"/>
          <a:ext cx="12011891" cy="6857453"/>
        </p:xfrm>
        <a:graphic>
          <a:graphicData uri="http://schemas.openxmlformats.org/drawingml/2006/table">
            <a:tbl>
              <a:tblPr firstRow="1" bandRow="1">
                <a:tableStyleId>{5C22544A-7EE6-4342-B048-85BDC9FD1C3A}</a:tableStyleId>
              </a:tblPr>
              <a:tblGrid>
                <a:gridCol w="2209223">
                  <a:extLst>
                    <a:ext uri="{9D8B030D-6E8A-4147-A177-3AD203B41FA5}">
                      <a16:colId xmlns:a16="http://schemas.microsoft.com/office/drawing/2014/main" val="20000"/>
                    </a:ext>
                  </a:extLst>
                </a:gridCol>
                <a:gridCol w="3428519">
                  <a:extLst>
                    <a:ext uri="{9D8B030D-6E8A-4147-A177-3AD203B41FA5}">
                      <a16:colId xmlns:a16="http://schemas.microsoft.com/office/drawing/2014/main" val="20001"/>
                    </a:ext>
                  </a:extLst>
                </a:gridCol>
                <a:gridCol w="3049059">
                  <a:extLst>
                    <a:ext uri="{9D8B030D-6E8A-4147-A177-3AD203B41FA5}">
                      <a16:colId xmlns:a16="http://schemas.microsoft.com/office/drawing/2014/main" val="20002"/>
                    </a:ext>
                  </a:extLst>
                </a:gridCol>
                <a:gridCol w="3325090">
                  <a:extLst>
                    <a:ext uri="{9D8B030D-6E8A-4147-A177-3AD203B41FA5}">
                      <a16:colId xmlns:a16="http://schemas.microsoft.com/office/drawing/2014/main" val="20003"/>
                    </a:ext>
                  </a:extLst>
                </a:gridCol>
              </a:tblGrid>
              <a:tr h="365213">
                <a:tc>
                  <a:txBody>
                    <a:bodyPr/>
                    <a:lstStyle/>
                    <a:p>
                      <a:pPr marL="0" marR="0" algn="ctr" eaLnBrk="0" fontAlgn="base" hangingPunct="0">
                        <a:spcBef>
                          <a:spcPts val="0"/>
                        </a:spcBef>
                        <a:spcAft>
                          <a:spcPts val="0"/>
                        </a:spcAft>
                      </a:pPr>
                      <a:r>
                        <a:rPr lang="en-US" sz="2200" b="1" kern="1200" dirty="0">
                          <a:solidFill>
                            <a:schemeClr val="bg1"/>
                          </a:solidFill>
                          <a:effectLst>
                            <a:outerShdw blurRad="38100" dist="38100" dir="2700000" algn="tl">
                              <a:srgbClr val="000000">
                                <a:alpha val="43137"/>
                              </a:srgbClr>
                            </a:outerShdw>
                          </a:effectLst>
                          <a:latin typeface="+mj-lt"/>
                          <a:ea typeface="MS PGothic"/>
                          <a:cs typeface="Arial"/>
                        </a:rPr>
                        <a:t>Oral Class</a:t>
                      </a:r>
                      <a:endParaRPr lang="en-US" sz="2200" dirty="0">
                        <a:solidFill>
                          <a:schemeClr val="bg1"/>
                        </a:solidFill>
                        <a:effectLst>
                          <a:outerShdw blurRad="38100" dist="38100" dir="2700000" algn="tl">
                            <a:srgbClr val="000000">
                              <a:alpha val="43137"/>
                            </a:srgbClr>
                          </a:outerShdw>
                        </a:effectLst>
                        <a:latin typeface="+mj-lt"/>
                        <a:ea typeface="Cambria"/>
                        <a:cs typeface="Times New Roman"/>
                      </a:endParaRPr>
                    </a:p>
                  </a:txBody>
                  <a:tcPr marL="0" marR="0" marT="0" marB="0">
                    <a:solidFill>
                      <a:srgbClr val="00005C"/>
                    </a:solidFill>
                  </a:tcPr>
                </a:tc>
                <a:tc>
                  <a:txBody>
                    <a:bodyPr/>
                    <a:lstStyle/>
                    <a:p>
                      <a:pPr marL="0" marR="0" algn="ctr" fontAlgn="base">
                        <a:spcBef>
                          <a:spcPts val="0"/>
                        </a:spcBef>
                        <a:spcAft>
                          <a:spcPts val="0"/>
                        </a:spcAft>
                      </a:pPr>
                      <a:r>
                        <a:rPr lang="en-US" sz="2200" dirty="0">
                          <a:solidFill>
                            <a:schemeClr val="bg1"/>
                          </a:solidFill>
                          <a:effectLst>
                            <a:outerShdw blurRad="38100" dist="38100" dir="2700000" algn="tl">
                              <a:srgbClr val="000000">
                                <a:alpha val="43137"/>
                              </a:srgbClr>
                            </a:outerShdw>
                          </a:effectLst>
                          <a:latin typeface="+mj-lt"/>
                          <a:ea typeface="Cambria"/>
                          <a:cs typeface="Times New Roman"/>
                        </a:rPr>
                        <a:t>Mechanism</a:t>
                      </a:r>
                    </a:p>
                  </a:txBody>
                  <a:tcPr marL="0" marR="0" marT="0" marB="0">
                    <a:solidFill>
                      <a:srgbClr val="00005C"/>
                    </a:solidFill>
                  </a:tcPr>
                </a:tc>
                <a:tc>
                  <a:txBody>
                    <a:bodyPr/>
                    <a:lstStyle/>
                    <a:p>
                      <a:pPr marL="0" marR="0" algn="ctr" fontAlgn="base">
                        <a:spcBef>
                          <a:spcPts val="0"/>
                        </a:spcBef>
                        <a:spcAft>
                          <a:spcPts val="0"/>
                        </a:spcAft>
                      </a:pPr>
                      <a:r>
                        <a:rPr lang="en-US" sz="2200" dirty="0">
                          <a:solidFill>
                            <a:schemeClr val="bg1"/>
                          </a:solidFill>
                          <a:effectLst>
                            <a:outerShdw blurRad="38100" dist="38100" dir="2700000" algn="tl">
                              <a:srgbClr val="000000">
                                <a:alpha val="43137"/>
                              </a:srgbClr>
                            </a:outerShdw>
                          </a:effectLst>
                          <a:latin typeface="+mj-lt"/>
                          <a:ea typeface="Cambria"/>
                          <a:cs typeface="Times New Roman"/>
                        </a:rPr>
                        <a:t>Advantages</a:t>
                      </a:r>
                    </a:p>
                  </a:txBody>
                  <a:tcPr marL="0" marR="0" marT="0" marB="0">
                    <a:solidFill>
                      <a:srgbClr val="00005C"/>
                    </a:solidFill>
                  </a:tcPr>
                </a:tc>
                <a:tc>
                  <a:txBody>
                    <a:bodyPr/>
                    <a:lstStyle/>
                    <a:p>
                      <a:pPr marL="0" marR="0" algn="ctr" fontAlgn="base">
                        <a:spcBef>
                          <a:spcPts val="0"/>
                        </a:spcBef>
                        <a:spcAft>
                          <a:spcPts val="0"/>
                        </a:spcAft>
                      </a:pPr>
                      <a:r>
                        <a:rPr lang="en-US" sz="2200" dirty="0">
                          <a:solidFill>
                            <a:schemeClr val="bg1"/>
                          </a:solidFill>
                          <a:effectLst>
                            <a:outerShdw blurRad="38100" dist="38100" dir="2700000" algn="tl">
                              <a:srgbClr val="000000">
                                <a:alpha val="43137"/>
                              </a:srgbClr>
                            </a:outerShdw>
                          </a:effectLst>
                          <a:latin typeface="+mj-lt"/>
                          <a:ea typeface="Cambria"/>
                          <a:cs typeface="Times New Roman"/>
                        </a:rPr>
                        <a:t>Disadvantages</a:t>
                      </a:r>
                    </a:p>
                  </a:txBody>
                  <a:tcPr marL="0" marR="0" marT="0" marB="0">
                    <a:solidFill>
                      <a:srgbClr val="00005C"/>
                    </a:solidFill>
                  </a:tcPr>
                </a:tc>
                <a:extLst>
                  <a:ext uri="{0D108BD9-81ED-4DB2-BD59-A6C34878D82A}">
                    <a16:rowId xmlns:a16="http://schemas.microsoft.com/office/drawing/2014/main" val="10000"/>
                  </a:ext>
                </a:extLst>
              </a:tr>
              <a:tr h="1122630">
                <a:tc>
                  <a:txBody>
                    <a:bodyPr/>
                    <a:lstStyle/>
                    <a:p>
                      <a:r>
                        <a:rPr lang="en-US" b="1" dirty="0">
                          <a:solidFill>
                            <a:srgbClr val="7F7F7F"/>
                          </a:solidFill>
                          <a:latin typeface="Symbol"/>
                          <a:cs typeface="Symbol" charset="2"/>
                          <a:sym typeface="Symbol"/>
                        </a:rPr>
                        <a:t>a</a:t>
                      </a:r>
                      <a:r>
                        <a:rPr lang="en-US" b="1" dirty="0">
                          <a:solidFill>
                            <a:srgbClr val="7F7F7F"/>
                          </a:solidFill>
                        </a:rPr>
                        <a:t>-Glucosidase</a:t>
                      </a:r>
                      <a:r>
                        <a:rPr lang="en-US" b="1" baseline="0" dirty="0">
                          <a:solidFill>
                            <a:srgbClr val="7F7F7F"/>
                          </a:solidFill>
                        </a:rPr>
                        <a:t> inhibitors</a:t>
                      </a:r>
                      <a:endParaRPr lang="en-US" b="1" dirty="0">
                        <a:solidFill>
                          <a:srgbClr val="7F7F7F"/>
                        </a:solidFill>
                      </a:endParaRPr>
                    </a:p>
                  </a:txBody>
                  <a:tcPr marL="121920" marR="121920"/>
                </a:tc>
                <a:tc>
                  <a:txBody>
                    <a:bodyPr/>
                    <a:lstStyle/>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chemeClr val="tx1">
                              <a:lumMod val="50000"/>
                              <a:lumOff val="50000"/>
                            </a:schemeClr>
                          </a:solidFill>
                        </a:rPr>
                        <a:t> Inhibits </a:t>
                      </a:r>
                      <a:r>
                        <a:rPr lang="en-US" dirty="0">
                          <a:solidFill>
                            <a:schemeClr val="tx1">
                              <a:lumMod val="50000"/>
                              <a:lumOff val="50000"/>
                            </a:schemeClr>
                          </a:solidFill>
                          <a:latin typeface="Symbol"/>
                          <a:cs typeface="Symbol" charset="2"/>
                          <a:sym typeface="Symbol"/>
                        </a:rPr>
                        <a:t>a</a:t>
                      </a:r>
                      <a:r>
                        <a:rPr lang="en-US" dirty="0">
                          <a:solidFill>
                            <a:schemeClr val="tx1">
                              <a:lumMod val="50000"/>
                              <a:lumOff val="50000"/>
                            </a:schemeClr>
                          </a:solidFill>
                        </a:rPr>
                        <a:t>-glucosidase</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baseline="0" dirty="0">
                          <a:solidFill>
                            <a:schemeClr val="tx1">
                              <a:lumMod val="50000"/>
                              <a:lumOff val="50000"/>
                            </a:schemeClr>
                          </a:solidFill>
                        </a:rPr>
                        <a:t> Slows carbohydrate digestion / absorption</a:t>
                      </a:r>
                    </a:p>
                  </a:txBody>
                  <a:tcPr marL="121920" marR="121920"/>
                </a:tc>
                <a:tc>
                  <a:txBody>
                    <a:bodyPr/>
                    <a:lstStyle/>
                    <a:p>
                      <a:pPr>
                        <a:buFont typeface="Arial"/>
                        <a:buChar char="•"/>
                      </a:pPr>
                      <a:r>
                        <a:rPr lang="en-US" dirty="0">
                          <a:solidFill>
                            <a:schemeClr val="tx1">
                              <a:lumMod val="50000"/>
                              <a:lumOff val="50000"/>
                            </a:schemeClr>
                          </a:solidFill>
                        </a:rPr>
                        <a:t> No hypoglycemia</a:t>
                      </a:r>
                    </a:p>
                    <a:p>
                      <a:pPr>
                        <a:buFont typeface="Arial"/>
                        <a:buChar char="•"/>
                      </a:pPr>
                      <a:r>
                        <a:rPr lang="en-US" dirty="0">
                          <a:solidFill>
                            <a:schemeClr val="tx1">
                              <a:lumMod val="50000"/>
                              <a:lumOff val="50000"/>
                            </a:schemeClr>
                          </a:solidFill>
                        </a:rPr>
                        <a:t> </a:t>
                      </a:r>
                      <a:r>
                        <a:rPr lang="en-US" dirty="0" err="1">
                          <a:solidFill>
                            <a:schemeClr val="tx1">
                              <a:lumMod val="50000"/>
                              <a:lumOff val="50000"/>
                            </a:schemeClr>
                          </a:solidFill>
                        </a:rPr>
                        <a:t>Nonsystemic</a:t>
                      </a:r>
                      <a:endParaRPr lang="en-US" dirty="0">
                        <a:solidFill>
                          <a:schemeClr val="tx1">
                            <a:lumMod val="50000"/>
                            <a:lumOff val="50000"/>
                          </a:schemeClr>
                        </a:solidFill>
                      </a:endParaRPr>
                    </a:p>
                    <a:p>
                      <a:pPr>
                        <a:buFont typeface="Arial"/>
                        <a:buChar char="•"/>
                      </a:pPr>
                      <a:r>
                        <a:rPr lang="en-US" dirty="0">
                          <a:solidFill>
                            <a:schemeClr val="tx1">
                              <a:lumMod val="50000"/>
                              <a:lumOff val="50000"/>
                            </a:schemeClr>
                          </a:solidFill>
                        </a:rPr>
                        <a:t> </a:t>
                      </a:r>
                      <a:r>
                        <a:rPr lang="en-US" sz="1800" b="1" kern="1200" dirty="0">
                          <a:solidFill>
                            <a:srgbClr val="7F7F7F"/>
                          </a:solidFill>
                          <a:latin typeface="+mn-lt"/>
                          <a:ea typeface="+mn-ea"/>
                          <a:cs typeface="+mn-cs"/>
                          <a:sym typeface="Symbol"/>
                        </a:rPr>
                        <a:t></a:t>
                      </a:r>
                      <a:r>
                        <a:rPr lang="en-US" sz="1800" b="0" kern="1200" dirty="0">
                          <a:solidFill>
                            <a:srgbClr val="7F7F7F"/>
                          </a:solidFill>
                          <a:latin typeface="+mn-lt"/>
                          <a:ea typeface="+mn-ea"/>
                          <a:cs typeface="+mn-cs"/>
                          <a:sym typeface="Symbol"/>
                        </a:rPr>
                        <a:t> Postprandial glucose</a:t>
                      </a:r>
                    </a:p>
                    <a:p>
                      <a:pPr>
                        <a:buFont typeface="Arial"/>
                        <a:buChar char="•"/>
                      </a:pPr>
                      <a:r>
                        <a:rPr lang="en-US" dirty="0">
                          <a:solidFill>
                            <a:srgbClr val="7F7F7F"/>
                          </a:solidFill>
                        </a:rPr>
                        <a:t> ? </a:t>
                      </a:r>
                      <a:r>
                        <a:rPr lang="en-US" sz="1800" b="1" kern="1200" dirty="0">
                          <a:solidFill>
                            <a:srgbClr val="7F7F7F"/>
                          </a:solidFill>
                          <a:latin typeface="+mn-lt"/>
                          <a:ea typeface="+mn-ea"/>
                          <a:cs typeface="+mn-cs"/>
                          <a:sym typeface="Symbol"/>
                        </a:rPr>
                        <a:t></a:t>
                      </a:r>
                      <a:r>
                        <a:rPr lang="en-US" b="1" dirty="0">
                          <a:solidFill>
                            <a:srgbClr val="7F7F7F"/>
                          </a:solidFill>
                        </a:rPr>
                        <a:t> </a:t>
                      </a:r>
                      <a:r>
                        <a:rPr lang="en-US" dirty="0">
                          <a:solidFill>
                            <a:srgbClr val="7F7F7F"/>
                          </a:solidFill>
                        </a:rPr>
                        <a:t>CVD events</a:t>
                      </a:r>
                    </a:p>
                  </a:txBody>
                  <a:tcPr marL="121920" marR="121920"/>
                </a:tc>
                <a:tc>
                  <a:txBody>
                    <a:bodyPr/>
                    <a:lstStyle/>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chemeClr val="tx1">
                              <a:lumMod val="50000"/>
                              <a:lumOff val="50000"/>
                            </a:schemeClr>
                          </a:solidFill>
                        </a:rPr>
                        <a:t> Gastrointestinal</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chemeClr val="tx1">
                              <a:lumMod val="50000"/>
                              <a:lumOff val="50000"/>
                            </a:schemeClr>
                          </a:solidFill>
                        </a:rPr>
                        <a:t> Dosing frequency</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chemeClr val="tx1">
                              <a:lumMod val="50000"/>
                              <a:lumOff val="50000"/>
                            </a:schemeClr>
                          </a:solidFill>
                        </a:rPr>
                        <a:t> Modest</a:t>
                      </a:r>
                      <a:r>
                        <a:rPr lang="en-US" baseline="0" dirty="0">
                          <a:solidFill>
                            <a:schemeClr val="tx1">
                              <a:lumMod val="50000"/>
                              <a:lumOff val="50000"/>
                            </a:schemeClr>
                          </a:solidFill>
                        </a:rPr>
                        <a:t> </a:t>
                      </a:r>
                      <a:r>
                        <a:rPr lang="en-US" sz="1800" b="1" kern="1200" dirty="0">
                          <a:solidFill>
                            <a:schemeClr val="tx1">
                              <a:lumMod val="50000"/>
                              <a:lumOff val="50000"/>
                            </a:schemeClr>
                          </a:solidFill>
                          <a:latin typeface="+mn-lt"/>
                          <a:ea typeface="+mn-ea"/>
                          <a:cs typeface="+mn-cs"/>
                          <a:sym typeface="Symbol"/>
                        </a:rPr>
                        <a:t> </a:t>
                      </a:r>
                      <a:r>
                        <a:rPr lang="en-US" baseline="0" dirty="0">
                          <a:solidFill>
                            <a:schemeClr val="tx1">
                              <a:lumMod val="50000"/>
                              <a:lumOff val="50000"/>
                            </a:schemeClr>
                          </a:solidFill>
                        </a:rPr>
                        <a:t>A1c</a:t>
                      </a:r>
                      <a:endParaRPr lang="en-US" dirty="0">
                        <a:solidFill>
                          <a:schemeClr val="tx1">
                            <a:lumMod val="50000"/>
                            <a:lumOff val="50000"/>
                          </a:schemeClr>
                        </a:solidFill>
                      </a:endParaRPr>
                    </a:p>
                  </a:txBody>
                  <a:tcPr marL="121920" marR="121920"/>
                </a:tc>
                <a:extLst>
                  <a:ext uri="{0D108BD9-81ED-4DB2-BD59-A6C34878D82A}">
                    <a16:rowId xmlns:a16="http://schemas.microsoft.com/office/drawing/2014/main" val="10001"/>
                  </a:ext>
                </a:extLst>
              </a:tr>
              <a:tr h="900525">
                <a:tc>
                  <a:txBody>
                    <a:bodyPr/>
                    <a:lstStyle/>
                    <a:p>
                      <a:r>
                        <a:rPr lang="en-US" b="1" dirty="0">
                          <a:solidFill>
                            <a:srgbClr val="000000"/>
                          </a:solidFill>
                        </a:rPr>
                        <a:t>DPP-4</a:t>
                      </a:r>
                    </a:p>
                    <a:p>
                      <a:r>
                        <a:rPr lang="en-US" b="1" dirty="0">
                          <a:solidFill>
                            <a:srgbClr val="000000"/>
                          </a:solidFill>
                        </a:rPr>
                        <a:t>inhibitors</a:t>
                      </a:r>
                    </a:p>
                  </a:txBody>
                  <a:tcPr marL="121920" marR="121920"/>
                </a:tc>
                <a:tc>
                  <a:txBody>
                    <a:bodyPr/>
                    <a:lstStyle/>
                    <a:p>
                      <a:pPr>
                        <a:buFont typeface="Arial"/>
                        <a:buChar char="•"/>
                      </a:pPr>
                      <a:r>
                        <a:rPr lang="en-US" dirty="0">
                          <a:solidFill>
                            <a:srgbClr val="000000"/>
                          </a:solidFill>
                        </a:rPr>
                        <a:t> Inhibits DPP-4/ the enzyme that degrades Incretins</a:t>
                      </a:r>
                    </a:p>
                    <a:p>
                      <a:pPr>
                        <a:buFont typeface="Arial"/>
                        <a:buChar char="•"/>
                      </a:pPr>
                      <a:r>
                        <a:rPr lang="en-US" dirty="0">
                          <a:solidFill>
                            <a:srgbClr val="000000"/>
                          </a:solidFill>
                        </a:rPr>
                        <a:t> Increases incretin (GLP-1, GIP) levels</a:t>
                      </a:r>
                    </a:p>
                  </a:txBody>
                  <a:tcPr marL="121920" marR="121920"/>
                </a:tc>
                <a:tc>
                  <a:txBody>
                    <a:bodyPr/>
                    <a:lstStyle/>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rgbClr val="000000"/>
                          </a:solidFill>
                        </a:rPr>
                        <a:t> No hypoglycemia</a:t>
                      </a:r>
                    </a:p>
                    <a:p>
                      <a:pPr>
                        <a:buFont typeface="Arial"/>
                        <a:buChar char="•"/>
                      </a:pPr>
                      <a:r>
                        <a:rPr lang="en-US" dirty="0">
                          <a:solidFill>
                            <a:srgbClr val="000000"/>
                          </a:solidFill>
                        </a:rPr>
                        <a:t> Well tolerated</a:t>
                      </a:r>
                    </a:p>
                  </a:txBody>
                  <a:tcPr marL="121920" marR="121920"/>
                </a:tc>
                <a:tc>
                  <a:txBody>
                    <a:bodyPr/>
                    <a:lstStyle/>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rgbClr val="000000"/>
                          </a:solidFill>
                        </a:rPr>
                        <a:t> Angioedema / urticaria</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rgbClr val="000000"/>
                          </a:solidFill>
                        </a:rPr>
                        <a:t> ? Pancreatitis</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rgbClr val="000000"/>
                          </a:solidFill>
                        </a:rPr>
                        <a:t> ? </a:t>
                      </a:r>
                      <a:r>
                        <a:rPr lang="en-US" sz="1800" b="1" kern="1200" dirty="0">
                          <a:solidFill>
                            <a:srgbClr val="000000"/>
                          </a:solidFill>
                          <a:latin typeface="+mn-lt"/>
                          <a:ea typeface="+mn-ea"/>
                          <a:cs typeface="+mn-cs"/>
                          <a:sym typeface="Symbol"/>
                        </a:rPr>
                        <a:t> </a:t>
                      </a:r>
                      <a:r>
                        <a:rPr lang="en-US" dirty="0">
                          <a:solidFill>
                            <a:srgbClr val="000000"/>
                          </a:solidFill>
                        </a:rPr>
                        <a:t>Heart</a:t>
                      </a:r>
                      <a:r>
                        <a:rPr lang="en-US" baseline="0" dirty="0">
                          <a:solidFill>
                            <a:srgbClr val="000000"/>
                          </a:solidFill>
                        </a:rPr>
                        <a:t> failure</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rgbClr val="000000"/>
                          </a:solidFill>
                        </a:rPr>
                        <a:t>Cost</a:t>
                      </a:r>
                    </a:p>
                  </a:txBody>
                  <a:tcPr marL="121920" marR="121920"/>
                </a:tc>
                <a:extLst>
                  <a:ext uri="{0D108BD9-81ED-4DB2-BD59-A6C34878D82A}">
                    <a16:rowId xmlns:a16="http://schemas.microsoft.com/office/drawing/2014/main" val="10002"/>
                  </a:ext>
                </a:extLst>
              </a:tr>
              <a:tr h="929590">
                <a:tc>
                  <a:txBody>
                    <a:bodyPr/>
                    <a:lstStyle/>
                    <a:p>
                      <a:r>
                        <a:rPr lang="en-US" b="1" dirty="0">
                          <a:solidFill>
                            <a:schemeClr val="tx1">
                              <a:lumMod val="50000"/>
                              <a:lumOff val="50000"/>
                            </a:schemeClr>
                          </a:solidFill>
                        </a:rPr>
                        <a:t>Bile acid</a:t>
                      </a:r>
                      <a:r>
                        <a:rPr lang="en-US" b="1" baseline="0" dirty="0">
                          <a:solidFill>
                            <a:schemeClr val="tx1">
                              <a:lumMod val="50000"/>
                              <a:lumOff val="50000"/>
                            </a:schemeClr>
                          </a:solidFill>
                        </a:rPr>
                        <a:t> sequestrants</a:t>
                      </a:r>
                      <a:endParaRPr lang="en-US" b="1" dirty="0">
                        <a:solidFill>
                          <a:schemeClr val="tx1">
                            <a:lumMod val="50000"/>
                            <a:lumOff val="50000"/>
                          </a:schemeClr>
                        </a:solidFill>
                      </a:endParaRPr>
                    </a:p>
                  </a:txBody>
                  <a:tcPr marL="121920" marR="121920"/>
                </a:tc>
                <a:tc>
                  <a:txBody>
                    <a:bodyPr/>
                    <a:lstStyle/>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chemeClr val="tx1">
                              <a:lumMod val="50000"/>
                              <a:lumOff val="50000"/>
                            </a:schemeClr>
                          </a:solidFill>
                        </a:rPr>
                        <a:t> Bind bile acids</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sz="1800" b="1" kern="1200" baseline="0" dirty="0">
                          <a:solidFill>
                            <a:schemeClr val="tx1">
                              <a:lumMod val="50000"/>
                              <a:lumOff val="50000"/>
                            </a:schemeClr>
                          </a:solidFill>
                          <a:latin typeface="+mn-lt"/>
                          <a:ea typeface="+mn-ea"/>
                          <a:cs typeface="+mn-cs"/>
                          <a:sym typeface="Symbol"/>
                        </a:rPr>
                        <a:t> </a:t>
                      </a:r>
                      <a:r>
                        <a:rPr lang="en-US" baseline="0" dirty="0">
                          <a:solidFill>
                            <a:schemeClr val="tx1">
                              <a:lumMod val="50000"/>
                              <a:lumOff val="50000"/>
                            </a:schemeClr>
                          </a:solidFill>
                        </a:rPr>
                        <a:t>? </a:t>
                      </a:r>
                      <a:r>
                        <a:rPr lang="en-US" sz="1800" b="1" kern="1200" dirty="0">
                          <a:solidFill>
                            <a:schemeClr val="tx1">
                              <a:lumMod val="50000"/>
                              <a:lumOff val="50000"/>
                            </a:schemeClr>
                          </a:solidFill>
                          <a:latin typeface="+mn-lt"/>
                          <a:ea typeface="+mn-ea"/>
                          <a:cs typeface="+mn-cs"/>
                          <a:sym typeface="Symbol"/>
                        </a:rPr>
                        <a:t></a:t>
                      </a:r>
                      <a:r>
                        <a:rPr lang="en-US" b="1" dirty="0">
                          <a:solidFill>
                            <a:schemeClr val="tx1">
                              <a:lumMod val="50000"/>
                              <a:lumOff val="50000"/>
                            </a:schemeClr>
                          </a:solidFill>
                        </a:rPr>
                        <a:t> </a:t>
                      </a:r>
                      <a:r>
                        <a:rPr lang="en-US" baseline="0" dirty="0">
                          <a:solidFill>
                            <a:schemeClr val="tx1">
                              <a:lumMod val="50000"/>
                              <a:lumOff val="50000"/>
                            </a:schemeClr>
                          </a:solidFill>
                        </a:rPr>
                        <a:t>Hepatic glucose production</a:t>
                      </a:r>
                    </a:p>
                  </a:txBody>
                  <a:tcPr marL="121920" marR="121920"/>
                </a:tc>
                <a:tc>
                  <a:txBody>
                    <a:bodyPr/>
                    <a:lstStyle/>
                    <a:p>
                      <a:pPr>
                        <a:buFont typeface="Arial"/>
                        <a:buChar char="•"/>
                      </a:pPr>
                      <a:r>
                        <a:rPr lang="en-US" dirty="0">
                          <a:solidFill>
                            <a:schemeClr val="tx1">
                              <a:lumMod val="50000"/>
                              <a:lumOff val="50000"/>
                            </a:schemeClr>
                          </a:solidFill>
                        </a:rPr>
                        <a:t> No hypoglycemia</a:t>
                      </a:r>
                    </a:p>
                    <a:p>
                      <a:pPr>
                        <a:buFont typeface="Arial"/>
                        <a:buChar char="•"/>
                      </a:pPr>
                      <a:r>
                        <a:rPr lang="en-US" dirty="0">
                          <a:solidFill>
                            <a:schemeClr val="tx1">
                              <a:lumMod val="50000"/>
                              <a:lumOff val="50000"/>
                            </a:schemeClr>
                          </a:solidFill>
                        </a:rPr>
                        <a:t> </a:t>
                      </a:r>
                      <a:r>
                        <a:rPr lang="en-US" sz="1800" b="0" kern="1200" dirty="0">
                          <a:solidFill>
                            <a:schemeClr val="tx1">
                              <a:lumMod val="50000"/>
                              <a:lumOff val="50000"/>
                            </a:schemeClr>
                          </a:solidFill>
                          <a:latin typeface="+mn-lt"/>
                          <a:ea typeface="+mn-ea"/>
                          <a:cs typeface="+mn-cs"/>
                          <a:sym typeface="Symbol"/>
                        </a:rPr>
                        <a:t> LDL-C</a:t>
                      </a:r>
                      <a:endParaRPr lang="en-US" dirty="0">
                        <a:solidFill>
                          <a:schemeClr val="tx1">
                            <a:lumMod val="50000"/>
                            <a:lumOff val="50000"/>
                          </a:schemeClr>
                        </a:solidFill>
                      </a:endParaRPr>
                    </a:p>
                  </a:txBody>
                  <a:tcPr marL="121920" marR="121920"/>
                </a:tc>
                <a:tc>
                  <a:txBody>
                    <a:bodyPr/>
                    <a:lstStyle/>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chemeClr val="tx1">
                              <a:lumMod val="50000"/>
                              <a:lumOff val="50000"/>
                            </a:schemeClr>
                          </a:solidFill>
                        </a:rPr>
                        <a:t> Gastrointestinal</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chemeClr val="tx1">
                              <a:lumMod val="50000"/>
                              <a:lumOff val="50000"/>
                            </a:schemeClr>
                          </a:solidFill>
                        </a:rPr>
                        <a:t> Modest</a:t>
                      </a:r>
                      <a:r>
                        <a:rPr lang="en-US" baseline="0" dirty="0">
                          <a:solidFill>
                            <a:schemeClr val="tx1">
                              <a:lumMod val="50000"/>
                              <a:lumOff val="50000"/>
                            </a:schemeClr>
                          </a:solidFill>
                        </a:rPr>
                        <a:t> </a:t>
                      </a:r>
                      <a:r>
                        <a:rPr lang="en-US" sz="1800" b="1" kern="1200" dirty="0">
                          <a:solidFill>
                            <a:schemeClr val="tx1">
                              <a:lumMod val="50000"/>
                              <a:lumOff val="50000"/>
                            </a:schemeClr>
                          </a:solidFill>
                          <a:latin typeface="+mn-lt"/>
                          <a:ea typeface="+mn-ea"/>
                          <a:cs typeface="+mn-cs"/>
                          <a:sym typeface="Symbol"/>
                        </a:rPr>
                        <a:t> </a:t>
                      </a:r>
                      <a:r>
                        <a:rPr lang="en-US" baseline="0" dirty="0">
                          <a:solidFill>
                            <a:schemeClr val="tx1">
                              <a:lumMod val="50000"/>
                              <a:lumOff val="50000"/>
                            </a:schemeClr>
                          </a:solidFill>
                        </a:rPr>
                        <a:t>A1c</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baseline="0" dirty="0">
                          <a:solidFill>
                            <a:schemeClr val="tx1">
                              <a:lumMod val="50000"/>
                              <a:lumOff val="50000"/>
                            </a:schemeClr>
                          </a:solidFill>
                        </a:rPr>
                        <a:t> </a:t>
                      </a:r>
                      <a:r>
                        <a:rPr lang="en-US" dirty="0">
                          <a:solidFill>
                            <a:schemeClr val="tx1">
                              <a:lumMod val="50000"/>
                              <a:lumOff val="50000"/>
                            </a:schemeClr>
                          </a:solidFill>
                        </a:rPr>
                        <a:t>Dosing frequency</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chemeClr val="tx1">
                              <a:lumMod val="50000"/>
                              <a:lumOff val="50000"/>
                            </a:schemeClr>
                          </a:solidFill>
                        </a:rPr>
                        <a:t>Cost</a:t>
                      </a:r>
                    </a:p>
                  </a:txBody>
                  <a:tcPr marL="121920" marR="121920"/>
                </a:tc>
                <a:extLst>
                  <a:ext uri="{0D108BD9-81ED-4DB2-BD59-A6C34878D82A}">
                    <a16:rowId xmlns:a16="http://schemas.microsoft.com/office/drawing/2014/main" val="10003"/>
                  </a:ext>
                </a:extLst>
              </a:tr>
              <a:tr h="1129403">
                <a:tc>
                  <a:txBody>
                    <a:bodyPr/>
                    <a:lstStyle/>
                    <a:p>
                      <a:r>
                        <a:rPr lang="en-US" b="1" dirty="0">
                          <a:solidFill>
                            <a:schemeClr val="tx1">
                              <a:lumMod val="50000"/>
                              <a:lumOff val="50000"/>
                            </a:schemeClr>
                          </a:solidFill>
                        </a:rPr>
                        <a:t>Dopamine-2</a:t>
                      </a:r>
                    </a:p>
                    <a:p>
                      <a:r>
                        <a:rPr lang="en-US" b="1" dirty="0">
                          <a:solidFill>
                            <a:schemeClr val="tx1">
                              <a:lumMod val="50000"/>
                              <a:lumOff val="50000"/>
                            </a:schemeClr>
                          </a:solidFill>
                        </a:rPr>
                        <a:t>agonists</a:t>
                      </a:r>
                    </a:p>
                  </a:txBody>
                  <a:tcPr marL="121920" marR="121920"/>
                </a:tc>
                <a:tc>
                  <a:txBody>
                    <a:bodyPr/>
                    <a:lstStyle/>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chemeClr val="tx1">
                              <a:lumMod val="50000"/>
                              <a:lumOff val="50000"/>
                            </a:schemeClr>
                          </a:solidFill>
                        </a:rPr>
                        <a:t> Activates DA</a:t>
                      </a:r>
                      <a:r>
                        <a:rPr lang="en-US" baseline="0" dirty="0">
                          <a:solidFill>
                            <a:schemeClr val="tx1">
                              <a:lumMod val="50000"/>
                              <a:lumOff val="50000"/>
                            </a:schemeClr>
                          </a:solidFill>
                        </a:rPr>
                        <a:t> receptor</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baseline="0" dirty="0">
                          <a:solidFill>
                            <a:schemeClr val="tx1">
                              <a:lumMod val="50000"/>
                              <a:lumOff val="50000"/>
                            </a:schemeClr>
                          </a:solidFill>
                        </a:rPr>
                        <a:t> Alters hypothalamic control of metabolism</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baseline="0" dirty="0">
                          <a:solidFill>
                            <a:schemeClr val="tx1">
                              <a:lumMod val="50000"/>
                              <a:lumOff val="50000"/>
                            </a:schemeClr>
                          </a:solidFill>
                        </a:rPr>
                        <a:t> </a:t>
                      </a:r>
                      <a:r>
                        <a:rPr lang="en-US" sz="1800" b="1" kern="1200" dirty="0">
                          <a:solidFill>
                            <a:schemeClr val="tx1">
                              <a:lumMod val="50000"/>
                              <a:lumOff val="50000"/>
                            </a:schemeClr>
                          </a:solidFill>
                          <a:latin typeface="+mn-lt"/>
                          <a:ea typeface="+mn-ea"/>
                          <a:cs typeface="+mn-cs"/>
                          <a:sym typeface="Symbol"/>
                        </a:rPr>
                        <a:t></a:t>
                      </a:r>
                      <a:r>
                        <a:rPr lang="en-US" b="1" dirty="0">
                          <a:solidFill>
                            <a:schemeClr val="tx1">
                              <a:lumMod val="50000"/>
                              <a:lumOff val="50000"/>
                            </a:schemeClr>
                          </a:solidFill>
                        </a:rPr>
                        <a:t> </a:t>
                      </a:r>
                      <a:r>
                        <a:rPr lang="en-US" baseline="0" dirty="0">
                          <a:solidFill>
                            <a:schemeClr val="tx1">
                              <a:lumMod val="50000"/>
                              <a:lumOff val="50000"/>
                            </a:schemeClr>
                          </a:solidFill>
                        </a:rPr>
                        <a:t>insulin sensitivity</a:t>
                      </a:r>
                      <a:endParaRPr lang="en-US" dirty="0">
                        <a:solidFill>
                          <a:schemeClr val="tx1">
                            <a:lumMod val="50000"/>
                            <a:lumOff val="50000"/>
                          </a:schemeClr>
                        </a:solidFill>
                      </a:endParaRPr>
                    </a:p>
                  </a:txBody>
                  <a:tcPr marL="121920" marR="121920"/>
                </a:tc>
                <a:tc>
                  <a:txBody>
                    <a:bodyPr/>
                    <a:lstStyle/>
                    <a:p>
                      <a:pPr>
                        <a:buFont typeface="Arial"/>
                        <a:buChar char="•"/>
                      </a:pPr>
                      <a:r>
                        <a:rPr lang="en-US" dirty="0">
                          <a:solidFill>
                            <a:schemeClr val="tx1">
                              <a:lumMod val="50000"/>
                              <a:lumOff val="50000"/>
                            </a:schemeClr>
                          </a:solidFill>
                        </a:rPr>
                        <a:t> No </a:t>
                      </a:r>
                      <a:r>
                        <a:rPr lang="en-US" dirty="0" err="1">
                          <a:solidFill>
                            <a:schemeClr val="tx1">
                              <a:lumMod val="50000"/>
                              <a:lumOff val="50000"/>
                            </a:schemeClr>
                          </a:solidFill>
                        </a:rPr>
                        <a:t>hypoglyemia</a:t>
                      </a:r>
                      <a:endParaRPr lang="en-US" dirty="0">
                        <a:solidFill>
                          <a:schemeClr val="tx1">
                            <a:lumMod val="50000"/>
                            <a:lumOff val="50000"/>
                          </a:schemeClr>
                        </a:solidFill>
                      </a:endParaRPr>
                    </a:p>
                    <a:p>
                      <a:pPr>
                        <a:buFont typeface="Arial"/>
                        <a:buChar char="•"/>
                      </a:pPr>
                      <a:r>
                        <a:rPr lang="en-US" sz="1800" b="1" kern="1200" dirty="0">
                          <a:solidFill>
                            <a:schemeClr val="tx1">
                              <a:lumMod val="50000"/>
                              <a:lumOff val="50000"/>
                            </a:schemeClr>
                          </a:solidFill>
                          <a:latin typeface="+mn-lt"/>
                          <a:ea typeface="+mn-ea"/>
                          <a:cs typeface="+mn-cs"/>
                          <a:sym typeface="Symbol"/>
                        </a:rPr>
                        <a:t> ? </a:t>
                      </a:r>
                      <a:r>
                        <a:rPr lang="en-US" b="1" dirty="0">
                          <a:solidFill>
                            <a:schemeClr val="tx1">
                              <a:lumMod val="50000"/>
                              <a:lumOff val="50000"/>
                            </a:schemeClr>
                          </a:solidFill>
                        </a:rPr>
                        <a:t> </a:t>
                      </a:r>
                      <a:r>
                        <a:rPr lang="en-US" dirty="0">
                          <a:solidFill>
                            <a:schemeClr val="tx1">
                              <a:lumMod val="50000"/>
                              <a:lumOff val="50000"/>
                            </a:schemeClr>
                          </a:solidFill>
                        </a:rPr>
                        <a:t>CVD events</a:t>
                      </a:r>
                    </a:p>
                  </a:txBody>
                  <a:tcPr marL="121920" marR="121920"/>
                </a:tc>
                <a:tc>
                  <a:txBody>
                    <a:bodyPr/>
                    <a:lstStyle/>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chemeClr val="tx1">
                              <a:lumMod val="50000"/>
                              <a:lumOff val="50000"/>
                            </a:schemeClr>
                          </a:solidFill>
                        </a:rPr>
                        <a:t> Modest</a:t>
                      </a:r>
                      <a:r>
                        <a:rPr lang="en-US" baseline="0" dirty="0">
                          <a:solidFill>
                            <a:schemeClr val="tx1">
                              <a:lumMod val="50000"/>
                              <a:lumOff val="50000"/>
                            </a:schemeClr>
                          </a:solidFill>
                        </a:rPr>
                        <a:t> </a:t>
                      </a:r>
                      <a:r>
                        <a:rPr lang="en-US" sz="1800" b="1" kern="1200" dirty="0">
                          <a:solidFill>
                            <a:schemeClr val="tx1">
                              <a:lumMod val="50000"/>
                              <a:lumOff val="50000"/>
                            </a:schemeClr>
                          </a:solidFill>
                          <a:latin typeface="+mn-lt"/>
                          <a:ea typeface="+mn-ea"/>
                          <a:cs typeface="+mn-cs"/>
                          <a:sym typeface="Symbol"/>
                        </a:rPr>
                        <a:t> </a:t>
                      </a:r>
                      <a:r>
                        <a:rPr lang="en-US" baseline="0" dirty="0">
                          <a:solidFill>
                            <a:schemeClr val="tx1">
                              <a:lumMod val="50000"/>
                              <a:lumOff val="50000"/>
                            </a:schemeClr>
                          </a:solidFill>
                        </a:rPr>
                        <a:t>A1c</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baseline="0" dirty="0">
                          <a:solidFill>
                            <a:schemeClr val="tx1">
                              <a:lumMod val="50000"/>
                              <a:lumOff val="50000"/>
                            </a:schemeClr>
                          </a:solidFill>
                        </a:rPr>
                        <a:t> </a:t>
                      </a:r>
                      <a:r>
                        <a:rPr lang="en-US" dirty="0">
                          <a:solidFill>
                            <a:schemeClr val="tx1">
                              <a:lumMod val="50000"/>
                              <a:lumOff val="50000"/>
                            </a:schemeClr>
                          </a:solidFill>
                        </a:rPr>
                        <a:t>Dizziness, fatigue</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chemeClr val="tx1">
                              <a:lumMod val="50000"/>
                              <a:lumOff val="50000"/>
                            </a:schemeClr>
                          </a:solidFill>
                        </a:rPr>
                        <a:t> Nausea</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baseline="0" dirty="0">
                          <a:solidFill>
                            <a:schemeClr val="tx1">
                              <a:lumMod val="50000"/>
                              <a:lumOff val="50000"/>
                            </a:schemeClr>
                          </a:solidFill>
                        </a:rPr>
                        <a:t> </a:t>
                      </a:r>
                      <a:r>
                        <a:rPr lang="en-US" dirty="0">
                          <a:solidFill>
                            <a:schemeClr val="tx1">
                              <a:lumMod val="50000"/>
                              <a:lumOff val="50000"/>
                            </a:schemeClr>
                          </a:solidFill>
                        </a:rPr>
                        <a:t>Rhinitis</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chemeClr val="tx1">
                              <a:lumMod val="50000"/>
                              <a:lumOff val="50000"/>
                            </a:schemeClr>
                          </a:solidFill>
                        </a:rPr>
                        <a:t>Cost</a:t>
                      </a:r>
                    </a:p>
                  </a:txBody>
                  <a:tcPr marL="121920" marR="121920"/>
                </a:tc>
                <a:extLst>
                  <a:ext uri="{0D108BD9-81ED-4DB2-BD59-A6C34878D82A}">
                    <a16:rowId xmlns:a16="http://schemas.microsoft.com/office/drawing/2014/main" val="10004"/>
                  </a:ext>
                </a:extLst>
              </a:tr>
              <a:tr h="1170682">
                <a:tc>
                  <a:txBody>
                    <a:bodyPr/>
                    <a:lstStyle/>
                    <a:p>
                      <a:r>
                        <a:rPr lang="en-US" b="1" dirty="0">
                          <a:solidFill>
                            <a:schemeClr val="tx1"/>
                          </a:solidFill>
                        </a:rPr>
                        <a:t>SGLT2</a:t>
                      </a:r>
                      <a:r>
                        <a:rPr lang="en-US" b="1" baseline="0" dirty="0">
                          <a:solidFill>
                            <a:schemeClr val="tx1"/>
                          </a:solidFill>
                        </a:rPr>
                        <a:t> inhibitors</a:t>
                      </a:r>
                      <a:endParaRPr lang="en-US" b="1" dirty="0">
                        <a:solidFill>
                          <a:schemeClr val="tx1"/>
                        </a:solidFill>
                      </a:endParaRPr>
                    </a:p>
                  </a:txBody>
                  <a:tcPr marL="121920" marR="121920"/>
                </a:tc>
                <a:tc>
                  <a:txBody>
                    <a:bodyPr/>
                    <a:lstStyle/>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chemeClr val="tx1"/>
                          </a:solidFill>
                        </a:rPr>
                        <a:t> Inhibits</a:t>
                      </a:r>
                      <a:r>
                        <a:rPr lang="en-US" baseline="0" dirty="0">
                          <a:solidFill>
                            <a:schemeClr val="tx1"/>
                          </a:solidFill>
                        </a:rPr>
                        <a:t> SGLT2 in proximal nephron</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baseline="0" dirty="0">
                          <a:solidFill>
                            <a:schemeClr val="tx1"/>
                          </a:solidFill>
                        </a:rPr>
                        <a:t> Increases glucosuria</a:t>
                      </a:r>
                      <a:endParaRPr lang="en-US" dirty="0">
                        <a:solidFill>
                          <a:schemeClr val="tx1"/>
                        </a:solidFill>
                      </a:endParaRPr>
                    </a:p>
                  </a:txBody>
                  <a:tcPr marL="121920" marR="121920"/>
                </a:tc>
                <a:tc>
                  <a:txBody>
                    <a:bodyPr/>
                    <a:lstStyle/>
                    <a:p>
                      <a:pPr>
                        <a:buFont typeface="Arial"/>
                        <a:buChar char="•"/>
                      </a:pPr>
                      <a:r>
                        <a:rPr lang="en-US" sz="1800" b="0" kern="1200" dirty="0">
                          <a:solidFill>
                            <a:schemeClr val="dk1"/>
                          </a:solidFill>
                          <a:latin typeface="+mn-lt"/>
                          <a:ea typeface="+mn-ea"/>
                          <a:cs typeface="+mn-cs"/>
                          <a:sym typeface="Symbol"/>
                        </a:rPr>
                        <a:t></a:t>
                      </a:r>
                      <a:r>
                        <a:rPr lang="en-US" sz="1800" b="1" kern="1200" dirty="0">
                          <a:solidFill>
                            <a:schemeClr val="dk1"/>
                          </a:solidFill>
                          <a:latin typeface="+mn-lt"/>
                          <a:ea typeface="+mn-ea"/>
                          <a:cs typeface="+mn-cs"/>
                          <a:sym typeface="Symbol"/>
                        </a:rPr>
                        <a:t> </a:t>
                      </a:r>
                      <a:r>
                        <a:rPr lang="en-US" dirty="0"/>
                        <a:t>Weight</a:t>
                      </a:r>
                    </a:p>
                    <a:p>
                      <a:pPr>
                        <a:buFont typeface="Arial"/>
                        <a:buChar char="•"/>
                      </a:pPr>
                      <a:r>
                        <a:rPr lang="en-US" dirty="0"/>
                        <a:t> No hypoglycemia</a:t>
                      </a:r>
                    </a:p>
                    <a:p>
                      <a:pPr>
                        <a:buFont typeface="Arial"/>
                        <a:buChar char="•"/>
                      </a:pPr>
                      <a:r>
                        <a:rPr lang="en-US" dirty="0"/>
                        <a:t> </a:t>
                      </a:r>
                      <a:r>
                        <a:rPr lang="en-US" sz="1800" b="0" kern="1200" dirty="0">
                          <a:solidFill>
                            <a:schemeClr val="dk1"/>
                          </a:solidFill>
                          <a:latin typeface="+mn-lt"/>
                          <a:ea typeface="+mn-ea"/>
                          <a:cs typeface="+mn-cs"/>
                          <a:sym typeface="Symbol"/>
                        </a:rPr>
                        <a:t></a:t>
                      </a:r>
                      <a:r>
                        <a:rPr lang="en-US" dirty="0"/>
                        <a:t> BP</a:t>
                      </a:r>
                    </a:p>
                    <a:p>
                      <a:pPr>
                        <a:buFont typeface="Arial"/>
                        <a:buChar char="•"/>
                      </a:pPr>
                      <a:r>
                        <a:rPr lang="en-US" dirty="0"/>
                        <a:t> Effective</a:t>
                      </a:r>
                      <a:r>
                        <a:rPr lang="en-US" baseline="0" dirty="0"/>
                        <a:t> at all stages</a:t>
                      </a:r>
                      <a:endParaRPr lang="en-US" dirty="0"/>
                    </a:p>
                    <a:p>
                      <a:pPr>
                        <a:buFont typeface="Arial"/>
                        <a:buChar char="•"/>
                      </a:pPr>
                      <a:endParaRPr lang="en-US" dirty="0">
                        <a:solidFill>
                          <a:schemeClr val="tx1"/>
                        </a:solidFill>
                      </a:endParaRPr>
                    </a:p>
                  </a:txBody>
                  <a:tcPr marL="121920" marR="121920"/>
                </a:tc>
                <a:tc>
                  <a:txBody>
                    <a:bodyPr/>
                    <a:lstStyle/>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rgbClr val="000000"/>
                          </a:solidFill>
                        </a:rPr>
                        <a:t> GU</a:t>
                      </a:r>
                      <a:r>
                        <a:rPr lang="en-US" baseline="0" dirty="0">
                          <a:solidFill>
                            <a:srgbClr val="000000"/>
                          </a:solidFill>
                        </a:rPr>
                        <a:t> infections</a:t>
                      </a:r>
                      <a:endParaRPr lang="en-US" dirty="0">
                        <a:solidFill>
                          <a:srgbClr val="000000"/>
                        </a:solidFill>
                      </a:endParaRP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rgbClr val="000000"/>
                          </a:solidFill>
                        </a:rPr>
                        <a:t>Volume depletion</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rgbClr val="000000"/>
                          </a:solidFill>
                        </a:rPr>
                        <a:t> </a:t>
                      </a:r>
                      <a:r>
                        <a:rPr lang="en-US" sz="1800" b="1" kern="1200" dirty="0">
                          <a:solidFill>
                            <a:srgbClr val="000000"/>
                          </a:solidFill>
                          <a:latin typeface="+mn-lt"/>
                          <a:ea typeface="+mn-ea"/>
                          <a:cs typeface="+mn-cs"/>
                          <a:sym typeface="Symbol"/>
                        </a:rPr>
                        <a:t> </a:t>
                      </a:r>
                      <a:r>
                        <a:rPr lang="en-US" dirty="0">
                          <a:solidFill>
                            <a:srgbClr val="000000"/>
                          </a:solidFill>
                        </a:rPr>
                        <a:t>LDL-C</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sz="1800" b="0" kern="1200" dirty="0">
                          <a:solidFill>
                            <a:srgbClr val="000000"/>
                          </a:solidFill>
                          <a:latin typeface="+mn-lt"/>
                          <a:ea typeface="+mn-ea"/>
                          <a:cs typeface="+mn-cs"/>
                          <a:sym typeface="Symbol"/>
                        </a:rPr>
                        <a:t> Cost</a:t>
                      </a:r>
                      <a:endParaRPr lang="en-US" b="0" dirty="0">
                        <a:solidFill>
                          <a:srgbClr val="000000"/>
                        </a:solidFill>
                      </a:endParaRPr>
                    </a:p>
                  </a:txBody>
                  <a:tcPr marL="121920" marR="121920"/>
                </a:tc>
                <a:extLst>
                  <a:ext uri="{0D108BD9-81ED-4DB2-BD59-A6C34878D82A}">
                    <a16:rowId xmlns:a16="http://schemas.microsoft.com/office/drawing/2014/main" val="10005"/>
                  </a:ext>
                </a:extLst>
              </a:tr>
            </a:tbl>
          </a:graphicData>
        </a:graphic>
      </p:graphicFrame>
      <p:sp>
        <p:nvSpPr>
          <p:cNvPr id="6" name="TextBox 21"/>
          <p:cNvSpPr txBox="1">
            <a:spLocks noChangeArrowheads="1"/>
          </p:cNvSpPr>
          <p:nvPr/>
        </p:nvSpPr>
        <p:spPr bwMode="auto">
          <a:xfrm>
            <a:off x="6195737" y="6361108"/>
            <a:ext cx="5733025" cy="492434"/>
          </a:xfrm>
          <a:prstGeom prst="rect">
            <a:avLst/>
          </a:prstGeom>
          <a:noFill/>
          <a:ln w="9525">
            <a:noFill/>
            <a:miter lim="800000"/>
            <a:headEnd/>
            <a:tailEnd/>
          </a:ln>
        </p:spPr>
        <p:txBody>
          <a:bodyPr wrap="square" lIns="91431" tIns="45716" rIns="91431" bIns="45716">
            <a:prstTxWarp prst="textNoShape">
              <a:avLst/>
            </a:prstTxWarp>
            <a:spAutoFit/>
          </a:bodyPr>
          <a:lstStyle/>
          <a:p>
            <a:pPr algn="r" fontAlgn="base" hangingPunct="1">
              <a:spcBef>
                <a:spcPct val="0"/>
              </a:spcBef>
              <a:spcAft>
                <a:spcPct val="0"/>
              </a:spcAft>
              <a:defRPr/>
            </a:pPr>
            <a:r>
              <a:rPr lang="en-US" sz="1300" i="1" kern="1200" dirty="0">
                <a:latin typeface="Times"/>
                <a:ea typeface="Times New Roman" charset="0"/>
                <a:cs typeface="Times"/>
              </a:rPr>
              <a:t>Diabetes Care</a:t>
            </a:r>
            <a:r>
              <a:rPr lang="en-US" sz="1300" kern="1200" dirty="0">
                <a:latin typeface="Times"/>
                <a:ea typeface="Times New Roman" charset="0"/>
                <a:cs typeface="Times"/>
              </a:rPr>
              <a:t> 2015;38:140-149; </a:t>
            </a:r>
          </a:p>
          <a:p>
            <a:pPr algn="r" fontAlgn="base" hangingPunct="1">
              <a:spcBef>
                <a:spcPct val="0"/>
              </a:spcBef>
              <a:spcAft>
                <a:spcPct val="0"/>
              </a:spcAft>
              <a:defRPr/>
            </a:pPr>
            <a:r>
              <a:rPr lang="en-US" sz="1300" i="1" kern="1200" dirty="0" err="1">
                <a:latin typeface="Times"/>
                <a:ea typeface="Times New Roman" charset="0"/>
                <a:cs typeface="Times"/>
              </a:rPr>
              <a:t>Diabetologia</a:t>
            </a:r>
            <a:r>
              <a:rPr lang="en-US" sz="1300" kern="1200" dirty="0">
                <a:latin typeface="Times"/>
                <a:ea typeface="Times New Roman" charset="0"/>
                <a:cs typeface="Times"/>
              </a:rPr>
              <a:t> </a:t>
            </a:r>
            <a:r>
              <a:rPr lang="en-US" sz="1300" kern="1200" dirty="0">
                <a:latin typeface="Times New Roman" charset="0"/>
                <a:ea typeface="Times New Roman" charset="0"/>
                <a:cs typeface="Times New Roman" charset="0"/>
              </a:rPr>
              <a:t>2015;58:429-442</a:t>
            </a:r>
          </a:p>
        </p:txBody>
      </p:sp>
    </p:spTree>
    <p:extLst>
      <p:ext uri="{BB962C8B-B14F-4D97-AF65-F5344CB8AC3E}">
        <p14:creationId xmlns:p14="http://schemas.microsoft.com/office/powerpoint/2010/main" val="17953016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4188484074"/>
              </p:ext>
            </p:extLst>
          </p:nvPr>
        </p:nvGraphicFramePr>
        <p:xfrm>
          <a:off x="637333" y="817419"/>
          <a:ext cx="11040510" cy="5334000"/>
        </p:xfrm>
        <a:graphic>
          <a:graphicData uri="http://schemas.openxmlformats.org/drawingml/2006/table">
            <a:tbl>
              <a:tblPr firstRow="1" bandRow="1">
                <a:tableStyleId>{5C22544A-7EE6-4342-B048-85BDC9FD1C3A}</a:tableStyleId>
              </a:tblPr>
              <a:tblGrid>
                <a:gridCol w="1625577">
                  <a:extLst>
                    <a:ext uri="{9D8B030D-6E8A-4147-A177-3AD203B41FA5}">
                      <a16:colId xmlns:a16="http://schemas.microsoft.com/office/drawing/2014/main" val="20000"/>
                    </a:ext>
                  </a:extLst>
                </a:gridCol>
                <a:gridCol w="2912533">
                  <a:extLst>
                    <a:ext uri="{9D8B030D-6E8A-4147-A177-3AD203B41FA5}">
                      <a16:colId xmlns:a16="http://schemas.microsoft.com/office/drawing/2014/main" val="20001"/>
                    </a:ext>
                  </a:extLst>
                </a:gridCol>
                <a:gridCol w="3251200">
                  <a:extLst>
                    <a:ext uri="{9D8B030D-6E8A-4147-A177-3AD203B41FA5}">
                      <a16:colId xmlns:a16="http://schemas.microsoft.com/office/drawing/2014/main" val="20002"/>
                    </a:ext>
                  </a:extLst>
                </a:gridCol>
                <a:gridCol w="3251200">
                  <a:extLst>
                    <a:ext uri="{9D8B030D-6E8A-4147-A177-3AD203B41FA5}">
                      <a16:colId xmlns:a16="http://schemas.microsoft.com/office/drawing/2014/main" val="20003"/>
                    </a:ext>
                  </a:extLst>
                </a:gridCol>
              </a:tblGrid>
              <a:tr h="365213">
                <a:tc>
                  <a:txBody>
                    <a:bodyPr/>
                    <a:lstStyle/>
                    <a:p>
                      <a:pPr marL="0" marR="0" algn="ctr" eaLnBrk="0" fontAlgn="base" hangingPunct="0">
                        <a:spcBef>
                          <a:spcPts val="0"/>
                        </a:spcBef>
                        <a:spcAft>
                          <a:spcPts val="0"/>
                        </a:spcAft>
                      </a:pPr>
                      <a:r>
                        <a:rPr lang="en-US" sz="2200" b="1" kern="1200" dirty="0">
                          <a:solidFill>
                            <a:schemeClr val="bg1"/>
                          </a:solidFill>
                          <a:effectLst>
                            <a:outerShdw blurRad="38100" dist="38100" dir="2700000" algn="tl">
                              <a:srgbClr val="000000">
                                <a:alpha val="43137"/>
                              </a:srgbClr>
                            </a:outerShdw>
                          </a:effectLst>
                          <a:latin typeface="+mj-lt"/>
                          <a:ea typeface="MS PGothic"/>
                          <a:cs typeface="Arial"/>
                        </a:rPr>
                        <a:t>Injectable</a:t>
                      </a:r>
                    </a:p>
                    <a:p>
                      <a:pPr marL="0" marR="0" algn="ctr" eaLnBrk="0" fontAlgn="base" hangingPunct="0">
                        <a:spcBef>
                          <a:spcPts val="0"/>
                        </a:spcBef>
                        <a:spcAft>
                          <a:spcPts val="0"/>
                        </a:spcAft>
                      </a:pPr>
                      <a:r>
                        <a:rPr lang="en-US" sz="2200" b="1" kern="1200" dirty="0">
                          <a:solidFill>
                            <a:schemeClr val="bg1"/>
                          </a:solidFill>
                          <a:effectLst>
                            <a:outerShdw blurRad="38100" dist="38100" dir="2700000" algn="tl">
                              <a:srgbClr val="000000">
                                <a:alpha val="43137"/>
                              </a:srgbClr>
                            </a:outerShdw>
                          </a:effectLst>
                          <a:latin typeface="+mj-lt"/>
                          <a:ea typeface="MS PGothic"/>
                          <a:cs typeface="Arial"/>
                        </a:rPr>
                        <a:t>Class</a:t>
                      </a:r>
                      <a:endParaRPr lang="en-US" sz="2200" dirty="0">
                        <a:solidFill>
                          <a:schemeClr val="bg1"/>
                        </a:solidFill>
                        <a:effectLst>
                          <a:outerShdw blurRad="38100" dist="38100" dir="2700000" algn="tl">
                            <a:srgbClr val="000000">
                              <a:alpha val="43137"/>
                            </a:srgbClr>
                          </a:outerShdw>
                        </a:effectLst>
                        <a:latin typeface="+mj-lt"/>
                        <a:ea typeface="Cambria"/>
                        <a:cs typeface="Times New Roman"/>
                      </a:endParaRPr>
                    </a:p>
                  </a:txBody>
                  <a:tcPr marL="0" marR="0" marT="0" marB="0">
                    <a:solidFill>
                      <a:srgbClr val="00005C"/>
                    </a:solidFill>
                  </a:tcPr>
                </a:tc>
                <a:tc>
                  <a:txBody>
                    <a:bodyPr/>
                    <a:lstStyle/>
                    <a:p>
                      <a:pPr marL="0" marR="0" algn="ctr" fontAlgn="base">
                        <a:spcBef>
                          <a:spcPts val="0"/>
                        </a:spcBef>
                        <a:spcAft>
                          <a:spcPts val="0"/>
                        </a:spcAft>
                      </a:pPr>
                      <a:r>
                        <a:rPr lang="en-US" sz="2200" dirty="0">
                          <a:solidFill>
                            <a:schemeClr val="bg1"/>
                          </a:solidFill>
                          <a:effectLst>
                            <a:outerShdw blurRad="38100" dist="38100" dir="2700000" algn="tl">
                              <a:srgbClr val="000000">
                                <a:alpha val="43137"/>
                              </a:srgbClr>
                            </a:outerShdw>
                          </a:effectLst>
                          <a:latin typeface="+mj-lt"/>
                          <a:ea typeface="Cambria"/>
                          <a:cs typeface="Times New Roman"/>
                        </a:rPr>
                        <a:t>Mechanism</a:t>
                      </a:r>
                    </a:p>
                  </a:txBody>
                  <a:tcPr marL="0" marR="0" marT="0" marB="0">
                    <a:solidFill>
                      <a:srgbClr val="00005C"/>
                    </a:solidFill>
                  </a:tcPr>
                </a:tc>
                <a:tc>
                  <a:txBody>
                    <a:bodyPr/>
                    <a:lstStyle/>
                    <a:p>
                      <a:pPr marL="0" marR="0" algn="ctr" fontAlgn="base">
                        <a:spcBef>
                          <a:spcPts val="0"/>
                        </a:spcBef>
                        <a:spcAft>
                          <a:spcPts val="0"/>
                        </a:spcAft>
                      </a:pPr>
                      <a:r>
                        <a:rPr lang="en-US" sz="2200" dirty="0">
                          <a:solidFill>
                            <a:schemeClr val="bg1"/>
                          </a:solidFill>
                          <a:effectLst>
                            <a:outerShdw blurRad="38100" dist="38100" dir="2700000" algn="tl">
                              <a:srgbClr val="000000">
                                <a:alpha val="43137"/>
                              </a:srgbClr>
                            </a:outerShdw>
                          </a:effectLst>
                          <a:latin typeface="+mj-lt"/>
                          <a:ea typeface="Cambria"/>
                          <a:cs typeface="Times New Roman"/>
                        </a:rPr>
                        <a:t>Advantages</a:t>
                      </a:r>
                    </a:p>
                  </a:txBody>
                  <a:tcPr marL="0" marR="0" marT="0" marB="0">
                    <a:solidFill>
                      <a:srgbClr val="00005C"/>
                    </a:solidFill>
                  </a:tcPr>
                </a:tc>
                <a:tc>
                  <a:txBody>
                    <a:bodyPr/>
                    <a:lstStyle/>
                    <a:p>
                      <a:pPr marL="0" marR="0" algn="ctr" fontAlgn="base">
                        <a:spcBef>
                          <a:spcPts val="0"/>
                        </a:spcBef>
                        <a:spcAft>
                          <a:spcPts val="0"/>
                        </a:spcAft>
                      </a:pPr>
                      <a:r>
                        <a:rPr lang="en-US" sz="2200" dirty="0">
                          <a:solidFill>
                            <a:schemeClr val="bg1"/>
                          </a:solidFill>
                          <a:effectLst>
                            <a:outerShdw blurRad="38100" dist="38100" dir="2700000" algn="tl">
                              <a:srgbClr val="000000">
                                <a:alpha val="43137"/>
                              </a:srgbClr>
                            </a:outerShdw>
                          </a:effectLst>
                          <a:latin typeface="+mj-lt"/>
                          <a:ea typeface="Cambria"/>
                          <a:cs typeface="Times New Roman"/>
                        </a:rPr>
                        <a:t>Disadvantages</a:t>
                      </a:r>
                    </a:p>
                  </a:txBody>
                  <a:tcPr marL="0" marR="0" marT="0" marB="0">
                    <a:solidFill>
                      <a:srgbClr val="00005C"/>
                    </a:solidFill>
                  </a:tcPr>
                </a:tc>
                <a:extLst>
                  <a:ext uri="{0D108BD9-81ED-4DB2-BD59-A6C34878D82A}">
                    <a16:rowId xmlns:a16="http://schemas.microsoft.com/office/drawing/2014/main" val="10000"/>
                  </a:ext>
                </a:extLst>
              </a:tr>
              <a:tr h="900525">
                <a:tc>
                  <a:txBody>
                    <a:bodyPr/>
                    <a:lstStyle/>
                    <a:p>
                      <a:r>
                        <a:rPr lang="en-US" b="1" dirty="0">
                          <a:solidFill>
                            <a:srgbClr val="7F7F7F"/>
                          </a:solidFill>
                        </a:rPr>
                        <a:t>Amylin mimetics</a:t>
                      </a:r>
                    </a:p>
                  </a:txBody>
                  <a:tcPr marL="121920" marR="121920"/>
                </a:tc>
                <a:tc>
                  <a:txBody>
                    <a:bodyPr/>
                    <a:lstStyle/>
                    <a:p>
                      <a:pPr>
                        <a:buFont typeface="Arial"/>
                        <a:buChar char="•"/>
                      </a:pPr>
                      <a:r>
                        <a:rPr lang="en-US" dirty="0">
                          <a:solidFill>
                            <a:srgbClr val="7F7F7F"/>
                          </a:solidFill>
                        </a:rPr>
                        <a:t> Activates amylin</a:t>
                      </a:r>
                      <a:r>
                        <a:rPr lang="en-US" baseline="0" dirty="0">
                          <a:solidFill>
                            <a:srgbClr val="7F7F7F"/>
                          </a:solidFill>
                        </a:rPr>
                        <a:t> receptor</a:t>
                      </a:r>
                      <a:endParaRPr lang="en-US" dirty="0">
                        <a:solidFill>
                          <a:srgbClr val="7F7F7F"/>
                        </a:solidFill>
                      </a:endParaRPr>
                    </a:p>
                    <a:p>
                      <a:pPr>
                        <a:buFont typeface="Arial"/>
                        <a:buChar char="•"/>
                      </a:pPr>
                      <a:r>
                        <a:rPr lang="en-US" dirty="0">
                          <a:solidFill>
                            <a:srgbClr val="7F7F7F"/>
                          </a:solidFill>
                        </a:rPr>
                        <a:t> </a:t>
                      </a:r>
                      <a:r>
                        <a:rPr lang="en-US" sz="1800" b="1" kern="1200" dirty="0">
                          <a:solidFill>
                            <a:srgbClr val="7F7F7F"/>
                          </a:solidFill>
                          <a:latin typeface="+mn-lt"/>
                          <a:ea typeface="+mn-ea"/>
                          <a:cs typeface="+mn-cs"/>
                          <a:sym typeface="Symbol"/>
                        </a:rPr>
                        <a:t> </a:t>
                      </a:r>
                      <a:r>
                        <a:rPr lang="en-US" sz="1800" b="0" kern="1200" dirty="0">
                          <a:solidFill>
                            <a:srgbClr val="7F7F7F"/>
                          </a:solidFill>
                          <a:latin typeface="+mn-lt"/>
                          <a:ea typeface="+mn-ea"/>
                          <a:cs typeface="+mn-cs"/>
                          <a:sym typeface="Symbol"/>
                        </a:rPr>
                        <a:t>glucagon</a:t>
                      </a:r>
                    </a:p>
                    <a:p>
                      <a:pPr>
                        <a:buFont typeface="Arial"/>
                        <a:buChar char="•"/>
                      </a:pPr>
                      <a:r>
                        <a:rPr lang="en-US" sz="1800" b="0" kern="1200" baseline="0" dirty="0">
                          <a:solidFill>
                            <a:srgbClr val="7F7F7F"/>
                          </a:solidFill>
                          <a:latin typeface="+mn-lt"/>
                          <a:ea typeface="+mn-ea"/>
                          <a:cs typeface="+mn-cs"/>
                          <a:sym typeface="Symbol"/>
                        </a:rPr>
                        <a:t> </a:t>
                      </a:r>
                      <a:r>
                        <a:rPr lang="en-US" sz="1800" b="1" kern="1200" dirty="0">
                          <a:solidFill>
                            <a:srgbClr val="7F7F7F"/>
                          </a:solidFill>
                          <a:latin typeface="+mn-lt"/>
                          <a:ea typeface="+mn-ea"/>
                          <a:cs typeface="+mn-cs"/>
                          <a:sym typeface="Symbol"/>
                        </a:rPr>
                        <a:t> </a:t>
                      </a:r>
                      <a:r>
                        <a:rPr lang="en-US" sz="1800" b="0" kern="1200" baseline="0" dirty="0">
                          <a:solidFill>
                            <a:srgbClr val="7F7F7F"/>
                          </a:solidFill>
                          <a:latin typeface="+mn-lt"/>
                          <a:ea typeface="+mn-ea"/>
                          <a:cs typeface="+mn-cs"/>
                          <a:sym typeface="Symbol"/>
                        </a:rPr>
                        <a:t>gastric emptying</a:t>
                      </a:r>
                    </a:p>
                    <a:p>
                      <a:pPr>
                        <a:buFont typeface="Arial"/>
                        <a:buChar char="•"/>
                      </a:pPr>
                      <a:r>
                        <a:rPr lang="en-US" sz="1800" b="0" kern="1200" baseline="0" dirty="0">
                          <a:solidFill>
                            <a:srgbClr val="7F7F7F"/>
                          </a:solidFill>
                          <a:latin typeface="+mn-lt"/>
                          <a:ea typeface="+mn-ea"/>
                          <a:cs typeface="+mn-cs"/>
                          <a:sym typeface="Symbol"/>
                        </a:rPr>
                        <a:t> </a:t>
                      </a:r>
                      <a:r>
                        <a:rPr lang="en-US" sz="1800" b="1" kern="1200" dirty="0">
                          <a:solidFill>
                            <a:srgbClr val="7F7F7F"/>
                          </a:solidFill>
                          <a:latin typeface="+mn-lt"/>
                          <a:ea typeface="+mn-ea"/>
                          <a:cs typeface="+mn-cs"/>
                          <a:sym typeface="Symbol"/>
                        </a:rPr>
                        <a:t> </a:t>
                      </a:r>
                      <a:r>
                        <a:rPr lang="en-US" sz="1800" b="0" kern="1200" baseline="0" dirty="0">
                          <a:solidFill>
                            <a:srgbClr val="7F7F7F"/>
                          </a:solidFill>
                          <a:latin typeface="+mn-lt"/>
                          <a:ea typeface="+mn-ea"/>
                          <a:cs typeface="+mn-cs"/>
                          <a:sym typeface="Symbol"/>
                        </a:rPr>
                        <a:t>satiety</a:t>
                      </a:r>
                      <a:endParaRPr lang="en-US" b="0" dirty="0">
                        <a:solidFill>
                          <a:srgbClr val="7F7F7F"/>
                        </a:solidFill>
                      </a:endParaRPr>
                    </a:p>
                  </a:txBody>
                  <a:tcPr marL="121920" marR="121920"/>
                </a:tc>
                <a:tc>
                  <a:txBody>
                    <a:bodyPr/>
                    <a:lstStyle/>
                    <a:p>
                      <a:pPr>
                        <a:buFont typeface="Arial"/>
                        <a:buChar char="•"/>
                      </a:pPr>
                      <a:r>
                        <a:rPr lang="en-US" dirty="0">
                          <a:solidFill>
                            <a:srgbClr val="7F7F7F"/>
                          </a:solidFill>
                        </a:rPr>
                        <a:t> </a:t>
                      </a:r>
                      <a:r>
                        <a:rPr lang="en-US" sz="1800" b="1" kern="1200" dirty="0">
                          <a:solidFill>
                            <a:srgbClr val="7F7F7F"/>
                          </a:solidFill>
                          <a:latin typeface="+mn-lt"/>
                          <a:ea typeface="+mn-ea"/>
                          <a:cs typeface="+mn-cs"/>
                          <a:sym typeface="Symbol"/>
                        </a:rPr>
                        <a:t> </a:t>
                      </a:r>
                      <a:r>
                        <a:rPr lang="en-US" dirty="0">
                          <a:solidFill>
                            <a:srgbClr val="7F7F7F"/>
                          </a:solidFill>
                        </a:rPr>
                        <a:t>Weight</a:t>
                      </a:r>
                    </a:p>
                    <a:p>
                      <a:pPr>
                        <a:buFont typeface="Arial"/>
                        <a:buChar char="•"/>
                      </a:pPr>
                      <a:r>
                        <a:rPr lang="en-US" sz="1800" b="0" kern="1200" baseline="0" dirty="0">
                          <a:solidFill>
                            <a:srgbClr val="7F7F7F"/>
                          </a:solidFill>
                          <a:latin typeface="+mn-lt"/>
                          <a:ea typeface="+mn-ea"/>
                          <a:cs typeface="+mn-cs"/>
                          <a:sym typeface="Symbol"/>
                        </a:rPr>
                        <a:t> </a:t>
                      </a:r>
                      <a:r>
                        <a:rPr lang="en-US" sz="1800" b="1" kern="1200" dirty="0">
                          <a:solidFill>
                            <a:srgbClr val="7F7F7F"/>
                          </a:solidFill>
                          <a:latin typeface="+mn-lt"/>
                          <a:ea typeface="+mn-ea"/>
                          <a:cs typeface="+mn-cs"/>
                          <a:sym typeface="Symbol"/>
                        </a:rPr>
                        <a:t></a:t>
                      </a:r>
                      <a:r>
                        <a:rPr lang="en-US" sz="1800" b="0" kern="1200" dirty="0">
                          <a:solidFill>
                            <a:srgbClr val="7F7F7F"/>
                          </a:solidFill>
                          <a:latin typeface="+mn-lt"/>
                          <a:ea typeface="+mn-ea"/>
                          <a:cs typeface="+mn-cs"/>
                          <a:sym typeface="Symbol"/>
                        </a:rPr>
                        <a:t> Postprandial glucose</a:t>
                      </a:r>
                    </a:p>
                  </a:txBody>
                  <a:tcPr marL="121920" marR="121920"/>
                </a:tc>
                <a:tc>
                  <a:txBody>
                    <a:bodyPr/>
                    <a:lstStyle/>
                    <a:p>
                      <a:pPr>
                        <a:buFont typeface="Arial"/>
                        <a:buChar char="•"/>
                      </a:pPr>
                      <a:r>
                        <a:rPr lang="en-US" dirty="0">
                          <a:solidFill>
                            <a:srgbClr val="7F7F7F"/>
                          </a:solidFill>
                        </a:rPr>
                        <a:t> Gastrointestinal</a:t>
                      </a:r>
                      <a:endParaRPr lang="en-US" baseline="0" dirty="0">
                        <a:solidFill>
                          <a:srgbClr val="7F7F7F"/>
                        </a:solidFill>
                      </a:endParaRPr>
                    </a:p>
                    <a:p>
                      <a:pPr>
                        <a:buFont typeface="Arial"/>
                        <a:buChar char="•"/>
                      </a:pPr>
                      <a:r>
                        <a:rPr lang="en-US" baseline="0" dirty="0">
                          <a:solidFill>
                            <a:srgbClr val="7F7F7F"/>
                          </a:solidFill>
                        </a:rPr>
                        <a:t> </a:t>
                      </a:r>
                      <a:r>
                        <a:rPr lang="en-US" dirty="0">
                          <a:solidFill>
                            <a:srgbClr val="7F7F7F"/>
                          </a:solidFill>
                        </a:rPr>
                        <a:t>Modest</a:t>
                      </a:r>
                      <a:r>
                        <a:rPr lang="en-US" baseline="0" dirty="0">
                          <a:solidFill>
                            <a:srgbClr val="7F7F7F"/>
                          </a:solidFill>
                        </a:rPr>
                        <a:t> </a:t>
                      </a:r>
                      <a:r>
                        <a:rPr lang="en-US" sz="1800" b="1" kern="1200" dirty="0">
                          <a:solidFill>
                            <a:srgbClr val="7F7F7F"/>
                          </a:solidFill>
                          <a:latin typeface="+mn-lt"/>
                          <a:ea typeface="+mn-ea"/>
                          <a:cs typeface="+mn-cs"/>
                          <a:sym typeface="Symbol"/>
                        </a:rPr>
                        <a:t> </a:t>
                      </a:r>
                      <a:r>
                        <a:rPr lang="en-US" baseline="0" dirty="0">
                          <a:solidFill>
                            <a:srgbClr val="7F7F7F"/>
                          </a:solidFill>
                        </a:rPr>
                        <a:t>A1c</a:t>
                      </a:r>
                      <a:r>
                        <a:rPr lang="en-US" dirty="0">
                          <a:solidFill>
                            <a:srgbClr val="7F7F7F"/>
                          </a:solidFill>
                        </a:rPr>
                        <a:t> </a:t>
                      </a:r>
                      <a:endParaRPr lang="en-US" baseline="0" dirty="0">
                        <a:solidFill>
                          <a:srgbClr val="7F7F7F"/>
                        </a:solidFill>
                      </a:endParaRPr>
                    </a:p>
                    <a:p>
                      <a:pPr>
                        <a:buFont typeface="Arial"/>
                        <a:buChar char="•"/>
                      </a:pPr>
                      <a:r>
                        <a:rPr lang="en-US" baseline="0" dirty="0">
                          <a:solidFill>
                            <a:srgbClr val="7F7F7F"/>
                          </a:solidFill>
                        </a:rPr>
                        <a:t>Hypoglycemia</a:t>
                      </a:r>
                    </a:p>
                    <a:p>
                      <a:pPr>
                        <a:buFont typeface="Arial"/>
                        <a:buChar char="•"/>
                      </a:pPr>
                      <a:r>
                        <a:rPr lang="en-US" baseline="0" dirty="0">
                          <a:solidFill>
                            <a:srgbClr val="7F7F7F"/>
                          </a:solidFill>
                        </a:rPr>
                        <a:t> </a:t>
                      </a:r>
                      <a:r>
                        <a:rPr lang="en-US" dirty="0">
                          <a:solidFill>
                            <a:srgbClr val="7F7F7F"/>
                          </a:solidFill>
                        </a:rPr>
                        <a:t>Dosing frequency</a:t>
                      </a:r>
                    </a:p>
                    <a:p>
                      <a:pPr>
                        <a:buFont typeface="Arial"/>
                        <a:buChar char="•"/>
                      </a:pPr>
                      <a:r>
                        <a:rPr lang="en-US" dirty="0">
                          <a:solidFill>
                            <a:srgbClr val="7F7F7F"/>
                          </a:solidFill>
                        </a:rPr>
                        <a:t> Training</a:t>
                      </a:r>
                      <a:r>
                        <a:rPr lang="en-US" baseline="0" dirty="0">
                          <a:solidFill>
                            <a:srgbClr val="7F7F7F"/>
                          </a:solidFill>
                        </a:rPr>
                        <a:t> requirements</a:t>
                      </a:r>
                    </a:p>
                    <a:p>
                      <a:pPr>
                        <a:buFont typeface="Arial"/>
                        <a:buChar char="•"/>
                      </a:pPr>
                      <a:r>
                        <a:rPr lang="en-US" baseline="0" dirty="0">
                          <a:solidFill>
                            <a:srgbClr val="7F7F7F"/>
                          </a:solidFill>
                        </a:rPr>
                        <a:t>Cost</a:t>
                      </a:r>
                      <a:endParaRPr lang="en-US" dirty="0">
                        <a:solidFill>
                          <a:srgbClr val="7F7F7F"/>
                        </a:solidFill>
                      </a:endParaRPr>
                    </a:p>
                  </a:txBody>
                  <a:tcPr marL="121920" marR="121920"/>
                </a:tc>
                <a:extLst>
                  <a:ext uri="{0D108BD9-81ED-4DB2-BD59-A6C34878D82A}">
                    <a16:rowId xmlns:a16="http://schemas.microsoft.com/office/drawing/2014/main" val="10001"/>
                  </a:ext>
                </a:extLst>
              </a:tr>
              <a:tr h="900525">
                <a:tc>
                  <a:txBody>
                    <a:bodyPr/>
                    <a:lstStyle/>
                    <a:p>
                      <a:r>
                        <a:rPr lang="en-US" b="1" dirty="0"/>
                        <a:t>GLP-1, GIP receptor agonists</a:t>
                      </a:r>
                    </a:p>
                  </a:txBody>
                  <a:tcPr marL="121920" marR="121920"/>
                </a:tc>
                <a:tc>
                  <a:txBody>
                    <a:bodyPr/>
                    <a:lstStyle/>
                    <a:p>
                      <a:pPr>
                        <a:buFont typeface="Arial"/>
                        <a:buChar char="•"/>
                      </a:pPr>
                      <a:r>
                        <a:rPr lang="en-US" dirty="0"/>
                        <a:t> Activates GLP-1 R</a:t>
                      </a:r>
                    </a:p>
                    <a:p>
                      <a:pPr>
                        <a:buFont typeface="Arial"/>
                        <a:buChar char="•"/>
                      </a:pPr>
                      <a:r>
                        <a:rPr lang="en-US" dirty="0"/>
                        <a:t> </a:t>
                      </a:r>
                      <a:r>
                        <a:rPr lang="en-US" sz="1800" b="1" kern="1200" dirty="0">
                          <a:solidFill>
                            <a:schemeClr val="dk1"/>
                          </a:solidFill>
                          <a:latin typeface="+mn-lt"/>
                          <a:ea typeface="+mn-ea"/>
                          <a:cs typeface="+mn-cs"/>
                          <a:sym typeface="Symbol"/>
                        </a:rPr>
                        <a:t></a:t>
                      </a:r>
                      <a:r>
                        <a:rPr lang="en-US" b="1" dirty="0"/>
                        <a:t> </a:t>
                      </a:r>
                      <a:r>
                        <a:rPr lang="en-US" dirty="0"/>
                        <a:t>Insulin,</a:t>
                      </a:r>
                      <a:r>
                        <a:rPr lang="en-US" baseline="0" dirty="0"/>
                        <a:t> </a:t>
                      </a:r>
                      <a:r>
                        <a:rPr lang="en-US" sz="1800" b="1" kern="1200" dirty="0">
                          <a:solidFill>
                            <a:schemeClr val="dk1"/>
                          </a:solidFill>
                          <a:latin typeface="+mn-lt"/>
                          <a:ea typeface="+mn-ea"/>
                          <a:cs typeface="+mn-cs"/>
                          <a:sym typeface="Symbol"/>
                        </a:rPr>
                        <a:t> </a:t>
                      </a:r>
                      <a:r>
                        <a:rPr lang="en-US" sz="1800" b="0" kern="1200" dirty="0">
                          <a:solidFill>
                            <a:schemeClr val="dk1"/>
                          </a:solidFill>
                          <a:latin typeface="+mn-lt"/>
                          <a:ea typeface="+mn-ea"/>
                          <a:cs typeface="+mn-cs"/>
                          <a:sym typeface="Symbol"/>
                        </a:rPr>
                        <a:t>glucagon</a:t>
                      </a:r>
                      <a:endParaRPr lang="en-US" sz="1800" b="0" kern="1200" baseline="0" dirty="0">
                        <a:solidFill>
                          <a:schemeClr val="dk1"/>
                        </a:solidFill>
                        <a:latin typeface="+mn-lt"/>
                        <a:ea typeface="+mn-ea"/>
                        <a:cs typeface="+mn-cs"/>
                        <a:sym typeface="Symbol"/>
                      </a:endParaRPr>
                    </a:p>
                    <a:p>
                      <a:pPr>
                        <a:buFont typeface="Arial"/>
                        <a:buChar char="•"/>
                      </a:pPr>
                      <a:r>
                        <a:rPr lang="en-US" sz="1800" b="0" kern="1200" baseline="0" dirty="0">
                          <a:solidFill>
                            <a:schemeClr val="dk1"/>
                          </a:solidFill>
                          <a:latin typeface="+mn-lt"/>
                          <a:ea typeface="+mn-ea"/>
                          <a:cs typeface="+mn-cs"/>
                          <a:sym typeface="Symbol"/>
                        </a:rPr>
                        <a:t> </a:t>
                      </a:r>
                      <a:r>
                        <a:rPr lang="en-US" sz="1800" b="1" kern="1200" dirty="0">
                          <a:solidFill>
                            <a:schemeClr val="dk1"/>
                          </a:solidFill>
                          <a:latin typeface="+mn-lt"/>
                          <a:ea typeface="+mn-ea"/>
                          <a:cs typeface="+mn-cs"/>
                          <a:sym typeface="Symbol"/>
                        </a:rPr>
                        <a:t> </a:t>
                      </a:r>
                      <a:r>
                        <a:rPr lang="en-US" sz="1800" b="0" kern="1200" baseline="0" dirty="0">
                          <a:solidFill>
                            <a:schemeClr val="dk1"/>
                          </a:solidFill>
                          <a:latin typeface="+mn-lt"/>
                          <a:ea typeface="+mn-ea"/>
                          <a:cs typeface="+mn-cs"/>
                          <a:sym typeface="Symbol"/>
                        </a:rPr>
                        <a:t>gastric emptying</a:t>
                      </a:r>
                    </a:p>
                    <a:p>
                      <a:pPr>
                        <a:buFont typeface="Arial"/>
                        <a:buChar char="•"/>
                      </a:pPr>
                      <a:r>
                        <a:rPr lang="en-US" sz="1800" b="0" kern="1200" baseline="0" dirty="0">
                          <a:solidFill>
                            <a:schemeClr val="dk1"/>
                          </a:solidFill>
                          <a:latin typeface="+mn-lt"/>
                          <a:ea typeface="+mn-ea"/>
                          <a:cs typeface="+mn-cs"/>
                          <a:sym typeface="Symbol"/>
                        </a:rPr>
                        <a:t> </a:t>
                      </a:r>
                      <a:r>
                        <a:rPr lang="en-US" sz="1800" b="1" kern="1200" dirty="0">
                          <a:solidFill>
                            <a:schemeClr val="dk1"/>
                          </a:solidFill>
                          <a:latin typeface="+mn-lt"/>
                          <a:ea typeface="+mn-ea"/>
                          <a:cs typeface="+mn-cs"/>
                          <a:sym typeface="Symbol"/>
                        </a:rPr>
                        <a:t> </a:t>
                      </a:r>
                      <a:r>
                        <a:rPr lang="en-US" sz="1800" b="0" kern="1200" baseline="0" dirty="0">
                          <a:solidFill>
                            <a:schemeClr val="dk1"/>
                          </a:solidFill>
                          <a:latin typeface="+mn-lt"/>
                          <a:ea typeface="+mn-ea"/>
                          <a:cs typeface="+mn-cs"/>
                          <a:sym typeface="Symbol"/>
                        </a:rPr>
                        <a:t>satiety</a:t>
                      </a:r>
                      <a:endParaRPr lang="en-US" b="0" dirty="0"/>
                    </a:p>
                  </a:txBody>
                  <a:tcPr marL="121920" marR="121920"/>
                </a:tc>
                <a:tc>
                  <a:txBody>
                    <a:bodyPr/>
                    <a:lstStyle/>
                    <a:p>
                      <a:pPr>
                        <a:buFont typeface="Arial"/>
                        <a:buChar char="•"/>
                      </a:pPr>
                      <a:r>
                        <a:rPr lang="en-US" dirty="0"/>
                        <a:t> </a:t>
                      </a:r>
                      <a:r>
                        <a:rPr lang="en-US" sz="1800" b="1" kern="1200" dirty="0">
                          <a:solidFill>
                            <a:schemeClr val="dk1"/>
                          </a:solidFill>
                          <a:latin typeface="+mn-lt"/>
                          <a:ea typeface="+mn-ea"/>
                          <a:cs typeface="+mn-cs"/>
                          <a:sym typeface="Symbol"/>
                        </a:rPr>
                        <a:t> </a:t>
                      </a:r>
                      <a:r>
                        <a:rPr lang="en-US" dirty="0"/>
                        <a:t>Weight</a:t>
                      </a:r>
                    </a:p>
                    <a:p>
                      <a:pPr>
                        <a:buFont typeface="Arial"/>
                        <a:buChar char="•"/>
                      </a:pPr>
                      <a:r>
                        <a:rPr lang="en-US" dirty="0"/>
                        <a:t> No hypoglycemia</a:t>
                      </a:r>
                    </a:p>
                    <a:p>
                      <a:pPr>
                        <a:buFont typeface="Arial"/>
                        <a:buChar char="•"/>
                      </a:pPr>
                      <a:r>
                        <a:rPr lang="en-US" dirty="0"/>
                        <a:t> </a:t>
                      </a:r>
                      <a:r>
                        <a:rPr lang="en-US" sz="1800" b="1" kern="1200" dirty="0">
                          <a:solidFill>
                            <a:schemeClr val="tx1"/>
                          </a:solidFill>
                          <a:latin typeface="+mn-lt"/>
                          <a:ea typeface="+mn-ea"/>
                          <a:cs typeface="+mn-cs"/>
                          <a:sym typeface="Symbol"/>
                        </a:rPr>
                        <a:t></a:t>
                      </a:r>
                      <a:r>
                        <a:rPr lang="en-US" sz="1800" b="0" kern="1200" dirty="0">
                          <a:solidFill>
                            <a:schemeClr val="tx1"/>
                          </a:solidFill>
                          <a:latin typeface="+mn-lt"/>
                          <a:ea typeface="+mn-ea"/>
                          <a:cs typeface="+mn-cs"/>
                          <a:sym typeface="Symbol"/>
                        </a:rPr>
                        <a:t> Postprandial glucose</a:t>
                      </a:r>
                    </a:p>
                    <a:p>
                      <a:pPr>
                        <a:buFont typeface="Arial"/>
                        <a:buChar char="•"/>
                      </a:pPr>
                      <a:r>
                        <a:rPr lang="en-US" dirty="0"/>
                        <a:t> </a:t>
                      </a:r>
                      <a:r>
                        <a:rPr lang="en-US" sz="1800" b="0" kern="1200" dirty="0">
                          <a:solidFill>
                            <a:schemeClr val="dk1"/>
                          </a:solidFill>
                          <a:latin typeface="+mn-lt"/>
                          <a:ea typeface="+mn-ea"/>
                          <a:cs typeface="+mn-cs"/>
                          <a:sym typeface="Symbol"/>
                        </a:rPr>
                        <a:t></a:t>
                      </a:r>
                      <a:r>
                        <a:rPr lang="en-US" dirty="0"/>
                        <a:t> Some CV risk factors</a:t>
                      </a:r>
                    </a:p>
                  </a:txBody>
                  <a:tcPr marL="121920" marR="121920"/>
                </a:tc>
                <a:tc>
                  <a:txBody>
                    <a:bodyPr/>
                    <a:lstStyle/>
                    <a:p>
                      <a:pPr>
                        <a:buFont typeface="Arial"/>
                        <a:buChar char="•"/>
                      </a:pPr>
                      <a:r>
                        <a:rPr lang="en-US" dirty="0"/>
                        <a:t> Gastrointestinal</a:t>
                      </a:r>
                    </a:p>
                    <a:p>
                      <a:pPr>
                        <a:buFont typeface="Arial"/>
                        <a:buChar char="•"/>
                      </a:pPr>
                      <a:r>
                        <a:rPr lang="en-US" dirty="0"/>
                        <a:t> ? Pancreatitis</a:t>
                      </a:r>
                    </a:p>
                    <a:p>
                      <a:pPr>
                        <a:buFont typeface="Arial"/>
                        <a:buChar char="•"/>
                      </a:pPr>
                      <a:r>
                        <a:rPr lang="en-US" dirty="0"/>
                        <a:t>Medullary</a:t>
                      </a:r>
                      <a:r>
                        <a:rPr lang="en-US" baseline="0" dirty="0"/>
                        <a:t> ca (rodents)</a:t>
                      </a:r>
                    </a:p>
                    <a:p>
                      <a:pPr>
                        <a:buFont typeface="Arial"/>
                        <a:buChar char="•"/>
                      </a:pPr>
                      <a:r>
                        <a:rPr lang="en-US" baseline="0" dirty="0"/>
                        <a:t>Training requirements</a:t>
                      </a:r>
                    </a:p>
                    <a:p>
                      <a:pPr>
                        <a:buFont typeface="Arial"/>
                        <a:buChar char="•"/>
                      </a:pPr>
                      <a:r>
                        <a:rPr lang="en-US" baseline="0" dirty="0"/>
                        <a:t>Cost</a:t>
                      </a:r>
                      <a:endParaRPr lang="en-US" dirty="0"/>
                    </a:p>
                  </a:txBody>
                  <a:tcPr marL="121920" marR="121920"/>
                </a:tc>
                <a:extLst>
                  <a:ext uri="{0D108BD9-81ED-4DB2-BD59-A6C34878D82A}">
                    <a16:rowId xmlns:a16="http://schemas.microsoft.com/office/drawing/2014/main" val="10002"/>
                  </a:ext>
                </a:extLst>
              </a:tr>
              <a:tr h="1446086">
                <a:tc>
                  <a:txBody>
                    <a:bodyPr/>
                    <a:lstStyle/>
                    <a:p>
                      <a:r>
                        <a:rPr lang="en-US" b="1" dirty="0"/>
                        <a:t>Insulin – daily injections/ pump</a:t>
                      </a:r>
                    </a:p>
                  </a:txBody>
                  <a:tcPr marL="121920" marR="121920"/>
                </a:tc>
                <a:tc>
                  <a:txBody>
                    <a:bodyPr/>
                    <a:lstStyle/>
                    <a:p>
                      <a:pPr>
                        <a:buFont typeface="Arial"/>
                        <a:buChar char="•"/>
                      </a:pPr>
                      <a:r>
                        <a:rPr lang="en-US" dirty="0"/>
                        <a:t> Activates</a:t>
                      </a:r>
                      <a:r>
                        <a:rPr lang="en-US" baseline="0" dirty="0"/>
                        <a:t> insulin receptor</a:t>
                      </a:r>
                    </a:p>
                    <a:p>
                      <a:pPr>
                        <a:buFont typeface="Arial"/>
                        <a:buChar char="•"/>
                      </a:pPr>
                      <a:r>
                        <a:rPr lang="en-US" baseline="0" dirty="0"/>
                        <a:t> Myriad</a:t>
                      </a:r>
                    </a:p>
                    <a:p>
                      <a:pPr>
                        <a:buFont typeface="Arial"/>
                        <a:buNone/>
                      </a:pPr>
                      <a:endParaRPr lang="en-US" baseline="0" dirty="0"/>
                    </a:p>
                  </a:txBody>
                  <a:tcPr marL="121920" marR="121920"/>
                </a:tc>
                <a:tc>
                  <a:txBody>
                    <a:bodyPr/>
                    <a:lstStyle/>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t> Universally</a:t>
                      </a:r>
                      <a:r>
                        <a:rPr lang="en-US" baseline="0" dirty="0"/>
                        <a:t> effective</a:t>
                      </a:r>
                      <a:endParaRPr lang="en-US" dirty="0"/>
                    </a:p>
                    <a:p>
                      <a:pPr>
                        <a:buFont typeface="Arial"/>
                        <a:buChar char="•"/>
                      </a:pPr>
                      <a:r>
                        <a:rPr lang="en-US" dirty="0"/>
                        <a:t> Unlimited</a:t>
                      </a:r>
                      <a:r>
                        <a:rPr lang="en-US" baseline="0" dirty="0"/>
                        <a:t> efficacy</a:t>
                      </a:r>
                    </a:p>
                    <a:p>
                      <a:pPr>
                        <a:buFont typeface="Arial"/>
                        <a:buChar char="•"/>
                      </a:pPr>
                      <a:r>
                        <a:rPr lang="en-US" baseline="0" dirty="0"/>
                        <a:t> </a:t>
                      </a:r>
                      <a:r>
                        <a:rPr lang="en-US" sz="1800" b="1" kern="1200" dirty="0">
                          <a:solidFill>
                            <a:schemeClr val="dk1"/>
                          </a:solidFill>
                          <a:latin typeface="+mn-lt"/>
                          <a:ea typeface="+mn-ea"/>
                          <a:cs typeface="+mn-cs"/>
                          <a:sym typeface="Symbol"/>
                        </a:rPr>
                        <a:t> </a:t>
                      </a:r>
                      <a:r>
                        <a:rPr lang="en-US" dirty="0"/>
                        <a:t>Microvascular risk</a:t>
                      </a:r>
                    </a:p>
                  </a:txBody>
                  <a:tcPr marL="121920" marR="121920"/>
                </a:tc>
                <a:tc>
                  <a:txBody>
                    <a:bodyPr/>
                    <a:lstStyle/>
                    <a:p>
                      <a:pPr>
                        <a:buFont typeface="Arial"/>
                        <a:buChar char="•"/>
                      </a:pPr>
                      <a:r>
                        <a:rPr lang="en-US" dirty="0"/>
                        <a:t> Hypoglycemia</a:t>
                      </a:r>
                    </a:p>
                    <a:p>
                      <a:pPr>
                        <a:buFont typeface="Arial"/>
                        <a:buChar char="•"/>
                      </a:pPr>
                      <a:r>
                        <a:rPr lang="en-US" dirty="0"/>
                        <a:t> Weight</a:t>
                      </a:r>
                      <a:r>
                        <a:rPr lang="en-US" baseline="0" dirty="0"/>
                        <a:t> gain</a:t>
                      </a:r>
                    </a:p>
                    <a:p>
                      <a:pPr>
                        <a:buFont typeface="Arial"/>
                        <a:buChar char="•"/>
                      </a:pPr>
                      <a:r>
                        <a:rPr lang="en-US" baseline="0" dirty="0"/>
                        <a:t>Patient reluctance</a:t>
                      </a:r>
                      <a:endParaRPr lang="en-US" dirty="0"/>
                    </a:p>
                    <a:p>
                      <a:pPr>
                        <a:buFont typeface="Arial"/>
                        <a:buChar char="•"/>
                      </a:pPr>
                      <a:r>
                        <a:rPr lang="en-US" baseline="0" dirty="0"/>
                        <a:t> Training requirements</a:t>
                      </a:r>
                    </a:p>
                    <a:p>
                      <a:pPr>
                        <a:buFont typeface="Arial"/>
                        <a:buChar char="•"/>
                      </a:pPr>
                      <a:r>
                        <a:rPr lang="en-US" baseline="0" dirty="0"/>
                        <a:t>Cost – for analogues</a:t>
                      </a:r>
                    </a:p>
                  </a:txBody>
                  <a:tcPr marL="121920" marR="121920"/>
                </a:tc>
                <a:extLst>
                  <a:ext uri="{0D108BD9-81ED-4DB2-BD59-A6C34878D82A}">
                    <a16:rowId xmlns:a16="http://schemas.microsoft.com/office/drawing/2014/main" val="10003"/>
                  </a:ext>
                </a:extLst>
              </a:tr>
            </a:tbl>
          </a:graphicData>
        </a:graphic>
      </p:graphicFrame>
      <p:sp>
        <p:nvSpPr>
          <p:cNvPr id="6" name="TextBox 21"/>
          <p:cNvSpPr txBox="1">
            <a:spLocks noChangeArrowheads="1"/>
          </p:cNvSpPr>
          <p:nvPr/>
        </p:nvSpPr>
        <p:spPr bwMode="auto">
          <a:xfrm>
            <a:off x="7963010" y="6378029"/>
            <a:ext cx="3924190" cy="523212"/>
          </a:xfrm>
          <a:prstGeom prst="rect">
            <a:avLst/>
          </a:prstGeom>
          <a:noFill/>
          <a:ln w="9525">
            <a:noFill/>
            <a:miter lim="800000"/>
            <a:headEnd/>
            <a:tailEnd/>
          </a:ln>
        </p:spPr>
        <p:txBody>
          <a:bodyPr wrap="square" lIns="91431" tIns="45716" rIns="91431" bIns="45716">
            <a:prstTxWarp prst="textNoShape">
              <a:avLst/>
            </a:prstTxWarp>
            <a:spAutoFit/>
          </a:bodyPr>
          <a:lstStyle/>
          <a:p>
            <a:pPr algn="r" fontAlgn="base" hangingPunct="1">
              <a:spcBef>
                <a:spcPct val="0"/>
              </a:spcBef>
              <a:spcAft>
                <a:spcPct val="0"/>
              </a:spcAft>
              <a:defRPr/>
            </a:pPr>
            <a:r>
              <a:rPr lang="en-US" sz="1400" i="1" kern="1200" dirty="0">
                <a:latin typeface="Times"/>
                <a:ea typeface="Times New Roman" charset="0"/>
                <a:cs typeface="Times"/>
              </a:rPr>
              <a:t>Diabetes Care</a:t>
            </a:r>
            <a:r>
              <a:rPr lang="en-US" sz="1400" kern="1200" dirty="0">
                <a:latin typeface="Times"/>
                <a:ea typeface="Times New Roman" charset="0"/>
                <a:cs typeface="Times"/>
              </a:rPr>
              <a:t> 2015;38:140-149; </a:t>
            </a:r>
          </a:p>
          <a:p>
            <a:pPr algn="r" fontAlgn="base" hangingPunct="1">
              <a:spcBef>
                <a:spcPct val="0"/>
              </a:spcBef>
              <a:spcAft>
                <a:spcPct val="0"/>
              </a:spcAft>
              <a:defRPr/>
            </a:pPr>
            <a:r>
              <a:rPr lang="en-US" sz="1400" i="1" kern="1200" dirty="0" err="1">
                <a:latin typeface="Times"/>
                <a:ea typeface="Times New Roman" charset="0"/>
                <a:cs typeface="Times"/>
              </a:rPr>
              <a:t>Diabetologia</a:t>
            </a:r>
            <a:r>
              <a:rPr lang="en-US" sz="1400" kern="1200" dirty="0">
                <a:latin typeface="Times"/>
                <a:ea typeface="Times New Roman" charset="0"/>
                <a:cs typeface="Times"/>
              </a:rPr>
              <a:t> </a:t>
            </a:r>
            <a:r>
              <a:rPr lang="en-US" sz="1400" kern="1200" dirty="0">
                <a:latin typeface="Times New Roman" charset="0"/>
                <a:ea typeface="Times New Roman" charset="0"/>
                <a:cs typeface="Times New Roman" charset="0"/>
              </a:rPr>
              <a:t>2015;58:429-442</a:t>
            </a:r>
          </a:p>
        </p:txBody>
      </p:sp>
    </p:spTree>
    <p:extLst>
      <p:ext uri="{BB962C8B-B14F-4D97-AF65-F5344CB8AC3E}">
        <p14:creationId xmlns:p14="http://schemas.microsoft.com/office/powerpoint/2010/main" val="28567106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BB5D0-60B3-7367-28AC-F7F2E044D006}"/>
              </a:ext>
            </a:extLst>
          </p:cNvPr>
          <p:cNvSpPr>
            <a:spLocks noGrp="1"/>
          </p:cNvSpPr>
          <p:nvPr>
            <p:ph type="title"/>
          </p:nvPr>
        </p:nvSpPr>
        <p:spPr/>
        <p:txBody>
          <a:bodyPr/>
          <a:lstStyle/>
          <a:p>
            <a:r>
              <a:rPr lang="en-US" dirty="0"/>
              <a:t>DM Chronic Complications</a:t>
            </a:r>
          </a:p>
        </p:txBody>
      </p:sp>
      <p:sp>
        <p:nvSpPr>
          <p:cNvPr id="3" name="Content Placeholder 2">
            <a:extLst>
              <a:ext uri="{FF2B5EF4-FFF2-40B4-BE49-F238E27FC236}">
                <a16:creationId xmlns:a16="http://schemas.microsoft.com/office/drawing/2014/main" id="{78479EE9-6102-2BF7-8821-27BD4F0300D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749629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63509-A9B0-ACF8-2B98-51D03264C7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1082D9-021D-6B20-7864-7FA4EA98928E}"/>
              </a:ext>
            </a:extLst>
          </p:cNvPr>
          <p:cNvSpPr>
            <a:spLocks noGrp="1"/>
          </p:cNvSpPr>
          <p:nvPr>
            <p:ph type="title"/>
          </p:nvPr>
        </p:nvSpPr>
        <p:spPr/>
        <p:txBody>
          <a:bodyPr/>
          <a:lstStyle/>
          <a:p>
            <a:endParaRPr lang="en-US"/>
          </a:p>
        </p:txBody>
      </p:sp>
      <p:pic>
        <p:nvPicPr>
          <p:cNvPr id="4" name="Content Placeholder 3" descr="Related image">
            <a:extLst>
              <a:ext uri="{FF2B5EF4-FFF2-40B4-BE49-F238E27FC236}">
                <a16:creationId xmlns:a16="http://schemas.microsoft.com/office/drawing/2014/main" id="{174B4295-CD71-A850-977F-99F1D295D502}"/>
              </a:ext>
            </a:extLst>
          </p:cNvPr>
          <p:cNvPicPr>
            <a:picLocks noGrp="1" noChangeAspect="1"/>
          </p:cNvPicPr>
          <p:nvPr>
            <p:ph idx="1"/>
          </p:nvPr>
        </p:nvPicPr>
        <p:blipFill>
          <a:blip r:embed="rId2"/>
          <a:stretch>
            <a:fillRect/>
          </a:stretch>
        </p:blipFill>
        <p:spPr>
          <a:xfrm>
            <a:off x="1023937" y="688041"/>
            <a:ext cx="6933597" cy="5256353"/>
          </a:xfrm>
        </p:spPr>
      </p:pic>
    </p:spTree>
    <p:extLst>
      <p:ext uri="{BB962C8B-B14F-4D97-AF65-F5344CB8AC3E}">
        <p14:creationId xmlns:p14="http://schemas.microsoft.com/office/powerpoint/2010/main" val="32154204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8815E-F210-F085-30DF-713FD349CA40}"/>
              </a:ext>
            </a:extLst>
          </p:cNvPr>
          <p:cNvSpPr>
            <a:spLocks noGrp="1"/>
          </p:cNvSpPr>
          <p:nvPr>
            <p:ph type="title"/>
          </p:nvPr>
        </p:nvSpPr>
        <p:spPr>
          <a:xfrm>
            <a:off x="654935" y="365125"/>
            <a:ext cx="10698865" cy="1267690"/>
          </a:xfrm>
        </p:spPr>
        <p:txBody>
          <a:bodyPr/>
          <a:lstStyle/>
          <a:p>
            <a:pPr marL="285750" indent="-285750">
              <a:spcBef>
                <a:spcPts val="1000"/>
              </a:spcBef>
              <a:buFont typeface="Arial"/>
              <a:buChar char="•"/>
            </a:pPr>
            <a:r>
              <a:rPr lang="en-US" sz="1800" dirty="0">
                <a:latin typeface="Aptos"/>
              </a:rPr>
              <a:t>Microvascular complications of diabetes mellitus—due to </a:t>
            </a:r>
            <a:r>
              <a:rPr lang="en-US" sz="1800" u="sng" dirty="0">
                <a:latin typeface="Aptos"/>
              </a:rPr>
              <a:t>ischemia</a:t>
            </a:r>
            <a:r>
              <a:rPr lang="en-US" sz="1800" dirty="0">
                <a:latin typeface="Aptos"/>
              </a:rPr>
              <a:t> of vessels supplying </a:t>
            </a:r>
            <a:r>
              <a:rPr lang="en-US" sz="1800" dirty="0" err="1">
                <a:latin typeface="Aptos"/>
              </a:rPr>
              <a:t>endorgans</a:t>
            </a:r>
            <a:endParaRPr lang="en-US" sz="1800" dirty="0">
              <a:latin typeface="Aptos"/>
            </a:endParaRPr>
          </a:p>
          <a:p>
            <a:endParaRPr lang="en-US" dirty="0"/>
          </a:p>
        </p:txBody>
      </p:sp>
      <p:sp>
        <p:nvSpPr>
          <p:cNvPr id="3" name="Content Placeholder 2">
            <a:extLst>
              <a:ext uri="{FF2B5EF4-FFF2-40B4-BE49-F238E27FC236}">
                <a16:creationId xmlns:a16="http://schemas.microsoft.com/office/drawing/2014/main" id="{F408DB7D-DA6B-2A2C-1A05-321C39BA5F3F}"/>
              </a:ext>
            </a:extLst>
          </p:cNvPr>
          <p:cNvSpPr>
            <a:spLocks noGrp="1"/>
          </p:cNvSpPr>
          <p:nvPr>
            <p:ph idx="1"/>
          </p:nvPr>
        </p:nvSpPr>
        <p:spPr/>
        <p:txBody>
          <a:bodyPr vert="horz" lIns="91440" tIns="45720" rIns="91440" bIns="45720" rtlCol="0" anchor="t">
            <a:normAutofit fontScale="70000" lnSpcReduction="20000"/>
          </a:bodyPr>
          <a:lstStyle/>
          <a:p>
            <a:r>
              <a:rPr lang="en-US" dirty="0">
                <a:ea typeface="+mn-lt"/>
                <a:cs typeface="+mn-lt"/>
              </a:rPr>
              <a:t>1. Ophthalmology complications</a:t>
            </a:r>
            <a:endParaRPr lang="en-US" dirty="0"/>
          </a:p>
          <a:p>
            <a:r>
              <a:rPr lang="en-US" dirty="0">
                <a:ea typeface="+mn-lt"/>
                <a:cs typeface="+mn-lt"/>
              </a:rPr>
              <a:t>- Diabetic retinopathy-Type 1 diabetes for more than 5 years and all patients with type 2 diabetes should be referred to an ophthalmologist.</a:t>
            </a:r>
            <a:endParaRPr lang="en-US" dirty="0"/>
          </a:p>
          <a:p>
            <a:r>
              <a:rPr lang="en-US" dirty="0">
                <a:ea typeface="+mn-lt"/>
                <a:cs typeface="+mn-lt"/>
              </a:rPr>
              <a:t>After 15 years 50% show some sign of retinopathy.</a:t>
            </a:r>
            <a:endParaRPr lang="en-US" dirty="0"/>
          </a:p>
          <a:p>
            <a:r>
              <a:rPr lang="en-US" u="sng" dirty="0">
                <a:ea typeface="+mn-lt"/>
                <a:cs typeface="+mn-lt"/>
              </a:rPr>
              <a:t>Non- proliferative / background retinopathy–</a:t>
            </a:r>
            <a:r>
              <a:rPr lang="en-US" dirty="0">
                <a:ea typeface="+mn-lt"/>
                <a:cs typeface="+mn-lt"/>
              </a:rPr>
              <a:t>The capillaries leak proteins,</a:t>
            </a:r>
            <a:endParaRPr lang="en-US" dirty="0"/>
          </a:p>
          <a:p>
            <a:pPr marL="0" indent="0">
              <a:buNone/>
            </a:pPr>
            <a:r>
              <a:rPr lang="en-US" dirty="0">
                <a:ea typeface="+mn-lt"/>
                <a:cs typeface="+mn-lt"/>
              </a:rPr>
              <a:t>lipids and red cells into the retina and when it occurs in the macula it is</a:t>
            </a:r>
            <a:endParaRPr lang="en-US" dirty="0"/>
          </a:p>
          <a:p>
            <a:pPr marL="0" indent="0">
              <a:buNone/>
            </a:pPr>
            <a:r>
              <a:rPr lang="en-US" dirty="0">
                <a:ea typeface="+mn-lt"/>
                <a:cs typeface="+mn-lt"/>
              </a:rPr>
              <a:t>called macular edema and compromises visual acuity.</a:t>
            </a:r>
            <a:endParaRPr lang="en-US" dirty="0"/>
          </a:p>
          <a:p>
            <a:r>
              <a:rPr lang="en-US" dirty="0">
                <a:ea typeface="+mn-lt"/>
                <a:cs typeface="+mn-lt"/>
              </a:rPr>
              <a:t> </a:t>
            </a:r>
            <a:r>
              <a:rPr lang="en-US" u="sng" dirty="0">
                <a:ea typeface="+mn-lt"/>
                <a:cs typeface="+mn-lt"/>
              </a:rPr>
              <a:t>Proliferative retinopathy </a:t>
            </a:r>
            <a:r>
              <a:rPr lang="en-US" dirty="0">
                <a:ea typeface="+mn-lt"/>
                <a:cs typeface="+mn-lt"/>
              </a:rPr>
              <a:t>- this involves a growth of new capillaries and fibrous tissue due to small vessel occlusion causing retinal hypoxia. This stimulates new vessel growth.</a:t>
            </a:r>
            <a:endParaRPr lang="en-US" dirty="0"/>
          </a:p>
          <a:p>
            <a:r>
              <a:rPr lang="en-US" dirty="0">
                <a:ea typeface="+mn-lt"/>
                <a:cs typeface="+mn-lt"/>
              </a:rPr>
              <a:t>Cataracts -Glycosylation of lens proteins and excess of sorbitol from increased glucose accumulation leads to osmotic changes in the lens resulting in fibrosis and sclerosis ( cataract) formation.</a:t>
            </a:r>
            <a:endParaRPr lang="en-US" dirty="0"/>
          </a:p>
          <a:p>
            <a:r>
              <a:rPr lang="en-US" dirty="0">
                <a:ea typeface="+mn-lt"/>
                <a:cs typeface="+mn-lt"/>
              </a:rPr>
              <a:t>Glaucoma – Increased intra ocular pressure, due to new vessel growth at angle of eye( drainage block) + increased fluid leak</a:t>
            </a:r>
            <a:endParaRPr lang="en-US" dirty="0"/>
          </a:p>
        </p:txBody>
      </p:sp>
    </p:spTree>
    <p:extLst>
      <p:ext uri="{BB962C8B-B14F-4D97-AF65-F5344CB8AC3E}">
        <p14:creationId xmlns:p14="http://schemas.microsoft.com/office/powerpoint/2010/main" val="18595407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of a patient with a red line&#10;&#10;AI-generated content may be incorrect.">
            <a:extLst>
              <a:ext uri="{FF2B5EF4-FFF2-40B4-BE49-F238E27FC236}">
                <a16:creationId xmlns:a16="http://schemas.microsoft.com/office/drawing/2014/main" id="{3CF1C6C7-6538-D080-D0EA-CFE3D34DFD07}"/>
              </a:ext>
            </a:extLst>
          </p:cNvPr>
          <p:cNvPicPr>
            <a:picLocks noChangeAspect="1"/>
          </p:cNvPicPr>
          <p:nvPr/>
        </p:nvPicPr>
        <p:blipFill>
          <a:blip r:embed="rId2"/>
          <a:stretch>
            <a:fillRect/>
          </a:stretch>
        </p:blipFill>
        <p:spPr>
          <a:xfrm>
            <a:off x="321609" y="0"/>
            <a:ext cx="4881282" cy="6858000"/>
          </a:xfrm>
          <a:prstGeom prst="rect">
            <a:avLst/>
          </a:prstGeom>
        </p:spPr>
      </p:pic>
      <p:pic>
        <p:nvPicPr>
          <p:cNvPr id="3" name="Picture 2" descr="A close up of a round object&#10;&#10;AI-generated content may be incorrect.">
            <a:extLst>
              <a:ext uri="{FF2B5EF4-FFF2-40B4-BE49-F238E27FC236}">
                <a16:creationId xmlns:a16="http://schemas.microsoft.com/office/drawing/2014/main" id="{5A0B7206-7936-7E6B-A217-C53F046A5E4C}"/>
              </a:ext>
            </a:extLst>
          </p:cNvPr>
          <p:cNvPicPr>
            <a:picLocks noChangeAspect="1"/>
          </p:cNvPicPr>
          <p:nvPr/>
        </p:nvPicPr>
        <p:blipFill>
          <a:blip r:embed="rId3"/>
          <a:stretch>
            <a:fillRect/>
          </a:stretch>
        </p:blipFill>
        <p:spPr>
          <a:xfrm>
            <a:off x="5718922" y="-66675"/>
            <a:ext cx="6145306" cy="6858000"/>
          </a:xfrm>
          <a:prstGeom prst="rect">
            <a:avLst/>
          </a:prstGeom>
        </p:spPr>
      </p:pic>
      <p:sp>
        <p:nvSpPr>
          <p:cNvPr id="4" name="Star: 5 Points 3">
            <a:extLst>
              <a:ext uri="{FF2B5EF4-FFF2-40B4-BE49-F238E27FC236}">
                <a16:creationId xmlns:a16="http://schemas.microsoft.com/office/drawing/2014/main" id="{4066EE44-2AF4-A5B9-60DF-6CC143B205FF}"/>
              </a:ext>
            </a:extLst>
          </p:cNvPr>
          <p:cNvSpPr/>
          <p:nvPr/>
        </p:nvSpPr>
        <p:spPr>
          <a:xfrm>
            <a:off x="11598240" y="299095"/>
            <a:ext cx="347331" cy="834656"/>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72194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6FED8-3FCD-3198-B09D-5551FCD4EC0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8847AC4-11A6-79DC-0166-88214162D018}"/>
              </a:ext>
            </a:extLst>
          </p:cNvPr>
          <p:cNvSpPr>
            <a:spLocks noGrp="1"/>
          </p:cNvSpPr>
          <p:nvPr>
            <p:ph idx="1"/>
          </p:nvPr>
        </p:nvSpPr>
        <p:spPr/>
        <p:txBody>
          <a:bodyPr vert="horz" lIns="91440" tIns="45720" rIns="91440" bIns="45720" rtlCol="0" anchor="t">
            <a:normAutofit/>
          </a:bodyPr>
          <a:lstStyle/>
          <a:p>
            <a:r>
              <a:rPr lang="en-US" sz="1800" dirty="0">
                <a:solidFill>
                  <a:srgbClr val="383636"/>
                </a:solidFill>
                <a:latin typeface="Helvetica Neue"/>
              </a:rPr>
              <a:t>Adults with type 1 diabetes should have an initial dilated and comprehensive eye examination by an ophthalmologist or optometrist within 5 years after the onset of diabetes. </a:t>
            </a:r>
            <a:endParaRPr lang="en-US" sz="1800" b="1">
              <a:solidFill>
                <a:srgbClr val="383636"/>
              </a:solidFill>
              <a:latin typeface="Helvetica Neue"/>
            </a:endParaRPr>
          </a:p>
          <a:p>
            <a:r>
              <a:rPr lang="en-US" sz="1800" dirty="0">
                <a:solidFill>
                  <a:srgbClr val="383636"/>
                </a:solidFill>
                <a:latin typeface="Helvetica Neue"/>
              </a:rPr>
              <a:t>People with type 2 diabetes should have an initial dilated and comprehensive eye examination by an ophthalmologist or optometrist at the time of the diabetes diagnosis. </a:t>
            </a:r>
            <a:endParaRPr lang="en-US" sz="1800"/>
          </a:p>
          <a:p>
            <a:endParaRPr lang="en-US" sz="1800" dirty="0">
              <a:solidFill>
                <a:srgbClr val="383636"/>
              </a:solidFill>
              <a:latin typeface="Helvetica Neue"/>
            </a:endParaRPr>
          </a:p>
          <a:p>
            <a:r>
              <a:rPr lang="en-US" sz="1800" dirty="0">
                <a:solidFill>
                  <a:srgbClr val="383636"/>
                </a:solidFill>
                <a:latin typeface="Helvetica Neue"/>
              </a:rPr>
              <a:t>To reduce the risk of vision loss </a:t>
            </a:r>
          </a:p>
          <a:p>
            <a:r>
              <a:rPr lang="en-US" sz="1800" dirty="0" err="1">
                <a:solidFill>
                  <a:srgbClr val="383636"/>
                </a:solidFill>
                <a:latin typeface="Helvetica Neue"/>
              </a:rPr>
              <a:t>Panretinal</a:t>
            </a:r>
            <a:r>
              <a:rPr lang="en-US" sz="1800" dirty="0">
                <a:solidFill>
                  <a:srgbClr val="383636"/>
                </a:solidFill>
                <a:latin typeface="Helvetica Neue"/>
              </a:rPr>
              <a:t> laser photocoagulation therapy </a:t>
            </a:r>
            <a:endParaRPr lang="en-US" sz="1800">
              <a:solidFill>
                <a:srgbClr val="000000"/>
              </a:solidFill>
              <a:latin typeface="Aptos" panose="020B0004020202020204"/>
            </a:endParaRPr>
          </a:p>
          <a:p>
            <a:r>
              <a:rPr lang="en-US" sz="1800" err="1">
                <a:solidFill>
                  <a:srgbClr val="383636"/>
                </a:solidFill>
                <a:latin typeface="Helvetica Neue"/>
              </a:rPr>
              <a:t>Intravitreous</a:t>
            </a:r>
            <a:r>
              <a:rPr lang="en-US" sz="1800" dirty="0">
                <a:solidFill>
                  <a:srgbClr val="383636"/>
                </a:solidFill>
                <a:latin typeface="Helvetica Neue"/>
              </a:rPr>
              <a:t> injections of anti–vascular endothelial growth factor (anti-VEGF) --</a:t>
            </a:r>
            <a:r>
              <a:rPr lang="en-US" sz="1800" err="1">
                <a:solidFill>
                  <a:srgbClr val="383636"/>
                </a:solidFill>
                <a:latin typeface="Helvetica Neue"/>
              </a:rPr>
              <a:t>esp</a:t>
            </a:r>
            <a:r>
              <a:rPr lang="en-US" sz="1800" dirty="0">
                <a:solidFill>
                  <a:srgbClr val="383636"/>
                </a:solidFill>
                <a:latin typeface="Helvetica Neue"/>
              </a:rPr>
              <a:t> for macular edema</a:t>
            </a:r>
            <a:endParaRPr lang="en-US" sz="1800">
              <a:solidFill>
                <a:srgbClr val="000000"/>
              </a:solidFill>
              <a:latin typeface="Aptos" panose="020B0004020202020204"/>
            </a:endParaRPr>
          </a:p>
          <a:p>
            <a:r>
              <a:rPr lang="en-US" sz="1800" dirty="0">
                <a:solidFill>
                  <a:srgbClr val="383636"/>
                </a:solidFill>
                <a:latin typeface="Helvetica Neue"/>
              </a:rPr>
              <a:t>Macular focal/grid photocoagulation and intravitreal injections of corticosteroid </a:t>
            </a:r>
            <a:endParaRPr lang="en-US" sz="1800"/>
          </a:p>
          <a:p>
            <a:endParaRPr lang="en-US" sz="1200" dirty="0">
              <a:solidFill>
                <a:srgbClr val="383636"/>
              </a:solidFill>
              <a:latin typeface="Helvetica Neue"/>
            </a:endParaRPr>
          </a:p>
          <a:p>
            <a:endParaRPr lang="en-US" dirty="0"/>
          </a:p>
        </p:txBody>
      </p:sp>
    </p:spTree>
    <p:extLst>
      <p:ext uri="{BB962C8B-B14F-4D97-AF65-F5344CB8AC3E}">
        <p14:creationId xmlns:p14="http://schemas.microsoft.com/office/powerpoint/2010/main" val="31041544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0181D-2E69-1B1B-7F42-D72B270438D7}"/>
              </a:ext>
            </a:extLst>
          </p:cNvPr>
          <p:cNvSpPr>
            <a:spLocks noGrp="1"/>
          </p:cNvSpPr>
          <p:nvPr>
            <p:ph type="title"/>
          </p:nvPr>
        </p:nvSpPr>
        <p:spPr/>
        <p:txBody>
          <a:bodyPr/>
          <a:lstStyle/>
          <a:p>
            <a:pPr marL="285750" indent="-285750">
              <a:spcBef>
                <a:spcPts val="1000"/>
              </a:spcBef>
              <a:buFont typeface="Arial"/>
              <a:buChar char="•"/>
            </a:pPr>
            <a:r>
              <a:rPr lang="en-US" sz="2600" dirty="0">
                <a:latin typeface="Aptos"/>
              </a:rPr>
              <a:t>Renal complications</a:t>
            </a:r>
          </a:p>
          <a:p>
            <a:endParaRPr lang="en-US" dirty="0"/>
          </a:p>
        </p:txBody>
      </p:sp>
      <p:sp>
        <p:nvSpPr>
          <p:cNvPr id="3" name="Content Placeholder 2">
            <a:extLst>
              <a:ext uri="{FF2B5EF4-FFF2-40B4-BE49-F238E27FC236}">
                <a16:creationId xmlns:a16="http://schemas.microsoft.com/office/drawing/2014/main" id="{CA2DCD8D-8E0C-F5A8-F93F-D81D07442FFA}"/>
              </a:ext>
            </a:extLst>
          </p:cNvPr>
          <p:cNvSpPr>
            <a:spLocks noGrp="1"/>
          </p:cNvSpPr>
          <p:nvPr>
            <p:ph idx="1"/>
          </p:nvPr>
        </p:nvSpPr>
        <p:spPr/>
        <p:txBody>
          <a:bodyPr vert="horz" lIns="91440" tIns="45720" rIns="91440" bIns="45720" rtlCol="0" anchor="t">
            <a:normAutofit/>
          </a:bodyPr>
          <a:lstStyle/>
          <a:p>
            <a:r>
              <a:rPr lang="en-US" dirty="0">
                <a:ea typeface="+mn-lt"/>
                <a:cs typeface="+mn-lt"/>
              </a:rPr>
              <a:t>- Diabetic nephropathy-Thickened capillary basement membranes of renal glomeruli results in glomerulosclerosis and renal insufficiency. This results in proteinuria.</a:t>
            </a:r>
            <a:endParaRPr lang="en-US" dirty="0"/>
          </a:p>
          <a:p>
            <a:r>
              <a:rPr lang="en-US" dirty="0">
                <a:ea typeface="+mn-lt"/>
                <a:cs typeface="+mn-lt"/>
              </a:rPr>
              <a:t>- Necrotizing papillitis - this occurs primarily in diabetic patients.</a:t>
            </a:r>
            <a:endParaRPr lang="en-US" dirty="0"/>
          </a:p>
          <a:p>
            <a:pPr marL="0" indent="0">
              <a:buNone/>
            </a:pPr>
            <a:r>
              <a:rPr lang="en-US" dirty="0">
                <a:ea typeface="+mn-lt"/>
                <a:cs typeface="+mn-lt"/>
              </a:rPr>
              <a:t>Presents with fever, pain and sloughing of the renal papillae.</a:t>
            </a:r>
            <a:endParaRPr lang="en-US"/>
          </a:p>
          <a:p>
            <a:r>
              <a:rPr lang="en-US" dirty="0">
                <a:ea typeface="+mn-lt"/>
                <a:cs typeface="+mn-lt"/>
              </a:rPr>
              <a:t>- </a:t>
            </a:r>
            <a:r>
              <a:rPr lang="en-US" dirty="0">
                <a:solidFill>
                  <a:srgbClr val="FF0000"/>
                </a:solidFill>
                <a:ea typeface="+mn-lt"/>
                <a:cs typeface="+mn-lt"/>
              </a:rPr>
              <a:t>Contrast induced diabetic renal failure-</a:t>
            </a:r>
            <a:r>
              <a:rPr lang="en-US" dirty="0">
                <a:ea typeface="+mn-lt"/>
                <a:cs typeface="+mn-lt"/>
              </a:rPr>
              <a:t> increase in serum</a:t>
            </a:r>
            <a:endParaRPr lang="en-US" dirty="0"/>
          </a:p>
          <a:p>
            <a:pPr marL="0" indent="0">
              <a:buNone/>
            </a:pPr>
            <a:r>
              <a:rPr lang="en-US" dirty="0">
                <a:ea typeface="+mn-lt"/>
                <a:cs typeface="+mn-lt"/>
              </a:rPr>
              <a:t>creatinine after exposure to IV contrast. This happens within a</a:t>
            </a:r>
            <a:endParaRPr lang="en-US" dirty="0"/>
          </a:p>
          <a:p>
            <a:pPr marL="0" indent="0">
              <a:buNone/>
            </a:pPr>
            <a:r>
              <a:rPr lang="en-US" dirty="0">
                <a:ea typeface="+mn-lt"/>
                <a:cs typeface="+mn-lt"/>
              </a:rPr>
              <a:t>week. Adequate hydration before a procedure is important</a:t>
            </a:r>
            <a:endParaRPr lang="en-US" dirty="0"/>
          </a:p>
        </p:txBody>
      </p:sp>
    </p:spTree>
    <p:extLst>
      <p:ext uri="{BB962C8B-B14F-4D97-AF65-F5344CB8AC3E}">
        <p14:creationId xmlns:p14="http://schemas.microsoft.com/office/powerpoint/2010/main" val="19567762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411CDE78-09DC-E0EF-9EE1-B73635E1D371}"/>
              </a:ext>
            </a:extLst>
          </p:cNvPr>
          <p:cNvGraphicFramePr>
            <a:graphicFrameLocks noGrp="1"/>
          </p:cNvGraphicFramePr>
          <p:nvPr>
            <p:extLst>
              <p:ext uri="{D42A27DB-BD31-4B8C-83A1-F6EECF244321}">
                <p14:modId xmlns:p14="http://schemas.microsoft.com/office/powerpoint/2010/main" val="3530969672"/>
              </p:ext>
            </p:extLst>
          </p:nvPr>
        </p:nvGraphicFramePr>
        <p:xfrm>
          <a:off x="323850" y="419100"/>
          <a:ext cx="11220452" cy="395468"/>
        </p:xfrm>
        <a:graphic>
          <a:graphicData uri="http://schemas.openxmlformats.org/drawingml/2006/table">
            <a:tbl>
              <a:tblPr bandRow="1">
                <a:tableStyleId>{5C22544A-7EE6-4342-B048-85BDC9FD1C3A}</a:tableStyleId>
              </a:tblPr>
              <a:tblGrid>
                <a:gridCol w="2805113">
                  <a:extLst>
                    <a:ext uri="{9D8B030D-6E8A-4147-A177-3AD203B41FA5}">
                      <a16:colId xmlns:a16="http://schemas.microsoft.com/office/drawing/2014/main" val="851778443"/>
                    </a:ext>
                  </a:extLst>
                </a:gridCol>
                <a:gridCol w="2805113">
                  <a:extLst>
                    <a:ext uri="{9D8B030D-6E8A-4147-A177-3AD203B41FA5}">
                      <a16:colId xmlns:a16="http://schemas.microsoft.com/office/drawing/2014/main" val="4006362650"/>
                    </a:ext>
                  </a:extLst>
                </a:gridCol>
                <a:gridCol w="2805113">
                  <a:extLst>
                    <a:ext uri="{9D8B030D-6E8A-4147-A177-3AD203B41FA5}">
                      <a16:colId xmlns:a16="http://schemas.microsoft.com/office/drawing/2014/main" val="3132858780"/>
                    </a:ext>
                  </a:extLst>
                </a:gridCol>
                <a:gridCol w="2805113">
                  <a:extLst>
                    <a:ext uri="{9D8B030D-6E8A-4147-A177-3AD203B41FA5}">
                      <a16:colId xmlns:a16="http://schemas.microsoft.com/office/drawing/2014/main" val="1074861992"/>
                    </a:ext>
                  </a:extLst>
                </a:gridCol>
              </a:tblGrid>
              <a:tr h="395468">
                <a:tc>
                  <a:txBody>
                    <a:bodyPr/>
                    <a:lstStyle/>
                    <a:p>
                      <a:pPr fontAlgn="t"/>
                      <a:r>
                        <a:rPr lang="en-US" b="1" dirty="0">
                          <a:effectLst/>
                        </a:rPr>
                        <a:t>Albumin Cr Ratio (mg/g)</a:t>
                      </a:r>
                      <a:endParaRPr lang="en-US" dirty="0">
                        <a:effectLst/>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fontAlgn="t"/>
                      <a:r>
                        <a:rPr lang="en-US" dirty="0">
                          <a:effectLst/>
                        </a:rPr>
                        <a:t>&lt;30 normal</a:t>
                      </a: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fontAlgn="t"/>
                      <a:r>
                        <a:rPr lang="en-US" dirty="0">
                          <a:effectLst/>
                        </a:rPr>
                        <a:t>30 to 299- Mild increase</a:t>
                      </a: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fontAlgn="t"/>
                      <a:r>
                        <a:rPr lang="en-US" dirty="0">
                          <a:effectLst/>
                        </a:rPr>
                        <a:t>≥300- Severe</a:t>
                      </a: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926512991"/>
                  </a:ext>
                </a:extLst>
              </a:tr>
            </a:tbl>
          </a:graphicData>
        </a:graphic>
      </p:graphicFrame>
      <p:pic>
        <p:nvPicPr>
          <p:cNvPr id="4" name="Picture 3" descr="A collage of images of a human body&#10;&#10;AI-generated content may be incorrect.">
            <a:extLst>
              <a:ext uri="{FF2B5EF4-FFF2-40B4-BE49-F238E27FC236}">
                <a16:creationId xmlns:a16="http://schemas.microsoft.com/office/drawing/2014/main" id="{CFD1B6BE-B9C6-2DFA-0897-96EDB2E32D0F}"/>
              </a:ext>
            </a:extLst>
          </p:cNvPr>
          <p:cNvPicPr>
            <a:picLocks noChangeAspect="1"/>
          </p:cNvPicPr>
          <p:nvPr/>
        </p:nvPicPr>
        <p:blipFill>
          <a:blip r:embed="rId2"/>
          <a:stretch>
            <a:fillRect/>
          </a:stretch>
        </p:blipFill>
        <p:spPr>
          <a:xfrm>
            <a:off x="-2801" y="819150"/>
            <a:ext cx="5615828" cy="5895975"/>
          </a:xfrm>
          <a:prstGeom prst="rect">
            <a:avLst/>
          </a:prstGeom>
        </p:spPr>
      </p:pic>
      <p:pic>
        <p:nvPicPr>
          <p:cNvPr id="5" name="Picture 4" descr="A screenshot of a medical information&#10;&#10;AI-generated content may be incorrect.">
            <a:extLst>
              <a:ext uri="{FF2B5EF4-FFF2-40B4-BE49-F238E27FC236}">
                <a16:creationId xmlns:a16="http://schemas.microsoft.com/office/drawing/2014/main" id="{CBF758CB-6C22-B540-A95F-85DF617DB5F8}"/>
              </a:ext>
            </a:extLst>
          </p:cNvPr>
          <p:cNvPicPr>
            <a:picLocks noChangeAspect="1"/>
          </p:cNvPicPr>
          <p:nvPr/>
        </p:nvPicPr>
        <p:blipFill>
          <a:blip r:embed="rId3"/>
          <a:stretch>
            <a:fillRect/>
          </a:stretch>
        </p:blipFill>
        <p:spPr>
          <a:xfrm>
            <a:off x="5391710" y="990600"/>
            <a:ext cx="6799729" cy="5562600"/>
          </a:xfrm>
          <a:prstGeom prst="rect">
            <a:avLst/>
          </a:prstGeom>
        </p:spPr>
      </p:pic>
      <p:sp>
        <p:nvSpPr>
          <p:cNvPr id="2" name="Star: 5 Points 1">
            <a:extLst>
              <a:ext uri="{FF2B5EF4-FFF2-40B4-BE49-F238E27FC236}">
                <a16:creationId xmlns:a16="http://schemas.microsoft.com/office/drawing/2014/main" id="{F84EE2E8-6561-A9B3-931C-BD5C78894A30}"/>
              </a:ext>
            </a:extLst>
          </p:cNvPr>
          <p:cNvSpPr/>
          <p:nvPr/>
        </p:nvSpPr>
        <p:spPr>
          <a:xfrm>
            <a:off x="2356403" y="789181"/>
            <a:ext cx="444796" cy="400494"/>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825094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ED499-39CC-9581-B11E-E8DBA52F5702}"/>
              </a:ext>
            </a:extLst>
          </p:cNvPr>
          <p:cNvSpPr>
            <a:spLocks noGrp="1"/>
          </p:cNvSpPr>
          <p:nvPr>
            <p:ph type="title"/>
          </p:nvPr>
        </p:nvSpPr>
        <p:spPr>
          <a:xfrm>
            <a:off x="838200" y="365125"/>
            <a:ext cx="10515600" cy="2405866"/>
          </a:xfrm>
        </p:spPr>
        <p:txBody>
          <a:bodyPr>
            <a:normAutofit/>
          </a:bodyPr>
          <a:lstStyle/>
          <a:p>
            <a:r>
              <a:rPr lang="en-US" sz="2400" dirty="0">
                <a:latin typeface="Aptos"/>
              </a:rPr>
              <a:t>Neurology complications</a:t>
            </a:r>
            <a:br>
              <a:rPr lang="en-US" sz="2400" dirty="0">
                <a:latin typeface="Aptos"/>
              </a:rPr>
            </a:br>
            <a:br>
              <a:rPr lang="en-US" sz="2400" dirty="0">
                <a:latin typeface="Aptos"/>
              </a:rPr>
            </a:br>
            <a:r>
              <a:rPr lang="en-US" sz="2400" dirty="0">
                <a:latin typeface="Aptos"/>
              </a:rPr>
              <a:t>Peripheral </a:t>
            </a:r>
            <a:br>
              <a:rPr lang="en-US" sz="2400" dirty="0">
                <a:latin typeface="Aptos"/>
              </a:rPr>
            </a:br>
            <a:r>
              <a:rPr lang="en-US" sz="2400" dirty="0">
                <a:latin typeface="Aptos"/>
              </a:rPr>
              <a:t>Cranial </a:t>
            </a:r>
            <a:br>
              <a:rPr lang="en-US" sz="2400" dirty="0">
                <a:latin typeface="Aptos"/>
              </a:rPr>
            </a:br>
            <a:r>
              <a:rPr lang="en-US" sz="2400" dirty="0">
                <a:latin typeface="Aptos"/>
              </a:rPr>
              <a:t>Autonomic</a:t>
            </a:r>
            <a:endParaRPr lang="en-US" dirty="0"/>
          </a:p>
        </p:txBody>
      </p:sp>
      <p:sp>
        <p:nvSpPr>
          <p:cNvPr id="3" name="Content Placeholder 2">
            <a:extLst>
              <a:ext uri="{FF2B5EF4-FFF2-40B4-BE49-F238E27FC236}">
                <a16:creationId xmlns:a16="http://schemas.microsoft.com/office/drawing/2014/main" id="{865F2064-5A5F-A0A6-62E7-C9016D1A144E}"/>
              </a:ext>
            </a:extLst>
          </p:cNvPr>
          <p:cNvSpPr>
            <a:spLocks noGrp="1"/>
          </p:cNvSpPr>
          <p:nvPr>
            <p:ph idx="1"/>
          </p:nvPr>
        </p:nvSpPr>
        <p:spPr/>
        <p:txBody>
          <a:bodyPr vert="horz" lIns="91440" tIns="45720" rIns="91440" bIns="45720" rtlCol="0" anchor="t">
            <a:normAutofit/>
          </a:bodyPr>
          <a:lstStyle/>
          <a:p>
            <a:pPr marL="0" indent="0">
              <a:buNone/>
            </a:pPr>
            <a:endParaRPr lang="en-US" dirty="0"/>
          </a:p>
          <a:p>
            <a:endParaRPr lang="en-US" dirty="0"/>
          </a:p>
        </p:txBody>
      </p:sp>
    </p:spTree>
    <p:extLst>
      <p:ext uri="{BB962C8B-B14F-4D97-AF65-F5344CB8AC3E}">
        <p14:creationId xmlns:p14="http://schemas.microsoft.com/office/powerpoint/2010/main" val="42072697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318D9-57DE-6CBF-6895-3EA6F97D2CFE}"/>
              </a:ext>
            </a:extLst>
          </p:cNvPr>
          <p:cNvSpPr>
            <a:spLocks noGrp="1"/>
          </p:cNvSpPr>
          <p:nvPr>
            <p:ph type="title"/>
          </p:nvPr>
        </p:nvSpPr>
        <p:spPr/>
        <p:txBody>
          <a:bodyPr/>
          <a:lstStyle/>
          <a:p>
            <a:r>
              <a:rPr lang="en-US" dirty="0"/>
              <a:t>Diabetic Peripheral Neuropathy</a:t>
            </a:r>
          </a:p>
        </p:txBody>
      </p:sp>
      <p:sp>
        <p:nvSpPr>
          <p:cNvPr id="3" name="Content Placeholder 2">
            <a:extLst>
              <a:ext uri="{FF2B5EF4-FFF2-40B4-BE49-F238E27FC236}">
                <a16:creationId xmlns:a16="http://schemas.microsoft.com/office/drawing/2014/main" id="{96526CE5-4C25-479C-C025-D486A1C42E52}"/>
              </a:ext>
            </a:extLst>
          </p:cNvPr>
          <p:cNvSpPr>
            <a:spLocks noGrp="1"/>
          </p:cNvSpPr>
          <p:nvPr>
            <p:ph idx="1"/>
          </p:nvPr>
        </p:nvSpPr>
        <p:spPr>
          <a:xfrm>
            <a:off x="838200" y="1997075"/>
            <a:ext cx="10515600" cy="4351338"/>
          </a:xfrm>
        </p:spPr>
        <p:txBody>
          <a:bodyPr vert="horz" lIns="91440" tIns="45720" rIns="91440" bIns="45720" rtlCol="0" anchor="t">
            <a:normAutofit fontScale="92500" lnSpcReduction="20000"/>
          </a:bodyPr>
          <a:lstStyle/>
          <a:p>
            <a:r>
              <a:rPr lang="en-US" sz="1600" dirty="0">
                <a:solidFill>
                  <a:srgbClr val="383636"/>
                </a:solidFill>
                <a:latin typeface="Helvetica Neue"/>
              </a:rPr>
              <a:t> The most common early symptoms are induced by the involvement of small fibers and include pain and dysesthesia (unpleasant sensations of burning and tingling).</a:t>
            </a:r>
            <a:endParaRPr lang="en-US" sz="1600">
              <a:solidFill>
                <a:srgbClr val="000000"/>
              </a:solidFill>
              <a:latin typeface="Aptos" panose="020B0004020202020204"/>
            </a:endParaRPr>
          </a:p>
          <a:p>
            <a:r>
              <a:rPr lang="en-US" sz="1600" dirty="0">
                <a:solidFill>
                  <a:srgbClr val="383636"/>
                </a:solidFill>
                <a:latin typeface="Helvetica Neue"/>
              </a:rPr>
              <a:t> The involvement of large fibers may cause balance issues, numbness, and loss of protective sensation (LOPS). LOPS indicates the presence of distal sensory polyneuropathy and is a risk factor for diabetic foot ulceration. </a:t>
            </a:r>
            <a:endParaRPr lang="en-US" sz="1600">
              <a:solidFill>
                <a:srgbClr val="000000"/>
              </a:solidFill>
              <a:latin typeface="Aptos" panose="020B0004020202020204"/>
            </a:endParaRPr>
          </a:p>
          <a:p>
            <a:r>
              <a:rPr lang="en-US" sz="1600" dirty="0">
                <a:solidFill>
                  <a:srgbClr val="383636"/>
                </a:solidFill>
                <a:latin typeface="Helvetica Neue"/>
              </a:rPr>
              <a:t>The following clinical tests may be used to assess small- and large-fiber function and protective sensation:</a:t>
            </a:r>
            <a:endParaRPr lang="en-US" sz="1600"/>
          </a:p>
          <a:p>
            <a:r>
              <a:rPr lang="en-US" sz="1600" dirty="0">
                <a:solidFill>
                  <a:srgbClr val="383636"/>
                </a:solidFill>
                <a:latin typeface="Helvetica Neue"/>
              </a:rPr>
              <a:t>1. Small-fiber function: pinprick and temperature sensation.</a:t>
            </a:r>
            <a:endParaRPr lang="en-US" sz="1600"/>
          </a:p>
          <a:p>
            <a:r>
              <a:rPr lang="en-US" sz="1600" dirty="0">
                <a:solidFill>
                  <a:srgbClr val="383636"/>
                </a:solidFill>
                <a:latin typeface="Helvetica Neue"/>
              </a:rPr>
              <a:t>2. Large-fiber function: lower-extremity reflexes, vibration perception. 128 MHz, and</a:t>
            </a:r>
          </a:p>
          <a:p>
            <a:r>
              <a:rPr lang="en-US" sz="1600" dirty="0">
                <a:solidFill>
                  <a:srgbClr val="383636"/>
                </a:solidFill>
                <a:latin typeface="Helvetica Neue"/>
              </a:rPr>
              <a:t>3. Protective sensation: 10-g monofilament.</a:t>
            </a:r>
            <a:endParaRPr lang="en-US" sz="1600" dirty="0"/>
          </a:p>
          <a:p>
            <a:endParaRPr lang="en-US" sz="1600" dirty="0">
              <a:solidFill>
                <a:srgbClr val="383636"/>
              </a:solidFill>
              <a:latin typeface="Helvetica Neue"/>
            </a:endParaRPr>
          </a:p>
          <a:p>
            <a:r>
              <a:rPr lang="en-US" sz="1500" dirty="0">
                <a:solidFill>
                  <a:srgbClr val="000000"/>
                </a:solidFill>
                <a:latin typeface="Aptos"/>
                <a:ea typeface="+mn-lt"/>
                <a:cs typeface="+mn-lt"/>
              </a:rPr>
              <a:t>The denervation of small muscles of the food results in clawed toes and displacement of fat pads </a:t>
            </a:r>
          </a:p>
          <a:p>
            <a:pPr marL="0" indent="0">
              <a:buNone/>
            </a:pPr>
            <a:r>
              <a:rPr lang="en-US" sz="1500" dirty="0">
                <a:solidFill>
                  <a:srgbClr val="000000"/>
                </a:solidFill>
                <a:latin typeface="Aptos"/>
                <a:ea typeface="+mn-lt"/>
                <a:cs typeface="+mn-lt"/>
              </a:rPr>
              <a:t>altering the biomechanics of the foot. This leads to calluses from repetitive injury and ulceration in high pressure</a:t>
            </a:r>
            <a:endParaRPr lang="en-US" dirty="0">
              <a:solidFill>
                <a:srgbClr val="000000"/>
              </a:solidFill>
              <a:latin typeface="Aptos"/>
              <a:ea typeface="+mn-lt"/>
              <a:cs typeface="+mn-lt"/>
            </a:endParaRPr>
          </a:p>
          <a:p>
            <a:pPr marL="0" indent="0">
              <a:buNone/>
            </a:pPr>
            <a:r>
              <a:rPr lang="en-US" sz="1500" dirty="0">
                <a:solidFill>
                  <a:srgbClr val="000000"/>
                </a:solidFill>
                <a:latin typeface="Aptos"/>
                <a:ea typeface="+mn-lt"/>
                <a:cs typeface="+mn-lt"/>
              </a:rPr>
              <a:t> areas such as the metatarsal head. Finally this leads to bone loss and fractures and deformity called the </a:t>
            </a:r>
            <a:endParaRPr lang="en-US" dirty="0">
              <a:solidFill>
                <a:srgbClr val="000000"/>
              </a:solidFill>
              <a:latin typeface="Aptos"/>
              <a:ea typeface="+mn-lt"/>
              <a:cs typeface="+mn-lt"/>
            </a:endParaRPr>
          </a:p>
          <a:p>
            <a:pPr marL="0" indent="0">
              <a:buNone/>
            </a:pPr>
            <a:r>
              <a:rPr lang="en-US" sz="1500" dirty="0">
                <a:solidFill>
                  <a:srgbClr val="000000"/>
                </a:solidFill>
                <a:latin typeface="Aptos"/>
                <a:ea typeface="+mn-lt"/>
                <a:cs typeface="+mn-lt"/>
              </a:rPr>
              <a:t>Charcot foot.</a:t>
            </a:r>
            <a:endParaRPr lang="en-US" dirty="0">
              <a:solidFill>
                <a:srgbClr val="000000"/>
              </a:solidFill>
              <a:latin typeface="Aptos"/>
              <a:ea typeface="+mn-lt"/>
              <a:cs typeface="+mn-lt"/>
            </a:endParaRPr>
          </a:p>
          <a:p>
            <a:endParaRPr lang="en-US" sz="1600" dirty="0">
              <a:solidFill>
                <a:srgbClr val="383636"/>
              </a:solidFill>
              <a:latin typeface="Helvetica Neue"/>
              <a:ea typeface="+mn-lt"/>
              <a:cs typeface="+mn-lt"/>
            </a:endParaRPr>
          </a:p>
          <a:p>
            <a:endParaRPr lang="en-US" sz="1200" dirty="0">
              <a:solidFill>
                <a:srgbClr val="383636"/>
              </a:solidFill>
              <a:latin typeface="Helvetica Neue"/>
              <a:ea typeface="+mn-lt"/>
              <a:cs typeface="+mn-lt"/>
            </a:endParaRPr>
          </a:p>
          <a:p>
            <a:r>
              <a:rPr lang="en-US" sz="1500" dirty="0">
                <a:solidFill>
                  <a:srgbClr val="1F1F1F"/>
                </a:solidFill>
                <a:ea typeface="+mn-lt"/>
                <a:cs typeface="+mn-lt"/>
              </a:rPr>
              <a:t>Gabapentin is a </a:t>
            </a:r>
            <a:r>
              <a:rPr lang="en-US" sz="1500" dirty="0">
                <a:solidFill>
                  <a:srgbClr val="040C28"/>
                </a:solidFill>
                <a:ea typeface="+mn-lt"/>
                <a:cs typeface="+mn-lt"/>
              </a:rPr>
              <a:t>medication that inhibits the release of excitatory neurotransmitters</a:t>
            </a:r>
            <a:endParaRPr lang="en-US" sz="1500" dirty="0">
              <a:solidFill>
                <a:srgbClr val="1F1F1F"/>
              </a:solidFill>
              <a:latin typeface="Aptos"/>
            </a:endParaRPr>
          </a:p>
          <a:p>
            <a:endParaRPr lang="en-US" sz="1200" dirty="0">
              <a:solidFill>
                <a:srgbClr val="383636"/>
              </a:solidFill>
              <a:latin typeface="Helvetica Neue"/>
            </a:endParaRPr>
          </a:p>
          <a:p>
            <a:endParaRPr lang="en-US" dirty="0"/>
          </a:p>
        </p:txBody>
      </p:sp>
      <p:pic>
        <p:nvPicPr>
          <p:cNvPr id="4" name="Picture 3" descr="Monofilament test: MedlinePlus Medical ...">
            <a:extLst>
              <a:ext uri="{FF2B5EF4-FFF2-40B4-BE49-F238E27FC236}">
                <a16:creationId xmlns:a16="http://schemas.microsoft.com/office/drawing/2014/main" id="{D3792628-512C-0CD4-BAC9-3A8CAF21BF1A}"/>
              </a:ext>
            </a:extLst>
          </p:cNvPr>
          <p:cNvPicPr>
            <a:picLocks noChangeAspect="1"/>
          </p:cNvPicPr>
          <p:nvPr/>
        </p:nvPicPr>
        <p:blipFill>
          <a:blip r:embed="rId2"/>
          <a:stretch>
            <a:fillRect/>
          </a:stretch>
        </p:blipFill>
        <p:spPr>
          <a:xfrm>
            <a:off x="8682038" y="176213"/>
            <a:ext cx="2162175" cy="1733550"/>
          </a:xfrm>
          <a:prstGeom prst="rect">
            <a:avLst/>
          </a:prstGeom>
        </p:spPr>
      </p:pic>
      <p:pic>
        <p:nvPicPr>
          <p:cNvPr id="6" name="Picture 5" descr="A close up of a foot with a large wound&#10;&#10;AI-generated content may be incorrect.">
            <a:extLst>
              <a:ext uri="{FF2B5EF4-FFF2-40B4-BE49-F238E27FC236}">
                <a16:creationId xmlns:a16="http://schemas.microsoft.com/office/drawing/2014/main" id="{D49ADAD2-8948-B316-1311-9CDA6FB15E59}"/>
              </a:ext>
            </a:extLst>
          </p:cNvPr>
          <p:cNvPicPr>
            <a:picLocks noChangeAspect="1"/>
          </p:cNvPicPr>
          <p:nvPr/>
        </p:nvPicPr>
        <p:blipFill>
          <a:blip r:embed="rId3"/>
          <a:stretch>
            <a:fillRect/>
          </a:stretch>
        </p:blipFill>
        <p:spPr>
          <a:xfrm>
            <a:off x="9578788" y="3248025"/>
            <a:ext cx="2264149" cy="3609975"/>
          </a:xfrm>
          <a:prstGeom prst="rect">
            <a:avLst/>
          </a:prstGeom>
        </p:spPr>
      </p:pic>
    </p:spTree>
    <p:extLst>
      <p:ext uri="{BB962C8B-B14F-4D97-AF65-F5344CB8AC3E}">
        <p14:creationId xmlns:p14="http://schemas.microsoft.com/office/powerpoint/2010/main" val="25474612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ollage of a person with his eyes closed&#10;&#10;AI-generated content may be incorrect.">
            <a:extLst>
              <a:ext uri="{FF2B5EF4-FFF2-40B4-BE49-F238E27FC236}">
                <a16:creationId xmlns:a16="http://schemas.microsoft.com/office/drawing/2014/main" id="{EC28D2A6-0124-620D-8FB6-7F253011B677}"/>
              </a:ext>
            </a:extLst>
          </p:cNvPr>
          <p:cNvPicPr>
            <a:picLocks noChangeAspect="1"/>
          </p:cNvPicPr>
          <p:nvPr/>
        </p:nvPicPr>
        <p:blipFill>
          <a:blip r:embed="rId2"/>
          <a:stretch>
            <a:fillRect/>
          </a:stretch>
        </p:blipFill>
        <p:spPr>
          <a:xfrm>
            <a:off x="8380319" y="104775"/>
            <a:ext cx="3641912" cy="6515100"/>
          </a:xfrm>
          <a:prstGeom prst="rect">
            <a:avLst/>
          </a:prstGeom>
        </p:spPr>
      </p:pic>
      <p:sp>
        <p:nvSpPr>
          <p:cNvPr id="4" name="TextBox 3">
            <a:extLst>
              <a:ext uri="{FF2B5EF4-FFF2-40B4-BE49-F238E27FC236}">
                <a16:creationId xmlns:a16="http://schemas.microsoft.com/office/drawing/2014/main" id="{074171FA-376C-2C60-C869-F6989088BE29}"/>
              </a:ext>
            </a:extLst>
          </p:cNvPr>
          <p:cNvSpPr txBox="1"/>
          <p:nvPr/>
        </p:nvSpPr>
        <p:spPr>
          <a:xfrm>
            <a:off x="586451" y="-1929"/>
            <a:ext cx="4286491" cy="70173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b="1" dirty="0">
                <a:solidFill>
                  <a:srgbClr val="545D7E"/>
                </a:solidFill>
                <a:highlight>
                  <a:srgbClr val="FFFFFF"/>
                </a:highlight>
                <a:latin typeface="Google Sans"/>
              </a:rPr>
              <a:t>Cranial mononeuropathy:</a:t>
            </a:r>
            <a:r>
              <a:rPr lang="en-US" dirty="0">
                <a:solidFill>
                  <a:srgbClr val="545D7E"/>
                </a:solidFill>
                <a:highlight>
                  <a:srgbClr val="FFFFFF"/>
                </a:highlight>
                <a:latin typeface="Google Sans"/>
              </a:rPr>
              <a:t> This can cause double vision, eye pain, or paralysis on one side of the face. </a:t>
            </a:r>
          </a:p>
          <a:p>
            <a:pPr marL="228600" indent="-228600">
              <a:buFont typeface=""/>
              <a:buChar char="•"/>
            </a:pPr>
            <a:r>
              <a:rPr lang="en-US" b="1" dirty="0">
                <a:solidFill>
                  <a:srgbClr val="545D7E"/>
                </a:solidFill>
                <a:highlight>
                  <a:srgbClr val="FFFFFF"/>
                </a:highlight>
                <a:latin typeface="Google Sans"/>
              </a:rPr>
              <a:t>Focal neuropathies:</a:t>
            </a:r>
            <a:r>
              <a:rPr lang="en-US" dirty="0">
                <a:solidFill>
                  <a:srgbClr val="545D7E"/>
                </a:solidFill>
                <a:highlight>
                  <a:srgbClr val="FFFFFF"/>
                </a:highlight>
                <a:latin typeface="Google Sans"/>
              </a:rPr>
              <a:t> These can cause pain in the thighs, lower back, or pelvis, or even mimic heart attack or appendicitis symptoms. </a:t>
            </a:r>
          </a:p>
          <a:p>
            <a:pPr marL="228600" indent="-228600">
              <a:buFont typeface=""/>
              <a:buChar char="•"/>
            </a:pPr>
            <a:endParaRPr lang="en-US">
              <a:solidFill>
                <a:srgbClr val="0B57D0"/>
              </a:solidFill>
              <a:highlight>
                <a:srgbClr val="FFFFFF"/>
              </a:highlight>
              <a:latin typeface="Google Sans"/>
            </a:endParaRPr>
          </a:p>
          <a:p>
            <a:pPr marL="228600" indent="-228600">
              <a:buFont typeface=""/>
              <a:buChar char="•"/>
            </a:pPr>
            <a:r>
              <a:rPr lang="en-US" b="1" dirty="0">
                <a:solidFill>
                  <a:srgbClr val="545D7E"/>
                </a:solidFill>
                <a:highlight>
                  <a:srgbClr val="FFFFFF"/>
                </a:highlight>
                <a:latin typeface="Google Sans"/>
              </a:rPr>
              <a:t>Entrapment neuropathies:</a:t>
            </a:r>
            <a:r>
              <a:rPr lang="en-US" dirty="0">
                <a:solidFill>
                  <a:srgbClr val="545D7E"/>
                </a:solidFill>
                <a:highlight>
                  <a:srgbClr val="FFFFFF"/>
                </a:highlight>
                <a:latin typeface="Google Sans"/>
              </a:rPr>
              <a:t> These can cause numbness or weakness in the hands or feet. </a:t>
            </a:r>
          </a:p>
          <a:p>
            <a:pPr marL="228600" indent="-228600">
              <a:buFont typeface=""/>
              <a:buChar char="•"/>
            </a:pPr>
            <a:endParaRPr lang="en-US">
              <a:solidFill>
                <a:srgbClr val="0B57D0"/>
              </a:solidFill>
              <a:highlight>
                <a:srgbClr val="FFFFFF"/>
              </a:highlight>
              <a:latin typeface="Google Sans"/>
            </a:endParaRPr>
          </a:p>
          <a:p>
            <a:pPr marL="228600" indent="-228600">
              <a:buFont typeface=""/>
              <a:buChar char="•"/>
            </a:pPr>
            <a:r>
              <a:rPr lang="en-US" b="1" dirty="0">
                <a:solidFill>
                  <a:srgbClr val="001D35"/>
                </a:solidFill>
                <a:highlight>
                  <a:srgbClr val="FFFFFF"/>
                </a:highlight>
                <a:latin typeface="Google Sans"/>
              </a:rPr>
              <a:t>Commonly affected nerves:</a:t>
            </a:r>
          </a:p>
          <a:p>
            <a:pPr marL="228600" indent="-228600">
              <a:buFont typeface=""/>
              <a:buChar char="•"/>
            </a:pPr>
            <a:r>
              <a:rPr lang="en-US" dirty="0">
                <a:solidFill>
                  <a:srgbClr val="545D7E"/>
                </a:solidFill>
                <a:highlight>
                  <a:srgbClr val="FFFFFF"/>
                </a:highlight>
                <a:latin typeface="Google Sans"/>
              </a:rPr>
              <a:t>The oculomotor nerve (controls eye movement) is frequently affected in </a:t>
            </a:r>
            <a:r>
              <a:rPr lang="en-US">
                <a:solidFill>
                  <a:srgbClr val="545D7E"/>
                </a:solidFill>
                <a:highlight>
                  <a:srgbClr val="FFFFFF"/>
                </a:highlight>
                <a:latin typeface="Google Sans"/>
              </a:rPr>
              <a:t>cranial mononeuropathy—</a:t>
            </a:r>
            <a:r>
              <a:rPr lang="en-US" u="sng">
                <a:solidFill>
                  <a:srgbClr val="545D7E"/>
                </a:solidFill>
                <a:highlight>
                  <a:srgbClr val="FFFFFF"/>
                </a:highlight>
                <a:latin typeface="Google Sans"/>
              </a:rPr>
              <a:t>Diplopia</a:t>
            </a:r>
            <a:r>
              <a:rPr lang="en-US" u="sng" dirty="0">
                <a:solidFill>
                  <a:srgbClr val="545D7E"/>
                </a:solidFill>
                <a:highlight>
                  <a:srgbClr val="FFFFFF"/>
                </a:highlight>
                <a:latin typeface="Google Sans"/>
              </a:rPr>
              <a:t> </a:t>
            </a:r>
            <a:r>
              <a:rPr lang="en-US" dirty="0">
                <a:solidFill>
                  <a:srgbClr val="545D7E"/>
                </a:solidFill>
                <a:highlight>
                  <a:srgbClr val="FFFFFF"/>
                </a:highlight>
                <a:latin typeface="Google Sans"/>
              </a:rPr>
              <a:t> Other nerves that can be affected include the median nerve (causing finger weakness and numbness), and the peroneal nerve (causing foot drop). </a:t>
            </a:r>
          </a:p>
          <a:p>
            <a:pPr marL="228600" indent="-228600">
              <a:buFont typeface=""/>
              <a:buChar char="•"/>
            </a:pPr>
            <a:endParaRPr lang="en-US">
              <a:solidFill>
                <a:srgbClr val="001D35"/>
              </a:solidFill>
              <a:highlight>
                <a:srgbClr val="FFFFFF"/>
              </a:highlight>
              <a:latin typeface="Google Sans"/>
            </a:endParaRPr>
          </a:p>
          <a:p>
            <a:pPr marL="228600" indent="-228600">
              <a:buFont typeface=""/>
              <a:buChar char="•"/>
            </a:pPr>
            <a:endParaRPr lang="en-US">
              <a:solidFill>
                <a:srgbClr val="001D35"/>
              </a:solidFill>
              <a:highlight>
                <a:srgbClr val="FFFFFF"/>
              </a:highlight>
              <a:latin typeface="Google Sans"/>
            </a:endParaRPr>
          </a:p>
          <a:p>
            <a:pPr marL="228600" indent="-228600">
              <a:buFont typeface=""/>
              <a:buChar char="•"/>
            </a:pPr>
            <a:endParaRPr lang="en-US">
              <a:solidFill>
                <a:srgbClr val="001D35"/>
              </a:solidFill>
              <a:highlight>
                <a:srgbClr val="FFFFFF"/>
              </a:highlight>
              <a:latin typeface="Google Sans"/>
            </a:endParaRPr>
          </a:p>
          <a:p>
            <a:endParaRPr lang="en-US">
              <a:solidFill>
                <a:srgbClr val="001D35"/>
              </a:solidFill>
              <a:highlight>
                <a:srgbClr val="FFFFFF"/>
              </a:highlight>
              <a:latin typeface="Google Sans"/>
            </a:endParaRPr>
          </a:p>
        </p:txBody>
      </p:sp>
      <p:pic>
        <p:nvPicPr>
          <p:cNvPr id="5" name="Picture 4" descr="Cranial Nerve 3, the oculomotor nerve, is one of three cranial nerves that control eye muscle movements.">
            <a:extLst>
              <a:ext uri="{FF2B5EF4-FFF2-40B4-BE49-F238E27FC236}">
                <a16:creationId xmlns:a16="http://schemas.microsoft.com/office/drawing/2014/main" id="{2F5F076A-D5B3-04E4-CF35-DA94E04BBD9B}"/>
              </a:ext>
            </a:extLst>
          </p:cNvPr>
          <p:cNvPicPr>
            <a:picLocks noChangeAspect="1"/>
          </p:cNvPicPr>
          <p:nvPr/>
        </p:nvPicPr>
        <p:blipFill>
          <a:blip r:embed="rId3"/>
          <a:stretch>
            <a:fillRect/>
          </a:stretch>
        </p:blipFill>
        <p:spPr>
          <a:xfrm>
            <a:off x="5013767" y="1873493"/>
            <a:ext cx="2743200" cy="2763774"/>
          </a:xfrm>
          <a:prstGeom prst="rect">
            <a:avLst/>
          </a:prstGeom>
        </p:spPr>
      </p:pic>
    </p:spTree>
    <p:extLst>
      <p:ext uri="{BB962C8B-B14F-4D97-AF65-F5344CB8AC3E}">
        <p14:creationId xmlns:p14="http://schemas.microsoft.com/office/powerpoint/2010/main" val="22349934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90D73-A793-2085-9917-593F0B66C048}"/>
              </a:ext>
            </a:extLst>
          </p:cNvPr>
          <p:cNvSpPr>
            <a:spLocks noGrp="1"/>
          </p:cNvSpPr>
          <p:nvPr>
            <p:ph type="title"/>
          </p:nvPr>
        </p:nvSpPr>
        <p:spPr/>
        <p:txBody>
          <a:bodyPr/>
          <a:lstStyle/>
          <a:p>
            <a:r>
              <a:rPr lang="en-US" sz="2800" dirty="0">
                <a:solidFill>
                  <a:srgbClr val="383636"/>
                </a:solidFill>
                <a:latin typeface="Helvetica Neue"/>
              </a:rPr>
              <a:t>Diabetic Autonomic Neuropathy</a:t>
            </a:r>
            <a:endParaRPr lang="en-US" dirty="0"/>
          </a:p>
        </p:txBody>
      </p:sp>
      <p:sp>
        <p:nvSpPr>
          <p:cNvPr id="6" name="Content Placeholder 5">
            <a:extLst>
              <a:ext uri="{FF2B5EF4-FFF2-40B4-BE49-F238E27FC236}">
                <a16:creationId xmlns:a16="http://schemas.microsoft.com/office/drawing/2014/main" id="{9FDC3840-E6AC-17A1-F36D-3561EC970D82}"/>
              </a:ext>
            </a:extLst>
          </p:cNvPr>
          <p:cNvSpPr>
            <a:spLocks noGrp="1"/>
          </p:cNvSpPr>
          <p:nvPr>
            <p:ph idx="1"/>
          </p:nvPr>
        </p:nvSpPr>
        <p:spPr/>
        <p:txBody>
          <a:bodyPr vert="horz" lIns="91440" tIns="45720" rIns="91440" bIns="45720" rtlCol="0" anchor="t">
            <a:normAutofit/>
          </a:bodyPr>
          <a:lstStyle/>
          <a:p>
            <a:pPr marL="0" indent="0">
              <a:buNone/>
            </a:pPr>
            <a:endParaRPr lang="en-US" dirty="0">
              <a:solidFill>
                <a:srgbClr val="383636"/>
              </a:solidFill>
              <a:latin typeface="Helvetica Neue"/>
            </a:endParaRPr>
          </a:p>
          <a:p>
            <a:r>
              <a:rPr lang="en-US" sz="1800" dirty="0">
                <a:solidFill>
                  <a:srgbClr val="383636"/>
                </a:solidFill>
                <a:latin typeface="Helvetica Neue"/>
              </a:rPr>
              <a:t>Individuals who have had type 1 diabetes for ≥5 years and all individuals with type 2 diabetes should be assessed annually for autonomic neuropathy </a:t>
            </a:r>
            <a:endParaRPr lang="en-US" sz="1800" dirty="0">
              <a:solidFill>
                <a:srgbClr val="000000"/>
              </a:solidFill>
              <a:latin typeface="Aptos" panose="020B0004020202020204"/>
            </a:endParaRPr>
          </a:p>
          <a:p>
            <a:r>
              <a:rPr lang="en-US" sz="1800" dirty="0">
                <a:solidFill>
                  <a:srgbClr val="383636"/>
                </a:solidFill>
                <a:latin typeface="Helvetica Neue"/>
              </a:rPr>
              <a:t> Major clinical manifestations of diabetic autonomic neuropathy include </a:t>
            </a:r>
            <a:endParaRPr lang="en-US" sz="1800">
              <a:solidFill>
                <a:srgbClr val="000000"/>
              </a:solidFill>
              <a:latin typeface="Aptos" panose="020B0004020202020204"/>
            </a:endParaRPr>
          </a:p>
          <a:p>
            <a:r>
              <a:rPr lang="en-US" sz="1800" dirty="0">
                <a:solidFill>
                  <a:srgbClr val="383636"/>
                </a:solidFill>
                <a:latin typeface="Helvetica Neue"/>
              </a:rPr>
              <a:t>resting tachycardia, </a:t>
            </a:r>
            <a:endParaRPr lang="en-US" sz="1800">
              <a:solidFill>
                <a:srgbClr val="000000"/>
              </a:solidFill>
              <a:latin typeface="Aptos" panose="020B0004020202020204"/>
            </a:endParaRPr>
          </a:p>
          <a:p>
            <a:r>
              <a:rPr lang="en-US" sz="1800" dirty="0">
                <a:solidFill>
                  <a:srgbClr val="383636"/>
                </a:solidFill>
                <a:latin typeface="Helvetica Neue"/>
              </a:rPr>
              <a:t>orthostatic hypotension, </a:t>
            </a:r>
            <a:endParaRPr lang="en-US" sz="1800">
              <a:solidFill>
                <a:srgbClr val="000000"/>
              </a:solidFill>
              <a:latin typeface="Aptos" panose="020B0004020202020204"/>
            </a:endParaRPr>
          </a:p>
          <a:p>
            <a:r>
              <a:rPr lang="en-US" sz="1800" dirty="0">
                <a:solidFill>
                  <a:srgbClr val="383636"/>
                </a:solidFill>
                <a:latin typeface="Helvetica Neue"/>
              </a:rPr>
              <a:t>gastroparesis, constipation, diarrhea, fecal incontinence,</a:t>
            </a:r>
            <a:endParaRPr lang="en-US" sz="1800" dirty="0">
              <a:solidFill>
                <a:srgbClr val="000000"/>
              </a:solidFill>
              <a:latin typeface="Aptos" panose="020B0004020202020204"/>
            </a:endParaRPr>
          </a:p>
          <a:p>
            <a:r>
              <a:rPr lang="en-US" sz="1800" dirty="0">
                <a:solidFill>
                  <a:srgbClr val="383636"/>
                </a:solidFill>
                <a:latin typeface="Helvetica Neue"/>
              </a:rPr>
              <a:t> erectile dysfunction, </a:t>
            </a:r>
            <a:endParaRPr lang="en-US" sz="1800">
              <a:solidFill>
                <a:srgbClr val="000000"/>
              </a:solidFill>
              <a:latin typeface="Aptos" panose="020B0004020202020204"/>
            </a:endParaRPr>
          </a:p>
          <a:p>
            <a:r>
              <a:rPr lang="en-US" sz="1800" dirty="0">
                <a:solidFill>
                  <a:srgbClr val="383636"/>
                </a:solidFill>
                <a:latin typeface="Helvetica Neue"/>
              </a:rPr>
              <a:t>neurogenic bladder, and</a:t>
            </a:r>
            <a:endParaRPr lang="en-US" sz="1800" dirty="0">
              <a:solidFill>
                <a:srgbClr val="000000"/>
              </a:solidFill>
              <a:latin typeface="Aptos" panose="020B0004020202020204"/>
            </a:endParaRPr>
          </a:p>
          <a:p>
            <a:r>
              <a:rPr lang="en-US" sz="1800" dirty="0">
                <a:solidFill>
                  <a:srgbClr val="383636"/>
                </a:solidFill>
                <a:latin typeface="Helvetica Neue"/>
              </a:rPr>
              <a:t> sudomotor dysfunction with either increased or decreased sweating.</a:t>
            </a:r>
            <a:endParaRPr lang="en-US" sz="1800" dirty="0"/>
          </a:p>
          <a:p>
            <a:endParaRPr lang="en-US" dirty="0"/>
          </a:p>
        </p:txBody>
      </p:sp>
    </p:spTree>
    <p:extLst>
      <p:ext uri="{BB962C8B-B14F-4D97-AF65-F5344CB8AC3E}">
        <p14:creationId xmlns:p14="http://schemas.microsoft.com/office/powerpoint/2010/main" val="35498958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6626E-1EF5-BC57-40AF-86CD34FE09DB}"/>
              </a:ext>
            </a:extLst>
          </p:cNvPr>
          <p:cNvSpPr>
            <a:spLocks noGrp="1"/>
          </p:cNvSpPr>
          <p:nvPr>
            <p:ph type="title"/>
          </p:nvPr>
        </p:nvSpPr>
        <p:spPr/>
        <p:txBody>
          <a:bodyPr/>
          <a:lstStyle/>
          <a:p>
            <a:r>
              <a:rPr lang="en-US" dirty="0"/>
              <a:t>Skin </a:t>
            </a:r>
          </a:p>
        </p:txBody>
      </p:sp>
      <p:sp>
        <p:nvSpPr>
          <p:cNvPr id="3" name="Content Placeholder 2">
            <a:extLst>
              <a:ext uri="{FF2B5EF4-FFF2-40B4-BE49-F238E27FC236}">
                <a16:creationId xmlns:a16="http://schemas.microsoft.com/office/drawing/2014/main" id="{72EF9E25-0CE5-D461-305F-827B232887FD}"/>
              </a:ext>
            </a:extLst>
          </p:cNvPr>
          <p:cNvSpPr>
            <a:spLocks noGrp="1"/>
          </p:cNvSpPr>
          <p:nvPr>
            <p:ph idx="1"/>
          </p:nvPr>
        </p:nvSpPr>
        <p:spPr/>
        <p:txBody>
          <a:bodyPr vert="horz" lIns="91440" tIns="45720" rIns="91440" bIns="45720" rtlCol="0" anchor="t">
            <a:noAutofit/>
          </a:bodyPr>
          <a:lstStyle/>
          <a:p>
            <a:endParaRPr lang="en-US" sz="1200" dirty="0"/>
          </a:p>
          <a:p>
            <a:r>
              <a:rPr lang="en-US" sz="2000" dirty="0"/>
              <a:t>Necrobiosis </a:t>
            </a:r>
            <a:r>
              <a:rPr lang="en-US" sz="2000" err="1"/>
              <a:t>lipoidica</a:t>
            </a:r>
            <a:r>
              <a:rPr lang="en-US" sz="2000" dirty="0"/>
              <a:t> </a:t>
            </a:r>
            <a:r>
              <a:rPr lang="en-US" sz="2000" err="1"/>
              <a:t>diabeticorum</a:t>
            </a:r>
            <a:r>
              <a:rPr lang="en-US" sz="2000" dirty="0"/>
              <a:t>-Oval plaques with the reddish</a:t>
            </a:r>
          </a:p>
          <a:p>
            <a:pPr marL="0" indent="0">
              <a:buNone/>
            </a:pPr>
            <a:r>
              <a:rPr lang="en-US" sz="2000" dirty="0"/>
              <a:t>border and a glistening yellow surface due to thinning of dermis. Seen on</a:t>
            </a:r>
          </a:p>
          <a:p>
            <a:pPr marL="0" indent="0">
              <a:buNone/>
            </a:pPr>
            <a:r>
              <a:rPr lang="en-US" sz="2000" dirty="0"/>
              <a:t>the anterior surfaces of legs. This happens due to degeneration of collagen</a:t>
            </a:r>
          </a:p>
          <a:p>
            <a:pPr marL="0" indent="0">
              <a:buNone/>
            </a:pPr>
            <a:r>
              <a:rPr lang="en-US" sz="2000" dirty="0"/>
              <a:t>and granulomatous inflammation. More commonly associated with type 1</a:t>
            </a:r>
          </a:p>
          <a:p>
            <a:pPr marL="0" indent="0">
              <a:buNone/>
            </a:pPr>
            <a:r>
              <a:rPr lang="en-US" sz="2000" dirty="0"/>
              <a:t>diabetes.</a:t>
            </a:r>
          </a:p>
          <a:p>
            <a:r>
              <a:rPr lang="en-US" sz="2000" dirty="0"/>
              <a:t>-- Bone and Joint complications</a:t>
            </a:r>
          </a:p>
          <a:p>
            <a:r>
              <a:rPr lang="en-US" sz="2000" dirty="0"/>
              <a:t>--</a:t>
            </a:r>
            <a:r>
              <a:rPr lang="en-US" sz="2000" err="1"/>
              <a:t>Dupytrne’s</a:t>
            </a:r>
            <a:r>
              <a:rPr lang="en-US" sz="2000" dirty="0"/>
              <a:t> contractures -Fibrosis results in contracture of the Palmar</a:t>
            </a:r>
          </a:p>
          <a:p>
            <a:r>
              <a:rPr lang="en-US" sz="2000" dirty="0"/>
              <a:t>fascia producing flexion contractures of the fingers.</a:t>
            </a:r>
          </a:p>
          <a:p>
            <a:r>
              <a:rPr lang="en-US" sz="2000" dirty="0"/>
              <a:t>Carpal tunnel syndrome - when median nerve is compressed probably</a:t>
            </a:r>
          </a:p>
          <a:p>
            <a:r>
              <a:rPr lang="en-US" sz="2000" dirty="0"/>
              <a:t>due to glycosylation of collagen. Frozen shoulder due to adhesive capsulitis</a:t>
            </a:r>
          </a:p>
          <a:p>
            <a:pPr marL="0" indent="0">
              <a:buNone/>
            </a:pPr>
            <a:r>
              <a:rPr lang="en-US" sz="2000" dirty="0"/>
              <a:t>in long standing diabetes.</a:t>
            </a:r>
          </a:p>
          <a:p>
            <a:r>
              <a:rPr lang="en-US" sz="2000"/>
              <a:t>Infections                                                                                                   Picture source- </a:t>
            </a:r>
            <a:r>
              <a:rPr lang="en-US" sz="2000" err="1"/>
              <a:t>wikipedia</a:t>
            </a:r>
          </a:p>
          <a:p>
            <a:endParaRPr lang="en-US" sz="2000" dirty="0"/>
          </a:p>
          <a:p>
            <a:endParaRPr lang="en-US" sz="1200" dirty="0"/>
          </a:p>
          <a:p>
            <a:endParaRPr lang="en-US" dirty="0"/>
          </a:p>
        </p:txBody>
      </p:sp>
      <p:pic>
        <p:nvPicPr>
          <p:cNvPr id="4" name="Picture 3" descr="Necrobiosis lipoidica - Wikipedia">
            <a:extLst>
              <a:ext uri="{FF2B5EF4-FFF2-40B4-BE49-F238E27FC236}">
                <a16:creationId xmlns:a16="http://schemas.microsoft.com/office/drawing/2014/main" id="{C1ADC425-60CC-9C5D-D61E-083680580029}"/>
              </a:ext>
            </a:extLst>
          </p:cNvPr>
          <p:cNvPicPr>
            <a:picLocks noChangeAspect="1"/>
          </p:cNvPicPr>
          <p:nvPr/>
        </p:nvPicPr>
        <p:blipFill>
          <a:blip r:embed="rId2"/>
          <a:stretch>
            <a:fillRect/>
          </a:stretch>
        </p:blipFill>
        <p:spPr>
          <a:xfrm>
            <a:off x="9166807" y="1028726"/>
            <a:ext cx="2898975" cy="3817595"/>
          </a:xfrm>
          <a:prstGeom prst="rect">
            <a:avLst/>
          </a:prstGeom>
        </p:spPr>
      </p:pic>
    </p:spTree>
    <p:extLst>
      <p:ext uri="{BB962C8B-B14F-4D97-AF65-F5344CB8AC3E}">
        <p14:creationId xmlns:p14="http://schemas.microsoft.com/office/powerpoint/2010/main" val="13695723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27909-C3F8-D18B-2B63-0D4C0110AEAE}"/>
              </a:ext>
            </a:extLst>
          </p:cNvPr>
          <p:cNvSpPr>
            <a:spLocks noGrp="1"/>
          </p:cNvSpPr>
          <p:nvPr>
            <p:ph type="title"/>
          </p:nvPr>
        </p:nvSpPr>
        <p:spPr/>
        <p:txBody>
          <a:bodyPr/>
          <a:lstStyle/>
          <a:p>
            <a:r>
              <a:rPr lang="en-US" dirty="0"/>
              <a:t>Medical emergencies</a:t>
            </a:r>
          </a:p>
        </p:txBody>
      </p:sp>
      <p:sp>
        <p:nvSpPr>
          <p:cNvPr id="3" name="Content Placeholder 2">
            <a:extLst>
              <a:ext uri="{FF2B5EF4-FFF2-40B4-BE49-F238E27FC236}">
                <a16:creationId xmlns:a16="http://schemas.microsoft.com/office/drawing/2014/main" id="{5EF21A11-C42D-0975-AB67-FB60695B52B3}"/>
              </a:ext>
            </a:extLst>
          </p:cNvPr>
          <p:cNvSpPr>
            <a:spLocks noGrp="1"/>
          </p:cNvSpPr>
          <p:nvPr>
            <p:ph idx="1"/>
          </p:nvPr>
        </p:nvSpPr>
        <p:spPr/>
        <p:txBody>
          <a:bodyPr vert="horz" lIns="91440" tIns="45720" rIns="91440" bIns="45720" rtlCol="0" anchor="t">
            <a:normAutofit/>
          </a:bodyPr>
          <a:lstStyle/>
          <a:p>
            <a:r>
              <a:rPr lang="en-US" dirty="0"/>
              <a:t>DKA- Diabetic </a:t>
            </a:r>
            <a:r>
              <a:rPr lang="en-US" dirty="0" err="1"/>
              <a:t>KetoAcidosis</a:t>
            </a:r>
            <a:endParaRPr lang="en-US"/>
          </a:p>
          <a:p>
            <a:r>
              <a:rPr lang="en-US" dirty="0"/>
              <a:t>HHS- Hyperosmolar Hyperglycemic State</a:t>
            </a:r>
          </a:p>
          <a:p>
            <a:r>
              <a:rPr lang="en-US" sz="2000" dirty="0">
                <a:solidFill>
                  <a:srgbClr val="383636"/>
                </a:solidFill>
                <a:ea typeface="+mn-lt"/>
                <a:cs typeface="+mn-lt"/>
              </a:rPr>
              <a:t>Pathogenesis of DKA and HHS. </a:t>
            </a:r>
            <a:endParaRPr lang="en-US" sz="2000">
              <a:solidFill>
                <a:srgbClr val="000000"/>
              </a:solidFill>
              <a:ea typeface="+mn-lt"/>
              <a:cs typeface="+mn-lt"/>
            </a:endParaRPr>
          </a:p>
          <a:p>
            <a:r>
              <a:rPr lang="en-US" sz="2000" dirty="0">
                <a:solidFill>
                  <a:srgbClr val="383636"/>
                </a:solidFill>
                <a:ea typeface="+mn-lt"/>
                <a:cs typeface="+mn-lt"/>
              </a:rPr>
              <a:t>In HHS, compared with DKA, there is less severe insulin deficiency and, therefore, sufficient insulin to prevent ketogenesis but not enough to prevent hyperglycemia, due to increased hepatic glucose production and decreased glucose utilization by peripheral tissues. Hyperglycemia leads to an osmotic diuresis, leading to volume depletion </a:t>
            </a:r>
            <a:endParaRPr lang="en-US" sz="2000"/>
          </a:p>
          <a:p>
            <a:endParaRPr lang="en-US" dirty="0"/>
          </a:p>
        </p:txBody>
      </p:sp>
      <p:pic>
        <p:nvPicPr>
          <p:cNvPr id="4" name="Picture 3" descr="A screenshot of a magazine&#10;&#10;AI-generated content may be incorrect.">
            <a:extLst>
              <a:ext uri="{FF2B5EF4-FFF2-40B4-BE49-F238E27FC236}">
                <a16:creationId xmlns:a16="http://schemas.microsoft.com/office/drawing/2014/main" id="{ADCAE686-9E54-5F82-C61B-2EDAD17B50F2}"/>
              </a:ext>
            </a:extLst>
          </p:cNvPr>
          <p:cNvPicPr>
            <a:picLocks noChangeAspect="1"/>
          </p:cNvPicPr>
          <p:nvPr/>
        </p:nvPicPr>
        <p:blipFill>
          <a:blip r:embed="rId2"/>
          <a:stretch>
            <a:fillRect/>
          </a:stretch>
        </p:blipFill>
        <p:spPr>
          <a:xfrm>
            <a:off x="10091738" y="0"/>
            <a:ext cx="1771650" cy="3086100"/>
          </a:xfrm>
          <a:prstGeom prst="rect">
            <a:avLst/>
          </a:prstGeom>
        </p:spPr>
      </p:pic>
    </p:spTree>
    <p:extLst>
      <p:ext uri="{BB962C8B-B14F-4D97-AF65-F5344CB8AC3E}">
        <p14:creationId xmlns:p14="http://schemas.microsoft.com/office/powerpoint/2010/main" val="10317780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9E11D-B48E-5B0D-8EFE-B7356DA3A9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1F403B-2290-2E2E-E658-F2983F59E3B6}"/>
              </a:ext>
            </a:extLst>
          </p:cNvPr>
          <p:cNvSpPr>
            <a:spLocks noGrp="1"/>
          </p:cNvSpPr>
          <p:nvPr>
            <p:ph type="title"/>
          </p:nvPr>
        </p:nvSpPr>
        <p:spPr/>
        <p:txBody>
          <a:bodyPr/>
          <a:lstStyle/>
          <a:p>
            <a:r>
              <a:rPr lang="en-US" dirty="0"/>
              <a:t>Precipitating factors</a:t>
            </a:r>
          </a:p>
        </p:txBody>
      </p:sp>
      <p:sp>
        <p:nvSpPr>
          <p:cNvPr id="3" name="Content Placeholder 2">
            <a:extLst>
              <a:ext uri="{FF2B5EF4-FFF2-40B4-BE49-F238E27FC236}">
                <a16:creationId xmlns:a16="http://schemas.microsoft.com/office/drawing/2014/main" id="{FBC8CADF-63B2-B0A3-7681-4D9AD2E80408}"/>
              </a:ext>
            </a:extLst>
          </p:cNvPr>
          <p:cNvSpPr>
            <a:spLocks noGrp="1"/>
          </p:cNvSpPr>
          <p:nvPr>
            <p:ph idx="1"/>
          </p:nvPr>
        </p:nvSpPr>
        <p:spPr/>
        <p:txBody>
          <a:bodyPr vert="horz" lIns="91440" tIns="45720" rIns="91440" bIns="45720" rtlCol="0" anchor="t">
            <a:normAutofit/>
          </a:bodyPr>
          <a:lstStyle/>
          <a:p>
            <a:r>
              <a:rPr lang="en-US" sz="2000" dirty="0">
                <a:latin typeface="Aptos"/>
                <a:ea typeface="Calibri"/>
                <a:cs typeface="Calibri"/>
              </a:rPr>
              <a:t>25-30% of Type 1 DM present with DKA</a:t>
            </a:r>
          </a:p>
          <a:p>
            <a:endParaRPr lang="en-US" sz="1200" b="1" dirty="0">
              <a:solidFill>
                <a:srgbClr val="000000"/>
              </a:solidFill>
              <a:latin typeface="Calibri"/>
              <a:ea typeface="Calibri"/>
              <a:cs typeface="Calibri"/>
            </a:endParaRPr>
          </a:p>
          <a:p>
            <a:r>
              <a:rPr lang="en-US" sz="1800" dirty="0">
                <a:latin typeface="Calibri"/>
                <a:ea typeface="Calibri"/>
                <a:cs typeface="Calibri"/>
              </a:rPr>
              <a:t>Poor metabolic control or missed insulin doses – makes up the majority of cases; frequent among adolescents. Pump malfunction.</a:t>
            </a:r>
            <a:endParaRPr lang="en-US" sz="1800" dirty="0"/>
          </a:p>
          <a:p>
            <a:r>
              <a:rPr lang="en-US" sz="1800" dirty="0">
                <a:latin typeface="Calibri"/>
                <a:ea typeface="Calibri"/>
                <a:cs typeface="Calibri"/>
              </a:rPr>
              <a:t>Infections - increased need for insulin.</a:t>
            </a:r>
            <a:endParaRPr lang="en-US" sz="1800"/>
          </a:p>
          <a:p>
            <a:r>
              <a:rPr lang="en-US" sz="1800" dirty="0">
                <a:latin typeface="Calibri"/>
                <a:ea typeface="Calibri"/>
                <a:cs typeface="Calibri"/>
              </a:rPr>
              <a:t>Illness – stress hormones can increase hepatic glucose output and insulin resistance. Also, vomiting and dehydration can interrupt food intake, and patients sometimes omit insulin to avoid hypoglycemia. Occult MI </a:t>
            </a:r>
            <a:endParaRPr lang="en-US" sz="1800"/>
          </a:p>
          <a:p>
            <a:r>
              <a:rPr lang="en-US" sz="1800" dirty="0">
                <a:latin typeface="Calibri"/>
                <a:ea typeface="Calibri"/>
                <a:cs typeface="Calibri"/>
              </a:rPr>
              <a:t>Medications – corticosteroids, atypical antipsychotics, and others</a:t>
            </a:r>
            <a:endParaRPr lang="en-US" sz="1800"/>
          </a:p>
          <a:p>
            <a:r>
              <a:rPr lang="en-US" sz="1800" dirty="0">
                <a:latin typeface="Calibri"/>
                <a:ea typeface="Calibri"/>
                <a:cs typeface="Calibri"/>
              </a:rPr>
              <a:t>Pregnancy</a:t>
            </a:r>
          </a:p>
          <a:p>
            <a:r>
              <a:rPr lang="en-US" sz="1800" dirty="0">
                <a:latin typeface="Calibri"/>
                <a:ea typeface="Calibri"/>
                <a:cs typeface="Calibri"/>
              </a:rPr>
              <a:t>Drugs and alcohol </a:t>
            </a:r>
            <a:br>
              <a:rPr lang="en-US" dirty="0"/>
            </a:br>
            <a:endParaRPr lang="en-US" dirty="0"/>
          </a:p>
        </p:txBody>
      </p:sp>
    </p:spTree>
    <p:extLst>
      <p:ext uri="{BB962C8B-B14F-4D97-AF65-F5344CB8AC3E}">
        <p14:creationId xmlns:p14="http://schemas.microsoft.com/office/powerpoint/2010/main" val="24557911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DFD79-B09C-1E91-0744-069B579496A4}"/>
              </a:ext>
            </a:extLst>
          </p:cNvPr>
          <p:cNvSpPr>
            <a:spLocks noGrp="1"/>
          </p:cNvSpPr>
          <p:nvPr>
            <p:ph type="title"/>
          </p:nvPr>
        </p:nvSpPr>
        <p:spPr/>
        <p:txBody>
          <a:bodyPr/>
          <a:lstStyle/>
          <a:p>
            <a:endParaRPr lang="en-US"/>
          </a:p>
        </p:txBody>
      </p:sp>
      <p:pic>
        <p:nvPicPr>
          <p:cNvPr id="4" name="Content Placeholder 3" descr="A diagram of a medical system&#10;&#10;AI-generated content may be incorrect.">
            <a:extLst>
              <a:ext uri="{FF2B5EF4-FFF2-40B4-BE49-F238E27FC236}">
                <a16:creationId xmlns:a16="http://schemas.microsoft.com/office/drawing/2014/main" id="{8E92424B-D8A7-5398-4A3D-48ED79788ECC}"/>
              </a:ext>
            </a:extLst>
          </p:cNvPr>
          <p:cNvPicPr>
            <a:picLocks noGrp="1" noChangeAspect="1"/>
          </p:cNvPicPr>
          <p:nvPr>
            <p:ph idx="1"/>
          </p:nvPr>
        </p:nvPicPr>
        <p:blipFill>
          <a:blip r:embed="rId2"/>
          <a:stretch>
            <a:fillRect/>
          </a:stretch>
        </p:blipFill>
        <p:spPr>
          <a:xfrm>
            <a:off x="2094984" y="254000"/>
            <a:ext cx="8125857" cy="6599238"/>
          </a:xfrm>
        </p:spPr>
      </p:pic>
    </p:spTree>
    <p:extLst>
      <p:ext uri="{BB962C8B-B14F-4D97-AF65-F5344CB8AC3E}">
        <p14:creationId xmlns:p14="http://schemas.microsoft.com/office/powerpoint/2010/main" val="21758888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E2003-D0A6-B66F-6F9E-600F831FB8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D7FCDD-8EB2-BEB0-0334-764FFD67D419}"/>
              </a:ext>
            </a:extLst>
          </p:cNvPr>
          <p:cNvSpPr>
            <a:spLocks noGrp="1"/>
          </p:cNvSpPr>
          <p:nvPr>
            <p:ph type="title"/>
          </p:nvPr>
        </p:nvSpPr>
        <p:spPr/>
        <p:txBody>
          <a:bodyPr/>
          <a:lstStyle/>
          <a:p>
            <a:endParaRPr lang="en-US"/>
          </a:p>
        </p:txBody>
      </p:sp>
      <p:pic>
        <p:nvPicPr>
          <p:cNvPr id="4" name="Content Placeholder 3" descr="Image result for polyuria and polydipsia mechanism">
            <a:extLst>
              <a:ext uri="{FF2B5EF4-FFF2-40B4-BE49-F238E27FC236}">
                <a16:creationId xmlns:a16="http://schemas.microsoft.com/office/drawing/2014/main" id="{B721487B-5DDA-638A-3422-CAE5E363F7C7}"/>
              </a:ext>
            </a:extLst>
          </p:cNvPr>
          <p:cNvPicPr>
            <a:picLocks noGrp="1" noChangeAspect="1"/>
          </p:cNvPicPr>
          <p:nvPr>
            <p:ph idx="1"/>
          </p:nvPr>
        </p:nvPicPr>
        <p:blipFill>
          <a:blip r:embed="rId2"/>
          <a:stretch>
            <a:fillRect/>
          </a:stretch>
        </p:blipFill>
        <p:spPr>
          <a:xfrm>
            <a:off x="6272212" y="367506"/>
            <a:ext cx="5324475" cy="3981450"/>
          </a:xfrm>
        </p:spPr>
      </p:pic>
      <p:pic>
        <p:nvPicPr>
          <p:cNvPr id="5" name="Picture 4" descr="Image result for respiratory compensation">
            <a:extLst>
              <a:ext uri="{FF2B5EF4-FFF2-40B4-BE49-F238E27FC236}">
                <a16:creationId xmlns:a16="http://schemas.microsoft.com/office/drawing/2014/main" id="{243BCFC4-C265-9A53-8280-8A785C1F367F}"/>
              </a:ext>
            </a:extLst>
          </p:cNvPr>
          <p:cNvPicPr>
            <a:picLocks noChangeAspect="1"/>
          </p:cNvPicPr>
          <p:nvPr/>
        </p:nvPicPr>
        <p:blipFill>
          <a:blip r:embed="rId3"/>
          <a:stretch>
            <a:fillRect/>
          </a:stretch>
        </p:blipFill>
        <p:spPr>
          <a:xfrm>
            <a:off x="842962" y="1404937"/>
            <a:ext cx="5076825" cy="3219450"/>
          </a:xfrm>
          <a:prstGeom prst="rect">
            <a:avLst/>
          </a:prstGeom>
        </p:spPr>
      </p:pic>
      <p:pic>
        <p:nvPicPr>
          <p:cNvPr id="6" name="Picture 5" descr="Image result for normal breathing versus Kussmauls">
            <a:extLst>
              <a:ext uri="{FF2B5EF4-FFF2-40B4-BE49-F238E27FC236}">
                <a16:creationId xmlns:a16="http://schemas.microsoft.com/office/drawing/2014/main" id="{4DBE3F07-59DE-C659-3947-91AE82C1ABED}"/>
              </a:ext>
            </a:extLst>
          </p:cNvPr>
          <p:cNvPicPr>
            <a:picLocks noChangeAspect="1"/>
          </p:cNvPicPr>
          <p:nvPr/>
        </p:nvPicPr>
        <p:blipFill>
          <a:blip r:embed="rId4"/>
          <a:stretch>
            <a:fillRect/>
          </a:stretch>
        </p:blipFill>
        <p:spPr>
          <a:xfrm>
            <a:off x="614362" y="4867275"/>
            <a:ext cx="5791200" cy="1762125"/>
          </a:xfrm>
          <a:prstGeom prst="rect">
            <a:avLst/>
          </a:prstGeom>
        </p:spPr>
      </p:pic>
      <p:sp>
        <p:nvSpPr>
          <p:cNvPr id="7" name="TextBox 6">
            <a:extLst>
              <a:ext uri="{FF2B5EF4-FFF2-40B4-BE49-F238E27FC236}">
                <a16:creationId xmlns:a16="http://schemas.microsoft.com/office/drawing/2014/main" id="{F950A209-7AF0-45BE-E6E0-8D2ED5F8F0B4}"/>
              </a:ext>
            </a:extLst>
          </p:cNvPr>
          <p:cNvSpPr txBox="1"/>
          <p:nvPr/>
        </p:nvSpPr>
        <p:spPr>
          <a:xfrm>
            <a:off x="6400800" y="4962525"/>
            <a:ext cx="274320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Calibri"/>
                <a:ea typeface="Calibri"/>
                <a:cs typeface="Calibri"/>
              </a:rPr>
              <a:t>Kussmaul’s breathing = hyperventilation characterized by constantly deep sighing respirations in a rapid manner. Generally noted in the last stages of severe acidosis/diabetic acidosis. Patients suffering from Kussmaul’s breathing become “air-hungry” and are seen desperately gasping for more air.</a:t>
            </a:r>
            <a:endParaRPr lang="en-US"/>
          </a:p>
        </p:txBody>
      </p:sp>
      <p:sp>
        <p:nvSpPr>
          <p:cNvPr id="3" name="Star: 5 Points 2">
            <a:extLst>
              <a:ext uri="{FF2B5EF4-FFF2-40B4-BE49-F238E27FC236}">
                <a16:creationId xmlns:a16="http://schemas.microsoft.com/office/drawing/2014/main" id="{13881E50-0BBD-A603-FA97-A18979288988}"/>
              </a:ext>
            </a:extLst>
          </p:cNvPr>
          <p:cNvSpPr/>
          <p:nvPr/>
        </p:nvSpPr>
        <p:spPr>
          <a:xfrm>
            <a:off x="9787854" y="5130660"/>
            <a:ext cx="595424" cy="622005"/>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97140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40D39-7CBA-49F4-15E3-A9BD3A212C36}"/>
              </a:ext>
            </a:extLst>
          </p:cNvPr>
          <p:cNvSpPr>
            <a:spLocks noGrp="1"/>
          </p:cNvSpPr>
          <p:nvPr>
            <p:ph type="title"/>
          </p:nvPr>
        </p:nvSpPr>
        <p:spPr/>
        <p:txBody>
          <a:bodyPr/>
          <a:lstStyle/>
          <a:p>
            <a:r>
              <a:rPr lang="en-US" dirty="0"/>
              <a:t>Diagnostic criteria</a:t>
            </a:r>
          </a:p>
        </p:txBody>
      </p:sp>
      <p:pic>
        <p:nvPicPr>
          <p:cNvPr id="4" name="Content Placeholder 3">
            <a:extLst>
              <a:ext uri="{FF2B5EF4-FFF2-40B4-BE49-F238E27FC236}">
                <a16:creationId xmlns:a16="http://schemas.microsoft.com/office/drawing/2014/main" id="{55B2B1B3-6CD0-858F-DF48-8CB7DC13A537}"/>
              </a:ext>
            </a:extLst>
          </p:cNvPr>
          <p:cNvPicPr>
            <a:picLocks noGrp="1" noChangeAspect="1"/>
          </p:cNvPicPr>
          <p:nvPr>
            <p:ph idx="1"/>
          </p:nvPr>
        </p:nvPicPr>
        <p:blipFill>
          <a:blip r:embed="rId2"/>
          <a:stretch>
            <a:fillRect/>
          </a:stretch>
        </p:blipFill>
        <p:spPr>
          <a:xfrm>
            <a:off x="723900" y="1948656"/>
            <a:ext cx="8896350" cy="3400425"/>
          </a:xfrm>
        </p:spPr>
      </p:pic>
      <p:pic>
        <p:nvPicPr>
          <p:cNvPr id="6" name="Picture 5" descr="A black background with white text&#10;&#10;AI-generated content may be incorrect.">
            <a:extLst>
              <a:ext uri="{FF2B5EF4-FFF2-40B4-BE49-F238E27FC236}">
                <a16:creationId xmlns:a16="http://schemas.microsoft.com/office/drawing/2014/main" id="{2C38BB4E-0748-04A5-DD68-16CED15BBC4C}"/>
              </a:ext>
            </a:extLst>
          </p:cNvPr>
          <p:cNvPicPr>
            <a:picLocks noChangeAspect="1"/>
          </p:cNvPicPr>
          <p:nvPr/>
        </p:nvPicPr>
        <p:blipFill>
          <a:blip r:embed="rId3"/>
          <a:stretch>
            <a:fillRect/>
          </a:stretch>
        </p:blipFill>
        <p:spPr>
          <a:xfrm>
            <a:off x="5991225" y="5219700"/>
            <a:ext cx="5524500" cy="1343025"/>
          </a:xfrm>
          <a:prstGeom prst="rect">
            <a:avLst/>
          </a:prstGeom>
        </p:spPr>
      </p:pic>
    </p:spTree>
    <p:extLst>
      <p:ext uri="{BB962C8B-B14F-4D97-AF65-F5344CB8AC3E}">
        <p14:creationId xmlns:p14="http://schemas.microsoft.com/office/powerpoint/2010/main" val="6640182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E1BCC-F73E-CADA-6BAF-E393B00DD4DA}"/>
              </a:ext>
            </a:extLst>
          </p:cNvPr>
          <p:cNvSpPr>
            <a:spLocks noGrp="1"/>
          </p:cNvSpPr>
          <p:nvPr>
            <p:ph type="title"/>
          </p:nvPr>
        </p:nvSpPr>
        <p:spPr/>
        <p:txBody>
          <a:bodyPr/>
          <a:lstStyle/>
          <a:p>
            <a:r>
              <a:rPr lang="en-US" dirty="0"/>
              <a:t>Clinical presentation</a:t>
            </a:r>
          </a:p>
        </p:txBody>
      </p:sp>
      <p:pic>
        <p:nvPicPr>
          <p:cNvPr id="4" name="Content Placeholder 3" descr="A table with text on it&#10;&#10;AI-generated content may be incorrect.">
            <a:extLst>
              <a:ext uri="{FF2B5EF4-FFF2-40B4-BE49-F238E27FC236}">
                <a16:creationId xmlns:a16="http://schemas.microsoft.com/office/drawing/2014/main" id="{C503AEB0-69C3-4E92-C838-6F49660CD68D}"/>
              </a:ext>
            </a:extLst>
          </p:cNvPr>
          <p:cNvPicPr>
            <a:picLocks noGrp="1" noChangeAspect="1"/>
          </p:cNvPicPr>
          <p:nvPr>
            <p:ph idx="1"/>
          </p:nvPr>
        </p:nvPicPr>
        <p:blipFill>
          <a:blip r:embed="rId2"/>
          <a:stretch>
            <a:fillRect/>
          </a:stretch>
        </p:blipFill>
        <p:spPr>
          <a:xfrm>
            <a:off x="1357312" y="2172494"/>
            <a:ext cx="8020050" cy="3476625"/>
          </a:xfrm>
        </p:spPr>
      </p:pic>
    </p:spTree>
    <p:extLst>
      <p:ext uri="{BB962C8B-B14F-4D97-AF65-F5344CB8AC3E}">
        <p14:creationId xmlns:p14="http://schemas.microsoft.com/office/powerpoint/2010/main" val="14338964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0D42B-5B83-B116-C6AF-D293D104E2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3AD9CD-673A-5E58-1925-2CEE841BA70B}"/>
              </a:ext>
            </a:extLst>
          </p:cNvPr>
          <p:cNvSpPr>
            <a:spLocks noGrp="1"/>
          </p:cNvSpPr>
          <p:nvPr>
            <p:ph type="title"/>
          </p:nvPr>
        </p:nvSpPr>
        <p:spPr/>
        <p:txBody>
          <a:bodyPr/>
          <a:lstStyle/>
          <a:p>
            <a:r>
              <a:rPr lang="en-US" dirty="0"/>
              <a:t>Diabetic ketoacidosis</a:t>
            </a:r>
          </a:p>
        </p:txBody>
      </p:sp>
      <p:sp>
        <p:nvSpPr>
          <p:cNvPr id="3" name="Content Placeholder 2">
            <a:extLst>
              <a:ext uri="{FF2B5EF4-FFF2-40B4-BE49-F238E27FC236}">
                <a16:creationId xmlns:a16="http://schemas.microsoft.com/office/drawing/2014/main" id="{F782B874-5F25-C487-DE2F-E72317DA7D39}"/>
              </a:ext>
            </a:extLst>
          </p:cNvPr>
          <p:cNvSpPr>
            <a:spLocks noGrp="1"/>
          </p:cNvSpPr>
          <p:nvPr>
            <p:ph idx="1"/>
          </p:nvPr>
        </p:nvSpPr>
        <p:spPr/>
        <p:txBody>
          <a:bodyPr vert="horz" lIns="91440" tIns="45720" rIns="91440" bIns="45720" rtlCol="0" anchor="t">
            <a:normAutofit/>
          </a:bodyPr>
          <a:lstStyle/>
          <a:p>
            <a:r>
              <a:rPr lang="en-US" sz="2000" dirty="0"/>
              <a:t>18 year girl presents with vomiting, epigastric pain. Vitals – HR 120, BP 100/60, Afebrile</a:t>
            </a:r>
            <a:endParaRPr lang="en-US" dirty="0"/>
          </a:p>
          <a:p>
            <a:r>
              <a:rPr lang="en-US" sz="2000" dirty="0"/>
              <a:t> Upon further history -polyuria and weight loss over 3 weeks. CT – negative for appendicitis or other acute conditions.</a:t>
            </a:r>
            <a:endParaRPr lang="en-US" dirty="0"/>
          </a:p>
          <a:p>
            <a:r>
              <a:rPr lang="en-US" sz="2000" dirty="0"/>
              <a:t>Labs </a:t>
            </a:r>
            <a:endParaRPr lang="en-US" dirty="0"/>
          </a:p>
          <a:p>
            <a:r>
              <a:rPr lang="en-US" sz="2000" dirty="0"/>
              <a:t>Glu 510, PH 7.2, HCO3 9, Na 130, K 5.5 , </a:t>
            </a:r>
            <a:r>
              <a:rPr lang="en-US" sz="2000" dirty="0" err="1"/>
              <a:t>cr</a:t>
            </a:r>
            <a:r>
              <a:rPr lang="en-US" sz="2000" dirty="0"/>
              <a:t> 1.8 </a:t>
            </a:r>
            <a:endParaRPr lang="en-US" dirty="0"/>
          </a:p>
          <a:p>
            <a:r>
              <a:rPr lang="en-US" sz="2000" dirty="0"/>
              <a:t>Anion gap- </a:t>
            </a:r>
            <a:r>
              <a:rPr lang="en-US" sz="2000" dirty="0">
                <a:solidFill>
                  <a:srgbClr val="FF0000"/>
                </a:solidFill>
              </a:rPr>
              <a:t>HIGH</a:t>
            </a:r>
            <a:r>
              <a:rPr lang="en-US" sz="2000" dirty="0"/>
              <a:t> 28</a:t>
            </a:r>
            <a:endParaRPr lang="en-US" dirty="0"/>
          </a:p>
          <a:p>
            <a:r>
              <a:rPr lang="en-US" sz="2000" dirty="0"/>
              <a:t>A1c 12%</a:t>
            </a:r>
            <a:endParaRPr lang="en-US" dirty="0"/>
          </a:p>
          <a:p>
            <a:r>
              <a:rPr lang="en-US" sz="2000" dirty="0">
                <a:solidFill>
                  <a:srgbClr val="FF0000"/>
                </a:solidFill>
              </a:rPr>
              <a:t>Beta hydroxy butyrate </a:t>
            </a:r>
            <a:r>
              <a:rPr lang="en-US" sz="2000" dirty="0"/>
              <a:t>5.8 mmol/L – high</a:t>
            </a:r>
            <a:endParaRPr lang="en-US" dirty="0"/>
          </a:p>
          <a:p>
            <a:r>
              <a:rPr lang="en-US" sz="2000" dirty="0"/>
              <a:t>UA- +++ glucose, ++ ketones, pregnancy test negative, no infection </a:t>
            </a:r>
            <a:endParaRPr lang="en-US" dirty="0"/>
          </a:p>
          <a:p>
            <a:endParaRPr lang="en-US" dirty="0"/>
          </a:p>
        </p:txBody>
      </p:sp>
    </p:spTree>
    <p:extLst>
      <p:ext uri="{BB962C8B-B14F-4D97-AF65-F5344CB8AC3E}">
        <p14:creationId xmlns:p14="http://schemas.microsoft.com/office/powerpoint/2010/main" val="40110006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A119D-2AA4-4D6A-7164-363099776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E02B78-3D71-6478-E415-237F72207F94}"/>
              </a:ext>
            </a:extLst>
          </p:cNvPr>
          <p:cNvSpPr>
            <a:spLocks noGrp="1"/>
          </p:cNvSpPr>
          <p:nvPr>
            <p:ph type="title"/>
          </p:nvPr>
        </p:nvSpPr>
        <p:spPr/>
        <p:txBody>
          <a:bodyPr/>
          <a:lstStyle/>
          <a:p>
            <a:endParaRPr lang="en-US"/>
          </a:p>
        </p:txBody>
      </p:sp>
      <p:pic>
        <p:nvPicPr>
          <p:cNvPr id="4" name="Content Placeholder 3" descr="Image result for diabetic ketoacidosis">
            <a:extLst>
              <a:ext uri="{FF2B5EF4-FFF2-40B4-BE49-F238E27FC236}">
                <a16:creationId xmlns:a16="http://schemas.microsoft.com/office/drawing/2014/main" id="{892A5A86-106E-7556-6D21-6B5DA4BF53EA}"/>
              </a:ext>
            </a:extLst>
          </p:cNvPr>
          <p:cNvPicPr>
            <a:picLocks noGrp="1" noChangeAspect="1"/>
          </p:cNvPicPr>
          <p:nvPr>
            <p:ph idx="1"/>
          </p:nvPr>
        </p:nvPicPr>
        <p:blipFill>
          <a:blip r:embed="rId2"/>
          <a:stretch>
            <a:fillRect/>
          </a:stretch>
        </p:blipFill>
        <p:spPr>
          <a:xfrm>
            <a:off x="723900" y="1710531"/>
            <a:ext cx="5813384" cy="4373180"/>
          </a:xfrm>
        </p:spPr>
      </p:pic>
      <p:pic>
        <p:nvPicPr>
          <p:cNvPr id="5" name="Picture 4" descr="Image result for diabetic ketoacidosis">
            <a:extLst>
              <a:ext uri="{FF2B5EF4-FFF2-40B4-BE49-F238E27FC236}">
                <a16:creationId xmlns:a16="http://schemas.microsoft.com/office/drawing/2014/main" id="{7EDABA10-251B-A997-9995-2A1B4889E4B2}"/>
              </a:ext>
            </a:extLst>
          </p:cNvPr>
          <p:cNvPicPr>
            <a:picLocks noChangeAspect="1"/>
          </p:cNvPicPr>
          <p:nvPr/>
        </p:nvPicPr>
        <p:blipFill>
          <a:blip r:embed="rId3"/>
          <a:stretch>
            <a:fillRect/>
          </a:stretch>
        </p:blipFill>
        <p:spPr>
          <a:xfrm>
            <a:off x="7776318" y="2199853"/>
            <a:ext cx="3686175" cy="2771775"/>
          </a:xfrm>
          <a:prstGeom prst="rect">
            <a:avLst/>
          </a:prstGeom>
        </p:spPr>
      </p:pic>
    </p:spTree>
    <p:extLst>
      <p:ext uri="{BB962C8B-B14F-4D97-AF65-F5344CB8AC3E}">
        <p14:creationId xmlns:p14="http://schemas.microsoft.com/office/powerpoint/2010/main" val="318382275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EFAE1-C6CB-8E31-A800-0541685516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69A207-9C3A-9BBC-7129-C2BC9E629C71}"/>
              </a:ext>
            </a:extLst>
          </p:cNvPr>
          <p:cNvSpPr>
            <a:spLocks noGrp="1"/>
          </p:cNvSpPr>
          <p:nvPr>
            <p:ph type="title"/>
          </p:nvPr>
        </p:nvSpPr>
        <p:spPr/>
        <p:txBody>
          <a:bodyPr/>
          <a:lstStyle/>
          <a:p>
            <a:r>
              <a:rPr lang="en-US" dirty="0"/>
              <a:t>HHS </a:t>
            </a:r>
          </a:p>
        </p:txBody>
      </p:sp>
      <p:sp>
        <p:nvSpPr>
          <p:cNvPr id="3" name="Content Placeholder 2">
            <a:extLst>
              <a:ext uri="{FF2B5EF4-FFF2-40B4-BE49-F238E27FC236}">
                <a16:creationId xmlns:a16="http://schemas.microsoft.com/office/drawing/2014/main" id="{3F7B3B6A-FD8F-5517-A453-C9211AA7DA6B}"/>
              </a:ext>
            </a:extLst>
          </p:cNvPr>
          <p:cNvSpPr>
            <a:spLocks noGrp="1"/>
          </p:cNvSpPr>
          <p:nvPr>
            <p:ph idx="1"/>
          </p:nvPr>
        </p:nvSpPr>
        <p:spPr/>
        <p:txBody>
          <a:bodyPr vert="horz" lIns="91440" tIns="45720" rIns="91440" bIns="45720" rtlCol="0" anchor="t">
            <a:normAutofit fontScale="92500" lnSpcReduction="10000"/>
          </a:bodyPr>
          <a:lstStyle/>
          <a:p>
            <a:r>
              <a:rPr lang="en-US" sz="2100" dirty="0"/>
              <a:t>70 yr woman with h/o type 2 DM, presents with cough ,confusion , lethargy, polyuria and dehydration over 4 days . She was given steroids for cough recently. Vitals show low BP 80/60, low grade fever and HR 120s</a:t>
            </a:r>
            <a:endParaRPr lang="en-US" dirty="0"/>
          </a:p>
          <a:p>
            <a:r>
              <a:rPr lang="en-US" sz="2100" dirty="0"/>
              <a:t>Labs-</a:t>
            </a:r>
            <a:endParaRPr lang="en-US" dirty="0"/>
          </a:p>
          <a:p>
            <a:r>
              <a:rPr lang="en-US" sz="2100" dirty="0"/>
              <a:t>Glucose 900, PH 7.3, Na corrected to glucose- 150, potassium normal, </a:t>
            </a:r>
            <a:endParaRPr lang="en-US" dirty="0"/>
          </a:p>
          <a:p>
            <a:r>
              <a:rPr lang="en-US" sz="2100" dirty="0"/>
              <a:t>Serum osmolality high, Mild renal failure,  </a:t>
            </a:r>
            <a:endParaRPr lang="en-US" dirty="0"/>
          </a:p>
          <a:p>
            <a:r>
              <a:rPr lang="en-US" sz="2100" dirty="0"/>
              <a:t>urine glucose ++, ketones trace to negative , beta hydroxy butyrate negative, A1c 12%, </a:t>
            </a:r>
            <a:endParaRPr lang="en-US" dirty="0"/>
          </a:p>
          <a:p>
            <a:r>
              <a:rPr lang="en-US" sz="2100" dirty="0"/>
              <a:t>CXR- = Right lobe pneumonia</a:t>
            </a:r>
            <a:endParaRPr lang="en-US" dirty="0"/>
          </a:p>
          <a:p>
            <a:r>
              <a:rPr lang="en-US" sz="1500" dirty="0">
                <a:latin typeface="Arial"/>
                <a:cs typeface="Arial"/>
              </a:rPr>
              <a:t>•</a:t>
            </a:r>
            <a:endParaRPr lang="en-US" dirty="0"/>
          </a:p>
          <a:p>
            <a:r>
              <a:rPr lang="en-US" sz="1500" dirty="0">
                <a:latin typeface="Arial"/>
                <a:cs typeface="Arial"/>
              </a:rPr>
              <a:t>•</a:t>
            </a:r>
            <a:endParaRPr lang="en-US" dirty="0"/>
          </a:p>
          <a:p>
            <a:r>
              <a:rPr lang="en-US" sz="1500" dirty="0">
                <a:latin typeface="Arial"/>
                <a:cs typeface="Arial"/>
              </a:rPr>
              <a:t>•</a:t>
            </a:r>
            <a:r>
              <a:rPr lang="en-US" sz="1500" dirty="0">
                <a:solidFill>
                  <a:srgbClr val="232323"/>
                </a:solidFill>
                <a:latin typeface="Noto Sans"/>
                <a:ea typeface="Noto Sans"/>
                <a:cs typeface="Noto Sans"/>
              </a:rPr>
              <a:t>Effective </a:t>
            </a:r>
            <a:r>
              <a:rPr lang="en-US" sz="1500" dirty="0" err="1">
                <a:solidFill>
                  <a:srgbClr val="232323"/>
                </a:solidFill>
                <a:latin typeface="Noto Sans"/>
                <a:ea typeface="Noto Sans"/>
                <a:cs typeface="Noto Sans"/>
              </a:rPr>
              <a:t>Posm</a:t>
            </a:r>
            <a:r>
              <a:rPr lang="en-US" sz="1500" dirty="0">
                <a:solidFill>
                  <a:srgbClr val="232323"/>
                </a:solidFill>
                <a:latin typeface="Noto Sans"/>
                <a:ea typeface="Noto Sans"/>
                <a:cs typeface="Noto Sans"/>
              </a:rPr>
              <a:t> = [2 x Na (</a:t>
            </a:r>
            <a:r>
              <a:rPr lang="en-US" sz="1500" dirty="0" err="1">
                <a:solidFill>
                  <a:srgbClr val="232323"/>
                </a:solidFill>
                <a:latin typeface="Noto Sans"/>
                <a:ea typeface="Noto Sans"/>
                <a:cs typeface="Noto Sans"/>
              </a:rPr>
              <a:t>mEq</a:t>
            </a:r>
            <a:r>
              <a:rPr lang="en-US" sz="1500" dirty="0">
                <a:solidFill>
                  <a:srgbClr val="232323"/>
                </a:solidFill>
                <a:latin typeface="Noto Sans"/>
                <a:ea typeface="Noto Sans"/>
                <a:cs typeface="Noto Sans"/>
              </a:rPr>
              <a:t>/L)] + [glucose (mg/dL) ÷ 18]</a:t>
            </a:r>
            <a:endParaRPr lang="en-US" dirty="0"/>
          </a:p>
          <a:p>
            <a:r>
              <a:rPr lang="en-US" sz="1500" dirty="0">
                <a:latin typeface="Arial"/>
                <a:cs typeface="Arial"/>
              </a:rPr>
              <a:t>•</a:t>
            </a:r>
            <a:r>
              <a:rPr lang="en-US" sz="1500" dirty="0">
                <a:solidFill>
                  <a:srgbClr val="232323"/>
                </a:solidFill>
                <a:latin typeface="Noto Sans"/>
                <a:ea typeface="Noto Sans"/>
                <a:cs typeface="Noto Sans"/>
              </a:rPr>
              <a:t>Effective </a:t>
            </a:r>
            <a:r>
              <a:rPr lang="en-US" sz="1500" dirty="0" err="1">
                <a:solidFill>
                  <a:srgbClr val="232323"/>
                </a:solidFill>
                <a:latin typeface="Noto Sans"/>
                <a:ea typeface="Noto Sans"/>
                <a:cs typeface="Noto Sans"/>
              </a:rPr>
              <a:t>Posm</a:t>
            </a:r>
            <a:r>
              <a:rPr lang="en-US" sz="1500" dirty="0">
                <a:solidFill>
                  <a:srgbClr val="232323"/>
                </a:solidFill>
                <a:latin typeface="Noto Sans"/>
                <a:ea typeface="Noto Sans"/>
                <a:cs typeface="Noto Sans"/>
              </a:rPr>
              <a:t> = [2 x Na (mmol/L)] + glucose (mmol/L)</a:t>
            </a:r>
            <a:endParaRPr lang="en-US" dirty="0"/>
          </a:p>
          <a:p>
            <a:r>
              <a:rPr lang="en-US" sz="1500" dirty="0">
                <a:latin typeface="Arial"/>
                <a:cs typeface="Arial"/>
              </a:rPr>
              <a:t>•</a:t>
            </a:r>
            <a:r>
              <a:rPr lang="en-US" sz="1500" dirty="0">
                <a:solidFill>
                  <a:srgbClr val="232323"/>
                </a:solidFill>
                <a:latin typeface="Noto Sans"/>
                <a:ea typeface="Noto Sans"/>
                <a:cs typeface="Noto Sans"/>
              </a:rPr>
              <a:t>The Na concentration in these equations is the actual measured plasma Na concentration and not the corrected Na concentration. </a:t>
            </a:r>
            <a:endParaRPr lang="en-US" dirty="0"/>
          </a:p>
          <a:p>
            <a:endParaRPr lang="en-US" dirty="0"/>
          </a:p>
        </p:txBody>
      </p:sp>
    </p:spTree>
    <p:extLst>
      <p:ext uri="{BB962C8B-B14F-4D97-AF65-F5344CB8AC3E}">
        <p14:creationId xmlns:p14="http://schemas.microsoft.com/office/powerpoint/2010/main" val="6282175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AD974-9DDC-3C9B-BAAC-DCD390C4D6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B97C3B-4B6C-4534-816C-51CA286E6C7A}"/>
              </a:ext>
            </a:extLst>
          </p:cNvPr>
          <p:cNvSpPr>
            <a:spLocks noGrp="1"/>
          </p:cNvSpPr>
          <p:nvPr>
            <p:ph type="title"/>
          </p:nvPr>
        </p:nvSpPr>
        <p:spPr/>
        <p:txBody>
          <a:bodyPr/>
          <a:lstStyle/>
          <a:p>
            <a:r>
              <a:rPr lang="en-US" dirty="0"/>
              <a:t>MANAGEMENT</a:t>
            </a:r>
          </a:p>
        </p:txBody>
      </p:sp>
      <p:pic>
        <p:nvPicPr>
          <p:cNvPr id="4" name="Content Placeholder 3">
            <a:extLst>
              <a:ext uri="{FF2B5EF4-FFF2-40B4-BE49-F238E27FC236}">
                <a16:creationId xmlns:a16="http://schemas.microsoft.com/office/drawing/2014/main" id="{EFF10820-F64B-8133-DB7C-A2A3DEFE3D6C}"/>
              </a:ext>
            </a:extLst>
          </p:cNvPr>
          <p:cNvPicPr>
            <a:picLocks noGrp="1" noChangeAspect="1"/>
          </p:cNvPicPr>
          <p:nvPr>
            <p:ph idx="1"/>
          </p:nvPr>
        </p:nvPicPr>
        <p:blipFill>
          <a:blip r:embed="rId2"/>
          <a:stretch>
            <a:fillRect/>
          </a:stretch>
        </p:blipFill>
        <p:spPr>
          <a:xfrm>
            <a:off x="924934" y="1825625"/>
            <a:ext cx="10342132" cy="4351338"/>
          </a:xfrm>
        </p:spPr>
      </p:pic>
    </p:spTree>
    <p:extLst>
      <p:ext uri="{BB962C8B-B14F-4D97-AF65-F5344CB8AC3E}">
        <p14:creationId xmlns:p14="http://schemas.microsoft.com/office/powerpoint/2010/main" val="20950372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127C0-4A0B-B7F3-6DE9-EF47CCA88D93}"/>
              </a:ext>
            </a:extLst>
          </p:cNvPr>
          <p:cNvSpPr>
            <a:spLocks noGrp="1"/>
          </p:cNvSpPr>
          <p:nvPr>
            <p:ph type="title"/>
          </p:nvPr>
        </p:nvSpPr>
        <p:spPr/>
        <p:txBody>
          <a:bodyPr/>
          <a:lstStyle/>
          <a:p>
            <a:endParaRPr lang="en-US"/>
          </a:p>
        </p:txBody>
      </p:sp>
      <p:pic>
        <p:nvPicPr>
          <p:cNvPr id="7" name="Content Placeholder 6" descr="A diagram of a flowchart&#10;&#10;AI-generated content may be incorrect.">
            <a:extLst>
              <a:ext uri="{FF2B5EF4-FFF2-40B4-BE49-F238E27FC236}">
                <a16:creationId xmlns:a16="http://schemas.microsoft.com/office/drawing/2014/main" id="{BC31FA1D-2820-9C67-606B-9A4C8E08FAFE}"/>
              </a:ext>
            </a:extLst>
          </p:cNvPr>
          <p:cNvPicPr>
            <a:picLocks noGrp="1" noChangeAspect="1"/>
          </p:cNvPicPr>
          <p:nvPr>
            <p:ph idx="1"/>
          </p:nvPr>
        </p:nvPicPr>
        <p:blipFill>
          <a:blip r:embed="rId2"/>
          <a:stretch>
            <a:fillRect/>
          </a:stretch>
        </p:blipFill>
        <p:spPr>
          <a:xfrm>
            <a:off x="3817201" y="368300"/>
            <a:ext cx="3633673" cy="5808663"/>
          </a:xfrm>
        </p:spPr>
      </p:pic>
    </p:spTree>
    <p:extLst>
      <p:ext uri="{BB962C8B-B14F-4D97-AF65-F5344CB8AC3E}">
        <p14:creationId xmlns:p14="http://schemas.microsoft.com/office/powerpoint/2010/main" val="8643619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7340F-3EB1-53C6-F03A-ED702A1C6FC5}"/>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AD0A250A-72CD-3BB3-332E-D785C6FE6B07}"/>
              </a:ext>
            </a:extLst>
          </p:cNvPr>
          <p:cNvPicPr>
            <a:picLocks noGrp="1" noChangeAspect="1"/>
          </p:cNvPicPr>
          <p:nvPr>
            <p:ph idx="1"/>
          </p:nvPr>
        </p:nvPicPr>
        <p:blipFill>
          <a:blip r:embed="rId2"/>
          <a:stretch>
            <a:fillRect/>
          </a:stretch>
        </p:blipFill>
        <p:spPr>
          <a:xfrm>
            <a:off x="728760" y="549275"/>
            <a:ext cx="4019354" cy="5875338"/>
          </a:xfrm>
        </p:spPr>
      </p:pic>
      <p:pic>
        <p:nvPicPr>
          <p:cNvPr id="6" name="Content Placeholder 3" descr="A black background with red text&#10;&#10;AI-generated content may be incorrect.">
            <a:extLst>
              <a:ext uri="{FF2B5EF4-FFF2-40B4-BE49-F238E27FC236}">
                <a16:creationId xmlns:a16="http://schemas.microsoft.com/office/drawing/2014/main" id="{B40D55DE-C39E-5A75-7F9F-FF0B1AC965CE}"/>
              </a:ext>
            </a:extLst>
          </p:cNvPr>
          <p:cNvPicPr>
            <a:picLocks noChangeAspect="1"/>
          </p:cNvPicPr>
          <p:nvPr/>
        </p:nvPicPr>
        <p:blipFill>
          <a:blip r:embed="rId3"/>
          <a:stretch>
            <a:fillRect/>
          </a:stretch>
        </p:blipFill>
        <p:spPr>
          <a:xfrm>
            <a:off x="5894889" y="1149350"/>
            <a:ext cx="3307346" cy="4351338"/>
          </a:xfrm>
          <a:prstGeom prst="rect">
            <a:avLst/>
          </a:prstGeom>
        </p:spPr>
      </p:pic>
    </p:spTree>
    <p:extLst>
      <p:ext uri="{BB962C8B-B14F-4D97-AF65-F5344CB8AC3E}">
        <p14:creationId xmlns:p14="http://schemas.microsoft.com/office/powerpoint/2010/main" val="149327625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39066-4E73-A54C-B225-244DA41E5539}"/>
              </a:ext>
            </a:extLst>
          </p:cNvPr>
          <p:cNvSpPr>
            <a:spLocks noGrp="1"/>
          </p:cNvSpPr>
          <p:nvPr>
            <p:ph type="title"/>
          </p:nvPr>
        </p:nvSpPr>
        <p:spPr/>
        <p:txBody>
          <a:bodyPr/>
          <a:lstStyle/>
          <a:p>
            <a:endParaRPr lang="en-US"/>
          </a:p>
        </p:txBody>
      </p:sp>
      <p:pic>
        <p:nvPicPr>
          <p:cNvPr id="4" name="Content Placeholder 3" descr="A diagram of a flowchart&#10;&#10;AI-generated content may be incorrect.">
            <a:extLst>
              <a:ext uri="{FF2B5EF4-FFF2-40B4-BE49-F238E27FC236}">
                <a16:creationId xmlns:a16="http://schemas.microsoft.com/office/drawing/2014/main" id="{3C057EA6-AB24-99D4-FD6B-62B935BCC34F}"/>
              </a:ext>
            </a:extLst>
          </p:cNvPr>
          <p:cNvPicPr>
            <a:picLocks noGrp="1" noChangeAspect="1"/>
          </p:cNvPicPr>
          <p:nvPr>
            <p:ph idx="1"/>
          </p:nvPr>
        </p:nvPicPr>
        <p:blipFill>
          <a:blip r:embed="rId2"/>
          <a:stretch>
            <a:fillRect/>
          </a:stretch>
        </p:blipFill>
        <p:spPr>
          <a:xfrm>
            <a:off x="838996" y="663575"/>
            <a:ext cx="3170233" cy="5827713"/>
          </a:xfrm>
        </p:spPr>
      </p:pic>
      <p:sp>
        <p:nvSpPr>
          <p:cNvPr id="5" name="TextBox 4">
            <a:extLst>
              <a:ext uri="{FF2B5EF4-FFF2-40B4-BE49-F238E27FC236}">
                <a16:creationId xmlns:a16="http://schemas.microsoft.com/office/drawing/2014/main" id="{4AE8F8D2-1822-6C8A-E382-FF92B088DC86}"/>
              </a:ext>
            </a:extLst>
          </p:cNvPr>
          <p:cNvSpPr txBox="1"/>
          <p:nvPr/>
        </p:nvSpPr>
        <p:spPr>
          <a:xfrm>
            <a:off x="5554408" y="1605153"/>
            <a:ext cx="4019550" cy="509267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90000"/>
              </a:lnSpc>
              <a:spcBef>
                <a:spcPts val="1000"/>
              </a:spcBef>
              <a:buFont typeface="Arial"/>
              <a:buChar char="•"/>
            </a:pPr>
            <a:r>
              <a:rPr lang="en-US" sz="1600" dirty="0">
                <a:latin typeface="PT Serif"/>
              </a:rPr>
              <a:t>During DKA, much of it shifts out into the blood, causing hyperkalemia. This happens for three main reasons:</a:t>
            </a:r>
          </a:p>
          <a:p>
            <a:pPr marL="285750" indent="-285750">
              <a:lnSpc>
                <a:spcPct val="90000"/>
              </a:lnSpc>
              <a:spcBef>
                <a:spcPts val="1000"/>
              </a:spcBef>
              <a:buFont typeface="Arial"/>
              <a:buChar char="•"/>
            </a:pPr>
            <a:r>
              <a:rPr lang="en-US" sz="1600" dirty="0">
                <a:solidFill>
                  <a:srgbClr val="FF0000"/>
                </a:solidFill>
                <a:latin typeface="PT Serif"/>
              </a:rPr>
              <a:t>Insulin normally stimulates the Na</a:t>
            </a:r>
            <a:r>
              <a:rPr lang="en-US" sz="1100" baseline="30000" dirty="0">
                <a:solidFill>
                  <a:srgbClr val="FF0000"/>
                </a:solidFill>
                <a:latin typeface="PT Serif"/>
              </a:rPr>
              <a:t>+</a:t>
            </a:r>
            <a:r>
              <a:rPr lang="en-US" sz="1600" dirty="0">
                <a:solidFill>
                  <a:srgbClr val="FF0000"/>
                </a:solidFill>
                <a:latin typeface="PT Serif"/>
              </a:rPr>
              <a:t>/K</a:t>
            </a:r>
            <a:r>
              <a:rPr lang="en-US" sz="1100" baseline="30000" dirty="0">
                <a:solidFill>
                  <a:srgbClr val="FF0000"/>
                </a:solidFill>
                <a:latin typeface="PT Serif"/>
              </a:rPr>
              <a:t>+</a:t>
            </a:r>
            <a:r>
              <a:rPr lang="en-US" sz="1600" dirty="0">
                <a:solidFill>
                  <a:srgbClr val="FF0000"/>
                </a:solidFill>
                <a:latin typeface="PT Serif"/>
              </a:rPr>
              <a:t>-ATPase to pump potassium from the blood into cells</a:t>
            </a:r>
            <a:r>
              <a:rPr lang="en-US" sz="1600" dirty="0">
                <a:latin typeface="PT Serif"/>
              </a:rPr>
              <a:t>, so a lack of insulin means this pump is inactive, raising the potassium level in the blood.</a:t>
            </a:r>
          </a:p>
          <a:p>
            <a:pPr marL="285750" indent="-285750">
              <a:lnSpc>
                <a:spcPct val="90000"/>
              </a:lnSpc>
              <a:spcBef>
                <a:spcPts val="1000"/>
              </a:spcBef>
              <a:buFont typeface="Arial"/>
              <a:buChar char="•"/>
            </a:pPr>
            <a:r>
              <a:rPr lang="en-US" sz="1600" dirty="0">
                <a:latin typeface="PT Serif"/>
              </a:rPr>
              <a:t>Hyperglycemia increases the serum osmolarity, pulling water out of all cells, and the potassium follows along (osmotic shift).</a:t>
            </a:r>
          </a:p>
          <a:p>
            <a:pPr marL="285750" indent="-285750">
              <a:lnSpc>
                <a:spcPct val="90000"/>
              </a:lnSpc>
              <a:spcBef>
                <a:spcPts val="1000"/>
              </a:spcBef>
              <a:buFont typeface="Arial"/>
              <a:buChar char="•"/>
            </a:pPr>
            <a:r>
              <a:rPr lang="en-US" sz="1600" dirty="0">
                <a:latin typeface="PT Serif"/>
              </a:rPr>
              <a:t>To buffer the decreased serum pH, the membrane H</a:t>
            </a:r>
            <a:r>
              <a:rPr lang="en-US" sz="1100" baseline="30000" dirty="0">
                <a:latin typeface="PT Serif"/>
              </a:rPr>
              <a:t>+</a:t>
            </a:r>
            <a:r>
              <a:rPr lang="en-US" sz="1600" dirty="0">
                <a:latin typeface="PT Serif"/>
              </a:rPr>
              <a:t>/K</a:t>
            </a:r>
            <a:r>
              <a:rPr lang="en-US" sz="1100" baseline="30000" dirty="0">
                <a:latin typeface="PT Serif"/>
              </a:rPr>
              <a:t>+</a:t>
            </a:r>
            <a:r>
              <a:rPr lang="en-US" sz="1600" dirty="0">
                <a:latin typeface="PT Serif"/>
              </a:rPr>
              <a:t> </a:t>
            </a:r>
            <a:r>
              <a:rPr lang="en-US" sz="1600" u="sng" dirty="0">
                <a:latin typeface="PT Serif"/>
              </a:rPr>
              <a:t>exchanger brings extracellular H</a:t>
            </a:r>
            <a:r>
              <a:rPr lang="en-US" sz="1100" u="sng" baseline="30000" dirty="0">
                <a:latin typeface="PT Serif"/>
              </a:rPr>
              <a:t>+</a:t>
            </a:r>
            <a:r>
              <a:rPr lang="en-US" sz="1600" u="sng" dirty="0">
                <a:latin typeface="PT Serif"/>
              </a:rPr>
              <a:t> into the cell and pumps K</a:t>
            </a:r>
            <a:r>
              <a:rPr lang="en-US" sz="1100" u="sng" baseline="30000" dirty="0">
                <a:latin typeface="PT Serif"/>
              </a:rPr>
              <a:t>+</a:t>
            </a:r>
            <a:r>
              <a:rPr lang="en-US" sz="1600" u="sng" dirty="0">
                <a:latin typeface="PT Serif"/>
              </a:rPr>
              <a:t> out.</a:t>
            </a:r>
            <a:endParaRPr lang="en-US" sz="1600" dirty="0">
              <a:latin typeface="PT Serif"/>
            </a:endParaRPr>
          </a:p>
          <a:p>
            <a:pPr marL="285750" indent="-285750">
              <a:lnSpc>
                <a:spcPct val="90000"/>
              </a:lnSpc>
              <a:spcBef>
                <a:spcPts val="1000"/>
              </a:spcBef>
              <a:buFont typeface="Arial"/>
              <a:buChar char="•"/>
            </a:pPr>
            <a:r>
              <a:rPr lang="en-US" sz="1600" dirty="0">
                <a:latin typeface="PT Serif"/>
              </a:rPr>
              <a:t>So, the total level of potassium is low in the patient’s body, but the initial level in the serum is high. </a:t>
            </a:r>
          </a:p>
          <a:p>
            <a:pPr algn="l"/>
            <a:endParaRPr lang="en-US" dirty="0"/>
          </a:p>
        </p:txBody>
      </p:sp>
    </p:spTree>
    <p:extLst>
      <p:ext uri="{BB962C8B-B14F-4D97-AF65-F5344CB8AC3E}">
        <p14:creationId xmlns:p14="http://schemas.microsoft.com/office/powerpoint/2010/main" val="387677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BD393-E5D8-5175-A5C2-CC7CA9FA0A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0939AE-C9D2-0EA8-D956-46DF95C3DF37}"/>
              </a:ext>
            </a:extLst>
          </p:cNvPr>
          <p:cNvSpPr>
            <a:spLocks noGrp="1"/>
          </p:cNvSpPr>
          <p:nvPr>
            <p:ph type="title"/>
          </p:nvPr>
        </p:nvSpPr>
        <p:spPr>
          <a:xfrm>
            <a:off x="400050" y="3175"/>
            <a:ext cx="10515600" cy="1325563"/>
          </a:xfrm>
        </p:spPr>
        <p:txBody>
          <a:bodyPr/>
          <a:lstStyle/>
          <a:p>
            <a:r>
              <a:rPr lang="en-US" dirty="0"/>
              <a:t>POTASSIUM</a:t>
            </a:r>
          </a:p>
        </p:txBody>
      </p:sp>
      <p:pic>
        <p:nvPicPr>
          <p:cNvPr id="3" name="Content Placeholder 2" descr="A black background with red text&#10;&#10;AI-generated content may be incorrect.">
            <a:extLst>
              <a:ext uri="{FF2B5EF4-FFF2-40B4-BE49-F238E27FC236}">
                <a16:creationId xmlns:a16="http://schemas.microsoft.com/office/drawing/2014/main" id="{A76B42FE-F12E-65D0-AB6C-1DA889511200}"/>
              </a:ext>
            </a:extLst>
          </p:cNvPr>
          <p:cNvPicPr>
            <a:picLocks noGrp="1" noChangeAspect="1"/>
          </p:cNvPicPr>
          <p:nvPr>
            <p:ph idx="1"/>
          </p:nvPr>
        </p:nvPicPr>
        <p:blipFill>
          <a:blip r:embed="rId2"/>
          <a:stretch>
            <a:fillRect/>
          </a:stretch>
        </p:blipFill>
        <p:spPr>
          <a:xfrm>
            <a:off x="647700" y="2839244"/>
            <a:ext cx="6096000" cy="4019550"/>
          </a:xfrm>
        </p:spPr>
      </p:pic>
      <p:pic>
        <p:nvPicPr>
          <p:cNvPr id="4" name="Picture 3" descr="A black background with red text&#10;&#10;AI-generated content may be incorrect.">
            <a:extLst>
              <a:ext uri="{FF2B5EF4-FFF2-40B4-BE49-F238E27FC236}">
                <a16:creationId xmlns:a16="http://schemas.microsoft.com/office/drawing/2014/main" id="{8FD3182F-293D-231B-F691-29CF240D7096}"/>
              </a:ext>
            </a:extLst>
          </p:cNvPr>
          <p:cNvPicPr>
            <a:picLocks noChangeAspect="1"/>
          </p:cNvPicPr>
          <p:nvPr/>
        </p:nvPicPr>
        <p:blipFill>
          <a:blip r:embed="rId3"/>
          <a:stretch>
            <a:fillRect/>
          </a:stretch>
        </p:blipFill>
        <p:spPr>
          <a:xfrm>
            <a:off x="0" y="790575"/>
            <a:ext cx="9039225" cy="2047875"/>
          </a:xfrm>
          <a:prstGeom prst="rect">
            <a:avLst/>
          </a:prstGeom>
        </p:spPr>
      </p:pic>
      <p:pic>
        <p:nvPicPr>
          <p:cNvPr id="7" name="Picture 6">
            <a:extLst>
              <a:ext uri="{FF2B5EF4-FFF2-40B4-BE49-F238E27FC236}">
                <a16:creationId xmlns:a16="http://schemas.microsoft.com/office/drawing/2014/main" id="{B3B8977B-440D-C42A-976E-20809AD388AE}"/>
              </a:ext>
            </a:extLst>
          </p:cNvPr>
          <p:cNvPicPr>
            <a:picLocks noChangeAspect="1"/>
          </p:cNvPicPr>
          <p:nvPr/>
        </p:nvPicPr>
        <p:blipFill>
          <a:blip r:embed="rId4"/>
          <a:stretch>
            <a:fillRect/>
          </a:stretch>
        </p:blipFill>
        <p:spPr>
          <a:xfrm>
            <a:off x="8201025" y="4848225"/>
            <a:ext cx="3105150" cy="1562100"/>
          </a:xfrm>
          <a:prstGeom prst="rect">
            <a:avLst/>
          </a:prstGeom>
        </p:spPr>
      </p:pic>
      <p:pic>
        <p:nvPicPr>
          <p:cNvPr id="6" name="Picture 5">
            <a:extLst>
              <a:ext uri="{FF2B5EF4-FFF2-40B4-BE49-F238E27FC236}">
                <a16:creationId xmlns:a16="http://schemas.microsoft.com/office/drawing/2014/main" id="{8EA9C3B0-2ECF-DAE6-330C-387F79E5E94D}"/>
              </a:ext>
            </a:extLst>
          </p:cNvPr>
          <p:cNvPicPr>
            <a:picLocks noChangeAspect="1"/>
          </p:cNvPicPr>
          <p:nvPr/>
        </p:nvPicPr>
        <p:blipFill>
          <a:blip r:embed="rId5"/>
          <a:stretch>
            <a:fillRect/>
          </a:stretch>
        </p:blipFill>
        <p:spPr>
          <a:xfrm>
            <a:off x="7038976" y="2931748"/>
            <a:ext cx="3990973" cy="1632678"/>
          </a:xfrm>
          <a:prstGeom prst="rect">
            <a:avLst/>
          </a:prstGeom>
        </p:spPr>
      </p:pic>
      <p:sp>
        <p:nvSpPr>
          <p:cNvPr id="5" name="Star: 5 Points 4">
            <a:extLst>
              <a:ext uri="{FF2B5EF4-FFF2-40B4-BE49-F238E27FC236}">
                <a16:creationId xmlns:a16="http://schemas.microsoft.com/office/drawing/2014/main" id="{961A89D9-1BEE-42D7-28F4-50D43F2C72F2}"/>
              </a:ext>
            </a:extLst>
          </p:cNvPr>
          <p:cNvSpPr/>
          <p:nvPr/>
        </p:nvSpPr>
        <p:spPr>
          <a:xfrm>
            <a:off x="10268928" y="672963"/>
            <a:ext cx="914400" cy="914400"/>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68744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3F868-3826-ABD9-CC84-2239DA5DFCC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CC94522-7F91-2A90-2F9E-2D903072A7DA}"/>
              </a:ext>
            </a:extLst>
          </p:cNvPr>
          <p:cNvSpPr txBox="1"/>
          <p:nvPr/>
        </p:nvSpPr>
        <p:spPr>
          <a:xfrm>
            <a:off x="1562100" y="1143000"/>
            <a:ext cx="8601075"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Type 1 Diabetic patient wants to start empagliflozin ( SGLT-2 inhibitor) as she had read good things about its cardiovascular benefits and her mother who is a 59-year-old Type 2 DM is taking it. You discourage its use in this patient due to risk of what complication? </a:t>
            </a:r>
            <a:endParaRPr lang="en-US"/>
          </a:p>
          <a:p>
            <a:r>
              <a:rPr lang="en-US" dirty="0"/>
              <a:t>a) Lactic acidosis </a:t>
            </a:r>
          </a:p>
          <a:p>
            <a:r>
              <a:rPr lang="en-US" dirty="0"/>
              <a:t>b) Ketoacidosis </a:t>
            </a:r>
          </a:p>
          <a:p>
            <a:r>
              <a:rPr lang="en-US" dirty="0"/>
              <a:t>c) Hypoglycemia</a:t>
            </a:r>
          </a:p>
        </p:txBody>
      </p:sp>
    </p:spTree>
    <p:extLst>
      <p:ext uri="{BB962C8B-B14F-4D97-AF65-F5344CB8AC3E}">
        <p14:creationId xmlns:p14="http://schemas.microsoft.com/office/powerpoint/2010/main" val="260642027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8568C-CA76-DB56-D2F3-896DD5475F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96D74E-7861-0A73-9314-B172717A6F2D}"/>
              </a:ext>
            </a:extLst>
          </p:cNvPr>
          <p:cNvSpPr>
            <a:spLocks noGrp="1"/>
          </p:cNvSpPr>
          <p:nvPr>
            <p:ph type="title"/>
          </p:nvPr>
        </p:nvSpPr>
        <p:spPr/>
        <p:txBody>
          <a:bodyPr/>
          <a:lstStyle/>
          <a:p>
            <a:r>
              <a:rPr lang="en-US" dirty="0"/>
              <a:t>Euglycemic DKA</a:t>
            </a:r>
          </a:p>
        </p:txBody>
      </p:sp>
      <p:sp>
        <p:nvSpPr>
          <p:cNvPr id="6" name="Content Placeholder 5">
            <a:extLst>
              <a:ext uri="{FF2B5EF4-FFF2-40B4-BE49-F238E27FC236}">
                <a16:creationId xmlns:a16="http://schemas.microsoft.com/office/drawing/2014/main" id="{CCFB1780-289B-6538-819F-B415DED64A02}"/>
              </a:ext>
            </a:extLst>
          </p:cNvPr>
          <p:cNvSpPr>
            <a:spLocks noGrp="1"/>
          </p:cNvSpPr>
          <p:nvPr>
            <p:ph idx="1"/>
          </p:nvPr>
        </p:nvSpPr>
        <p:spPr/>
        <p:txBody>
          <a:bodyPr vert="horz" lIns="91440" tIns="45720" rIns="91440" bIns="45720" rtlCol="0" anchor="t">
            <a:normAutofit/>
          </a:bodyPr>
          <a:lstStyle/>
          <a:p>
            <a:r>
              <a:rPr lang="en-US" dirty="0"/>
              <a:t>DKA with sugars under 250 – Acidosis+, PH is &lt; 7.3 , dehydration </a:t>
            </a:r>
          </a:p>
          <a:p>
            <a:r>
              <a:rPr lang="en-US" dirty="0"/>
              <a:t>When – </a:t>
            </a:r>
          </a:p>
          <a:p>
            <a:r>
              <a:rPr lang="en-US" dirty="0"/>
              <a:t>Pregnancy – is a state of</a:t>
            </a:r>
            <a:r>
              <a:rPr lang="en-US" dirty="0">
                <a:solidFill>
                  <a:srgbClr val="001D35"/>
                </a:solidFill>
                <a:ea typeface="+mn-lt"/>
                <a:cs typeface="+mn-lt"/>
              </a:rPr>
              <a:t> relative insulin deficiency despite normal or low blood glucose levels due to increased fetal consumption of glucose, and increase in stress hormones causing increased fat breakdown and ketone production, ultimately leading to EDKA. </a:t>
            </a:r>
            <a:endParaRPr lang="en-US" dirty="0"/>
          </a:p>
          <a:p>
            <a:r>
              <a:rPr lang="en-US" dirty="0">
                <a:solidFill>
                  <a:srgbClr val="001D35"/>
                </a:solidFill>
                <a:ea typeface="+mn-lt"/>
                <a:cs typeface="+mn-lt"/>
              </a:rPr>
              <a:t>SGLT2 inhibitors- Cause glycosuria and natriuresis causing </a:t>
            </a:r>
            <a:r>
              <a:rPr lang="en-US" dirty="0" err="1">
                <a:solidFill>
                  <a:srgbClr val="001D35"/>
                </a:solidFill>
                <a:ea typeface="+mn-lt"/>
                <a:cs typeface="+mn-lt"/>
              </a:rPr>
              <a:t>dehydration</a:t>
            </a:r>
            <a:r>
              <a:rPr lang="en-US" dirty="0" err="1">
                <a:solidFill>
                  <a:srgbClr val="001D35"/>
                </a:solidFill>
                <a:latin typeface="Wingdings"/>
                <a:sym typeface="Wingdings"/>
              </a:rPr>
              <a:t>à</a:t>
            </a:r>
            <a:r>
              <a:rPr lang="en-US" dirty="0">
                <a:solidFill>
                  <a:srgbClr val="001D35"/>
                </a:solidFill>
                <a:ea typeface="+mn-lt"/>
                <a:cs typeface="+mn-lt"/>
              </a:rPr>
              <a:t> increase stress hormones, lipolysis and </a:t>
            </a:r>
            <a:r>
              <a:rPr lang="en-US" dirty="0" err="1">
                <a:solidFill>
                  <a:srgbClr val="001D35"/>
                </a:solidFill>
                <a:ea typeface="+mn-lt"/>
                <a:cs typeface="+mn-lt"/>
              </a:rPr>
              <a:t>ketogenesis</a:t>
            </a:r>
            <a:r>
              <a:rPr lang="en-US" dirty="0" err="1">
                <a:solidFill>
                  <a:srgbClr val="001D35"/>
                </a:solidFill>
                <a:latin typeface="Wingdings"/>
                <a:sym typeface="Wingdings"/>
              </a:rPr>
              <a:t>à</a:t>
            </a:r>
            <a:r>
              <a:rPr lang="en-US" dirty="0">
                <a:solidFill>
                  <a:srgbClr val="001D35"/>
                </a:solidFill>
                <a:ea typeface="+mn-lt"/>
                <a:cs typeface="+mn-lt"/>
              </a:rPr>
              <a:t> DKA  with normal glucose</a:t>
            </a:r>
            <a:endParaRPr lang="en-US" dirty="0"/>
          </a:p>
          <a:p>
            <a:endParaRPr lang="en-US" dirty="0"/>
          </a:p>
        </p:txBody>
      </p:sp>
    </p:spTree>
    <p:extLst>
      <p:ext uri="{BB962C8B-B14F-4D97-AF65-F5344CB8AC3E}">
        <p14:creationId xmlns:p14="http://schemas.microsoft.com/office/powerpoint/2010/main" val="310123993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1599F-A093-9B20-A80D-A3EABFE44A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39D6C-44B0-A104-AF7F-89D229BE75EF}"/>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B734D0C8-F671-6DE5-CFEE-80016B7C61A7}"/>
              </a:ext>
            </a:extLst>
          </p:cNvPr>
          <p:cNvSpPr>
            <a:spLocks noGrp="1"/>
          </p:cNvSpPr>
          <p:nvPr>
            <p:ph idx="1"/>
          </p:nvPr>
        </p:nvSpPr>
        <p:spPr/>
        <p:txBody>
          <a:bodyPr vert="horz" lIns="91440" tIns="45720" rIns="91440" bIns="45720" rtlCol="0" anchor="t">
            <a:normAutofit/>
          </a:bodyPr>
          <a:lstStyle/>
          <a:p>
            <a:r>
              <a:rPr lang="en-US" dirty="0"/>
              <a:t>References</a:t>
            </a:r>
          </a:p>
          <a:p>
            <a:r>
              <a:rPr lang="en-US" dirty="0"/>
              <a:t>Scholar </a:t>
            </a:r>
            <a:r>
              <a:rPr lang="en-US" dirty="0" err="1"/>
              <a:t>rx</a:t>
            </a:r>
            <a:r>
              <a:rPr lang="en-US" dirty="0"/>
              <a:t>, </a:t>
            </a:r>
            <a:r>
              <a:rPr lang="en-US" dirty="0" err="1"/>
              <a:t>Uptodate</a:t>
            </a:r>
            <a:r>
              <a:rPr lang="en-US" dirty="0"/>
              <a:t>, limited online sources, earlier lectures</a:t>
            </a:r>
          </a:p>
          <a:p>
            <a:r>
              <a:rPr lang="en-US"/>
              <a:t>ADA journals</a:t>
            </a:r>
            <a:endParaRPr lang="en-US" dirty="0"/>
          </a:p>
          <a:p>
            <a:r>
              <a:rPr lang="en-US" dirty="0"/>
              <a:t>JCEM</a:t>
            </a:r>
          </a:p>
          <a:p>
            <a:r>
              <a:rPr lang="en-US" dirty="0"/>
              <a:t>Endocrine review</a:t>
            </a:r>
          </a:p>
          <a:p>
            <a:endParaRPr lang="en-US" dirty="0"/>
          </a:p>
        </p:txBody>
      </p:sp>
      <p:pic>
        <p:nvPicPr>
          <p:cNvPr id="4" name="Picture 3" descr="Noon - Rest from Work (after Millet), 1890 by Vincent Van Gogh">
            <a:extLst>
              <a:ext uri="{FF2B5EF4-FFF2-40B4-BE49-F238E27FC236}">
                <a16:creationId xmlns:a16="http://schemas.microsoft.com/office/drawing/2014/main" id="{BE270F72-AA8A-29F5-D36F-3273D54E1DB9}"/>
              </a:ext>
            </a:extLst>
          </p:cNvPr>
          <p:cNvPicPr>
            <a:picLocks noChangeAspect="1"/>
          </p:cNvPicPr>
          <p:nvPr/>
        </p:nvPicPr>
        <p:blipFill>
          <a:blip r:embed="rId2"/>
          <a:stretch>
            <a:fillRect/>
          </a:stretch>
        </p:blipFill>
        <p:spPr>
          <a:xfrm>
            <a:off x="6806610" y="2749806"/>
            <a:ext cx="4541871" cy="3573504"/>
          </a:xfrm>
          <a:prstGeom prst="rect">
            <a:avLst/>
          </a:prstGeom>
        </p:spPr>
      </p:pic>
      <p:sp>
        <p:nvSpPr>
          <p:cNvPr id="5" name="TextBox 4">
            <a:extLst>
              <a:ext uri="{FF2B5EF4-FFF2-40B4-BE49-F238E27FC236}">
                <a16:creationId xmlns:a16="http://schemas.microsoft.com/office/drawing/2014/main" id="{F83AF3E5-BABA-48B4-045E-F69B9D769613}"/>
              </a:ext>
            </a:extLst>
          </p:cNvPr>
          <p:cNvSpPr txBox="1"/>
          <p:nvPr/>
        </p:nvSpPr>
        <p:spPr>
          <a:xfrm>
            <a:off x="3457353" y="4928191"/>
            <a:ext cx="27432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solidFill>
                  <a:srgbClr val="263D4D"/>
                </a:solidFill>
                <a:latin typeface="Poppins"/>
                <a:cs typeface="Poppins"/>
              </a:rPr>
              <a:t> Rest from Work (after Millet), 1890 by Vincent Van Gogh</a:t>
            </a:r>
          </a:p>
        </p:txBody>
      </p:sp>
    </p:spTree>
    <p:extLst>
      <p:ext uri="{BB962C8B-B14F-4D97-AF65-F5344CB8AC3E}">
        <p14:creationId xmlns:p14="http://schemas.microsoft.com/office/powerpoint/2010/main" val="2137978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TotalTime>
  <Words>5084</Words>
  <Application>Microsoft Office PowerPoint</Application>
  <PresentationFormat>Widescreen</PresentationFormat>
  <Paragraphs>523</Paragraphs>
  <Slides>68</Slides>
  <Notes>3</Notes>
  <HiddenSlides>0</HiddenSlides>
  <MMClips>0</MMClips>
  <ScaleCrop>false</ScaleCrop>
  <HeadingPairs>
    <vt:vector size="6" baseType="variant">
      <vt:variant>
        <vt:lpstr>Fonts Used</vt:lpstr>
      </vt:variant>
      <vt:variant>
        <vt:i4>19</vt:i4>
      </vt:variant>
      <vt:variant>
        <vt:lpstr>Theme</vt:lpstr>
      </vt:variant>
      <vt:variant>
        <vt:i4>1</vt:i4>
      </vt:variant>
      <vt:variant>
        <vt:lpstr>Slide Titles</vt:lpstr>
      </vt:variant>
      <vt:variant>
        <vt:i4>68</vt:i4>
      </vt:variant>
    </vt:vector>
  </HeadingPairs>
  <TitlesOfParts>
    <vt:vector size="88" baseType="lpstr">
      <vt:lpstr>Aptos</vt:lpstr>
      <vt:lpstr>Aptos Display</vt:lpstr>
      <vt:lpstr>Arial</vt:lpstr>
      <vt:lpstr>Calibri</vt:lpstr>
      <vt:lpstr>EB Garamond</vt:lpstr>
      <vt:lpstr>Google Sans</vt:lpstr>
      <vt:lpstr>Helvetica Neue</vt:lpstr>
      <vt:lpstr>Lato</vt:lpstr>
      <vt:lpstr>Lucida Sans</vt:lpstr>
      <vt:lpstr>Montserrat</vt:lpstr>
      <vt:lpstr>Noto Sans</vt:lpstr>
      <vt:lpstr>Nunito</vt:lpstr>
      <vt:lpstr>Poppins</vt:lpstr>
      <vt:lpstr>PT Serif</vt:lpstr>
      <vt:lpstr>Segoe UI</vt:lpstr>
      <vt:lpstr>Symbol</vt:lpstr>
      <vt:lpstr>Times</vt:lpstr>
      <vt:lpstr>Times New Roman</vt:lpstr>
      <vt:lpstr>Wingdings</vt:lpstr>
      <vt:lpstr>office theme</vt:lpstr>
      <vt:lpstr>Diabetes Mellitus</vt:lpstr>
      <vt:lpstr>Objectives</vt:lpstr>
      <vt:lpstr>Pancreas </vt:lpstr>
      <vt:lpstr>PowerPoint Presentation</vt:lpstr>
      <vt:lpstr>PowerPoint Presentation</vt:lpstr>
      <vt:lpstr>PowerPoint Presentation</vt:lpstr>
      <vt:lpstr>Insulin is a peptide hormone</vt:lpstr>
      <vt:lpstr>Insulin – Anabolic hormone</vt:lpstr>
      <vt:lpstr>Insulin secretion</vt:lpstr>
      <vt:lpstr>PowerPoint Presentation</vt:lpstr>
      <vt:lpstr>Glucose uptake</vt:lpstr>
      <vt:lpstr>Glucagon is catabolic Glucagon stimulates glycogenolysis. Glucagon stimulates gluconeogenesis – production of glucose from non carbohydrates. </vt:lpstr>
      <vt:lpstr>How do insulin and glucagon act together?</vt:lpstr>
      <vt:lpstr>Diabetes Mellitus</vt:lpstr>
      <vt:lpstr>PowerPoint Presentation</vt:lpstr>
      <vt:lpstr>Pre DM </vt:lpstr>
      <vt:lpstr>GLYCATION of Hb</vt:lpstr>
      <vt:lpstr>Glycohemoglobin A1c</vt:lpstr>
      <vt:lpstr>Monitoring </vt:lpstr>
      <vt:lpstr>PowerPoint Presentation</vt:lpstr>
      <vt:lpstr>Classification</vt:lpstr>
      <vt:lpstr>PowerPoint Presentation</vt:lpstr>
      <vt:lpstr>Autoimmunity in type 1 </vt:lpstr>
      <vt:lpstr>Genetics </vt:lpstr>
      <vt:lpstr>PowerPoint Presentation</vt:lpstr>
      <vt:lpstr>CIADM</vt:lpstr>
      <vt:lpstr>PowerPoint Presentation</vt:lpstr>
      <vt:lpstr>Hamen y León, Juan van der Madrid, 1596 - Madrid, 1631 See author's file Still Life with Sweetmeats and Glass Vessels </vt:lpstr>
      <vt:lpstr>PowerPoint Presentation</vt:lpstr>
      <vt:lpstr>Leptin- Peripheral and central actions</vt:lpstr>
      <vt:lpstr>PowerPoint Presentation</vt:lpstr>
      <vt:lpstr>Metabolic syndrome</vt:lpstr>
      <vt:lpstr>Prevention of Type 2 DM- Diabetes prevention trial</vt:lpstr>
      <vt:lpstr>Symptoms </vt:lpstr>
      <vt:lpstr>Treatment </vt:lpstr>
      <vt:lpstr>PowerPoint Presentation</vt:lpstr>
      <vt:lpstr>PowerPoint Presentation</vt:lpstr>
      <vt:lpstr>PowerPoint Presentation</vt:lpstr>
      <vt:lpstr>PowerPoint Presentation</vt:lpstr>
      <vt:lpstr>DM Chronic Complications</vt:lpstr>
      <vt:lpstr>PowerPoint Presentation</vt:lpstr>
      <vt:lpstr>Microvascular complications of diabetes mellitus—due to ischemia of vessels supplying endorgans </vt:lpstr>
      <vt:lpstr>PowerPoint Presentation</vt:lpstr>
      <vt:lpstr>PowerPoint Presentation</vt:lpstr>
      <vt:lpstr>Renal complications </vt:lpstr>
      <vt:lpstr>PowerPoint Presentation</vt:lpstr>
      <vt:lpstr>Neurology complications  Peripheral  Cranial  Autonomic</vt:lpstr>
      <vt:lpstr>Diabetic Peripheral Neuropathy</vt:lpstr>
      <vt:lpstr>PowerPoint Presentation</vt:lpstr>
      <vt:lpstr>Diabetic Autonomic Neuropathy</vt:lpstr>
      <vt:lpstr>Skin </vt:lpstr>
      <vt:lpstr>Medical emergencies</vt:lpstr>
      <vt:lpstr>Precipitating factors</vt:lpstr>
      <vt:lpstr>PowerPoint Presentation</vt:lpstr>
      <vt:lpstr>PowerPoint Presentation</vt:lpstr>
      <vt:lpstr>Diagnostic criteria</vt:lpstr>
      <vt:lpstr>Clinical presentation</vt:lpstr>
      <vt:lpstr>Diabetic ketoacidosis</vt:lpstr>
      <vt:lpstr>PowerPoint Presentation</vt:lpstr>
      <vt:lpstr>HHS </vt:lpstr>
      <vt:lpstr>MANAGEMENT</vt:lpstr>
      <vt:lpstr>PowerPoint Presentation</vt:lpstr>
      <vt:lpstr>PowerPoint Presentation</vt:lpstr>
      <vt:lpstr>PowerPoint Presentation</vt:lpstr>
      <vt:lpstr>POTASSIUM</vt:lpstr>
      <vt:lpstr>PowerPoint Presentation</vt:lpstr>
      <vt:lpstr>Euglycemic DKA</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Buzicky, Stacey</cp:lastModifiedBy>
  <cp:revision>1942</cp:revision>
  <dcterms:created xsi:type="dcterms:W3CDTF">2025-05-24T11:10:35Z</dcterms:created>
  <dcterms:modified xsi:type="dcterms:W3CDTF">2025-07-22T17:45:46Z</dcterms:modified>
</cp:coreProperties>
</file>