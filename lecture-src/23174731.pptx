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595" r:id="rId3"/>
    <p:sldId id="257" r:id="rId4"/>
    <p:sldId id="602" r:id="rId5"/>
    <p:sldId id="606" r:id="rId6"/>
    <p:sldId id="603" r:id="rId7"/>
    <p:sldId id="640" r:id="rId8"/>
    <p:sldId id="639" r:id="rId9"/>
    <p:sldId id="286" r:id="rId10"/>
    <p:sldId id="554" r:id="rId11"/>
    <p:sldId id="577" r:id="rId12"/>
    <p:sldId id="302" r:id="rId13"/>
    <p:sldId id="259" r:id="rId14"/>
    <p:sldId id="258" r:id="rId15"/>
    <p:sldId id="578" r:id="rId16"/>
    <p:sldId id="579" r:id="rId17"/>
    <p:sldId id="580" r:id="rId18"/>
    <p:sldId id="272" r:id="rId19"/>
    <p:sldId id="615" r:id="rId20"/>
    <p:sldId id="598" r:id="rId21"/>
    <p:sldId id="581" r:id="rId22"/>
    <p:sldId id="596" r:id="rId23"/>
    <p:sldId id="582" r:id="rId24"/>
    <p:sldId id="583" r:id="rId25"/>
    <p:sldId id="597" r:id="rId26"/>
    <p:sldId id="276" r:id="rId27"/>
    <p:sldId id="585" r:id="rId28"/>
    <p:sldId id="269" r:id="rId29"/>
    <p:sldId id="586" r:id="rId30"/>
    <p:sldId id="609" r:id="rId31"/>
    <p:sldId id="614" r:id="rId32"/>
    <p:sldId id="612" r:id="rId33"/>
    <p:sldId id="273" r:id="rId34"/>
    <p:sldId id="283" r:id="rId35"/>
    <p:sldId id="267" r:id="rId36"/>
    <p:sldId id="312" r:id="rId37"/>
    <p:sldId id="271" r:id="rId38"/>
    <p:sldId id="613" r:id="rId39"/>
    <p:sldId id="300" r:id="rId40"/>
    <p:sldId id="624" r:id="rId41"/>
    <p:sldId id="627" r:id="rId42"/>
    <p:sldId id="626" r:id="rId43"/>
    <p:sldId id="617" r:id="rId44"/>
    <p:sldId id="618" r:id="rId45"/>
    <p:sldId id="616" r:id="rId46"/>
    <p:sldId id="625" r:id="rId47"/>
    <p:sldId id="623" r:id="rId48"/>
    <p:sldId id="274" r:id="rId49"/>
    <p:sldId id="641" r:id="rId50"/>
    <p:sldId id="299" r:id="rId51"/>
    <p:sldId id="619" r:id="rId52"/>
    <p:sldId id="622" r:id="rId53"/>
    <p:sldId id="277" r:id="rId54"/>
    <p:sldId id="638" r:id="rId55"/>
    <p:sldId id="285" r:id="rId56"/>
    <p:sldId id="591" r:id="rId57"/>
    <p:sldId id="590" r:id="rId58"/>
    <p:sldId id="635" r:id="rId59"/>
    <p:sldId id="281" r:id="rId60"/>
    <p:sldId id="282" r:id="rId61"/>
    <p:sldId id="284" r:id="rId62"/>
    <p:sldId id="589" r:id="rId63"/>
    <p:sldId id="631" r:id="rId64"/>
    <p:sldId id="632" r:id="rId65"/>
    <p:sldId id="633" r:id="rId66"/>
    <p:sldId id="634" r:id="rId67"/>
    <p:sldId id="601" r:id="rId68"/>
    <p:sldId id="628" r:id="rId69"/>
    <p:sldId id="630" r:id="rId70"/>
    <p:sldId id="629" r:id="rId71"/>
    <p:sldId id="593"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4D14FC-6E06-4381-A1F4-D9E222DAAF44}" v="1002" dt="2025-07-31T00:24:02.2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116" d="100"/>
          <a:sy n="116" d="100"/>
        </p:scale>
        <p:origin x="108"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6" name="Shape 117"/>
          <p:cNvSpPr txBox="1"/>
          <p:nvPr userDrawn="1"/>
        </p:nvSpPr>
        <p:spPr>
          <a:xfrm>
            <a:off x="0" y="6507325"/>
            <a:ext cx="12192000" cy="295153"/>
          </a:xfrm>
          <a:prstGeom prst="rect">
            <a:avLst/>
          </a:prstGeom>
          <a:noFill/>
          <a:ln>
            <a:noFill/>
          </a:ln>
        </p:spPr>
        <p:txBody>
          <a:bodyPr wrap="square" lIns="91425" tIns="91425" rIns="91425" bIns="91425" anchor="t" anchorCtr="0">
            <a:noAutofit/>
          </a:bodyPr>
          <a:lstStyle/>
          <a:p>
            <a:pPr marL="228600" algn="ctr">
              <a:buClr>
                <a:schemeClr val="dk2"/>
              </a:buClr>
            </a:pPr>
            <a:r>
              <a:rPr lang="en-US" sz="800" dirty="0">
                <a:solidFill>
                  <a:schemeClr val="tx1">
                    <a:lumMod val="75000"/>
                    <a:lumOff val="25000"/>
                  </a:schemeClr>
                </a:solidFill>
                <a:latin typeface="Gotham Light" charset="0"/>
                <a:ea typeface="Gotham Light" charset="0"/>
                <a:cs typeface="Gotham Light" charset="0"/>
                <a:sym typeface="Source Sans Pro"/>
              </a:rPr>
              <a:t>Carle Illinois College of Medicine </a:t>
            </a:r>
            <a:endParaRPr sz="800" dirty="0">
              <a:solidFill>
                <a:schemeClr val="tx1">
                  <a:lumMod val="75000"/>
                  <a:lumOff val="25000"/>
                </a:schemeClr>
              </a:solidFill>
              <a:latin typeface="Gotham Light" charset="0"/>
              <a:ea typeface="Gotham Light" charset="0"/>
              <a:cs typeface="Gotham Light" charset="0"/>
              <a:sym typeface="Source Sans Pro"/>
            </a:endParaRPr>
          </a:p>
        </p:txBody>
      </p:sp>
      <p:sp>
        <p:nvSpPr>
          <p:cNvPr id="7" name="Shape 55"/>
          <p:cNvSpPr/>
          <p:nvPr userDrawn="1"/>
        </p:nvSpPr>
        <p:spPr>
          <a:xfrm>
            <a:off x="0" y="-4"/>
            <a:ext cx="12192000" cy="270558"/>
          </a:xfrm>
          <a:prstGeom prst="rect">
            <a:avLst/>
          </a:prstGeom>
          <a:gradFill flip="none" rotWithShape="1">
            <a:gsLst>
              <a:gs pos="0">
                <a:srgbClr val="B20D38"/>
              </a:gs>
              <a:gs pos="99000">
                <a:srgbClr val="13294B"/>
              </a:gs>
            </a:gsLst>
            <a:lin ang="0" scaled="1"/>
            <a:tileRect/>
          </a:gradFill>
          <a:ln>
            <a:noFill/>
          </a:ln>
        </p:spPr>
        <p:txBody>
          <a:bodyPr wrap="square" lIns="91425" tIns="91425" rIns="91425" bIns="91425" anchor="ctr" anchorCtr="0">
            <a:noAutofit/>
          </a:bodyPr>
          <a:lstStyle/>
          <a:p>
            <a:pPr lvl="0">
              <a:spcBef>
                <a:spcPts val="0"/>
              </a:spcBef>
              <a:buNone/>
            </a:pPr>
            <a:endParaRPr>
              <a:solidFill>
                <a:schemeClr val="tx1"/>
              </a:solidFill>
            </a:endParaRPr>
          </a:p>
        </p:txBody>
      </p:sp>
    </p:spTree>
    <p:extLst>
      <p:ext uri="{BB962C8B-B14F-4D97-AF65-F5344CB8AC3E}">
        <p14:creationId xmlns:p14="http://schemas.microsoft.com/office/powerpoint/2010/main" val="1423388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12.xml"/><Relationship Id="rId4" Type="http://schemas.openxmlformats.org/officeDocument/2006/relationships/hyperlink" Target="https://slideplayer.com/slide/8275831/"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3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Endocrine lectures- Pituitary</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Sathya Subbiah, MD </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E70FE-33E3-B96F-AA61-91DB24E0B944}"/>
              </a:ext>
            </a:extLst>
          </p:cNvPr>
          <p:cNvSpPr>
            <a:spLocks noGrp="1"/>
          </p:cNvSpPr>
          <p:nvPr>
            <p:ph type="title"/>
          </p:nvPr>
        </p:nvSpPr>
        <p:spPr/>
        <p:txBody>
          <a:bodyPr/>
          <a:lstStyle/>
          <a:p>
            <a:r>
              <a:rPr lang="en-US" dirty="0"/>
              <a:t>Objectives </a:t>
            </a:r>
          </a:p>
        </p:txBody>
      </p:sp>
      <p:sp>
        <p:nvSpPr>
          <p:cNvPr id="3" name="Content Placeholder 2">
            <a:extLst>
              <a:ext uri="{FF2B5EF4-FFF2-40B4-BE49-F238E27FC236}">
                <a16:creationId xmlns:a16="http://schemas.microsoft.com/office/drawing/2014/main" id="{63396925-74BF-2C81-09F7-B58B0D7899C9}"/>
              </a:ext>
            </a:extLst>
          </p:cNvPr>
          <p:cNvSpPr>
            <a:spLocks noGrp="1"/>
          </p:cNvSpPr>
          <p:nvPr>
            <p:ph idx="1"/>
          </p:nvPr>
        </p:nvSpPr>
        <p:spPr/>
        <p:txBody>
          <a:bodyPr vert="horz" lIns="91440" tIns="45720" rIns="91440" bIns="45720" rtlCol="0" anchor="t">
            <a:normAutofit/>
          </a:bodyPr>
          <a:lstStyle/>
          <a:p>
            <a:r>
              <a:rPr lang="en-US" dirty="0"/>
              <a:t>Understand the anatomy, cell types of pituitary and hormones secreted</a:t>
            </a:r>
          </a:p>
          <a:p>
            <a:r>
              <a:rPr lang="en-US" dirty="0"/>
              <a:t>Identify the visual pathways and vision disturbance caused by pituitary tumor</a:t>
            </a:r>
          </a:p>
          <a:p>
            <a:r>
              <a:rPr lang="en-US" dirty="0"/>
              <a:t>Understand the Hypothalamic-Pituitary axis and it's disturbances</a:t>
            </a:r>
          </a:p>
          <a:p>
            <a:r>
              <a:rPr lang="en-US" dirty="0"/>
              <a:t>Identify basic radiology findings of pituitary tumors</a:t>
            </a:r>
          </a:p>
          <a:p>
            <a:r>
              <a:rPr lang="en-US" dirty="0"/>
              <a:t>Understand the various causes/ patterns of over and underactive pituitary lesions , including Diabetes insipidus and pituitary apoplexies</a:t>
            </a:r>
          </a:p>
          <a:p>
            <a:endParaRPr lang="en-US" dirty="0"/>
          </a:p>
        </p:txBody>
      </p:sp>
    </p:spTree>
    <p:extLst>
      <p:ext uri="{BB962C8B-B14F-4D97-AF65-F5344CB8AC3E}">
        <p14:creationId xmlns:p14="http://schemas.microsoft.com/office/powerpoint/2010/main" val="3313868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96FAF-45FC-ED31-CF26-A31660896D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B4A813-FE4F-C00B-5766-7711C0B865F4}"/>
              </a:ext>
            </a:extLst>
          </p:cNvPr>
          <p:cNvSpPr>
            <a:spLocks noGrp="1"/>
          </p:cNvSpPr>
          <p:nvPr>
            <p:ph idx="1"/>
          </p:nvPr>
        </p:nvSpPr>
        <p:spPr/>
        <p:txBody>
          <a:bodyPr vert="horz" lIns="91440" tIns="45720" rIns="91440" bIns="45720" rtlCol="0" anchor="t">
            <a:normAutofit/>
          </a:bodyPr>
          <a:lstStyle/>
          <a:p>
            <a:r>
              <a:rPr lang="en-US" dirty="0"/>
              <a:t>34 yr man c/o blurred vision , headache for past 4 months. </a:t>
            </a:r>
          </a:p>
          <a:p>
            <a:r>
              <a:rPr lang="en-US" dirty="0"/>
              <a:t>Labs- normal electrolytes, renal function</a:t>
            </a:r>
          </a:p>
          <a:p>
            <a:r>
              <a:rPr lang="en-US" dirty="0"/>
              <a:t>Eye visit – shows partial defects in visual fields</a:t>
            </a:r>
          </a:p>
          <a:p>
            <a:r>
              <a:rPr lang="en-US" dirty="0"/>
              <a:t>MRI pituitary – 12 mm pituitary macroadenoma pressing on optic chiasm </a:t>
            </a:r>
          </a:p>
        </p:txBody>
      </p:sp>
    </p:spTree>
    <p:extLst>
      <p:ext uri="{BB962C8B-B14F-4D97-AF65-F5344CB8AC3E}">
        <p14:creationId xmlns:p14="http://schemas.microsoft.com/office/powerpoint/2010/main" val="2404189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06EDA-981B-C87F-B669-6FE163932F56}"/>
              </a:ext>
            </a:extLst>
          </p:cNvPr>
          <p:cNvSpPr>
            <a:spLocks noGrp="1"/>
          </p:cNvSpPr>
          <p:nvPr>
            <p:ph type="title"/>
          </p:nvPr>
        </p:nvSpPr>
        <p:spPr/>
        <p:txBody>
          <a:bodyPr/>
          <a:lstStyle/>
          <a:p>
            <a:r>
              <a:rPr lang="en-US" dirty="0"/>
              <a:t>Master gland</a:t>
            </a:r>
          </a:p>
        </p:txBody>
      </p:sp>
      <p:sp>
        <p:nvSpPr>
          <p:cNvPr id="3" name="Content Placeholder 2">
            <a:extLst>
              <a:ext uri="{FF2B5EF4-FFF2-40B4-BE49-F238E27FC236}">
                <a16:creationId xmlns:a16="http://schemas.microsoft.com/office/drawing/2014/main" id="{83D9FA1B-200B-D55F-E11F-91AC8CC6FD06}"/>
              </a:ext>
            </a:extLst>
          </p:cNvPr>
          <p:cNvSpPr>
            <a:spLocks noGrp="1"/>
          </p:cNvSpPr>
          <p:nvPr>
            <p:ph idx="1"/>
          </p:nvPr>
        </p:nvSpPr>
        <p:spPr/>
        <p:txBody>
          <a:bodyPr vert="horz" lIns="91440" tIns="45720" rIns="91440" bIns="45720" rtlCol="0" anchor="t">
            <a:normAutofit/>
          </a:bodyPr>
          <a:lstStyle/>
          <a:p>
            <a:r>
              <a:rPr lang="en-US" sz="1600" dirty="0">
                <a:latin typeface="PT Serif"/>
              </a:rPr>
              <a:t>The </a:t>
            </a:r>
            <a:r>
              <a:rPr lang="en-US" sz="1600" u="sng" dirty="0">
                <a:latin typeface="PT Serif"/>
              </a:rPr>
              <a:t>pituitary gland, controls many of the hormones that circulate in our bodies</a:t>
            </a:r>
          </a:p>
          <a:p>
            <a:r>
              <a:rPr lang="en-US" sz="1600" dirty="0">
                <a:latin typeface="PT Serif"/>
              </a:rPr>
              <a:t>The pituitary gland is roughly the size of a pea and projects out </a:t>
            </a:r>
            <a:r>
              <a:rPr lang="en-US" sz="1600" err="1">
                <a:latin typeface="PT Serif"/>
              </a:rPr>
              <a:t>anteroinferiorly</a:t>
            </a:r>
            <a:r>
              <a:rPr lang="en-US" sz="1600" dirty="0">
                <a:latin typeface="PT Serif"/>
              </a:rPr>
              <a:t> from the </a:t>
            </a:r>
            <a:r>
              <a:rPr lang="en-US" sz="1600" b="1" u="sng" dirty="0">
                <a:latin typeface="PT Serif"/>
              </a:rPr>
              <a:t>hypothalamus.</a:t>
            </a:r>
          </a:p>
          <a:p>
            <a:r>
              <a:rPr lang="en-US" sz="1600" dirty="0">
                <a:latin typeface="PT Serif"/>
              </a:rPr>
              <a:t>The pituitary is located just inferior to the </a:t>
            </a:r>
            <a:r>
              <a:rPr lang="en-US" sz="1600" u="sng" dirty="0">
                <a:latin typeface="PT Serif"/>
              </a:rPr>
              <a:t>optic chiasm (where the optic nerves cross) and sits in the </a:t>
            </a:r>
            <a:r>
              <a:rPr lang="en-US" sz="1600" u="sng" err="1">
                <a:latin typeface="PT Serif"/>
              </a:rPr>
              <a:t>sellar</a:t>
            </a:r>
            <a:r>
              <a:rPr lang="en-US" sz="1600" u="sng" dirty="0">
                <a:latin typeface="PT Serif"/>
              </a:rPr>
              <a:t> space within the </a:t>
            </a:r>
            <a:r>
              <a:rPr lang="en-US" sz="1600" b="1" u="sng" err="1">
                <a:latin typeface="PT Serif"/>
              </a:rPr>
              <a:t>sella</a:t>
            </a:r>
            <a:r>
              <a:rPr lang="en-US" sz="1600" b="1" u="sng" dirty="0">
                <a:latin typeface="PT Serif"/>
              </a:rPr>
              <a:t> turcica </a:t>
            </a:r>
            <a:r>
              <a:rPr lang="en-US" sz="1600" u="sng" dirty="0">
                <a:latin typeface="PT Serif"/>
              </a:rPr>
              <a:t>(Turkish saddle), a saddle-shaped depression in the sphenoid bone of the skull. </a:t>
            </a:r>
          </a:p>
          <a:p>
            <a:r>
              <a:rPr lang="en-US" sz="1600" dirty="0">
                <a:latin typeface="PT Serif"/>
              </a:rPr>
              <a:t>The pituitary consists of two distinct lobes that project from the hypothalamus by a thin stalk called the infundibulum</a:t>
            </a:r>
            <a:endParaRPr lang="en-US" sz="1600" u="sng" dirty="0">
              <a:latin typeface="PT Serif"/>
            </a:endParaRPr>
          </a:p>
        </p:txBody>
      </p:sp>
    </p:spTree>
    <p:extLst>
      <p:ext uri="{BB962C8B-B14F-4D97-AF65-F5344CB8AC3E}">
        <p14:creationId xmlns:p14="http://schemas.microsoft.com/office/powerpoint/2010/main" val="940644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B7850-77AA-494E-27BE-42748084946B}"/>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BC904C59-CA67-A838-13DA-2C4AAB3B63F9}"/>
              </a:ext>
            </a:extLst>
          </p:cNvPr>
          <p:cNvPicPr>
            <a:picLocks noGrp="1" noChangeAspect="1"/>
          </p:cNvPicPr>
          <p:nvPr>
            <p:ph idx="1"/>
          </p:nvPr>
        </p:nvPicPr>
        <p:blipFill>
          <a:blip r:embed="rId2"/>
          <a:stretch>
            <a:fillRect/>
          </a:stretch>
        </p:blipFill>
        <p:spPr>
          <a:xfrm>
            <a:off x="3801875" y="2501710"/>
            <a:ext cx="8238761" cy="2520701"/>
          </a:xfrm>
        </p:spPr>
      </p:pic>
      <p:sp>
        <p:nvSpPr>
          <p:cNvPr id="5" name="TextBox 4">
            <a:extLst>
              <a:ext uri="{FF2B5EF4-FFF2-40B4-BE49-F238E27FC236}">
                <a16:creationId xmlns:a16="http://schemas.microsoft.com/office/drawing/2014/main" id="{26AFC75D-C790-6932-72EC-4EEA09C634B4}"/>
              </a:ext>
            </a:extLst>
          </p:cNvPr>
          <p:cNvSpPr txBox="1"/>
          <p:nvPr/>
        </p:nvSpPr>
        <p:spPr>
          <a:xfrm>
            <a:off x="152400" y="524540"/>
            <a:ext cx="3531780"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PT Serif"/>
              </a:rPr>
              <a:t>The anterior pituitary gland, also known as the adenohypophysis, is formed from the Rathke pouch, a finger of ectoderm that buds off from the roof of the developing mouth. In contrast, the posterior pituitary gland, also known as the neurohypophysis, is made of nerve axons that extend from the hypothalamus. At the same time the Rathke pouch is developing, another pouch of neuroectoderm extends from the developing brain to become the posterior pituitary.</a:t>
            </a:r>
            <a:endParaRPr lang="en-US" dirty="0"/>
          </a:p>
          <a:p>
            <a:r>
              <a:rPr lang="en-US" dirty="0">
                <a:latin typeface="PT Serif"/>
              </a:rPr>
              <a:t>The two adjoining tissues form the mature pituitary gland. However, their histology is different.</a:t>
            </a:r>
          </a:p>
        </p:txBody>
      </p:sp>
    </p:spTree>
    <p:extLst>
      <p:ext uri="{BB962C8B-B14F-4D97-AF65-F5344CB8AC3E}">
        <p14:creationId xmlns:p14="http://schemas.microsoft.com/office/powerpoint/2010/main" val="3612806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E9E21-045D-A108-2A46-92B22C5282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14BECA-3F5B-9E30-1556-4FA4DE0D8B3B}"/>
              </a:ext>
            </a:extLst>
          </p:cNvPr>
          <p:cNvSpPr>
            <a:spLocks noGrp="1"/>
          </p:cNvSpPr>
          <p:nvPr>
            <p:ph idx="1"/>
          </p:nvPr>
        </p:nvSpPr>
        <p:spPr>
          <a:xfrm>
            <a:off x="552450" y="368300"/>
            <a:ext cx="10515600" cy="4351338"/>
          </a:xfrm>
        </p:spPr>
        <p:txBody>
          <a:bodyPr vert="horz" lIns="91440" tIns="45720" rIns="91440" bIns="45720" rtlCol="0" anchor="t">
            <a:normAutofit/>
          </a:bodyPr>
          <a:lstStyle/>
          <a:p>
            <a:r>
              <a:rPr lang="en-US" sz="1600" dirty="0">
                <a:latin typeface="PT Serif"/>
              </a:rPr>
              <a:t>The two lobes are the anterior pituitary (</a:t>
            </a:r>
            <a:r>
              <a:rPr lang="en-US" sz="1600" u="sng" dirty="0">
                <a:latin typeface="PT Serif"/>
              </a:rPr>
              <a:t>adenohypophysis) and the posterior pituitary (neurohypophysis).</a:t>
            </a:r>
            <a:endParaRPr lang="en-US" dirty="0"/>
          </a:p>
          <a:p>
            <a:r>
              <a:rPr lang="en-US" sz="1600" dirty="0">
                <a:latin typeface="PT Serif"/>
              </a:rPr>
              <a:t>The </a:t>
            </a:r>
            <a:r>
              <a:rPr lang="en-US" sz="1600" b="1" dirty="0">
                <a:latin typeface="PT Serif"/>
              </a:rPr>
              <a:t>anterior pituitary</a:t>
            </a:r>
            <a:r>
              <a:rPr lang="en-US" sz="1600" dirty="0">
                <a:latin typeface="PT Serif"/>
              </a:rPr>
              <a:t> is a true gland, with cells that synthesize and release hormones. It is richly perfused with capillaries.</a:t>
            </a:r>
            <a:endParaRPr lang="en-US" dirty="0"/>
          </a:p>
          <a:p>
            <a:r>
              <a:rPr lang="en-US" sz="1600" dirty="0">
                <a:latin typeface="PT Serif"/>
              </a:rPr>
              <a:t>The </a:t>
            </a:r>
            <a:r>
              <a:rPr lang="en-US" sz="1600" b="1" dirty="0">
                <a:latin typeface="PT Serif"/>
              </a:rPr>
              <a:t>posterior pituitary</a:t>
            </a:r>
            <a:r>
              <a:rPr lang="en-US" sz="1600" dirty="0">
                <a:latin typeface="PT Serif"/>
              </a:rPr>
              <a:t> is a neural extension of the brain. It is connected to the hypothalamus through the infundibulum, which contains the </a:t>
            </a:r>
            <a:r>
              <a:rPr lang="en-US" sz="1600" b="1" dirty="0" err="1">
                <a:latin typeface="PT Serif"/>
              </a:rPr>
              <a:t>hypothalamo</a:t>
            </a:r>
            <a:r>
              <a:rPr lang="en-US" sz="1600" b="1" dirty="0">
                <a:latin typeface="PT Serif"/>
              </a:rPr>
              <a:t>-hypophyseal portal tract</a:t>
            </a:r>
            <a:endParaRPr lang="en-US" dirty="0"/>
          </a:p>
          <a:p>
            <a:r>
              <a:rPr lang="en-US" sz="1600" dirty="0">
                <a:latin typeface="PT Serif"/>
              </a:rPr>
              <a:t>The tract carry </a:t>
            </a:r>
            <a:r>
              <a:rPr lang="en-US" sz="1600" u="sng" dirty="0">
                <a:latin typeface="PT Serif"/>
              </a:rPr>
              <a:t>oxytocin and antidiuretic hormone (ADH, vasopressin) f</a:t>
            </a:r>
            <a:r>
              <a:rPr lang="en-US" sz="1600" dirty="0">
                <a:latin typeface="PT Serif"/>
              </a:rPr>
              <a:t>rom the nerve cell bodies in the hypothalamus, where they are made, to the nerve endings in the posterior pituitary, where they are</a:t>
            </a:r>
            <a:r>
              <a:rPr lang="en-US" sz="1600" dirty="0">
                <a:solidFill>
                  <a:srgbClr val="FF0000"/>
                </a:solidFill>
                <a:latin typeface="PT Serif"/>
              </a:rPr>
              <a:t> store</a:t>
            </a:r>
            <a:r>
              <a:rPr lang="en-US" sz="1600" u="sng" dirty="0">
                <a:solidFill>
                  <a:srgbClr val="FF0000"/>
                </a:solidFill>
                <a:latin typeface="PT Serif"/>
              </a:rPr>
              <a:t>d </a:t>
            </a:r>
          </a:p>
          <a:p>
            <a:endParaRPr lang="en-US" dirty="0"/>
          </a:p>
        </p:txBody>
      </p:sp>
      <p:pic>
        <p:nvPicPr>
          <p:cNvPr id="4" name="Picture 3" descr="http://2.bp.blogspot.com/-3P4FOc55QJo/UNYLZRKnfhI/AAAAAAAAAXE/nBp4p8G7xjg/s1600/endocrine14.PNG.jpg">
            <a:extLst>
              <a:ext uri="{FF2B5EF4-FFF2-40B4-BE49-F238E27FC236}">
                <a16:creationId xmlns:a16="http://schemas.microsoft.com/office/drawing/2014/main" id="{BCBADE2E-8202-23A2-3CD8-652E1234525F}"/>
              </a:ext>
            </a:extLst>
          </p:cNvPr>
          <p:cNvPicPr>
            <a:picLocks noChangeAspect="1"/>
          </p:cNvPicPr>
          <p:nvPr/>
        </p:nvPicPr>
        <p:blipFill>
          <a:blip r:embed="rId2"/>
          <a:stretch>
            <a:fillRect/>
          </a:stretch>
        </p:blipFill>
        <p:spPr>
          <a:xfrm>
            <a:off x="7038975" y="2728913"/>
            <a:ext cx="3295650" cy="3514725"/>
          </a:xfrm>
          <a:prstGeom prst="rect">
            <a:avLst/>
          </a:prstGeom>
        </p:spPr>
      </p:pic>
      <p:sp>
        <p:nvSpPr>
          <p:cNvPr id="5" name="Star: 5 Points 4">
            <a:extLst>
              <a:ext uri="{FF2B5EF4-FFF2-40B4-BE49-F238E27FC236}">
                <a16:creationId xmlns:a16="http://schemas.microsoft.com/office/drawing/2014/main" id="{2E87581D-5982-EECA-6D24-C97FD102CC6A}"/>
              </a:ext>
            </a:extLst>
          </p:cNvPr>
          <p:cNvSpPr/>
          <p:nvPr/>
        </p:nvSpPr>
        <p:spPr>
          <a:xfrm>
            <a:off x="11278708" y="2823399"/>
            <a:ext cx="619125" cy="60960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1615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083AE-ABDE-9605-EEB5-95EFDA08EF92}"/>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07A2BDB2-947D-5EF4-0690-7A08C43DC0CA}"/>
              </a:ext>
            </a:extLst>
          </p:cNvPr>
          <p:cNvSpPr>
            <a:spLocks noChangeArrowheads="1"/>
          </p:cNvSpPr>
          <p:nvPr/>
        </p:nvSpPr>
        <p:spPr bwMode="auto">
          <a:xfrm>
            <a:off x="2149475" y="387669"/>
            <a:ext cx="807878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b="1">
                <a:latin typeface="Arial" panose="020B0604020202020204" pitchFamily="34" charset="0"/>
              </a:rPr>
              <a:t>Hypothalamic Hormones Regulating the</a:t>
            </a:r>
          </a:p>
          <a:p>
            <a:pPr algn="ctr">
              <a:spcBef>
                <a:spcPct val="0"/>
              </a:spcBef>
              <a:buFontTx/>
              <a:buNone/>
            </a:pPr>
            <a:r>
              <a:rPr lang="en-US" altLang="en-US" b="1">
                <a:latin typeface="Arial" panose="020B0604020202020204" pitchFamily="34" charset="0"/>
              </a:rPr>
              <a:t>Secretion of Anterior Pituitary Hormones</a:t>
            </a:r>
          </a:p>
        </p:txBody>
      </p:sp>
      <p:sp>
        <p:nvSpPr>
          <p:cNvPr id="3" name="Text Box 3">
            <a:extLst>
              <a:ext uri="{FF2B5EF4-FFF2-40B4-BE49-F238E27FC236}">
                <a16:creationId xmlns:a16="http://schemas.microsoft.com/office/drawing/2014/main" id="{BA7F0BBC-8B34-5A79-DF35-AD97F62CAB4F}"/>
              </a:ext>
            </a:extLst>
          </p:cNvPr>
          <p:cNvSpPr txBox="1">
            <a:spLocks noChangeArrowheads="1"/>
          </p:cNvSpPr>
          <p:nvPr/>
        </p:nvSpPr>
        <p:spPr bwMode="auto">
          <a:xfrm>
            <a:off x="296862" y="2016761"/>
            <a:ext cx="9657080"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Hypothalamic </a:t>
            </a:r>
            <a:r>
              <a:rPr lang="en-US" altLang="en-US" sz="2800" dirty="0" err="1">
                <a:latin typeface="Arial" panose="020B0604020202020204" pitchFamily="34" charset="0"/>
              </a:rPr>
              <a:t>neurones</a:t>
            </a:r>
            <a:r>
              <a:rPr lang="en-US" altLang="en-US" sz="2800" dirty="0">
                <a:latin typeface="Arial" panose="020B0604020202020204" pitchFamily="34" charset="0"/>
              </a:rPr>
              <a:t> synthesize and secrete </a:t>
            </a:r>
          </a:p>
          <a:p>
            <a:pPr>
              <a:spcBef>
                <a:spcPct val="0"/>
              </a:spcBef>
              <a:buFontTx/>
              <a:buNone/>
            </a:pPr>
            <a:r>
              <a:rPr lang="en-US" altLang="en-US" sz="2800" dirty="0">
                <a:latin typeface="Arial" panose="020B0604020202020204" pitchFamily="34" charset="0"/>
              </a:rPr>
              <a:t>peptides (releasing hormones):  </a:t>
            </a:r>
          </a:p>
          <a:p>
            <a:pPr>
              <a:spcBef>
                <a:spcPct val="0"/>
              </a:spcBef>
              <a:buFontTx/>
              <a:buNone/>
            </a:pPr>
            <a:endParaRPr lang="en-US" altLang="en-US" sz="3600" dirty="0">
              <a:latin typeface="Arial" panose="020B0604020202020204" pitchFamily="34" charset="0"/>
            </a:endParaRPr>
          </a:p>
          <a:p>
            <a:pPr>
              <a:spcBef>
                <a:spcPct val="0"/>
              </a:spcBef>
              <a:buFontTx/>
              <a:buAutoNum type="arabicPeriod"/>
            </a:pPr>
            <a:r>
              <a:rPr lang="en-US" altLang="en-US" sz="2800" b="1" dirty="0">
                <a:solidFill>
                  <a:srgbClr val="00B050"/>
                </a:solidFill>
                <a:latin typeface="Arial" panose="020B0604020202020204" pitchFamily="34" charset="0"/>
              </a:rPr>
              <a:t>Corticotrophin Releasing Hormone </a:t>
            </a:r>
            <a:r>
              <a:rPr lang="en-US" altLang="en-US" sz="2800" dirty="0">
                <a:latin typeface="Arial" panose="020B0604020202020204" pitchFamily="34" charset="0"/>
              </a:rPr>
              <a:t>(CRH)</a:t>
            </a:r>
          </a:p>
          <a:p>
            <a:pPr>
              <a:spcBef>
                <a:spcPct val="0"/>
              </a:spcBef>
              <a:buFontTx/>
              <a:buAutoNum type="arabicPeriod"/>
            </a:pPr>
            <a:r>
              <a:rPr lang="en-US" altLang="en-US" sz="2800" b="1" dirty="0">
                <a:solidFill>
                  <a:srgbClr val="00B050"/>
                </a:solidFill>
                <a:latin typeface="Arial"/>
                <a:cs typeface="Arial"/>
              </a:rPr>
              <a:t>Thyrotrophin Releasing Hormone </a:t>
            </a:r>
            <a:r>
              <a:rPr lang="en-US" altLang="en-US" sz="2800" dirty="0">
                <a:latin typeface="Arial"/>
                <a:cs typeface="Arial"/>
              </a:rPr>
              <a:t>(TRH)</a:t>
            </a:r>
          </a:p>
          <a:p>
            <a:pPr>
              <a:spcBef>
                <a:spcPct val="0"/>
              </a:spcBef>
              <a:buFontTx/>
              <a:buAutoNum type="arabicPeriod"/>
            </a:pPr>
            <a:r>
              <a:rPr lang="en-US" altLang="en-US" sz="2800" b="1" dirty="0">
                <a:solidFill>
                  <a:srgbClr val="00B050"/>
                </a:solidFill>
                <a:latin typeface="Arial" panose="020B0604020202020204" pitchFamily="34" charset="0"/>
              </a:rPr>
              <a:t>Growth Hormone Releasing Hormone </a:t>
            </a:r>
            <a:r>
              <a:rPr lang="en-US" altLang="en-US" sz="2800" dirty="0">
                <a:latin typeface="Arial" panose="020B0604020202020204" pitchFamily="34" charset="0"/>
              </a:rPr>
              <a:t>(GHRH)</a:t>
            </a:r>
          </a:p>
          <a:p>
            <a:pPr>
              <a:spcBef>
                <a:spcPct val="0"/>
              </a:spcBef>
              <a:buFontTx/>
              <a:buAutoNum type="arabicPeriod"/>
            </a:pPr>
            <a:r>
              <a:rPr lang="en-US" altLang="en-US" sz="2800" b="1" dirty="0">
                <a:solidFill>
                  <a:srgbClr val="00B050"/>
                </a:solidFill>
                <a:latin typeface="Arial"/>
                <a:cs typeface="Arial"/>
              </a:rPr>
              <a:t>Gonadotrophin Releasing Hormone</a:t>
            </a:r>
            <a:r>
              <a:rPr lang="en-US" altLang="en-US" sz="2800" dirty="0">
                <a:latin typeface="Arial"/>
                <a:cs typeface="Arial"/>
              </a:rPr>
              <a:t> (GnRH)</a:t>
            </a:r>
          </a:p>
          <a:p>
            <a:pPr>
              <a:spcBef>
                <a:spcPct val="0"/>
              </a:spcBef>
              <a:buFontTx/>
              <a:buAutoNum type="arabicPeriod"/>
            </a:pPr>
            <a:r>
              <a:rPr lang="en-US" altLang="en-US" sz="2800" b="1" dirty="0">
                <a:solidFill>
                  <a:srgbClr val="00B050"/>
                </a:solidFill>
                <a:latin typeface="Arial"/>
                <a:cs typeface="Arial"/>
              </a:rPr>
              <a:t>Somatostatin</a:t>
            </a:r>
            <a:r>
              <a:rPr lang="en-US" altLang="en-US" sz="2800" dirty="0">
                <a:latin typeface="Arial"/>
                <a:cs typeface="Arial"/>
              </a:rPr>
              <a:t> </a:t>
            </a:r>
            <a:r>
              <a:rPr lang="en-US" altLang="en-US" sz="2800" dirty="0">
                <a:solidFill>
                  <a:srgbClr val="00B050"/>
                </a:solidFill>
                <a:latin typeface="Arial"/>
                <a:cs typeface="Arial"/>
              </a:rPr>
              <a:t>(also GH-Inhibiting Hormone)</a:t>
            </a:r>
          </a:p>
          <a:p>
            <a:pPr>
              <a:spcBef>
                <a:spcPct val="0"/>
              </a:spcBef>
              <a:buFontTx/>
              <a:buAutoNum type="arabicPeriod"/>
            </a:pPr>
            <a:r>
              <a:rPr lang="en-US" altLang="en-US" sz="2800" b="1" dirty="0">
                <a:solidFill>
                  <a:srgbClr val="00B050"/>
                </a:solidFill>
                <a:latin typeface="Arial"/>
                <a:cs typeface="Arial"/>
              </a:rPr>
              <a:t>Dopamine</a:t>
            </a:r>
            <a:r>
              <a:rPr lang="en-US" altLang="en-US" sz="2800" dirty="0">
                <a:latin typeface="Arial"/>
                <a:cs typeface="Arial"/>
              </a:rPr>
              <a:t> </a:t>
            </a:r>
            <a:r>
              <a:rPr lang="en-US" altLang="en-US" sz="2800" dirty="0">
                <a:solidFill>
                  <a:srgbClr val="00B050"/>
                </a:solidFill>
                <a:latin typeface="Arial"/>
                <a:cs typeface="Arial"/>
              </a:rPr>
              <a:t>(also Prolactin-Inhibiting Hormone)</a:t>
            </a:r>
          </a:p>
        </p:txBody>
      </p:sp>
      <p:pic>
        <p:nvPicPr>
          <p:cNvPr id="1026" name="Picture 2" descr="Image result for hypothalamic neurons">
            <a:extLst>
              <a:ext uri="{FF2B5EF4-FFF2-40B4-BE49-F238E27FC236}">
                <a16:creationId xmlns:a16="http://schemas.microsoft.com/office/drawing/2014/main" id="{70397E44-79A7-6255-D659-7F57B10279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3281" y="1454469"/>
            <a:ext cx="3281680" cy="2402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4474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8F056-3D79-39A0-80DF-6F9A9A2671BD}"/>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A563A4A3-A113-CF56-C9B3-2A7364AFE59A}"/>
              </a:ext>
            </a:extLst>
          </p:cNvPr>
          <p:cNvSpPr>
            <a:spLocks noChangeArrowheads="1"/>
          </p:cNvSpPr>
          <p:nvPr/>
        </p:nvSpPr>
        <p:spPr bwMode="auto">
          <a:xfrm>
            <a:off x="508000" y="395113"/>
            <a:ext cx="111963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b="1" dirty="0">
                <a:latin typeface="Arial" panose="020B0604020202020204" pitchFamily="34" charset="0"/>
              </a:rPr>
              <a:t>Five Cell Types of the Anterior Pituitary Gland</a:t>
            </a:r>
          </a:p>
        </p:txBody>
      </p:sp>
      <p:sp>
        <p:nvSpPr>
          <p:cNvPr id="3" name="Text Box 3">
            <a:extLst>
              <a:ext uri="{FF2B5EF4-FFF2-40B4-BE49-F238E27FC236}">
                <a16:creationId xmlns:a16="http://schemas.microsoft.com/office/drawing/2014/main" id="{7C7F6194-04CE-D5C0-B4EE-38D12262C328}"/>
              </a:ext>
            </a:extLst>
          </p:cNvPr>
          <p:cNvSpPr txBox="1">
            <a:spLocks noChangeArrowheads="1"/>
          </p:cNvSpPr>
          <p:nvPr/>
        </p:nvSpPr>
        <p:spPr bwMode="auto">
          <a:xfrm>
            <a:off x="264160" y="1356042"/>
            <a:ext cx="8610600"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AutoNum type="arabicPeriod"/>
            </a:pPr>
            <a:r>
              <a:rPr lang="en-US" altLang="en-US" sz="2800" b="1" dirty="0" err="1">
                <a:solidFill>
                  <a:srgbClr val="00B050"/>
                </a:solidFill>
                <a:latin typeface="Arial" panose="020B0604020202020204" pitchFamily="34" charset="0"/>
              </a:rPr>
              <a:t>Corticotrophs</a:t>
            </a:r>
            <a:r>
              <a:rPr lang="en-US" altLang="en-US" sz="2800" b="1" dirty="0">
                <a:solidFill>
                  <a:srgbClr val="00B050"/>
                </a:solidFill>
                <a:latin typeface="Arial" panose="020B0604020202020204" pitchFamily="34" charset="0"/>
              </a:rPr>
              <a:t> (20%): </a:t>
            </a:r>
            <a:r>
              <a:rPr lang="en-US" altLang="en-US" sz="2800" dirty="0">
                <a:latin typeface="Arial" panose="020B0604020202020204" pitchFamily="34" charset="0"/>
              </a:rPr>
              <a:t>produce corticotrophin, also called adrenocorticotropic hormone (ACTH)</a:t>
            </a:r>
          </a:p>
          <a:p>
            <a:pPr>
              <a:spcBef>
                <a:spcPct val="0"/>
              </a:spcBef>
              <a:buFontTx/>
              <a:buAutoNum type="arabicPeriod"/>
            </a:pPr>
            <a:r>
              <a:rPr lang="en-US" altLang="en-US" sz="2800" b="1" dirty="0" err="1">
                <a:solidFill>
                  <a:srgbClr val="00B050"/>
                </a:solidFill>
                <a:latin typeface="Arial" panose="020B0604020202020204" pitchFamily="34" charset="0"/>
              </a:rPr>
              <a:t>Thyrotrophs</a:t>
            </a:r>
            <a:r>
              <a:rPr lang="en-US" altLang="en-US" sz="2800" b="1" dirty="0">
                <a:solidFill>
                  <a:srgbClr val="00B050"/>
                </a:solidFill>
                <a:latin typeface="Arial" panose="020B0604020202020204" pitchFamily="34" charset="0"/>
              </a:rPr>
              <a:t> (5%): </a:t>
            </a:r>
            <a:r>
              <a:rPr lang="en-US" altLang="en-US" sz="2800" dirty="0">
                <a:latin typeface="Arial" panose="020B0604020202020204" pitchFamily="34" charset="0"/>
              </a:rPr>
              <a:t>produce thyrotropin, also called thyroid stimulating hormone (TSH)</a:t>
            </a:r>
          </a:p>
          <a:p>
            <a:pPr>
              <a:spcBef>
                <a:spcPct val="0"/>
              </a:spcBef>
              <a:buFontTx/>
              <a:buAutoNum type="arabicPeriod"/>
            </a:pPr>
            <a:r>
              <a:rPr lang="en-US" altLang="en-US" sz="2800" b="1" dirty="0" err="1">
                <a:solidFill>
                  <a:srgbClr val="00B050"/>
                </a:solidFill>
                <a:latin typeface="Arial" panose="020B0604020202020204" pitchFamily="34" charset="0"/>
              </a:rPr>
              <a:t>Somatotrophs</a:t>
            </a:r>
            <a:r>
              <a:rPr lang="en-US" altLang="en-US" sz="2800" b="1" dirty="0">
                <a:solidFill>
                  <a:srgbClr val="00B050"/>
                </a:solidFill>
                <a:latin typeface="Arial" panose="020B0604020202020204" pitchFamily="34" charset="0"/>
              </a:rPr>
              <a:t> (45%): </a:t>
            </a:r>
            <a:r>
              <a:rPr lang="en-US" altLang="en-US" sz="2800" dirty="0">
                <a:latin typeface="Arial" panose="020B0604020202020204" pitchFamily="34" charset="0"/>
              </a:rPr>
              <a:t>produce growth hormone (GH)</a:t>
            </a:r>
          </a:p>
          <a:p>
            <a:pPr>
              <a:spcBef>
                <a:spcPct val="0"/>
              </a:spcBef>
              <a:buFontTx/>
              <a:buAutoNum type="arabicPeriod"/>
            </a:pPr>
            <a:r>
              <a:rPr lang="en-US" altLang="en-US" sz="2800" b="1" dirty="0" err="1">
                <a:solidFill>
                  <a:srgbClr val="00B050"/>
                </a:solidFill>
                <a:latin typeface="Arial" panose="020B0604020202020204" pitchFamily="34" charset="0"/>
              </a:rPr>
              <a:t>Gonadotrophs</a:t>
            </a:r>
            <a:r>
              <a:rPr lang="en-US" altLang="en-US" sz="2800" b="1" dirty="0">
                <a:solidFill>
                  <a:srgbClr val="00B050"/>
                </a:solidFill>
                <a:latin typeface="Arial" panose="020B0604020202020204" pitchFamily="34" charset="0"/>
              </a:rPr>
              <a:t> (5%): </a:t>
            </a:r>
            <a:r>
              <a:rPr lang="en-US" altLang="en-US" sz="2800" dirty="0">
                <a:latin typeface="Arial" panose="020B0604020202020204" pitchFamily="34" charset="0"/>
              </a:rPr>
              <a:t>produce the gonadotropins, luteinizing hormone (LH) and follicle-stimulating hormone (FSH)</a:t>
            </a:r>
          </a:p>
          <a:p>
            <a:pPr>
              <a:spcBef>
                <a:spcPct val="0"/>
              </a:spcBef>
              <a:buFontTx/>
              <a:buAutoNum type="arabicPeriod"/>
            </a:pPr>
            <a:r>
              <a:rPr lang="en-US" altLang="en-US" sz="2800" b="1" dirty="0" err="1">
                <a:solidFill>
                  <a:srgbClr val="00B050"/>
                </a:solidFill>
                <a:latin typeface="Arial" panose="020B0604020202020204" pitchFamily="34" charset="0"/>
              </a:rPr>
              <a:t>Lactotrophs</a:t>
            </a:r>
            <a:r>
              <a:rPr lang="en-US" altLang="en-US" sz="2800" b="1" dirty="0">
                <a:solidFill>
                  <a:srgbClr val="00B050"/>
                </a:solidFill>
                <a:latin typeface="Arial" panose="020B0604020202020204" pitchFamily="34" charset="0"/>
              </a:rPr>
              <a:t> (25%): </a:t>
            </a:r>
            <a:r>
              <a:rPr lang="en-US" altLang="en-US" sz="2800" dirty="0">
                <a:latin typeface="Arial" panose="020B0604020202020204" pitchFamily="34" charset="0"/>
              </a:rPr>
              <a:t>produce prolactin (PL)</a:t>
            </a:r>
          </a:p>
          <a:p>
            <a:pPr>
              <a:spcBef>
                <a:spcPct val="0"/>
              </a:spcBef>
              <a:buFontTx/>
              <a:buAutoNum type="arabicPeriod"/>
            </a:pPr>
            <a:endParaRPr lang="en-US" altLang="en-US" sz="2800" dirty="0">
              <a:latin typeface="Arial" panose="020B0604020202020204" pitchFamily="34" charset="0"/>
            </a:endParaRPr>
          </a:p>
        </p:txBody>
      </p:sp>
      <p:pic>
        <p:nvPicPr>
          <p:cNvPr id="7170" name="Picture 2" descr="https://ars.els-cdn.com/content/image/3-s2.0-B9780128041697000027-f02-03-9780128041697.jpg?_">
            <a:extLst>
              <a:ext uri="{FF2B5EF4-FFF2-40B4-BE49-F238E27FC236}">
                <a16:creationId xmlns:a16="http://schemas.microsoft.com/office/drawing/2014/main" id="{B772F09F-741D-0BC2-E064-6ED906ABD8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5828" y="1113509"/>
            <a:ext cx="3495675" cy="21431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B7A2250-0F57-0AF4-461C-293AEF20A445}"/>
              </a:ext>
            </a:extLst>
          </p:cNvPr>
          <p:cNvSpPr txBox="1">
            <a:spLocks noChangeArrowheads="1"/>
          </p:cNvSpPr>
          <p:nvPr/>
        </p:nvSpPr>
        <p:spPr bwMode="auto">
          <a:xfrm>
            <a:off x="9941552" y="3254471"/>
            <a:ext cx="21499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200" dirty="0">
                <a:latin typeface="Arial" panose="020B0604020202020204" pitchFamily="34" charset="0"/>
                <a:cs typeface="Arial" panose="020B0604020202020204" pitchFamily="34" charset="0"/>
              </a:rPr>
              <a:t>Adapted from </a:t>
            </a:r>
            <a:r>
              <a:rPr lang="en-US" altLang="en-US" sz="1200" dirty="0" err="1">
                <a:latin typeface="Arial" panose="020B0604020202020204" pitchFamily="34" charset="0"/>
                <a:cs typeface="Arial" panose="020B0604020202020204" pitchFamily="34" charset="0"/>
              </a:rPr>
              <a:t>Scheithauer</a:t>
            </a:r>
            <a:r>
              <a:rPr lang="en-US" altLang="en-US" sz="1200" dirty="0">
                <a:latin typeface="Arial" panose="020B0604020202020204" pitchFamily="34" charset="0"/>
                <a:cs typeface="Arial" panose="020B0604020202020204" pitchFamily="34" charset="0"/>
              </a:rPr>
              <a:t> BW, et al., 2001</a:t>
            </a:r>
          </a:p>
        </p:txBody>
      </p:sp>
      <p:sp>
        <p:nvSpPr>
          <p:cNvPr id="4" name="TextBox 3">
            <a:extLst>
              <a:ext uri="{FF2B5EF4-FFF2-40B4-BE49-F238E27FC236}">
                <a16:creationId xmlns:a16="http://schemas.microsoft.com/office/drawing/2014/main" id="{B786D9F7-9755-CD91-B55B-C2E7FFCD773A}"/>
              </a:ext>
            </a:extLst>
          </p:cNvPr>
          <p:cNvSpPr txBox="1"/>
          <p:nvPr/>
        </p:nvSpPr>
        <p:spPr>
          <a:xfrm>
            <a:off x="250563" y="6133400"/>
            <a:ext cx="8696548" cy="369332"/>
          </a:xfrm>
          <a:prstGeom prst="rect">
            <a:avLst/>
          </a:prstGeom>
          <a:noFill/>
        </p:spPr>
        <p:txBody>
          <a:bodyPr wrap="none" rtlCol="0">
            <a:spAutoFit/>
          </a:bodyPr>
          <a:lstStyle/>
          <a:p>
            <a:r>
              <a:rPr lang="en-US" dirty="0" err="1"/>
              <a:t>Chromophils</a:t>
            </a:r>
            <a:r>
              <a:rPr lang="en-US" dirty="0"/>
              <a:t> (</a:t>
            </a:r>
            <a:r>
              <a:rPr lang="en-US" dirty="0" err="1"/>
              <a:t>Acidophils</a:t>
            </a:r>
            <a:r>
              <a:rPr lang="en-US" dirty="0"/>
              <a:t> [GH/Prolactin] + Basophils) and </a:t>
            </a:r>
            <a:r>
              <a:rPr lang="en-US" dirty="0" err="1"/>
              <a:t>Chromophobes</a:t>
            </a:r>
            <a:r>
              <a:rPr lang="en-US" dirty="0"/>
              <a:t> (Undifferentiated)</a:t>
            </a:r>
          </a:p>
        </p:txBody>
      </p:sp>
      <p:pic>
        <p:nvPicPr>
          <p:cNvPr id="1030" name="Picture 6" descr="Related image">
            <a:extLst>
              <a:ext uri="{FF2B5EF4-FFF2-40B4-BE49-F238E27FC236}">
                <a16:creationId xmlns:a16="http://schemas.microsoft.com/office/drawing/2014/main" id="{B91D5390-3160-BE40-F1B1-DA9866003C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34901" y="3716136"/>
            <a:ext cx="3417528" cy="227379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E07A337F-30E1-4C7F-B46B-70C8591C5C5A}"/>
              </a:ext>
            </a:extLst>
          </p:cNvPr>
          <p:cNvSpPr/>
          <p:nvPr/>
        </p:nvSpPr>
        <p:spPr>
          <a:xfrm>
            <a:off x="9154160" y="6041067"/>
            <a:ext cx="3196546" cy="461665"/>
          </a:xfrm>
          <a:prstGeom prst="rect">
            <a:avLst/>
          </a:prstGeom>
        </p:spPr>
        <p:txBody>
          <a:bodyPr wrap="square">
            <a:spAutoFit/>
          </a:bodyPr>
          <a:lstStyle/>
          <a:p>
            <a:r>
              <a:rPr lang="en-US" sz="1200" dirty="0">
                <a:latin typeface="Arial" panose="020B0604020202020204" pitchFamily="34" charset="0"/>
                <a:cs typeface="Arial" panose="020B0604020202020204" pitchFamily="34" charset="0"/>
              </a:rPr>
              <a:t>https://www.nature-microscope-photo-video.com </a:t>
            </a:r>
          </a:p>
        </p:txBody>
      </p:sp>
    </p:spTree>
    <p:extLst>
      <p:ext uri="{BB962C8B-B14F-4D97-AF65-F5344CB8AC3E}">
        <p14:creationId xmlns:p14="http://schemas.microsoft.com/office/powerpoint/2010/main" val="1057846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BFD7E-7790-3325-A28A-A9E01348D330}"/>
              </a:ext>
            </a:extLst>
          </p:cNvPr>
          <p:cNvSpPr>
            <a:spLocks noGrp="1"/>
          </p:cNvSpPr>
          <p:nvPr>
            <p:ph type="title"/>
          </p:nvPr>
        </p:nvSpPr>
        <p:spPr/>
        <p:txBody>
          <a:bodyPr vert="horz" lIns="91440" tIns="45720" rIns="91440" bIns="45720" rtlCol="0" anchor="ctr">
            <a:noAutofit/>
          </a:bodyPr>
          <a:lstStyle/>
          <a:p>
            <a:pPr marL="285750" indent="-285750">
              <a:lnSpc>
                <a:spcPct val="100000"/>
              </a:lnSpc>
              <a:buFont typeface="Arial"/>
              <a:buChar char="•"/>
            </a:pPr>
            <a:r>
              <a:rPr lang="en-US" sz="1800" dirty="0">
                <a:latin typeface="Arial"/>
                <a:cs typeface="Arial"/>
              </a:rPr>
              <a:t>Acidophils – GH and Prolactin</a:t>
            </a:r>
            <a:br>
              <a:rPr lang="en-US" sz="1800" dirty="0">
                <a:latin typeface="Arial"/>
                <a:cs typeface="Arial"/>
              </a:rPr>
            </a:br>
            <a:r>
              <a:rPr lang="en-US" sz="1800" dirty="0">
                <a:latin typeface="Arial"/>
                <a:cs typeface="Arial"/>
              </a:rPr>
              <a:t>Basophils –B -FLAT</a:t>
            </a:r>
          </a:p>
        </p:txBody>
      </p:sp>
      <p:pic>
        <p:nvPicPr>
          <p:cNvPr id="5" name="Picture 4" descr="http://3.bp.blogspot.com/-BLfhPRYE1fI/UNYLb53o5jI/AAAAAAAAAXM/ImAeqZ0HiEU/s1600/endocrine15.PNG.jpg">
            <a:extLst>
              <a:ext uri="{FF2B5EF4-FFF2-40B4-BE49-F238E27FC236}">
                <a16:creationId xmlns:a16="http://schemas.microsoft.com/office/drawing/2014/main" id="{FD31CCB2-607C-DEFF-A6E1-A26A0122FC0C}"/>
              </a:ext>
            </a:extLst>
          </p:cNvPr>
          <p:cNvPicPr>
            <a:picLocks noChangeAspect="1"/>
          </p:cNvPicPr>
          <p:nvPr/>
        </p:nvPicPr>
        <p:blipFill>
          <a:blip r:embed="rId2"/>
          <a:stretch>
            <a:fillRect/>
          </a:stretch>
        </p:blipFill>
        <p:spPr>
          <a:xfrm>
            <a:off x="5000625" y="966788"/>
            <a:ext cx="6515100" cy="5057775"/>
          </a:xfrm>
          <a:prstGeom prst="rect">
            <a:avLst/>
          </a:prstGeom>
        </p:spPr>
      </p:pic>
      <p:pic>
        <p:nvPicPr>
          <p:cNvPr id="7" name="Content Placeholder 6" descr="A purple and pink cells&#10;&#10;AI-generated content may be incorrect.">
            <a:extLst>
              <a:ext uri="{FF2B5EF4-FFF2-40B4-BE49-F238E27FC236}">
                <a16:creationId xmlns:a16="http://schemas.microsoft.com/office/drawing/2014/main" id="{2B5445EA-2EF2-8740-942C-AFE41C6DF7FC}"/>
              </a:ext>
            </a:extLst>
          </p:cNvPr>
          <p:cNvPicPr>
            <a:picLocks noGrp="1" noChangeAspect="1"/>
          </p:cNvPicPr>
          <p:nvPr>
            <p:ph idx="1"/>
          </p:nvPr>
        </p:nvPicPr>
        <p:blipFill>
          <a:blip r:embed="rId3"/>
          <a:stretch>
            <a:fillRect/>
          </a:stretch>
        </p:blipFill>
        <p:spPr>
          <a:xfrm>
            <a:off x="4912" y="2006600"/>
            <a:ext cx="5000325" cy="3779838"/>
          </a:xfrm>
        </p:spPr>
      </p:pic>
    </p:spTree>
    <p:extLst>
      <p:ext uri="{BB962C8B-B14F-4D97-AF65-F5344CB8AC3E}">
        <p14:creationId xmlns:p14="http://schemas.microsoft.com/office/powerpoint/2010/main" val="3159234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3.bp.blogspot.com/-7__R3Kl-PRs/UNYLdEH5MsI/AAAAAAAAAXU/XcTve0CZbjQ/s1600/endocrine16.P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79400"/>
            <a:ext cx="8256588"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1"/>
          <p:cNvSpPr>
            <a:spLocks noChangeArrowheads="1"/>
          </p:cNvSpPr>
          <p:nvPr/>
        </p:nvSpPr>
        <p:spPr bwMode="auto">
          <a:xfrm>
            <a:off x="3225801" y="1219200"/>
            <a:ext cx="533400" cy="304800"/>
          </a:xfrm>
          <a:prstGeom prst="rect">
            <a:avLst/>
          </a:prstGeom>
          <a:solidFill>
            <a:srgbClr val="FFCC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900"/>
          </a:p>
        </p:txBody>
      </p:sp>
      <p:sp>
        <p:nvSpPr>
          <p:cNvPr id="4" name="Text Box 8"/>
          <p:cNvSpPr txBox="1">
            <a:spLocks noChangeArrowheads="1"/>
          </p:cNvSpPr>
          <p:nvPr/>
        </p:nvSpPr>
        <p:spPr bwMode="auto">
          <a:xfrm>
            <a:off x="2217738" y="1693228"/>
            <a:ext cx="2997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b="1" dirty="0">
                <a:solidFill>
                  <a:srgbClr val="FF9966"/>
                </a:solidFill>
                <a:latin typeface="Arial" panose="020B0604020202020204" pitchFamily="34" charset="0"/>
              </a:rPr>
              <a:t>Releasing &amp;</a:t>
            </a:r>
          </a:p>
          <a:p>
            <a:pPr>
              <a:spcBef>
                <a:spcPct val="0"/>
              </a:spcBef>
              <a:buFontTx/>
              <a:buNone/>
            </a:pPr>
            <a:r>
              <a:rPr lang="en-US" altLang="en-US" sz="1600" b="1" dirty="0">
                <a:solidFill>
                  <a:srgbClr val="FF9966"/>
                </a:solidFill>
                <a:latin typeface="Arial" panose="020B0604020202020204" pitchFamily="34" charset="0"/>
              </a:rPr>
              <a:t>Release-Inhibiting Hormones</a:t>
            </a:r>
          </a:p>
        </p:txBody>
      </p:sp>
      <p:sp>
        <p:nvSpPr>
          <p:cNvPr id="5" name="Text Box 13"/>
          <p:cNvSpPr txBox="1">
            <a:spLocks noChangeArrowheads="1"/>
          </p:cNvSpPr>
          <p:nvPr/>
        </p:nvSpPr>
        <p:spPr bwMode="auto">
          <a:xfrm>
            <a:off x="2230439" y="3556000"/>
            <a:ext cx="18708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b="1" dirty="0">
                <a:solidFill>
                  <a:srgbClr val="FF0066"/>
                </a:solidFill>
                <a:latin typeface="Arial" panose="020B0604020202020204" pitchFamily="34" charset="0"/>
              </a:rPr>
              <a:t>Tropic Hormones</a:t>
            </a:r>
          </a:p>
        </p:txBody>
      </p:sp>
      <p:sp>
        <p:nvSpPr>
          <p:cNvPr id="6" name="Text Box 8"/>
          <p:cNvSpPr txBox="1">
            <a:spLocks noChangeArrowheads="1"/>
          </p:cNvSpPr>
          <p:nvPr/>
        </p:nvSpPr>
        <p:spPr bwMode="auto">
          <a:xfrm>
            <a:off x="8877301" y="381000"/>
            <a:ext cx="8112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b="1">
                <a:solidFill>
                  <a:srgbClr val="FF0066"/>
                </a:solidFill>
                <a:latin typeface="Arial" panose="020B0604020202020204" pitchFamily="34" charset="0"/>
              </a:rPr>
              <a:t>Stress</a:t>
            </a:r>
          </a:p>
        </p:txBody>
      </p:sp>
      <p:sp>
        <p:nvSpPr>
          <p:cNvPr id="7" name="Star: 5 Points 6">
            <a:extLst>
              <a:ext uri="{FF2B5EF4-FFF2-40B4-BE49-F238E27FC236}">
                <a16:creationId xmlns:a16="http://schemas.microsoft.com/office/drawing/2014/main" id="{D1622051-F35A-429B-018C-BA406AE25F7A}"/>
              </a:ext>
            </a:extLst>
          </p:cNvPr>
          <p:cNvSpPr/>
          <p:nvPr/>
        </p:nvSpPr>
        <p:spPr>
          <a:xfrm>
            <a:off x="1011095" y="807672"/>
            <a:ext cx="508660" cy="56803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0282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196746" y="470544"/>
            <a:ext cx="712105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b="1" dirty="0">
                <a:latin typeface="Arial" panose="020B0604020202020204" pitchFamily="34" charset="0"/>
              </a:rPr>
              <a:t>Posterior Pituitary – ADH/VP</a:t>
            </a:r>
          </a:p>
        </p:txBody>
      </p:sp>
      <p:sp>
        <p:nvSpPr>
          <p:cNvPr id="7" name="Text Box 3"/>
          <p:cNvSpPr txBox="1">
            <a:spLocks noChangeArrowheads="1"/>
          </p:cNvSpPr>
          <p:nvPr/>
        </p:nvSpPr>
        <p:spPr bwMode="auto">
          <a:xfrm>
            <a:off x="684276" y="1271267"/>
            <a:ext cx="6642269" cy="5709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a:latin typeface="Arial" panose="020B0604020202020204" pitchFamily="34" charset="0"/>
              </a:rPr>
              <a:t>1. Loss of plasma volume = </a:t>
            </a:r>
            <a:r>
              <a:rPr lang="en-US" altLang="en-US" sz="2000" b="1" dirty="0">
                <a:solidFill>
                  <a:srgbClr val="00B050"/>
                </a:solidFill>
                <a:latin typeface="Arial" panose="020B0604020202020204" pitchFamily="34" charset="0"/>
              </a:rPr>
              <a:t>↑ Osmolarity </a:t>
            </a:r>
            <a:r>
              <a:rPr lang="en-US" altLang="en-US" sz="2000" dirty="0">
                <a:latin typeface="Arial" panose="020B0604020202020204" pitchFamily="34" charset="0"/>
              </a:rPr>
              <a:t>(# particles</a:t>
            </a:r>
          </a:p>
          <a:p>
            <a:pPr>
              <a:spcBef>
                <a:spcPct val="0"/>
              </a:spcBef>
              <a:buFontTx/>
              <a:buNone/>
            </a:pPr>
            <a:r>
              <a:rPr lang="en-US" altLang="en-US" sz="2000" dirty="0">
                <a:latin typeface="Arial" panose="020B0604020202020204" pitchFamily="34" charset="0"/>
              </a:rPr>
              <a:t>dissolved in fluid)</a:t>
            </a:r>
          </a:p>
          <a:p>
            <a:pPr marL="803275" indent="-346075">
              <a:spcBef>
                <a:spcPct val="0"/>
              </a:spcBef>
              <a:buFont typeface="Wingdings" panose="05000000000000000000" pitchFamily="2" charset="2"/>
              <a:buChar char="Ø"/>
            </a:pPr>
            <a:r>
              <a:rPr lang="en-US" altLang="en-US" sz="2000" dirty="0">
                <a:latin typeface="Arial" panose="020B0604020202020204" pitchFamily="34" charset="0"/>
              </a:rPr>
              <a:t>Detected by </a:t>
            </a:r>
            <a:r>
              <a:rPr lang="en-US" altLang="en-US" sz="2000" u="sng" dirty="0" err="1">
                <a:latin typeface="Arial" panose="020B0604020202020204" pitchFamily="34" charset="0"/>
              </a:rPr>
              <a:t>osmoreceptors</a:t>
            </a:r>
            <a:r>
              <a:rPr lang="en-US" altLang="en-US" sz="2000" dirty="0">
                <a:latin typeface="Arial" panose="020B0604020202020204" pitchFamily="34" charset="0"/>
              </a:rPr>
              <a:t> in hypothalamus</a:t>
            </a:r>
          </a:p>
          <a:p>
            <a:pPr marL="803275" indent="-346075">
              <a:spcBef>
                <a:spcPct val="0"/>
              </a:spcBef>
              <a:buFont typeface="Wingdings" panose="05000000000000000000" pitchFamily="2" charset="2"/>
              <a:buChar char="Ø"/>
            </a:pPr>
            <a:r>
              <a:rPr lang="en-US" altLang="en-US" sz="2000" dirty="0">
                <a:latin typeface="Arial" panose="020B0604020202020204" pitchFamily="34" charset="0"/>
              </a:rPr>
              <a:t>Results in increased thirst sensation &amp; </a:t>
            </a:r>
            <a:r>
              <a:rPr lang="en-US" altLang="en-US" sz="2000" b="1" dirty="0">
                <a:solidFill>
                  <a:srgbClr val="00B050"/>
                </a:solidFill>
                <a:latin typeface="Arial" panose="020B0604020202020204" pitchFamily="34" charset="0"/>
              </a:rPr>
              <a:t>↑ ADH/VP </a:t>
            </a:r>
            <a:r>
              <a:rPr lang="en-US" altLang="en-US" sz="2000" dirty="0">
                <a:latin typeface="Arial" panose="020B0604020202020204" pitchFamily="34" charset="0"/>
              </a:rPr>
              <a:t>release</a:t>
            </a:r>
            <a:endParaRPr lang="en-US" altLang="en-US" sz="900" dirty="0">
              <a:latin typeface="Arial" panose="020B0604020202020204" pitchFamily="34" charset="0"/>
            </a:endParaRPr>
          </a:p>
          <a:p>
            <a:pPr>
              <a:spcBef>
                <a:spcPct val="0"/>
              </a:spcBef>
              <a:buFontTx/>
              <a:buNone/>
            </a:pPr>
            <a:r>
              <a:rPr lang="en-US" altLang="en-US" sz="2000" dirty="0">
                <a:latin typeface="Arial" panose="020B0604020202020204" pitchFamily="34" charset="0"/>
              </a:rPr>
              <a:t>2. Loss of plasma volume = = </a:t>
            </a:r>
            <a:r>
              <a:rPr lang="en-US" altLang="en-US" sz="2000" b="1" dirty="0">
                <a:solidFill>
                  <a:srgbClr val="00B050"/>
                </a:solidFill>
                <a:latin typeface="Arial" panose="020B0604020202020204" pitchFamily="34" charset="0"/>
              </a:rPr>
              <a:t>↓ BP</a:t>
            </a:r>
          </a:p>
          <a:p>
            <a:pPr marL="803275" indent="-346075">
              <a:spcBef>
                <a:spcPct val="0"/>
              </a:spcBef>
              <a:buFont typeface="Wingdings" panose="05000000000000000000" pitchFamily="2" charset="2"/>
              <a:buChar char="Ø"/>
            </a:pPr>
            <a:r>
              <a:rPr lang="en-US" altLang="en-US" sz="2000" dirty="0">
                <a:latin typeface="Arial" panose="020B0604020202020204" pitchFamily="34" charset="0"/>
              </a:rPr>
              <a:t>Detected by cardiopulmonary </a:t>
            </a:r>
            <a:r>
              <a:rPr lang="en-US" altLang="en-US" sz="2000" u="sng" dirty="0">
                <a:latin typeface="Arial" panose="020B0604020202020204" pitchFamily="34" charset="0"/>
              </a:rPr>
              <a:t>baroreceptors</a:t>
            </a:r>
            <a:r>
              <a:rPr lang="en-US" altLang="en-US" sz="2000" dirty="0">
                <a:latin typeface="Arial" panose="020B0604020202020204" pitchFamily="34" charset="0"/>
              </a:rPr>
              <a:t> </a:t>
            </a:r>
          </a:p>
          <a:p>
            <a:pPr marL="803275" indent="-346075">
              <a:spcBef>
                <a:spcPct val="0"/>
              </a:spcBef>
              <a:buFont typeface="Wingdings" panose="05000000000000000000" pitchFamily="2" charset="2"/>
              <a:buChar char="Ø"/>
            </a:pPr>
            <a:r>
              <a:rPr lang="en-US" altLang="en-US" sz="2000" dirty="0">
                <a:latin typeface="Arial" panose="020B0604020202020204" pitchFamily="34" charset="0"/>
              </a:rPr>
              <a:t>Results in </a:t>
            </a:r>
            <a:r>
              <a:rPr lang="en-US" altLang="en-US" sz="2000" b="1" dirty="0">
                <a:solidFill>
                  <a:srgbClr val="00B050"/>
                </a:solidFill>
                <a:latin typeface="Arial" panose="020B0604020202020204" pitchFamily="34" charset="0"/>
              </a:rPr>
              <a:t>↑ ADH/VP release</a:t>
            </a:r>
          </a:p>
          <a:p>
            <a:pPr>
              <a:spcBef>
                <a:spcPct val="0"/>
              </a:spcBef>
              <a:buFontTx/>
              <a:buNone/>
            </a:pPr>
            <a:endParaRPr lang="en-US" altLang="en-US" sz="900" dirty="0">
              <a:latin typeface="Arial" panose="020B0604020202020204" pitchFamily="34" charset="0"/>
            </a:endParaRPr>
          </a:p>
          <a:p>
            <a:pPr>
              <a:spcBef>
                <a:spcPct val="0"/>
              </a:spcBef>
              <a:buFontTx/>
              <a:buNone/>
            </a:pPr>
            <a:endParaRPr lang="en-US" altLang="en-US" sz="2000" dirty="0">
              <a:latin typeface="Arial" panose="020B0604020202020204" pitchFamily="34" charset="0"/>
            </a:endParaRPr>
          </a:p>
          <a:p>
            <a:pPr>
              <a:spcBef>
                <a:spcPct val="0"/>
              </a:spcBef>
              <a:buFontTx/>
              <a:buNone/>
            </a:pPr>
            <a:r>
              <a:rPr lang="en-US" altLang="en-US" sz="2000" dirty="0">
                <a:latin typeface="Arial" panose="020B0604020202020204" pitchFamily="34" charset="0"/>
              </a:rPr>
              <a:t>ADH Mechanism:</a:t>
            </a:r>
            <a:endParaRPr lang="en-US" altLang="en-US" sz="2000" b="1" dirty="0">
              <a:solidFill>
                <a:srgbClr val="00B050"/>
              </a:solidFill>
              <a:latin typeface="Arial" panose="020B0604020202020204" pitchFamily="34" charset="0"/>
            </a:endParaRPr>
          </a:p>
          <a:p>
            <a:pPr>
              <a:spcBef>
                <a:spcPct val="0"/>
              </a:spcBef>
              <a:buFontTx/>
              <a:buNone/>
            </a:pPr>
            <a:endParaRPr lang="en-US" altLang="en-US" sz="700" dirty="0">
              <a:latin typeface="Arial" panose="020B0604020202020204" pitchFamily="34" charset="0"/>
            </a:endParaRPr>
          </a:p>
          <a:p>
            <a:pPr marL="803275" indent="-346075">
              <a:spcBef>
                <a:spcPct val="0"/>
              </a:spcBef>
              <a:buFont typeface="Wingdings" panose="05000000000000000000" pitchFamily="2" charset="2"/>
              <a:buChar char="Ø"/>
            </a:pPr>
            <a:r>
              <a:rPr lang="en-US" altLang="en-US" sz="2000" dirty="0">
                <a:latin typeface="Arial" panose="020B0604020202020204" pitchFamily="34" charset="0"/>
              </a:rPr>
              <a:t>Kidney - binds to V2 receptors, ↑ water channels (aquaporin 2) in renal collecting ducts, </a:t>
            </a:r>
            <a:r>
              <a:rPr lang="en-US" altLang="en-US" sz="2000" b="1" dirty="0">
                <a:latin typeface="Arial" panose="020B0604020202020204" pitchFamily="34" charset="0"/>
              </a:rPr>
              <a:t>↑ water reabsorption (solute free)</a:t>
            </a:r>
            <a:r>
              <a:rPr lang="en-US" altLang="en-US" sz="2000" dirty="0">
                <a:latin typeface="Arial" panose="020B0604020202020204" pitchFamily="34" charset="0"/>
              </a:rPr>
              <a:t>, ↓ urine output</a:t>
            </a:r>
          </a:p>
          <a:p>
            <a:pPr marL="803275" indent="-346075">
              <a:spcBef>
                <a:spcPct val="0"/>
              </a:spcBef>
              <a:buFont typeface="Wingdings" panose="05000000000000000000" pitchFamily="2" charset="2"/>
              <a:buChar char="Ø"/>
            </a:pPr>
            <a:r>
              <a:rPr lang="en-US" altLang="en-US" sz="2000" dirty="0">
                <a:latin typeface="Arial" panose="020B0604020202020204" pitchFamily="34" charset="0"/>
              </a:rPr>
              <a:t>Blood vessels – binds to V1 receptors on vascular SM cells to cause vasoconstriction via IP</a:t>
            </a:r>
            <a:r>
              <a:rPr lang="en-US" altLang="en-US" sz="2000" baseline="-25000" dirty="0">
                <a:latin typeface="Arial" panose="020B0604020202020204" pitchFamily="34" charset="0"/>
              </a:rPr>
              <a:t>3</a:t>
            </a:r>
            <a:r>
              <a:rPr lang="en-US" altLang="en-US" sz="2000" dirty="0">
                <a:latin typeface="Arial" panose="020B0604020202020204" pitchFamily="34" charset="0"/>
              </a:rPr>
              <a:t> pathway</a:t>
            </a:r>
          </a:p>
          <a:p>
            <a:pPr marL="803275" indent="-346075">
              <a:spcBef>
                <a:spcPct val="0"/>
              </a:spcBef>
              <a:buFont typeface="Wingdings" panose="05000000000000000000" pitchFamily="2" charset="2"/>
              <a:buChar char="Ø"/>
            </a:pPr>
            <a:endParaRPr lang="en-US" altLang="en-US" sz="2000" dirty="0">
              <a:latin typeface="Arial" panose="020B0604020202020204" pitchFamily="34" charset="0"/>
            </a:endParaRPr>
          </a:p>
        </p:txBody>
      </p:sp>
      <p:pic>
        <p:nvPicPr>
          <p:cNvPr id="5" name="Picture 6" descr="http://www.cvpharmacology.com/vasoconstrictor/AVP.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6160" y="4610568"/>
            <a:ext cx="2743200" cy="211154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1026" name="Picture 2" descr="Regulation of Secretion and Actions of Antidiuretic Hormone ...">
            <a:extLst>
              <a:ext uri="{FF2B5EF4-FFF2-40B4-BE49-F238E27FC236}">
                <a16:creationId xmlns:a16="http://schemas.microsoft.com/office/drawing/2014/main" id="{F964E375-75D9-4648-BFE1-C56CF76F9C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444" r="21112"/>
          <a:stretch/>
        </p:blipFill>
        <p:spPr bwMode="auto">
          <a:xfrm>
            <a:off x="8586978" y="546205"/>
            <a:ext cx="2861564" cy="38022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654B6C4-288A-44F9-AFAF-A1ACAD6FB4DB}"/>
              </a:ext>
            </a:extLst>
          </p:cNvPr>
          <p:cNvSpPr/>
          <p:nvPr/>
        </p:nvSpPr>
        <p:spPr>
          <a:xfrm>
            <a:off x="9099809" y="4209980"/>
            <a:ext cx="2639184" cy="276999"/>
          </a:xfrm>
          <a:prstGeom prst="rect">
            <a:avLst/>
          </a:prstGeom>
        </p:spPr>
        <p:txBody>
          <a:bodyPr wrap="none">
            <a:spAutoFit/>
          </a:bodyPr>
          <a:lstStyle/>
          <a:p>
            <a:r>
              <a:rPr lang="en-US" sz="1200" dirty="0">
                <a:hlinkClick r:id="rId4"/>
              </a:rPr>
              <a:t>https://slideplayer.com/slide/8275831/</a:t>
            </a:r>
            <a:endParaRPr lang="en-US" sz="1200" dirty="0"/>
          </a:p>
        </p:txBody>
      </p:sp>
    </p:spTree>
    <p:extLst>
      <p:ext uri="{BB962C8B-B14F-4D97-AF65-F5344CB8AC3E}">
        <p14:creationId xmlns:p14="http://schemas.microsoft.com/office/powerpoint/2010/main" val="807537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88900"/>
            <a:ext cx="9905998" cy="939800"/>
          </a:xfrm>
        </p:spPr>
        <p:txBody>
          <a:bodyPr>
            <a:normAutofit/>
          </a:bodyPr>
          <a:lstStyle/>
          <a:p>
            <a:pPr algn="ctr"/>
            <a:r>
              <a:rPr lang="en-US" sz="4000" dirty="0"/>
              <a:t>Anatomy of the cavernous sinus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4778" y="1028700"/>
            <a:ext cx="7339267" cy="5577840"/>
          </a:xfrm>
        </p:spPr>
      </p:pic>
    </p:spTree>
    <p:extLst>
      <p:ext uri="{BB962C8B-B14F-4D97-AF65-F5344CB8AC3E}">
        <p14:creationId xmlns:p14="http://schemas.microsoft.com/office/powerpoint/2010/main" val="426996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63991-AB91-FB91-11EF-4A87668A9F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51373-5A2F-4669-C83F-4E578B3AF144}"/>
              </a:ext>
            </a:extLst>
          </p:cNvPr>
          <p:cNvSpPr>
            <a:spLocks noGrp="1"/>
          </p:cNvSpPr>
          <p:nvPr>
            <p:ph type="title"/>
          </p:nvPr>
        </p:nvSpPr>
        <p:spPr/>
        <p:txBody>
          <a:bodyPr/>
          <a:lstStyle/>
          <a:p>
            <a:r>
              <a:rPr lang="en-US" dirty="0"/>
              <a:t>Visual Field testing</a:t>
            </a:r>
          </a:p>
        </p:txBody>
      </p:sp>
      <p:sp>
        <p:nvSpPr>
          <p:cNvPr id="3" name="Content Placeholder 2">
            <a:extLst>
              <a:ext uri="{FF2B5EF4-FFF2-40B4-BE49-F238E27FC236}">
                <a16:creationId xmlns:a16="http://schemas.microsoft.com/office/drawing/2014/main" id="{768D6DCF-6A6C-B781-63B3-85A800547E5C}"/>
              </a:ext>
            </a:extLst>
          </p:cNvPr>
          <p:cNvSpPr>
            <a:spLocks noGrp="1"/>
          </p:cNvSpPr>
          <p:nvPr>
            <p:ph idx="1"/>
          </p:nvPr>
        </p:nvSpPr>
        <p:spPr/>
        <p:txBody>
          <a:bodyPr vert="horz" lIns="91440" tIns="45720" rIns="91440" bIns="45720" rtlCol="0" anchor="t">
            <a:normAutofit/>
          </a:bodyPr>
          <a:lstStyle/>
          <a:p>
            <a:r>
              <a:rPr lang="en-US" sz="1600" b="1" dirty="0">
                <a:latin typeface="Calibri"/>
                <a:ea typeface="Calibri"/>
                <a:cs typeface="Calibri"/>
              </a:rPr>
              <a:t>CN2 = Optic Nerve</a:t>
            </a:r>
            <a:r>
              <a:rPr lang="en-US" sz="1600" dirty="0">
                <a:latin typeface="Calibri"/>
                <a:ea typeface="Calibri"/>
                <a:cs typeface="Calibri"/>
              </a:rPr>
              <a:t> – this nerve carries visual impulses from the eye to the optical cortex of the brain by means of the optic tracts. </a:t>
            </a:r>
            <a:endParaRPr lang="en-US" sz="1600" dirty="0"/>
          </a:p>
          <a:p>
            <a:r>
              <a:rPr lang="en-US" sz="1600" b="1" dirty="0">
                <a:latin typeface="Calibri"/>
                <a:ea typeface="Calibri"/>
                <a:cs typeface="Calibri"/>
              </a:rPr>
              <a:t>CN3, CN4, CN6 = Oculomotor, Trochlear and Abducens Nerves</a:t>
            </a:r>
            <a:r>
              <a:rPr lang="en-US" sz="1600" dirty="0">
                <a:latin typeface="Calibri"/>
                <a:ea typeface="Calibri"/>
                <a:cs typeface="Calibri"/>
              </a:rPr>
              <a:t> – responsible for extraocular movement.</a:t>
            </a:r>
            <a:endParaRPr lang="en-US" sz="1600" dirty="0"/>
          </a:p>
          <a:p>
            <a:pPr marL="0" indent="0">
              <a:buNone/>
            </a:pPr>
            <a:r>
              <a:rPr lang="en-US" dirty="0"/>
              <a:t>Testing</a:t>
            </a:r>
          </a:p>
          <a:p>
            <a:r>
              <a:rPr lang="en-US" sz="1600" dirty="0">
                <a:latin typeface="Calibri"/>
                <a:ea typeface="Calibri"/>
                <a:cs typeface="Calibri"/>
              </a:rPr>
              <a:t>Acuity with Snellen Chart – in office</a:t>
            </a:r>
            <a:endParaRPr lang="en-US" sz="1600" dirty="0"/>
          </a:p>
          <a:p>
            <a:r>
              <a:rPr lang="en-US" sz="1600" dirty="0">
                <a:latin typeface="Calibri"/>
                <a:ea typeface="Calibri"/>
                <a:cs typeface="Calibri"/>
              </a:rPr>
              <a:t>Visual Field Testing with Humphrey Visual Field </a:t>
            </a:r>
            <a:r>
              <a:rPr lang="en-US" sz="1600" dirty="0" err="1">
                <a:latin typeface="Calibri"/>
                <a:ea typeface="Calibri"/>
                <a:cs typeface="Calibri"/>
              </a:rPr>
              <a:t>Analyser</a:t>
            </a:r>
            <a:r>
              <a:rPr lang="en-US" sz="1600" dirty="0">
                <a:latin typeface="Calibri"/>
                <a:ea typeface="Calibri"/>
                <a:cs typeface="Calibri"/>
              </a:rPr>
              <a:t> (specific areas of the retina receive input from precise areas of the visual field) – ophthalmologist </a:t>
            </a:r>
            <a:endParaRPr lang="en-US" sz="1600" dirty="0"/>
          </a:p>
          <a:p>
            <a:endParaRPr lang="en-US" dirty="0"/>
          </a:p>
        </p:txBody>
      </p:sp>
    </p:spTree>
    <p:extLst>
      <p:ext uri="{BB962C8B-B14F-4D97-AF65-F5344CB8AC3E}">
        <p14:creationId xmlns:p14="http://schemas.microsoft.com/office/powerpoint/2010/main" val="1820652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BF608-670B-848F-CAE9-77D545533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012A8-185A-F4A2-FAC0-989BEDD6E293}"/>
              </a:ext>
            </a:extLst>
          </p:cNvPr>
          <p:cNvSpPr>
            <a:spLocks noGrp="1"/>
          </p:cNvSpPr>
          <p:nvPr>
            <p:ph type="title"/>
          </p:nvPr>
        </p:nvSpPr>
        <p:spPr/>
        <p:txBody>
          <a:bodyPr/>
          <a:lstStyle/>
          <a:p>
            <a:endParaRPr lang="en-US"/>
          </a:p>
        </p:txBody>
      </p:sp>
      <p:pic>
        <p:nvPicPr>
          <p:cNvPr id="4" name="Content Placeholder 3" descr="https://upload.medbullets.com/topic/113086/images/visual%20field%20defects%20-%20moises%20dominguez%20-%20update.jpg">
            <a:extLst>
              <a:ext uri="{FF2B5EF4-FFF2-40B4-BE49-F238E27FC236}">
                <a16:creationId xmlns:a16="http://schemas.microsoft.com/office/drawing/2014/main" id="{A804F893-8758-226E-CC4D-39A1B101941C}"/>
              </a:ext>
            </a:extLst>
          </p:cNvPr>
          <p:cNvPicPr>
            <a:picLocks noGrp="1" noChangeAspect="1"/>
          </p:cNvPicPr>
          <p:nvPr>
            <p:ph idx="1"/>
          </p:nvPr>
        </p:nvPicPr>
        <p:blipFill>
          <a:blip r:embed="rId2"/>
          <a:stretch>
            <a:fillRect/>
          </a:stretch>
        </p:blipFill>
        <p:spPr>
          <a:xfrm>
            <a:off x="728662" y="281781"/>
            <a:ext cx="9763125" cy="6296025"/>
          </a:xfrm>
        </p:spPr>
      </p:pic>
      <p:sp>
        <p:nvSpPr>
          <p:cNvPr id="3" name="Star: 5 Points 2">
            <a:extLst>
              <a:ext uri="{FF2B5EF4-FFF2-40B4-BE49-F238E27FC236}">
                <a16:creationId xmlns:a16="http://schemas.microsoft.com/office/drawing/2014/main" id="{1AAC78D3-041F-10DA-FB83-B6C76F846091}"/>
              </a:ext>
            </a:extLst>
          </p:cNvPr>
          <p:cNvSpPr/>
          <p:nvPr/>
        </p:nvSpPr>
        <p:spPr>
          <a:xfrm>
            <a:off x="540032" y="366777"/>
            <a:ext cx="447675" cy="66675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2154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79882"/>
            <a:ext cx="9905998" cy="1214203"/>
          </a:xfrm>
        </p:spPr>
        <p:txBody>
          <a:bodyPr>
            <a:normAutofit/>
          </a:bodyPr>
          <a:lstStyle/>
          <a:p>
            <a:pPr algn="ctr"/>
            <a:r>
              <a:rPr lang="en-US" sz="4000" dirty="0"/>
              <a:t>Normal Humphrey visual field</a:t>
            </a:r>
          </a:p>
        </p:txBody>
      </p:sp>
      <p:pic>
        <p:nvPicPr>
          <p:cNvPr id="9" name="Content Placeholder 8"/>
          <p:cNvPicPr>
            <a:picLocks noGrp="1" noChangeAspect="1"/>
          </p:cNvPicPr>
          <p:nvPr>
            <p:ph sz="half" idx="4294967295"/>
          </p:nvPr>
        </p:nvPicPr>
        <p:blipFill rotWithShape="1">
          <a:blip r:embed="rId2">
            <a:extLst>
              <a:ext uri="{28A0092B-C50C-407E-A947-70E740481C1C}">
                <a14:useLocalDpi xmlns:a14="http://schemas.microsoft.com/office/drawing/2010/main" val="0"/>
              </a:ext>
            </a:extLst>
          </a:blip>
          <a:srcRect t="1498" b="6176"/>
          <a:stretch/>
        </p:blipFill>
        <p:spPr>
          <a:xfrm>
            <a:off x="1248092" y="1439056"/>
            <a:ext cx="4846320" cy="4370062"/>
          </a:xfrm>
        </p:spPr>
      </p:pic>
      <p:pic>
        <p:nvPicPr>
          <p:cNvPr id="11" name="Picture 10"/>
          <p:cNvPicPr>
            <a:picLocks noChangeAspect="1"/>
          </p:cNvPicPr>
          <p:nvPr/>
        </p:nvPicPr>
        <p:blipFill rotWithShape="1">
          <a:blip r:embed="rId3"/>
          <a:srcRect l="-366" t="1493" r="366" b="10814"/>
          <a:stretch/>
        </p:blipFill>
        <p:spPr>
          <a:xfrm>
            <a:off x="5879775" y="1419998"/>
            <a:ext cx="5096264" cy="4389120"/>
          </a:xfrm>
          <a:prstGeom prst="rect">
            <a:avLst/>
          </a:prstGeom>
        </p:spPr>
      </p:pic>
    </p:spTree>
    <p:extLst>
      <p:ext uri="{BB962C8B-B14F-4D97-AF65-F5344CB8AC3E}">
        <p14:creationId xmlns:p14="http://schemas.microsoft.com/office/powerpoint/2010/main" val="4279762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99804"/>
            <a:ext cx="9905998" cy="869429"/>
          </a:xfrm>
        </p:spPr>
        <p:txBody>
          <a:bodyPr>
            <a:normAutofit/>
          </a:bodyPr>
          <a:lstStyle/>
          <a:p>
            <a:pPr algn="ctr"/>
            <a:r>
              <a:rPr lang="en-US" sz="4000" dirty="0"/>
              <a:t>Bitemporal visual field defect</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74" t="15752" r="-174" b="13833"/>
          <a:stretch/>
        </p:blipFill>
        <p:spPr>
          <a:xfrm>
            <a:off x="1369448" y="1289152"/>
            <a:ext cx="9827087" cy="4846320"/>
          </a:xfrm>
          <a:prstGeom prst="rect">
            <a:avLst/>
          </a:prstGeom>
        </p:spPr>
      </p:pic>
    </p:spTree>
    <p:extLst>
      <p:ext uri="{BB962C8B-B14F-4D97-AF65-F5344CB8AC3E}">
        <p14:creationId xmlns:p14="http://schemas.microsoft.com/office/powerpoint/2010/main" val="2695499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24852"/>
            <a:ext cx="9905998" cy="1244184"/>
          </a:xfrm>
        </p:spPr>
        <p:txBody>
          <a:bodyPr>
            <a:normAutofit/>
          </a:bodyPr>
          <a:lstStyle/>
          <a:p>
            <a:pPr algn="ctr"/>
            <a:r>
              <a:rPr lang="en-US" sz="4000" dirty="0"/>
              <a:t>Homonymous hemianopsia</a:t>
            </a:r>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l="2863" t="3347" r="2866" b="3507"/>
          <a:stretch/>
        </p:blipFill>
        <p:spPr>
          <a:xfrm>
            <a:off x="928052" y="1349116"/>
            <a:ext cx="10332720" cy="4871853"/>
          </a:xfrm>
        </p:spPr>
      </p:pic>
    </p:spTree>
    <p:extLst>
      <p:ext uri="{BB962C8B-B14F-4D97-AF65-F5344CB8AC3E}">
        <p14:creationId xmlns:p14="http://schemas.microsoft.com/office/powerpoint/2010/main" val="1776815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1413" y="194872"/>
            <a:ext cx="9905998" cy="1364105"/>
          </a:xfrm>
        </p:spPr>
        <p:txBody>
          <a:bodyPr>
            <a:normAutofit/>
          </a:bodyPr>
          <a:lstStyle/>
          <a:p>
            <a:pPr algn="ctr"/>
            <a:r>
              <a:rPr lang="en-US" sz="4000" dirty="0"/>
              <a:t>Optic nerve related visual field defect</a:t>
            </a:r>
          </a:p>
        </p:txBody>
      </p:sp>
      <p:pic>
        <p:nvPicPr>
          <p:cNvPr id="5" name="Picture 4"/>
          <p:cNvPicPr>
            <a:picLocks noChangeAspect="1"/>
          </p:cNvPicPr>
          <p:nvPr/>
        </p:nvPicPr>
        <p:blipFill>
          <a:blip r:embed="rId2"/>
          <a:stretch>
            <a:fillRect/>
          </a:stretch>
        </p:blipFill>
        <p:spPr>
          <a:xfrm>
            <a:off x="2119475" y="1365394"/>
            <a:ext cx="7949873" cy="4846740"/>
          </a:xfrm>
          <a:prstGeom prst="rect">
            <a:avLst/>
          </a:prstGeom>
        </p:spPr>
      </p:pic>
    </p:spTree>
    <p:extLst>
      <p:ext uri="{BB962C8B-B14F-4D97-AF65-F5344CB8AC3E}">
        <p14:creationId xmlns:p14="http://schemas.microsoft.com/office/powerpoint/2010/main" val="3427729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16F9F-CC5B-F833-9318-B76639629E94}"/>
              </a:ext>
            </a:extLst>
          </p:cNvPr>
          <p:cNvSpPr>
            <a:spLocks noGrp="1"/>
          </p:cNvSpPr>
          <p:nvPr>
            <p:ph type="title"/>
          </p:nvPr>
        </p:nvSpPr>
        <p:spPr/>
        <p:txBody>
          <a:bodyPr/>
          <a:lstStyle/>
          <a:p>
            <a:endParaRPr lang="en-US"/>
          </a:p>
        </p:txBody>
      </p:sp>
      <p:pic>
        <p:nvPicPr>
          <p:cNvPr id="3" name="Picture 2" descr="Close-up of a clay statue of a person&amp;#39;s face&#10;&#10;AI-generated content may be incorrect.">
            <a:extLst>
              <a:ext uri="{FF2B5EF4-FFF2-40B4-BE49-F238E27FC236}">
                <a16:creationId xmlns:a16="http://schemas.microsoft.com/office/drawing/2014/main" id="{BE8CB4FE-E6A9-2E84-A8CB-2F7D0635A1B7}"/>
              </a:ext>
            </a:extLst>
          </p:cNvPr>
          <p:cNvPicPr>
            <a:picLocks noChangeAspect="1"/>
          </p:cNvPicPr>
          <p:nvPr/>
        </p:nvPicPr>
        <p:blipFill>
          <a:blip r:embed="rId2"/>
          <a:stretch>
            <a:fillRect/>
          </a:stretch>
        </p:blipFill>
        <p:spPr>
          <a:xfrm>
            <a:off x="3933825" y="2407279"/>
            <a:ext cx="3733799" cy="2233941"/>
          </a:xfrm>
          <a:prstGeom prst="rect">
            <a:avLst/>
          </a:prstGeom>
        </p:spPr>
      </p:pic>
    </p:spTree>
    <p:extLst>
      <p:ext uri="{BB962C8B-B14F-4D97-AF65-F5344CB8AC3E}">
        <p14:creationId xmlns:p14="http://schemas.microsoft.com/office/powerpoint/2010/main" val="988251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3C8D-3FD9-B82E-C9A9-CB4D679EB084}"/>
              </a:ext>
            </a:extLst>
          </p:cNvPr>
          <p:cNvSpPr>
            <a:spLocks noGrp="1"/>
          </p:cNvSpPr>
          <p:nvPr>
            <p:ph type="title"/>
          </p:nvPr>
        </p:nvSpPr>
        <p:spPr/>
        <p:txBody>
          <a:bodyPr/>
          <a:lstStyle/>
          <a:p>
            <a:r>
              <a:rPr lang="en-US" dirty="0"/>
              <a:t>LR6</a:t>
            </a:r>
          </a:p>
        </p:txBody>
      </p:sp>
      <p:sp>
        <p:nvSpPr>
          <p:cNvPr id="3" name="TextBox 2">
            <a:extLst>
              <a:ext uri="{FF2B5EF4-FFF2-40B4-BE49-F238E27FC236}">
                <a16:creationId xmlns:a16="http://schemas.microsoft.com/office/drawing/2014/main" id="{F7E3AB33-2218-A0A6-D944-D98A2E63EEE4}"/>
              </a:ext>
            </a:extLst>
          </p:cNvPr>
          <p:cNvSpPr txBox="1"/>
          <p:nvPr/>
        </p:nvSpPr>
        <p:spPr>
          <a:xfrm>
            <a:off x="914400" y="1552575"/>
            <a:ext cx="274320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PT Serif"/>
              </a:rPr>
              <a:t>The abducens nerve innervates the lateral rectus (LR) muscle, which abducts the eye to move it outward. In the case of a CN VI lesion, the affected eye will not be able to </a:t>
            </a:r>
            <a:r>
              <a:rPr lang="en-US"/>
              <a:t>abduct</a:t>
            </a:r>
            <a:r>
              <a:rPr lang="en-US">
                <a:latin typeface="PT Serif"/>
              </a:rPr>
              <a:t> beyond the midline. So for example, with a palsy of the left CN VI, the left eye does not move laterally when the right eye is brought medially to gaze left.</a:t>
            </a:r>
            <a:endParaRPr lang="en-US"/>
          </a:p>
        </p:txBody>
      </p:sp>
      <p:pic>
        <p:nvPicPr>
          <p:cNvPr id="4" name="Picture 3" descr="A close-up of a pair of eyes&#10;&#10;AI-generated content may be incorrect.">
            <a:extLst>
              <a:ext uri="{FF2B5EF4-FFF2-40B4-BE49-F238E27FC236}">
                <a16:creationId xmlns:a16="http://schemas.microsoft.com/office/drawing/2014/main" id="{81B938A9-9AAE-5B64-5DA4-5B5C7DAB0B56}"/>
              </a:ext>
            </a:extLst>
          </p:cNvPr>
          <p:cNvPicPr>
            <a:picLocks noChangeAspect="1"/>
          </p:cNvPicPr>
          <p:nvPr/>
        </p:nvPicPr>
        <p:blipFill>
          <a:blip r:embed="rId2"/>
          <a:stretch>
            <a:fillRect/>
          </a:stretch>
        </p:blipFill>
        <p:spPr>
          <a:xfrm>
            <a:off x="4600575" y="561975"/>
            <a:ext cx="6438900" cy="4924425"/>
          </a:xfrm>
          <a:prstGeom prst="rect">
            <a:avLst/>
          </a:prstGeom>
        </p:spPr>
      </p:pic>
    </p:spTree>
    <p:extLst>
      <p:ext uri="{BB962C8B-B14F-4D97-AF65-F5344CB8AC3E}">
        <p14:creationId xmlns:p14="http://schemas.microsoft.com/office/powerpoint/2010/main" val="3148605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39843"/>
            <a:ext cx="9905998" cy="1214203"/>
          </a:xfrm>
        </p:spPr>
        <p:txBody>
          <a:bodyPr>
            <a:normAutofit/>
          </a:bodyPr>
          <a:lstStyle/>
          <a:p>
            <a:pPr algn="ctr"/>
            <a:r>
              <a:rPr lang="en-US" sz="4400" dirty="0"/>
              <a:t>6</a:t>
            </a:r>
            <a:r>
              <a:rPr lang="en-US" sz="4400" baseline="30000" dirty="0"/>
              <a:t>th</a:t>
            </a:r>
            <a:r>
              <a:rPr lang="en-US" sz="4400" dirty="0"/>
              <a:t> cranial nerve palsy, right eye</a:t>
            </a:r>
          </a:p>
        </p:txBody>
      </p:sp>
      <p:pic>
        <p:nvPicPr>
          <p:cNvPr id="4" name="Picture 3"/>
          <p:cNvPicPr>
            <a:picLocks noChangeAspect="1"/>
          </p:cNvPicPr>
          <p:nvPr/>
        </p:nvPicPr>
        <p:blipFill rotWithShape="1">
          <a:blip r:embed="rId2"/>
          <a:srcRect t="33169" b="32441"/>
          <a:stretch/>
        </p:blipFill>
        <p:spPr>
          <a:xfrm>
            <a:off x="733269" y="1978700"/>
            <a:ext cx="10990240" cy="2834640"/>
          </a:xfrm>
          <a:prstGeom prst="rect">
            <a:avLst/>
          </a:prstGeom>
        </p:spPr>
      </p:pic>
      <p:pic>
        <p:nvPicPr>
          <p:cNvPr id="3" name="Picture 2" descr="The sixth cranial nerve (abducens nerve) pair controls the muscle on each eye that rotates each eye away from your nose.">
            <a:extLst>
              <a:ext uri="{FF2B5EF4-FFF2-40B4-BE49-F238E27FC236}">
                <a16:creationId xmlns:a16="http://schemas.microsoft.com/office/drawing/2014/main" id="{959BA043-520E-6B03-DFD0-36C4DA0E6835}"/>
              </a:ext>
            </a:extLst>
          </p:cNvPr>
          <p:cNvPicPr>
            <a:picLocks noChangeAspect="1"/>
          </p:cNvPicPr>
          <p:nvPr/>
        </p:nvPicPr>
        <p:blipFill>
          <a:blip r:embed="rId3"/>
          <a:stretch>
            <a:fillRect/>
          </a:stretch>
        </p:blipFill>
        <p:spPr>
          <a:xfrm>
            <a:off x="0" y="110680"/>
            <a:ext cx="2743200" cy="3055239"/>
          </a:xfrm>
          <a:prstGeom prst="rect">
            <a:avLst/>
          </a:prstGeom>
        </p:spPr>
      </p:pic>
    </p:spTree>
    <p:extLst>
      <p:ext uri="{BB962C8B-B14F-4D97-AF65-F5344CB8AC3E}">
        <p14:creationId xmlns:p14="http://schemas.microsoft.com/office/powerpoint/2010/main" val="1003242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93F8C-B6EF-625E-7E79-6F1F80FE81A5}"/>
              </a:ext>
            </a:extLst>
          </p:cNvPr>
          <p:cNvSpPr>
            <a:spLocks noGrp="1"/>
          </p:cNvSpPr>
          <p:nvPr>
            <p:ph type="title"/>
          </p:nvPr>
        </p:nvSpPr>
        <p:spPr/>
        <p:txBody>
          <a:bodyPr/>
          <a:lstStyle/>
          <a:p>
            <a:r>
              <a:rPr lang="en-US" dirty="0"/>
              <a:t>3rd cranial N</a:t>
            </a:r>
          </a:p>
        </p:txBody>
      </p:sp>
      <p:sp>
        <p:nvSpPr>
          <p:cNvPr id="3" name="TextBox 2">
            <a:extLst>
              <a:ext uri="{FF2B5EF4-FFF2-40B4-BE49-F238E27FC236}">
                <a16:creationId xmlns:a16="http://schemas.microsoft.com/office/drawing/2014/main" id="{71481B02-C0A0-4782-D4A7-D6F806B08443}"/>
              </a:ext>
            </a:extLst>
          </p:cNvPr>
          <p:cNvSpPr txBox="1"/>
          <p:nvPr/>
        </p:nvSpPr>
        <p:spPr>
          <a:xfrm>
            <a:off x="1133475" y="1419225"/>
            <a:ext cx="2743200"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PT Serif"/>
              </a:rPr>
              <a:t>CN III supplies all of the extraocular muscles with the exception of the lateral rectus (LR) and the superior oblique (SO). A CN III palsy therefore results in unopposed action of these two muscles. The result is that the eye is pulled down (loss of inferior oblique) and out (loss of medial rectus) . There would also be ptosis, or drooping, of the upper eyelid, due to loss of the </a:t>
            </a:r>
            <a:r>
              <a:rPr lang="en-US" dirty="0" err="1"/>
              <a:t>levator</a:t>
            </a:r>
            <a:r>
              <a:rPr lang="en-US" dirty="0"/>
              <a:t> palpebrae</a:t>
            </a:r>
            <a:r>
              <a:rPr lang="en-US" dirty="0">
                <a:latin typeface="PT Serif"/>
              </a:rPr>
              <a:t> superioris as well as the mydriasis</a:t>
            </a:r>
            <a:endParaRPr lang="en-US"/>
          </a:p>
        </p:txBody>
      </p:sp>
      <p:pic>
        <p:nvPicPr>
          <p:cNvPr id="4" name="Picture 3" descr="A close-up of a pair of eyes&#10;&#10;AI-generated content may be incorrect.">
            <a:extLst>
              <a:ext uri="{FF2B5EF4-FFF2-40B4-BE49-F238E27FC236}">
                <a16:creationId xmlns:a16="http://schemas.microsoft.com/office/drawing/2014/main" id="{C9F90A0C-5BC0-D04A-F3E0-21DE55785A13}"/>
              </a:ext>
            </a:extLst>
          </p:cNvPr>
          <p:cNvPicPr>
            <a:picLocks noChangeAspect="1"/>
          </p:cNvPicPr>
          <p:nvPr/>
        </p:nvPicPr>
        <p:blipFill>
          <a:blip r:embed="rId2"/>
          <a:stretch>
            <a:fillRect/>
          </a:stretch>
        </p:blipFill>
        <p:spPr>
          <a:xfrm>
            <a:off x="5953125" y="2093640"/>
            <a:ext cx="4857749" cy="3375570"/>
          </a:xfrm>
          <a:prstGeom prst="rect">
            <a:avLst/>
          </a:prstGeom>
        </p:spPr>
      </p:pic>
    </p:spTree>
    <p:extLst>
      <p:ext uri="{BB962C8B-B14F-4D97-AF65-F5344CB8AC3E}">
        <p14:creationId xmlns:p14="http://schemas.microsoft.com/office/powerpoint/2010/main" val="2739124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69824"/>
            <a:ext cx="9905998" cy="959370"/>
          </a:xfrm>
        </p:spPr>
        <p:txBody>
          <a:bodyPr>
            <a:normAutofit/>
          </a:bodyPr>
          <a:lstStyle/>
          <a:p>
            <a:pPr algn="ctr"/>
            <a:r>
              <a:rPr lang="en-US" sz="4000" dirty="0"/>
              <a:t>3</a:t>
            </a:r>
            <a:r>
              <a:rPr lang="en-US" sz="4000" baseline="30000" dirty="0"/>
              <a:t>rd</a:t>
            </a:r>
            <a:r>
              <a:rPr lang="en-US" sz="4000" dirty="0"/>
              <a:t> cranial nerve palsy, right eye</a:t>
            </a:r>
          </a:p>
        </p:txBody>
      </p:sp>
      <p:pic>
        <p:nvPicPr>
          <p:cNvPr id="3" name="Picture 2"/>
          <p:cNvPicPr>
            <a:picLocks noChangeAspect="1"/>
          </p:cNvPicPr>
          <p:nvPr/>
        </p:nvPicPr>
        <p:blipFill>
          <a:blip r:embed="rId2"/>
          <a:stretch>
            <a:fillRect/>
          </a:stretch>
        </p:blipFill>
        <p:spPr>
          <a:xfrm>
            <a:off x="2479232" y="1229194"/>
            <a:ext cx="7230359" cy="5212080"/>
          </a:xfrm>
          <a:prstGeom prst="rect">
            <a:avLst/>
          </a:prstGeom>
        </p:spPr>
      </p:pic>
    </p:spTree>
    <p:extLst>
      <p:ext uri="{BB962C8B-B14F-4D97-AF65-F5344CB8AC3E}">
        <p14:creationId xmlns:p14="http://schemas.microsoft.com/office/powerpoint/2010/main" val="4229269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94872"/>
            <a:ext cx="9905998" cy="1199213"/>
          </a:xfrm>
        </p:spPr>
        <p:txBody>
          <a:bodyPr>
            <a:normAutofit/>
          </a:bodyPr>
          <a:lstStyle/>
          <a:p>
            <a:pPr algn="ctr"/>
            <a:r>
              <a:rPr lang="en-US" sz="4000" dirty="0"/>
              <a:t>3</a:t>
            </a:r>
            <a:r>
              <a:rPr lang="en-US" sz="4000" baseline="30000" dirty="0"/>
              <a:t>rd</a:t>
            </a:r>
            <a:r>
              <a:rPr lang="en-US" sz="4000" dirty="0"/>
              <a:t> cranial nerve palsy, right eye</a:t>
            </a:r>
            <a:br>
              <a:rPr lang="en-US" sz="4000" dirty="0"/>
            </a:br>
            <a:r>
              <a:rPr lang="en-US" sz="4000" dirty="0"/>
              <a:t>pupil involvement</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0929"/>
          <a:stretch/>
        </p:blipFill>
        <p:spPr>
          <a:xfrm>
            <a:off x="996727" y="1708876"/>
            <a:ext cx="10195369" cy="3931920"/>
          </a:xfrm>
          <a:prstGeom prst="rect">
            <a:avLst/>
          </a:prstGeom>
        </p:spPr>
      </p:pic>
    </p:spTree>
    <p:extLst>
      <p:ext uri="{BB962C8B-B14F-4D97-AF65-F5344CB8AC3E}">
        <p14:creationId xmlns:p14="http://schemas.microsoft.com/office/powerpoint/2010/main" val="4638148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8634E-03F2-C02D-F864-6B7F947267E4}"/>
              </a:ext>
            </a:extLst>
          </p:cNvPr>
          <p:cNvSpPr>
            <a:spLocks noGrp="1"/>
          </p:cNvSpPr>
          <p:nvPr>
            <p:ph type="title"/>
          </p:nvPr>
        </p:nvSpPr>
        <p:spPr/>
        <p:txBody>
          <a:bodyPr/>
          <a:lstStyle/>
          <a:p>
            <a:r>
              <a:rPr lang="en-US" dirty="0"/>
              <a:t>SO4</a:t>
            </a:r>
          </a:p>
        </p:txBody>
      </p:sp>
      <p:sp>
        <p:nvSpPr>
          <p:cNvPr id="3" name="TextBox 2">
            <a:extLst>
              <a:ext uri="{FF2B5EF4-FFF2-40B4-BE49-F238E27FC236}">
                <a16:creationId xmlns:a16="http://schemas.microsoft.com/office/drawing/2014/main" id="{78C4649B-E671-5BAF-B99D-378A2837370F}"/>
              </a:ext>
            </a:extLst>
          </p:cNvPr>
          <p:cNvSpPr txBox="1"/>
          <p:nvPr/>
        </p:nvSpPr>
        <p:spPr>
          <a:xfrm>
            <a:off x="714375" y="1419225"/>
            <a:ext cx="440055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PT Serif"/>
              </a:rPr>
              <a:t>The trochlear nerve innervates the superior oblique (SO) muscle, which moves the eye downward, especially when the eye is adducted, </a:t>
            </a:r>
            <a:r>
              <a:rPr lang="en-US" dirty="0" err="1">
                <a:latin typeface="PT Serif"/>
              </a:rPr>
              <a:t>ie</a:t>
            </a:r>
            <a:r>
              <a:rPr lang="en-US" dirty="0">
                <a:latin typeface="PT Serif"/>
              </a:rPr>
              <a:t>, looking to the nose. When CN IV is damaged, the eye moves upward (elevation) and outward (extorsion) because of the unopposed action of the inferior oblique muscles. This causes the patient to experience vertical diplopia when looking down and in, such as walking downstairs or reading a book. For example, if the right trochlear nerve is damaged, then the right eye will be resting in an upward and outward gaze </a:t>
            </a:r>
            <a:endParaRPr lang="en-US" dirty="0"/>
          </a:p>
        </p:txBody>
      </p:sp>
      <p:pic>
        <p:nvPicPr>
          <p:cNvPr id="4" name="Picture 3" descr="A close-up of a person&amp;#39;s face&#10;&#10;AI-generated content may be incorrect.">
            <a:extLst>
              <a:ext uri="{FF2B5EF4-FFF2-40B4-BE49-F238E27FC236}">
                <a16:creationId xmlns:a16="http://schemas.microsoft.com/office/drawing/2014/main" id="{7A00A646-B9F4-76D2-E702-FCC5D70A953C}"/>
              </a:ext>
            </a:extLst>
          </p:cNvPr>
          <p:cNvPicPr>
            <a:picLocks noChangeAspect="1"/>
          </p:cNvPicPr>
          <p:nvPr/>
        </p:nvPicPr>
        <p:blipFill>
          <a:blip r:embed="rId2"/>
          <a:stretch>
            <a:fillRect/>
          </a:stretch>
        </p:blipFill>
        <p:spPr>
          <a:xfrm>
            <a:off x="6096000" y="2424113"/>
            <a:ext cx="5724525" cy="2924175"/>
          </a:xfrm>
          <a:prstGeom prst="rect">
            <a:avLst/>
          </a:prstGeom>
        </p:spPr>
      </p:pic>
    </p:spTree>
    <p:extLst>
      <p:ext uri="{BB962C8B-B14F-4D97-AF65-F5344CB8AC3E}">
        <p14:creationId xmlns:p14="http://schemas.microsoft.com/office/powerpoint/2010/main" val="86172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49902"/>
            <a:ext cx="9905998" cy="944380"/>
          </a:xfrm>
        </p:spPr>
        <p:txBody>
          <a:bodyPr>
            <a:normAutofit/>
          </a:bodyPr>
          <a:lstStyle/>
          <a:p>
            <a:pPr algn="ctr"/>
            <a:r>
              <a:rPr lang="en-US" sz="4000" dirty="0"/>
              <a:t>4</a:t>
            </a:r>
            <a:r>
              <a:rPr lang="en-US" sz="4000" baseline="30000" dirty="0"/>
              <a:t>th</a:t>
            </a:r>
            <a:r>
              <a:rPr lang="en-US" sz="4000" dirty="0"/>
              <a:t> cranial nerve palsy, left eye</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815" t="1042" r="-731" b="1255"/>
          <a:stretch/>
        </p:blipFill>
        <p:spPr>
          <a:xfrm>
            <a:off x="3053620" y="967216"/>
            <a:ext cx="6081583" cy="5628457"/>
          </a:xfrm>
          <a:prstGeom prst="rect">
            <a:avLst/>
          </a:prstGeom>
        </p:spPr>
      </p:pic>
    </p:spTree>
    <p:extLst>
      <p:ext uri="{BB962C8B-B14F-4D97-AF65-F5344CB8AC3E}">
        <p14:creationId xmlns:p14="http://schemas.microsoft.com/office/powerpoint/2010/main" val="3241493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64892"/>
            <a:ext cx="9905998" cy="1184223"/>
          </a:xfrm>
        </p:spPr>
        <p:txBody>
          <a:bodyPr>
            <a:normAutofit/>
          </a:bodyPr>
          <a:lstStyle/>
          <a:p>
            <a:pPr algn="ctr"/>
            <a:r>
              <a:rPr lang="en-US" sz="4400" dirty="0"/>
              <a:t> Sellar lesions</a:t>
            </a:r>
          </a:p>
        </p:txBody>
      </p:sp>
      <p:sp>
        <p:nvSpPr>
          <p:cNvPr id="3" name="Content Placeholder 2"/>
          <p:cNvSpPr>
            <a:spLocks noGrp="1"/>
          </p:cNvSpPr>
          <p:nvPr>
            <p:ph idx="1"/>
          </p:nvPr>
        </p:nvSpPr>
        <p:spPr>
          <a:xfrm>
            <a:off x="1141412" y="1229193"/>
            <a:ext cx="9905999" cy="4562008"/>
          </a:xfrm>
        </p:spPr>
        <p:txBody>
          <a:bodyPr vert="horz" lIns="91440" tIns="45720" rIns="91440" bIns="45720" rtlCol="0" anchor="t">
            <a:normAutofit/>
          </a:bodyPr>
          <a:lstStyle/>
          <a:p>
            <a:r>
              <a:rPr lang="en-US" dirty="0"/>
              <a:t>Pituitary adenoma</a:t>
            </a:r>
          </a:p>
          <a:p>
            <a:r>
              <a:rPr lang="en-US" dirty="0"/>
              <a:t>Craniopharyngioma</a:t>
            </a:r>
            <a:endParaRPr lang="en-US" sz="2800" dirty="0"/>
          </a:p>
          <a:p>
            <a:r>
              <a:rPr lang="en-US" sz="2800" dirty="0"/>
              <a:t>Meningioma</a:t>
            </a:r>
          </a:p>
          <a:p>
            <a:r>
              <a:rPr lang="en-US" sz="2800" dirty="0"/>
              <a:t>Germ cell tumors</a:t>
            </a:r>
          </a:p>
          <a:p>
            <a:r>
              <a:rPr lang="en-US" sz="2800" dirty="0"/>
              <a:t>Aneurysm</a:t>
            </a:r>
          </a:p>
          <a:p>
            <a:r>
              <a:rPr lang="en-US" sz="2800" dirty="0"/>
              <a:t>Cysts (Rathke’s cleft, dermoid, epidermoid, arachnoid)</a:t>
            </a:r>
          </a:p>
          <a:p>
            <a:r>
              <a:rPr lang="en-US" sz="2800" dirty="0"/>
              <a:t>Inflammation (histiocytic hypophysitis, sarcoid)</a:t>
            </a:r>
          </a:p>
          <a:p>
            <a:r>
              <a:rPr lang="en-US" sz="2800" dirty="0"/>
              <a:t>Infection (TB, syphilis, parasites)</a:t>
            </a:r>
          </a:p>
        </p:txBody>
      </p:sp>
    </p:spTree>
    <p:extLst>
      <p:ext uri="{BB962C8B-B14F-4D97-AF65-F5344CB8AC3E}">
        <p14:creationId xmlns:p14="http://schemas.microsoft.com/office/powerpoint/2010/main" val="3244788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01464-FE5E-94C2-9D0A-88D375C22D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B0267-6C2A-0A9C-9C18-813B771CCBCE}"/>
              </a:ext>
            </a:extLst>
          </p:cNvPr>
          <p:cNvSpPr>
            <a:spLocks noGrp="1"/>
          </p:cNvSpPr>
          <p:nvPr>
            <p:ph type="title"/>
          </p:nvPr>
        </p:nvSpPr>
        <p:spPr/>
        <p:txBody>
          <a:bodyPr/>
          <a:lstStyle/>
          <a:p>
            <a:r>
              <a:rPr lang="en-US" dirty="0"/>
              <a:t>Pituitary adenoma</a:t>
            </a:r>
          </a:p>
        </p:txBody>
      </p:sp>
      <p:pic>
        <p:nvPicPr>
          <p:cNvPr id="4" name="Content Placeholder 3" descr="Image result for pituitary macroadenoma and pituitary cells">
            <a:extLst>
              <a:ext uri="{FF2B5EF4-FFF2-40B4-BE49-F238E27FC236}">
                <a16:creationId xmlns:a16="http://schemas.microsoft.com/office/drawing/2014/main" id="{24820066-5EEE-D3BD-28EE-B31B0DE68D57}"/>
              </a:ext>
            </a:extLst>
          </p:cNvPr>
          <p:cNvPicPr>
            <a:picLocks noGrp="1" noChangeAspect="1"/>
          </p:cNvPicPr>
          <p:nvPr>
            <p:ph idx="1"/>
          </p:nvPr>
        </p:nvPicPr>
        <p:blipFill>
          <a:blip r:embed="rId2"/>
          <a:stretch>
            <a:fillRect/>
          </a:stretch>
        </p:blipFill>
        <p:spPr>
          <a:xfrm>
            <a:off x="1205696" y="1702091"/>
            <a:ext cx="4408025" cy="3585620"/>
          </a:xfrm>
        </p:spPr>
      </p:pic>
      <p:pic>
        <p:nvPicPr>
          <p:cNvPr id="5" name="Picture 4" descr="Related image">
            <a:extLst>
              <a:ext uri="{FF2B5EF4-FFF2-40B4-BE49-F238E27FC236}">
                <a16:creationId xmlns:a16="http://schemas.microsoft.com/office/drawing/2014/main" id="{9481463B-40B7-B18E-3688-1A71422E08E8}"/>
              </a:ext>
            </a:extLst>
          </p:cNvPr>
          <p:cNvPicPr>
            <a:picLocks noChangeAspect="1"/>
          </p:cNvPicPr>
          <p:nvPr/>
        </p:nvPicPr>
        <p:blipFill>
          <a:blip r:embed="rId3"/>
          <a:stretch>
            <a:fillRect/>
          </a:stretch>
        </p:blipFill>
        <p:spPr>
          <a:xfrm>
            <a:off x="6590818" y="1911993"/>
            <a:ext cx="4537275" cy="3386077"/>
          </a:xfrm>
          <a:prstGeom prst="rect">
            <a:avLst/>
          </a:prstGeom>
        </p:spPr>
      </p:pic>
      <p:sp>
        <p:nvSpPr>
          <p:cNvPr id="6" name="TextBox 5">
            <a:extLst>
              <a:ext uri="{FF2B5EF4-FFF2-40B4-BE49-F238E27FC236}">
                <a16:creationId xmlns:a16="http://schemas.microsoft.com/office/drawing/2014/main" id="{1FA39C2A-86A3-4B5B-7FA7-291CD949669A}"/>
              </a:ext>
            </a:extLst>
          </p:cNvPr>
          <p:cNvSpPr txBox="1"/>
          <p:nvPr/>
        </p:nvSpPr>
        <p:spPr>
          <a:xfrm>
            <a:off x="472633" y="5526911"/>
            <a:ext cx="1115992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Microadenoma - &lt; 10 mm</a:t>
            </a:r>
          </a:p>
          <a:p>
            <a:r>
              <a:rPr lang="en-US" dirty="0"/>
              <a:t>Macroadenoma- &gt; 10 mm. These cause pressure effects- Visual field defects, Hypopituitarism due to pressure on normal hormone producing cells, Pressure on cranial nerves in cavernous sinus- Ptosis, extra ocular movement defects </a:t>
            </a:r>
          </a:p>
        </p:txBody>
      </p:sp>
    </p:spTree>
    <p:extLst>
      <p:ext uri="{BB962C8B-B14F-4D97-AF65-F5344CB8AC3E}">
        <p14:creationId xmlns:p14="http://schemas.microsoft.com/office/powerpoint/2010/main" val="103826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39844"/>
            <a:ext cx="9905998" cy="1139252"/>
          </a:xfrm>
        </p:spPr>
        <p:txBody>
          <a:bodyPr>
            <a:normAutofit/>
          </a:bodyPr>
          <a:lstStyle/>
          <a:p>
            <a:pPr algn="ctr"/>
            <a:r>
              <a:rPr lang="en-US" sz="4000" dirty="0"/>
              <a:t>Evaluation of a suspected sellar lesion</a:t>
            </a:r>
          </a:p>
        </p:txBody>
      </p:sp>
      <p:sp>
        <p:nvSpPr>
          <p:cNvPr id="3" name="Content Placeholder 2"/>
          <p:cNvSpPr>
            <a:spLocks noGrp="1"/>
          </p:cNvSpPr>
          <p:nvPr>
            <p:ph idx="1"/>
          </p:nvPr>
        </p:nvSpPr>
        <p:spPr>
          <a:xfrm>
            <a:off x="1141412" y="1543987"/>
            <a:ext cx="9905999" cy="4247214"/>
          </a:xfrm>
        </p:spPr>
        <p:txBody>
          <a:bodyPr vert="horz" lIns="91440" tIns="45720" rIns="91440" bIns="45720" rtlCol="0" anchor="t">
            <a:normAutofit/>
          </a:bodyPr>
          <a:lstStyle/>
          <a:p>
            <a:r>
              <a:rPr lang="en-US" sz="3600" dirty="0"/>
              <a:t>Pituitary function tests</a:t>
            </a:r>
          </a:p>
          <a:p>
            <a:pPr lvl="1">
              <a:buFont typeface="Wingdings" panose="05000000000000000000" pitchFamily="2" charset="2"/>
              <a:buChar char="Ø"/>
            </a:pPr>
            <a:r>
              <a:rPr lang="en-US" sz="2800" dirty="0"/>
              <a:t>Prolactin, ACTH, AM cortisol, TSH, Free T4, LH, FSH, estradiol,    testosterone, IGF-1</a:t>
            </a:r>
          </a:p>
          <a:p>
            <a:pPr lvl="1">
              <a:buFont typeface="Wingdings" panose="05000000000000000000" pitchFamily="2" charset="2"/>
              <a:buChar char="Ø"/>
            </a:pPr>
            <a:r>
              <a:rPr lang="en-US" sz="2800" dirty="0"/>
              <a:t>ACTH and dexamethasone suppression tests</a:t>
            </a:r>
          </a:p>
          <a:p>
            <a:r>
              <a:rPr lang="en-US" sz="3600" dirty="0"/>
              <a:t>MRI of pituitary region without and with contrast</a:t>
            </a:r>
          </a:p>
          <a:p>
            <a:r>
              <a:rPr lang="en-US" sz="3600" dirty="0"/>
              <a:t>CT of brain with coronal cuts when suspecting a bleed</a:t>
            </a:r>
          </a:p>
        </p:txBody>
      </p:sp>
    </p:spTree>
    <p:extLst>
      <p:ext uri="{BB962C8B-B14F-4D97-AF65-F5344CB8AC3E}">
        <p14:creationId xmlns:p14="http://schemas.microsoft.com/office/powerpoint/2010/main" val="238645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2F89D-ADC2-20DC-7B6E-636CE50067A2}"/>
              </a:ext>
            </a:extLst>
          </p:cNvPr>
          <p:cNvSpPr>
            <a:spLocks noGrp="1"/>
          </p:cNvSpPr>
          <p:nvPr>
            <p:ph type="title"/>
          </p:nvPr>
        </p:nvSpPr>
        <p:spPr/>
        <p:txBody>
          <a:bodyPr/>
          <a:lstStyle/>
          <a:p>
            <a:r>
              <a:rPr lang="en-US" dirty="0"/>
              <a:t>Treatment – Replace hormones- </a:t>
            </a:r>
            <a:r>
              <a:rPr lang="en-US" dirty="0">
                <a:solidFill>
                  <a:srgbClr val="FF0000"/>
                </a:solidFill>
              </a:rPr>
              <a:t>Cortisol</a:t>
            </a:r>
          </a:p>
        </p:txBody>
      </p:sp>
      <p:pic>
        <p:nvPicPr>
          <p:cNvPr id="4" name="Content Placeholder 3" descr="A table with text on it&#10;&#10;AI-generated content may be incorrect.">
            <a:extLst>
              <a:ext uri="{FF2B5EF4-FFF2-40B4-BE49-F238E27FC236}">
                <a16:creationId xmlns:a16="http://schemas.microsoft.com/office/drawing/2014/main" id="{CC1C6C78-6155-D18F-8AB5-819D6F20A2E5}"/>
              </a:ext>
            </a:extLst>
          </p:cNvPr>
          <p:cNvPicPr>
            <a:picLocks noGrp="1" noChangeAspect="1"/>
          </p:cNvPicPr>
          <p:nvPr>
            <p:ph idx="1"/>
          </p:nvPr>
        </p:nvPicPr>
        <p:blipFill>
          <a:blip r:embed="rId2"/>
          <a:stretch>
            <a:fillRect/>
          </a:stretch>
        </p:blipFill>
        <p:spPr>
          <a:xfrm>
            <a:off x="362509" y="1692718"/>
            <a:ext cx="6540563" cy="4351338"/>
          </a:xfrm>
        </p:spPr>
      </p:pic>
      <p:sp>
        <p:nvSpPr>
          <p:cNvPr id="5" name="TextBox 4">
            <a:extLst>
              <a:ext uri="{FF2B5EF4-FFF2-40B4-BE49-F238E27FC236}">
                <a16:creationId xmlns:a16="http://schemas.microsoft.com/office/drawing/2014/main" id="{7C106F54-7471-3F33-AC89-77C632699DC8}"/>
              </a:ext>
            </a:extLst>
          </p:cNvPr>
          <p:cNvSpPr txBox="1"/>
          <p:nvPr/>
        </p:nvSpPr>
        <p:spPr>
          <a:xfrm>
            <a:off x="7427526" y="1728105"/>
            <a:ext cx="453627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Hypopituitarism / Pan hypo</a:t>
            </a:r>
          </a:p>
          <a:p>
            <a:pPr marL="342900" indent="-342900">
              <a:buAutoNum type="arabicPeriod"/>
            </a:pPr>
            <a:r>
              <a:rPr lang="en-US" dirty="0"/>
              <a:t>Lactation failure</a:t>
            </a:r>
          </a:p>
          <a:p>
            <a:pPr marL="342900" indent="-342900">
              <a:buAutoNum type="arabicPeriod"/>
            </a:pPr>
            <a:r>
              <a:rPr lang="en-US" dirty="0"/>
              <a:t>GH def-Short stature in kids </a:t>
            </a:r>
          </a:p>
          <a:p>
            <a:pPr marL="342900" indent="-342900">
              <a:buAutoNum type="arabicPeriod"/>
            </a:pPr>
            <a:r>
              <a:rPr lang="en-US" dirty="0"/>
              <a:t>Secondary adrenal insufficiency—fatigue, low BP, dizziness</a:t>
            </a:r>
          </a:p>
          <a:p>
            <a:pPr marL="342900" indent="-342900">
              <a:buAutoNum type="arabicPeriod"/>
            </a:pPr>
            <a:r>
              <a:rPr lang="en-US" dirty="0"/>
              <a:t>Secondary / </a:t>
            </a:r>
            <a:r>
              <a:rPr lang="en-US" dirty="0" err="1"/>
              <a:t>hypogonadotrophic</a:t>
            </a:r>
            <a:r>
              <a:rPr lang="en-US" dirty="0"/>
              <a:t> hypogonadism – Infertility</a:t>
            </a:r>
          </a:p>
          <a:p>
            <a:pPr marL="342900" indent="-342900">
              <a:buAutoNum type="arabicPeriod"/>
            </a:pPr>
            <a:r>
              <a:rPr lang="en-US" dirty="0"/>
              <a:t>Secondary hypothyroidism</a:t>
            </a:r>
          </a:p>
          <a:p>
            <a:pPr marL="342900" indent="-342900">
              <a:buAutoNum type="arabicPeriod"/>
            </a:pPr>
            <a:endParaRPr lang="en-US" dirty="0"/>
          </a:p>
          <a:p>
            <a:r>
              <a:rPr lang="en-US" dirty="0"/>
              <a:t>Posterior pituitary</a:t>
            </a:r>
          </a:p>
          <a:p>
            <a:pPr marL="342900" indent="-342900">
              <a:buAutoNum type="arabicPeriod"/>
            </a:pPr>
            <a:r>
              <a:rPr lang="en-US" dirty="0"/>
              <a:t>ADH deficiency – high volume of dilute urine</a:t>
            </a:r>
          </a:p>
        </p:txBody>
      </p:sp>
    </p:spTree>
    <p:extLst>
      <p:ext uri="{BB962C8B-B14F-4D97-AF65-F5344CB8AC3E}">
        <p14:creationId xmlns:p14="http://schemas.microsoft.com/office/powerpoint/2010/main" val="3474219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3C7C1-95D1-EC65-F7DB-2A5B4B427F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BE72D0-8AB3-6366-F6BB-79511642B57F}"/>
              </a:ext>
            </a:extLst>
          </p:cNvPr>
          <p:cNvSpPr>
            <a:spLocks noGrp="1"/>
          </p:cNvSpPr>
          <p:nvPr>
            <p:ph idx="1"/>
          </p:nvPr>
        </p:nvSpPr>
        <p:spPr/>
        <p:txBody>
          <a:bodyPr vert="horz" lIns="91440" tIns="45720" rIns="91440" bIns="45720" rtlCol="0" anchor="t">
            <a:normAutofit/>
          </a:bodyPr>
          <a:lstStyle/>
          <a:p>
            <a:r>
              <a:rPr lang="en-US" sz="2400" dirty="0">
                <a:latin typeface="PT Serif"/>
              </a:rPr>
              <a:t>The most critical hormone to replace is </a:t>
            </a:r>
            <a:r>
              <a:rPr lang="en-US" sz="2400" b="1" dirty="0">
                <a:latin typeface="PT Serif"/>
              </a:rPr>
              <a:t>cortisol</a:t>
            </a:r>
            <a:r>
              <a:rPr lang="en-US" sz="2400" dirty="0">
                <a:latin typeface="PT Serif"/>
              </a:rPr>
              <a:t>, because its deficiency can cause hypotension and death. In such patients, the priority is stabilization of the circulatory system. Treatment in this setting requires the administration of intravenous (IV) saline, dextrose if the patient is hypoglycemic, and IV </a:t>
            </a:r>
            <a:r>
              <a:rPr lang="en-US" sz="2400" u="sng" dirty="0">
                <a:latin typeface="PT Serif"/>
              </a:rPr>
              <a:t>hydrocortisone.</a:t>
            </a:r>
            <a:endParaRPr lang="en-US" sz="2400"/>
          </a:p>
        </p:txBody>
      </p:sp>
    </p:spTree>
    <p:extLst>
      <p:ext uri="{BB962C8B-B14F-4D97-AF65-F5344CB8AC3E}">
        <p14:creationId xmlns:p14="http://schemas.microsoft.com/office/powerpoint/2010/main" val="4196538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B08BA-EDC1-B935-D92B-13B4A00BEE7A}"/>
              </a:ext>
            </a:extLst>
          </p:cNvPr>
          <p:cNvSpPr>
            <a:spLocks noGrp="1"/>
          </p:cNvSpPr>
          <p:nvPr>
            <p:ph type="title"/>
          </p:nvPr>
        </p:nvSpPr>
        <p:spPr/>
        <p:txBody>
          <a:bodyPr/>
          <a:lstStyle/>
          <a:p>
            <a:r>
              <a:rPr lang="en-US" dirty="0"/>
              <a:t>Treatment of pituitary adenoma </a:t>
            </a:r>
          </a:p>
        </p:txBody>
      </p:sp>
      <p:sp>
        <p:nvSpPr>
          <p:cNvPr id="3" name="Content Placeholder 2">
            <a:extLst>
              <a:ext uri="{FF2B5EF4-FFF2-40B4-BE49-F238E27FC236}">
                <a16:creationId xmlns:a16="http://schemas.microsoft.com/office/drawing/2014/main" id="{B951745A-75A7-B65E-B252-3A710DC941AB}"/>
              </a:ext>
            </a:extLst>
          </p:cNvPr>
          <p:cNvSpPr>
            <a:spLocks noGrp="1"/>
          </p:cNvSpPr>
          <p:nvPr>
            <p:ph idx="1"/>
          </p:nvPr>
        </p:nvSpPr>
        <p:spPr/>
        <p:txBody>
          <a:bodyPr vert="horz" lIns="91440" tIns="45720" rIns="91440" bIns="45720" rtlCol="0" anchor="t">
            <a:normAutofit/>
          </a:bodyPr>
          <a:lstStyle/>
          <a:p>
            <a:r>
              <a:rPr lang="en-US" dirty="0"/>
              <a:t>Based on size</a:t>
            </a:r>
          </a:p>
          <a:p>
            <a:r>
              <a:rPr lang="en-US" dirty="0"/>
              <a:t>-Microadenoma , less than 1 cm -can be monitored</a:t>
            </a:r>
          </a:p>
          <a:p>
            <a:r>
              <a:rPr lang="en-US" dirty="0"/>
              <a:t>-Macroadenoma- Surgery usually.</a:t>
            </a:r>
          </a:p>
          <a:p>
            <a:endParaRPr lang="en-US" dirty="0"/>
          </a:p>
          <a:p>
            <a:r>
              <a:rPr lang="en-US" dirty="0"/>
              <a:t>Based on secretion</a:t>
            </a:r>
          </a:p>
          <a:p>
            <a:r>
              <a:rPr lang="en-US" dirty="0"/>
              <a:t>-Prolactin secreting – usually medical therapy is first line</a:t>
            </a:r>
          </a:p>
        </p:txBody>
      </p:sp>
    </p:spTree>
    <p:extLst>
      <p:ext uri="{BB962C8B-B14F-4D97-AF65-F5344CB8AC3E}">
        <p14:creationId xmlns:p14="http://schemas.microsoft.com/office/powerpoint/2010/main" val="7788768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F2B68-61F0-3047-7B22-5340D356B224}"/>
              </a:ext>
            </a:extLst>
          </p:cNvPr>
          <p:cNvSpPr>
            <a:spLocks noGrp="1"/>
          </p:cNvSpPr>
          <p:nvPr>
            <p:ph type="title"/>
          </p:nvPr>
        </p:nvSpPr>
        <p:spPr/>
        <p:txBody>
          <a:bodyPr/>
          <a:lstStyle/>
          <a:p>
            <a:r>
              <a:rPr lang="en-US" dirty="0"/>
              <a:t>Indications for surgery</a:t>
            </a:r>
          </a:p>
        </p:txBody>
      </p:sp>
      <p:sp>
        <p:nvSpPr>
          <p:cNvPr id="3" name="Content Placeholder 2">
            <a:extLst>
              <a:ext uri="{FF2B5EF4-FFF2-40B4-BE49-F238E27FC236}">
                <a16:creationId xmlns:a16="http://schemas.microsoft.com/office/drawing/2014/main" id="{E86868ED-4556-C2B4-B580-C3EEBF82F65F}"/>
              </a:ext>
            </a:extLst>
          </p:cNvPr>
          <p:cNvSpPr>
            <a:spLocks noGrp="1"/>
          </p:cNvSpPr>
          <p:nvPr>
            <p:ph idx="1"/>
          </p:nvPr>
        </p:nvSpPr>
        <p:spPr>
          <a:xfrm>
            <a:off x="664580" y="1574840"/>
            <a:ext cx="10515600" cy="4351338"/>
          </a:xfrm>
        </p:spPr>
        <p:txBody>
          <a:bodyPr vert="horz" lIns="91440" tIns="45720" rIns="91440" bIns="45720" rtlCol="0" anchor="t">
            <a:noAutofit/>
          </a:bodyPr>
          <a:lstStyle/>
          <a:p>
            <a:r>
              <a:rPr lang="en-US" sz="1800" b="1" dirty="0">
                <a:solidFill>
                  <a:srgbClr val="001D35"/>
                </a:solidFill>
                <a:ea typeface="+mn-lt"/>
                <a:cs typeface="+mn-lt"/>
              </a:rPr>
              <a:t>Visual Impairment:</a:t>
            </a:r>
            <a:endParaRPr lang="en-US" sz="1800"/>
          </a:p>
          <a:p>
            <a:r>
              <a:rPr lang="en-US" sz="1800" dirty="0">
                <a:solidFill>
                  <a:srgbClr val="545D7E"/>
                </a:solidFill>
                <a:ea typeface="+mn-lt"/>
                <a:cs typeface="+mn-lt"/>
              </a:rPr>
              <a:t>Surgery is a primary treatment for adenomas that are pressing on the optic chiasm or optic nerves, causing visual field defects or other visual abnormalities. </a:t>
            </a:r>
            <a:endParaRPr lang="en-US" sz="1800"/>
          </a:p>
          <a:p>
            <a:r>
              <a:rPr lang="en-US" sz="1800" b="1" dirty="0">
                <a:solidFill>
                  <a:srgbClr val="FF0000"/>
                </a:solidFill>
                <a:ea typeface="+mn-lt"/>
                <a:cs typeface="+mn-lt"/>
              </a:rPr>
              <a:t>Pituitary Apoplexy</a:t>
            </a:r>
            <a:r>
              <a:rPr lang="en-US" sz="1800" b="1" dirty="0">
                <a:solidFill>
                  <a:srgbClr val="001D35"/>
                </a:solidFill>
                <a:ea typeface="+mn-lt"/>
                <a:cs typeface="+mn-lt"/>
              </a:rPr>
              <a:t>:</a:t>
            </a:r>
            <a:endParaRPr lang="en-US" sz="1800"/>
          </a:p>
          <a:p>
            <a:r>
              <a:rPr lang="en-US" sz="1800" dirty="0">
                <a:solidFill>
                  <a:srgbClr val="545D7E"/>
                </a:solidFill>
                <a:ea typeface="+mn-lt"/>
                <a:cs typeface="+mn-lt"/>
              </a:rPr>
              <a:t>If the pituitary gland experiences a sudden hemorrhage (pituitary apoplexy), surgery may be needed to relieve pressure on the brain and potentially improve vision. </a:t>
            </a:r>
            <a:endParaRPr lang="en-US" sz="1800"/>
          </a:p>
          <a:p>
            <a:r>
              <a:rPr lang="en-US" sz="1800" b="1" dirty="0">
                <a:solidFill>
                  <a:srgbClr val="001D35"/>
                </a:solidFill>
                <a:ea typeface="+mn-lt"/>
                <a:cs typeface="+mn-lt"/>
              </a:rPr>
              <a:t>Secreting Adenomas:-- except fo</a:t>
            </a:r>
            <a:r>
              <a:rPr lang="en-US" sz="1800" b="1" dirty="0">
                <a:solidFill>
                  <a:srgbClr val="FF0000"/>
                </a:solidFill>
                <a:ea typeface="+mn-lt"/>
                <a:cs typeface="+mn-lt"/>
              </a:rPr>
              <a:t>r prolactinoma</a:t>
            </a:r>
            <a:r>
              <a:rPr lang="en-US" sz="1800" b="1" dirty="0">
                <a:solidFill>
                  <a:srgbClr val="001D35"/>
                </a:solidFill>
                <a:ea typeface="+mn-lt"/>
                <a:cs typeface="+mn-lt"/>
              </a:rPr>
              <a:t> </a:t>
            </a:r>
            <a:endParaRPr lang="en-US" sz="1800" dirty="0"/>
          </a:p>
          <a:p>
            <a:r>
              <a:rPr lang="en-US" sz="1800" dirty="0">
                <a:solidFill>
                  <a:srgbClr val="545D7E"/>
                </a:solidFill>
                <a:ea typeface="+mn-lt"/>
                <a:cs typeface="+mn-lt"/>
              </a:rPr>
              <a:t>Surgery is often the first-line treatment for secreting adenomas, such as those causing acromegaly or Cushing's disease, when other treatments like medication have not been effective. </a:t>
            </a:r>
            <a:endParaRPr lang="en-US" sz="1800"/>
          </a:p>
          <a:p>
            <a:r>
              <a:rPr lang="en-US" sz="1800" b="1" dirty="0">
                <a:solidFill>
                  <a:srgbClr val="001D35"/>
                </a:solidFill>
                <a:ea typeface="+mn-lt"/>
                <a:cs typeface="+mn-lt"/>
              </a:rPr>
              <a:t>Large or Invasive Tumors:</a:t>
            </a:r>
            <a:endParaRPr lang="en-US" sz="1800"/>
          </a:p>
          <a:p>
            <a:r>
              <a:rPr lang="en-US" sz="1800" b="1" dirty="0">
                <a:solidFill>
                  <a:srgbClr val="001D35"/>
                </a:solidFill>
                <a:ea typeface="+mn-lt"/>
                <a:cs typeface="+mn-lt"/>
              </a:rPr>
              <a:t>Tumor Growth:</a:t>
            </a:r>
            <a:endParaRPr lang="en-US" sz="1800"/>
          </a:p>
          <a:p>
            <a:r>
              <a:rPr lang="en-US" sz="1800" b="1" dirty="0">
                <a:solidFill>
                  <a:srgbClr val="001D35"/>
                </a:solidFill>
                <a:ea typeface="+mn-lt"/>
                <a:cs typeface="+mn-lt"/>
              </a:rPr>
              <a:t>Persistent Symptoms:-</a:t>
            </a:r>
            <a:r>
              <a:rPr lang="en-US" sz="1800" dirty="0">
                <a:solidFill>
                  <a:srgbClr val="545D7E"/>
                </a:solidFill>
                <a:ea typeface="+mn-lt"/>
                <a:cs typeface="+mn-lt"/>
              </a:rPr>
              <a:t>If headaches, facial pain, or other symptoms persist despite other treatments, surgery may be an option. </a:t>
            </a:r>
            <a:endParaRPr lang="en-US" sz="1800" dirty="0"/>
          </a:p>
          <a:p>
            <a:r>
              <a:rPr lang="en-US" sz="1800" b="1" dirty="0">
                <a:solidFill>
                  <a:srgbClr val="001D35"/>
                </a:solidFill>
                <a:ea typeface="+mn-lt"/>
                <a:cs typeface="+mn-lt"/>
              </a:rPr>
              <a:t>Failure of Other Treatments: -</a:t>
            </a:r>
            <a:r>
              <a:rPr lang="en-US" sz="1800" dirty="0">
                <a:solidFill>
                  <a:srgbClr val="545D7E"/>
                </a:solidFill>
                <a:ea typeface="+mn-lt"/>
                <a:cs typeface="+mn-lt"/>
              </a:rPr>
              <a:t>If medical treatments (like medication or radiation) are not successful in controlling the adenoma or its symptoms, surgery may be considered</a:t>
            </a:r>
            <a:endParaRPr lang="en-US" sz="1800"/>
          </a:p>
          <a:p>
            <a:endParaRPr lang="en-US" dirty="0"/>
          </a:p>
        </p:txBody>
      </p:sp>
    </p:spTree>
    <p:extLst>
      <p:ext uri="{BB962C8B-B14F-4D97-AF65-F5344CB8AC3E}">
        <p14:creationId xmlns:p14="http://schemas.microsoft.com/office/powerpoint/2010/main" val="42503033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6040B-CDF2-A14F-3DDE-34429E326BEE}"/>
              </a:ext>
            </a:extLst>
          </p:cNvPr>
          <p:cNvSpPr>
            <a:spLocks noGrp="1"/>
          </p:cNvSpPr>
          <p:nvPr>
            <p:ph type="title"/>
          </p:nvPr>
        </p:nvSpPr>
        <p:spPr/>
        <p:txBody>
          <a:bodyPr/>
          <a:lstStyle/>
          <a:p>
            <a:r>
              <a:rPr lang="en-US" dirty="0"/>
              <a:t>Treatment</a:t>
            </a:r>
          </a:p>
        </p:txBody>
      </p:sp>
      <p:sp>
        <p:nvSpPr>
          <p:cNvPr id="3" name="Content Placeholder 2">
            <a:extLst>
              <a:ext uri="{FF2B5EF4-FFF2-40B4-BE49-F238E27FC236}">
                <a16:creationId xmlns:a16="http://schemas.microsoft.com/office/drawing/2014/main" id="{06A5B9EF-24CB-E78E-7929-7C0BFCF2D447}"/>
              </a:ext>
            </a:extLst>
          </p:cNvPr>
          <p:cNvSpPr>
            <a:spLocks noGrp="1"/>
          </p:cNvSpPr>
          <p:nvPr>
            <p:ph idx="1"/>
          </p:nvPr>
        </p:nvSpPr>
        <p:spPr/>
        <p:txBody>
          <a:bodyPr vert="horz" lIns="91440" tIns="45720" rIns="91440" bIns="45720" rtlCol="0" anchor="t">
            <a:normAutofit/>
          </a:bodyPr>
          <a:lstStyle/>
          <a:p>
            <a:pPr marL="0" indent="0">
              <a:buNone/>
            </a:pPr>
            <a:endParaRPr lang="en-US" sz="1600" dirty="0">
              <a:solidFill>
                <a:srgbClr val="001D35"/>
              </a:solidFill>
            </a:endParaRPr>
          </a:p>
          <a:p>
            <a:r>
              <a:rPr lang="en-US" sz="1600" b="1" dirty="0">
                <a:solidFill>
                  <a:srgbClr val="001D35"/>
                </a:solidFill>
                <a:ea typeface="+mn-lt"/>
                <a:cs typeface="+mn-lt"/>
              </a:rPr>
              <a:t>Medical stabilization:</a:t>
            </a:r>
            <a:endParaRPr lang="en-US" sz="1600" dirty="0"/>
          </a:p>
          <a:p>
            <a:r>
              <a:rPr lang="en-US" sz="1600" dirty="0">
                <a:solidFill>
                  <a:srgbClr val="545D7E"/>
                </a:solidFill>
                <a:ea typeface="+mn-lt"/>
                <a:cs typeface="+mn-lt"/>
              </a:rPr>
              <a:t>This includes administering Pre/ post operative </a:t>
            </a:r>
            <a:r>
              <a:rPr lang="en-US" sz="1600" dirty="0">
                <a:solidFill>
                  <a:srgbClr val="FF0000"/>
                </a:solidFill>
                <a:ea typeface="+mn-lt"/>
                <a:cs typeface="+mn-lt"/>
              </a:rPr>
              <a:t>high dose corticosteroids</a:t>
            </a:r>
            <a:r>
              <a:rPr lang="en-US" sz="1600" dirty="0">
                <a:solidFill>
                  <a:srgbClr val="545D7E"/>
                </a:solidFill>
                <a:ea typeface="+mn-lt"/>
                <a:cs typeface="+mn-lt"/>
              </a:rPr>
              <a:t>, monitoring fluid and electrolyte balance and pituitary hormonal defects post op</a:t>
            </a:r>
            <a:endParaRPr lang="en-US" sz="1600" dirty="0">
              <a:solidFill>
                <a:srgbClr val="000000"/>
              </a:solidFill>
              <a:ea typeface="+mn-lt"/>
              <a:cs typeface="+mn-lt"/>
            </a:endParaRPr>
          </a:p>
          <a:p>
            <a:r>
              <a:rPr lang="en-US" sz="1600" b="1" dirty="0">
                <a:solidFill>
                  <a:srgbClr val="001D35"/>
                </a:solidFill>
                <a:ea typeface="+mn-lt"/>
                <a:cs typeface="+mn-lt"/>
              </a:rPr>
              <a:t>Surgical decompression:  </a:t>
            </a:r>
            <a:r>
              <a:rPr lang="en-US" sz="1600" dirty="0">
                <a:solidFill>
                  <a:srgbClr val="545D7E"/>
                </a:solidFill>
                <a:ea typeface="+mn-lt"/>
                <a:cs typeface="+mn-lt"/>
              </a:rPr>
              <a:t>surgical removal of the tumor or decompression needed to improve vision</a:t>
            </a:r>
            <a:endParaRPr lang="en-US" sz="1600">
              <a:solidFill>
                <a:srgbClr val="000000"/>
              </a:solidFill>
              <a:ea typeface="+mn-lt"/>
              <a:cs typeface="+mn-lt"/>
            </a:endParaRPr>
          </a:p>
          <a:p>
            <a:r>
              <a:rPr lang="en-US" sz="1600" dirty="0">
                <a:solidFill>
                  <a:srgbClr val="001D35"/>
                </a:solidFill>
                <a:ea typeface="+mn-lt"/>
                <a:cs typeface="+mn-lt"/>
              </a:rPr>
              <a:t>Prognosis:</a:t>
            </a:r>
            <a:endParaRPr lang="en-US" sz="1600" dirty="0"/>
          </a:p>
          <a:p>
            <a:r>
              <a:rPr lang="en-US" sz="1600" dirty="0">
                <a:solidFill>
                  <a:srgbClr val="001D35"/>
                </a:solidFill>
                <a:ea typeface="+mn-lt"/>
                <a:cs typeface="+mn-lt"/>
              </a:rPr>
              <a:t>Early detection and treatment are crucial for a positive outcome.</a:t>
            </a:r>
            <a:endParaRPr lang="en-US" sz="1600"/>
          </a:p>
          <a:p>
            <a:r>
              <a:rPr lang="en-US" sz="1600" dirty="0">
                <a:solidFill>
                  <a:srgbClr val="001D35"/>
                </a:solidFill>
                <a:ea typeface="+mn-lt"/>
                <a:cs typeface="+mn-lt"/>
              </a:rPr>
              <a:t>Visual symptoms may improve with medications or surgery, with full recovery occurring in about 40% of cases.</a:t>
            </a:r>
            <a:endParaRPr lang="en-US" sz="1600"/>
          </a:p>
          <a:p>
            <a:r>
              <a:rPr lang="en-US" sz="1600" dirty="0">
                <a:solidFill>
                  <a:srgbClr val="001D35"/>
                </a:solidFill>
                <a:ea typeface="+mn-lt"/>
                <a:cs typeface="+mn-lt"/>
              </a:rPr>
              <a:t>About 80% of individuals require long-term hormone replacement therapy. </a:t>
            </a:r>
            <a:endParaRPr lang="en-US" sz="1600" dirty="0"/>
          </a:p>
          <a:p>
            <a:endParaRPr lang="en-US" dirty="0"/>
          </a:p>
        </p:txBody>
      </p:sp>
    </p:spTree>
    <p:extLst>
      <p:ext uri="{BB962C8B-B14F-4D97-AF65-F5344CB8AC3E}">
        <p14:creationId xmlns:p14="http://schemas.microsoft.com/office/powerpoint/2010/main" val="8988565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C2765-48E9-3287-9078-617E1ED47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21A78-3918-984F-A8BA-722C572236A9}"/>
              </a:ext>
            </a:extLst>
          </p:cNvPr>
          <p:cNvSpPr>
            <a:spLocks noGrp="1"/>
          </p:cNvSpPr>
          <p:nvPr>
            <p:ph type="title"/>
          </p:nvPr>
        </p:nvSpPr>
        <p:spPr/>
        <p:txBody>
          <a:bodyPr/>
          <a:lstStyle/>
          <a:p>
            <a:endParaRPr lang="en-US"/>
          </a:p>
        </p:txBody>
      </p:sp>
      <p:pic>
        <p:nvPicPr>
          <p:cNvPr id="4" name="Content Placeholder 3" descr="A close-up of a brain&#10;&#10;AI-generated content may be incorrect.">
            <a:extLst>
              <a:ext uri="{FF2B5EF4-FFF2-40B4-BE49-F238E27FC236}">
                <a16:creationId xmlns:a16="http://schemas.microsoft.com/office/drawing/2014/main" id="{413ECAE0-DCBF-50A7-1665-1C482A054B31}"/>
              </a:ext>
            </a:extLst>
          </p:cNvPr>
          <p:cNvPicPr>
            <a:picLocks noGrp="1" noChangeAspect="1"/>
          </p:cNvPicPr>
          <p:nvPr>
            <p:ph idx="1"/>
          </p:nvPr>
        </p:nvPicPr>
        <p:blipFill>
          <a:blip r:embed="rId2"/>
          <a:stretch>
            <a:fillRect/>
          </a:stretch>
        </p:blipFill>
        <p:spPr>
          <a:xfrm>
            <a:off x="713773" y="2116791"/>
            <a:ext cx="4340506" cy="2442740"/>
          </a:xfrm>
        </p:spPr>
      </p:pic>
      <p:sp>
        <p:nvSpPr>
          <p:cNvPr id="6" name="TextBox 5">
            <a:extLst>
              <a:ext uri="{FF2B5EF4-FFF2-40B4-BE49-F238E27FC236}">
                <a16:creationId xmlns:a16="http://schemas.microsoft.com/office/drawing/2014/main" id="{D5CB6FFE-AC2C-80A0-B89C-0DFECA4F28B0}"/>
              </a:ext>
            </a:extLst>
          </p:cNvPr>
          <p:cNvSpPr txBox="1"/>
          <p:nvPr/>
        </p:nvSpPr>
        <p:spPr>
          <a:xfrm>
            <a:off x="1223058" y="5380299"/>
            <a:ext cx="27432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1200" dirty="0">
                <a:latin typeface="Calibri"/>
                <a:ea typeface="Calibri"/>
                <a:cs typeface="Calibri"/>
              </a:rPr>
              <a:t>Both images show sagittal views of a pituitary dedicated MRI</a:t>
            </a:r>
          </a:p>
          <a:p>
            <a:pPr marL="228600" indent="-228600">
              <a:buFont typeface=""/>
              <a:buChar char="•"/>
            </a:pPr>
            <a:r>
              <a:rPr lang="en-US" sz="1200" dirty="0">
                <a:latin typeface="Calibri"/>
                <a:ea typeface="Calibri"/>
                <a:cs typeface="Calibri"/>
              </a:rPr>
              <a:t>I image – normal pituitary gland</a:t>
            </a:r>
          </a:p>
          <a:p>
            <a:pPr marL="228600" indent="-228600">
              <a:buFont typeface=""/>
              <a:buChar char="•"/>
            </a:pPr>
            <a:r>
              <a:rPr lang="en-US" sz="1200" dirty="0">
                <a:latin typeface="Calibri"/>
                <a:ea typeface="Calibri"/>
                <a:cs typeface="Calibri"/>
              </a:rPr>
              <a:t>II image - shows a non-enhancing 2.5 cm </a:t>
            </a:r>
            <a:r>
              <a:rPr lang="en-US" sz="1200" b="1" dirty="0">
                <a:latin typeface="Calibri"/>
                <a:ea typeface="Calibri"/>
                <a:cs typeface="Calibri"/>
              </a:rPr>
              <a:t>pituitary macroadenoma</a:t>
            </a:r>
          </a:p>
        </p:txBody>
      </p:sp>
      <p:pic>
        <p:nvPicPr>
          <p:cNvPr id="3" name="Picture 2" descr="A mri of a brain&#10;&#10;AI-generated content may be incorrect.">
            <a:extLst>
              <a:ext uri="{FF2B5EF4-FFF2-40B4-BE49-F238E27FC236}">
                <a16:creationId xmlns:a16="http://schemas.microsoft.com/office/drawing/2014/main" id="{2CAA041D-2E2F-3BB4-3F72-8F82F6BB4B9A}"/>
              </a:ext>
            </a:extLst>
          </p:cNvPr>
          <p:cNvPicPr>
            <a:picLocks noChangeAspect="1"/>
          </p:cNvPicPr>
          <p:nvPr/>
        </p:nvPicPr>
        <p:blipFill>
          <a:blip r:embed="rId3"/>
          <a:stretch>
            <a:fillRect/>
          </a:stretch>
        </p:blipFill>
        <p:spPr>
          <a:xfrm>
            <a:off x="6000750" y="1033463"/>
            <a:ext cx="6191250" cy="4791075"/>
          </a:xfrm>
          <a:prstGeom prst="rect">
            <a:avLst/>
          </a:prstGeom>
        </p:spPr>
      </p:pic>
      <p:pic>
        <p:nvPicPr>
          <p:cNvPr id="7" name="Picture 6" descr="A mri of a brain&#10;&#10;AI-generated content may be incorrect.">
            <a:extLst>
              <a:ext uri="{FF2B5EF4-FFF2-40B4-BE49-F238E27FC236}">
                <a16:creationId xmlns:a16="http://schemas.microsoft.com/office/drawing/2014/main" id="{1773671B-707D-72D0-3395-86E91C21CFD0}"/>
              </a:ext>
            </a:extLst>
          </p:cNvPr>
          <p:cNvPicPr>
            <a:picLocks noChangeAspect="1"/>
          </p:cNvPicPr>
          <p:nvPr/>
        </p:nvPicPr>
        <p:blipFill>
          <a:blip r:embed="rId4"/>
          <a:stretch>
            <a:fillRect/>
          </a:stretch>
        </p:blipFill>
        <p:spPr>
          <a:xfrm>
            <a:off x="-28575" y="1033463"/>
            <a:ext cx="6124575" cy="4114800"/>
          </a:xfrm>
          <a:prstGeom prst="rect">
            <a:avLst/>
          </a:prstGeom>
        </p:spPr>
      </p:pic>
    </p:spTree>
    <p:extLst>
      <p:ext uri="{BB962C8B-B14F-4D97-AF65-F5344CB8AC3E}">
        <p14:creationId xmlns:p14="http://schemas.microsoft.com/office/powerpoint/2010/main" val="462120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15000" t="370" r="11155" b="18148"/>
          <a:stretch/>
        </p:blipFill>
        <p:spPr>
          <a:xfrm>
            <a:off x="654263" y="777875"/>
            <a:ext cx="5054173" cy="3998595"/>
          </a:xfrm>
          <a:prstGeom prst="rect">
            <a:avLst/>
          </a:prstGeom>
        </p:spPr>
      </p:pic>
      <p:sp>
        <p:nvSpPr>
          <p:cNvPr id="3" name="Title 2"/>
          <p:cNvSpPr>
            <a:spLocks noGrp="1"/>
          </p:cNvSpPr>
          <p:nvPr>
            <p:ph type="title"/>
          </p:nvPr>
        </p:nvSpPr>
        <p:spPr>
          <a:xfrm>
            <a:off x="1166813" y="85118"/>
            <a:ext cx="9905998" cy="778482"/>
          </a:xfrm>
        </p:spPr>
        <p:txBody>
          <a:bodyPr/>
          <a:lstStyle/>
          <a:p>
            <a:pPr algn="ctr"/>
            <a:r>
              <a:rPr lang="en-US" dirty="0"/>
              <a:t>Sella and optic chiasm, cavernous sinus</a:t>
            </a:r>
          </a:p>
        </p:txBody>
      </p:sp>
      <p:pic>
        <p:nvPicPr>
          <p:cNvPr id="4" name="Picture 3" descr="A mri of a brain&#10;&#10;AI-generated content may be incorrect.">
            <a:extLst>
              <a:ext uri="{FF2B5EF4-FFF2-40B4-BE49-F238E27FC236}">
                <a16:creationId xmlns:a16="http://schemas.microsoft.com/office/drawing/2014/main" id="{63CD8B67-F469-A4BE-95E3-95096EE0B385}"/>
              </a:ext>
            </a:extLst>
          </p:cNvPr>
          <p:cNvPicPr>
            <a:picLocks noChangeAspect="1"/>
          </p:cNvPicPr>
          <p:nvPr/>
        </p:nvPicPr>
        <p:blipFill>
          <a:blip r:embed="rId3"/>
          <a:stretch>
            <a:fillRect/>
          </a:stretch>
        </p:blipFill>
        <p:spPr>
          <a:xfrm>
            <a:off x="5705475" y="1585913"/>
            <a:ext cx="6486525" cy="4905375"/>
          </a:xfrm>
          <a:prstGeom prst="rect">
            <a:avLst/>
          </a:prstGeom>
        </p:spPr>
      </p:pic>
    </p:spTree>
    <p:extLst>
      <p:ext uri="{BB962C8B-B14F-4D97-AF65-F5344CB8AC3E}">
        <p14:creationId xmlns:p14="http://schemas.microsoft.com/office/powerpoint/2010/main" val="25833288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8CBD4-C9D2-79DF-A475-DA6CE2926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3FBB9-72F3-58C2-817C-C9C84B6F9945}"/>
              </a:ext>
            </a:extLst>
          </p:cNvPr>
          <p:cNvSpPr>
            <a:spLocks noGrp="1"/>
          </p:cNvSpPr>
          <p:nvPr>
            <p:ph type="title"/>
          </p:nvPr>
        </p:nvSpPr>
        <p:spPr/>
        <p:txBody>
          <a:bodyPr/>
          <a:lstStyle/>
          <a:p>
            <a:endParaRPr lang="en-US"/>
          </a:p>
        </p:txBody>
      </p:sp>
      <p:pic>
        <p:nvPicPr>
          <p:cNvPr id="4" name="Content Placeholder 3" descr="Image result for transsphenoidal hypophysectomy">
            <a:extLst>
              <a:ext uri="{FF2B5EF4-FFF2-40B4-BE49-F238E27FC236}">
                <a16:creationId xmlns:a16="http://schemas.microsoft.com/office/drawing/2014/main" id="{7929FB5E-3EF4-E830-75CB-24ACEB394C3F}"/>
              </a:ext>
            </a:extLst>
          </p:cNvPr>
          <p:cNvPicPr>
            <a:picLocks noGrp="1" noChangeAspect="1"/>
          </p:cNvPicPr>
          <p:nvPr>
            <p:ph idx="1"/>
          </p:nvPr>
        </p:nvPicPr>
        <p:blipFill>
          <a:blip r:embed="rId2"/>
          <a:stretch>
            <a:fillRect/>
          </a:stretch>
        </p:blipFill>
        <p:spPr>
          <a:xfrm>
            <a:off x="335847" y="478672"/>
            <a:ext cx="5597926" cy="3375105"/>
          </a:xfrm>
        </p:spPr>
      </p:pic>
      <p:sp>
        <p:nvSpPr>
          <p:cNvPr id="5" name="TextBox 4">
            <a:extLst>
              <a:ext uri="{FF2B5EF4-FFF2-40B4-BE49-F238E27FC236}">
                <a16:creationId xmlns:a16="http://schemas.microsoft.com/office/drawing/2014/main" id="{7A066C4C-3908-B951-3846-3C1C8344706A}"/>
              </a:ext>
            </a:extLst>
          </p:cNvPr>
          <p:cNvSpPr txBox="1"/>
          <p:nvPr/>
        </p:nvSpPr>
        <p:spPr>
          <a:xfrm>
            <a:off x="6942881" y="653970"/>
            <a:ext cx="27432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1600" dirty="0">
                <a:latin typeface="Calibri"/>
                <a:ea typeface="Calibri"/>
                <a:cs typeface="Calibri"/>
              </a:rPr>
              <a:t>Trans-sphenoidal hypophysectomy - procedure most commonly used to remove a pituitary gland tumor. Trans-sphenoidal means through the sphenoid sinus – the air sinus cavity at the back of the nose.</a:t>
            </a:r>
          </a:p>
        </p:txBody>
      </p:sp>
      <p:sp>
        <p:nvSpPr>
          <p:cNvPr id="8" name="TextBox 7">
            <a:extLst>
              <a:ext uri="{FF2B5EF4-FFF2-40B4-BE49-F238E27FC236}">
                <a16:creationId xmlns:a16="http://schemas.microsoft.com/office/drawing/2014/main" id="{0C9F785A-8A0B-E602-6011-29E4E4DDE836}"/>
              </a:ext>
            </a:extLst>
          </p:cNvPr>
          <p:cNvSpPr txBox="1"/>
          <p:nvPr/>
        </p:nvSpPr>
        <p:spPr>
          <a:xfrm>
            <a:off x="323126" y="4745620"/>
            <a:ext cx="11405885"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Times New Roman"/>
                <a:cs typeface="Times New Roman"/>
              </a:rPr>
              <a:t>The pituitary gland is within the </a:t>
            </a:r>
            <a:r>
              <a:rPr lang="en-US" sz="1600" dirty="0" err="1">
                <a:latin typeface="Times New Roman"/>
                <a:cs typeface="Times New Roman"/>
              </a:rPr>
              <a:t>sella</a:t>
            </a:r>
            <a:r>
              <a:rPr lang="en-US" sz="1600" dirty="0">
                <a:latin typeface="Times New Roman"/>
                <a:cs typeface="Times New Roman"/>
              </a:rPr>
              <a:t> turcica or the hypophyseal fossa. This structure is present near the center at the base of the cranium. The anatomical boundaries of the gland have clinical and surgical significance. Sella turcica is a concave indentation in the sphenoid bone. The reflections of the dura bound the fossa laterally and </a:t>
            </a:r>
            <a:r>
              <a:rPr lang="en-US" sz="1600" dirty="0" err="1">
                <a:latin typeface="Times New Roman"/>
                <a:cs typeface="Times New Roman"/>
              </a:rPr>
              <a:t>superiorly.The</a:t>
            </a:r>
            <a:r>
              <a:rPr lang="en-US" sz="1600" dirty="0">
                <a:latin typeface="Times New Roman"/>
                <a:cs typeface="Times New Roman"/>
              </a:rPr>
              <a:t> </a:t>
            </a:r>
            <a:r>
              <a:rPr lang="en-US" sz="1600" dirty="0" err="1">
                <a:latin typeface="Times New Roman"/>
                <a:cs typeface="Times New Roman"/>
              </a:rPr>
              <a:t>diaphragma</a:t>
            </a:r>
            <a:r>
              <a:rPr lang="en-US" sz="1600" dirty="0">
                <a:latin typeface="Times New Roman"/>
                <a:cs typeface="Times New Roman"/>
              </a:rPr>
              <a:t> sellae is a dural fold with a central aperture, and it covers the </a:t>
            </a:r>
            <a:r>
              <a:rPr lang="en-US" sz="1600" dirty="0" err="1">
                <a:latin typeface="Times New Roman"/>
                <a:cs typeface="Times New Roman"/>
              </a:rPr>
              <a:t>sella</a:t>
            </a:r>
            <a:r>
              <a:rPr lang="en-US" sz="1600" dirty="0">
                <a:latin typeface="Times New Roman"/>
                <a:cs typeface="Times New Roman"/>
              </a:rPr>
              <a:t> turcica as a roof incompletely. The adenohypophysis is separated from the optic chiasm by the </a:t>
            </a:r>
            <a:r>
              <a:rPr lang="en-US" sz="1600" dirty="0" err="1">
                <a:latin typeface="Times New Roman"/>
                <a:cs typeface="Times New Roman"/>
              </a:rPr>
              <a:t>diaphragma</a:t>
            </a:r>
            <a:r>
              <a:rPr lang="en-US" sz="1600" dirty="0">
                <a:latin typeface="Times New Roman"/>
                <a:cs typeface="Times New Roman"/>
              </a:rPr>
              <a:t>. It is continuous with the dura. The pituitary stalk and the blood vessels travel via the central </a:t>
            </a:r>
            <a:r>
              <a:rPr lang="en-US" sz="1600" dirty="0" err="1">
                <a:latin typeface="Times New Roman"/>
                <a:cs typeface="Times New Roman"/>
              </a:rPr>
              <a:t>aperture.he</a:t>
            </a:r>
            <a:r>
              <a:rPr lang="en-US" sz="1600" dirty="0">
                <a:latin typeface="Times New Roman"/>
                <a:cs typeface="Times New Roman"/>
              </a:rPr>
              <a:t> lateral walls of the pituitary fossa are made up of dura mater, and it contains the cavernous sinus. The cavernous sinus consists of the internal carotid artery, sympathetic fibers, cranial nerves III, IV, V, and VI. </a:t>
            </a:r>
            <a:endParaRPr lang="en-US" sz="1600" dirty="0"/>
          </a:p>
        </p:txBody>
      </p:sp>
    </p:spTree>
    <p:extLst>
      <p:ext uri="{BB962C8B-B14F-4D97-AF65-F5344CB8AC3E}">
        <p14:creationId xmlns:p14="http://schemas.microsoft.com/office/powerpoint/2010/main" val="602537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A72D3-B91C-927A-F9ED-545750ED823F}"/>
              </a:ext>
            </a:extLst>
          </p:cNvPr>
          <p:cNvSpPr>
            <a:spLocks noGrp="1"/>
          </p:cNvSpPr>
          <p:nvPr>
            <p:ph type="title"/>
          </p:nvPr>
        </p:nvSpPr>
        <p:spPr/>
        <p:txBody>
          <a:bodyPr/>
          <a:lstStyle/>
          <a:p>
            <a:r>
              <a:rPr lang="en-US" dirty="0"/>
              <a:t>Questions...</a:t>
            </a:r>
          </a:p>
        </p:txBody>
      </p:sp>
      <p:pic>
        <p:nvPicPr>
          <p:cNvPr id="4" name="Content Placeholder 3" descr="Stairs. Details. Puerto de Carmen, Lanzarote. Canary islands Photograph ...">
            <a:extLst>
              <a:ext uri="{FF2B5EF4-FFF2-40B4-BE49-F238E27FC236}">
                <a16:creationId xmlns:a16="http://schemas.microsoft.com/office/drawing/2014/main" id="{437B67D6-6849-5B0C-5E01-D51D4D9782B0}"/>
              </a:ext>
            </a:extLst>
          </p:cNvPr>
          <p:cNvPicPr>
            <a:picLocks noGrp="1" noChangeAspect="1"/>
          </p:cNvPicPr>
          <p:nvPr>
            <p:ph idx="1"/>
          </p:nvPr>
        </p:nvPicPr>
        <p:blipFill>
          <a:blip r:embed="rId2"/>
          <a:stretch>
            <a:fillRect/>
          </a:stretch>
        </p:blipFill>
        <p:spPr>
          <a:xfrm>
            <a:off x="6100762" y="362744"/>
            <a:ext cx="4419600" cy="6134100"/>
          </a:xfrm>
        </p:spPr>
      </p:pic>
      <p:sp>
        <p:nvSpPr>
          <p:cNvPr id="3" name="TextBox 2">
            <a:extLst>
              <a:ext uri="{FF2B5EF4-FFF2-40B4-BE49-F238E27FC236}">
                <a16:creationId xmlns:a16="http://schemas.microsoft.com/office/drawing/2014/main" id="{DCA9788D-D868-BF11-C18B-3690F17896A7}"/>
              </a:ext>
            </a:extLst>
          </p:cNvPr>
          <p:cNvSpPr txBox="1"/>
          <p:nvPr/>
        </p:nvSpPr>
        <p:spPr>
          <a:xfrm>
            <a:off x="3785137" y="5653596"/>
            <a:ext cx="214571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Nestor M Fernandez</a:t>
            </a:r>
          </a:p>
        </p:txBody>
      </p:sp>
    </p:spTree>
    <p:extLst>
      <p:ext uri="{BB962C8B-B14F-4D97-AF65-F5344CB8AC3E}">
        <p14:creationId xmlns:p14="http://schemas.microsoft.com/office/powerpoint/2010/main" val="38106191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A7F2-C750-3260-5E34-2EDCBBF4F4A0}"/>
              </a:ext>
            </a:extLst>
          </p:cNvPr>
          <p:cNvSpPr>
            <a:spLocks noGrp="1"/>
          </p:cNvSpPr>
          <p:nvPr>
            <p:ph type="title"/>
          </p:nvPr>
        </p:nvSpPr>
        <p:spPr/>
        <p:txBody>
          <a:bodyPr/>
          <a:lstStyle/>
          <a:p>
            <a:r>
              <a:rPr lang="en-US" dirty="0"/>
              <a:t>Diabetes insipidus/ AVP deficiency</a:t>
            </a:r>
          </a:p>
        </p:txBody>
      </p:sp>
      <p:sp>
        <p:nvSpPr>
          <p:cNvPr id="3" name="Content Placeholder 2">
            <a:extLst>
              <a:ext uri="{FF2B5EF4-FFF2-40B4-BE49-F238E27FC236}">
                <a16:creationId xmlns:a16="http://schemas.microsoft.com/office/drawing/2014/main" id="{219D4768-51E9-8C0A-B43F-8F2D918225AF}"/>
              </a:ext>
            </a:extLst>
          </p:cNvPr>
          <p:cNvSpPr>
            <a:spLocks noGrp="1"/>
          </p:cNvSpPr>
          <p:nvPr>
            <p:ph idx="1"/>
          </p:nvPr>
        </p:nvSpPr>
        <p:spPr/>
        <p:txBody>
          <a:bodyPr vert="horz" lIns="91440" tIns="45720" rIns="91440" bIns="45720" rtlCol="0" anchor="t">
            <a:normAutofit lnSpcReduction="10000"/>
          </a:bodyPr>
          <a:lstStyle/>
          <a:p>
            <a:r>
              <a:rPr lang="en-US" dirty="0"/>
              <a:t>55 year patient underwent a transsphenoidal pituitary tumor resection 4 days ago. He complains of dry mouth , thirst, nausea and urinary incontinence and having to urinate all the time.</a:t>
            </a:r>
          </a:p>
          <a:p>
            <a:r>
              <a:rPr lang="en-US" dirty="0"/>
              <a:t>Strict input/ output was started and his Input is 2.3 L and output is 5 L /24 </a:t>
            </a:r>
            <a:r>
              <a:rPr lang="en-US" dirty="0" err="1"/>
              <a:t>hr</a:t>
            </a:r>
          </a:p>
          <a:p>
            <a:r>
              <a:rPr lang="en-US" dirty="0"/>
              <a:t>Labs </a:t>
            </a:r>
          </a:p>
          <a:p>
            <a:r>
              <a:rPr lang="en-US" dirty="0"/>
              <a:t>BMP- sodium 148 ( normal under 145) , creatinine 1.5, K 4.4, Glucose normal</a:t>
            </a:r>
          </a:p>
          <a:p>
            <a:r>
              <a:rPr lang="en-US" dirty="0"/>
              <a:t>ACTH, cortisol, TSH, Thyroxine normal</a:t>
            </a:r>
          </a:p>
          <a:p>
            <a:r>
              <a:rPr lang="en-US" dirty="0"/>
              <a:t>Serum </a:t>
            </a:r>
            <a:r>
              <a:rPr lang="en-US" dirty="0" err="1"/>
              <a:t>Osm</a:t>
            </a:r>
            <a:r>
              <a:rPr lang="en-US" dirty="0"/>
              <a:t> – 396- high, Urine  </a:t>
            </a:r>
            <a:r>
              <a:rPr lang="en-US" dirty="0" err="1"/>
              <a:t>Osm</a:t>
            </a:r>
            <a:r>
              <a:rPr lang="en-US" dirty="0"/>
              <a:t> – 400 low ,urine sodium-low </a:t>
            </a:r>
          </a:p>
        </p:txBody>
      </p:sp>
    </p:spTree>
    <p:extLst>
      <p:ext uri="{BB962C8B-B14F-4D97-AF65-F5344CB8AC3E}">
        <p14:creationId xmlns:p14="http://schemas.microsoft.com/office/powerpoint/2010/main" val="32961387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4A3B3-4542-0864-C835-FA5F717FE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DE653A-FA03-EA62-859F-1475852C72B2}"/>
              </a:ext>
            </a:extLst>
          </p:cNvPr>
          <p:cNvSpPr>
            <a:spLocks noGrp="1"/>
          </p:cNvSpPr>
          <p:nvPr>
            <p:ph type="title"/>
          </p:nvPr>
        </p:nvSpPr>
        <p:spPr/>
        <p:txBody>
          <a:bodyPr/>
          <a:lstStyle/>
          <a:p>
            <a:r>
              <a:rPr lang="en-US" dirty="0"/>
              <a:t>Diabetes insipidus/ AVP- deficiency</a:t>
            </a:r>
          </a:p>
        </p:txBody>
      </p:sp>
      <p:sp>
        <p:nvSpPr>
          <p:cNvPr id="3" name="Content Placeholder 2">
            <a:extLst>
              <a:ext uri="{FF2B5EF4-FFF2-40B4-BE49-F238E27FC236}">
                <a16:creationId xmlns:a16="http://schemas.microsoft.com/office/drawing/2014/main" id="{2FF175CB-002F-3C59-C899-3D3CB3C8FAFD}"/>
              </a:ext>
            </a:extLst>
          </p:cNvPr>
          <p:cNvSpPr>
            <a:spLocks noGrp="1"/>
          </p:cNvSpPr>
          <p:nvPr>
            <p:ph idx="1"/>
          </p:nvPr>
        </p:nvSpPr>
        <p:spPr/>
        <p:txBody>
          <a:bodyPr vert="horz" lIns="91440" tIns="45720" rIns="91440" bIns="45720" rtlCol="0" anchor="t">
            <a:normAutofit/>
          </a:bodyPr>
          <a:lstStyle/>
          <a:p>
            <a:r>
              <a:rPr lang="en-US" dirty="0"/>
              <a:t>Usually post pituitary tumor resection, other causes include trauma, autoimmune. </a:t>
            </a:r>
            <a:r>
              <a:rPr lang="en-US" sz="1800" dirty="0">
                <a:solidFill>
                  <a:srgbClr val="001D35"/>
                </a:solidFill>
              </a:rPr>
              <a:t>Postoperative diabetes insipidus (DI) is a common complication following pituitary surgery, with an incidence ranging from 10% to 30%. DI results from the pituitary gland's inability to release enough antidiuretic hormone (ADH)</a:t>
            </a:r>
            <a:endParaRPr lang="en-US" dirty="0"/>
          </a:p>
          <a:p>
            <a:r>
              <a:rPr lang="en-US" dirty="0">
                <a:solidFill>
                  <a:srgbClr val="FF0000"/>
                </a:solidFill>
              </a:rPr>
              <a:t>Large volume</a:t>
            </a:r>
            <a:r>
              <a:rPr lang="en-US" dirty="0"/>
              <a:t>(4-8L/day) of </a:t>
            </a:r>
            <a:r>
              <a:rPr lang="en-US" dirty="0">
                <a:solidFill>
                  <a:srgbClr val="FF0000"/>
                </a:solidFill>
              </a:rPr>
              <a:t>Dilute</a:t>
            </a:r>
            <a:r>
              <a:rPr lang="en-US" dirty="0"/>
              <a:t> urine ( Low Osmolality)</a:t>
            </a:r>
          </a:p>
          <a:p>
            <a:r>
              <a:rPr lang="en-US" dirty="0"/>
              <a:t>This results in dehydration and </a:t>
            </a:r>
            <a:r>
              <a:rPr lang="en-US" dirty="0">
                <a:solidFill>
                  <a:srgbClr val="FF0000"/>
                </a:solidFill>
              </a:rPr>
              <a:t>Hypernatremia ( high sodium) </a:t>
            </a:r>
            <a:r>
              <a:rPr lang="en-US" dirty="0">
                <a:solidFill>
                  <a:srgbClr val="FF0000"/>
                </a:solidFill>
                <a:sym typeface="Wingdings" pitchFamily="2" charset="2"/>
              </a:rPr>
              <a:t> </a:t>
            </a:r>
            <a:r>
              <a:rPr lang="en-US" dirty="0">
                <a:sym typeface="Wingdings" pitchFamily="2" charset="2"/>
              </a:rPr>
              <a:t>altered sensorium/ vomiting etc.</a:t>
            </a:r>
          </a:p>
          <a:p>
            <a:endParaRPr lang="en-US" sz="1800" dirty="0">
              <a:solidFill>
                <a:srgbClr val="001D35"/>
              </a:solidFill>
            </a:endParaRPr>
          </a:p>
          <a:p>
            <a:endParaRPr lang="en-US" dirty="0"/>
          </a:p>
          <a:p>
            <a:endParaRPr lang="en-US" dirty="0">
              <a:solidFill>
                <a:srgbClr val="FF0000"/>
              </a:solidFill>
            </a:endParaRPr>
          </a:p>
        </p:txBody>
      </p:sp>
      <p:sp>
        <p:nvSpPr>
          <p:cNvPr id="4" name="TextBox 3">
            <a:extLst>
              <a:ext uri="{FF2B5EF4-FFF2-40B4-BE49-F238E27FC236}">
                <a16:creationId xmlns:a16="http://schemas.microsoft.com/office/drawing/2014/main" id="{A6144528-9950-8A30-2346-75E0137FFC9B}"/>
              </a:ext>
            </a:extLst>
          </p:cNvPr>
          <p:cNvSpPr txBox="1"/>
          <p:nvPr/>
        </p:nvSpPr>
        <p:spPr>
          <a:xfrm>
            <a:off x="7304688" y="5026531"/>
            <a:ext cx="4151587" cy="1754326"/>
          </a:xfrm>
          <a:prstGeom prst="rect">
            <a:avLst/>
          </a:prstGeom>
          <a:noFill/>
        </p:spPr>
        <p:txBody>
          <a:bodyPr wrap="square" rtlCol="0">
            <a:spAutoFit/>
          </a:bodyPr>
          <a:lstStyle/>
          <a:p>
            <a:r>
              <a:rPr lang="en-US" dirty="0"/>
              <a:t>In Hyperosmolar Diabetic state – Large volume of solute high urine ( Glucose and sodium </a:t>
            </a:r>
            <a:r>
              <a:rPr lang="en-US" dirty="0" err="1"/>
              <a:t>etc</a:t>
            </a:r>
            <a:r>
              <a:rPr lang="en-US" dirty="0"/>
              <a:t>)– OSMOTIC DIURESIS</a:t>
            </a:r>
          </a:p>
          <a:p>
            <a:endParaRPr lang="en-US" dirty="0"/>
          </a:p>
          <a:p>
            <a:r>
              <a:rPr lang="en-US" dirty="0"/>
              <a:t>Usually hyponatremia to normal Na seen</a:t>
            </a:r>
          </a:p>
        </p:txBody>
      </p:sp>
    </p:spTree>
    <p:extLst>
      <p:ext uri="{BB962C8B-B14F-4D97-AF65-F5344CB8AC3E}">
        <p14:creationId xmlns:p14="http://schemas.microsoft.com/office/powerpoint/2010/main" val="22908948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2652C-2C98-250E-0B04-ABFBE73013A5}"/>
              </a:ext>
            </a:extLst>
          </p:cNvPr>
          <p:cNvSpPr>
            <a:spLocks noGrp="1"/>
          </p:cNvSpPr>
          <p:nvPr>
            <p:ph type="title"/>
          </p:nvPr>
        </p:nvSpPr>
        <p:spPr/>
        <p:txBody>
          <a:bodyPr/>
          <a:lstStyle/>
          <a:p>
            <a:r>
              <a:rPr lang="en-US" dirty="0"/>
              <a:t>Water homeostasis </a:t>
            </a:r>
            <a:br>
              <a:rPr lang="en-US" dirty="0"/>
            </a:br>
            <a:r>
              <a:rPr lang="en-US" sz="1300" i="1" dirty="0">
                <a:solidFill>
                  <a:srgbClr val="2A2A2A"/>
                </a:solidFill>
                <a:latin typeface="Source Sans Pro"/>
                <a:ea typeface="Source Sans Pro"/>
              </a:rPr>
              <a:t>The Journal of Clinical Endocrinology &amp; Metabolism</a:t>
            </a:r>
            <a:r>
              <a:rPr lang="en-US" sz="1300" dirty="0">
                <a:solidFill>
                  <a:srgbClr val="2A2A2A"/>
                </a:solidFill>
                <a:latin typeface="Source Sans Pro"/>
                <a:ea typeface="Source Sans Pro"/>
              </a:rPr>
              <a:t>, Volume 107, Issue 8, August 2022,</a:t>
            </a:r>
            <a:endParaRPr lang="en-US" dirty="0"/>
          </a:p>
        </p:txBody>
      </p:sp>
      <p:pic>
        <p:nvPicPr>
          <p:cNvPr id="4" name="Content Placeholder 3" descr="A diagram of a body release&#10;&#10;AI-generated content may be incorrect.">
            <a:extLst>
              <a:ext uri="{FF2B5EF4-FFF2-40B4-BE49-F238E27FC236}">
                <a16:creationId xmlns:a16="http://schemas.microsoft.com/office/drawing/2014/main" id="{E395F4AD-35E9-6225-1DC5-E76E4C20C7F3}"/>
              </a:ext>
            </a:extLst>
          </p:cNvPr>
          <p:cNvPicPr>
            <a:picLocks noGrp="1" noChangeAspect="1"/>
          </p:cNvPicPr>
          <p:nvPr>
            <p:ph idx="1"/>
          </p:nvPr>
        </p:nvPicPr>
        <p:blipFill>
          <a:blip r:embed="rId2"/>
          <a:stretch>
            <a:fillRect/>
          </a:stretch>
        </p:blipFill>
        <p:spPr>
          <a:xfrm>
            <a:off x="3923578" y="1825625"/>
            <a:ext cx="4344843" cy="4351338"/>
          </a:xfrm>
          <a:prstGeom prst="rect">
            <a:avLst/>
          </a:prstGeom>
        </p:spPr>
      </p:pic>
    </p:spTree>
    <p:extLst>
      <p:ext uri="{BB962C8B-B14F-4D97-AF65-F5344CB8AC3E}">
        <p14:creationId xmlns:p14="http://schemas.microsoft.com/office/powerpoint/2010/main" val="4319615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14177-49B2-3AF0-43CC-95A7CC9DE48F}"/>
              </a:ext>
            </a:extLst>
          </p:cNvPr>
          <p:cNvSpPr>
            <a:spLocks noGrp="1"/>
          </p:cNvSpPr>
          <p:nvPr>
            <p:ph type="title"/>
          </p:nvPr>
        </p:nvSpPr>
        <p:spPr/>
        <p:txBody>
          <a:bodyPr/>
          <a:lstStyle/>
          <a:p>
            <a:r>
              <a:rPr lang="en-US" dirty="0"/>
              <a:t>Renal response</a:t>
            </a:r>
          </a:p>
        </p:txBody>
      </p:sp>
      <p:pic>
        <p:nvPicPr>
          <p:cNvPr id="4" name="Content Placeholder 3">
            <a:extLst>
              <a:ext uri="{FF2B5EF4-FFF2-40B4-BE49-F238E27FC236}">
                <a16:creationId xmlns:a16="http://schemas.microsoft.com/office/drawing/2014/main" id="{C57C7807-FF53-F08B-6DEF-F6C439D29F3B}"/>
              </a:ext>
            </a:extLst>
          </p:cNvPr>
          <p:cNvPicPr>
            <a:picLocks noGrp="1" noChangeAspect="1"/>
          </p:cNvPicPr>
          <p:nvPr>
            <p:ph idx="1"/>
          </p:nvPr>
        </p:nvPicPr>
        <p:blipFill>
          <a:blip r:embed="rId2"/>
          <a:stretch>
            <a:fillRect/>
          </a:stretch>
        </p:blipFill>
        <p:spPr>
          <a:xfrm>
            <a:off x="2643187" y="2234406"/>
            <a:ext cx="6905625" cy="3533775"/>
          </a:xfrm>
          <a:prstGeom prst="rect">
            <a:avLst/>
          </a:prstGeom>
        </p:spPr>
      </p:pic>
    </p:spTree>
    <p:extLst>
      <p:ext uri="{BB962C8B-B14F-4D97-AF65-F5344CB8AC3E}">
        <p14:creationId xmlns:p14="http://schemas.microsoft.com/office/powerpoint/2010/main" val="16777899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101B5-C1F8-4CFD-27EF-76372089C8D2}"/>
              </a:ext>
            </a:extLst>
          </p:cNvPr>
          <p:cNvSpPr>
            <a:spLocks noGrp="1"/>
          </p:cNvSpPr>
          <p:nvPr>
            <p:ph type="title"/>
          </p:nvPr>
        </p:nvSpPr>
        <p:spPr/>
        <p:txBody>
          <a:bodyPr/>
          <a:lstStyle/>
          <a:p>
            <a:r>
              <a:rPr lang="en-US" sz="1300" i="1" dirty="0">
                <a:solidFill>
                  <a:srgbClr val="2A2A2A"/>
                </a:solidFill>
                <a:latin typeface="Source Sans Pro"/>
                <a:ea typeface="Source Sans Pro"/>
              </a:rPr>
              <a:t>The Journal of Clinical Endocrinology &amp; Metabolism</a:t>
            </a:r>
            <a:r>
              <a:rPr lang="en-US" sz="1300" dirty="0">
                <a:solidFill>
                  <a:srgbClr val="2A2A2A"/>
                </a:solidFill>
                <a:latin typeface="Source Sans Pro"/>
                <a:ea typeface="Source Sans Pro"/>
              </a:rPr>
              <a:t>, Volume 107, Issue 10, October 2022,</a:t>
            </a:r>
            <a:endParaRPr lang="en-US" dirty="0"/>
          </a:p>
        </p:txBody>
      </p:sp>
      <p:pic>
        <p:nvPicPr>
          <p:cNvPr id="4" name="Content Placeholder 3" descr="A screenshot of a computer&#10;&#10;AI-generated content may be incorrect.">
            <a:extLst>
              <a:ext uri="{FF2B5EF4-FFF2-40B4-BE49-F238E27FC236}">
                <a16:creationId xmlns:a16="http://schemas.microsoft.com/office/drawing/2014/main" id="{68DF21CD-001B-3F69-AEDA-A4C107B9BFDB}"/>
              </a:ext>
            </a:extLst>
          </p:cNvPr>
          <p:cNvPicPr>
            <a:picLocks noGrp="1" noChangeAspect="1"/>
          </p:cNvPicPr>
          <p:nvPr>
            <p:ph idx="1"/>
          </p:nvPr>
        </p:nvPicPr>
        <p:blipFill>
          <a:blip r:embed="rId2"/>
          <a:stretch>
            <a:fillRect/>
          </a:stretch>
        </p:blipFill>
        <p:spPr>
          <a:xfrm>
            <a:off x="2166937" y="1962944"/>
            <a:ext cx="7858125" cy="4076700"/>
          </a:xfrm>
          <a:prstGeom prst="rect">
            <a:avLst/>
          </a:prstGeom>
        </p:spPr>
      </p:pic>
      <p:sp>
        <p:nvSpPr>
          <p:cNvPr id="3" name="TextBox 2">
            <a:extLst>
              <a:ext uri="{FF2B5EF4-FFF2-40B4-BE49-F238E27FC236}">
                <a16:creationId xmlns:a16="http://schemas.microsoft.com/office/drawing/2014/main" id="{7BA1C66D-A98D-9922-2E84-8CDB1A3408D8}"/>
              </a:ext>
            </a:extLst>
          </p:cNvPr>
          <p:cNvSpPr txBox="1"/>
          <p:nvPr/>
        </p:nvSpPr>
        <p:spPr>
          <a:xfrm>
            <a:off x="9839665" y="296703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Lithium use, CKD</a:t>
            </a:r>
          </a:p>
        </p:txBody>
      </p:sp>
    </p:spTree>
    <p:extLst>
      <p:ext uri="{BB962C8B-B14F-4D97-AF65-F5344CB8AC3E}">
        <p14:creationId xmlns:p14="http://schemas.microsoft.com/office/powerpoint/2010/main" val="9259426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20B54-66BC-9B3A-C9E1-844989849E31}"/>
              </a:ext>
            </a:extLst>
          </p:cNvPr>
          <p:cNvSpPr>
            <a:spLocks noGrp="1"/>
          </p:cNvSpPr>
          <p:nvPr>
            <p:ph type="title"/>
          </p:nvPr>
        </p:nvSpPr>
        <p:spPr/>
        <p:txBody>
          <a:bodyPr/>
          <a:lstStyle/>
          <a:p>
            <a:endParaRPr lang="en-US"/>
          </a:p>
        </p:txBody>
      </p:sp>
      <p:pic>
        <p:nvPicPr>
          <p:cNvPr id="4" name="Content Placeholder 3" descr="A screenshot of a medical information&#10;&#10;AI-generated content may be incorrect.">
            <a:extLst>
              <a:ext uri="{FF2B5EF4-FFF2-40B4-BE49-F238E27FC236}">
                <a16:creationId xmlns:a16="http://schemas.microsoft.com/office/drawing/2014/main" id="{5435E1D5-54E4-D85B-E7DB-C4C5BBD4F227}"/>
              </a:ext>
            </a:extLst>
          </p:cNvPr>
          <p:cNvPicPr>
            <a:picLocks noGrp="1" noChangeAspect="1"/>
          </p:cNvPicPr>
          <p:nvPr>
            <p:ph idx="1"/>
          </p:nvPr>
        </p:nvPicPr>
        <p:blipFill>
          <a:blip r:embed="rId2"/>
          <a:stretch>
            <a:fillRect/>
          </a:stretch>
        </p:blipFill>
        <p:spPr>
          <a:xfrm>
            <a:off x="839767" y="368300"/>
            <a:ext cx="4883190" cy="5808663"/>
          </a:xfrm>
          <a:prstGeom prst="rect">
            <a:avLst/>
          </a:prstGeom>
        </p:spPr>
      </p:pic>
    </p:spTree>
    <p:extLst>
      <p:ext uri="{BB962C8B-B14F-4D97-AF65-F5344CB8AC3E}">
        <p14:creationId xmlns:p14="http://schemas.microsoft.com/office/powerpoint/2010/main" val="20716724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C741E-D3AE-DDA2-352E-FE4BA3B0753F}"/>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8D5BB45B-9414-A652-71D7-3383EB427CD6}"/>
              </a:ext>
            </a:extLst>
          </p:cNvPr>
          <p:cNvPicPr>
            <a:picLocks noGrp="1" noChangeAspect="1"/>
          </p:cNvPicPr>
          <p:nvPr>
            <p:ph idx="1"/>
          </p:nvPr>
        </p:nvPicPr>
        <p:blipFill>
          <a:blip r:embed="rId2"/>
          <a:stretch>
            <a:fillRect/>
          </a:stretch>
        </p:blipFill>
        <p:spPr>
          <a:xfrm>
            <a:off x="842635" y="1044575"/>
            <a:ext cx="4896504" cy="5389563"/>
          </a:xfrm>
          <a:prstGeom prst="rect">
            <a:avLst/>
          </a:prstGeom>
        </p:spPr>
      </p:pic>
      <p:sp>
        <p:nvSpPr>
          <p:cNvPr id="5" name="TextBox 4">
            <a:extLst>
              <a:ext uri="{FF2B5EF4-FFF2-40B4-BE49-F238E27FC236}">
                <a16:creationId xmlns:a16="http://schemas.microsoft.com/office/drawing/2014/main" id="{0995355E-360F-7441-2DA3-30C007523C76}"/>
              </a:ext>
            </a:extLst>
          </p:cNvPr>
          <p:cNvSpPr txBox="1"/>
          <p:nvPr/>
        </p:nvSpPr>
        <p:spPr>
          <a:xfrm>
            <a:off x="8258175" y="3143250"/>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solidFill>
                  <a:srgbClr val="2A2A2A"/>
                </a:solidFill>
                <a:latin typeface="Source Sans Pro"/>
                <a:ea typeface="Source Sans Pro"/>
              </a:rPr>
              <a:t>The Journal of Clinical Endocrinology &amp; Metabolism</a:t>
            </a:r>
            <a:r>
              <a:rPr lang="en-US">
                <a:solidFill>
                  <a:srgbClr val="2A2A2A"/>
                </a:solidFill>
                <a:latin typeface="Source Sans Pro"/>
                <a:ea typeface="Source Sans Pro"/>
              </a:rPr>
              <a:t>, Volume 88, Issue 4, 1 April 2003,</a:t>
            </a:r>
            <a:endParaRPr lang="en-US"/>
          </a:p>
        </p:txBody>
      </p:sp>
    </p:spTree>
    <p:extLst>
      <p:ext uri="{BB962C8B-B14F-4D97-AF65-F5344CB8AC3E}">
        <p14:creationId xmlns:p14="http://schemas.microsoft.com/office/powerpoint/2010/main" val="26140996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326F6-F7F8-3F9C-8A8F-8EB04B3A7D08}"/>
              </a:ext>
            </a:extLst>
          </p:cNvPr>
          <p:cNvSpPr>
            <a:spLocks noGrp="1"/>
          </p:cNvSpPr>
          <p:nvPr>
            <p:ph type="title"/>
          </p:nvPr>
        </p:nvSpPr>
        <p:spPr/>
        <p:txBody>
          <a:bodyPr/>
          <a:lstStyle/>
          <a:p>
            <a:r>
              <a:rPr lang="en-US" sz="1300" i="1" dirty="0">
                <a:solidFill>
                  <a:srgbClr val="2A2A2A"/>
                </a:solidFill>
                <a:latin typeface="Source Sans Pro"/>
                <a:ea typeface="Source Sans Pro"/>
              </a:rPr>
              <a:t>The Journal of Clinical Endocrinology &amp; Metabolism</a:t>
            </a:r>
            <a:r>
              <a:rPr lang="en-US" sz="1300" dirty="0">
                <a:solidFill>
                  <a:srgbClr val="2A2A2A"/>
                </a:solidFill>
                <a:latin typeface="Source Sans Pro"/>
                <a:ea typeface="Source Sans Pro"/>
              </a:rPr>
              <a:t>, Volume 97, Issue 10, 1 October 2012,</a:t>
            </a:r>
            <a:endParaRPr lang="en-US" dirty="0"/>
          </a:p>
        </p:txBody>
      </p:sp>
      <p:pic>
        <p:nvPicPr>
          <p:cNvPr id="4" name="Content Placeholder 3" descr="A close up of a scan&#10;&#10;AI-generated content may be incorrect.">
            <a:extLst>
              <a:ext uri="{FF2B5EF4-FFF2-40B4-BE49-F238E27FC236}">
                <a16:creationId xmlns:a16="http://schemas.microsoft.com/office/drawing/2014/main" id="{BBE1DA32-5F3A-E813-21D5-98ACF9602953}"/>
              </a:ext>
            </a:extLst>
          </p:cNvPr>
          <p:cNvPicPr>
            <a:picLocks noGrp="1" noChangeAspect="1"/>
          </p:cNvPicPr>
          <p:nvPr>
            <p:ph idx="1"/>
          </p:nvPr>
        </p:nvPicPr>
        <p:blipFill>
          <a:blip r:embed="rId2"/>
          <a:stretch>
            <a:fillRect/>
          </a:stretch>
        </p:blipFill>
        <p:spPr>
          <a:xfrm>
            <a:off x="2883366" y="1825625"/>
            <a:ext cx="6425267" cy="4351338"/>
          </a:xfrm>
          <a:prstGeom prst="rect">
            <a:avLst/>
          </a:prstGeom>
        </p:spPr>
      </p:pic>
    </p:spTree>
    <p:extLst>
      <p:ext uri="{BB962C8B-B14F-4D97-AF65-F5344CB8AC3E}">
        <p14:creationId xmlns:p14="http://schemas.microsoft.com/office/powerpoint/2010/main" val="32662256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AC0CE-AA87-4A28-F80E-C0CCF03C2EE0}"/>
              </a:ext>
            </a:extLst>
          </p:cNvPr>
          <p:cNvSpPr>
            <a:spLocks noGrp="1"/>
          </p:cNvSpPr>
          <p:nvPr>
            <p:ph type="title"/>
          </p:nvPr>
        </p:nvSpPr>
        <p:spPr/>
        <p:txBody>
          <a:bodyPr/>
          <a:lstStyle/>
          <a:p>
            <a:r>
              <a:rPr lang="en-US" dirty="0"/>
              <a:t>Testing – Water deprivation Test</a:t>
            </a:r>
          </a:p>
        </p:txBody>
      </p:sp>
      <p:sp>
        <p:nvSpPr>
          <p:cNvPr id="3" name="Content Placeholder 2">
            <a:extLst>
              <a:ext uri="{FF2B5EF4-FFF2-40B4-BE49-F238E27FC236}">
                <a16:creationId xmlns:a16="http://schemas.microsoft.com/office/drawing/2014/main" id="{635EB129-E936-DDED-5E36-51B06725CCF2}"/>
              </a:ext>
            </a:extLst>
          </p:cNvPr>
          <p:cNvSpPr>
            <a:spLocks noGrp="1"/>
          </p:cNvSpPr>
          <p:nvPr>
            <p:ph idx="1"/>
          </p:nvPr>
        </p:nvSpPr>
        <p:spPr/>
        <p:txBody>
          <a:bodyPr vert="horz" lIns="91440" tIns="45720" rIns="91440" bIns="45720" rtlCol="0" anchor="t">
            <a:normAutofit/>
          </a:bodyPr>
          <a:lstStyle/>
          <a:p>
            <a:r>
              <a:rPr lang="en-US" sz="2000" dirty="0">
                <a:solidFill>
                  <a:srgbClr val="2A2A2A"/>
                </a:solidFill>
                <a:latin typeface="Merriweather"/>
              </a:rPr>
              <a:t>The physiological basis for the WDT is that dehydration causes an elevation in plasma sodium concentration, which stimulates AVP release. AVP is carried from the circulation to the kidneys, where it binds to V2 receptors, causing elevation in urine osmolality. If the stimulus to AVP secretion is sufficient (plasma osmolality &gt;295 </a:t>
            </a:r>
            <a:r>
              <a:rPr lang="en-US" sz="2000" err="1">
                <a:solidFill>
                  <a:srgbClr val="2A2A2A"/>
                </a:solidFill>
                <a:latin typeface="Merriweather"/>
              </a:rPr>
              <a:t>mOsm</a:t>
            </a:r>
            <a:r>
              <a:rPr lang="en-US" sz="2000" dirty="0">
                <a:solidFill>
                  <a:srgbClr val="2A2A2A"/>
                </a:solidFill>
                <a:latin typeface="Merriweather"/>
              </a:rPr>
              <a:t>/kg), urine osmolality should rise to over 700 </a:t>
            </a:r>
            <a:r>
              <a:rPr lang="en-US" sz="2000" err="1">
                <a:solidFill>
                  <a:srgbClr val="2A2A2A"/>
                </a:solidFill>
                <a:latin typeface="Merriweather"/>
              </a:rPr>
              <a:t>mOsm</a:t>
            </a:r>
            <a:r>
              <a:rPr lang="en-US" sz="2000" dirty="0">
                <a:solidFill>
                  <a:srgbClr val="2A2A2A"/>
                </a:solidFill>
                <a:latin typeface="Merriweather"/>
              </a:rPr>
              <a:t>/kg.</a:t>
            </a:r>
          </a:p>
          <a:p>
            <a:r>
              <a:rPr lang="en-US" sz="2000" dirty="0" err="1">
                <a:solidFill>
                  <a:srgbClr val="001D35"/>
                </a:solidFill>
                <a:ea typeface="+mn-lt"/>
                <a:cs typeface="+mn-lt"/>
              </a:rPr>
              <a:t>P.Osmolality</a:t>
            </a:r>
            <a:r>
              <a:rPr lang="en-US" sz="2000" dirty="0">
                <a:solidFill>
                  <a:srgbClr val="001D35"/>
                </a:solidFill>
                <a:ea typeface="+mn-lt"/>
                <a:cs typeface="+mn-lt"/>
              </a:rPr>
              <a:t> (</a:t>
            </a:r>
            <a:r>
              <a:rPr lang="en-US" sz="2000" dirty="0" err="1">
                <a:solidFill>
                  <a:srgbClr val="001D35"/>
                </a:solidFill>
                <a:ea typeface="+mn-lt"/>
                <a:cs typeface="+mn-lt"/>
              </a:rPr>
              <a:t>mOsm</a:t>
            </a:r>
            <a:r>
              <a:rPr lang="en-US" sz="2000" dirty="0">
                <a:solidFill>
                  <a:srgbClr val="001D35"/>
                </a:solidFill>
                <a:ea typeface="+mn-lt"/>
                <a:cs typeface="+mn-lt"/>
              </a:rPr>
              <a:t>/kg) =</a:t>
            </a:r>
            <a:endParaRPr lang="en-US" sz="2000" dirty="0">
              <a:solidFill>
                <a:srgbClr val="2A2A2A"/>
              </a:solidFill>
              <a:latin typeface="Merriweather"/>
              <a:ea typeface="+mn-lt"/>
              <a:cs typeface="+mn-lt"/>
            </a:endParaRPr>
          </a:p>
          <a:p>
            <a:pPr marL="0" indent="0">
              <a:buNone/>
            </a:pPr>
            <a:r>
              <a:rPr lang="en-US" sz="2000" dirty="0">
                <a:solidFill>
                  <a:srgbClr val="001D35"/>
                </a:solidFill>
                <a:ea typeface="+mn-lt"/>
                <a:cs typeface="+mn-lt"/>
              </a:rPr>
              <a:t> </a:t>
            </a:r>
            <a:r>
              <a:rPr lang="en-US" sz="2000" dirty="0">
                <a:solidFill>
                  <a:srgbClr val="B45908"/>
                </a:solidFill>
                <a:ea typeface="+mn-lt"/>
                <a:cs typeface="+mn-lt"/>
              </a:rPr>
              <a:t>2</a:t>
            </a:r>
            <a:r>
              <a:rPr lang="en-US" sz="2000" dirty="0">
                <a:solidFill>
                  <a:srgbClr val="001D35"/>
                </a:solidFill>
                <a:ea typeface="+mn-lt"/>
                <a:cs typeface="+mn-lt"/>
              </a:rPr>
              <a:t>[Na+] + [Glucose]/</a:t>
            </a:r>
            <a:r>
              <a:rPr lang="en-US" sz="2000" dirty="0">
                <a:solidFill>
                  <a:srgbClr val="B45908"/>
                </a:solidFill>
                <a:ea typeface="+mn-lt"/>
                <a:cs typeface="+mn-lt"/>
              </a:rPr>
              <a:t>18</a:t>
            </a:r>
            <a:r>
              <a:rPr lang="en-US" sz="2000" dirty="0">
                <a:solidFill>
                  <a:srgbClr val="001D35"/>
                </a:solidFill>
                <a:ea typeface="+mn-lt"/>
                <a:cs typeface="+mn-lt"/>
              </a:rPr>
              <a:t> + [BUN]/2.8</a:t>
            </a:r>
            <a:endParaRPr lang="en-US" sz="2000">
              <a:solidFill>
                <a:srgbClr val="2A2A2A"/>
              </a:solidFill>
              <a:latin typeface="Merriweather"/>
            </a:endParaRPr>
          </a:p>
          <a:p>
            <a:endParaRPr lang="en-US" sz="2000" dirty="0">
              <a:solidFill>
                <a:srgbClr val="2A2A2A"/>
              </a:solidFill>
              <a:latin typeface="Merriweather"/>
            </a:endParaRPr>
          </a:p>
        </p:txBody>
      </p:sp>
      <p:pic>
        <p:nvPicPr>
          <p:cNvPr id="4" name="Picture 3">
            <a:extLst>
              <a:ext uri="{FF2B5EF4-FFF2-40B4-BE49-F238E27FC236}">
                <a16:creationId xmlns:a16="http://schemas.microsoft.com/office/drawing/2014/main" id="{73D84F8A-8C54-33D8-2CF4-DF2A821D0167}"/>
              </a:ext>
            </a:extLst>
          </p:cNvPr>
          <p:cNvPicPr>
            <a:picLocks noChangeAspect="1"/>
          </p:cNvPicPr>
          <p:nvPr/>
        </p:nvPicPr>
        <p:blipFill>
          <a:blip r:embed="rId2"/>
          <a:stretch>
            <a:fillRect/>
          </a:stretch>
        </p:blipFill>
        <p:spPr>
          <a:xfrm>
            <a:off x="5891213" y="3257550"/>
            <a:ext cx="3705225" cy="3057525"/>
          </a:xfrm>
          <a:prstGeom prst="rect">
            <a:avLst/>
          </a:prstGeom>
        </p:spPr>
      </p:pic>
    </p:spTree>
    <p:extLst>
      <p:ext uri="{BB962C8B-B14F-4D97-AF65-F5344CB8AC3E}">
        <p14:creationId xmlns:p14="http://schemas.microsoft.com/office/powerpoint/2010/main" val="18032548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5F4F1-C15E-F828-7B98-9C22D6DF912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CD9976-93E0-EB2A-5753-87DB9E23C2D2}"/>
              </a:ext>
            </a:extLst>
          </p:cNvPr>
          <p:cNvSpPr>
            <a:spLocks noGrp="1"/>
          </p:cNvSpPr>
          <p:nvPr>
            <p:ph idx="1"/>
          </p:nvPr>
        </p:nvSpPr>
        <p:spPr>
          <a:xfrm>
            <a:off x="730526" y="1253496"/>
            <a:ext cx="10515600" cy="4351338"/>
          </a:xfrm>
        </p:spPr>
        <p:txBody>
          <a:bodyPr vert="horz" lIns="91440" tIns="45720" rIns="91440" bIns="45720" rtlCol="0" anchor="t">
            <a:normAutofit/>
          </a:bodyPr>
          <a:lstStyle/>
          <a:p>
            <a:endParaRPr lang="en-US" sz="1400" dirty="0">
              <a:solidFill>
                <a:srgbClr val="001D35"/>
              </a:solidFill>
            </a:endParaRPr>
          </a:p>
        </p:txBody>
      </p:sp>
      <p:pic>
        <p:nvPicPr>
          <p:cNvPr id="4" name="Picture 3" descr="A white background with black text&#10;&#10;AI-generated content may be incorrect.">
            <a:extLst>
              <a:ext uri="{FF2B5EF4-FFF2-40B4-BE49-F238E27FC236}">
                <a16:creationId xmlns:a16="http://schemas.microsoft.com/office/drawing/2014/main" id="{9A29298E-2FE2-3A07-E3BB-BA284AA7A005}"/>
              </a:ext>
            </a:extLst>
          </p:cNvPr>
          <p:cNvPicPr>
            <a:picLocks noChangeAspect="1"/>
          </p:cNvPicPr>
          <p:nvPr/>
        </p:nvPicPr>
        <p:blipFill>
          <a:blip r:embed="rId2"/>
          <a:stretch>
            <a:fillRect/>
          </a:stretch>
        </p:blipFill>
        <p:spPr>
          <a:xfrm>
            <a:off x="101294" y="1778695"/>
            <a:ext cx="6694024" cy="3769006"/>
          </a:xfrm>
          <a:prstGeom prst="rect">
            <a:avLst/>
          </a:prstGeom>
        </p:spPr>
      </p:pic>
      <p:pic>
        <p:nvPicPr>
          <p:cNvPr id="7" name="Content Placeholder 3" descr="A table with numbers and letters&#10;&#10;AI-generated content may be incorrect.">
            <a:extLst>
              <a:ext uri="{FF2B5EF4-FFF2-40B4-BE49-F238E27FC236}">
                <a16:creationId xmlns:a16="http://schemas.microsoft.com/office/drawing/2014/main" id="{91E5BDA0-CC5F-234E-8A30-F63C6020C9BA}"/>
              </a:ext>
            </a:extLst>
          </p:cNvPr>
          <p:cNvPicPr>
            <a:picLocks noChangeAspect="1"/>
          </p:cNvPicPr>
          <p:nvPr/>
        </p:nvPicPr>
        <p:blipFill>
          <a:blip r:embed="rId3"/>
          <a:stretch>
            <a:fillRect/>
          </a:stretch>
        </p:blipFill>
        <p:spPr>
          <a:xfrm>
            <a:off x="5154817" y="2041777"/>
            <a:ext cx="6200639" cy="3487659"/>
          </a:xfrm>
          <a:prstGeom prst="rect">
            <a:avLst/>
          </a:prstGeom>
        </p:spPr>
      </p:pic>
    </p:spTree>
    <p:extLst>
      <p:ext uri="{BB962C8B-B14F-4D97-AF65-F5344CB8AC3E}">
        <p14:creationId xmlns:p14="http://schemas.microsoft.com/office/powerpoint/2010/main" val="29153394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FA8843-3A92-C093-7D25-5E9999B8A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82D8D-CEA6-72C6-1A3B-5F52D761BE54}"/>
              </a:ext>
            </a:extLst>
          </p:cNvPr>
          <p:cNvSpPr>
            <a:spLocks noGrp="1"/>
          </p:cNvSpPr>
          <p:nvPr>
            <p:ph type="title"/>
          </p:nvPr>
        </p:nvSpPr>
        <p:spPr>
          <a:xfrm>
            <a:off x="1371599" y="5510253"/>
            <a:ext cx="9895951" cy="1033669"/>
          </a:xfrm>
        </p:spPr>
        <p:txBody>
          <a:bodyPr vert="horz" lIns="91440" tIns="45720" rIns="91440" bIns="45720" rtlCol="0" anchor="ctr">
            <a:normAutofit/>
          </a:bodyPr>
          <a:lstStyle/>
          <a:p>
            <a:r>
              <a:rPr lang="en-US" sz="4000" kern="1200">
                <a:solidFill>
                  <a:srgbClr val="FFFFFF"/>
                </a:solidFill>
                <a:latin typeface="+mj-lt"/>
                <a:ea typeface="+mj-ea"/>
                <a:cs typeface="+mj-cs"/>
              </a:rPr>
              <a:t>Water deprivation test</a:t>
            </a:r>
          </a:p>
        </p:txBody>
      </p:sp>
      <p:sp>
        <p:nvSpPr>
          <p:cNvPr id="5" name="Rectangle 1">
            <a:extLst>
              <a:ext uri="{FF2B5EF4-FFF2-40B4-BE49-F238E27FC236}">
                <a16:creationId xmlns:a16="http://schemas.microsoft.com/office/drawing/2014/main" id="{65E5A66D-AA5D-E772-DE90-C63D88C8C2B0}"/>
              </a:ext>
            </a:extLst>
          </p:cNvPr>
          <p:cNvSpPr>
            <a:spLocks noChangeArrowheads="1"/>
          </p:cNvSpPr>
          <p:nvPr/>
        </p:nvSpPr>
        <p:spPr bwMode="auto">
          <a:xfrm>
            <a:off x="1940256" y="3833199"/>
            <a:ext cx="8332826" cy="111998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2000" b="1"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000" b="0" i="0" u="none" strike="noStrike" cap="none" normalizeH="0" baseline="0" dirty="0">
              <a:ln>
                <a:noFill/>
              </a:ln>
              <a:effectLst/>
            </a:endParaRPr>
          </a:p>
        </p:txBody>
      </p:sp>
      <p:graphicFrame>
        <p:nvGraphicFramePr>
          <p:cNvPr id="4" name="Content Placeholder 3">
            <a:extLst>
              <a:ext uri="{FF2B5EF4-FFF2-40B4-BE49-F238E27FC236}">
                <a16:creationId xmlns:a16="http://schemas.microsoft.com/office/drawing/2014/main" id="{CF2E2DB4-6E62-BF6C-429C-7D5A51E179C9}"/>
              </a:ext>
            </a:extLst>
          </p:cNvPr>
          <p:cNvGraphicFramePr>
            <a:graphicFrameLocks noGrp="1"/>
          </p:cNvGraphicFramePr>
          <p:nvPr>
            <p:ph idx="1"/>
          </p:nvPr>
        </p:nvGraphicFramePr>
        <p:xfrm>
          <a:off x="2103465" y="402570"/>
          <a:ext cx="7985070" cy="3215274"/>
        </p:xfrm>
        <a:graphic>
          <a:graphicData uri="http://schemas.openxmlformats.org/drawingml/2006/table">
            <a:tbl>
              <a:tblPr>
                <a:solidFill>
                  <a:schemeClr val="tx1">
                    <a:lumMod val="75000"/>
                    <a:lumOff val="25000"/>
                  </a:schemeClr>
                </a:solidFill>
              </a:tblPr>
              <a:tblGrid>
                <a:gridCol w="2231542">
                  <a:extLst>
                    <a:ext uri="{9D8B030D-6E8A-4147-A177-3AD203B41FA5}">
                      <a16:colId xmlns:a16="http://schemas.microsoft.com/office/drawing/2014/main" val="3630210964"/>
                    </a:ext>
                  </a:extLst>
                </a:gridCol>
                <a:gridCol w="3242225">
                  <a:extLst>
                    <a:ext uri="{9D8B030D-6E8A-4147-A177-3AD203B41FA5}">
                      <a16:colId xmlns:a16="http://schemas.microsoft.com/office/drawing/2014/main" val="1097996472"/>
                    </a:ext>
                  </a:extLst>
                </a:gridCol>
                <a:gridCol w="2511303">
                  <a:extLst>
                    <a:ext uri="{9D8B030D-6E8A-4147-A177-3AD203B41FA5}">
                      <a16:colId xmlns:a16="http://schemas.microsoft.com/office/drawing/2014/main" val="4023708585"/>
                    </a:ext>
                  </a:extLst>
                </a:gridCol>
              </a:tblGrid>
              <a:tr h="801927">
                <a:tc>
                  <a:txBody>
                    <a:bodyPr/>
                    <a:lstStyle/>
                    <a:p>
                      <a:r>
                        <a:rPr lang="en-US" sz="1700" b="1" cap="none" spc="0">
                          <a:solidFill>
                            <a:schemeClr val="bg1"/>
                          </a:solidFill>
                        </a:rPr>
                        <a:t>Condition</a:t>
                      </a:r>
                      <a:endParaRPr lang="en-US" sz="1700" cap="none" spc="0">
                        <a:solidFill>
                          <a:schemeClr val="bg1"/>
                        </a:solidFill>
                      </a:endParaRPr>
                    </a:p>
                  </a:txBody>
                  <a:tcPr marL="147524" marR="113480" marT="113480" marB="113480" anchor="ctr">
                    <a:lnL w="38100" cap="flat" cmpd="sng" algn="ctr">
                      <a:noFill/>
                      <a:prstDash val="solid"/>
                    </a:lnL>
                    <a:lnR w="6350" cap="flat" cmpd="sng" algn="ctr">
                      <a:solidFill>
                        <a:schemeClr val="tx1">
                          <a:lumMod val="50000"/>
                          <a:lumOff val="50000"/>
                        </a:schemeClr>
                      </a:solidFill>
                      <a:prstDash val="solid"/>
                    </a:lnR>
                    <a:lnT w="38100" cap="flat" cmpd="sng" algn="ctr">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700" b="1" cap="none" spc="0">
                          <a:solidFill>
                            <a:schemeClr val="bg1"/>
                          </a:solidFill>
                        </a:rPr>
                        <a:t>Urine Osmolality After Dehydration</a:t>
                      </a:r>
                      <a:endParaRPr lang="en-US" sz="1700" cap="none" spc="0">
                        <a:solidFill>
                          <a:schemeClr val="bg1"/>
                        </a:solidFill>
                      </a:endParaRPr>
                    </a:p>
                  </a:txBody>
                  <a:tcPr marL="147524" marR="113480" marT="113480" marB="11348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ap="flat" cmpd="sng" algn="ctr">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700" b="1" cap="none" spc="0">
                          <a:solidFill>
                            <a:schemeClr val="bg1"/>
                          </a:solidFill>
                        </a:rPr>
                        <a:t>After Desmopressin</a:t>
                      </a:r>
                      <a:endParaRPr lang="en-US" sz="1700" cap="none" spc="0">
                        <a:solidFill>
                          <a:schemeClr val="bg1"/>
                        </a:solidFill>
                      </a:endParaRPr>
                    </a:p>
                  </a:txBody>
                  <a:tcPr marL="147524" marR="113480" marT="113480" marB="113480" anchor="ctr">
                    <a:lnL w="6350" cap="flat" cmpd="sng" algn="ctr">
                      <a:solidFill>
                        <a:schemeClr val="tx1">
                          <a:lumMod val="50000"/>
                          <a:lumOff val="50000"/>
                        </a:schemeClr>
                      </a:solidFill>
                      <a:prstDash val="solid"/>
                    </a:lnL>
                    <a:lnR w="38100" cap="flat" cmpd="sng" algn="ctr">
                      <a:noFill/>
                      <a:prstDash val="solid"/>
                    </a:lnR>
                    <a:lnT w="38100" cap="flat" cmpd="sng" algn="ctr">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3252871784"/>
                  </a:ext>
                </a:extLst>
              </a:tr>
              <a:tr h="537140">
                <a:tc>
                  <a:txBody>
                    <a:bodyPr/>
                    <a:lstStyle/>
                    <a:p>
                      <a:r>
                        <a:rPr lang="en-US" sz="1700" cap="none" spc="0">
                          <a:solidFill>
                            <a:schemeClr val="bg1"/>
                          </a:solidFill>
                        </a:rPr>
                        <a:t>Normal</a:t>
                      </a:r>
                    </a:p>
                  </a:txBody>
                  <a:tcPr marL="147524" marR="113480" marT="113480" marB="113480"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700" cap="none" spc="0">
                          <a:solidFill>
                            <a:schemeClr val="bg1"/>
                          </a:solidFill>
                        </a:rPr>
                        <a:t>Increases</a:t>
                      </a:r>
                    </a:p>
                  </a:txBody>
                  <a:tcPr marL="147524" marR="113480" marT="113480" marB="11348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700" cap="none" spc="0">
                          <a:solidFill>
                            <a:schemeClr val="bg1"/>
                          </a:solidFill>
                        </a:rPr>
                        <a:t>No significant change</a:t>
                      </a:r>
                    </a:p>
                  </a:txBody>
                  <a:tcPr marL="147524" marR="113480" marT="113480" marB="113480"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421109537"/>
                  </a:ext>
                </a:extLst>
              </a:tr>
              <a:tr h="537140">
                <a:tc>
                  <a:txBody>
                    <a:bodyPr/>
                    <a:lstStyle/>
                    <a:p>
                      <a:r>
                        <a:rPr lang="en-US" sz="1700" cap="none" spc="0">
                          <a:solidFill>
                            <a:schemeClr val="bg1"/>
                          </a:solidFill>
                        </a:rPr>
                        <a:t>Central DI</a:t>
                      </a:r>
                    </a:p>
                  </a:txBody>
                  <a:tcPr marL="147524" marR="113480" marT="113480" marB="113480"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700" cap="none" spc="0">
                          <a:solidFill>
                            <a:schemeClr val="bg1"/>
                          </a:solidFill>
                        </a:rPr>
                        <a:t>No/low increase</a:t>
                      </a:r>
                    </a:p>
                  </a:txBody>
                  <a:tcPr marL="147524" marR="113480" marT="113480" marB="11348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700" cap="none" spc="0">
                          <a:solidFill>
                            <a:schemeClr val="bg1"/>
                          </a:solidFill>
                        </a:rPr>
                        <a:t>Marked increase</a:t>
                      </a:r>
                    </a:p>
                  </a:txBody>
                  <a:tcPr marL="147524" marR="113480" marT="113480" marB="113480"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3106431329"/>
                  </a:ext>
                </a:extLst>
              </a:tr>
              <a:tr h="537140">
                <a:tc>
                  <a:txBody>
                    <a:bodyPr/>
                    <a:lstStyle/>
                    <a:p>
                      <a:r>
                        <a:rPr lang="en-US" sz="1700" cap="none" spc="0">
                          <a:solidFill>
                            <a:schemeClr val="bg1"/>
                          </a:solidFill>
                        </a:rPr>
                        <a:t>Nephrogenic DI</a:t>
                      </a:r>
                    </a:p>
                  </a:txBody>
                  <a:tcPr marL="147524" marR="113480" marT="113480" marB="113480"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700" cap="none" spc="0">
                          <a:solidFill>
                            <a:schemeClr val="bg1"/>
                          </a:solidFill>
                        </a:rPr>
                        <a:t>No/low increase</a:t>
                      </a:r>
                    </a:p>
                  </a:txBody>
                  <a:tcPr marL="147524" marR="113480" marT="113480" marB="11348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700" cap="none" spc="0">
                          <a:solidFill>
                            <a:schemeClr val="bg1"/>
                          </a:solidFill>
                        </a:rPr>
                        <a:t>Little or no change</a:t>
                      </a:r>
                    </a:p>
                  </a:txBody>
                  <a:tcPr marL="147524" marR="113480" marT="113480" marB="113480"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4172511825"/>
                  </a:ext>
                </a:extLst>
              </a:tr>
              <a:tr h="801927">
                <a:tc>
                  <a:txBody>
                    <a:bodyPr/>
                    <a:lstStyle/>
                    <a:p>
                      <a:r>
                        <a:rPr lang="en-US" sz="1700" cap="none" spc="0">
                          <a:solidFill>
                            <a:schemeClr val="bg1"/>
                          </a:solidFill>
                        </a:rPr>
                        <a:t>Primary Polydipsia</a:t>
                      </a:r>
                    </a:p>
                  </a:txBody>
                  <a:tcPr marL="147524" marR="113480" marT="113480" marB="113480" anchor="ctr">
                    <a:lnL w="38100" cap="flat" cmpd="sng" algn="ctr">
                      <a:no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38100" cap="flat" cmpd="sng" algn="ctr">
                      <a:noFill/>
                      <a:prstDash val="solid"/>
                    </a:lnB>
                    <a:solidFill>
                      <a:schemeClr val="tx1">
                        <a:lumMod val="75000"/>
                        <a:lumOff val="25000"/>
                      </a:schemeClr>
                    </a:solidFill>
                  </a:tcPr>
                </a:tc>
                <a:tc>
                  <a:txBody>
                    <a:bodyPr/>
                    <a:lstStyle/>
                    <a:p>
                      <a:r>
                        <a:rPr lang="en-US" sz="1700" cap="none" spc="0">
                          <a:solidFill>
                            <a:schemeClr val="bg1"/>
                          </a:solidFill>
                        </a:rPr>
                        <a:t>Gradual increase (may reach normal)</a:t>
                      </a:r>
                    </a:p>
                  </a:txBody>
                  <a:tcPr marL="147524" marR="113480" marT="113480" marB="11348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38100" cap="flat" cmpd="sng" algn="ctr">
                      <a:noFill/>
                      <a:prstDash val="solid"/>
                    </a:lnB>
                    <a:solidFill>
                      <a:schemeClr val="tx1">
                        <a:lumMod val="75000"/>
                        <a:lumOff val="25000"/>
                      </a:schemeClr>
                    </a:solidFill>
                  </a:tcPr>
                </a:tc>
                <a:tc>
                  <a:txBody>
                    <a:bodyPr/>
                    <a:lstStyle/>
                    <a:p>
                      <a:r>
                        <a:rPr lang="en-US" sz="1700" cap="none" spc="0">
                          <a:solidFill>
                            <a:schemeClr val="bg1"/>
                          </a:solidFill>
                        </a:rPr>
                        <a:t>Minimal change</a:t>
                      </a:r>
                    </a:p>
                  </a:txBody>
                  <a:tcPr marL="147524" marR="113480" marT="113480" marB="113480" anchor="ctr">
                    <a:lnL w="6350" cap="flat" cmpd="sng" algn="ctr">
                      <a:solidFill>
                        <a:schemeClr val="tx1">
                          <a:lumMod val="50000"/>
                          <a:lumOff val="50000"/>
                        </a:schemeClr>
                      </a:solidFill>
                      <a:prstDash val="solid"/>
                    </a:lnL>
                    <a:lnR w="38100" cap="flat" cmpd="sng" algn="ctr">
                      <a:noFill/>
                      <a:prstDash val="solid"/>
                    </a:lnR>
                    <a:lnT w="6350" cap="flat" cmpd="sng" algn="ctr">
                      <a:solidFill>
                        <a:schemeClr val="tx1">
                          <a:lumMod val="50000"/>
                          <a:lumOff val="50000"/>
                        </a:schemeClr>
                      </a:solidFill>
                      <a:prstDash val="solid"/>
                    </a:lnT>
                    <a:lnB w="38100" cap="flat" cmpd="sng" algn="ctr">
                      <a:noFill/>
                      <a:prstDash val="solid"/>
                    </a:lnB>
                    <a:solidFill>
                      <a:schemeClr val="tx1">
                        <a:lumMod val="75000"/>
                        <a:lumOff val="25000"/>
                      </a:schemeClr>
                    </a:solidFill>
                  </a:tcPr>
                </a:tc>
                <a:extLst>
                  <a:ext uri="{0D108BD9-81ED-4DB2-BD59-A6C34878D82A}">
                    <a16:rowId xmlns:a16="http://schemas.microsoft.com/office/drawing/2014/main" val="2222446078"/>
                  </a:ext>
                </a:extLst>
              </a:tr>
            </a:tbl>
          </a:graphicData>
        </a:graphic>
      </p:graphicFrame>
      <p:sp>
        <p:nvSpPr>
          <p:cNvPr id="3" name="TextBox 2">
            <a:extLst>
              <a:ext uri="{FF2B5EF4-FFF2-40B4-BE49-F238E27FC236}">
                <a16:creationId xmlns:a16="http://schemas.microsoft.com/office/drawing/2014/main" id="{388ACD59-DA2C-1EF6-EDDE-05E03E9E1C99}"/>
              </a:ext>
            </a:extLst>
          </p:cNvPr>
          <p:cNvSpPr txBox="1"/>
          <p:nvPr/>
        </p:nvSpPr>
        <p:spPr>
          <a:xfrm>
            <a:off x="2266260" y="4713340"/>
            <a:ext cx="578619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Deamino</a:t>
            </a:r>
            <a:r>
              <a:rPr lang="en-US" dirty="0"/>
              <a:t>-D arginine vasopressin abbreviated DDAVP, a derivative of ADH – selectively acts on V2 receptors </a:t>
            </a:r>
          </a:p>
        </p:txBody>
      </p:sp>
      <p:sp>
        <p:nvSpPr>
          <p:cNvPr id="7" name="Star: 5 Points 6">
            <a:extLst>
              <a:ext uri="{FF2B5EF4-FFF2-40B4-BE49-F238E27FC236}">
                <a16:creationId xmlns:a16="http://schemas.microsoft.com/office/drawing/2014/main" id="{976E12CB-73D1-4CBC-A894-DD89F0F2DC46}"/>
              </a:ext>
            </a:extLst>
          </p:cNvPr>
          <p:cNvSpPr/>
          <p:nvPr/>
        </p:nvSpPr>
        <p:spPr>
          <a:xfrm>
            <a:off x="10435666" y="1895088"/>
            <a:ext cx="518556" cy="597725"/>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10154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22F57-B123-1AA6-D449-DDB031BF8ED3}"/>
              </a:ext>
            </a:extLst>
          </p:cNvPr>
          <p:cNvSpPr>
            <a:spLocks noGrp="1"/>
          </p:cNvSpPr>
          <p:nvPr>
            <p:ph type="title"/>
          </p:nvPr>
        </p:nvSpPr>
        <p:spPr/>
        <p:txBody>
          <a:bodyPr/>
          <a:lstStyle/>
          <a:p>
            <a:endParaRPr lang="en-US"/>
          </a:p>
        </p:txBody>
      </p:sp>
      <p:graphicFrame>
        <p:nvGraphicFramePr>
          <p:cNvPr id="7" name="Content Placeholder 6">
            <a:extLst>
              <a:ext uri="{FF2B5EF4-FFF2-40B4-BE49-F238E27FC236}">
                <a16:creationId xmlns:a16="http://schemas.microsoft.com/office/drawing/2014/main" id="{FB70121D-4472-CAF9-A37D-8FA70A7AD273}"/>
              </a:ext>
            </a:extLst>
          </p:cNvPr>
          <p:cNvGraphicFramePr>
            <a:graphicFrameLocks noGrp="1"/>
          </p:cNvGraphicFramePr>
          <p:nvPr>
            <p:ph idx="1"/>
          </p:nvPr>
        </p:nvGraphicFramePr>
        <p:xfrm>
          <a:off x="2476500" y="2355374"/>
          <a:ext cx="7239000" cy="3291840"/>
        </p:xfrm>
        <a:graphic>
          <a:graphicData uri="http://schemas.openxmlformats.org/drawingml/2006/table">
            <a:tbl>
              <a:tblPr/>
              <a:tblGrid>
                <a:gridCol w="2413000">
                  <a:extLst>
                    <a:ext uri="{9D8B030D-6E8A-4147-A177-3AD203B41FA5}">
                      <a16:colId xmlns:a16="http://schemas.microsoft.com/office/drawing/2014/main" val="2972910488"/>
                    </a:ext>
                  </a:extLst>
                </a:gridCol>
                <a:gridCol w="2413000">
                  <a:extLst>
                    <a:ext uri="{9D8B030D-6E8A-4147-A177-3AD203B41FA5}">
                      <a16:colId xmlns:a16="http://schemas.microsoft.com/office/drawing/2014/main" val="107363946"/>
                    </a:ext>
                  </a:extLst>
                </a:gridCol>
                <a:gridCol w="2413000">
                  <a:extLst>
                    <a:ext uri="{9D8B030D-6E8A-4147-A177-3AD203B41FA5}">
                      <a16:colId xmlns:a16="http://schemas.microsoft.com/office/drawing/2014/main" val="2091244531"/>
                    </a:ext>
                  </a:extLst>
                </a:gridCol>
              </a:tblGrid>
              <a:tr h="0">
                <a:tc gridSpan="3">
                  <a:txBody>
                    <a:bodyPr/>
                    <a:lstStyle/>
                    <a:p>
                      <a:r>
                        <a:rPr lang="en-US"/>
                        <a:t>Table 1 Diagnosis of diabetes insipidus using water deprivation</a:t>
                      </a:r>
                    </a:p>
                  </a:txBody>
                  <a:tcPr anchor="ctr">
                    <a:solidFill>
                      <a:srgbClr val="FAFAF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86006065"/>
                  </a:ext>
                </a:extLst>
              </a:tr>
              <a:tr h="0">
                <a:tc>
                  <a:txBody>
                    <a:bodyPr/>
                    <a:lstStyle/>
                    <a:p>
                      <a:pPr algn="l" fontAlgn="t"/>
                      <a:r>
                        <a:rPr lang="en-US">
                          <a:effectLst/>
                        </a:rPr>
                        <a:t>Test</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B w="9525" cap="flat" cmpd="sng" algn="ctr">
                      <a:solidFill>
                        <a:srgbClr val="DEDEDE"/>
                      </a:solidFill>
                      <a:prstDash val="solid"/>
                      <a:round/>
                      <a:headEnd type="none" w="med" len="med"/>
                      <a:tailEnd type="none" w="med" len="med"/>
                    </a:lnB>
                    <a:solidFill>
                      <a:srgbClr val="F0F0F0"/>
                    </a:solidFill>
                  </a:tcPr>
                </a:tc>
                <a:tc>
                  <a:txBody>
                    <a:bodyPr/>
                    <a:lstStyle/>
                    <a:p>
                      <a:pPr algn="l" fontAlgn="t"/>
                      <a:r>
                        <a:rPr lang="en-US">
                          <a:effectLst/>
                        </a:rPr>
                        <a:t>Central DI</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tc>
                  <a:txBody>
                    <a:bodyPr/>
                    <a:lstStyle/>
                    <a:p>
                      <a:pPr algn="l" fontAlgn="t"/>
                      <a:r>
                        <a:rPr lang="en-US">
                          <a:effectLst/>
                        </a:rPr>
                        <a:t>Nephrogenic DI</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965301999"/>
                  </a:ext>
                </a:extLst>
              </a:tr>
              <a:tr h="0">
                <a:tc>
                  <a:txBody>
                    <a:bodyPr/>
                    <a:lstStyle/>
                    <a:p>
                      <a:pPr algn="l" fontAlgn="t"/>
                      <a:r>
                        <a:rPr lang="en-US">
                          <a:effectLst/>
                        </a:rPr>
                        <a:t>Water-deprived plasma osmolality</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tc>
                  <a:txBody>
                    <a:bodyPr/>
                    <a:lstStyle/>
                    <a:p>
                      <a:pPr algn="l" fontAlgn="t"/>
                      <a:r>
                        <a:rPr lang="en-US">
                          <a:effectLst/>
                        </a:rPr>
                        <a:t>↑</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tc>
                  <a:txBody>
                    <a:bodyPr/>
                    <a:lstStyle/>
                    <a:p>
                      <a:pPr algn="l" fontAlgn="t"/>
                      <a:r>
                        <a:rPr lang="en-US">
                          <a:effectLst/>
                        </a:rPr>
                        <a:t>↑</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2810285616"/>
                  </a:ext>
                </a:extLst>
              </a:tr>
              <a:tr h="0">
                <a:tc>
                  <a:txBody>
                    <a:bodyPr/>
                    <a:lstStyle/>
                    <a:p>
                      <a:pPr algn="l" fontAlgn="t"/>
                      <a:r>
                        <a:rPr lang="en-US">
                          <a:effectLst/>
                        </a:rPr>
                        <a:t>Water-deprived urine osmolality</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tc>
                  <a:txBody>
                    <a:bodyPr/>
                    <a:lstStyle/>
                    <a:p>
                      <a:pPr algn="l" fontAlgn="t"/>
                      <a:r>
                        <a:rPr lang="en-US">
                          <a:effectLst/>
                        </a:rPr>
                        <a:t>↓</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tc>
                  <a:txBody>
                    <a:bodyPr/>
                    <a:lstStyle/>
                    <a:p>
                      <a:pPr algn="l" fontAlgn="t"/>
                      <a:r>
                        <a:rPr lang="en-US">
                          <a:effectLst/>
                        </a:rPr>
                        <a:t>↓</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783258348"/>
                  </a:ext>
                </a:extLst>
              </a:tr>
              <a:tr h="0">
                <a:tc>
                  <a:txBody>
                    <a:bodyPr/>
                    <a:lstStyle/>
                    <a:p>
                      <a:pPr algn="l" fontAlgn="t"/>
                      <a:r>
                        <a:rPr lang="en-US">
                          <a:effectLst/>
                        </a:rPr>
                        <a:t>Urine osmolality after DDAVP</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tc>
                  <a:txBody>
                    <a:bodyPr/>
                    <a:lstStyle/>
                    <a:p>
                      <a:pPr algn="l" fontAlgn="t"/>
                      <a:r>
                        <a:rPr lang="en-US">
                          <a:effectLst/>
                        </a:rPr>
                        <a:t>↑</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tc>
                  <a:txBody>
                    <a:bodyPr/>
                    <a:lstStyle/>
                    <a:p>
                      <a:pPr algn="l" fontAlgn="t"/>
                      <a:r>
                        <a:rPr lang="en-US">
                          <a:effectLst/>
                        </a:rPr>
                        <a:t>No change</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436378174"/>
                  </a:ext>
                </a:extLst>
              </a:tr>
              <a:tr h="0">
                <a:tc>
                  <a:txBody>
                    <a:bodyPr/>
                    <a:lstStyle/>
                    <a:p>
                      <a:pPr algn="l" fontAlgn="t"/>
                      <a:r>
                        <a:rPr lang="en-US">
                          <a:effectLst/>
                        </a:rPr>
                        <a:t>Urine volume after DDAVP</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tc>
                  <a:txBody>
                    <a:bodyPr/>
                    <a:lstStyle/>
                    <a:p>
                      <a:pPr algn="l" fontAlgn="t"/>
                      <a:r>
                        <a:rPr lang="en-US">
                          <a:effectLst/>
                        </a:rPr>
                        <a:t>↓</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tc>
                  <a:txBody>
                    <a:bodyPr/>
                    <a:lstStyle/>
                    <a:p>
                      <a:pPr algn="l" fontAlgn="t"/>
                      <a:r>
                        <a:rPr lang="en-US" dirty="0">
                          <a:effectLst/>
                        </a:rPr>
                        <a:t>No change</a:t>
                      </a:r>
                    </a:p>
                  </a:txBody>
                  <a:tcPr>
                    <a:lnL w="9525" cap="flat" cmpd="sng" algn="ctr">
                      <a:solidFill>
                        <a:srgbClr val="DEDEDE"/>
                      </a:solidFill>
                      <a:prstDash val="solid"/>
                      <a:round/>
                      <a:headEnd type="none" w="med" len="med"/>
                      <a:tailEnd type="none" w="med" len="med"/>
                    </a:lnL>
                    <a:lnR w="9525" cap="flat" cmpd="sng" algn="ctr">
                      <a:solidFill>
                        <a:srgbClr val="DEDEDE"/>
                      </a:solidFill>
                      <a:prstDash val="solid"/>
                      <a:round/>
                      <a:headEnd type="none" w="med" len="med"/>
                      <a:tailEnd type="none" w="med" len="med"/>
                    </a:lnR>
                    <a:lnT w="9525" cap="flat" cmpd="sng" algn="ctr">
                      <a:solidFill>
                        <a:srgbClr val="DEDEDE"/>
                      </a:solidFill>
                      <a:prstDash val="solid"/>
                      <a:round/>
                      <a:headEnd type="none" w="med" len="med"/>
                      <a:tailEnd type="none" w="med" len="med"/>
                    </a:lnT>
                    <a:lnB w="9525" cap="flat" cmpd="sng" algn="ctr">
                      <a:solidFill>
                        <a:srgbClr val="DEDEDE"/>
                      </a:solidFill>
                      <a:prstDash val="solid"/>
                      <a:round/>
                      <a:headEnd type="none" w="med" len="med"/>
                      <a:tailEnd type="none" w="med" len="med"/>
                    </a:lnB>
                    <a:solidFill>
                      <a:srgbClr val="F0F0F0"/>
                    </a:solidFill>
                  </a:tcPr>
                </a:tc>
                <a:extLst>
                  <a:ext uri="{0D108BD9-81ED-4DB2-BD59-A6C34878D82A}">
                    <a16:rowId xmlns:a16="http://schemas.microsoft.com/office/drawing/2014/main" val="1240534476"/>
                  </a:ext>
                </a:extLst>
              </a:tr>
            </a:tbl>
          </a:graphicData>
        </a:graphic>
      </p:graphicFrame>
    </p:spTree>
    <p:extLst>
      <p:ext uri="{BB962C8B-B14F-4D97-AF65-F5344CB8AC3E}">
        <p14:creationId xmlns:p14="http://schemas.microsoft.com/office/powerpoint/2010/main" val="36405966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B32B-047D-2CFC-1197-71C83FF92329}"/>
              </a:ext>
            </a:extLst>
          </p:cNvPr>
          <p:cNvSpPr>
            <a:spLocks noGrp="1"/>
          </p:cNvSpPr>
          <p:nvPr>
            <p:ph type="title"/>
          </p:nvPr>
        </p:nvSpPr>
        <p:spPr/>
        <p:txBody>
          <a:bodyPr/>
          <a:lstStyle/>
          <a:p>
            <a:r>
              <a:rPr lang="en-US" dirty="0"/>
              <a:t>Serum AVP and Co </a:t>
            </a:r>
            <a:r>
              <a:rPr lang="en-US" dirty="0" err="1"/>
              <a:t>peptin</a:t>
            </a:r>
          </a:p>
        </p:txBody>
      </p:sp>
      <p:pic>
        <p:nvPicPr>
          <p:cNvPr id="3" name="Picture 2" descr="A purple rectangular sign with white text&#10;&#10;AI-generated content may be incorrect.">
            <a:extLst>
              <a:ext uri="{FF2B5EF4-FFF2-40B4-BE49-F238E27FC236}">
                <a16:creationId xmlns:a16="http://schemas.microsoft.com/office/drawing/2014/main" id="{AC9749CB-8E6F-A841-EDF4-96D71E67F9B9}"/>
              </a:ext>
            </a:extLst>
          </p:cNvPr>
          <p:cNvPicPr>
            <a:picLocks noChangeAspect="1"/>
          </p:cNvPicPr>
          <p:nvPr/>
        </p:nvPicPr>
        <p:blipFill>
          <a:blip r:embed="rId2"/>
          <a:stretch>
            <a:fillRect/>
          </a:stretch>
        </p:blipFill>
        <p:spPr>
          <a:xfrm>
            <a:off x="2414588" y="2952750"/>
            <a:ext cx="7362825" cy="952500"/>
          </a:xfrm>
          <a:prstGeom prst="rect">
            <a:avLst/>
          </a:prstGeom>
        </p:spPr>
      </p:pic>
      <p:sp>
        <p:nvSpPr>
          <p:cNvPr id="4" name="TextBox 3">
            <a:extLst>
              <a:ext uri="{FF2B5EF4-FFF2-40B4-BE49-F238E27FC236}">
                <a16:creationId xmlns:a16="http://schemas.microsoft.com/office/drawing/2014/main" id="{D4CF8A1A-242E-D7F2-3398-5FBD112B0808}"/>
              </a:ext>
            </a:extLst>
          </p:cNvPr>
          <p:cNvSpPr txBox="1"/>
          <p:nvPr/>
        </p:nvSpPr>
        <p:spPr>
          <a:xfrm>
            <a:off x="2666930" y="2060432"/>
            <a:ext cx="599020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Copeptin is secreted in equimolar amounts with AVP from posterior pituitary in response to </a:t>
            </a:r>
            <a:r>
              <a:rPr lang="en-US" dirty="0" err="1"/>
              <a:t>osmo</a:t>
            </a:r>
            <a:r>
              <a:rPr lang="en-US" dirty="0"/>
              <a:t> and baroreceptor stimuli</a:t>
            </a:r>
          </a:p>
        </p:txBody>
      </p:sp>
    </p:spTree>
    <p:extLst>
      <p:ext uri="{BB962C8B-B14F-4D97-AF65-F5344CB8AC3E}">
        <p14:creationId xmlns:p14="http://schemas.microsoft.com/office/powerpoint/2010/main" val="37555962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A50B-E2B8-8ECB-A683-58E21B37448A}"/>
              </a:ext>
            </a:extLst>
          </p:cNvPr>
          <p:cNvSpPr>
            <a:spLocks noGrp="1"/>
          </p:cNvSpPr>
          <p:nvPr>
            <p:ph type="title"/>
          </p:nvPr>
        </p:nvSpPr>
        <p:spPr/>
        <p:txBody>
          <a:bodyPr/>
          <a:lstStyle/>
          <a:p>
            <a:r>
              <a:rPr lang="en-US" dirty="0"/>
              <a:t>Treatment of central DI </a:t>
            </a:r>
          </a:p>
        </p:txBody>
      </p:sp>
      <p:sp>
        <p:nvSpPr>
          <p:cNvPr id="3" name="Content Placeholder 2">
            <a:extLst>
              <a:ext uri="{FF2B5EF4-FFF2-40B4-BE49-F238E27FC236}">
                <a16:creationId xmlns:a16="http://schemas.microsoft.com/office/drawing/2014/main" id="{5636C8F1-5C24-B243-374E-C119C8223FA2}"/>
              </a:ext>
            </a:extLst>
          </p:cNvPr>
          <p:cNvSpPr>
            <a:spLocks noGrp="1"/>
          </p:cNvSpPr>
          <p:nvPr>
            <p:ph idx="1"/>
          </p:nvPr>
        </p:nvSpPr>
        <p:spPr/>
        <p:txBody>
          <a:bodyPr vert="horz" lIns="91440" tIns="45720" rIns="91440" bIns="45720" rtlCol="0" anchor="t">
            <a:normAutofit lnSpcReduction="10000"/>
          </a:bodyPr>
          <a:lstStyle/>
          <a:p>
            <a:r>
              <a:rPr lang="en-US" dirty="0">
                <a:solidFill>
                  <a:srgbClr val="FF0000"/>
                </a:solidFill>
                <a:latin typeface="Aptos"/>
              </a:rPr>
              <a:t>Fluid intake as dictated by thirst</a:t>
            </a:r>
          </a:p>
          <a:p>
            <a:endParaRPr lang="en-US" sz="2000" dirty="0">
              <a:solidFill>
                <a:srgbClr val="FF0000"/>
              </a:solidFill>
              <a:latin typeface="Merriweather"/>
            </a:endParaRPr>
          </a:p>
          <a:p>
            <a:r>
              <a:rPr lang="en-US" sz="2000" dirty="0">
                <a:solidFill>
                  <a:srgbClr val="2A2A2A"/>
                </a:solidFill>
                <a:latin typeface="Merriweather"/>
              </a:rPr>
              <a:t>AVP is a nonapeptide hormone, with a short plasma half-life of 5 to 10 minutes. The main physiological action to induce </a:t>
            </a:r>
            <a:r>
              <a:rPr lang="en-US" sz="2000" err="1">
                <a:solidFill>
                  <a:srgbClr val="2A2A2A"/>
                </a:solidFill>
                <a:latin typeface="Merriweather"/>
              </a:rPr>
              <a:t>postreceptor</a:t>
            </a:r>
            <a:r>
              <a:rPr lang="en-US" sz="2000" dirty="0">
                <a:solidFill>
                  <a:srgbClr val="2A2A2A"/>
                </a:solidFill>
                <a:latin typeface="Merriweather"/>
              </a:rPr>
              <a:t> synthesis of aquaporin 2 water channels and the insertion of preformed aquaporin 2 water channels into the apical cell membrane is therefore very transient </a:t>
            </a:r>
            <a:endParaRPr lang="en-US" sz="2000">
              <a:solidFill>
                <a:srgbClr val="000000"/>
              </a:solidFill>
              <a:latin typeface="Aptos" panose="020B0004020202020204"/>
            </a:endParaRPr>
          </a:p>
          <a:p>
            <a:r>
              <a:rPr lang="en-US" sz="2000" dirty="0">
                <a:solidFill>
                  <a:srgbClr val="2A2A2A"/>
                </a:solidFill>
                <a:latin typeface="Merriweather"/>
              </a:rPr>
              <a:t>AVP is therefore unsuitable for therapeutic use in the management of CDI, but the synthetic analog desmopressin (</a:t>
            </a:r>
            <a:r>
              <a:rPr lang="en-US" sz="2000" err="1">
                <a:solidFill>
                  <a:srgbClr val="2A2A2A"/>
                </a:solidFill>
                <a:latin typeface="Merriweather"/>
              </a:rPr>
              <a:t>dDAVP</a:t>
            </a:r>
            <a:r>
              <a:rPr lang="en-US" sz="2000" dirty="0">
                <a:solidFill>
                  <a:srgbClr val="2A2A2A"/>
                </a:solidFill>
                <a:latin typeface="Merriweather"/>
              </a:rPr>
              <a:t> [</a:t>
            </a:r>
            <a:r>
              <a:rPr lang="en-US" sz="2000" err="1">
                <a:solidFill>
                  <a:srgbClr val="2A2A2A"/>
                </a:solidFill>
                <a:latin typeface="Merriweather"/>
              </a:rPr>
              <a:t>deamino</a:t>
            </a:r>
            <a:r>
              <a:rPr lang="en-US" sz="2000" dirty="0">
                <a:solidFill>
                  <a:srgbClr val="2A2A2A"/>
                </a:solidFill>
                <a:latin typeface="Merriweather"/>
              </a:rPr>
              <a:t> D-arginine vasopressin, desmopressin]) has been modified  to prolong half-life from 5 minutes to 6 to 8 hours and to eradicate the vasopressor activity. This allows </a:t>
            </a:r>
            <a:r>
              <a:rPr lang="en-US" sz="2000" err="1">
                <a:solidFill>
                  <a:srgbClr val="2A2A2A"/>
                </a:solidFill>
                <a:latin typeface="Merriweather"/>
              </a:rPr>
              <a:t>dDAVP</a:t>
            </a:r>
            <a:r>
              <a:rPr lang="en-US" sz="2000" dirty="0">
                <a:solidFill>
                  <a:srgbClr val="2A2A2A"/>
                </a:solidFill>
                <a:latin typeface="Merriweather"/>
              </a:rPr>
              <a:t> to be administered twice or 3 times daily. </a:t>
            </a:r>
            <a:endParaRPr lang="en-US" sz="2000" dirty="0">
              <a:solidFill>
                <a:srgbClr val="000000"/>
              </a:solidFill>
              <a:latin typeface="Aptos" panose="020B0004020202020204"/>
            </a:endParaRPr>
          </a:p>
          <a:p>
            <a:r>
              <a:rPr lang="en-US" sz="2000" dirty="0">
                <a:solidFill>
                  <a:srgbClr val="2A2A2A"/>
                </a:solidFill>
                <a:latin typeface="Merriweather"/>
              </a:rPr>
              <a:t> </a:t>
            </a:r>
            <a:r>
              <a:rPr lang="en-US" sz="2000" dirty="0" err="1">
                <a:solidFill>
                  <a:srgbClr val="2A2A2A"/>
                </a:solidFill>
                <a:latin typeface="Merriweather"/>
              </a:rPr>
              <a:t>dDAVP</a:t>
            </a:r>
            <a:r>
              <a:rPr lang="en-US" sz="2000" dirty="0">
                <a:solidFill>
                  <a:srgbClr val="2A2A2A"/>
                </a:solidFill>
                <a:latin typeface="Merriweather"/>
              </a:rPr>
              <a:t> is available in a parenteral ( hospital setting), oral ( o.1 to 0.2 mg tab- start at bedtime)</a:t>
            </a:r>
            <a:endParaRPr lang="en-US" dirty="0">
              <a:solidFill>
                <a:srgbClr val="000000"/>
              </a:solidFill>
              <a:latin typeface="Aptos"/>
            </a:endParaRPr>
          </a:p>
          <a:p>
            <a:pPr marL="0" indent="0">
              <a:buNone/>
            </a:pPr>
            <a:r>
              <a:rPr lang="en-US" sz="2000" dirty="0">
                <a:solidFill>
                  <a:srgbClr val="2A2A2A"/>
                </a:solidFill>
                <a:latin typeface="Merriweather"/>
              </a:rPr>
              <a:t>and nasal spray.</a:t>
            </a:r>
            <a:endParaRPr lang="en-US" sz="2000" dirty="0"/>
          </a:p>
        </p:txBody>
      </p:sp>
    </p:spTree>
    <p:extLst>
      <p:ext uri="{BB962C8B-B14F-4D97-AF65-F5344CB8AC3E}">
        <p14:creationId xmlns:p14="http://schemas.microsoft.com/office/powerpoint/2010/main" val="33732450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D599D-E85A-B8A1-C5AD-BC8E991E1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51C2B4-23A2-E675-CB07-4B52CB9D3CB2}"/>
              </a:ext>
            </a:extLst>
          </p:cNvPr>
          <p:cNvSpPr>
            <a:spLocks noGrp="1"/>
          </p:cNvSpPr>
          <p:nvPr>
            <p:ph type="title"/>
          </p:nvPr>
        </p:nvSpPr>
        <p:spPr/>
        <p:txBody>
          <a:bodyPr/>
          <a:lstStyle/>
          <a:p>
            <a:r>
              <a:rPr lang="en-US" dirty="0"/>
              <a:t>Excess pituitary hormones</a:t>
            </a:r>
          </a:p>
        </p:txBody>
      </p:sp>
      <p:pic>
        <p:nvPicPr>
          <p:cNvPr id="4" name="Content Placeholder 3" descr="A screenshot of a medical chart&#10;&#10;AI-generated content may be incorrect.">
            <a:extLst>
              <a:ext uri="{FF2B5EF4-FFF2-40B4-BE49-F238E27FC236}">
                <a16:creationId xmlns:a16="http://schemas.microsoft.com/office/drawing/2014/main" id="{876499DE-925A-21B2-DB9B-DFD69AFB7D3F}"/>
              </a:ext>
            </a:extLst>
          </p:cNvPr>
          <p:cNvPicPr>
            <a:picLocks noGrp="1" noChangeAspect="1"/>
          </p:cNvPicPr>
          <p:nvPr>
            <p:ph idx="1"/>
          </p:nvPr>
        </p:nvPicPr>
        <p:blipFill>
          <a:blip r:embed="rId2"/>
          <a:stretch>
            <a:fillRect/>
          </a:stretch>
        </p:blipFill>
        <p:spPr>
          <a:xfrm>
            <a:off x="0" y="1994051"/>
            <a:ext cx="7415634" cy="4165439"/>
          </a:xfrm>
        </p:spPr>
      </p:pic>
      <p:pic>
        <p:nvPicPr>
          <p:cNvPr id="7" name="Picture 6" descr="Richard Kiel, best known as Bond villain Jaws, dies at 74 | Globalnews.ca">
            <a:extLst>
              <a:ext uri="{FF2B5EF4-FFF2-40B4-BE49-F238E27FC236}">
                <a16:creationId xmlns:a16="http://schemas.microsoft.com/office/drawing/2014/main" id="{205F98DF-8B3C-C87D-03EA-AAA49D0B593D}"/>
              </a:ext>
            </a:extLst>
          </p:cNvPr>
          <p:cNvPicPr>
            <a:picLocks noChangeAspect="1"/>
          </p:cNvPicPr>
          <p:nvPr/>
        </p:nvPicPr>
        <p:blipFill>
          <a:blip r:embed="rId3"/>
          <a:stretch>
            <a:fillRect/>
          </a:stretch>
        </p:blipFill>
        <p:spPr>
          <a:xfrm>
            <a:off x="7198368" y="2619013"/>
            <a:ext cx="3705225" cy="2447925"/>
          </a:xfrm>
          <a:prstGeom prst="rect">
            <a:avLst/>
          </a:prstGeom>
        </p:spPr>
      </p:pic>
    </p:spTree>
    <p:extLst>
      <p:ext uri="{BB962C8B-B14F-4D97-AF65-F5344CB8AC3E}">
        <p14:creationId xmlns:p14="http://schemas.microsoft.com/office/powerpoint/2010/main" val="24695953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85270-7776-98E1-5FEC-DE9ACBEFE9DD}"/>
              </a:ext>
            </a:extLst>
          </p:cNvPr>
          <p:cNvSpPr>
            <a:spLocks noGrp="1"/>
          </p:cNvSpPr>
          <p:nvPr>
            <p:ph type="title"/>
          </p:nvPr>
        </p:nvSpPr>
        <p:spPr/>
        <p:txBody>
          <a:bodyPr/>
          <a:lstStyle/>
          <a:p>
            <a:r>
              <a:rPr lang="en-US" dirty="0"/>
              <a:t>Acromegaly ( GH excess in adult)</a:t>
            </a:r>
          </a:p>
        </p:txBody>
      </p:sp>
      <p:sp>
        <p:nvSpPr>
          <p:cNvPr id="3" name="Content Placeholder 2">
            <a:extLst>
              <a:ext uri="{FF2B5EF4-FFF2-40B4-BE49-F238E27FC236}">
                <a16:creationId xmlns:a16="http://schemas.microsoft.com/office/drawing/2014/main" id="{A913A508-9BAB-3AE2-D228-022E6633FE7B}"/>
              </a:ext>
            </a:extLst>
          </p:cNvPr>
          <p:cNvSpPr>
            <a:spLocks noGrp="1"/>
          </p:cNvSpPr>
          <p:nvPr>
            <p:ph sz="half" idx="1"/>
          </p:nvPr>
        </p:nvSpPr>
        <p:spPr/>
        <p:txBody>
          <a:bodyPr vert="horz" lIns="91440" tIns="45720" rIns="91440" bIns="45720" rtlCol="0" anchor="t">
            <a:normAutofit/>
          </a:bodyPr>
          <a:lstStyle/>
          <a:p>
            <a:r>
              <a:rPr lang="en-US"/>
              <a:t>Soft tissue/ bone growth</a:t>
            </a:r>
          </a:p>
          <a:p>
            <a:r>
              <a:rPr lang="en-US" dirty="0"/>
              <a:t>Thick eyebrows, nasolabial fold, prognathism, gaps between teeth, change in ring / shoe size, oily skin</a:t>
            </a:r>
          </a:p>
        </p:txBody>
      </p:sp>
      <p:sp>
        <p:nvSpPr>
          <p:cNvPr id="4" name="Content Placeholder 3">
            <a:extLst>
              <a:ext uri="{FF2B5EF4-FFF2-40B4-BE49-F238E27FC236}">
                <a16:creationId xmlns:a16="http://schemas.microsoft.com/office/drawing/2014/main" id="{46589B61-3AF9-37D7-1E0F-C8503DF93124}"/>
              </a:ext>
            </a:extLst>
          </p:cNvPr>
          <p:cNvSpPr>
            <a:spLocks noGrp="1"/>
          </p:cNvSpPr>
          <p:nvPr>
            <p:ph sz="half" idx="2"/>
          </p:nvPr>
        </p:nvSpPr>
        <p:spPr/>
        <p:txBody>
          <a:bodyPr vert="horz" lIns="91440" tIns="45720" rIns="91440" bIns="45720" rtlCol="0" anchor="t">
            <a:normAutofit/>
          </a:bodyPr>
          <a:lstStyle/>
          <a:p>
            <a:r>
              <a:rPr lang="en-US" dirty="0"/>
              <a:t>Increased risk oof </a:t>
            </a:r>
          </a:p>
          <a:p>
            <a:r>
              <a:rPr lang="en-US" dirty="0"/>
              <a:t>HTN</a:t>
            </a:r>
          </a:p>
          <a:p>
            <a:r>
              <a:rPr lang="en-US" dirty="0"/>
              <a:t>DM</a:t>
            </a:r>
          </a:p>
          <a:p>
            <a:r>
              <a:rPr lang="en-US" dirty="0"/>
              <a:t>Sleep apnea</a:t>
            </a:r>
          </a:p>
          <a:p>
            <a:r>
              <a:rPr lang="en-US" dirty="0"/>
              <a:t>Cancer- colon ca </a:t>
            </a:r>
          </a:p>
          <a:p>
            <a:r>
              <a:rPr lang="en-US" dirty="0"/>
              <a:t>MI</a:t>
            </a:r>
          </a:p>
          <a:p>
            <a:r>
              <a:rPr lang="en-US" dirty="0"/>
              <a:t>DJD- arthritis</a:t>
            </a:r>
          </a:p>
          <a:p>
            <a:r>
              <a:rPr lang="en-US" dirty="0"/>
              <a:t>Dental issues</a:t>
            </a:r>
          </a:p>
        </p:txBody>
      </p:sp>
    </p:spTree>
    <p:extLst>
      <p:ext uri="{BB962C8B-B14F-4D97-AF65-F5344CB8AC3E}">
        <p14:creationId xmlns:p14="http://schemas.microsoft.com/office/powerpoint/2010/main" val="20446192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B509C-09FB-9C0B-3DAD-C1E255F928DE}"/>
              </a:ext>
            </a:extLst>
          </p:cNvPr>
          <p:cNvSpPr>
            <a:spLocks noGrp="1"/>
          </p:cNvSpPr>
          <p:nvPr>
            <p:ph type="title"/>
          </p:nvPr>
        </p:nvSpPr>
        <p:spPr/>
        <p:txBody>
          <a:bodyPr/>
          <a:lstStyle/>
          <a:p>
            <a:r>
              <a:rPr lang="en-US" dirty="0"/>
              <a:t>Prolactinomas </a:t>
            </a:r>
          </a:p>
        </p:txBody>
      </p:sp>
      <p:sp>
        <p:nvSpPr>
          <p:cNvPr id="3" name="Content Placeholder 2">
            <a:extLst>
              <a:ext uri="{FF2B5EF4-FFF2-40B4-BE49-F238E27FC236}">
                <a16:creationId xmlns:a16="http://schemas.microsoft.com/office/drawing/2014/main" id="{783425B9-6E89-BF41-4D79-DF2FAA3AC945}"/>
              </a:ext>
            </a:extLst>
          </p:cNvPr>
          <p:cNvSpPr>
            <a:spLocks noGrp="1"/>
          </p:cNvSpPr>
          <p:nvPr>
            <p:ph idx="1"/>
          </p:nvPr>
        </p:nvSpPr>
        <p:spPr/>
        <p:txBody>
          <a:bodyPr vert="horz" lIns="91440" tIns="45720" rIns="91440" bIns="45720" rtlCol="0" anchor="t">
            <a:normAutofit/>
          </a:bodyPr>
          <a:lstStyle/>
          <a:p>
            <a:endParaRPr lang="en-US" sz="1800" dirty="0">
              <a:latin typeface="Calibri"/>
              <a:ea typeface="Calibri"/>
              <a:cs typeface="Calibri"/>
            </a:endParaRPr>
          </a:p>
          <a:p>
            <a:r>
              <a:rPr lang="en-US" sz="1800" dirty="0">
                <a:latin typeface="Calibri"/>
                <a:ea typeface="Calibri"/>
                <a:cs typeface="Calibri"/>
              </a:rPr>
              <a:t> The majority of patients with hyperprolactinemia do not have prolactinomas. Can be induced by medications/drugs that block dopamine (anti-psychotics) or suprasellar lesions that compress the hypothalamus (decrease in dopamine reaching the lactotrophs).</a:t>
            </a:r>
            <a:endParaRPr lang="en-US" sz="1800" dirty="0"/>
          </a:p>
          <a:p>
            <a:pPr marL="0" indent="0">
              <a:buNone/>
            </a:pPr>
            <a:br>
              <a:rPr lang="en-US" dirty="0"/>
            </a:br>
            <a:endParaRPr lang="en-US" dirty="0"/>
          </a:p>
        </p:txBody>
      </p:sp>
      <p:sp>
        <p:nvSpPr>
          <p:cNvPr id="4" name="TextBox 3">
            <a:extLst>
              <a:ext uri="{FF2B5EF4-FFF2-40B4-BE49-F238E27FC236}">
                <a16:creationId xmlns:a16="http://schemas.microsoft.com/office/drawing/2014/main" id="{223C65A4-BCEB-A7BF-06E4-12DA7B94C1F9}"/>
              </a:ext>
            </a:extLst>
          </p:cNvPr>
          <p:cNvSpPr txBox="1"/>
          <p:nvPr/>
        </p:nvSpPr>
        <p:spPr>
          <a:xfrm>
            <a:off x="7388506" y="4427316"/>
            <a:ext cx="29515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TSH/ TRH.           Dopamine</a:t>
            </a:r>
          </a:p>
        </p:txBody>
      </p:sp>
      <p:sp>
        <p:nvSpPr>
          <p:cNvPr id="5" name="TextBox 4">
            <a:extLst>
              <a:ext uri="{FF2B5EF4-FFF2-40B4-BE49-F238E27FC236}">
                <a16:creationId xmlns:a16="http://schemas.microsoft.com/office/drawing/2014/main" id="{E1B02BD9-ECC7-8125-2D27-71D13F9D4C21}"/>
              </a:ext>
            </a:extLst>
          </p:cNvPr>
          <p:cNvSpPr txBox="1"/>
          <p:nvPr/>
        </p:nvSpPr>
        <p:spPr>
          <a:xfrm>
            <a:off x="7764683" y="5488329"/>
            <a:ext cx="274898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Prolactin</a:t>
            </a:r>
          </a:p>
        </p:txBody>
      </p:sp>
      <p:cxnSp>
        <p:nvCxnSpPr>
          <p:cNvPr id="6" name="Straight Arrow Connector 5">
            <a:extLst>
              <a:ext uri="{FF2B5EF4-FFF2-40B4-BE49-F238E27FC236}">
                <a16:creationId xmlns:a16="http://schemas.microsoft.com/office/drawing/2014/main" id="{0E0ECE24-24DF-C53B-CE36-A085689C5F7C}"/>
              </a:ext>
            </a:extLst>
          </p:cNvPr>
          <p:cNvCxnSpPr/>
          <p:nvPr/>
        </p:nvCxnSpPr>
        <p:spPr>
          <a:xfrm>
            <a:off x="8034759" y="4822784"/>
            <a:ext cx="9645" cy="5112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26B76DC4-9701-FADF-9FC3-7C98B35DB6AA}"/>
              </a:ext>
            </a:extLst>
          </p:cNvPr>
          <p:cNvCxnSpPr/>
          <p:nvPr/>
        </p:nvCxnSpPr>
        <p:spPr>
          <a:xfrm>
            <a:off x="9299173" y="4832671"/>
            <a:ext cx="482" cy="5013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CED643B-A5BB-4F97-8DE1-95C8732E8E99}"/>
              </a:ext>
            </a:extLst>
          </p:cNvPr>
          <p:cNvSpPr txBox="1"/>
          <p:nvPr/>
        </p:nvSpPr>
        <p:spPr>
          <a:xfrm>
            <a:off x="8169797" y="4986759"/>
            <a:ext cx="11767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_</a:t>
            </a:r>
          </a:p>
        </p:txBody>
      </p:sp>
    </p:spTree>
    <p:extLst>
      <p:ext uri="{BB962C8B-B14F-4D97-AF65-F5344CB8AC3E}">
        <p14:creationId xmlns:p14="http://schemas.microsoft.com/office/powerpoint/2010/main" val="21607698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3D64797-F833-A3F8-1791-217B4FD6C8BF}"/>
              </a:ext>
            </a:extLst>
          </p:cNvPr>
          <p:cNvGraphicFramePr>
            <a:graphicFrameLocks noGrp="1"/>
          </p:cNvGraphicFramePr>
          <p:nvPr>
            <p:extLst>
              <p:ext uri="{D42A27DB-BD31-4B8C-83A1-F6EECF244321}">
                <p14:modId xmlns:p14="http://schemas.microsoft.com/office/powerpoint/2010/main" val="96608671"/>
              </p:ext>
            </p:extLst>
          </p:nvPr>
        </p:nvGraphicFramePr>
        <p:xfrm>
          <a:off x="887392" y="0"/>
          <a:ext cx="8584524" cy="7209209"/>
        </p:xfrm>
        <a:graphic>
          <a:graphicData uri="http://schemas.openxmlformats.org/drawingml/2006/table">
            <a:tbl>
              <a:tblPr bandRow="1">
                <a:tableStyleId>{5C22544A-7EE6-4342-B048-85BDC9FD1C3A}</a:tableStyleId>
              </a:tblPr>
              <a:tblGrid>
                <a:gridCol w="2861508">
                  <a:extLst>
                    <a:ext uri="{9D8B030D-6E8A-4147-A177-3AD203B41FA5}">
                      <a16:colId xmlns:a16="http://schemas.microsoft.com/office/drawing/2014/main" val="122481175"/>
                    </a:ext>
                  </a:extLst>
                </a:gridCol>
                <a:gridCol w="2861508">
                  <a:extLst>
                    <a:ext uri="{9D8B030D-6E8A-4147-A177-3AD203B41FA5}">
                      <a16:colId xmlns:a16="http://schemas.microsoft.com/office/drawing/2014/main" val="3497496102"/>
                    </a:ext>
                  </a:extLst>
                </a:gridCol>
                <a:gridCol w="2861508">
                  <a:extLst>
                    <a:ext uri="{9D8B030D-6E8A-4147-A177-3AD203B41FA5}">
                      <a16:colId xmlns:a16="http://schemas.microsoft.com/office/drawing/2014/main" val="2341966614"/>
                    </a:ext>
                  </a:extLst>
                </a:gridCol>
              </a:tblGrid>
              <a:tr h="334245">
                <a:tc>
                  <a:txBody>
                    <a:bodyPr/>
                    <a:lstStyle/>
                    <a:p>
                      <a:r>
                        <a:rPr lang="en-US" b="1" dirty="0"/>
                        <a:t>Category</a:t>
                      </a:r>
                      <a:endParaRPr lang="en-US" dirty="0"/>
                    </a:p>
                  </a:txBody>
                  <a:tcPr anchor="ctr">
                    <a:lnL>
                      <a:noFill/>
                    </a:lnL>
                    <a:lnR>
                      <a:noFill/>
                    </a:lnR>
                    <a:lnT>
                      <a:noFill/>
                    </a:lnT>
                    <a:lnB>
                      <a:noFill/>
                    </a:lnB>
                    <a:noFill/>
                  </a:tcPr>
                </a:tc>
                <a:tc>
                  <a:txBody>
                    <a:bodyPr/>
                    <a:lstStyle/>
                    <a:p>
                      <a:r>
                        <a:rPr lang="en-US" b="1" dirty="0"/>
                        <a:t>Cause</a:t>
                      </a:r>
                      <a:endParaRPr lang="en-US" dirty="0"/>
                    </a:p>
                  </a:txBody>
                  <a:tcPr anchor="ctr">
                    <a:lnL>
                      <a:noFill/>
                    </a:lnL>
                    <a:lnR>
                      <a:noFill/>
                    </a:lnR>
                    <a:lnT>
                      <a:noFill/>
                    </a:lnT>
                    <a:lnB>
                      <a:noFill/>
                    </a:lnB>
                    <a:noFill/>
                  </a:tcPr>
                </a:tc>
                <a:tc>
                  <a:txBody>
                    <a:bodyPr/>
                    <a:lstStyle/>
                    <a:p>
                      <a:r>
                        <a:rPr lang="en-US" b="1" dirty="0"/>
                        <a:t>Notes</a:t>
                      </a:r>
                      <a:endParaRPr lang="en-US" dirty="0"/>
                    </a:p>
                  </a:txBody>
                  <a:tcPr anchor="ctr">
                    <a:lnL>
                      <a:noFill/>
                    </a:lnL>
                    <a:lnR>
                      <a:noFill/>
                    </a:lnR>
                    <a:lnT>
                      <a:noFill/>
                    </a:lnT>
                    <a:lnB>
                      <a:noFill/>
                    </a:lnB>
                    <a:noFill/>
                  </a:tcPr>
                </a:tc>
                <a:extLst>
                  <a:ext uri="{0D108BD9-81ED-4DB2-BD59-A6C34878D82A}">
                    <a16:rowId xmlns:a16="http://schemas.microsoft.com/office/drawing/2014/main" val="3394063062"/>
                  </a:ext>
                </a:extLst>
              </a:tr>
              <a:tr h="587188">
                <a:tc>
                  <a:txBody>
                    <a:bodyPr/>
                    <a:lstStyle/>
                    <a:p>
                      <a:r>
                        <a:rPr lang="en-US" b="1" dirty="0"/>
                        <a:t>Physiological</a:t>
                      </a:r>
                      <a:endParaRPr lang="en-US" dirty="0"/>
                    </a:p>
                  </a:txBody>
                  <a:tcPr anchor="ctr">
                    <a:lnL>
                      <a:noFill/>
                    </a:lnL>
                    <a:lnR>
                      <a:noFill/>
                    </a:lnR>
                    <a:lnT>
                      <a:noFill/>
                    </a:lnT>
                    <a:lnB>
                      <a:noFill/>
                    </a:lnB>
                    <a:noFill/>
                  </a:tcPr>
                </a:tc>
                <a:tc>
                  <a:txBody>
                    <a:bodyPr/>
                    <a:lstStyle/>
                    <a:p>
                      <a:r>
                        <a:rPr lang="en-US" dirty="0">
                          <a:solidFill>
                            <a:srgbClr val="FF0000"/>
                          </a:solidFill>
                        </a:rPr>
                        <a:t>Pregnancy</a:t>
                      </a:r>
                    </a:p>
                  </a:txBody>
                  <a:tcPr anchor="ctr">
                    <a:lnL>
                      <a:noFill/>
                    </a:lnL>
                    <a:lnR>
                      <a:noFill/>
                    </a:lnR>
                    <a:lnT>
                      <a:noFill/>
                    </a:lnT>
                    <a:lnB>
                      <a:noFill/>
                    </a:lnB>
                    <a:noFill/>
                  </a:tcPr>
                </a:tc>
                <a:tc>
                  <a:txBody>
                    <a:bodyPr/>
                    <a:lstStyle/>
                    <a:p>
                      <a:r>
                        <a:rPr lang="en-US" dirty="0"/>
                        <a:t>Natural increase during and after pregnancy</a:t>
                      </a:r>
                    </a:p>
                  </a:txBody>
                  <a:tcPr anchor="ctr">
                    <a:lnL>
                      <a:noFill/>
                    </a:lnL>
                    <a:lnR>
                      <a:noFill/>
                    </a:lnR>
                    <a:lnT>
                      <a:noFill/>
                    </a:lnT>
                    <a:lnB>
                      <a:noFill/>
                    </a:lnB>
                    <a:noFill/>
                  </a:tcPr>
                </a:tc>
                <a:extLst>
                  <a:ext uri="{0D108BD9-81ED-4DB2-BD59-A6C34878D82A}">
                    <a16:rowId xmlns:a16="http://schemas.microsoft.com/office/drawing/2014/main" val="1584050958"/>
                  </a:ext>
                </a:extLst>
              </a:tr>
              <a:tr h="587188">
                <a:tc>
                  <a:txBody>
                    <a:bodyPr/>
                    <a:lstStyle/>
                    <a:p>
                      <a:endParaRPr lang="en-US"/>
                    </a:p>
                  </a:txBody>
                  <a:tcPr anchor="ctr">
                    <a:lnL>
                      <a:noFill/>
                    </a:lnL>
                    <a:lnR>
                      <a:noFill/>
                    </a:lnR>
                    <a:lnT>
                      <a:noFill/>
                    </a:lnT>
                    <a:lnB>
                      <a:noFill/>
                    </a:lnB>
                    <a:noFill/>
                  </a:tcPr>
                </a:tc>
                <a:tc>
                  <a:txBody>
                    <a:bodyPr/>
                    <a:lstStyle/>
                    <a:p>
                      <a:r>
                        <a:rPr lang="en-US" dirty="0"/>
                        <a:t>Breastfeeding (lactation)</a:t>
                      </a:r>
                    </a:p>
                  </a:txBody>
                  <a:tcPr anchor="ctr">
                    <a:lnL>
                      <a:noFill/>
                    </a:lnL>
                    <a:lnR>
                      <a:noFill/>
                    </a:lnR>
                    <a:lnT>
                      <a:noFill/>
                    </a:lnT>
                    <a:lnB>
                      <a:noFill/>
                    </a:lnB>
                    <a:noFill/>
                  </a:tcPr>
                </a:tc>
                <a:tc>
                  <a:txBody>
                    <a:bodyPr/>
                    <a:lstStyle/>
                    <a:p>
                      <a:r>
                        <a:rPr lang="en-US" dirty="0"/>
                        <a:t>Stimulates prolactin secretion</a:t>
                      </a:r>
                    </a:p>
                  </a:txBody>
                  <a:tcPr anchor="ctr">
                    <a:lnL>
                      <a:noFill/>
                    </a:lnL>
                    <a:lnR>
                      <a:noFill/>
                    </a:lnR>
                    <a:lnT>
                      <a:noFill/>
                    </a:lnT>
                    <a:lnB>
                      <a:noFill/>
                    </a:lnB>
                    <a:noFill/>
                  </a:tcPr>
                </a:tc>
                <a:extLst>
                  <a:ext uri="{0D108BD9-81ED-4DB2-BD59-A6C34878D82A}">
                    <a16:rowId xmlns:a16="http://schemas.microsoft.com/office/drawing/2014/main" val="1409035939"/>
                  </a:ext>
                </a:extLst>
              </a:tr>
              <a:tr h="334245">
                <a:tc>
                  <a:txBody>
                    <a:bodyPr/>
                    <a:lstStyle/>
                    <a:p>
                      <a:endParaRPr lang="en-US"/>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extLst>
                  <a:ext uri="{0D108BD9-81ED-4DB2-BD59-A6C34878D82A}">
                    <a16:rowId xmlns:a16="http://schemas.microsoft.com/office/drawing/2014/main" val="590560147"/>
                  </a:ext>
                </a:extLst>
              </a:tr>
              <a:tr h="587188">
                <a:tc>
                  <a:txBody>
                    <a:bodyPr/>
                    <a:lstStyle/>
                    <a:p>
                      <a:endParaRPr lang="en-US"/>
                    </a:p>
                  </a:txBody>
                  <a:tcPr anchor="ctr">
                    <a:lnL>
                      <a:noFill/>
                    </a:lnL>
                    <a:lnR>
                      <a:noFill/>
                    </a:lnR>
                    <a:lnT>
                      <a:noFill/>
                    </a:lnT>
                    <a:lnB>
                      <a:noFill/>
                    </a:lnB>
                    <a:noFill/>
                  </a:tcPr>
                </a:tc>
                <a:tc>
                  <a:txBody>
                    <a:bodyPr/>
                    <a:lstStyle/>
                    <a:p>
                      <a:r>
                        <a:rPr lang="en-US" dirty="0"/>
                        <a:t>Sleep</a:t>
                      </a:r>
                    </a:p>
                  </a:txBody>
                  <a:tcPr anchor="ctr">
                    <a:lnL>
                      <a:noFill/>
                    </a:lnL>
                    <a:lnR>
                      <a:noFill/>
                    </a:lnR>
                    <a:lnT>
                      <a:noFill/>
                    </a:lnT>
                    <a:lnB>
                      <a:noFill/>
                    </a:lnB>
                    <a:noFill/>
                  </a:tcPr>
                </a:tc>
                <a:tc>
                  <a:txBody>
                    <a:bodyPr/>
                    <a:lstStyle/>
                    <a:p>
                      <a:r>
                        <a:rPr lang="en-US" dirty="0"/>
                        <a:t>Prolactin levels rise during sleep</a:t>
                      </a:r>
                    </a:p>
                  </a:txBody>
                  <a:tcPr anchor="ctr">
                    <a:lnL>
                      <a:noFill/>
                    </a:lnL>
                    <a:lnR>
                      <a:noFill/>
                    </a:lnR>
                    <a:lnT>
                      <a:noFill/>
                    </a:lnT>
                    <a:lnB>
                      <a:noFill/>
                    </a:lnB>
                    <a:noFill/>
                  </a:tcPr>
                </a:tc>
                <a:extLst>
                  <a:ext uri="{0D108BD9-81ED-4DB2-BD59-A6C34878D82A}">
                    <a16:rowId xmlns:a16="http://schemas.microsoft.com/office/drawing/2014/main" val="1675601190"/>
                  </a:ext>
                </a:extLst>
              </a:tr>
              <a:tr h="840131">
                <a:tc>
                  <a:txBody>
                    <a:bodyPr/>
                    <a:lstStyle/>
                    <a:p>
                      <a:endParaRPr lang="en-US"/>
                    </a:p>
                  </a:txBody>
                  <a:tcPr anchor="ctr">
                    <a:lnL>
                      <a:noFill/>
                    </a:lnL>
                    <a:lnR>
                      <a:noFill/>
                    </a:lnR>
                    <a:lnT>
                      <a:noFill/>
                    </a:lnT>
                    <a:lnB>
                      <a:noFill/>
                    </a:lnB>
                    <a:noFill/>
                  </a:tcPr>
                </a:tc>
                <a:tc>
                  <a:txBody>
                    <a:bodyPr/>
                    <a:lstStyle/>
                    <a:p>
                      <a:r>
                        <a:rPr lang="en-US" dirty="0"/>
                        <a:t>Exercise</a:t>
                      </a:r>
                    </a:p>
                  </a:txBody>
                  <a:tcPr anchor="ctr">
                    <a:lnL>
                      <a:noFill/>
                    </a:lnL>
                    <a:lnR>
                      <a:noFill/>
                    </a:lnR>
                    <a:lnT>
                      <a:noFill/>
                    </a:lnT>
                    <a:lnB>
                      <a:noFill/>
                    </a:lnB>
                    <a:noFill/>
                  </a:tcPr>
                </a:tc>
                <a:tc>
                  <a:txBody>
                    <a:bodyPr/>
                    <a:lstStyle/>
                    <a:p>
                      <a:r>
                        <a:rPr lang="en-US" dirty="0"/>
                        <a:t>Intense exercise can elevate prolactin temporarily</a:t>
                      </a:r>
                    </a:p>
                  </a:txBody>
                  <a:tcPr anchor="ctr">
                    <a:lnL>
                      <a:noFill/>
                    </a:lnL>
                    <a:lnR>
                      <a:noFill/>
                    </a:lnR>
                    <a:lnT>
                      <a:noFill/>
                    </a:lnT>
                    <a:lnB>
                      <a:noFill/>
                    </a:lnB>
                    <a:noFill/>
                  </a:tcPr>
                </a:tc>
                <a:extLst>
                  <a:ext uri="{0D108BD9-81ED-4DB2-BD59-A6C34878D82A}">
                    <a16:rowId xmlns:a16="http://schemas.microsoft.com/office/drawing/2014/main" val="321189078"/>
                  </a:ext>
                </a:extLst>
              </a:tr>
              <a:tr h="587188">
                <a:tc>
                  <a:txBody>
                    <a:bodyPr/>
                    <a:lstStyle/>
                    <a:p>
                      <a:r>
                        <a:rPr lang="en-US" b="1" dirty="0"/>
                        <a:t>Pharmacological</a:t>
                      </a:r>
                      <a:endParaRPr lang="en-US" dirty="0"/>
                    </a:p>
                  </a:txBody>
                  <a:tcPr anchor="ctr">
                    <a:lnL>
                      <a:noFill/>
                    </a:lnL>
                    <a:lnR>
                      <a:noFill/>
                    </a:lnR>
                    <a:lnT>
                      <a:noFill/>
                    </a:lnT>
                    <a:lnB>
                      <a:noFill/>
                    </a:lnB>
                    <a:noFill/>
                  </a:tcPr>
                </a:tc>
                <a:tc>
                  <a:txBody>
                    <a:bodyPr/>
                    <a:lstStyle/>
                    <a:p>
                      <a:r>
                        <a:rPr lang="en-US" dirty="0"/>
                        <a:t>Antipsychotics (e.g., risperidone, haloperidol)</a:t>
                      </a:r>
                    </a:p>
                  </a:txBody>
                  <a:tcPr anchor="ctr">
                    <a:lnL>
                      <a:noFill/>
                    </a:lnL>
                    <a:lnR>
                      <a:noFill/>
                    </a:lnR>
                    <a:lnT>
                      <a:noFill/>
                    </a:lnT>
                    <a:lnB>
                      <a:noFill/>
                    </a:lnB>
                    <a:noFill/>
                  </a:tcPr>
                </a:tc>
                <a:tc>
                  <a:txBody>
                    <a:bodyPr/>
                    <a:lstStyle/>
                    <a:p>
                      <a:r>
                        <a:rPr lang="en-US" dirty="0"/>
                        <a:t>Dopamine antagonists block prolactin inhibition</a:t>
                      </a:r>
                    </a:p>
                  </a:txBody>
                  <a:tcPr anchor="ctr">
                    <a:lnL>
                      <a:noFill/>
                    </a:lnL>
                    <a:lnR>
                      <a:noFill/>
                    </a:lnR>
                    <a:lnT>
                      <a:noFill/>
                    </a:lnT>
                    <a:lnB>
                      <a:noFill/>
                    </a:lnB>
                    <a:noFill/>
                  </a:tcPr>
                </a:tc>
                <a:extLst>
                  <a:ext uri="{0D108BD9-81ED-4DB2-BD59-A6C34878D82A}">
                    <a16:rowId xmlns:a16="http://schemas.microsoft.com/office/drawing/2014/main" val="213305471"/>
                  </a:ext>
                </a:extLst>
              </a:tr>
              <a:tr h="587188">
                <a:tc>
                  <a:txBody>
                    <a:bodyPr/>
                    <a:lstStyle/>
                    <a:p>
                      <a:endParaRPr lang="en-US"/>
                    </a:p>
                  </a:txBody>
                  <a:tcPr anchor="ctr">
                    <a:lnL>
                      <a:noFill/>
                    </a:lnL>
                    <a:lnR>
                      <a:noFill/>
                    </a:lnR>
                    <a:lnT>
                      <a:noFill/>
                    </a:lnT>
                    <a:lnB>
                      <a:noFill/>
                    </a:lnB>
                    <a:noFill/>
                  </a:tcPr>
                </a:tc>
                <a:tc>
                  <a:txBody>
                    <a:bodyPr/>
                    <a:lstStyle/>
                    <a:p>
                      <a:r>
                        <a:rPr lang="en-US" dirty="0"/>
                        <a:t>Antidepressants (e.g., SSRIs, tricyclics)</a:t>
                      </a:r>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extLst>
                  <a:ext uri="{0D108BD9-81ED-4DB2-BD59-A6C34878D82A}">
                    <a16:rowId xmlns:a16="http://schemas.microsoft.com/office/drawing/2014/main" val="1224765730"/>
                  </a:ext>
                </a:extLst>
              </a:tr>
              <a:tr h="840131">
                <a:tc>
                  <a:txBody>
                    <a:bodyPr/>
                    <a:lstStyle/>
                    <a:p>
                      <a:endParaRPr lang="en-US"/>
                    </a:p>
                  </a:txBody>
                  <a:tcPr anchor="ctr">
                    <a:lnL>
                      <a:noFill/>
                    </a:lnL>
                    <a:lnR>
                      <a:noFill/>
                    </a:lnR>
                    <a:lnT>
                      <a:noFill/>
                    </a:lnT>
                    <a:lnB>
                      <a:noFill/>
                    </a:lnB>
                    <a:noFill/>
                  </a:tcPr>
                </a:tc>
                <a:tc>
                  <a:txBody>
                    <a:bodyPr/>
                    <a:lstStyle/>
                    <a:p>
                      <a:r>
                        <a:rPr lang="en-US" dirty="0"/>
                        <a:t>Anti-emetics (e.g., metoclopramide, domperidone)</a:t>
                      </a:r>
                    </a:p>
                  </a:txBody>
                  <a:tcPr anchor="ctr">
                    <a:lnL>
                      <a:noFill/>
                    </a:lnL>
                    <a:lnR>
                      <a:noFill/>
                    </a:lnR>
                    <a:lnT>
                      <a:noFill/>
                    </a:lnT>
                    <a:lnB>
                      <a:noFill/>
                    </a:lnB>
                    <a:noFill/>
                  </a:tcPr>
                </a:tc>
                <a:tc>
                  <a:txBody>
                    <a:bodyPr/>
                    <a:lstStyle/>
                    <a:p>
                      <a:r>
                        <a:rPr lang="en-US" dirty="0"/>
                        <a:t>Dopamine antagonism increases prolactin</a:t>
                      </a:r>
                    </a:p>
                  </a:txBody>
                  <a:tcPr anchor="ctr">
                    <a:lnL>
                      <a:noFill/>
                    </a:lnL>
                    <a:lnR>
                      <a:noFill/>
                    </a:lnR>
                    <a:lnT>
                      <a:noFill/>
                    </a:lnT>
                    <a:lnB>
                      <a:noFill/>
                    </a:lnB>
                    <a:noFill/>
                  </a:tcPr>
                </a:tc>
                <a:extLst>
                  <a:ext uri="{0D108BD9-81ED-4DB2-BD59-A6C34878D82A}">
                    <a16:rowId xmlns:a16="http://schemas.microsoft.com/office/drawing/2014/main" val="1696839139"/>
                  </a:ext>
                </a:extLst>
              </a:tr>
              <a:tr h="587188">
                <a:tc>
                  <a:txBody>
                    <a:bodyPr/>
                    <a:lstStyle/>
                    <a:p>
                      <a:endParaRPr lang="en-US"/>
                    </a:p>
                  </a:txBody>
                  <a:tcPr anchor="ctr">
                    <a:lnL>
                      <a:noFill/>
                    </a:lnL>
                    <a:lnR>
                      <a:noFill/>
                    </a:lnR>
                    <a:lnT>
                      <a:noFill/>
                    </a:lnT>
                    <a:lnB>
                      <a:noFill/>
                    </a:lnB>
                    <a:noFill/>
                  </a:tcPr>
                </a:tc>
                <a:tc>
                  <a:txBody>
                    <a:bodyPr/>
                    <a:lstStyle/>
                    <a:p>
                      <a:r>
                        <a:rPr lang="en-US" dirty="0"/>
                        <a:t>Estrogens (e.g., oral contraceptives)</a:t>
                      </a:r>
                    </a:p>
                  </a:txBody>
                  <a:tcPr anchor="ctr">
                    <a:lnL>
                      <a:noFill/>
                    </a:lnL>
                    <a:lnR>
                      <a:noFill/>
                    </a:lnR>
                    <a:lnT>
                      <a:noFill/>
                    </a:lnT>
                    <a:lnB>
                      <a:noFill/>
                    </a:lnB>
                    <a:noFill/>
                  </a:tcPr>
                </a:tc>
                <a:tc>
                  <a:txBody>
                    <a:bodyPr/>
                    <a:lstStyle/>
                    <a:p>
                      <a:r>
                        <a:rPr lang="en-US" dirty="0"/>
                        <a:t>Estrogens stimulate prolactin secretion</a:t>
                      </a:r>
                    </a:p>
                  </a:txBody>
                  <a:tcPr anchor="ctr">
                    <a:lnL>
                      <a:noFill/>
                    </a:lnL>
                    <a:lnR>
                      <a:noFill/>
                    </a:lnR>
                    <a:lnT>
                      <a:noFill/>
                    </a:lnT>
                    <a:lnB>
                      <a:noFill/>
                    </a:lnB>
                    <a:noFill/>
                  </a:tcPr>
                </a:tc>
                <a:extLst>
                  <a:ext uri="{0D108BD9-81ED-4DB2-BD59-A6C34878D82A}">
                    <a16:rowId xmlns:a16="http://schemas.microsoft.com/office/drawing/2014/main" val="4138062549"/>
                  </a:ext>
                </a:extLst>
              </a:tr>
              <a:tr h="334245">
                <a:tc>
                  <a:txBody>
                    <a:bodyPr/>
                    <a:lstStyle/>
                    <a:p>
                      <a:endParaRPr lang="en-US"/>
                    </a:p>
                  </a:txBody>
                  <a:tcPr anchor="ctr">
                    <a:lnL>
                      <a:noFill/>
                    </a:lnL>
                    <a:lnR>
                      <a:noFill/>
                    </a:lnR>
                    <a:lnT>
                      <a:noFill/>
                    </a:lnT>
                    <a:lnB>
                      <a:noFill/>
                    </a:lnB>
                    <a:noFill/>
                  </a:tcPr>
                </a:tc>
                <a:tc>
                  <a:txBody>
                    <a:bodyPr/>
                    <a:lstStyle/>
                    <a:p>
                      <a:r>
                        <a:rPr lang="en-US" dirty="0"/>
                        <a:t>Methyldopa, verapamil</a:t>
                      </a:r>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extLst>
                  <a:ext uri="{0D108BD9-81ED-4DB2-BD59-A6C34878D82A}">
                    <a16:rowId xmlns:a16="http://schemas.microsoft.com/office/drawing/2014/main" val="4098154500"/>
                  </a:ext>
                </a:extLst>
              </a:tr>
              <a:tr h="442649">
                <a:tc>
                  <a:txBody>
                    <a:bodyPr/>
                    <a:lstStyle/>
                    <a:p>
                      <a:endParaRPr lang="en-US"/>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extLst>
                  <a:ext uri="{0D108BD9-81ED-4DB2-BD59-A6C34878D82A}">
                    <a16:rowId xmlns:a16="http://schemas.microsoft.com/office/drawing/2014/main" val="3017111413"/>
                  </a:ext>
                </a:extLst>
              </a:tr>
            </a:tbl>
          </a:graphicData>
        </a:graphic>
      </p:graphicFrame>
      <p:sp>
        <p:nvSpPr>
          <p:cNvPr id="2" name="Star: 5 Points 1">
            <a:extLst>
              <a:ext uri="{FF2B5EF4-FFF2-40B4-BE49-F238E27FC236}">
                <a16:creationId xmlns:a16="http://schemas.microsoft.com/office/drawing/2014/main" id="{1C12FB4B-0143-E652-E6E8-C8FD2BC4AF80}"/>
              </a:ext>
            </a:extLst>
          </p:cNvPr>
          <p:cNvSpPr/>
          <p:nvPr/>
        </p:nvSpPr>
        <p:spPr>
          <a:xfrm>
            <a:off x="9947390" y="695946"/>
            <a:ext cx="914400" cy="91440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48693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5A82-6C55-54CB-9CA8-8364F0EAE779}"/>
              </a:ext>
            </a:extLst>
          </p:cNvPr>
          <p:cNvSpPr>
            <a:spLocks noGrp="1"/>
          </p:cNvSpPr>
          <p:nvPr>
            <p:ph type="title"/>
          </p:nvPr>
        </p:nvSpPr>
        <p:spPr/>
        <p:txBody>
          <a:bodyPr/>
          <a:lstStyle/>
          <a:p>
            <a:endParaRPr lang="en-US"/>
          </a:p>
        </p:txBody>
      </p:sp>
      <p:graphicFrame>
        <p:nvGraphicFramePr>
          <p:cNvPr id="5" name="Content Placeholder 4">
            <a:extLst>
              <a:ext uri="{FF2B5EF4-FFF2-40B4-BE49-F238E27FC236}">
                <a16:creationId xmlns:a16="http://schemas.microsoft.com/office/drawing/2014/main" id="{2CF21A76-98B2-4E0D-6EA5-BC2217F43D4F}"/>
              </a:ext>
            </a:extLst>
          </p:cNvPr>
          <p:cNvGraphicFramePr>
            <a:graphicFrameLocks noGrp="1"/>
          </p:cNvGraphicFramePr>
          <p:nvPr>
            <p:ph idx="1"/>
          </p:nvPr>
        </p:nvGraphicFramePr>
        <p:xfrm>
          <a:off x="838200" y="1825625"/>
          <a:ext cx="10515600" cy="3134775"/>
        </p:xfrm>
        <a:graphic>
          <a:graphicData uri="http://schemas.openxmlformats.org/drawingml/2006/table">
            <a:tbl>
              <a:tblPr bandRow="1">
                <a:tableStyleId>{5C22544A-7EE6-4342-B048-85BDC9FD1C3A}</a:tableStyleId>
              </a:tblPr>
              <a:tblGrid>
                <a:gridCol w="3505200">
                  <a:extLst>
                    <a:ext uri="{9D8B030D-6E8A-4147-A177-3AD203B41FA5}">
                      <a16:colId xmlns:a16="http://schemas.microsoft.com/office/drawing/2014/main" val="2788178223"/>
                    </a:ext>
                  </a:extLst>
                </a:gridCol>
                <a:gridCol w="3505200">
                  <a:extLst>
                    <a:ext uri="{9D8B030D-6E8A-4147-A177-3AD203B41FA5}">
                      <a16:colId xmlns:a16="http://schemas.microsoft.com/office/drawing/2014/main" val="917578874"/>
                    </a:ext>
                  </a:extLst>
                </a:gridCol>
                <a:gridCol w="3505200">
                  <a:extLst>
                    <a:ext uri="{9D8B030D-6E8A-4147-A177-3AD203B41FA5}">
                      <a16:colId xmlns:a16="http://schemas.microsoft.com/office/drawing/2014/main" val="3701066830"/>
                    </a:ext>
                  </a:extLst>
                </a:gridCol>
              </a:tblGrid>
              <a:tr h="626955">
                <a:tc>
                  <a:txBody>
                    <a:bodyPr/>
                    <a:lstStyle/>
                    <a:p>
                      <a:pPr algn="l" rtl="0" fontAlgn="base">
                        <a:lnSpc>
                          <a:spcPts val="2100"/>
                        </a:lnSpc>
                        <a:buNone/>
                      </a:pPr>
                      <a:r>
                        <a:rPr lang="en-US" sz="1800" b="1" i="0">
                          <a:solidFill>
                            <a:srgbClr val="000000"/>
                          </a:solidFill>
                          <a:effectLst/>
                          <a:latin typeface="Aptos" panose="020B0004020202020204" pitchFamily="34" charset="0"/>
                        </a:rPr>
                        <a:t>Pathological</a:t>
                      </a:r>
                      <a:endParaRPr lang="en-US" b="0" i="0">
                        <a:solidFill>
                          <a:srgbClr val="000000"/>
                        </a:solidFill>
                        <a:effectLst/>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rtl="0" fontAlgn="base">
                        <a:lnSpc>
                          <a:spcPts val="2100"/>
                        </a:lnSpc>
                        <a:buNone/>
                      </a:pPr>
                      <a:r>
                        <a:rPr lang="en-US" sz="1800" b="0" i="0">
                          <a:solidFill>
                            <a:srgbClr val="000000"/>
                          </a:solidFill>
                          <a:effectLst/>
                          <a:latin typeface="Aptos" panose="020B0004020202020204" pitchFamily="34" charset="0"/>
                        </a:rPr>
                        <a:t>Prolactinoma (pituitary adenoma)</a:t>
                      </a:r>
                      <a:endParaRPr lang="en-US" b="0" i="0">
                        <a:solidFill>
                          <a:srgbClr val="000000"/>
                        </a:solidFill>
                        <a:effectLst/>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rtl="0" fontAlgn="base">
                        <a:lnSpc>
                          <a:spcPts val="2100"/>
                        </a:lnSpc>
                        <a:buNone/>
                      </a:pPr>
                      <a:r>
                        <a:rPr lang="en-US" sz="1800" b="0" i="0">
                          <a:solidFill>
                            <a:srgbClr val="000000"/>
                          </a:solidFill>
                          <a:effectLst/>
                          <a:latin typeface="Aptos" panose="020B0004020202020204" pitchFamily="34" charset="0"/>
                        </a:rPr>
                        <a:t>Most common pathological cause</a:t>
                      </a:r>
                      <a:endParaRPr lang="en-US" b="0" i="0">
                        <a:solidFill>
                          <a:srgbClr val="000000"/>
                        </a:solidFill>
                        <a:effectLst/>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927864090"/>
                  </a:ext>
                </a:extLst>
              </a:tr>
              <a:tr h="626955">
                <a:tc>
                  <a:txBody>
                    <a:bodyPr/>
                    <a:lstStyle/>
                    <a:p>
                      <a:pPr algn="l" rtl="0" fontAlgn="auto">
                        <a:lnSpc>
                          <a:spcPts val="2100"/>
                        </a:lnSpc>
                        <a:buNone/>
                      </a:pPr>
                      <a:endParaRPr lang="en-US" sz="1800" b="0" i="0">
                        <a:solidFill>
                          <a:srgbClr val="000000"/>
                        </a:solidFill>
                        <a:effectLst/>
                        <a:latin typeface="Aptos" panose="020B0004020202020204" pitchFamily="34" charset="0"/>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rtl="0" fontAlgn="base">
                        <a:lnSpc>
                          <a:spcPts val="2100"/>
                        </a:lnSpc>
                        <a:buNone/>
                      </a:pPr>
                      <a:r>
                        <a:rPr lang="en-US" sz="1800" b="0" i="0">
                          <a:solidFill>
                            <a:srgbClr val="FF0000"/>
                          </a:solidFill>
                          <a:effectLst/>
                          <a:latin typeface="Aptos" panose="020B0004020202020204" pitchFamily="34" charset="0"/>
                        </a:rPr>
                        <a:t>Hypothyroidism (primary)</a:t>
                      </a:r>
                      <a:endParaRPr lang="en-US" b="0" i="0">
                        <a:solidFill>
                          <a:srgbClr val="000000"/>
                        </a:solidFill>
                        <a:effectLst/>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rtl="0" fontAlgn="base">
                        <a:lnSpc>
                          <a:spcPts val="2100"/>
                        </a:lnSpc>
                        <a:buNone/>
                      </a:pPr>
                      <a:r>
                        <a:rPr lang="en-US" sz="1800" b="0" i="0">
                          <a:solidFill>
                            <a:srgbClr val="000000"/>
                          </a:solidFill>
                          <a:effectLst/>
                          <a:latin typeface="Aptos" panose="020B0004020202020204" pitchFamily="34" charset="0"/>
                        </a:rPr>
                        <a:t>TRH increases prolactin secretion</a:t>
                      </a:r>
                      <a:endParaRPr lang="en-US" b="0" i="0">
                        <a:solidFill>
                          <a:srgbClr val="000000"/>
                        </a:solidFill>
                        <a:effectLst/>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232985624"/>
                  </a:ext>
                </a:extLst>
              </a:tr>
              <a:tr h="626955">
                <a:tc>
                  <a:txBody>
                    <a:bodyPr/>
                    <a:lstStyle/>
                    <a:p>
                      <a:pPr algn="l" rtl="0" fontAlgn="auto">
                        <a:lnSpc>
                          <a:spcPts val="2100"/>
                        </a:lnSpc>
                        <a:buNone/>
                      </a:pPr>
                      <a:endParaRPr lang="en-US" sz="1800" b="0" i="0">
                        <a:solidFill>
                          <a:srgbClr val="000000"/>
                        </a:solidFill>
                        <a:effectLst/>
                        <a:latin typeface="Aptos" panose="020B0004020202020204" pitchFamily="34" charset="0"/>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rtl="0" fontAlgn="base">
                        <a:lnSpc>
                          <a:spcPts val="2100"/>
                        </a:lnSpc>
                        <a:buNone/>
                      </a:pPr>
                      <a:r>
                        <a:rPr lang="en-US" sz="1800" b="0" i="0">
                          <a:solidFill>
                            <a:srgbClr val="000000"/>
                          </a:solidFill>
                          <a:effectLst/>
                          <a:latin typeface="Aptos" panose="020B0004020202020204" pitchFamily="34" charset="0"/>
                        </a:rPr>
                        <a:t>Chronic renal failure</a:t>
                      </a:r>
                      <a:endParaRPr lang="en-US" b="0" i="0">
                        <a:solidFill>
                          <a:srgbClr val="000000"/>
                        </a:solidFill>
                        <a:effectLst/>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rtl="0" fontAlgn="base">
                        <a:lnSpc>
                          <a:spcPts val="2100"/>
                        </a:lnSpc>
                        <a:buNone/>
                      </a:pPr>
                      <a:r>
                        <a:rPr lang="en-US" sz="1800" b="0" i="0">
                          <a:solidFill>
                            <a:srgbClr val="000000"/>
                          </a:solidFill>
                          <a:effectLst/>
                          <a:latin typeface="Aptos" panose="020B0004020202020204" pitchFamily="34" charset="0"/>
                        </a:rPr>
                        <a:t>Reduced prolactin clearance</a:t>
                      </a:r>
                      <a:endParaRPr lang="en-US" b="0" i="0">
                        <a:solidFill>
                          <a:srgbClr val="000000"/>
                        </a:solidFill>
                        <a:effectLst/>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178661431"/>
                  </a:ext>
                </a:extLst>
              </a:tr>
              <a:tr h="626955">
                <a:tc>
                  <a:txBody>
                    <a:bodyPr/>
                    <a:lstStyle/>
                    <a:p>
                      <a:pPr algn="l" rtl="0" fontAlgn="auto">
                        <a:lnSpc>
                          <a:spcPts val="2100"/>
                        </a:lnSpc>
                        <a:buNone/>
                      </a:pPr>
                      <a:endParaRPr lang="en-US" sz="1800" b="0" i="0">
                        <a:solidFill>
                          <a:srgbClr val="000000"/>
                        </a:solidFill>
                        <a:effectLst/>
                        <a:latin typeface="Aptos" panose="020B0004020202020204" pitchFamily="34" charset="0"/>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rtl="0" fontAlgn="base">
                        <a:lnSpc>
                          <a:spcPts val="2100"/>
                        </a:lnSpc>
                        <a:buNone/>
                      </a:pPr>
                      <a:r>
                        <a:rPr lang="en-US" sz="1800" b="0" i="0">
                          <a:solidFill>
                            <a:srgbClr val="000000"/>
                          </a:solidFill>
                          <a:effectLst/>
                          <a:latin typeface="Aptos" panose="020B0004020202020204" pitchFamily="34" charset="0"/>
                        </a:rPr>
                        <a:t>Chest wall lesions or surgery</a:t>
                      </a:r>
                      <a:endParaRPr lang="en-US" b="0" i="0">
                        <a:solidFill>
                          <a:srgbClr val="000000"/>
                        </a:solidFill>
                        <a:effectLst/>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rtl="0" fontAlgn="base">
                        <a:lnSpc>
                          <a:spcPts val="2100"/>
                        </a:lnSpc>
                        <a:buNone/>
                      </a:pPr>
                      <a:r>
                        <a:rPr lang="en-US" sz="1800" b="0" i="0">
                          <a:solidFill>
                            <a:srgbClr val="000000"/>
                          </a:solidFill>
                          <a:effectLst/>
                          <a:latin typeface="Aptos" panose="020B0004020202020204" pitchFamily="34" charset="0"/>
                        </a:rPr>
                        <a:t>Stimulate nerve pathways increasing prolactin</a:t>
                      </a:r>
                      <a:endParaRPr lang="en-US" b="0" i="0">
                        <a:solidFill>
                          <a:srgbClr val="000000"/>
                        </a:solidFill>
                        <a:effectLst/>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633418882"/>
                  </a:ext>
                </a:extLst>
              </a:tr>
              <a:tr h="626955">
                <a:tc>
                  <a:txBody>
                    <a:bodyPr/>
                    <a:lstStyle/>
                    <a:p>
                      <a:pPr algn="l" rtl="0" fontAlgn="auto">
                        <a:lnSpc>
                          <a:spcPts val="2100"/>
                        </a:lnSpc>
                        <a:buNone/>
                      </a:pPr>
                      <a:endParaRPr lang="en-US" sz="1800" b="0" i="0">
                        <a:solidFill>
                          <a:srgbClr val="000000"/>
                        </a:solidFill>
                        <a:effectLst/>
                        <a:latin typeface="Aptos" panose="020B0004020202020204" pitchFamily="34" charset="0"/>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rtl="0" fontAlgn="base">
                        <a:lnSpc>
                          <a:spcPts val="2100"/>
                        </a:lnSpc>
                        <a:buNone/>
                      </a:pPr>
                      <a:r>
                        <a:rPr lang="en-US" sz="1800" b="0" i="0">
                          <a:solidFill>
                            <a:srgbClr val="000000"/>
                          </a:solidFill>
                          <a:effectLst/>
                          <a:latin typeface="Aptos" panose="020B0004020202020204" pitchFamily="34" charset="0"/>
                        </a:rPr>
                        <a:t>Cirrhosis</a:t>
                      </a:r>
                      <a:endParaRPr lang="en-US" b="0" i="0">
                        <a:solidFill>
                          <a:srgbClr val="000000"/>
                        </a:solidFill>
                        <a:effectLst/>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rtl="0" fontAlgn="base">
                        <a:lnSpc>
                          <a:spcPts val="2100"/>
                        </a:lnSpc>
                        <a:buNone/>
                      </a:pPr>
                      <a:r>
                        <a:rPr lang="en-US" sz="1800" b="0" i="0">
                          <a:solidFill>
                            <a:srgbClr val="000000"/>
                          </a:solidFill>
                          <a:effectLst/>
                          <a:latin typeface="Aptos" panose="020B0004020202020204" pitchFamily="34" charset="0"/>
                        </a:rPr>
                        <a:t>Liver disease can reduce hormone clearance</a:t>
                      </a:r>
                      <a:endParaRPr lang="en-US" b="0" i="0">
                        <a:solidFill>
                          <a:srgbClr val="000000"/>
                        </a:solidFill>
                        <a:effectLst/>
                      </a:endParaRPr>
                    </a:p>
                  </a:txBody>
                  <a:tcPr marL="90297" marR="90297" marT="45149" marB="4514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361754929"/>
                  </a:ext>
                </a:extLst>
              </a:tr>
            </a:tbl>
          </a:graphicData>
        </a:graphic>
      </p:graphicFrame>
    </p:spTree>
    <p:extLst>
      <p:ext uri="{BB962C8B-B14F-4D97-AF65-F5344CB8AC3E}">
        <p14:creationId xmlns:p14="http://schemas.microsoft.com/office/powerpoint/2010/main" val="34404587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B8862-AB36-A613-874A-17FB0FC96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10405-4046-A993-867F-439DB8FEF14E}"/>
              </a:ext>
            </a:extLst>
          </p:cNvPr>
          <p:cNvSpPr>
            <a:spLocks noGrp="1"/>
          </p:cNvSpPr>
          <p:nvPr>
            <p:ph type="title"/>
          </p:nvPr>
        </p:nvSpPr>
        <p:spPr/>
        <p:txBody>
          <a:bodyPr/>
          <a:lstStyle/>
          <a:p>
            <a:r>
              <a:rPr lang="en-US" dirty="0"/>
              <a:t>Treatment </a:t>
            </a:r>
          </a:p>
        </p:txBody>
      </p:sp>
      <p:sp>
        <p:nvSpPr>
          <p:cNvPr id="3" name="Content Placeholder 2">
            <a:extLst>
              <a:ext uri="{FF2B5EF4-FFF2-40B4-BE49-F238E27FC236}">
                <a16:creationId xmlns:a16="http://schemas.microsoft.com/office/drawing/2014/main" id="{85F6D035-0590-EC8C-625F-2F56C5EB94FC}"/>
              </a:ext>
            </a:extLst>
          </p:cNvPr>
          <p:cNvSpPr>
            <a:spLocks noGrp="1"/>
          </p:cNvSpPr>
          <p:nvPr>
            <p:ph idx="1"/>
          </p:nvPr>
        </p:nvSpPr>
        <p:spPr/>
        <p:txBody>
          <a:bodyPr/>
          <a:lstStyle/>
          <a:p>
            <a:endParaRPr lang="en-US"/>
          </a:p>
        </p:txBody>
      </p:sp>
      <p:graphicFrame>
        <p:nvGraphicFramePr>
          <p:cNvPr id="5" name="Table 4">
            <a:extLst>
              <a:ext uri="{FF2B5EF4-FFF2-40B4-BE49-F238E27FC236}">
                <a16:creationId xmlns:a16="http://schemas.microsoft.com/office/drawing/2014/main" id="{7F70C4F1-B9D6-1299-A355-A7EC2A962498}"/>
              </a:ext>
            </a:extLst>
          </p:cNvPr>
          <p:cNvGraphicFramePr>
            <a:graphicFrameLocks noGrp="1"/>
          </p:cNvGraphicFramePr>
          <p:nvPr>
            <p:extLst>
              <p:ext uri="{D42A27DB-BD31-4B8C-83A1-F6EECF244321}">
                <p14:modId xmlns:p14="http://schemas.microsoft.com/office/powerpoint/2010/main" val="918366450"/>
              </p:ext>
            </p:extLst>
          </p:nvPr>
        </p:nvGraphicFramePr>
        <p:xfrm>
          <a:off x="3719331" y="132747"/>
          <a:ext cx="7109285" cy="5703679"/>
        </p:xfrm>
        <a:graphic>
          <a:graphicData uri="http://schemas.openxmlformats.org/drawingml/2006/table">
            <a:tbl>
              <a:tblPr bandRow="1">
                <a:tableStyleId>{5C22544A-7EE6-4342-B048-85BDC9FD1C3A}</a:tableStyleId>
              </a:tblPr>
              <a:tblGrid>
                <a:gridCol w="3560045">
                  <a:extLst>
                    <a:ext uri="{9D8B030D-6E8A-4147-A177-3AD203B41FA5}">
                      <a16:colId xmlns:a16="http://schemas.microsoft.com/office/drawing/2014/main" val="3819251607"/>
                    </a:ext>
                  </a:extLst>
                </a:gridCol>
                <a:gridCol w="3549240">
                  <a:extLst>
                    <a:ext uri="{9D8B030D-6E8A-4147-A177-3AD203B41FA5}">
                      <a16:colId xmlns:a16="http://schemas.microsoft.com/office/drawing/2014/main" val="1424728845"/>
                    </a:ext>
                  </a:extLst>
                </a:gridCol>
              </a:tblGrid>
              <a:tr h="462624">
                <a:tc>
                  <a:txBody>
                    <a:bodyPr/>
                    <a:lstStyle/>
                    <a:p>
                      <a:pPr algn="l" fontAlgn="t">
                        <a:lnSpc>
                          <a:spcPts val="1500"/>
                        </a:lnSpc>
                        <a:buNone/>
                      </a:pPr>
                      <a:r>
                        <a:rPr lang="en-US" dirty="0">
                          <a:effectLst/>
                        </a:rPr>
                        <a:t>Hormone Excess</a:t>
                      </a:r>
                    </a:p>
                  </a:txBody>
                  <a:tcPr marR="95250" marB="114300">
                    <a:lnL>
                      <a:noFill/>
                    </a:lnL>
                    <a:lnR>
                      <a:noFill/>
                    </a:lnR>
                    <a:lnT>
                      <a:noFill/>
                    </a:lnT>
                    <a:lnB w="9525" cap="flat" cmpd="sng" algn="ctr">
                      <a:solidFill>
                        <a:srgbClr val="A3C9FF"/>
                      </a:solidFill>
                      <a:prstDash val="solid"/>
                      <a:round/>
                      <a:headEnd type="none" w="med" len="med"/>
                      <a:tailEnd type="none" w="med" len="med"/>
                    </a:lnB>
                    <a:solidFill>
                      <a:srgbClr val="FFFFFF"/>
                    </a:solidFill>
                  </a:tcPr>
                </a:tc>
                <a:tc>
                  <a:txBody>
                    <a:bodyPr/>
                    <a:lstStyle/>
                    <a:p>
                      <a:pPr algn="l" fontAlgn="t">
                        <a:lnSpc>
                          <a:spcPts val="1500"/>
                        </a:lnSpc>
                        <a:buNone/>
                      </a:pPr>
                      <a:r>
                        <a:rPr lang="en-US" dirty="0">
                          <a:effectLst/>
                        </a:rPr>
                        <a:t>Medications</a:t>
                      </a:r>
                    </a:p>
                  </a:txBody>
                  <a:tcPr marL="95250" marB="114300">
                    <a:lnL>
                      <a:noFill/>
                    </a:lnL>
                    <a:lnR>
                      <a:noFill/>
                    </a:lnR>
                    <a:lnT>
                      <a:noFill/>
                    </a:lnT>
                    <a:lnB w="9525"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1789211470"/>
                  </a:ext>
                </a:extLst>
              </a:tr>
              <a:tr h="809593">
                <a:tc>
                  <a:txBody>
                    <a:bodyPr/>
                    <a:lstStyle/>
                    <a:p>
                      <a:pPr fontAlgn="t">
                        <a:lnSpc>
                          <a:spcPts val="1500"/>
                        </a:lnSpc>
                        <a:buNone/>
                      </a:pPr>
                      <a:r>
                        <a:rPr lang="en-US" dirty="0">
                          <a:effectLst/>
                        </a:rPr>
                        <a:t>Prolactin</a:t>
                      </a:r>
                    </a:p>
                  </a:txBody>
                  <a:tcPr marR="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tc>
                  <a:txBody>
                    <a:bodyPr/>
                    <a:lstStyle/>
                    <a:p>
                      <a:pPr marL="285750" marR="0" indent="-285750" algn="l" fontAlgn="t">
                        <a:lnSpc>
                          <a:spcPct val="90000"/>
                        </a:lnSpc>
                        <a:spcBef>
                          <a:spcPts val="1000"/>
                        </a:spcBef>
                        <a:spcAft>
                          <a:spcPts val="0"/>
                        </a:spcAft>
                        <a:buFont typeface="Arial"/>
                        <a:buChar char="•"/>
                      </a:pPr>
                      <a:r>
                        <a:rPr lang="en-US" dirty="0">
                          <a:effectLst/>
                        </a:rPr>
                        <a:t>Dopamine agonists (e.g., cabergoline, bromocriptine)</a:t>
                      </a:r>
                      <a:r>
                        <a:rPr lang="en-US" sz="1800" b="0" i="0" u="none" strike="noStrike" noProof="0" dirty="0">
                          <a:solidFill>
                            <a:srgbClr val="000000"/>
                          </a:solidFill>
                          <a:effectLst/>
                          <a:latin typeface="Calibri"/>
                        </a:rPr>
                        <a:t> </a:t>
                      </a:r>
                      <a:r>
                        <a:rPr lang="en-US" sz="1800" b="0" i="0" u="none" strike="noStrike" noProof="0" dirty="0">
                          <a:solidFill>
                            <a:srgbClr val="FF0000"/>
                          </a:solidFill>
                          <a:effectLst/>
                          <a:latin typeface="Calibri"/>
                        </a:rPr>
                        <a:t>These drugs </a:t>
                      </a:r>
                      <a:r>
                        <a:rPr lang="en-US" sz="1800" b="1" i="0" u="sng" strike="noStrike" noProof="0" dirty="0">
                          <a:solidFill>
                            <a:srgbClr val="FF0000"/>
                          </a:solidFill>
                          <a:effectLst/>
                          <a:latin typeface="Calibri"/>
                        </a:rPr>
                        <a:t>shrink the tumor</a:t>
                      </a:r>
                      <a:r>
                        <a:rPr lang="en-US" sz="1800" b="1" i="0" u="none" strike="noStrike" noProof="0" dirty="0">
                          <a:solidFill>
                            <a:srgbClr val="FF0000"/>
                          </a:solidFill>
                          <a:effectLst/>
                          <a:latin typeface="Calibri"/>
                        </a:rPr>
                        <a:t> and return prolactin levels to normal </a:t>
                      </a:r>
                      <a:r>
                        <a:rPr lang="en-US" sz="1800" b="0" i="0" u="none" strike="noStrike" noProof="0" dirty="0">
                          <a:solidFill>
                            <a:srgbClr val="FF0000"/>
                          </a:solidFill>
                          <a:effectLst/>
                          <a:latin typeface="Calibri"/>
                        </a:rPr>
                        <a:t>i</a:t>
                      </a:r>
                      <a:r>
                        <a:rPr lang="en-US" sz="1800" b="0" i="0" u="none" strike="noStrike" noProof="0" dirty="0">
                          <a:solidFill>
                            <a:srgbClr val="000000"/>
                          </a:solidFill>
                          <a:effectLst/>
                          <a:latin typeface="Calibri"/>
                        </a:rPr>
                        <a:t>n ~80% of patients even in macroadenomas. If not effective, </a:t>
                      </a:r>
                      <a:r>
                        <a:rPr lang="en-US" sz="1800" b="1" i="0" u="none" strike="noStrike" noProof="0" dirty="0">
                          <a:solidFill>
                            <a:srgbClr val="000000"/>
                          </a:solidFill>
                          <a:effectLst/>
                          <a:latin typeface="Calibri"/>
                        </a:rPr>
                        <a:t>then</a:t>
                      </a:r>
                      <a:r>
                        <a:rPr lang="en-US" sz="1800" b="0" i="0" u="none" strike="noStrike" noProof="0" dirty="0">
                          <a:solidFill>
                            <a:srgbClr val="000000"/>
                          </a:solidFill>
                          <a:effectLst/>
                          <a:latin typeface="Calibri"/>
                        </a:rPr>
                        <a:t> surgery is considered. </a:t>
                      </a:r>
                    </a:p>
                  </a:txBody>
                  <a:tcPr marL="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4280807630"/>
                  </a:ext>
                </a:extLst>
              </a:tr>
              <a:tr h="1205696">
                <a:tc>
                  <a:txBody>
                    <a:bodyPr/>
                    <a:lstStyle/>
                    <a:p>
                      <a:pPr fontAlgn="t">
                        <a:lnSpc>
                          <a:spcPts val="1500"/>
                        </a:lnSpc>
                        <a:buNone/>
                      </a:pPr>
                      <a:r>
                        <a:rPr lang="en-US" dirty="0">
                          <a:effectLst/>
                        </a:rPr>
                        <a:t>Growth Hormone</a:t>
                      </a:r>
                    </a:p>
                  </a:txBody>
                  <a:tcPr marR="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tc>
                  <a:txBody>
                    <a:bodyPr/>
                    <a:lstStyle/>
                    <a:p>
                      <a:pPr fontAlgn="t">
                        <a:lnSpc>
                          <a:spcPts val="1500"/>
                        </a:lnSpc>
                        <a:buNone/>
                      </a:pPr>
                      <a:r>
                        <a:rPr lang="en-US" dirty="0">
                          <a:effectLst/>
                        </a:rPr>
                        <a:t>Surgery , Somatostatin analogs (e.g., octreotide, </a:t>
                      </a:r>
                      <a:r>
                        <a:rPr lang="en-US" dirty="0" err="1">
                          <a:effectLst/>
                        </a:rPr>
                        <a:t>lanreotide</a:t>
                      </a:r>
                      <a:r>
                        <a:rPr lang="en-US" dirty="0">
                          <a:effectLst/>
                        </a:rPr>
                        <a:t>), growth hormone receptor antagonists (e.g., </a:t>
                      </a:r>
                      <a:r>
                        <a:rPr lang="en-US" dirty="0" err="1">
                          <a:effectLst/>
                        </a:rPr>
                        <a:t>pegvisomant</a:t>
                      </a:r>
                      <a:r>
                        <a:rPr lang="en-US" dirty="0">
                          <a:effectLst/>
                        </a:rPr>
                        <a:t>)</a:t>
                      </a:r>
                    </a:p>
                  </a:txBody>
                  <a:tcPr marL="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3428233949"/>
                  </a:ext>
                </a:extLst>
              </a:tr>
              <a:tr h="1824797">
                <a:tc>
                  <a:txBody>
                    <a:bodyPr/>
                    <a:lstStyle/>
                    <a:p>
                      <a:pPr fontAlgn="t">
                        <a:lnSpc>
                          <a:spcPts val="1500"/>
                        </a:lnSpc>
                        <a:buNone/>
                      </a:pPr>
                      <a:r>
                        <a:rPr lang="en-US" dirty="0">
                          <a:effectLst/>
                        </a:rPr>
                        <a:t>ACTH (Cushing's Disease)</a:t>
                      </a:r>
                    </a:p>
                  </a:txBody>
                  <a:tcPr marR="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tc>
                  <a:txBody>
                    <a:bodyPr/>
                    <a:lstStyle/>
                    <a:p>
                      <a:pPr fontAlgn="t">
                        <a:lnSpc>
                          <a:spcPts val="1500"/>
                        </a:lnSpc>
                        <a:buNone/>
                      </a:pPr>
                      <a:r>
                        <a:rPr lang="en-US" dirty="0">
                          <a:effectLst/>
                        </a:rPr>
                        <a:t> Surgery, Adrenal enzyme inhibitors (e.g., metyrapone, ketoconazole), glucocorticoid receptor antagonist (e.g., mifepristone)</a:t>
                      </a:r>
                    </a:p>
                  </a:txBody>
                  <a:tcPr marL="95250" marT="114300" marB="114300">
                    <a:lnL>
                      <a:noFill/>
                    </a:lnL>
                    <a:lnR>
                      <a:noFill/>
                    </a:lnR>
                    <a:lnT w="9525" cap="flat" cmpd="sng" algn="ctr">
                      <a:solidFill>
                        <a:srgbClr val="A3C9FF"/>
                      </a:solidFill>
                      <a:prstDash val="solid"/>
                      <a:round/>
                      <a:headEnd type="none" w="med" len="med"/>
                      <a:tailEnd type="none" w="med" len="med"/>
                    </a:lnT>
                    <a:lnB w="9525" cap="flat" cmpd="sng" algn="ctr">
                      <a:solidFill>
                        <a:srgbClr val="A3C9FF"/>
                      </a:solidFill>
                      <a:prstDash val="solid"/>
                      <a:round/>
                      <a:headEnd type="none" w="med" len="med"/>
                      <a:tailEnd type="none" w="med" len="med"/>
                    </a:lnB>
                    <a:solidFill>
                      <a:srgbClr val="FFFFFF"/>
                    </a:solidFill>
                  </a:tcPr>
                </a:tc>
                <a:extLst>
                  <a:ext uri="{0D108BD9-81ED-4DB2-BD59-A6C34878D82A}">
                    <a16:rowId xmlns:a16="http://schemas.microsoft.com/office/drawing/2014/main" val="3670168790"/>
                  </a:ext>
                </a:extLst>
              </a:tr>
            </a:tbl>
          </a:graphicData>
        </a:graphic>
      </p:graphicFrame>
    </p:spTree>
    <p:extLst>
      <p:ext uri="{BB962C8B-B14F-4D97-AF65-F5344CB8AC3E}">
        <p14:creationId xmlns:p14="http://schemas.microsoft.com/office/powerpoint/2010/main" val="14289690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B3603-99E2-6ACF-84D9-87D0D5BA61D6}"/>
              </a:ext>
            </a:extLst>
          </p:cNvPr>
          <p:cNvSpPr>
            <a:spLocks noGrp="1"/>
          </p:cNvSpPr>
          <p:nvPr>
            <p:ph type="title"/>
          </p:nvPr>
        </p:nvSpPr>
        <p:spPr/>
        <p:txBody>
          <a:bodyPr/>
          <a:lstStyle/>
          <a:p>
            <a:r>
              <a:rPr lang="en-US" dirty="0"/>
              <a:t>Pituitary apoplexy/ infarction</a:t>
            </a:r>
          </a:p>
        </p:txBody>
      </p:sp>
      <p:sp>
        <p:nvSpPr>
          <p:cNvPr id="3" name="Content Placeholder 2">
            <a:extLst>
              <a:ext uri="{FF2B5EF4-FFF2-40B4-BE49-F238E27FC236}">
                <a16:creationId xmlns:a16="http://schemas.microsoft.com/office/drawing/2014/main" id="{C5A776AB-325C-D392-FC5E-251FD145C19D}"/>
              </a:ext>
            </a:extLst>
          </p:cNvPr>
          <p:cNvSpPr>
            <a:spLocks noGrp="1"/>
          </p:cNvSpPr>
          <p:nvPr>
            <p:ph idx="1"/>
          </p:nvPr>
        </p:nvSpPr>
        <p:spPr/>
        <p:txBody>
          <a:bodyPr vert="horz" lIns="91440" tIns="45720" rIns="91440" bIns="45720" rtlCol="0" anchor="t">
            <a:noAutofit/>
          </a:bodyPr>
          <a:lstStyle/>
          <a:p>
            <a:pPr marL="0" indent="0">
              <a:buNone/>
            </a:pPr>
            <a:r>
              <a:rPr lang="en-US" sz="1600" dirty="0">
                <a:solidFill>
                  <a:srgbClr val="001D35"/>
                </a:solidFill>
                <a:ea typeface="+mn-lt"/>
                <a:cs typeface="+mn-lt"/>
              </a:rPr>
              <a:t>Medical and surgical emergency – ACUTE condition where the pituitary gland experiences a hemorrhage or infarction (tissue death). This usually occurs within a pre-existing pituitary tumor, often an adenoma. This requires prompt diagnosis and treatment to improve outcomes. </a:t>
            </a:r>
            <a:endParaRPr lang="en-US" sz="1600" dirty="0"/>
          </a:p>
          <a:p>
            <a:r>
              <a:rPr lang="en-US" sz="1600" dirty="0">
                <a:solidFill>
                  <a:srgbClr val="001D35"/>
                </a:solidFill>
                <a:ea typeface="+mn-lt"/>
                <a:cs typeface="+mn-lt"/>
              </a:rPr>
              <a:t>Causes:</a:t>
            </a:r>
            <a:endParaRPr lang="en-US" sz="1600" dirty="0"/>
          </a:p>
          <a:p>
            <a:r>
              <a:rPr lang="en-US" sz="1600" b="1" dirty="0">
                <a:solidFill>
                  <a:srgbClr val="001D35"/>
                </a:solidFill>
                <a:ea typeface="+mn-lt"/>
                <a:cs typeface="+mn-lt"/>
              </a:rPr>
              <a:t>Bleeding into and ischemia of the pituitary</a:t>
            </a:r>
            <a:endParaRPr lang="en-US" sz="1600" dirty="0">
              <a:solidFill>
                <a:srgbClr val="000000"/>
              </a:solidFill>
              <a:ea typeface="+mn-lt"/>
              <a:cs typeface="+mn-lt"/>
            </a:endParaRPr>
          </a:p>
          <a:p>
            <a:r>
              <a:rPr lang="en-US" sz="1600" b="1" dirty="0">
                <a:solidFill>
                  <a:srgbClr val="001D35"/>
                </a:solidFill>
                <a:ea typeface="+mn-lt"/>
                <a:cs typeface="+mn-lt"/>
              </a:rPr>
              <a:t>Risk factors:</a:t>
            </a:r>
            <a:endParaRPr lang="en-US" sz="1600" dirty="0"/>
          </a:p>
          <a:p>
            <a:r>
              <a:rPr lang="en-US" sz="1600" dirty="0">
                <a:solidFill>
                  <a:srgbClr val="545D7E"/>
                </a:solidFill>
                <a:ea typeface="+mn-lt"/>
                <a:cs typeface="+mn-lt"/>
              </a:rPr>
              <a:t>These include MACROADENOMA , prior radiation, pregnancy (Sheehan syndrome), trauma, surgery, and anticoagulation therapy. </a:t>
            </a:r>
            <a:endParaRPr lang="en-US" sz="1600" dirty="0"/>
          </a:p>
          <a:p>
            <a:endParaRPr lang="en-US" dirty="0"/>
          </a:p>
        </p:txBody>
      </p:sp>
    </p:spTree>
    <p:extLst>
      <p:ext uri="{BB962C8B-B14F-4D97-AF65-F5344CB8AC3E}">
        <p14:creationId xmlns:p14="http://schemas.microsoft.com/office/powerpoint/2010/main" val="7676952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EFBDD-3ADA-E1CC-3661-5EACEF2457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126B69-F51E-8135-AA8B-258B66F8A8C0}"/>
              </a:ext>
            </a:extLst>
          </p:cNvPr>
          <p:cNvSpPr>
            <a:spLocks noGrp="1"/>
          </p:cNvSpPr>
          <p:nvPr>
            <p:ph idx="1"/>
          </p:nvPr>
        </p:nvSpPr>
        <p:spPr/>
        <p:txBody>
          <a:bodyPr vert="horz" lIns="91440" tIns="45720" rIns="91440" bIns="45720" rtlCol="0" anchor="t">
            <a:normAutofit/>
          </a:bodyPr>
          <a:lstStyle/>
          <a:p>
            <a:r>
              <a:rPr lang="en-US" sz="1600" dirty="0">
                <a:solidFill>
                  <a:srgbClr val="001D35"/>
                </a:solidFill>
              </a:rPr>
              <a:t>Symptoms:</a:t>
            </a:r>
            <a:endParaRPr lang="en-US" sz="1600" dirty="0"/>
          </a:p>
          <a:p>
            <a:r>
              <a:rPr lang="en-US" sz="1600" dirty="0">
                <a:solidFill>
                  <a:srgbClr val="001D35"/>
                </a:solidFill>
              </a:rPr>
              <a:t>Sudden and severe headache.</a:t>
            </a:r>
            <a:endParaRPr lang="en-US" sz="1600" dirty="0"/>
          </a:p>
          <a:p>
            <a:r>
              <a:rPr lang="en-US" sz="1600" dirty="0">
                <a:solidFill>
                  <a:srgbClr val="001D35"/>
                </a:solidFill>
              </a:rPr>
              <a:t>Visual disturbances (visual loss, double vision).</a:t>
            </a:r>
            <a:endParaRPr lang="en-US" sz="1600" dirty="0"/>
          </a:p>
          <a:p>
            <a:r>
              <a:rPr lang="en-US" sz="1600" dirty="0">
                <a:solidFill>
                  <a:srgbClr val="001D35"/>
                </a:solidFill>
              </a:rPr>
              <a:t>Nausea, vomiting.</a:t>
            </a:r>
            <a:endParaRPr lang="en-US" sz="1600" dirty="0"/>
          </a:p>
          <a:p>
            <a:r>
              <a:rPr lang="en-US" sz="1600" dirty="0">
                <a:solidFill>
                  <a:srgbClr val="001D35"/>
                </a:solidFill>
              </a:rPr>
              <a:t>Altered mental status.</a:t>
            </a:r>
            <a:endParaRPr lang="en-US" sz="1600" dirty="0"/>
          </a:p>
          <a:p>
            <a:r>
              <a:rPr lang="en-US" sz="1600" dirty="0">
                <a:solidFill>
                  <a:srgbClr val="001D35"/>
                </a:solidFill>
              </a:rPr>
              <a:t>Signs of meningeal irritation (stiff neck).</a:t>
            </a:r>
            <a:endParaRPr lang="en-US" sz="1600" dirty="0"/>
          </a:p>
          <a:p>
            <a:r>
              <a:rPr lang="en-US" sz="1600" dirty="0">
                <a:solidFill>
                  <a:srgbClr val="001D35"/>
                </a:solidFill>
              </a:rPr>
              <a:t>Hormone insufficiency.</a:t>
            </a:r>
            <a:endParaRPr lang="en-US" sz="1600" dirty="0"/>
          </a:p>
          <a:p>
            <a:r>
              <a:rPr lang="en-US" sz="1600" dirty="0">
                <a:solidFill>
                  <a:srgbClr val="001D35"/>
                </a:solidFill>
              </a:rPr>
              <a:t>Ophthalmoplegia (paralysis of eye muscles). </a:t>
            </a:r>
            <a:endParaRPr lang="en-US" sz="1600" dirty="0"/>
          </a:p>
          <a:p>
            <a:r>
              <a:rPr lang="en-US" sz="1600" dirty="0">
                <a:solidFill>
                  <a:srgbClr val="001D35"/>
                </a:solidFill>
              </a:rPr>
              <a:t>Diagnosis:</a:t>
            </a:r>
            <a:endParaRPr lang="en-US" sz="1600" dirty="0"/>
          </a:p>
          <a:p>
            <a:r>
              <a:rPr lang="en-US" sz="1600" b="1" dirty="0">
                <a:solidFill>
                  <a:srgbClr val="001D35"/>
                </a:solidFill>
              </a:rPr>
              <a:t>Imaging:</a:t>
            </a:r>
            <a:r>
              <a:rPr lang="en-US" sz="1600" dirty="0">
                <a:solidFill>
                  <a:srgbClr val="001D35"/>
                </a:solidFill>
              </a:rPr>
              <a:t> CT scans and MRI are used to confirm the presence of hemorrhage or infarction in the pituitary gland. </a:t>
            </a:r>
            <a:endParaRPr lang="en-US" sz="1600" dirty="0"/>
          </a:p>
          <a:p>
            <a:r>
              <a:rPr lang="en-US" sz="1600" b="1" dirty="0">
                <a:solidFill>
                  <a:srgbClr val="001D35"/>
                </a:solidFill>
              </a:rPr>
              <a:t>Blood tests:</a:t>
            </a:r>
            <a:r>
              <a:rPr lang="en-US" sz="1600" dirty="0">
                <a:solidFill>
                  <a:srgbClr val="001D35"/>
                </a:solidFill>
              </a:rPr>
              <a:t> Evaluate hormone levels and electrolytes</a:t>
            </a:r>
            <a:endParaRPr lang="en-US" sz="1600" dirty="0"/>
          </a:p>
          <a:p>
            <a:r>
              <a:rPr lang="en-US" sz="1600" dirty="0">
                <a:solidFill>
                  <a:srgbClr val="FF0000"/>
                </a:solidFill>
              </a:rPr>
              <a:t>Immediate treatment with steroids ( don't wait on labs </a:t>
            </a:r>
            <a:r>
              <a:rPr lang="en-US" sz="1600" dirty="0" err="1">
                <a:solidFill>
                  <a:srgbClr val="FF0000"/>
                </a:solidFill>
              </a:rPr>
              <a:t>etc</a:t>
            </a:r>
            <a:r>
              <a:rPr lang="en-US" sz="1600" dirty="0">
                <a:solidFill>
                  <a:srgbClr val="FF0000"/>
                </a:solidFill>
              </a:rPr>
              <a:t>) and emergent surgical decompression</a:t>
            </a:r>
          </a:p>
          <a:p>
            <a:endParaRPr lang="en-US" dirty="0"/>
          </a:p>
          <a:p>
            <a:endParaRPr lang="en-US" dirty="0"/>
          </a:p>
        </p:txBody>
      </p:sp>
    </p:spTree>
    <p:extLst>
      <p:ext uri="{BB962C8B-B14F-4D97-AF65-F5344CB8AC3E}">
        <p14:creationId xmlns:p14="http://schemas.microsoft.com/office/powerpoint/2010/main" val="15802645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EBE7B-F4FE-4CE5-0FD7-4F28E35A6BFC}"/>
              </a:ext>
            </a:extLst>
          </p:cNvPr>
          <p:cNvSpPr>
            <a:spLocks noGrp="1"/>
          </p:cNvSpPr>
          <p:nvPr>
            <p:ph type="title"/>
          </p:nvPr>
        </p:nvSpPr>
        <p:spPr/>
        <p:txBody>
          <a:bodyPr/>
          <a:lstStyle/>
          <a:p>
            <a:r>
              <a:rPr lang="en-US" dirty="0"/>
              <a:t>Sheehan syndrome</a:t>
            </a:r>
          </a:p>
        </p:txBody>
      </p:sp>
      <p:sp>
        <p:nvSpPr>
          <p:cNvPr id="3" name="Content Placeholder 2">
            <a:extLst>
              <a:ext uri="{FF2B5EF4-FFF2-40B4-BE49-F238E27FC236}">
                <a16:creationId xmlns:a16="http://schemas.microsoft.com/office/drawing/2014/main" id="{1DA5A0AA-4414-325F-A15B-0F32E41ED5DA}"/>
              </a:ext>
            </a:extLst>
          </p:cNvPr>
          <p:cNvSpPr>
            <a:spLocks noGrp="1"/>
          </p:cNvSpPr>
          <p:nvPr>
            <p:ph idx="1"/>
          </p:nvPr>
        </p:nvSpPr>
        <p:spPr/>
        <p:txBody>
          <a:bodyPr vert="horz" lIns="91440" tIns="45720" rIns="91440" bIns="45720" rtlCol="0" anchor="t">
            <a:normAutofit fontScale="92500" lnSpcReduction="20000"/>
          </a:bodyPr>
          <a:lstStyle/>
          <a:p>
            <a:r>
              <a:rPr lang="en-US" sz="1800" dirty="0">
                <a:solidFill>
                  <a:srgbClr val="001D35"/>
                </a:solidFill>
                <a:ea typeface="+mn-lt"/>
                <a:cs typeface="+mn-lt"/>
              </a:rPr>
              <a:t>Sheehan syndrome, also known as</a:t>
            </a:r>
            <a:r>
              <a:rPr lang="en-US" sz="1800" dirty="0">
                <a:solidFill>
                  <a:srgbClr val="FF0000"/>
                </a:solidFill>
                <a:ea typeface="+mn-lt"/>
                <a:cs typeface="+mn-lt"/>
              </a:rPr>
              <a:t> postpartum pituitary necrosis</a:t>
            </a:r>
            <a:r>
              <a:rPr lang="en-US" sz="1800" dirty="0">
                <a:solidFill>
                  <a:srgbClr val="001D35"/>
                </a:solidFill>
                <a:ea typeface="+mn-lt"/>
                <a:cs typeface="+mn-lt"/>
              </a:rPr>
              <a:t>, is a condition where the pituitary gland is damaged, often due to significant blood loss during or after childbirth. This damage leads to a decreased production of pituitary hormones, resulting in various symptoms. </a:t>
            </a:r>
            <a:endParaRPr lang="en-US" sz="1800" dirty="0"/>
          </a:p>
          <a:p>
            <a:r>
              <a:rPr lang="en-US" sz="1800" dirty="0">
                <a:solidFill>
                  <a:srgbClr val="001D35"/>
                </a:solidFill>
                <a:ea typeface="+mn-lt"/>
                <a:cs typeface="+mn-lt"/>
              </a:rPr>
              <a:t>Causes:</a:t>
            </a:r>
            <a:endParaRPr lang="en-US" sz="1800" dirty="0"/>
          </a:p>
          <a:p>
            <a:r>
              <a:rPr lang="en-US" sz="1600" b="1" dirty="0">
                <a:solidFill>
                  <a:srgbClr val="001D35"/>
                </a:solidFill>
                <a:ea typeface="+mn-lt"/>
                <a:cs typeface="+mn-lt"/>
              </a:rPr>
              <a:t>Postpartum hemorrhage/ hypovolemic shock:</a:t>
            </a:r>
            <a:endParaRPr lang="en-US" sz="1600" dirty="0"/>
          </a:p>
          <a:p>
            <a:r>
              <a:rPr lang="en-US" sz="1600" dirty="0">
                <a:solidFill>
                  <a:srgbClr val="545D7E"/>
                </a:solidFill>
                <a:ea typeface="+mn-lt"/>
                <a:cs typeface="+mn-lt"/>
              </a:rPr>
              <a:t>Severe blood loss during or after childbirth is the primary cause, leading to ischemia (reduced blood supply) and necrosis (tissue death) of the pituitary gland.</a:t>
            </a:r>
            <a:endParaRPr lang="en-US" sz="1600" dirty="0"/>
          </a:p>
          <a:p>
            <a:pPr marL="0" indent="0">
              <a:buNone/>
            </a:pPr>
            <a:endParaRPr lang="en-US" sz="1600" b="1" dirty="0">
              <a:solidFill>
                <a:srgbClr val="001D35"/>
              </a:solidFill>
            </a:endParaRPr>
          </a:p>
          <a:p>
            <a:r>
              <a:rPr lang="en-US" sz="1600" dirty="0">
                <a:solidFill>
                  <a:srgbClr val="001D35"/>
                </a:solidFill>
                <a:ea typeface="+mn-lt"/>
                <a:cs typeface="+mn-lt"/>
              </a:rPr>
              <a:t>Symptoms:</a:t>
            </a:r>
            <a:endParaRPr lang="en-US" sz="1600" dirty="0"/>
          </a:p>
          <a:p>
            <a:r>
              <a:rPr lang="en-US" sz="1600" dirty="0">
                <a:solidFill>
                  <a:srgbClr val="001D35"/>
                </a:solidFill>
                <a:ea typeface="+mn-lt"/>
                <a:cs typeface="+mn-lt"/>
              </a:rPr>
              <a:t>Sheehan syndrome can manifest with a range of symptoms due to the deficiency of pituitary hormones, including:</a:t>
            </a:r>
            <a:endParaRPr lang="en-US" sz="1600" dirty="0"/>
          </a:p>
          <a:p>
            <a:r>
              <a:rPr lang="en-US" sz="1600" b="1" dirty="0">
                <a:solidFill>
                  <a:srgbClr val="FF0000"/>
                </a:solidFill>
                <a:ea typeface="+mn-lt"/>
                <a:cs typeface="+mn-lt"/>
              </a:rPr>
              <a:t>Inability to breastfeed</a:t>
            </a:r>
            <a:r>
              <a:rPr lang="en-US" sz="1600" b="1" dirty="0">
                <a:solidFill>
                  <a:srgbClr val="001D35"/>
                </a:solidFill>
                <a:ea typeface="+mn-lt"/>
                <a:cs typeface="+mn-lt"/>
              </a:rPr>
              <a:t> (agalactorrhea):</a:t>
            </a:r>
            <a:r>
              <a:rPr lang="en-US" sz="1600" dirty="0">
                <a:solidFill>
                  <a:srgbClr val="001D35"/>
                </a:solidFill>
                <a:ea typeface="+mn-lt"/>
                <a:cs typeface="+mn-lt"/>
              </a:rPr>
              <a:t> Prolactin, a hormone necessary for milk production, is often affected. -- First symptom</a:t>
            </a:r>
            <a:endParaRPr lang="en-US" sz="1600" dirty="0"/>
          </a:p>
          <a:p>
            <a:r>
              <a:rPr lang="en-US" sz="1600" b="1" dirty="0">
                <a:solidFill>
                  <a:srgbClr val="FF0000"/>
                </a:solidFill>
                <a:ea typeface="+mn-lt"/>
                <a:cs typeface="+mn-lt"/>
              </a:rPr>
              <a:t>Amenorrhea (</a:t>
            </a:r>
            <a:r>
              <a:rPr lang="en-US" sz="1600" b="1" dirty="0">
                <a:solidFill>
                  <a:srgbClr val="001D35"/>
                </a:solidFill>
                <a:ea typeface="+mn-lt"/>
                <a:cs typeface="+mn-lt"/>
              </a:rPr>
              <a:t>absence of menstruation):</a:t>
            </a:r>
            <a:r>
              <a:rPr lang="en-US" sz="1600" dirty="0">
                <a:solidFill>
                  <a:srgbClr val="001D35"/>
                </a:solidFill>
                <a:ea typeface="+mn-lt"/>
                <a:cs typeface="+mn-lt"/>
              </a:rPr>
              <a:t> Gonadotropin hormones, which regulate menstruation, are also deficient. </a:t>
            </a:r>
            <a:endParaRPr lang="en-US" sz="1600" dirty="0"/>
          </a:p>
          <a:p>
            <a:r>
              <a:rPr lang="en-US" sz="1600" b="1" dirty="0">
                <a:solidFill>
                  <a:srgbClr val="001D35"/>
                </a:solidFill>
                <a:ea typeface="+mn-lt"/>
                <a:cs typeface="+mn-lt"/>
              </a:rPr>
              <a:t>Hypothyroidism:</a:t>
            </a:r>
            <a:r>
              <a:rPr lang="en-US" sz="1600" dirty="0">
                <a:solidFill>
                  <a:srgbClr val="001D35"/>
                </a:solidFill>
                <a:ea typeface="+mn-lt"/>
                <a:cs typeface="+mn-lt"/>
              </a:rPr>
              <a:t> Thyroid-stimulating hormone deficiency can lead to hypothyroidism symptoms like fatigue, cold intolerance, and weight gain. </a:t>
            </a:r>
            <a:endParaRPr lang="en-US" sz="1600" dirty="0"/>
          </a:p>
          <a:p>
            <a:r>
              <a:rPr lang="en-US" sz="1600" b="1" dirty="0">
                <a:solidFill>
                  <a:srgbClr val="001D35"/>
                </a:solidFill>
                <a:ea typeface="+mn-lt"/>
                <a:cs typeface="+mn-lt"/>
              </a:rPr>
              <a:t>Adrenal insufficiency:</a:t>
            </a:r>
            <a:r>
              <a:rPr lang="en-US" sz="1600" dirty="0">
                <a:solidFill>
                  <a:srgbClr val="001D35"/>
                </a:solidFill>
                <a:ea typeface="+mn-lt"/>
                <a:cs typeface="+mn-lt"/>
              </a:rPr>
              <a:t> ACTH deficiency can lead to low cortisol levels, causing fatigue, weakness, and other symptoms. </a:t>
            </a:r>
            <a:endParaRPr lang="en-US" sz="1600" dirty="0"/>
          </a:p>
          <a:p>
            <a:r>
              <a:rPr lang="en-US" sz="1600" b="1" dirty="0">
                <a:solidFill>
                  <a:srgbClr val="001D35"/>
                </a:solidFill>
                <a:ea typeface="+mn-lt"/>
                <a:cs typeface="+mn-lt"/>
              </a:rPr>
              <a:t>Hypogonadism:</a:t>
            </a:r>
            <a:r>
              <a:rPr lang="en-US" sz="1600" dirty="0">
                <a:solidFill>
                  <a:srgbClr val="001D35"/>
                </a:solidFill>
                <a:ea typeface="+mn-lt"/>
                <a:cs typeface="+mn-lt"/>
              </a:rPr>
              <a:t> Gonadotropin deficiency can affect sex drive and reproductive function. </a:t>
            </a:r>
            <a:endParaRPr lang="en-US" sz="1600" dirty="0"/>
          </a:p>
          <a:p>
            <a:endParaRPr lang="en-US" dirty="0"/>
          </a:p>
        </p:txBody>
      </p:sp>
      <p:sp>
        <p:nvSpPr>
          <p:cNvPr id="4" name="Star: 5 Points 3">
            <a:extLst>
              <a:ext uri="{FF2B5EF4-FFF2-40B4-BE49-F238E27FC236}">
                <a16:creationId xmlns:a16="http://schemas.microsoft.com/office/drawing/2014/main" id="{3FC8C418-AAFF-50C3-E679-A280D6E0CF8F}"/>
              </a:ext>
            </a:extLst>
          </p:cNvPr>
          <p:cNvSpPr/>
          <p:nvPr/>
        </p:nvSpPr>
        <p:spPr>
          <a:xfrm>
            <a:off x="7356071" y="1034914"/>
            <a:ext cx="647700" cy="676275"/>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71347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410F7-E50B-4067-54F6-C74E27CF8314}"/>
              </a:ext>
            </a:extLst>
          </p:cNvPr>
          <p:cNvSpPr>
            <a:spLocks noGrp="1"/>
          </p:cNvSpPr>
          <p:nvPr>
            <p:ph type="title"/>
          </p:nvPr>
        </p:nvSpPr>
        <p:spPr/>
        <p:txBody>
          <a:bodyPr/>
          <a:lstStyle/>
          <a:p>
            <a:r>
              <a:rPr lang="en-US" dirty="0" err="1"/>
              <a:t>Hypophysitis</a:t>
            </a:r>
            <a:r>
              <a:rPr lang="en-US" dirty="0"/>
              <a:t> </a:t>
            </a:r>
            <a:endParaRPr lang="en-US" sz="2000" dirty="0">
              <a:latin typeface="Aptos"/>
            </a:endParaRPr>
          </a:p>
        </p:txBody>
      </p:sp>
      <p:sp>
        <p:nvSpPr>
          <p:cNvPr id="3" name="Content Placeholder 2">
            <a:extLst>
              <a:ext uri="{FF2B5EF4-FFF2-40B4-BE49-F238E27FC236}">
                <a16:creationId xmlns:a16="http://schemas.microsoft.com/office/drawing/2014/main" id="{9320E794-79E2-4BC8-DF21-41AA936675A0}"/>
              </a:ext>
            </a:extLst>
          </p:cNvPr>
          <p:cNvSpPr>
            <a:spLocks noGrp="1"/>
          </p:cNvSpPr>
          <p:nvPr>
            <p:ph idx="1"/>
          </p:nvPr>
        </p:nvSpPr>
        <p:spPr/>
        <p:txBody>
          <a:bodyPr vert="horz" lIns="91440" tIns="45720" rIns="91440" bIns="45720" rtlCol="0" anchor="t">
            <a:normAutofit/>
          </a:bodyPr>
          <a:lstStyle/>
          <a:p>
            <a:r>
              <a:rPr lang="en-US" sz="1600" err="1">
                <a:solidFill>
                  <a:srgbClr val="001D35"/>
                </a:solidFill>
                <a:ea typeface="+mn-lt"/>
                <a:cs typeface="+mn-lt"/>
              </a:rPr>
              <a:t>Hypophysitis</a:t>
            </a:r>
            <a:r>
              <a:rPr lang="en-US" sz="1600" dirty="0">
                <a:solidFill>
                  <a:srgbClr val="001D35"/>
                </a:solidFill>
                <a:ea typeface="+mn-lt"/>
                <a:cs typeface="+mn-lt"/>
              </a:rPr>
              <a:t>-- </a:t>
            </a:r>
            <a:r>
              <a:rPr lang="en-US" sz="1600" dirty="0">
                <a:ea typeface="+mn-lt"/>
                <a:cs typeface="+mn-lt"/>
              </a:rPr>
              <a:t>pituitary gland inflammation</a:t>
            </a:r>
            <a:r>
              <a:rPr lang="en-US" sz="1600" dirty="0">
                <a:solidFill>
                  <a:srgbClr val="001D35"/>
                </a:solidFill>
                <a:ea typeface="+mn-lt"/>
                <a:cs typeface="+mn-lt"/>
              </a:rPr>
              <a:t>, is a rare condition that can lead to hypopituitarism (decreased hormone production) and pituitary enlargement.</a:t>
            </a:r>
          </a:p>
          <a:p>
            <a:r>
              <a:rPr lang="en-US" sz="1400" dirty="0">
                <a:solidFill>
                  <a:srgbClr val="001D35"/>
                </a:solidFill>
                <a:ea typeface="+mn-lt"/>
                <a:cs typeface="+mn-lt"/>
              </a:rPr>
              <a:t>Causes and Types:</a:t>
            </a:r>
            <a:endParaRPr lang="en-US" sz="1400" dirty="0">
              <a:solidFill>
                <a:srgbClr val="001D35"/>
              </a:solidFill>
            </a:endParaRPr>
          </a:p>
          <a:p>
            <a:r>
              <a:rPr lang="en-US" sz="1600" b="1" dirty="0">
                <a:solidFill>
                  <a:srgbClr val="001D35"/>
                </a:solidFill>
                <a:ea typeface="+mn-lt"/>
                <a:cs typeface="+mn-lt"/>
              </a:rPr>
              <a:t>Primary </a:t>
            </a:r>
            <a:r>
              <a:rPr lang="en-US" sz="1600" b="1" dirty="0" err="1">
                <a:solidFill>
                  <a:srgbClr val="001D35"/>
                </a:solidFill>
                <a:ea typeface="+mn-lt"/>
                <a:cs typeface="+mn-lt"/>
              </a:rPr>
              <a:t>Hypophysitis</a:t>
            </a:r>
            <a:r>
              <a:rPr lang="en-US" sz="1600" b="1" dirty="0">
                <a:solidFill>
                  <a:srgbClr val="001D35"/>
                </a:solidFill>
                <a:ea typeface="+mn-lt"/>
                <a:cs typeface="+mn-lt"/>
              </a:rPr>
              <a:t>:</a:t>
            </a:r>
            <a:r>
              <a:rPr lang="en-US" sz="1600" dirty="0">
                <a:solidFill>
                  <a:srgbClr val="001D35"/>
                </a:solidFill>
                <a:ea typeface="+mn-lt"/>
                <a:cs typeface="+mn-lt"/>
              </a:rPr>
              <a:t> -due to autoimmune conditions- ex: lymphocytic </a:t>
            </a:r>
            <a:r>
              <a:rPr lang="en-US" sz="1600" dirty="0" err="1">
                <a:solidFill>
                  <a:srgbClr val="001D35"/>
                </a:solidFill>
                <a:ea typeface="+mn-lt"/>
                <a:cs typeface="+mn-lt"/>
              </a:rPr>
              <a:t>hypophysitis</a:t>
            </a:r>
            <a:r>
              <a:rPr lang="en-US" sz="1600" dirty="0">
                <a:solidFill>
                  <a:srgbClr val="001D35"/>
                </a:solidFill>
                <a:ea typeface="+mn-lt"/>
                <a:cs typeface="+mn-lt"/>
              </a:rPr>
              <a:t>, IgG-4. Other types include granulomatous, </a:t>
            </a:r>
            <a:r>
              <a:rPr lang="en-US" sz="1600" dirty="0" err="1">
                <a:solidFill>
                  <a:srgbClr val="001D35"/>
                </a:solidFill>
                <a:ea typeface="+mn-lt"/>
                <a:cs typeface="+mn-lt"/>
              </a:rPr>
              <a:t>xanthomatous</a:t>
            </a:r>
            <a:r>
              <a:rPr lang="en-US" sz="1600" dirty="0">
                <a:solidFill>
                  <a:srgbClr val="001D35"/>
                </a:solidFill>
                <a:ea typeface="+mn-lt"/>
                <a:cs typeface="+mn-lt"/>
              </a:rPr>
              <a:t>, and </a:t>
            </a:r>
            <a:r>
              <a:rPr lang="en-US" sz="1600" dirty="0" err="1">
                <a:solidFill>
                  <a:srgbClr val="001D35"/>
                </a:solidFill>
                <a:ea typeface="+mn-lt"/>
                <a:cs typeface="+mn-lt"/>
              </a:rPr>
              <a:t>plasmacytic</a:t>
            </a:r>
            <a:r>
              <a:rPr lang="en-US" sz="1600" dirty="0">
                <a:solidFill>
                  <a:srgbClr val="001D35"/>
                </a:solidFill>
                <a:ea typeface="+mn-lt"/>
                <a:cs typeface="+mn-lt"/>
              </a:rPr>
              <a:t> </a:t>
            </a:r>
            <a:r>
              <a:rPr lang="en-US" sz="1600" dirty="0" err="1">
                <a:solidFill>
                  <a:srgbClr val="001D35"/>
                </a:solidFill>
                <a:ea typeface="+mn-lt"/>
                <a:cs typeface="+mn-lt"/>
              </a:rPr>
              <a:t>hypophysitis</a:t>
            </a:r>
            <a:r>
              <a:rPr lang="en-US" sz="1600" dirty="0">
                <a:solidFill>
                  <a:srgbClr val="001D35"/>
                </a:solidFill>
                <a:ea typeface="+mn-lt"/>
                <a:cs typeface="+mn-lt"/>
              </a:rPr>
              <a:t>. </a:t>
            </a:r>
            <a:endParaRPr lang="en-US" sz="1600"/>
          </a:p>
          <a:p>
            <a:r>
              <a:rPr lang="en-US" sz="1600" b="1" dirty="0">
                <a:solidFill>
                  <a:srgbClr val="001D35"/>
                </a:solidFill>
                <a:ea typeface="+mn-lt"/>
                <a:cs typeface="+mn-lt"/>
              </a:rPr>
              <a:t>Secondary </a:t>
            </a:r>
            <a:r>
              <a:rPr lang="en-US" sz="1600" b="1" err="1">
                <a:solidFill>
                  <a:srgbClr val="001D35"/>
                </a:solidFill>
                <a:ea typeface="+mn-lt"/>
                <a:cs typeface="+mn-lt"/>
              </a:rPr>
              <a:t>Hypophysitis</a:t>
            </a:r>
            <a:r>
              <a:rPr lang="en-US" sz="1600" b="1" dirty="0">
                <a:solidFill>
                  <a:srgbClr val="001D35"/>
                </a:solidFill>
                <a:ea typeface="+mn-lt"/>
                <a:cs typeface="+mn-lt"/>
              </a:rPr>
              <a:t>:</a:t>
            </a:r>
            <a:r>
              <a:rPr lang="en-US" sz="1600" dirty="0">
                <a:solidFill>
                  <a:srgbClr val="001D35"/>
                </a:solidFill>
                <a:ea typeface="+mn-lt"/>
                <a:cs typeface="+mn-lt"/>
              </a:rPr>
              <a:t> This is caused by other systemic diseases or conditions affecting the pituitary gland, such as infections or tumors. </a:t>
            </a:r>
            <a:endParaRPr lang="en-US" sz="1600" dirty="0"/>
          </a:p>
          <a:p>
            <a:r>
              <a:rPr lang="en-US" sz="1600" b="1" dirty="0">
                <a:solidFill>
                  <a:srgbClr val="FF0000"/>
                </a:solidFill>
                <a:ea typeface="+mn-lt"/>
                <a:cs typeface="+mn-lt"/>
              </a:rPr>
              <a:t>Immune Checkpoint Inhibitor-</a:t>
            </a:r>
            <a:r>
              <a:rPr lang="en-US" sz="1600" b="1" dirty="0">
                <a:solidFill>
                  <a:srgbClr val="001D35"/>
                </a:solidFill>
                <a:ea typeface="+mn-lt"/>
                <a:cs typeface="+mn-lt"/>
              </a:rPr>
              <a:t>Related </a:t>
            </a:r>
            <a:r>
              <a:rPr lang="en-US" sz="1600" b="1" dirty="0" err="1">
                <a:solidFill>
                  <a:srgbClr val="001D35"/>
                </a:solidFill>
                <a:ea typeface="+mn-lt"/>
                <a:cs typeface="+mn-lt"/>
              </a:rPr>
              <a:t>Hypophysitis</a:t>
            </a:r>
            <a:endParaRPr lang="en-US" sz="1600" dirty="0" err="1">
              <a:solidFill>
                <a:srgbClr val="001D35"/>
              </a:solidFill>
            </a:endParaRPr>
          </a:p>
          <a:p>
            <a:r>
              <a:rPr lang="en-US" sz="1600" dirty="0">
                <a:solidFill>
                  <a:srgbClr val="001D35"/>
                </a:solidFill>
                <a:ea typeface="+mn-lt"/>
                <a:cs typeface="+mn-lt"/>
              </a:rPr>
              <a:t>Headaches are a common initial symptom. </a:t>
            </a:r>
            <a:endParaRPr lang="en-US" sz="1600" dirty="0">
              <a:solidFill>
                <a:srgbClr val="001D35"/>
              </a:solidFill>
            </a:endParaRPr>
          </a:p>
          <a:p>
            <a:r>
              <a:rPr lang="en-US" sz="1600" dirty="0">
                <a:solidFill>
                  <a:srgbClr val="001D35"/>
                </a:solidFill>
                <a:ea typeface="+mn-lt"/>
                <a:cs typeface="+mn-lt"/>
              </a:rPr>
              <a:t>Visual disturbances due to compression of optic nerves or cranial nerves can occur. </a:t>
            </a:r>
            <a:endParaRPr lang="en-US" sz="1600" dirty="0"/>
          </a:p>
          <a:p>
            <a:r>
              <a:rPr lang="en-US" sz="1600" dirty="0">
                <a:solidFill>
                  <a:srgbClr val="001D35"/>
                </a:solidFill>
                <a:ea typeface="+mn-lt"/>
                <a:cs typeface="+mn-lt"/>
              </a:rPr>
              <a:t>Hormonal deficiencies can lead to symptoms like adrenal insufficiency, hypothyroidism, hypogonadism, and growth hormone deficiency. </a:t>
            </a:r>
            <a:endParaRPr lang="en-US" sz="1600" dirty="0"/>
          </a:p>
          <a:p>
            <a:r>
              <a:rPr lang="en-US" sz="1600" dirty="0">
                <a:solidFill>
                  <a:srgbClr val="001D35"/>
                </a:solidFill>
                <a:ea typeface="+mn-lt"/>
                <a:cs typeface="+mn-lt"/>
              </a:rPr>
              <a:t>Diabetes insipidus</a:t>
            </a:r>
            <a:endParaRPr lang="en-US" sz="1600" dirty="0"/>
          </a:p>
          <a:p>
            <a:endParaRPr lang="en-US" sz="1600" dirty="0">
              <a:solidFill>
                <a:srgbClr val="001D35"/>
              </a:solidFill>
            </a:endParaRPr>
          </a:p>
          <a:p>
            <a:endParaRPr lang="en-US" sz="1200" dirty="0">
              <a:solidFill>
                <a:srgbClr val="001D35"/>
              </a:solidFill>
            </a:endParaRPr>
          </a:p>
          <a:p>
            <a:endParaRPr lang="en-US" sz="1400" dirty="0">
              <a:solidFill>
                <a:srgbClr val="001D35"/>
              </a:solidFill>
            </a:endParaRPr>
          </a:p>
        </p:txBody>
      </p:sp>
    </p:spTree>
    <p:extLst>
      <p:ext uri="{BB962C8B-B14F-4D97-AF65-F5344CB8AC3E}">
        <p14:creationId xmlns:p14="http://schemas.microsoft.com/office/powerpoint/2010/main" val="13909367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7BFFE-3E45-671B-13A7-3E27A139DC2E}"/>
              </a:ext>
            </a:extLst>
          </p:cNvPr>
          <p:cNvSpPr>
            <a:spLocks noGrp="1"/>
          </p:cNvSpPr>
          <p:nvPr>
            <p:ph type="title"/>
          </p:nvPr>
        </p:nvSpPr>
        <p:spPr/>
        <p:txBody>
          <a:bodyPr/>
          <a:lstStyle/>
          <a:p>
            <a:r>
              <a:rPr lang="en-US" sz="1300" i="1" dirty="0">
                <a:solidFill>
                  <a:srgbClr val="2A2A2A"/>
                </a:solidFill>
                <a:latin typeface="Source Sans Pro"/>
                <a:ea typeface="Source Sans Pro"/>
              </a:rPr>
              <a:t>The Journal of Clinical Endocrinology &amp; Metabolism</a:t>
            </a:r>
            <a:r>
              <a:rPr lang="en-US" sz="1300" dirty="0">
                <a:solidFill>
                  <a:srgbClr val="2A2A2A"/>
                </a:solidFill>
                <a:latin typeface="Source Sans Pro"/>
                <a:ea typeface="Source Sans Pro"/>
              </a:rPr>
              <a:t>, Volume 107, Issue 1, January 2022,</a:t>
            </a:r>
            <a:endParaRPr lang="en-US" dirty="0"/>
          </a:p>
        </p:txBody>
      </p:sp>
      <p:pic>
        <p:nvPicPr>
          <p:cNvPr id="4" name="Content Placeholder 3" descr="A screenshot of a medical information&#10;&#10;AI-generated content may be incorrect.">
            <a:extLst>
              <a:ext uri="{FF2B5EF4-FFF2-40B4-BE49-F238E27FC236}">
                <a16:creationId xmlns:a16="http://schemas.microsoft.com/office/drawing/2014/main" id="{1571652C-0D36-873B-62D4-70DDB0D108CD}"/>
              </a:ext>
            </a:extLst>
          </p:cNvPr>
          <p:cNvPicPr>
            <a:picLocks noGrp="1" noChangeAspect="1"/>
          </p:cNvPicPr>
          <p:nvPr>
            <p:ph idx="1"/>
          </p:nvPr>
        </p:nvPicPr>
        <p:blipFill>
          <a:blip r:embed="rId2"/>
          <a:stretch>
            <a:fillRect/>
          </a:stretch>
        </p:blipFill>
        <p:spPr>
          <a:xfrm>
            <a:off x="2257425" y="3744119"/>
            <a:ext cx="7524750" cy="2647950"/>
          </a:xfrm>
          <a:prstGeom prst="rect">
            <a:avLst/>
          </a:prstGeom>
        </p:spPr>
      </p:pic>
      <p:pic>
        <p:nvPicPr>
          <p:cNvPr id="5" name="Picture 4">
            <a:extLst>
              <a:ext uri="{FF2B5EF4-FFF2-40B4-BE49-F238E27FC236}">
                <a16:creationId xmlns:a16="http://schemas.microsoft.com/office/drawing/2014/main" id="{E1486977-C5A3-8218-9B12-D80073169E34}"/>
              </a:ext>
            </a:extLst>
          </p:cNvPr>
          <p:cNvPicPr>
            <a:picLocks noChangeAspect="1"/>
          </p:cNvPicPr>
          <p:nvPr/>
        </p:nvPicPr>
        <p:blipFill>
          <a:blip r:embed="rId3"/>
          <a:stretch>
            <a:fillRect/>
          </a:stretch>
        </p:blipFill>
        <p:spPr>
          <a:xfrm>
            <a:off x="2176463" y="1695450"/>
            <a:ext cx="7686675" cy="1638300"/>
          </a:xfrm>
          <a:prstGeom prst="rect">
            <a:avLst/>
          </a:prstGeom>
        </p:spPr>
      </p:pic>
      <p:sp>
        <p:nvSpPr>
          <p:cNvPr id="3" name="Star: 5 Points 2">
            <a:extLst>
              <a:ext uri="{FF2B5EF4-FFF2-40B4-BE49-F238E27FC236}">
                <a16:creationId xmlns:a16="http://schemas.microsoft.com/office/drawing/2014/main" id="{FEE30FEF-06D1-494C-E292-7171ED6EBE1B}"/>
              </a:ext>
            </a:extLst>
          </p:cNvPr>
          <p:cNvSpPr/>
          <p:nvPr/>
        </p:nvSpPr>
        <p:spPr>
          <a:xfrm>
            <a:off x="1011736" y="5361050"/>
            <a:ext cx="581025" cy="466725"/>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24853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39438-E4DB-EF61-83A6-E7B98D820A5C}"/>
              </a:ext>
            </a:extLst>
          </p:cNvPr>
          <p:cNvSpPr>
            <a:spLocks noGrp="1"/>
          </p:cNvSpPr>
          <p:nvPr>
            <p:ph type="title"/>
          </p:nvPr>
        </p:nvSpPr>
        <p:spPr/>
        <p:txBody>
          <a:bodyPr/>
          <a:lstStyle/>
          <a:p>
            <a:endParaRPr lang="en-US"/>
          </a:p>
        </p:txBody>
      </p:sp>
      <p:pic>
        <p:nvPicPr>
          <p:cNvPr id="4" name="Content Placeholder 3" descr="A close up of a brain&#10;&#10;AI-generated content may be incorrect.">
            <a:extLst>
              <a:ext uri="{FF2B5EF4-FFF2-40B4-BE49-F238E27FC236}">
                <a16:creationId xmlns:a16="http://schemas.microsoft.com/office/drawing/2014/main" id="{FE8BAAC8-84C8-D5CB-2BF6-AA55D9982CEB}"/>
              </a:ext>
            </a:extLst>
          </p:cNvPr>
          <p:cNvPicPr>
            <a:picLocks noGrp="1" noChangeAspect="1"/>
          </p:cNvPicPr>
          <p:nvPr>
            <p:ph idx="1"/>
          </p:nvPr>
        </p:nvPicPr>
        <p:blipFill>
          <a:blip r:embed="rId2"/>
          <a:stretch>
            <a:fillRect/>
          </a:stretch>
        </p:blipFill>
        <p:spPr>
          <a:xfrm>
            <a:off x="2695647" y="1825625"/>
            <a:ext cx="6800705" cy="4351338"/>
          </a:xfrm>
          <a:prstGeom prst="rect">
            <a:avLst/>
          </a:prstGeom>
        </p:spPr>
      </p:pic>
    </p:spTree>
    <p:extLst>
      <p:ext uri="{BB962C8B-B14F-4D97-AF65-F5344CB8AC3E}">
        <p14:creationId xmlns:p14="http://schemas.microsoft.com/office/powerpoint/2010/main" val="11933503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AE5E5-F265-5B8F-D0AF-C83551C6EB2C}"/>
              </a:ext>
            </a:extLst>
          </p:cNvPr>
          <p:cNvSpPr>
            <a:spLocks noGrp="1"/>
          </p:cNvSpPr>
          <p:nvPr>
            <p:ph type="title"/>
          </p:nvPr>
        </p:nvSpPr>
        <p:spPr/>
        <p:txBody>
          <a:bodyPr/>
          <a:lstStyle/>
          <a:p>
            <a:endParaRPr lang="en-US"/>
          </a:p>
        </p:txBody>
      </p:sp>
      <p:pic>
        <p:nvPicPr>
          <p:cNvPr id="4" name="Content Placeholder 3" descr="A diagram of a medical procedure&#10;&#10;AI-generated content may be incorrect.">
            <a:extLst>
              <a:ext uri="{FF2B5EF4-FFF2-40B4-BE49-F238E27FC236}">
                <a16:creationId xmlns:a16="http://schemas.microsoft.com/office/drawing/2014/main" id="{FCD73021-208D-6EBD-C648-8626C2F9DADF}"/>
              </a:ext>
            </a:extLst>
          </p:cNvPr>
          <p:cNvPicPr>
            <a:picLocks noGrp="1" noChangeAspect="1"/>
          </p:cNvPicPr>
          <p:nvPr>
            <p:ph idx="1"/>
          </p:nvPr>
        </p:nvPicPr>
        <p:blipFill>
          <a:blip r:embed="rId2"/>
          <a:stretch>
            <a:fillRect/>
          </a:stretch>
        </p:blipFill>
        <p:spPr>
          <a:xfrm>
            <a:off x="1632440" y="92075"/>
            <a:ext cx="6945919" cy="6084888"/>
          </a:xfrm>
          <a:prstGeom prst="rect">
            <a:avLst/>
          </a:prstGeom>
        </p:spPr>
      </p:pic>
      <p:sp>
        <p:nvSpPr>
          <p:cNvPr id="5" name="TextBox 4">
            <a:extLst>
              <a:ext uri="{FF2B5EF4-FFF2-40B4-BE49-F238E27FC236}">
                <a16:creationId xmlns:a16="http://schemas.microsoft.com/office/drawing/2014/main" id="{8B524C1B-85D1-37B5-A92B-0DD19E88DD7A}"/>
              </a:ext>
            </a:extLst>
          </p:cNvPr>
          <p:cNvSpPr txBox="1"/>
          <p:nvPr/>
        </p:nvSpPr>
        <p:spPr>
          <a:xfrm>
            <a:off x="8963025" y="1914525"/>
            <a:ext cx="2743200" cy="600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nSpc>
                <a:spcPts val="1275"/>
              </a:lnSpc>
              <a:buFont typeface=""/>
              <a:buChar char="•"/>
            </a:pPr>
            <a:r>
              <a:rPr lang="en-US" sz="1400" dirty="0">
                <a:solidFill>
                  <a:srgbClr val="001D35"/>
                </a:solidFill>
                <a:cs typeface="Arial"/>
              </a:rPr>
              <a:t>Treatment-</a:t>
            </a:r>
            <a:r>
              <a:rPr lang="en-US" sz="1400" dirty="0">
                <a:cs typeface="Arial"/>
              </a:rPr>
              <a:t>​ </a:t>
            </a:r>
            <a:r>
              <a:rPr lang="en-US" sz="1400" dirty="0">
                <a:solidFill>
                  <a:srgbClr val="FF0000"/>
                </a:solidFill>
                <a:cs typeface="Arial"/>
              </a:rPr>
              <a:t>Steroids </a:t>
            </a:r>
            <a:r>
              <a:rPr lang="en-US" sz="1400" dirty="0">
                <a:cs typeface="Arial"/>
              </a:rPr>
              <a:t>given as a therapy as well as to replace </a:t>
            </a:r>
            <a:r>
              <a:rPr lang="en-US" sz="1400">
                <a:cs typeface="Arial"/>
              </a:rPr>
              <a:t>deficient cortisol hormone</a:t>
            </a:r>
            <a:endParaRPr lang="en-US" sz="1400">
              <a:solidFill>
                <a:srgbClr val="001D35"/>
              </a:solidFill>
              <a:cs typeface="Arial"/>
            </a:endParaRPr>
          </a:p>
        </p:txBody>
      </p:sp>
    </p:spTree>
    <p:extLst>
      <p:ext uri="{BB962C8B-B14F-4D97-AF65-F5344CB8AC3E}">
        <p14:creationId xmlns:p14="http://schemas.microsoft.com/office/powerpoint/2010/main" val="36648558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B453A-397B-0394-2D3F-55D1E870CAC3}"/>
              </a:ext>
            </a:extLst>
          </p:cNvPr>
          <p:cNvSpPr>
            <a:spLocks noGrp="1"/>
          </p:cNvSpPr>
          <p:nvPr>
            <p:ph type="title"/>
          </p:nvPr>
        </p:nvSpPr>
        <p:spPr/>
        <p:txBody>
          <a:bodyPr/>
          <a:lstStyle/>
          <a:p>
            <a:r>
              <a:rPr lang="en-US" dirty="0"/>
              <a:t>Empty </a:t>
            </a:r>
            <a:r>
              <a:rPr lang="en-US" dirty="0" err="1"/>
              <a:t>sella</a:t>
            </a:r>
          </a:p>
        </p:txBody>
      </p:sp>
      <p:sp>
        <p:nvSpPr>
          <p:cNvPr id="3" name="Content Placeholder 2">
            <a:extLst>
              <a:ext uri="{FF2B5EF4-FFF2-40B4-BE49-F238E27FC236}">
                <a16:creationId xmlns:a16="http://schemas.microsoft.com/office/drawing/2014/main" id="{4F3D7CF8-3DEC-04A8-4427-62C7689D593E}"/>
              </a:ext>
            </a:extLst>
          </p:cNvPr>
          <p:cNvSpPr>
            <a:spLocks noGrp="1"/>
          </p:cNvSpPr>
          <p:nvPr>
            <p:ph idx="1"/>
          </p:nvPr>
        </p:nvSpPr>
        <p:spPr/>
        <p:txBody>
          <a:bodyPr vert="horz" lIns="91440" tIns="45720" rIns="91440" bIns="45720" rtlCol="0" anchor="t">
            <a:normAutofit/>
          </a:bodyPr>
          <a:lstStyle/>
          <a:p>
            <a:r>
              <a:rPr lang="en-US" dirty="0"/>
              <a:t>After pituitary surgery, </a:t>
            </a:r>
            <a:r>
              <a:rPr lang="en-US" dirty="0" err="1"/>
              <a:t>hypophysitis</a:t>
            </a:r>
            <a:r>
              <a:rPr lang="en-US" dirty="0"/>
              <a:t> or idiopathic.</a:t>
            </a:r>
          </a:p>
          <a:p>
            <a:r>
              <a:rPr lang="en-US" dirty="0"/>
              <a:t>Very little pituitary tissue is left </a:t>
            </a:r>
          </a:p>
          <a:p>
            <a:r>
              <a:rPr lang="en-US" dirty="0"/>
              <a:t>If idiopathic- no hormonal defects usually </a:t>
            </a:r>
          </a:p>
          <a:p>
            <a:r>
              <a:rPr lang="en-US" dirty="0"/>
              <a:t>If non- idiopathic, may have hormonal deficiencies</a:t>
            </a:r>
          </a:p>
          <a:p>
            <a:endParaRPr lang="en-US" dirty="0"/>
          </a:p>
        </p:txBody>
      </p:sp>
    </p:spTree>
    <p:extLst>
      <p:ext uri="{BB962C8B-B14F-4D97-AF65-F5344CB8AC3E}">
        <p14:creationId xmlns:p14="http://schemas.microsoft.com/office/powerpoint/2010/main" val="5935759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CC5D7-E907-D9A7-3A68-0637A91DC899}"/>
              </a:ext>
            </a:extLst>
          </p:cNvPr>
          <p:cNvSpPr>
            <a:spLocks noGrp="1"/>
          </p:cNvSpPr>
          <p:nvPr>
            <p:ph type="title"/>
          </p:nvPr>
        </p:nvSpPr>
        <p:spPr/>
        <p:txBody>
          <a:bodyPr/>
          <a:lstStyle/>
          <a:p>
            <a:r>
              <a:rPr lang="en-US" dirty="0"/>
              <a:t>Hyponatremia SIADH </a:t>
            </a:r>
          </a:p>
        </p:txBody>
      </p:sp>
      <p:sp>
        <p:nvSpPr>
          <p:cNvPr id="3" name="Content Placeholder 2">
            <a:extLst>
              <a:ext uri="{FF2B5EF4-FFF2-40B4-BE49-F238E27FC236}">
                <a16:creationId xmlns:a16="http://schemas.microsoft.com/office/drawing/2014/main" id="{8807CF1B-A7BD-F793-4D52-C6E534494B07}"/>
              </a:ext>
            </a:extLst>
          </p:cNvPr>
          <p:cNvSpPr>
            <a:spLocks noGrp="1"/>
          </p:cNvSpPr>
          <p:nvPr>
            <p:ph idx="1"/>
          </p:nvPr>
        </p:nvSpPr>
        <p:spPr/>
        <p:txBody>
          <a:bodyPr vert="horz" lIns="91440" tIns="45720" rIns="91440" bIns="45720" rtlCol="0" anchor="t">
            <a:normAutofit/>
          </a:bodyPr>
          <a:lstStyle/>
          <a:p>
            <a:r>
              <a:rPr lang="en-US" sz="2000" dirty="0"/>
              <a:t>Syndrome of Inappropriate ADH secretion ( when euvolemic) – unregulated ADH secretion resulting in water retention------&gt;Hyponatremia.</a:t>
            </a:r>
          </a:p>
          <a:p>
            <a:r>
              <a:rPr lang="en-US" sz="2000" dirty="0"/>
              <a:t>Causes- medications- diuretics, opioids, NSAID, alcohol, malignancies ( ectopic ADH secretion)</a:t>
            </a:r>
          </a:p>
          <a:p>
            <a:r>
              <a:rPr lang="en-US" sz="2000" dirty="0"/>
              <a:t>Labs- Low serum sodium and , normal thyroid and adrenal function</a:t>
            </a:r>
          </a:p>
          <a:p>
            <a:r>
              <a:rPr lang="en-US" sz="2000" dirty="0"/>
              <a:t>Chronic – asymptomatic– T</a:t>
            </a:r>
            <a:r>
              <a:rPr lang="en-US" sz="2000" dirty="0">
                <a:solidFill>
                  <a:srgbClr val="FF0000"/>
                </a:solidFill>
              </a:rPr>
              <a:t>reatment is water restriction</a:t>
            </a:r>
            <a:r>
              <a:rPr lang="en-US" sz="2000" dirty="0"/>
              <a:t>, rarely vasopressin receptor antagonists like tolvaptan, salt tablets</a:t>
            </a:r>
            <a:endParaRPr lang="en-US" dirty="0"/>
          </a:p>
        </p:txBody>
      </p:sp>
      <p:pic>
        <p:nvPicPr>
          <p:cNvPr id="4" name="Picture 3">
            <a:extLst>
              <a:ext uri="{FF2B5EF4-FFF2-40B4-BE49-F238E27FC236}">
                <a16:creationId xmlns:a16="http://schemas.microsoft.com/office/drawing/2014/main" id="{00FF306D-6EA8-3574-CA49-915CD3529BF7}"/>
              </a:ext>
            </a:extLst>
          </p:cNvPr>
          <p:cNvPicPr>
            <a:picLocks noChangeAspect="1"/>
          </p:cNvPicPr>
          <p:nvPr/>
        </p:nvPicPr>
        <p:blipFill>
          <a:blip r:embed="rId2"/>
          <a:stretch>
            <a:fillRect/>
          </a:stretch>
        </p:blipFill>
        <p:spPr>
          <a:xfrm>
            <a:off x="10825163" y="3429000"/>
            <a:ext cx="1047750" cy="3000375"/>
          </a:xfrm>
          <a:prstGeom prst="rect">
            <a:avLst/>
          </a:prstGeom>
        </p:spPr>
      </p:pic>
      <p:pic>
        <p:nvPicPr>
          <p:cNvPr id="5" name="Picture 4" descr="A screen shot of a person&#10;&#10;AI-generated content may be incorrect.">
            <a:extLst>
              <a:ext uri="{FF2B5EF4-FFF2-40B4-BE49-F238E27FC236}">
                <a16:creationId xmlns:a16="http://schemas.microsoft.com/office/drawing/2014/main" id="{801D0089-0972-3C20-58A0-C91A519D1D67}"/>
              </a:ext>
            </a:extLst>
          </p:cNvPr>
          <p:cNvPicPr>
            <a:picLocks noChangeAspect="1"/>
          </p:cNvPicPr>
          <p:nvPr/>
        </p:nvPicPr>
        <p:blipFill>
          <a:blip r:embed="rId3"/>
          <a:stretch>
            <a:fillRect/>
          </a:stretch>
        </p:blipFill>
        <p:spPr>
          <a:xfrm>
            <a:off x="10901363" y="200025"/>
            <a:ext cx="1038225" cy="2990850"/>
          </a:xfrm>
          <a:prstGeom prst="rect">
            <a:avLst/>
          </a:prstGeom>
        </p:spPr>
      </p:pic>
      <p:sp>
        <p:nvSpPr>
          <p:cNvPr id="6" name="TextBox 5">
            <a:extLst>
              <a:ext uri="{FF2B5EF4-FFF2-40B4-BE49-F238E27FC236}">
                <a16:creationId xmlns:a16="http://schemas.microsoft.com/office/drawing/2014/main" id="{DC8C8744-2549-27DE-309F-967FBD52F025}"/>
              </a:ext>
            </a:extLst>
          </p:cNvPr>
          <p:cNvSpPr txBox="1"/>
          <p:nvPr/>
        </p:nvSpPr>
        <p:spPr>
          <a:xfrm>
            <a:off x="2533999" y="5483408"/>
            <a:ext cx="461935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Remember ADH and AVP are synonyms</a:t>
            </a:r>
          </a:p>
          <a:p>
            <a:r>
              <a:rPr lang="en-US" dirty="0"/>
              <a:t>Too much ADH- hyponatremia </a:t>
            </a:r>
          </a:p>
          <a:p>
            <a:r>
              <a:rPr lang="en-US" dirty="0"/>
              <a:t>Too </a:t>
            </a:r>
            <a:r>
              <a:rPr lang="en-US" dirty="0" err="1"/>
              <a:t>liitle</a:t>
            </a:r>
            <a:r>
              <a:rPr lang="en-US" dirty="0"/>
              <a:t> ADH- hypernatremia</a:t>
            </a:r>
          </a:p>
        </p:txBody>
      </p:sp>
    </p:spTree>
    <p:extLst>
      <p:ext uri="{BB962C8B-B14F-4D97-AF65-F5344CB8AC3E}">
        <p14:creationId xmlns:p14="http://schemas.microsoft.com/office/powerpoint/2010/main" val="40630717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EEC0-8D01-6976-2F46-4EB4460CAC19}"/>
              </a:ext>
            </a:extLst>
          </p:cNvPr>
          <p:cNvSpPr>
            <a:spLocks noGrp="1"/>
          </p:cNvSpPr>
          <p:nvPr>
            <p:ph type="title"/>
          </p:nvPr>
        </p:nvSpPr>
        <p:spPr/>
        <p:txBody>
          <a:bodyPr/>
          <a:lstStyle/>
          <a:p>
            <a:r>
              <a:rPr lang="en-US" dirty="0"/>
              <a:t>SIADH- Diagnostic criteria</a:t>
            </a:r>
          </a:p>
        </p:txBody>
      </p:sp>
      <p:pic>
        <p:nvPicPr>
          <p:cNvPr id="4" name="Content Placeholder 3" descr="A screenshot of a medical test&#10;&#10;AI-generated content may be incorrect.">
            <a:extLst>
              <a:ext uri="{FF2B5EF4-FFF2-40B4-BE49-F238E27FC236}">
                <a16:creationId xmlns:a16="http://schemas.microsoft.com/office/drawing/2014/main" id="{0D9EF360-92CA-D7D8-796C-7A08ECC794EB}"/>
              </a:ext>
            </a:extLst>
          </p:cNvPr>
          <p:cNvPicPr>
            <a:picLocks noGrp="1" noChangeAspect="1"/>
          </p:cNvPicPr>
          <p:nvPr>
            <p:ph idx="1"/>
          </p:nvPr>
        </p:nvPicPr>
        <p:blipFill>
          <a:blip r:embed="rId2"/>
          <a:stretch>
            <a:fillRect/>
          </a:stretch>
        </p:blipFill>
        <p:spPr>
          <a:xfrm>
            <a:off x="2552700" y="1829594"/>
            <a:ext cx="7086600" cy="4343400"/>
          </a:xfrm>
          <a:prstGeom prst="rect">
            <a:avLst/>
          </a:prstGeom>
        </p:spPr>
      </p:pic>
    </p:spTree>
    <p:extLst>
      <p:ext uri="{BB962C8B-B14F-4D97-AF65-F5344CB8AC3E}">
        <p14:creationId xmlns:p14="http://schemas.microsoft.com/office/powerpoint/2010/main" val="3685640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624CB-035C-09FD-A07D-7682E55F255E}"/>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721D5311-84A5-A2E2-98A2-CB326711B48C}"/>
              </a:ext>
            </a:extLst>
          </p:cNvPr>
          <p:cNvPicPr>
            <a:picLocks noGrp="1" noChangeAspect="1"/>
          </p:cNvPicPr>
          <p:nvPr>
            <p:ph idx="1"/>
          </p:nvPr>
        </p:nvPicPr>
        <p:blipFill>
          <a:blip r:embed="rId2"/>
          <a:stretch>
            <a:fillRect/>
          </a:stretch>
        </p:blipFill>
        <p:spPr>
          <a:xfrm>
            <a:off x="2519362" y="1901031"/>
            <a:ext cx="7153275" cy="4200525"/>
          </a:xfrm>
          <a:prstGeom prst="rect">
            <a:avLst/>
          </a:prstGeom>
        </p:spPr>
      </p:pic>
    </p:spTree>
    <p:extLst>
      <p:ext uri="{BB962C8B-B14F-4D97-AF65-F5344CB8AC3E}">
        <p14:creationId xmlns:p14="http://schemas.microsoft.com/office/powerpoint/2010/main" val="26163206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36E07-A3E8-8557-E970-FD5973B7FDF5}"/>
              </a:ext>
            </a:extLst>
          </p:cNvPr>
          <p:cNvSpPr>
            <a:spLocks noGrp="1"/>
          </p:cNvSpPr>
          <p:nvPr>
            <p:ph type="title"/>
          </p:nvPr>
        </p:nvSpPr>
        <p:spPr/>
        <p:txBody>
          <a:bodyPr/>
          <a:lstStyle/>
          <a:p>
            <a:r>
              <a:rPr lang="en-US" dirty="0"/>
              <a:t>SIADH treatment</a:t>
            </a:r>
          </a:p>
        </p:txBody>
      </p:sp>
      <p:pic>
        <p:nvPicPr>
          <p:cNvPr id="4" name="Content Placeholder 3" descr="A diagram of a disease&#10;&#10;AI-generated content may be incorrect.">
            <a:extLst>
              <a:ext uri="{FF2B5EF4-FFF2-40B4-BE49-F238E27FC236}">
                <a16:creationId xmlns:a16="http://schemas.microsoft.com/office/drawing/2014/main" id="{EE0A2D07-6358-FF30-F7C3-FACF8D838262}"/>
              </a:ext>
            </a:extLst>
          </p:cNvPr>
          <p:cNvPicPr>
            <a:picLocks noGrp="1" noChangeAspect="1"/>
          </p:cNvPicPr>
          <p:nvPr>
            <p:ph idx="1"/>
          </p:nvPr>
        </p:nvPicPr>
        <p:blipFill>
          <a:blip r:embed="rId2"/>
          <a:stretch>
            <a:fillRect/>
          </a:stretch>
        </p:blipFill>
        <p:spPr>
          <a:xfrm>
            <a:off x="1214437" y="2086769"/>
            <a:ext cx="6448425" cy="4171950"/>
          </a:xfrm>
          <a:prstGeom prst="rect">
            <a:avLst/>
          </a:prstGeom>
        </p:spPr>
      </p:pic>
      <p:sp>
        <p:nvSpPr>
          <p:cNvPr id="8" name="TextBox 7">
            <a:extLst>
              <a:ext uri="{FF2B5EF4-FFF2-40B4-BE49-F238E27FC236}">
                <a16:creationId xmlns:a16="http://schemas.microsoft.com/office/drawing/2014/main" id="{71BA4704-C1E2-A524-E352-28A1F06CD022}"/>
              </a:ext>
            </a:extLst>
          </p:cNvPr>
          <p:cNvSpPr txBox="1"/>
          <p:nvPr/>
        </p:nvSpPr>
        <p:spPr>
          <a:xfrm>
            <a:off x="7884254" y="1993210"/>
            <a:ext cx="3543484"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Acute worsening, seizures- treat aggressively with 3% hypertonic saline – to bring up Na by 4-6 </a:t>
            </a:r>
            <a:r>
              <a:rPr lang="en-US" dirty="0" err="1"/>
              <a:t>meq</a:t>
            </a:r>
            <a:r>
              <a:rPr lang="en-US" dirty="0"/>
              <a:t>/L in First hour and then slow down.</a:t>
            </a:r>
          </a:p>
          <a:p>
            <a:endParaRPr lang="en-US" dirty="0"/>
          </a:p>
          <a:p>
            <a:r>
              <a:rPr lang="en-US" dirty="0"/>
              <a:t>Chronic, mild symptoms like dizziness/ confusion, Na &gt; 125  – go slow, goal correction to 4-6 </a:t>
            </a:r>
            <a:r>
              <a:rPr lang="en-US" dirty="0" err="1"/>
              <a:t>meq</a:t>
            </a:r>
            <a:r>
              <a:rPr lang="en-US" dirty="0"/>
              <a:t> over 12-24 hours to prevent osmotic demyelination syndrome</a:t>
            </a:r>
          </a:p>
        </p:txBody>
      </p:sp>
    </p:spTree>
    <p:extLst>
      <p:ext uri="{BB962C8B-B14F-4D97-AF65-F5344CB8AC3E}">
        <p14:creationId xmlns:p14="http://schemas.microsoft.com/office/powerpoint/2010/main" val="33838873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44BFC-5B84-07A2-D864-F95A7E2BFF69}"/>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4C723B5E-63AF-ACAF-E894-9186CCE417C2}"/>
              </a:ext>
            </a:extLst>
          </p:cNvPr>
          <p:cNvSpPr>
            <a:spLocks noGrp="1"/>
          </p:cNvSpPr>
          <p:nvPr>
            <p:ph idx="1"/>
          </p:nvPr>
        </p:nvSpPr>
        <p:spPr/>
        <p:txBody>
          <a:bodyPr vert="horz" lIns="91440" tIns="45720" rIns="91440" bIns="45720" rtlCol="0" anchor="t">
            <a:normAutofit/>
          </a:bodyPr>
          <a:lstStyle/>
          <a:p>
            <a:r>
              <a:rPr lang="en-US" dirty="0"/>
              <a:t>References</a:t>
            </a:r>
          </a:p>
          <a:p>
            <a:r>
              <a:rPr lang="en-US" dirty="0"/>
              <a:t>Lange- Endocrine </a:t>
            </a:r>
          </a:p>
          <a:p>
            <a:r>
              <a:rPr lang="en-US" dirty="0"/>
              <a:t>Articles- JCEM, JAMA</a:t>
            </a:r>
          </a:p>
          <a:p>
            <a:r>
              <a:rPr lang="en-US" err="1"/>
              <a:t>Uptodate</a:t>
            </a:r>
            <a:r>
              <a:rPr lang="en-US" dirty="0"/>
              <a:t>, Scholar </a:t>
            </a:r>
            <a:r>
              <a:rPr lang="en-US" err="1"/>
              <a:t>rx</a:t>
            </a:r>
            <a:r>
              <a:rPr lang="en-US" dirty="0"/>
              <a:t> , earlier lectures and </a:t>
            </a:r>
          </a:p>
          <a:p>
            <a:r>
              <a:rPr lang="en-US" dirty="0"/>
              <a:t>limited online sources</a:t>
            </a:r>
          </a:p>
        </p:txBody>
      </p:sp>
      <p:pic>
        <p:nvPicPr>
          <p:cNvPr id="4" name="Picture 3" descr="Néstor Martín-Fernández de la Torre, un artista a reivindicar – Raras ...">
            <a:extLst>
              <a:ext uri="{FF2B5EF4-FFF2-40B4-BE49-F238E27FC236}">
                <a16:creationId xmlns:a16="http://schemas.microsoft.com/office/drawing/2014/main" id="{5DBBE35B-5CD2-9FC0-FA9B-ABD05D33A4B5}"/>
              </a:ext>
            </a:extLst>
          </p:cNvPr>
          <p:cNvPicPr>
            <a:picLocks noChangeAspect="1"/>
          </p:cNvPicPr>
          <p:nvPr/>
        </p:nvPicPr>
        <p:blipFill>
          <a:blip r:embed="rId2"/>
          <a:stretch>
            <a:fillRect/>
          </a:stretch>
        </p:blipFill>
        <p:spPr>
          <a:xfrm>
            <a:off x="7191375" y="959644"/>
            <a:ext cx="4162424" cy="4138612"/>
          </a:xfrm>
          <a:prstGeom prst="rect">
            <a:avLst/>
          </a:prstGeom>
        </p:spPr>
      </p:pic>
    </p:spTree>
    <p:extLst>
      <p:ext uri="{BB962C8B-B14F-4D97-AF65-F5344CB8AC3E}">
        <p14:creationId xmlns:p14="http://schemas.microsoft.com/office/powerpoint/2010/main" val="2680986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3567</Words>
  <Application>Microsoft Office PowerPoint</Application>
  <PresentationFormat>Widescreen</PresentationFormat>
  <Paragraphs>343</Paragraphs>
  <Slides>71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71</vt:i4>
      </vt:variant>
    </vt:vector>
  </HeadingPairs>
  <TitlesOfParts>
    <vt:vector size="82" baseType="lpstr">
      <vt:lpstr>Aptos</vt:lpstr>
      <vt:lpstr>Aptos Display</vt:lpstr>
      <vt:lpstr>Arial</vt:lpstr>
      <vt:lpstr>Calibri</vt:lpstr>
      <vt:lpstr>Gotham Light</vt:lpstr>
      <vt:lpstr>Merriweather</vt:lpstr>
      <vt:lpstr>PT Serif</vt:lpstr>
      <vt:lpstr>Source Sans Pro</vt:lpstr>
      <vt:lpstr>Times New Roman</vt:lpstr>
      <vt:lpstr>Wingdings</vt:lpstr>
      <vt:lpstr>office theme</vt:lpstr>
      <vt:lpstr>Endocrine lectures- Pituitary</vt:lpstr>
      <vt:lpstr>Objectives </vt:lpstr>
      <vt:lpstr>PowerPoint Presentation</vt:lpstr>
      <vt:lpstr>Master gland</vt:lpstr>
      <vt:lpstr>PowerPoint Presentation</vt:lpstr>
      <vt:lpstr>PowerPoint Presentation</vt:lpstr>
      <vt:lpstr>PowerPoint Presentation</vt:lpstr>
      <vt:lpstr>PowerPoint Presentation</vt:lpstr>
      <vt:lpstr>Acidophils – GH and Prolactin Basophils –B -FLAT</vt:lpstr>
      <vt:lpstr>PowerPoint Presentation</vt:lpstr>
      <vt:lpstr>PowerPoint Presentation</vt:lpstr>
      <vt:lpstr>Anatomy of the cavernous sinus</vt:lpstr>
      <vt:lpstr>Visual Field testing</vt:lpstr>
      <vt:lpstr>PowerPoint Presentation</vt:lpstr>
      <vt:lpstr>Normal Humphrey visual field</vt:lpstr>
      <vt:lpstr>Bitemporal visual field defect</vt:lpstr>
      <vt:lpstr>Homonymous hemianopsia</vt:lpstr>
      <vt:lpstr>Optic nerve related visual field defect</vt:lpstr>
      <vt:lpstr>PowerPoint Presentation</vt:lpstr>
      <vt:lpstr>LR6</vt:lpstr>
      <vt:lpstr>6th cranial nerve palsy, right eye</vt:lpstr>
      <vt:lpstr>3rd cranial N</vt:lpstr>
      <vt:lpstr>3rd cranial nerve palsy, right eye</vt:lpstr>
      <vt:lpstr>3rd cranial nerve palsy, right eye pupil involvement</vt:lpstr>
      <vt:lpstr>SO4</vt:lpstr>
      <vt:lpstr>4th cranial nerve palsy, left eye</vt:lpstr>
      <vt:lpstr> Sellar lesions</vt:lpstr>
      <vt:lpstr>Pituitary adenoma</vt:lpstr>
      <vt:lpstr>Evaluation of a suspected sellar lesion</vt:lpstr>
      <vt:lpstr>Treatment – Replace hormones- Cortisol</vt:lpstr>
      <vt:lpstr>PowerPoint Presentation</vt:lpstr>
      <vt:lpstr>Treatment of pituitary adenoma </vt:lpstr>
      <vt:lpstr>Indications for surgery</vt:lpstr>
      <vt:lpstr>Treatment</vt:lpstr>
      <vt:lpstr>PowerPoint Presentation</vt:lpstr>
      <vt:lpstr>Sella and optic chiasm, cavernous sinus</vt:lpstr>
      <vt:lpstr>PowerPoint Presentation</vt:lpstr>
      <vt:lpstr>Questions...</vt:lpstr>
      <vt:lpstr>Diabetes insipidus/ AVP deficiency</vt:lpstr>
      <vt:lpstr>Diabetes insipidus/ AVP- deficiency</vt:lpstr>
      <vt:lpstr>Water homeostasis  The Journal of Clinical Endocrinology &amp; Metabolism, Volume 107, Issue 8, August 2022,</vt:lpstr>
      <vt:lpstr>Renal response</vt:lpstr>
      <vt:lpstr>The Journal of Clinical Endocrinology &amp; Metabolism, Volume 107, Issue 10, October 2022,</vt:lpstr>
      <vt:lpstr>PowerPoint Presentation</vt:lpstr>
      <vt:lpstr>PowerPoint Presentation</vt:lpstr>
      <vt:lpstr>The Journal of Clinical Endocrinology &amp; Metabolism, Volume 97, Issue 10, 1 October 2012,</vt:lpstr>
      <vt:lpstr>Testing – Water deprivation Test</vt:lpstr>
      <vt:lpstr>PowerPoint Presentation</vt:lpstr>
      <vt:lpstr>Water deprivation test</vt:lpstr>
      <vt:lpstr>PowerPoint Presentation</vt:lpstr>
      <vt:lpstr>Serum AVP and Co peptin</vt:lpstr>
      <vt:lpstr>Treatment of central DI </vt:lpstr>
      <vt:lpstr>Excess pituitary hormones</vt:lpstr>
      <vt:lpstr>Acromegaly ( GH excess in adult)</vt:lpstr>
      <vt:lpstr>Prolactinomas </vt:lpstr>
      <vt:lpstr>PowerPoint Presentation</vt:lpstr>
      <vt:lpstr>PowerPoint Presentation</vt:lpstr>
      <vt:lpstr>Treatment </vt:lpstr>
      <vt:lpstr>Pituitary apoplexy/ infarction</vt:lpstr>
      <vt:lpstr>PowerPoint Presentation</vt:lpstr>
      <vt:lpstr>Sheehan syndrome</vt:lpstr>
      <vt:lpstr>Hypophysitis </vt:lpstr>
      <vt:lpstr>The Journal of Clinical Endocrinology &amp; Metabolism, Volume 107, Issue 1, January 2022,</vt:lpstr>
      <vt:lpstr>PowerPoint Presentation</vt:lpstr>
      <vt:lpstr>PowerPoint Presentation</vt:lpstr>
      <vt:lpstr>Empty sella</vt:lpstr>
      <vt:lpstr>Hyponatremia SIADH </vt:lpstr>
      <vt:lpstr>SIADH- Diagnostic criteria</vt:lpstr>
      <vt:lpstr>PowerPoint Presentation</vt:lpstr>
      <vt:lpstr>SIADH treatment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Buzicky, Stacey</cp:lastModifiedBy>
  <cp:revision>1918</cp:revision>
  <dcterms:created xsi:type="dcterms:W3CDTF">2025-05-25T13:32:33Z</dcterms:created>
  <dcterms:modified xsi:type="dcterms:W3CDTF">2025-07-31T17:13:02Z</dcterms:modified>
</cp:coreProperties>
</file>