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257" r:id="rId2"/>
    <p:sldId id="258" r:id="rId3"/>
    <p:sldId id="259" r:id="rId4"/>
    <p:sldId id="320" r:id="rId5"/>
    <p:sldId id="298" r:id="rId6"/>
    <p:sldId id="421" r:id="rId7"/>
    <p:sldId id="261" r:id="rId8"/>
    <p:sldId id="273" r:id="rId9"/>
    <p:sldId id="287" r:id="rId10"/>
    <p:sldId id="288" r:id="rId11"/>
    <p:sldId id="285" r:id="rId12"/>
    <p:sldId id="281" r:id="rId13"/>
    <p:sldId id="283" r:id="rId14"/>
    <p:sldId id="408" r:id="rId15"/>
    <p:sldId id="290" r:id="rId16"/>
    <p:sldId id="278" r:id="rId17"/>
    <p:sldId id="415" r:id="rId18"/>
    <p:sldId id="409" r:id="rId19"/>
    <p:sldId id="416" r:id="rId20"/>
    <p:sldId id="410" r:id="rId21"/>
    <p:sldId id="411" r:id="rId22"/>
    <p:sldId id="294" r:id="rId23"/>
    <p:sldId id="346" r:id="rId24"/>
    <p:sldId id="420" r:id="rId25"/>
    <p:sldId id="279" r:id="rId26"/>
    <p:sldId id="280" r:id="rId27"/>
    <p:sldId id="309" r:id="rId28"/>
    <p:sldId id="318" r:id="rId29"/>
    <p:sldId id="310" r:id="rId30"/>
    <p:sldId id="312" r:id="rId31"/>
    <p:sldId id="284" r:id="rId32"/>
    <p:sldId id="311" r:id="rId33"/>
    <p:sldId id="291" r:id="rId34"/>
    <p:sldId id="329" r:id="rId35"/>
    <p:sldId id="314" r:id="rId36"/>
    <p:sldId id="274" r:id="rId37"/>
    <p:sldId id="422" r:id="rId38"/>
    <p:sldId id="423" r:id="rId39"/>
    <p:sldId id="424" r:id="rId40"/>
    <p:sldId id="391" r:id="rId41"/>
    <p:sldId id="321" r:id="rId42"/>
    <p:sldId id="289" r:id="rId43"/>
    <p:sldId id="396" r:id="rId44"/>
    <p:sldId id="322" r:id="rId45"/>
    <p:sldId id="397" r:id="rId46"/>
    <p:sldId id="398" r:id="rId47"/>
    <p:sldId id="399" r:id="rId48"/>
    <p:sldId id="401" r:id="rId49"/>
    <p:sldId id="400" r:id="rId50"/>
    <p:sldId id="260" r:id="rId51"/>
    <p:sldId id="277" r:id="rId52"/>
    <p:sldId id="393" r:id="rId53"/>
    <p:sldId id="387" r:id="rId54"/>
    <p:sldId id="266" r:id="rId55"/>
    <p:sldId id="268" r:id="rId56"/>
    <p:sldId id="269" r:id="rId57"/>
    <p:sldId id="270" r:id="rId58"/>
    <p:sldId id="395" r:id="rId59"/>
    <p:sldId id="402" r:id="rId60"/>
    <p:sldId id="403" r:id="rId61"/>
    <p:sldId id="404" r:id="rId62"/>
    <p:sldId id="405" r:id="rId63"/>
    <p:sldId id="406" r:id="rId64"/>
    <p:sldId id="425" r:id="rId65"/>
    <p:sldId id="426" r:id="rId66"/>
    <p:sldId id="427" r:id="rId67"/>
    <p:sldId id="323" r:id="rId68"/>
    <p:sldId id="324" r:id="rId69"/>
    <p:sldId id="327" r:id="rId70"/>
    <p:sldId id="325" r:id="rId71"/>
    <p:sldId id="328" r:id="rId72"/>
    <p:sldId id="297" r:id="rId73"/>
    <p:sldId id="265"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4660"/>
  </p:normalViewPr>
  <p:slideViewPr>
    <p:cSldViewPr snapToGrid="0">
      <p:cViewPr varScale="1">
        <p:scale>
          <a:sx n="101" d="100"/>
          <a:sy n="101" d="100"/>
        </p:scale>
        <p:origin x="36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8A49B7-7734-4DF9-BBEF-C0C8FB23E225}"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435386-C4E2-45CB-8685-993B97B5DBEA}" type="slidenum">
              <a:rPr lang="en-US" smtClean="0"/>
              <a:t>‹#›</a:t>
            </a:fld>
            <a:endParaRPr lang="en-US"/>
          </a:p>
        </p:txBody>
      </p:sp>
    </p:spTree>
    <p:extLst>
      <p:ext uri="{BB962C8B-B14F-4D97-AF65-F5344CB8AC3E}">
        <p14:creationId xmlns:p14="http://schemas.microsoft.com/office/powerpoint/2010/main" val="4179029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Alefishat</a:t>
            </a:r>
          </a:p>
        </p:txBody>
      </p:sp>
      <p:sp>
        <p:nvSpPr>
          <p:cNvPr id="4" name="Slide Number Placeholder 3"/>
          <p:cNvSpPr>
            <a:spLocks noGrp="1"/>
          </p:cNvSpPr>
          <p:nvPr>
            <p:ph type="sldNum" sz="quarter" idx="5"/>
          </p:nvPr>
        </p:nvSpPr>
        <p:spPr/>
        <p:txBody>
          <a:bodyPr/>
          <a:lstStyle/>
          <a:p>
            <a:fld id="{E1435386-C4E2-45CB-8685-993B97B5DBEA}" type="slidenum">
              <a:rPr lang="en-US" smtClean="0"/>
              <a:t>25</a:t>
            </a:fld>
            <a:endParaRPr lang="en-US"/>
          </a:p>
        </p:txBody>
      </p:sp>
    </p:spTree>
    <p:extLst>
      <p:ext uri="{BB962C8B-B14F-4D97-AF65-F5344CB8AC3E}">
        <p14:creationId xmlns:p14="http://schemas.microsoft.com/office/powerpoint/2010/main" val="1661992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Dr. Alefishat</a:t>
            </a:r>
          </a:p>
          <a:p>
            <a:endParaRPr lang="en-US" dirty="0"/>
          </a:p>
        </p:txBody>
      </p:sp>
      <p:sp>
        <p:nvSpPr>
          <p:cNvPr id="4" name="Slide Number Placeholder 3"/>
          <p:cNvSpPr>
            <a:spLocks noGrp="1"/>
          </p:cNvSpPr>
          <p:nvPr>
            <p:ph type="sldNum" sz="quarter" idx="5"/>
          </p:nvPr>
        </p:nvSpPr>
        <p:spPr/>
        <p:txBody>
          <a:bodyPr/>
          <a:lstStyle/>
          <a:p>
            <a:fld id="{E1435386-C4E2-45CB-8685-993B97B5DBEA}" type="slidenum">
              <a:rPr lang="en-US" smtClean="0"/>
              <a:t>26</a:t>
            </a:fld>
            <a:endParaRPr lang="en-US"/>
          </a:p>
        </p:txBody>
      </p:sp>
    </p:spTree>
    <p:extLst>
      <p:ext uri="{BB962C8B-B14F-4D97-AF65-F5344CB8AC3E}">
        <p14:creationId xmlns:p14="http://schemas.microsoft.com/office/powerpoint/2010/main" val="108172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Dr. Alefishat</a:t>
            </a:r>
          </a:p>
          <a:p>
            <a:endParaRPr lang="en-US" dirty="0"/>
          </a:p>
        </p:txBody>
      </p:sp>
      <p:sp>
        <p:nvSpPr>
          <p:cNvPr id="4" name="Slide Number Placeholder 3"/>
          <p:cNvSpPr>
            <a:spLocks noGrp="1"/>
          </p:cNvSpPr>
          <p:nvPr>
            <p:ph type="sldNum" sz="quarter" idx="5"/>
          </p:nvPr>
        </p:nvSpPr>
        <p:spPr/>
        <p:txBody>
          <a:bodyPr/>
          <a:lstStyle/>
          <a:p>
            <a:fld id="{E1435386-C4E2-45CB-8685-993B97B5DBEA}" type="slidenum">
              <a:rPr lang="en-US" smtClean="0"/>
              <a:t>65</a:t>
            </a:fld>
            <a:endParaRPr lang="en-US"/>
          </a:p>
        </p:txBody>
      </p:sp>
    </p:spTree>
    <p:extLst>
      <p:ext uri="{BB962C8B-B14F-4D97-AF65-F5344CB8AC3E}">
        <p14:creationId xmlns:p14="http://schemas.microsoft.com/office/powerpoint/2010/main" val="1326737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Dr. Alefishat</a:t>
            </a:r>
          </a:p>
          <a:p>
            <a:endParaRPr lang="en-US" dirty="0"/>
          </a:p>
        </p:txBody>
      </p:sp>
      <p:sp>
        <p:nvSpPr>
          <p:cNvPr id="4" name="Slide Number Placeholder 3"/>
          <p:cNvSpPr>
            <a:spLocks noGrp="1"/>
          </p:cNvSpPr>
          <p:nvPr>
            <p:ph type="sldNum" sz="quarter" idx="5"/>
          </p:nvPr>
        </p:nvSpPr>
        <p:spPr/>
        <p:txBody>
          <a:bodyPr/>
          <a:lstStyle/>
          <a:p>
            <a:fld id="{E1435386-C4E2-45CB-8685-993B97B5DBEA}" type="slidenum">
              <a:rPr lang="en-US" smtClean="0"/>
              <a:t>66</a:t>
            </a:fld>
            <a:endParaRPr lang="en-US"/>
          </a:p>
        </p:txBody>
      </p:sp>
    </p:spTree>
    <p:extLst>
      <p:ext uri="{BB962C8B-B14F-4D97-AF65-F5344CB8AC3E}">
        <p14:creationId xmlns:p14="http://schemas.microsoft.com/office/powerpoint/2010/main" val="2523462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E8B02-8595-D710-A2C9-C70DFC3D8A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ECB461-6155-A40B-8E91-CFADCF413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CC4AEC9-04BB-3B1E-BC0A-9A131A628AF4}"/>
              </a:ext>
            </a:extLst>
          </p:cNvPr>
          <p:cNvSpPr>
            <a:spLocks noGrp="1"/>
          </p:cNvSpPr>
          <p:nvPr>
            <p:ph type="dt" sz="half" idx="10"/>
          </p:nvPr>
        </p:nvSpPr>
        <p:spPr/>
        <p:txBody>
          <a:bodyPr/>
          <a:lstStyle/>
          <a:p>
            <a:fld id="{E3E3A82C-0D4C-4736-BE35-3D35158CBCB8}" type="datetimeFigureOut">
              <a:rPr lang="en-US" smtClean="0"/>
              <a:t>9/1/2026</a:t>
            </a:fld>
            <a:endParaRPr lang="en-US"/>
          </a:p>
        </p:txBody>
      </p:sp>
      <p:sp>
        <p:nvSpPr>
          <p:cNvPr id="5" name="Footer Placeholder 4">
            <a:extLst>
              <a:ext uri="{FF2B5EF4-FFF2-40B4-BE49-F238E27FC236}">
                <a16:creationId xmlns:a16="http://schemas.microsoft.com/office/drawing/2014/main" id="{A30028CF-4A88-40C5-74DE-FC5D8504B6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778B14-9158-5141-39EA-05C1A137ECBA}"/>
              </a:ext>
            </a:extLst>
          </p:cNvPr>
          <p:cNvSpPr>
            <a:spLocks noGrp="1"/>
          </p:cNvSpPr>
          <p:nvPr>
            <p:ph type="sldNum" sz="quarter" idx="12"/>
          </p:nvPr>
        </p:nvSpPr>
        <p:spPr/>
        <p:txBody>
          <a:bodyPr/>
          <a:lstStyle/>
          <a:p>
            <a:fld id="{12279632-4DDE-40C3-9609-8C5B19A58EA6}" type="slidenum">
              <a:rPr lang="en-US" smtClean="0"/>
              <a:t>‹#›</a:t>
            </a:fld>
            <a:endParaRPr lang="en-US"/>
          </a:p>
        </p:txBody>
      </p:sp>
    </p:spTree>
    <p:extLst>
      <p:ext uri="{BB962C8B-B14F-4D97-AF65-F5344CB8AC3E}">
        <p14:creationId xmlns:p14="http://schemas.microsoft.com/office/powerpoint/2010/main" val="4091169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2A908-0282-542E-0653-D8D392F94F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1F6A85-ADF6-E908-8B57-348719F81C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97E073-A2C7-2B0B-06DD-6B7C4A8A41D4}"/>
              </a:ext>
            </a:extLst>
          </p:cNvPr>
          <p:cNvSpPr>
            <a:spLocks noGrp="1"/>
          </p:cNvSpPr>
          <p:nvPr>
            <p:ph type="dt" sz="half" idx="10"/>
          </p:nvPr>
        </p:nvSpPr>
        <p:spPr/>
        <p:txBody>
          <a:bodyPr/>
          <a:lstStyle/>
          <a:p>
            <a:fld id="{E3E3A82C-0D4C-4736-BE35-3D35158CBCB8}" type="datetimeFigureOut">
              <a:rPr lang="en-US" smtClean="0"/>
              <a:t>9/1/2026</a:t>
            </a:fld>
            <a:endParaRPr lang="en-US"/>
          </a:p>
        </p:txBody>
      </p:sp>
      <p:sp>
        <p:nvSpPr>
          <p:cNvPr id="5" name="Footer Placeholder 4">
            <a:extLst>
              <a:ext uri="{FF2B5EF4-FFF2-40B4-BE49-F238E27FC236}">
                <a16:creationId xmlns:a16="http://schemas.microsoft.com/office/drawing/2014/main" id="{80BE47BC-276C-A051-2B85-56A63110D7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4DDFA2-8874-5909-EA62-0623DAEA24DF}"/>
              </a:ext>
            </a:extLst>
          </p:cNvPr>
          <p:cNvSpPr>
            <a:spLocks noGrp="1"/>
          </p:cNvSpPr>
          <p:nvPr>
            <p:ph type="sldNum" sz="quarter" idx="12"/>
          </p:nvPr>
        </p:nvSpPr>
        <p:spPr/>
        <p:txBody>
          <a:bodyPr/>
          <a:lstStyle/>
          <a:p>
            <a:fld id="{12279632-4DDE-40C3-9609-8C5B19A58EA6}" type="slidenum">
              <a:rPr lang="en-US" smtClean="0"/>
              <a:t>‹#›</a:t>
            </a:fld>
            <a:endParaRPr lang="en-US"/>
          </a:p>
        </p:txBody>
      </p:sp>
    </p:spTree>
    <p:extLst>
      <p:ext uri="{BB962C8B-B14F-4D97-AF65-F5344CB8AC3E}">
        <p14:creationId xmlns:p14="http://schemas.microsoft.com/office/powerpoint/2010/main" val="553744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EF175-5828-8826-BD5A-4E493CF7EF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FE251BD-00F5-17A0-3EDA-56ED88350B8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66DAC5-E164-E72B-4BC8-F71636232191}"/>
              </a:ext>
            </a:extLst>
          </p:cNvPr>
          <p:cNvSpPr>
            <a:spLocks noGrp="1"/>
          </p:cNvSpPr>
          <p:nvPr>
            <p:ph type="dt" sz="half" idx="10"/>
          </p:nvPr>
        </p:nvSpPr>
        <p:spPr/>
        <p:txBody>
          <a:bodyPr/>
          <a:lstStyle/>
          <a:p>
            <a:fld id="{E3E3A82C-0D4C-4736-BE35-3D35158CBCB8}" type="datetimeFigureOut">
              <a:rPr lang="en-US" smtClean="0"/>
              <a:t>9/1/2026</a:t>
            </a:fld>
            <a:endParaRPr lang="en-US"/>
          </a:p>
        </p:txBody>
      </p:sp>
      <p:sp>
        <p:nvSpPr>
          <p:cNvPr id="5" name="Footer Placeholder 4">
            <a:extLst>
              <a:ext uri="{FF2B5EF4-FFF2-40B4-BE49-F238E27FC236}">
                <a16:creationId xmlns:a16="http://schemas.microsoft.com/office/drawing/2014/main" id="{44B7E259-A3D5-0C41-C25E-353A227D00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7D715A-615B-6E4C-839C-F99A92A03334}"/>
              </a:ext>
            </a:extLst>
          </p:cNvPr>
          <p:cNvSpPr>
            <a:spLocks noGrp="1"/>
          </p:cNvSpPr>
          <p:nvPr>
            <p:ph type="sldNum" sz="quarter" idx="12"/>
          </p:nvPr>
        </p:nvSpPr>
        <p:spPr/>
        <p:txBody>
          <a:bodyPr/>
          <a:lstStyle/>
          <a:p>
            <a:fld id="{12279632-4DDE-40C3-9609-8C5B19A58EA6}" type="slidenum">
              <a:rPr lang="en-US" smtClean="0"/>
              <a:t>‹#›</a:t>
            </a:fld>
            <a:endParaRPr lang="en-US"/>
          </a:p>
        </p:txBody>
      </p:sp>
    </p:spTree>
    <p:extLst>
      <p:ext uri="{BB962C8B-B14F-4D97-AF65-F5344CB8AC3E}">
        <p14:creationId xmlns:p14="http://schemas.microsoft.com/office/powerpoint/2010/main" val="2856400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B1D1A-C1F6-F5F4-316E-F8B1362ECE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A89E6E-285A-C86B-2648-81DFAF7A8B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78990E-2B09-32F5-5846-4F494E6D1B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5C13D8-9F42-01F0-FCA5-244D0B53EA22}"/>
              </a:ext>
            </a:extLst>
          </p:cNvPr>
          <p:cNvSpPr>
            <a:spLocks noGrp="1"/>
          </p:cNvSpPr>
          <p:nvPr>
            <p:ph type="dt" sz="half" idx="10"/>
          </p:nvPr>
        </p:nvSpPr>
        <p:spPr/>
        <p:txBody>
          <a:bodyPr/>
          <a:lstStyle/>
          <a:p>
            <a:fld id="{E3E3A82C-0D4C-4736-BE35-3D35158CBCB8}" type="datetimeFigureOut">
              <a:rPr lang="en-US" smtClean="0"/>
              <a:t>9/1/2026</a:t>
            </a:fld>
            <a:endParaRPr lang="en-US"/>
          </a:p>
        </p:txBody>
      </p:sp>
      <p:sp>
        <p:nvSpPr>
          <p:cNvPr id="6" name="Footer Placeholder 5">
            <a:extLst>
              <a:ext uri="{FF2B5EF4-FFF2-40B4-BE49-F238E27FC236}">
                <a16:creationId xmlns:a16="http://schemas.microsoft.com/office/drawing/2014/main" id="{519A7B36-9561-D2C5-4F83-C9AB5DD69B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0182BA-1BC8-2E3C-D565-0B0A4FA13E2F}"/>
              </a:ext>
            </a:extLst>
          </p:cNvPr>
          <p:cNvSpPr>
            <a:spLocks noGrp="1"/>
          </p:cNvSpPr>
          <p:nvPr>
            <p:ph type="sldNum" sz="quarter" idx="12"/>
          </p:nvPr>
        </p:nvSpPr>
        <p:spPr/>
        <p:txBody>
          <a:bodyPr/>
          <a:lstStyle/>
          <a:p>
            <a:fld id="{12279632-4DDE-40C3-9609-8C5B19A58EA6}" type="slidenum">
              <a:rPr lang="en-US" smtClean="0"/>
              <a:t>‹#›</a:t>
            </a:fld>
            <a:endParaRPr lang="en-US"/>
          </a:p>
        </p:txBody>
      </p:sp>
    </p:spTree>
    <p:extLst>
      <p:ext uri="{BB962C8B-B14F-4D97-AF65-F5344CB8AC3E}">
        <p14:creationId xmlns:p14="http://schemas.microsoft.com/office/powerpoint/2010/main" val="2461795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3722E-3211-204E-1938-1ACFAC2B75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1520A6-86A3-E2A2-3881-B15FD774A1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E5CD53-20E8-B45B-A13B-09F7103A86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9917E7-12BA-4606-521B-BCEC74F35A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C8A5EE-6A80-3838-87D3-72F3B9A601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C76BFD-39DB-C753-5850-39F81703B85A}"/>
              </a:ext>
            </a:extLst>
          </p:cNvPr>
          <p:cNvSpPr>
            <a:spLocks noGrp="1"/>
          </p:cNvSpPr>
          <p:nvPr>
            <p:ph type="dt" sz="half" idx="10"/>
          </p:nvPr>
        </p:nvSpPr>
        <p:spPr/>
        <p:txBody>
          <a:bodyPr/>
          <a:lstStyle/>
          <a:p>
            <a:fld id="{E3E3A82C-0D4C-4736-BE35-3D35158CBCB8}" type="datetimeFigureOut">
              <a:rPr lang="en-US" smtClean="0"/>
              <a:t>9/1/2026</a:t>
            </a:fld>
            <a:endParaRPr lang="en-US"/>
          </a:p>
        </p:txBody>
      </p:sp>
      <p:sp>
        <p:nvSpPr>
          <p:cNvPr id="8" name="Footer Placeholder 7">
            <a:extLst>
              <a:ext uri="{FF2B5EF4-FFF2-40B4-BE49-F238E27FC236}">
                <a16:creationId xmlns:a16="http://schemas.microsoft.com/office/drawing/2014/main" id="{F0187051-DDDF-BD87-0E8F-6EF0C519C3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F124B2-3DF7-6158-985D-D1DC928FA2C0}"/>
              </a:ext>
            </a:extLst>
          </p:cNvPr>
          <p:cNvSpPr>
            <a:spLocks noGrp="1"/>
          </p:cNvSpPr>
          <p:nvPr>
            <p:ph type="sldNum" sz="quarter" idx="12"/>
          </p:nvPr>
        </p:nvSpPr>
        <p:spPr/>
        <p:txBody>
          <a:bodyPr/>
          <a:lstStyle/>
          <a:p>
            <a:fld id="{12279632-4DDE-40C3-9609-8C5B19A58EA6}" type="slidenum">
              <a:rPr lang="en-US" smtClean="0"/>
              <a:t>‹#›</a:t>
            </a:fld>
            <a:endParaRPr lang="en-US"/>
          </a:p>
        </p:txBody>
      </p:sp>
    </p:spTree>
    <p:extLst>
      <p:ext uri="{BB962C8B-B14F-4D97-AF65-F5344CB8AC3E}">
        <p14:creationId xmlns:p14="http://schemas.microsoft.com/office/powerpoint/2010/main" val="2477760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D99A6-FC22-D385-FB8F-FAE3E2C324E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95B022-3E96-43A0-C48F-53D8CB2A5D58}"/>
              </a:ext>
            </a:extLst>
          </p:cNvPr>
          <p:cNvSpPr>
            <a:spLocks noGrp="1"/>
          </p:cNvSpPr>
          <p:nvPr>
            <p:ph type="dt" sz="half" idx="10"/>
          </p:nvPr>
        </p:nvSpPr>
        <p:spPr/>
        <p:txBody>
          <a:bodyPr/>
          <a:lstStyle/>
          <a:p>
            <a:fld id="{E3E3A82C-0D4C-4736-BE35-3D35158CBCB8}" type="datetimeFigureOut">
              <a:rPr lang="en-US" smtClean="0"/>
              <a:t>9/1/2026</a:t>
            </a:fld>
            <a:endParaRPr lang="en-US"/>
          </a:p>
        </p:txBody>
      </p:sp>
      <p:sp>
        <p:nvSpPr>
          <p:cNvPr id="4" name="Footer Placeholder 3">
            <a:extLst>
              <a:ext uri="{FF2B5EF4-FFF2-40B4-BE49-F238E27FC236}">
                <a16:creationId xmlns:a16="http://schemas.microsoft.com/office/drawing/2014/main" id="{094C383E-345D-B94C-8F24-AAC03C07E3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7780AC-3A22-26B9-5FFE-080D79E6F72A}"/>
              </a:ext>
            </a:extLst>
          </p:cNvPr>
          <p:cNvSpPr>
            <a:spLocks noGrp="1"/>
          </p:cNvSpPr>
          <p:nvPr>
            <p:ph type="sldNum" sz="quarter" idx="12"/>
          </p:nvPr>
        </p:nvSpPr>
        <p:spPr/>
        <p:txBody>
          <a:bodyPr/>
          <a:lstStyle/>
          <a:p>
            <a:fld id="{12279632-4DDE-40C3-9609-8C5B19A58EA6}" type="slidenum">
              <a:rPr lang="en-US" smtClean="0"/>
              <a:t>‹#›</a:t>
            </a:fld>
            <a:endParaRPr lang="en-US"/>
          </a:p>
        </p:txBody>
      </p:sp>
    </p:spTree>
    <p:extLst>
      <p:ext uri="{BB962C8B-B14F-4D97-AF65-F5344CB8AC3E}">
        <p14:creationId xmlns:p14="http://schemas.microsoft.com/office/powerpoint/2010/main" val="1482750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8E23AC-E9BC-FA04-A147-6AB60E16F255}"/>
              </a:ext>
            </a:extLst>
          </p:cNvPr>
          <p:cNvSpPr>
            <a:spLocks noGrp="1"/>
          </p:cNvSpPr>
          <p:nvPr>
            <p:ph type="dt" sz="half" idx="10"/>
          </p:nvPr>
        </p:nvSpPr>
        <p:spPr/>
        <p:txBody>
          <a:bodyPr/>
          <a:lstStyle/>
          <a:p>
            <a:fld id="{E3E3A82C-0D4C-4736-BE35-3D35158CBCB8}" type="datetimeFigureOut">
              <a:rPr lang="en-US" smtClean="0"/>
              <a:t>9/1/2026</a:t>
            </a:fld>
            <a:endParaRPr lang="en-US"/>
          </a:p>
        </p:txBody>
      </p:sp>
      <p:sp>
        <p:nvSpPr>
          <p:cNvPr id="3" name="Footer Placeholder 2">
            <a:extLst>
              <a:ext uri="{FF2B5EF4-FFF2-40B4-BE49-F238E27FC236}">
                <a16:creationId xmlns:a16="http://schemas.microsoft.com/office/drawing/2014/main" id="{51DF4DA0-F08B-4C7F-A0EE-4C325C4F47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C30C49-B821-6337-970D-630B2BA50FFA}"/>
              </a:ext>
            </a:extLst>
          </p:cNvPr>
          <p:cNvSpPr>
            <a:spLocks noGrp="1"/>
          </p:cNvSpPr>
          <p:nvPr>
            <p:ph type="sldNum" sz="quarter" idx="12"/>
          </p:nvPr>
        </p:nvSpPr>
        <p:spPr/>
        <p:txBody>
          <a:bodyPr/>
          <a:lstStyle/>
          <a:p>
            <a:fld id="{12279632-4DDE-40C3-9609-8C5B19A58EA6}" type="slidenum">
              <a:rPr lang="en-US" smtClean="0"/>
              <a:t>‹#›</a:t>
            </a:fld>
            <a:endParaRPr lang="en-US"/>
          </a:p>
        </p:txBody>
      </p:sp>
    </p:spTree>
    <p:extLst>
      <p:ext uri="{BB962C8B-B14F-4D97-AF65-F5344CB8AC3E}">
        <p14:creationId xmlns:p14="http://schemas.microsoft.com/office/powerpoint/2010/main" val="3005995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693AD-F75B-B54E-9024-DCF337D01F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FE0AED-F947-3861-C5EA-D0D0193872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2FDBBC-1FDC-FEC7-3400-A73985D12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0A952C-D1D7-3F0F-722C-27C4194D3039}"/>
              </a:ext>
            </a:extLst>
          </p:cNvPr>
          <p:cNvSpPr>
            <a:spLocks noGrp="1"/>
          </p:cNvSpPr>
          <p:nvPr>
            <p:ph type="dt" sz="half" idx="10"/>
          </p:nvPr>
        </p:nvSpPr>
        <p:spPr/>
        <p:txBody>
          <a:bodyPr/>
          <a:lstStyle/>
          <a:p>
            <a:fld id="{E3E3A82C-0D4C-4736-BE35-3D35158CBCB8}" type="datetimeFigureOut">
              <a:rPr lang="en-US" smtClean="0"/>
              <a:t>9/1/2026</a:t>
            </a:fld>
            <a:endParaRPr lang="en-US"/>
          </a:p>
        </p:txBody>
      </p:sp>
      <p:sp>
        <p:nvSpPr>
          <p:cNvPr id="6" name="Footer Placeholder 5">
            <a:extLst>
              <a:ext uri="{FF2B5EF4-FFF2-40B4-BE49-F238E27FC236}">
                <a16:creationId xmlns:a16="http://schemas.microsoft.com/office/drawing/2014/main" id="{C0B72E28-95A8-0BB9-1938-A543A06BBF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1B3077-D95A-929D-F14C-5C6A8EB346BE}"/>
              </a:ext>
            </a:extLst>
          </p:cNvPr>
          <p:cNvSpPr>
            <a:spLocks noGrp="1"/>
          </p:cNvSpPr>
          <p:nvPr>
            <p:ph type="sldNum" sz="quarter" idx="12"/>
          </p:nvPr>
        </p:nvSpPr>
        <p:spPr/>
        <p:txBody>
          <a:bodyPr/>
          <a:lstStyle/>
          <a:p>
            <a:fld id="{12279632-4DDE-40C3-9609-8C5B19A58EA6}" type="slidenum">
              <a:rPr lang="en-US" smtClean="0"/>
              <a:t>‹#›</a:t>
            </a:fld>
            <a:endParaRPr lang="en-US"/>
          </a:p>
        </p:txBody>
      </p:sp>
    </p:spTree>
    <p:extLst>
      <p:ext uri="{BB962C8B-B14F-4D97-AF65-F5344CB8AC3E}">
        <p14:creationId xmlns:p14="http://schemas.microsoft.com/office/powerpoint/2010/main" val="3667426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E7ABB-0D93-636B-47B9-23DD08790E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B7037D-24B3-A77D-534D-D37AFA249B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827421-D1F7-64DF-29F7-205159500E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3C8C41-2207-7CC7-999C-D3EC59E29B85}"/>
              </a:ext>
            </a:extLst>
          </p:cNvPr>
          <p:cNvSpPr>
            <a:spLocks noGrp="1"/>
          </p:cNvSpPr>
          <p:nvPr>
            <p:ph type="dt" sz="half" idx="10"/>
          </p:nvPr>
        </p:nvSpPr>
        <p:spPr/>
        <p:txBody>
          <a:bodyPr/>
          <a:lstStyle/>
          <a:p>
            <a:fld id="{E3E3A82C-0D4C-4736-BE35-3D35158CBCB8}" type="datetimeFigureOut">
              <a:rPr lang="en-US" smtClean="0"/>
              <a:t>9/1/2026</a:t>
            </a:fld>
            <a:endParaRPr lang="en-US"/>
          </a:p>
        </p:txBody>
      </p:sp>
      <p:sp>
        <p:nvSpPr>
          <p:cNvPr id="6" name="Footer Placeholder 5">
            <a:extLst>
              <a:ext uri="{FF2B5EF4-FFF2-40B4-BE49-F238E27FC236}">
                <a16:creationId xmlns:a16="http://schemas.microsoft.com/office/drawing/2014/main" id="{7B2EC0AC-73B2-3C1C-CB4F-BC61CFB0FB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7C0255-014D-7BF7-67E2-252346447741}"/>
              </a:ext>
            </a:extLst>
          </p:cNvPr>
          <p:cNvSpPr>
            <a:spLocks noGrp="1"/>
          </p:cNvSpPr>
          <p:nvPr>
            <p:ph type="sldNum" sz="quarter" idx="12"/>
          </p:nvPr>
        </p:nvSpPr>
        <p:spPr/>
        <p:txBody>
          <a:bodyPr/>
          <a:lstStyle/>
          <a:p>
            <a:fld id="{12279632-4DDE-40C3-9609-8C5B19A58EA6}" type="slidenum">
              <a:rPr lang="en-US" smtClean="0"/>
              <a:t>‹#›</a:t>
            </a:fld>
            <a:endParaRPr lang="en-US"/>
          </a:p>
        </p:txBody>
      </p:sp>
    </p:spTree>
    <p:extLst>
      <p:ext uri="{BB962C8B-B14F-4D97-AF65-F5344CB8AC3E}">
        <p14:creationId xmlns:p14="http://schemas.microsoft.com/office/powerpoint/2010/main" val="3169691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568D5-28BB-B360-BB4D-D29C6969CD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384662-69DE-1A93-F568-277308A151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970313-5204-C1EE-3963-5C19EA9858D5}"/>
              </a:ext>
            </a:extLst>
          </p:cNvPr>
          <p:cNvSpPr>
            <a:spLocks noGrp="1"/>
          </p:cNvSpPr>
          <p:nvPr>
            <p:ph type="dt" sz="half" idx="10"/>
          </p:nvPr>
        </p:nvSpPr>
        <p:spPr/>
        <p:txBody>
          <a:bodyPr/>
          <a:lstStyle/>
          <a:p>
            <a:fld id="{E3E3A82C-0D4C-4736-BE35-3D35158CBCB8}" type="datetimeFigureOut">
              <a:rPr lang="en-US" smtClean="0"/>
              <a:t>9/1/2026</a:t>
            </a:fld>
            <a:endParaRPr lang="en-US"/>
          </a:p>
        </p:txBody>
      </p:sp>
      <p:sp>
        <p:nvSpPr>
          <p:cNvPr id="5" name="Footer Placeholder 4">
            <a:extLst>
              <a:ext uri="{FF2B5EF4-FFF2-40B4-BE49-F238E27FC236}">
                <a16:creationId xmlns:a16="http://schemas.microsoft.com/office/drawing/2014/main" id="{C88F8DC2-4C78-1BCD-28F7-608DCE3BA5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061663-BB2B-CCEF-BC0D-7B45A31C18BE}"/>
              </a:ext>
            </a:extLst>
          </p:cNvPr>
          <p:cNvSpPr>
            <a:spLocks noGrp="1"/>
          </p:cNvSpPr>
          <p:nvPr>
            <p:ph type="sldNum" sz="quarter" idx="12"/>
          </p:nvPr>
        </p:nvSpPr>
        <p:spPr/>
        <p:txBody>
          <a:bodyPr/>
          <a:lstStyle/>
          <a:p>
            <a:fld id="{12279632-4DDE-40C3-9609-8C5B19A58EA6}" type="slidenum">
              <a:rPr lang="en-US" smtClean="0"/>
              <a:t>‹#›</a:t>
            </a:fld>
            <a:endParaRPr lang="en-US"/>
          </a:p>
        </p:txBody>
      </p:sp>
    </p:spTree>
    <p:extLst>
      <p:ext uri="{BB962C8B-B14F-4D97-AF65-F5344CB8AC3E}">
        <p14:creationId xmlns:p14="http://schemas.microsoft.com/office/powerpoint/2010/main" val="2455484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4ED088-EF26-4FC5-92D2-2BA76ACC4C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7807E7-430D-5639-7C90-A147745D4B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CF9AD5-D2C3-6C06-74D7-DFE670D7DE0A}"/>
              </a:ext>
            </a:extLst>
          </p:cNvPr>
          <p:cNvSpPr>
            <a:spLocks noGrp="1"/>
          </p:cNvSpPr>
          <p:nvPr>
            <p:ph type="dt" sz="half" idx="10"/>
          </p:nvPr>
        </p:nvSpPr>
        <p:spPr/>
        <p:txBody>
          <a:bodyPr/>
          <a:lstStyle/>
          <a:p>
            <a:fld id="{E3E3A82C-0D4C-4736-BE35-3D35158CBCB8}" type="datetimeFigureOut">
              <a:rPr lang="en-US" smtClean="0"/>
              <a:t>9/1/2026</a:t>
            </a:fld>
            <a:endParaRPr lang="en-US"/>
          </a:p>
        </p:txBody>
      </p:sp>
      <p:sp>
        <p:nvSpPr>
          <p:cNvPr id="5" name="Footer Placeholder 4">
            <a:extLst>
              <a:ext uri="{FF2B5EF4-FFF2-40B4-BE49-F238E27FC236}">
                <a16:creationId xmlns:a16="http://schemas.microsoft.com/office/drawing/2014/main" id="{D9270632-F88F-F080-F4DC-E9E1DCEDDE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BC9FBE-2324-8EA0-BE65-C3B2D846589A}"/>
              </a:ext>
            </a:extLst>
          </p:cNvPr>
          <p:cNvSpPr>
            <a:spLocks noGrp="1"/>
          </p:cNvSpPr>
          <p:nvPr>
            <p:ph type="sldNum" sz="quarter" idx="12"/>
          </p:nvPr>
        </p:nvSpPr>
        <p:spPr/>
        <p:txBody>
          <a:bodyPr/>
          <a:lstStyle/>
          <a:p>
            <a:fld id="{12279632-4DDE-40C3-9609-8C5B19A58EA6}" type="slidenum">
              <a:rPr lang="en-US" smtClean="0"/>
              <a:t>‹#›</a:t>
            </a:fld>
            <a:endParaRPr lang="en-US"/>
          </a:p>
        </p:txBody>
      </p:sp>
    </p:spTree>
    <p:extLst>
      <p:ext uri="{BB962C8B-B14F-4D97-AF65-F5344CB8AC3E}">
        <p14:creationId xmlns:p14="http://schemas.microsoft.com/office/powerpoint/2010/main" val="3192119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B5EFF8-5833-9C8D-EEBA-3A2BB4EDA7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6AF27B-87A3-6827-E079-65007A6A4B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1D5ACC-1762-8DB0-4584-F00704D658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E3A82C-0D4C-4736-BE35-3D35158CBCB8}" type="datetimeFigureOut">
              <a:rPr lang="en-US" smtClean="0"/>
              <a:t>9/1/2026</a:t>
            </a:fld>
            <a:endParaRPr lang="en-US"/>
          </a:p>
        </p:txBody>
      </p:sp>
      <p:sp>
        <p:nvSpPr>
          <p:cNvPr id="5" name="Footer Placeholder 4">
            <a:extLst>
              <a:ext uri="{FF2B5EF4-FFF2-40B4-BE49-F238E27FC236}">
                <a16:creationId xmlns:a16="http://schemas.microsoft.com/office/drawing/2014/main" id="{4B3054BB-1CEB-AE74-D0FF-3D7FD629A3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24E80D3-7E25-AD99-A734-F35CFFEDC9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279632-4DDE-40C3-9609-8C5B19A58EA6}" type="slidenum">
              <a:rPr lang="en-US" smtClean="0"/>
              <a:t>‹#›</a:t>
            </a:fld>
            <a:endParaRPr lang="en-US"/>
          </a:p>
        </p:txBody>
      </p:sp>
    </p:spTree>
    <p:extLst>
      <p:ext uri="{BB962C8B-B14F-4D97-AF65-F5344CB8AC3E}">
        <p14:creationId xmlns:p14="http://schemas.microsoft.com/office/powerpoint/2010/main" val="3281578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screening.iarc.fr/atlasviadetail.php?Index=38&amp;e" TargetMode="External"/><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hyperlink" Target="https://www.sciencephoto.com/media/832952/view/endometriosis-of-the-cervix-colposcopy" TargetMode="External"/><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https://en.wikipedia.org/wiki/Chlamydia_trachomati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cdn.wwnorton.com/college/biology/microbiology3/micrograph/fig/C26/FIG26.13.A_MICROB3_CH26.jpg"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cdn.wwnorton.com/college/biology/microbiology3/micrograph/fig/C26/FIG26.13.A_MICROB3_CH26.jp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00--epqpVps"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upload.wikimedia.org/wikipedia/commons/2/27/Gonococcal_ophthalmia_neonatorum.jpg" TargetMode="Externa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hyperlink" Target="//upload.wikimedia.org/wikipedia/commons/0/02/Vaginose-G15.jpg"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hyperlink" Target="http://www.google.com/url?sa=i&amp;rct=j&amp;q=&amp;esrc=s&amp;source=images&amp;cd=&amp;cad=rja&amp;uact=8&amp;ved=0CAcQjRw&amp;url=http%3A%2F%2Fjacobimed.org%2Fambulatory%2Fmlove%2Fcurriculumwomengeri-2%2Fvaginitis%2Fvaginitis-case-1%2Fvaginitis-case-1-answer-3%2F&amp;ei=Ez-fVfqqGISzyASc9oLACA&amp;bvm=bv.96952980,d.cWw&amp;psig=AFQjCNFMk8yKiJ8_cP7HWYiU7H0mrjXl6g&amp;ust=1436586096873084" TargetMode="External"/><Relationship Id="rId1" Type="http://schemas.openxmlformats.org/officeDocument/2006/relationships/slideLayout" Target="../slideLayouts/slideLayout2.xml"/><Relationship Id="rId5" Type="http://schemas.openxmlformats.org/officeDocument/2006/relationships/hyperlink" Target="https://bestpractice.bmj.com/topics/en-us/662" TargetMode="External"/><Relationship Id="rId4" Type="http://schemas.openxmlformats.org/officeDocument/2006/relationships/image" Target="../media/image49.jpg"/></Relationships>
</file>

<file path=ppt/slides/_rels/slide61.xml.rels><?xml version="1.0" encoding="UTF-8" standalone="yes"?>
<Relationships xmlns="http://schemas.openxmlformats.org/package/2006/relationships"><Relationship Id="rId3" Type="http://schemas.openxmlformats.org/officeDocument/2006/relationships/hyperlink" Target="https://www.youtube.com/watch?v=qEkTzHqlC8Y" TargetMode="External"/><Relationship Id="rId2" Type="http://schemas.openxmlformats.org/officeDocument/2006/relationships/hyperlink" Target="https://www.youtube.com/watch?v=8SNDtKfhPg4"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jpg"/><Relationship Id="rId4" Type="http://schemas.openxmlformats.org/officeDocument/2006/relationships/image" Target="../media/image54.png"/></Relationships>
</file>

<file path=ppt/slides/_rels/slide69.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image" Target="../media/image56.jpg"/><Relationship Id="rId1" Type="http://schemas.openxmlformats.org/officeDocument/2006/relationships/slideLayout" Target="../slideLayouts/slideLayout2.xml"/><Relationship Id="rId5" Type="http://schemas.openxmlformats.org/officeDocument/2006/relationships/image" Target="../media/image58.jpg"/><Relationship Id="rId4" Type="http://schemas.openxmlformats.org/officeDocument/2006/relationships/hyperlink" Target="https://dermnetnz.org/topics/hidradenitis-suppurativa"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hyperlink" Target="https://www.openevidence.com/rare-disease/behcet-disease" TargetMode="Externa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hyperlink" Target="https://www.chelwest.nhs.uk/your-visit/patient-leaflets/womens-services/word-catheter-for-bartholins-abscess" TargetMode="External"/><Relationship Id="rId4" Type="http://schemas.openxmlformats.org/officeDocument/2006/relationships/hyperlink" Target="https://healthy.kaiserpermanente.org/health-wellness/health-encyclopedia/he.bartholin-gland-cyst-care-instructions.uf7104"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8" Type="http://schemas.openxmlformats.org/officeDocument/2006/relationships/hyperlink" Target="https://www.aafp.org/afp/2000/0515/p3090" TargetMode="External"/><Relationship Id="rId3" Type="http://schemas.openxmlformats.org/officeDocument/2006/relationships/hyperlink" Target="https://www.uspreventiveservicestaskforce.org/uspstf/" TargetMode="External"/><Relationship Id="rId7" Type="http://schemas.openxmlformats.org/officeDocument/2006/relationships/hyperlink" Target="https://www.researchgate.net/figure/PALM-COEIN-A-Classification-System-for-Abnormal-Uterine-Bleeding-Clinical-features_fig1_394047367" TargetMode="External"/><Relationship Id="rId2" Type="http://schemas.openxmlformats.org/officeDocument/2006/relationships/hyperlink" Target="https://www.asccp.org/" TargetMode="External"/><Relationship Id="rId1" Type="http://schemas.openxmlformats.org/officeDocument/2006/relationships/slideLayout" Target="../slideLayouts/slideLayout2.xml"/><Relationship Id="rId6" Type="http://schemas.openxmlformats.org/officeDocument/2006/relationships/hyperlink" Target="https://pubmed.ncbi.nlm.nih.gov/25132275/" TargetMode="External"/><Relationship Id="rId5" Type="http://schemas.openxmlformats.org/officeDocument/2006/relationships/hyperlink" Target="https://www.nejm.org/doi/pdf/10.1056/NEJMoa2405404" TargetMode="External"/><Relationship Id="rId10" Type="http://schemas.openxmlformats.org/officeDocument/2006/relationships/hyperlink" Target="https://www.aafp.org/afp/2019/1101/p562#afp20191101p562-f2" TargetMode="External"/><Relationship Id="rId4" Type="http://schemas.openxmlformats.org/officeDocument/2006/relationships/hyperlink" Target="https://labtestsonline.org/understanding/analytes/chlamydia/tab/test" TargetMode="External"/><Relationship Id="rId9" Type="http://schemas.openxmlformats.org/officeDocument/2006/relationships/hyperlink" Target="https://www.aafp.org/afp/2020/1101/p55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48B8B-0568-6D63-B128-7C5B392201B7}"/>
              </a:ext>
            </a:extLst>
          </p:cNvPr>
          <p:cNvSpPr>
            <a:spLocks noGrp="1"/>
          </p:cNvSpPr>
          <p:nvPr>
            <p:ph type="ctrTitle"/>
          </p:nvPr>
        </p:nvSpPr>
        <p:spPr>
          <a:xfrm>
            <a:off x="1524000" y="532427"/>
            <a:ext cx="9144000" cy="2387600"/>
          </a:xfrm>
        </p:spPr>
        <p:txBody>
          <a:bodyPr/>
          <a:lstStyle/>
          <a:p>
            <a:r>
              <a:rPr lang="en-US"/>
              <a:t>Cervical &amp; </a:t>
            </a:r>
            <a:r>
              <a:rPr lang="en-US" dirty="0"/>
              <a:t>Vaginovulvar Pathologies</a:t>
            </a:r>
          </a:p>
        </p:txBody>
      </p:sp>
      <p:sp>
        <p:nvSpPr>
          <p:cNvPr id="3" name="Subtitle 2">
            <a:extLst>
              <a:ext uri="{FF2B5EF4-FFF2-40B4-BE49-F238E27FC236}">
                <a16:creationId xmlns:a16="http://schemas.microsoft.com/office/drawing/2014/main" id="{13C66D67-710C-4850-FE4B-E2EAE4C755BD}"/>
              </a:ext>
            </a:extLst>
          </p:cNvPr>
          <p:cNvSpPr>
            <a:spLocks noGrp="1"/>
          </p:cNvSpPr>
          <p:nvPr>
            <p:ph type="subTitle" idx="1"/>
          </p:nvPr>
        </p:nvSpPr>
        <p:spPr>
          <a:xfrm>
            <a:off x="1524000" y="3139921"/>
            <a:ext cx="9144000" cy="2828259"/>
          </a:xfrm>
        </p:spPr>
        <p:txBody>
          <a:bodyPr>
            <a:normAutofit/>
          </a:bodyPr>
          <a:lstStyle/>
          <a:p>
            <a:r>
              <a:rPr lang="en-US" sz="3800" dirty="0"/>
              <a:t>Carla Rafferty, MD</a:t>
            </a:r>
          </a:p>
          <a:p>
            <a:r>
              <a:rPr lang="en-US" dirty="0"/>
              <a:t>Family Medicine Physician</a:t>
            </a:r>
          </a:p>
          <a:p>
            <a:r>
              <a:rPr lang="en-US" dirty="0"/>
              <a:t>Course Director for Human Development &amp; Reproduction</a:t>
            </a:r>
          </a:p>
          <a:p>
            <a:r>
              <a:rPr lang="en-US" dirty="0"/>
              <a:t>Clinical Associate Professor CICOM</a:t>
            </a:r>
          </a:p>
        </p:txBody>
      </p:sp>
    </p:spTree>
    <p:extLst>
      <p:ext uri="{BB962C8B-B14F-4D97-AF65-F5344CB8AC3E}">
        <p14:creationId xmlns:p14="http://schemas.microsoft.com/office/powerpoint/2010/main" val="4153935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AA3BA-1DD2-6A6D-62BD-95F8FF462D91}"/>
              </a:ext>
            </a:extLst>
          </p:cNvPr>
          <p:cNvSpPr>
            <a:spLocks noGrp="1"/>
          </p:cNvSpPr>
          <p:nvPr>
            <p:ph type="title"/>
          </p:nvPr>
        </p:nvSpPr>
        <p:spPr>
          <a:xfrm>
            <a:off x="838200" y="365125"/>
            <a:ext cx="10515600" cy="1177925"/>
          </a:xfrm>
        </p:spPr>
        <p:txBody>
          <a:bodyPr/>
          <a:lstStyle/>
          <a:p>
            <a:r>
              <a:rPr lang="en-US" dirty="0"/>
              <a:t>Objectives</a:t>
            </a:r>
          </a:p>
        </p:txBody>
      </p:sp>
      <p:sp>
        <p:nvSpPr>
          <p:cNvPr id="3" name="Content Placeholder 2">
            <a:extLst>
              <a:ext uri="{FF2B5EF4-FFF2-40B4-BE49-F238E27FC236}">
                <a16:creationId xmlns:a16="http://schemas.microsoft.com/office/drawing/2014/main" id="{9D7F6C36-08FE-96B3-DF8C-C1792AE6ED0E}"/>
              </a:ext>
            </a:extLst>
          </p:cNvPr>
          <p:cNvSpPr>
            <a:spLocks noGrp="1"/>
          </p:cNvSpPr>
          <p:nvPr>
            <p:ph idx="1"/>
          </p:nvPr>
        </p:nvSpPr>
        <p:spPr>
          <a:xfrm>
            <a:off x="838200" y="1435510"/>
            <a:ext cx="10515600" cy="4741453"/>
          </a:xfrm>
        </p:spPr>
        <p:txBody>
          <a:bodyPr>
            <a:normAutofit fontScale="92500" lnSpcReduction="20000"/>
          </a:bodyPr>
          <a:lstStyle/>
          <a:p>
            <a:pPr lvl="0"/>
            <a:r>
              <a:rPr lang="en-US" dirty="0"/>
              <a:t>Describe the screening guidelines for cervical cancer and how to implement them.</a:t>
            </a:r>
          </a:p>
          <a:p>
            <a:pPr lvl="0"/>
            <a:r>
              <a:rPr lang="en-US" dirty="0"/>
              <a:t>Explain how HPV affects cervical cells and how that progresses over time into cervical cancer.</a:t>
            </a:r>
          </a:p>
          <a:p>
            <a:pPr lvl="0"/>
            <a:r>
              <a:rPr lang="en-US" dirty="0"/>
              <a:t>Describe the impact of HIV’s additive risk for HPV infected individuals with respect to cervical and anal cancer screenings.</a:t>
            </a:r>
          </a:p>
          <a:p>
            <a:pPr lvl="0"/>
            <a:r>
              <a:rPr lang="en-US" dirty="0"/>
              <a:t>Describe the surveillance and possible treatments for abnormal cervical cytology in pre-cancerous abnormalities in addition to prevention measures.</a:t>
            </a:r>
          </a:p>
          <a:p>
            <a:pPr lvl="0"/>
            <a:r>
              <a:rPr lang="en-US" dirty="0"/>
              <a:t>Describe the various pathogens that can cause cervicitis and vulvovaginitis and how they develop, including a description of common symptomology, diagnostic workup, and treatment options.</a:t>
            </a:r>
          </a:p>
          <a:p>
            <a:pPr lvl="0"/>
            <a:r>
              <a:rPr lang="en-US" dirty="0"/>
              <a:t>Explain other vulvar non-cancerous pathologies including how to diagnose and treat.</a:t>
            </a:r>
          </a:p>
          <a:p>
            <a:endParaRPr lang="en-US" dirty="0"/>
          </a:p>
        </p:txBody>
      </p:sp>
    </p:spTree>
    <p:extLst>
      <p:ext uri="{BB962C8B-B14F-4D97-AF65-F5344CB8AC3E}">
        <p14:creationId xmlns:p14="http://schemas.microsoft.com/office/powerpoint/2010/main" val="1768260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F6C63-BC42-D345-811C-2C4268AD5E24}"/>
              </a:ext>
            </a:extLst>
          </p:cNvPr>
          <p:cNvSpPr>
            <a:spLocks noGrp="1"/>
          </p:cNvSpPr>
          <p:nvPr>
            <p:ph type="title"/>
          </p:nvPr>
        </p:nvSpPr>
        <p:spPr/>
        <p:txBody>
          <a:bodyPr/>
          <a:lstStyle/>
          <a:p>
            <a:r>
              <a:rPr lang="en-US" dirty="0"/>
              <a:t>Disclosures</a:t>
            </a:r>
          </a:p>
        </p:txBody>
      </p:sp>
      <p:sp>
        <p:nvSpPr>
          <p:cNvPr id="3" name="Content Placeholder 2">
            <a:extLst>
              <a:ext uri="{FF2B5EF4-FFF2-40B4-BE49-F238E27FC236}">
                <a16:creationId xmlns:a16="http://schemas.microsoft.com/office/drawing/2014/main" id="{4159EDA8-022F-91F9-DB49-582F2CA3CA20}"/>
              </a:ext>
            </a:extLst>
          </p:cNvPr>
          <p:cNvSpPr>
            <a:spLocks noGrp="1"/>
          </p:cNvSpPr>
          <p:nvPr>
            <p:ph idx="1"/>
          </p:nvPr>
        </p:nvSpPr>
        <p:spPr/>
        <p:txBody>
          <a:bodyPr/>
          <a:lstStyle/>
          <a:p>
            <a:r>
              <a:rPr lang="en-US" dirty="0"/>
              <a:t>None</a:t>
            </a:r>
          </a:p>
        </p:txBody>
      </p:sp>
    </p:spTree>
    <p:extLst>
      <p:ext uri="{BB962C8B-B14F-4D97-AF65-F5344CB8AC3E}">
        <p14:creationId xmlns:p14="http://schemas.microsoft.com/office/powerpoint/2010/main" val="3927675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CCEA2-A9DF-F810-62FA-BB23B96277A4}"/>
              </a:ext>
            </a:extLst>
          </p:cNvPr>
          <p:cNvSpPr>
            <a:spLocks noGrp="1"/>
          </p:cNvSpPr>
          <p:nvPr>
            <p:ph type="title"/>
          </p:nvPr>
        </p:nvSpPr>
        <p:spPr/>
        <p:txBody>
          <a:bodyPr/>
          <a:lstStyle/>
          <a:p>
            <a:r>
              <a:rPr lang="en-US" dirty="0"/>
              <a:t>Cervical Path</a:t>
            </a:r>
          </a:p>
        </p:txBody>
      </p:sp>
      <p:pic>
        <p:nvPicPr>
          <p:cNvPr id="7" name="Picture 3" descr="Photograph showing cervix with labeled area of active squamous metaplasia, characterized by a reddish, textured region. The image highlights normal cellular changes  that can be misdiagnosed as pathology. ">
            <a:extLst>
              <a:ext uri="{FF2B5EF4-FFF2-40B4-BE49-F238E27FC236}">
                <a16:creationId xmlns:a16="http://schemas.microsoft.com/office/drawing/2014/main" id="{606A222D-FFBE-3DA2-5FE9-00EE6D940B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5858" y="3515863"/>
            <a:ext cx="3706092" cy="3101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descr="Photograph showing a close-up view of a cervix with labeled anatomical areas including the transformation zone, squamocolumnar junction (SCJ), and a lesion within the transformation zone. The image highlights abnormal tissue in the transformation zone, indicating a possible cervical lesion or pathology.">
            <a:extLst>
              <a:ext uri="{FF2B5EF4-FFF2-40B4-BE49-F238E27FC236}">
                <a16:creationId xmlns:a16="http://schemas.microsoft.com/office/drawing/2014/main" id="{798D28F7-BA7C-62EE-5A5E-F213172DEE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5858" y="271463"/>
            <a:ext cx="3706092" cy="3157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51422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75231-F0E6-F130-107B-42BBD59EF65D}"/>
              </a:ext>
            </a:extLst>
          </p:cNvPr>
          <p:cNvSpPr>
            <a:spLocks noGrp="1"/>
          </p:cNvSpPr>
          <p:nvPr>
            <p:ph type="title"/>
          </p:nvPr>
        </p:nvSpPr>
        <p:spPr>
          <a:xfrm>
            <a:off x="609600" y="231775"/>
            <a:ext cx="10515600" cy="796925"/>
          </a:xfrm>
        </p:spPr>
        <p:txBody>
          <a:bodyPr/>
          <a:lstStyle/>
          <a:p>
            <a:r>
              <a:rPr lang="en-US" dirty="0"/>
              <a:t>Benign Cervical Lesions</a:t>
            </a:r>
          </a:p>
        </p:txBody>
      </p:sp>
      <p:sp>
        <p:nvSpPr>
          <p:cNvPr id="3" name="Content Placeholder 2">
            <a:extLst>
              <a:ext uri="{FF2B5EF4-FFF2-40B4-BE49-F238E27FC236}">
                <a16:creationId xmlns:a16="http://schemas.microsoft.com/office/drawing/2014/main" id="{58DBE799-A811-1B8C-822D-79B975394B73}"/>
              </a:ext>
            </a:extLst>
          </p:cNvPr>
          <p:cNvSpPr>
            <a:spLocks noGrp="1"/>
          </p:cNvSpPr>
          <p:nvPr>
            <p:ph idx="1"/>
          </p:nvPr>
        </p:nvSpPr>
        <p:spPr>
          <a:xfrm>
            <a:off x="609600" y="1028700"/>
            <a:ext cx="11391900" cy="5597525"/>
          </a:xfrm>
        </p:spPr>
        <p:txBody>
          <a:bodyPr>
            <a:normAutofit/>
          </a:bodyPr>
          <a:lstStyle/>
          <a:p>
            <a:r>
              <a:rPr lang="en-US" dirty="0"/>
              <a:t>Cervical Ectropion  – columnar epithelium extending onto the ectocervix due to hormonal changes; associated with OCPs and pregnancy</a:t>
            </a:r>
          </a:p>
          <a:p>
            <a:r>
              <a:rPr lang="en-US" dirty="0"/>
              <a:t>Nabothian Cysts – retention cysts from occluded endocervical glands </a:t>
            </a:r>
          </a:p>
          <a:p>
            <a:r>
              <a:rPr lang="en-US" dirty="0"/>
              <a:t>Cervical Polyps – a growth that develops on the cervix; usually asymptomatic, can cause intermenstrual or postcoital bleeding &amp; polypectomy is the treatment for symptomatic cases</a:t>
            </a:r>
          </a:p>
        </p:txBody>
      </p:sp>
      <p:pic>
        <p:nvPicPr>
          <p:cNvPr id="4" name="Picture 3" descr="Atlas of visual inspection of the cervix with acetic acid for screening,  triage, and assessment for treatment">
            <a:extLst>
              <a:ext uri="{FF2B5EF4-FFF2-40B4-BE49-F238E27FC236}">
                <a16:creationId xmlns:a16="http://schemas.microsoft.com/office/drawing/2014/main" id="{C4A9396E-5E1C-089F-B036-B30685CA0AEE}"/>
              </a:ext>
            </a:extLst>
          </p:cNvPr>
          <p:cNvPicPr>
            <a:picLocks noChangeAspect="1"/>
          </p:cNvPicPr>
          <p:nvPr/>
        </p:nvPicPr>
        <p:blipFill>
          <a:blip r:embed="rId2"/>
          <a:stretch>
            <a:fillRect/>
          </a:stretch>
        </p:blipFill>
        <p:spPr>
          <a:xfrm>
            <a:off x="4310062" y="3722409"/>
            <a:ext cx="3571875" cy="2678906"/>
          </a:xfrm>
          <a:prstGeom prst="rect">
            <a:avLst/>
          </a:prstGeom>
        </p:spPr>
      </p:pic>
      <p:sp>
        <p:nvSpPr>
          <p:cNvPr id="5" name="TextBox 4">
            <a:extLst>
              <a:ext uri="{FF2B5EF4-FFF2-40B4-BE49-F238E27FC236}">
                <a16:creationId xmlns:a16="http://schemas.microsoft.com/office/drawing/2014/main" id="{673D8CA8-DEAF-F3D2-4174-3D56395535FF}"/>
              </a:ext>
            </a:extLst>
          </p:cNvPr>
          <p:cNvSpPr txBox="1"/>
          <p:nvPr/>
        </p:nvSpPr>
        <p:spPr>
          <a:xfrm>
            <a:off x="295275" y="6385997"/>
            <a:ext cx="10619767" cy="369332"/>
          </a:xfrm>
          <a:prstGeom prst="rect">
            <a:avLst/>
          </a:prstGeom>
          <a:noFill/>
        </p:spPr>
        <p:txBody>
          <a:bodyPr wrap="none" rtlCol="0">
            <a:spAutoFit/>
          </a:bodyPr>
          <a:lstStyle/>
          <a:p>
            <a:r>
              <a:rPr lang="en-US" dirty="0">
                <a:hlinkClick r:id="rId3"/>
              </a:rPr>
              <a:t>Atlas of visual inspection of the cervix with acetic acid for screening, triage, and assessment for treatment</a:t>
            </a:r>
            <a:endParaRPr lang="en-US" dirty="0"/>
          </a:p>
        </p:txBody>
      </p:sp>
      <p:pic>
        <p:nvPicPr>
          <p:cNvPr id="6" name="Picture 5" descr="Atlas of visual inspection of the cervix with acetic acid for screening,  triage, and assessment for treatment">
            <a:extLst>
              <a:ext uri="{FF2B5EF4-FFF2-40B4-BE49-F238E27FC236}">
                <a16:creationId xmlns:a16="http://schemas.microsoft.com/office/drawing/2014/main" id="{69BAAA9C-D7EE-2C45-4107-5D1522526B06}"/>
              </a:ext>
            </a:extLst>
          </p:cNvPr>
          <p:cNvPicPr>
            <a:picLocks noChangeAspect="1"/>
          </p:cNvPicPr>
          <p:nvPr/>
        </p:nvPicPr>
        <p:blipFill>
          <a:blip r:embed="rId4"/>
          <a:stretch>
            <a:fillRect/>
          </a:stretch>
        </p:blipFill>
        <p:spPr>
          <a:xfrm>
            <a:off x="8057461" y="3730068"/>
            <a:ext cx="3561662" cy="2671247"/>
          </a:xfrm>
          <a:prstGeom prst="rect">
            <a:avLst/>
          </a:prstGeom>
        </p:spPr>
      </p:pic>
      <p:pic>
        <p:nvPicPr>
          <p:cNvPr id="7" name="Picture 6" descr="Colposcopy Digital Atlas">
            <a:extLst>
              <a:ext uri="{FF2B5EF4-FFF2-40B4-BE49-F238E27FC236}">
                <a16:creationId xmlns:a16="http://schemas.microsoft.com/office/drawing/2014/main" id="{5B925AEE-37A3-20F7-F082-13B6383AAF6C}"/>
              </a:ext>
            </a:extLst>
          </p:cNvPr>
          <p:cNvPicPr>
            <a:picLocks noChangeAspect="1"/>
          </p:cNvPicPr>
          <p:nvPr/>
        </p:nvPicPr>
        <p:blipFill>
          <a:blip r:embed="rId5"/>
          <a:stretch>
            <a:fillRect/>
          </a:stretch>
        </p:blipFill>
        <p:spPr>
          <a:xfrm>
            <a:off x="572877" y="3722409"/>
            <a:ext cx="3561662" cy="2671247"/>
          </a:xfrm>
          <a:prstGeom prst="rect">
            <a:avLst/>
          </a:prstGeom>
        </p:spPr>
      </p:pic>
    </p:spTree>
    <p:extLst>
      <p:ext uri="{BB962C8B-B14F-4D97-AF65-F5344CB8AC3E}">
        <p14:creationId xmlns:p14="http://schemas.microsoft.com/office/powerpoint/2010/main" val="3917077187"/>
      </p:ext>
    </p:extLst>
  </p:cSld>
  <p:clrMapOvr>
    <a:masterClrMapping/>
  </p:clrMapOvr>
  <p:transition spd="slow" advClick="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6"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additive="base">
                                        <p:cTn id="27"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594F0-0F91-7A7B-785E-E0BE9BD72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B6E9E-5DDF-5BF4-9A73-6A51E363441B}"/>
              </a:ext>
            </a:extLst>
          </p:cNvPr>
          <p:cNvSpPr>
            <a:spLocks noGrp="1"/>
          </p:cNvSpPr>
          <p:nvPr>
            <p:ph type="title"/>
          </p:nvPr>
        </p:nvSpPr>
        <p:spPr>
          <a:xfrm>
            <a:off x="609600" y="231775"/>
            <a:ext cx="10515600" cy="796925"/>
          </a:xfrm>
        </p:spPr>
        <p:txBody>
          <a:bodyPr/>
          <a:lstStyle/>
          <a:p>
            <a:r>
              <a:rPr lang="en-US" dirty="0"/>
              <a:t>Benign Cervical Lesions – part 2</a:t>
            </a:r>
          </a:p>
        </p:txBody>
      </p:sp>
      <p:sp>
        <p:nvSpPr>
          <p:cNvPr id="3" name="Content Placeholder 2">
            <a:extLst>
              <a:ext uri="{FF2B5EF4-FFF2-40B4-BE49-F238E27FC236}">
                <a16:creationId xmlns:a16="http://schemas.microsoft.com/office/drawing/2014/main" id="{852E6E78-99FC-290C-A18D-B5A24B5FEA91}"/>
              </a:ext>
            </a:extLst>
          </p:cNvPr>
          <p:cNvSpPr>
            <a:spLocks noGrp="1"/>
          </p:cNvSpPr>
          <p:nvPr>
            <p:ph idx="1"/>
          </p:nvPr>
        </p:nvSpPr>
        <p:spPr>
          <a:xfrm>
            <a:off x="609600" y="1028700"/>
            <a:ext cx="11391900" cy="5597525"/>
          </a:xfrm>
        </p:spPr>
        <p:txBody>
          <a:bodyPr>
            <a:normAutofit/>
          </a:bodyPr>
          <a:lstStyle/>
          <a:p>
            <a:r>
              <a:rPr lang="en-US" dirty="0"/>
              <a:t>Cervical Leiomyomas – benign smooth muscle tumors that can arise from the cervical stroma</a:t>
            </a:r>
          </a:p>
          <a:p>
            <a:r>
              <a:rPr lang="en-US" dirty="0"/>
              <a:t>Cervicitis – usually caused by STIs (</a:t>
            </a:r>
            <a:r>
              <a:rPr lang="en-US" dirty="0" err="1"/>
              <a:t>ie</a:t>
            </a:r>
            <a:r>
              <a:rPr lang="en-US" dirty="0"/>
              <a:t> gonorrhea, chlamydia, trichomanias, </a:t>
            </a:r>
            <a:r>
              <a:rPr lang="en-US" dirty="0" err="1"/>
              <a:t>etc</a:t>
            </a:r>
            <a:r>
              <a:rPr lang="en-US" dirty="0"/>
              <a:t>), but can result from anything that changes the normal environment (</a:t>
            </a:r>
            <a:r>
              <a:rPr lang="en-US" dirty="0" err="1"/>
              <a:t>ie</a:t>
            </a:r>
            <a:r>
              <a:rPr lang="en-US" dirty="0"/>
              <a:t> douching, BV, chemicals, </a:t>
            </a:r>
            <a:r>
              <a:rPr lang="en-US" dirty="0" err="1"/>
              <a:t>etc</a:t>
            </a:r>
            <a:r>
              <a:rPr lang="en-US" dirty="0"/>
              <a:t>); can cause abnormal discharge, bleeding, &amp; pain</a:t>
            </a:r>
          </a:p>
          <a:p>
            <a:pPr lvl="1"/>
            <a:r>
              <a:rPr lang="en-US" dirty="0"/>
              <a:t>While benign, can lead to complications like PID, endometritis, ectopic pregnancy, infertility, &amp; chronic pelvic pain</a:t>
            </a:r>
          </a:p>
          <a:p>
            <a:r>
              <a:rPr lang="en-US" dirty="0"/>
              <a:t>Cervical Endometriosis – ectopic endometrial </a:t>
            </a:r>
          </a:p>
          <a:p>
            <a:pPr marL="0" indent="0">
              <a:buNone/>
              <a:tabLst>
                <a:tab pos="228600" algn="l"/>
              </a:tabLst>
            </a:pPr>
            <a:r>
              <a:rPr lang="en-US" dirty="0"/>
              <a:t>	tissue on the cervix; may present as blue-black </a:t>
            </a:r>
          </a:p>
          <a:p>
            <a:pPr marL="0" indent="0">
              <a:buNone/>
              <a:tabLst>
                <a:tab pos="228600" algn="l"/>
              </a:tabLst>
            </a:pPr>
            <a:r>
              <a:rPr lang="en-US" dirty="0"/>
              <a:t>	lesions on speculum exam</a:t>
            </a:r>
          </a:p>
        </p:txBody>
      </p:sp>
      <p:pic>
        <p:nvPicPr>
          <p:cNvPr id="5" name="Picture 4" descr="Endometriosis of the cervix, colposcopy - Stock Image - C034/5643 - Science  Photo Library">
            <a:extLst>
              <a:ext uri="{FF2B5EF4-FFF2-40B4-BE49-F238E27FC236}">
                <a16:creationId xmlns:a16="http://schemas.microsoft.com/office/drawing/2014/main" id="{A51C0FDD-8363-764D-8C2F-E679B1838991}"/>
              </a:ext>
            </a:extLst>
          </p:cNvPr>
          <p:cNvPicPr>
            <a:picLocks noChangeAspect="1"/>
          </p:cNvPicPr>
          <p:nvPr/>
        </p:nvPicPr>
        <p:blipFill>
          <a:blip r:embed="rId2"/>
          <a:stretch>
            <a:fillRect/>
          </a:stretch>
        </p:blipFill>
        <p:spPr>
          <a:xfrm rot="16200000">
            <a:off x="9208902" y="3904987"/>
            <a:ext cx="2332490" cy="3109986"/>
          </a:xfrm>
          <a:prstGeom prst="rect">
            <a:avLst/>
          </a:prstGeom>
        </p:spPr>
      </p:pic>
      <p:sp>
        <p:nvSpPr>
          <p:cNvPr id="6" name="TextBox 5">
            <a:extLst>
              <a:ext uri="{FF2B5EF4-FFF2-40B4-BE49-F238E27FC236}">
                <a16:creationId xmlns:a16="http://schemas.microsoft.com/office/drawing/2014/main" id="{59C13A0B-4C40-9E6C-2717-7378D1AE4733}"/>
              </a:ext>
            </a:extLst>
          </p:cNvPr>
          <p:cNvSpPr txBox="1"/>
          <p:nvPr/>
        </p:nvSpPr>
        <p:spPr>
          <a:xfrm>
            <a:off x="146030" y="6256894"/>
            <a:ext cx="9137694" cy="369332"/>
          </a:xfrm>
          <a:prstGeom prst="rect">
            <a:avLst/>
          </a:prstGeom>
          <a:noFill/>
        </p:spPr>
        <p:txBody>
          <a:bodyPr wrap="none" rtlCol="0">
            <a:spAutoFit/>
          </a:bodyPr>
          <a:lstStyle/>
          <a:p>
            <a:r>
              <a:rPr lang="en-US" dirty="0">
                <a:hlinkClick r:id="rId3"/>
              </a:rPr>
              <a:t>Endometriosis of the cervix, colposcopy - Stock Image - C034/5643 - Science Photo Library</a:t>
            </a:r>
            <a:endParaRPr lang="en-US" dirty="0"/>
          </a:p>
        </p:txBody>
      </p:sp>
    </p:spTree>
    <p:extLst>
      <p:ext uri="{BB962C8B-B14F-4D97-AF65-F5344CB8AC3E}">
        <p14:creationId xmlns:p14="http://schemas.microsoft.com/office/powerpoint/2010/main" val="3701392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1000"/>
                                        <p:tgtEl>
                                          <p:spTgt spid="3">
                                            <p:txEl>
                                              <p:pRg st="1" end="1"/>
                                            </p:txEl>
                                          </p:spTgt>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circle(in)">
                                      <p:cBhvr>
                                        <p:cTn id="15" dur="10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circle(in)">
                                      <p:cBhvr>
                                        <p:cTn id="20" dur="1000"/>
                                        <p:tgtEl>
                                          <p:spTgt spid="3">
                                            <p:txEl>
                                              <p:pRg st="3" end="3"/>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randombar(horizontal)">
                                      <p:cBhvr>
                                        <p:cTn id="23" dur="500"/>
                                        <p:tgtEl>
                                          <p:spTgt spid="5"/>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circle(in)">
                                      <p:cBhvr>
                                        <p:cTn id="26" dur="1000"/>
                                        <p:tgtEl>
                                          <p:spTgt spid="3">
                                            <p:txEl>
                                              <p:pRg st="4" end="4"/>
                                            </p:txEl>
                                          </p:spTgt>
                                        </p:tgtEl>
                                      </p:cBhvr>
                                    </p:animEffect>
                                  </p:childTnLst>
                                </p:cTn>
                              </p:par>
                              <p:par>
                                <p:cTn id="27" presetID="6" presetClass="entr" presetSubtype="16"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circle(in)">
                                      <p:cBhvr>
                                        <p:cTn id="29"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148932" y="438150"/>
            <a:ext cx="3543300" cy="1362456"/>
          </a:xfrm>
        </p:spPr>
        <p:txBody>
          <a:bodyPr/>
          <a:lstStyle/>
          <a:p>
            <a:pPr eaLnBrk="1" hangingPunct="1"/>
            <a:r>
              <a:rPr lang="en-US" altLang="en-US" dirty="0">
                <a:solidFill>
                  <a:schemeClr val="tx1"/>
                </a:solidFill>
              </a:rPr>
              <a:t>Chlamydia</a:t>
            </a:r>
          </a:p>
        </p:txBody>
      </p:sp>
      <p:pic>
        <p:nvPicPr>
          <p:cNvPr id="28675" name="Picture 2" descr="http://www.popsci.com/sites/popsci.com/files/styles/medium_1x_/public/chlamydia_0.jpg?itok=pui4FQ2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1" y="1905001"/>
            <a:ext cx="6354763"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723900" y="276225"/>
            <a:ext cx="8229600" cy="781050"/>
          </a:xfrm>
        </p:spPr>
        <p:txBody>
          <a:bodyPr>
            <a:normAutofit/>
          </a:bodyPr>
          <a:lstStyle/>
          <a:p>
            <a:pPr>
              <a:defRPr/>
            </a:pPr>
            <a:r>
              <a:rPr lang="en-US" altLang="en-US" dirty="0"/>
              <a:t>Chlamydia – General Info</a:t>
            </a:r>
          </a:p>
        </p:txBody>
      </p:sp>
      <p:sp>
        <p:nvSpPr>
          <p:cNvPr id="3" name="Content Placeholder 2"/>
          <p:cNvSpPr>
            <a:spLocks noGrp="1"/>
          </p:cNvSpPr>
          <p:nvPr>
            <p:ph idx="1"/>
          </p:nvPr>
        </p:nvSpPr>
        <p:spPr>
          <a:xfrm>
            <a:off x="809625" y="1057275"/>
            <a:ext cx="10953750" cy="5343525"/>
          </a:xfrm>
        </p:spPr>
        <p:txBody>
          <a:bodyPr rtlCol="0">
            <a:normAutofit fontScale="85000" lnSpcReduction="20000"/>
          </a:bodyPr>
          <a:lstStyle/>
          <a:p>
            <a:pPr marL="274320" indent="-274320">
              <a:buClr>
                <a:schemeClr val="accent3"/>
              </a:buClr>
              <a:defRPr/>
            </a:pPr>
            <a:r>
              <a:rPr lang="en-US" dirty="0"/>
              <a:t>Is a genus of bacteria that are obligate intracellular parasites, </a:t>
            </a:r>
            <a:r>
              <a:rPr lang="en-US" i="1" dirty="0">
                <a:hlinkClick r:id="rId2" action="ppaction://hlinkfile" tooltip="Chlamydia trachomatis"/>
              </a:rPr>
              <a:t>Chlamydia trachomatis</a:t>
            </a:r>
            <a:r>
              <a:rPr lang="en-US" dirty="0"/>
              <a:t> </a:t>
            </a:r>
          </a:p>
          <a:p>
            <a:pPr marL="274320" indent="-274320">
              <a:buClr>
                <a:schemeClr val="accent3"/>
              </a:buClr>
              <a:defRPr/>
            </a:pPr>
            <a:r>
              <a:rPr lang="en-US" dirty="0"/>
              <a:t>Transmitted via oral, vaginal, or anal sex with an infected partner</a:t>
            </a:r>
          </a:p>
          <a:p>
            <a:pPr marL="274320" indent="-274320">
              <a:buClr>
                <a:schemeClr val="accent3"/>
              </a:buClr>
              <a:defRPr/>
            </a:pPr>
            <a:r>
              <a:rPr lang="en-US" dirty="0"/>
              <a:t>Both men &amp; women can contract it</a:t>
            </a:r>
          </a:p>
          <a:p>
            <a:pPr marL="274320" indent="-274320">
              <a:buClr>
                <a:schemeClr val="accent3"/>
              </a:buClr>
              <a:defRPr/>
            </a:pPr>
            <a:r>
              <a:rPr lang="en-US" dirty="0"/>
              <a:t>It can also be transmitted to newborn during a vaginal delivery</a:t>
            </a:r>
          </a:p>
          <a:p>
            <a:pPr marL="274320" indent="-274320">
              <a:buClr>
                <a:schemeClr val="accent3"/>
              </a:buClr>
              <a:defRPr/>
            </a:pPr>
            <a:r>
              <a:rPr lang="en-US" dirty="0"/>
              <a:t>Risk factors include</a:t>
            </a:r>
          </a:p>
          <a:p>
            <a:pPr marL="640080" lvl="1" indent="-246888">
              <a:buFont typeface="Arial" panose="020B0604020202020204" pitchFamily="34" charset="0"/>
              <a:buChar char="–"/>
              <a:defRPr/>
            </a:pPr>
            <a:r>
              <a:rPr lang="en-US" dirty="0"/>
              <a:t>Prior infection with chlamydia</a:t>
            </a:r>
          </a:p>
          <a:p>
            <a:pPr marL="640080" lvl="1" indent="-246888">
              <a:buFont typeface="Arial" panose="020B0604020202020204" pitchFamily="34" charset="0"/>
              <a:buChar char="–"/>
              <a:defRPr/>
            </a:pPr>
            <a:r>
              <a:rPr lang="en-US" dirty="0"/>
              <a:t>Positive for other STIs, </a:t>
            </a:r>
            <a:r>
              <a:rPr lang="en-US" dirty="0" err="1"/>
              <a:t>esp</a:t>
            </a:r>
            <a:r>
              <a:rPr lang="en-US" dirty="0"/>
              <a:t> HIV</a:t>
            </a:r>
          </a:p>
          <a:p>
            <a:pPr marL="640080" lvl="1" indent="-246888">
              <a:buFont typeface="Arial" panose="020B0604020202020204" pitchFamily="34" charset="0"/>
              <a:buChar char="–"/>
              <a:defRPr/>
            </a:pPr>
            <a:r>
              <a:rPr lang="en-US" dirty="0"/>
              <a:t>Have new or multiple sex partners  </a:t>
            </a:r>
          </a:p>
          <a:p>
            <a:pPr marL="640080" lvl="1" indent="-246888">
              <a:buFont typeface="Arial" panose="020B0604020202020204" pitchFamily="34" charset="0"/>
              <a:buChar char="–"/>
              <a:defRPr/>
            </a:pPr>
            <a:r>
              <a:rPr lang="en-US" dirty="0"/>
              <a:t>Use condoms inconsistently </a:t>
            </a:r>
          </a:p>
          <a:p>
            <a:pPr marL="640080" lvl="1" indent="-246888">
              <a:buFont typeface="Arial" panose="020B0604020202020204" pitchFamily="34" charset="0"/>
              <a:buChar char="–"/>
              <a:defRPr/>
            </a:pPr>
            <a:r>
              <a:rPr lang="en-US" dirty="0"/>
              <a:t>Do commercial sex work </a:t>
            </a:r>
          </a:p>
          <a:p>
            <a:pPr marL="640080" lvl="1" indent="-246888">
              <a:buFont typeface="Arial" panose="020B0604020202020204" pitchFamily="34" charset="0"/>
              <a:buChar char="–"/>
              <a:defRPr/>
            </a:pPr>
            <a:r>
              <a:rPr lang="en-US" dirty="0"/>
              <a:t>Use illegal drugs</a:t>
            </a:r>
          </a:p>
          <a:p>
            <a:pPr marL="640080" lvl="1" indent="-246888">
              <a:buFont typeface="Arial" panose="020B0604020202020204" pitchFamily="34" charset="0"/>
              <a:buChar char="–"/>
              <a:defRPr/>
            </a:pPr>
            <a:r>
              <a:rPr lang="en-US" dirty="0"/>
              <a:t>Started sexual relationships early in adolescence</a:t>
            </a:r>
          </a:p>
          <a:p>
            <a:pPr marL="640080" lvl="1" indent="-246888">
              <a:buFont typeface="Arial" panose="020B0604020202020204" pitchFamily="34" charset="0"/>
              <a:buChar char="–"/>
              <a:defRPr/>
            </a:pPr>
            <a:r>
              <a:rPr lang="en-US" dirty="0"/>
              <a:t>Live in a detention facility</a:t>
            </a:r>
          </a:p>
          <a:p>
            <a:pPr marL="640080" lvl="1" indent="-246888">
              <a:buFont typeface="Arial" panose="020B0604020202020204" pitchFamily="34" charset="0"/>
              <a:buChar char="–"/>
              <a:defRPr/>
            </a:pPr>
            <a:r>
              <a:rPr lang="en-US" dirty="0"/>
              <a:t>Are a man who has had sex with men </a:t>
            </a:r>
          </a:p>
          <a:p>
            <a:pPr marL="274320" indent="-274320">
              <a:buClr>
                <a:schemeClr val="accent3"/>
              </a:buClr>
              <a:buFont typeface="Arial" panose="020B0604020202020204" pitchFamily="34" charset="0"/>
              <a:buChar char="–"/>
              <a:defRPr/>
            </a:pPr>
            <a:r>
              <a:rPr lang="en-US" dirty="0">
                <a:solidFill>
                  <a:schemeClr val="accent1"/>
                </a:solidFill>
              </a:rPr>
              <a:t>Most common STI in the US</a:t>
            </a:r>
          </a:p>
          <a:p>
            <a:pPr marL="274320" indent="-274320">
              <a:buClr>
                <a:schemeClr val="accent3"/>
              </a:buClr>
              <a:defRPr/>
            </a:pPr>
            <a:endParaRPr lang="en-US" dirty="0"/>
          </a:p>
          <a:p>
            <a:pPr marL="274320" indent="-274320">
              <a:buClr>
                <a:schemeClr val="accent3"/>
              </a:buClr>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arn(inVertical)">
                                      <p:cBhvr>
                                        <p:cTn id="15" dur="500"/>
                                        <p:tgtEl>
                                          <p:spTgt spid="3">
                                            <p:txEl>
                                              <p:pRg st="2" end="2"/>
                                            </p:tx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arn(inVertical)">
                                      <p:cBhvr>
                                        <p:cTn id="18" dur="500"/>
                                        <p:tgtEl>
                                          <p:spTgt spid="3">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arn(inVertical)">
                                      <p:cBhvr>
                                        <p:cTn id="23" dur="500"/>
                                        <p:tgtEl>
                                          <p:spTgt spid="3">
                                            <p:txEl>
                                              <p:pRg st="4" end="4"/>
                                            </p:txEl>
                                          </p:spTgt>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arn(inVertical)">
                                      <p:cBhvr>
                                        <p:cTn id="26" dur="500"/>
                                        <p:tgtEl>
                                          <p:spTgt spid="3">
                                            <p:txEl>
                                              <p:pRg st="5" end="5"/>
                                            </p:txEl>
                                          </p:spTgt>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arn(inVertical)">
                                      <p:cBhvr>
                                        <p:cTn id="29" dur="500"/>
                                        <p:tgtEl>
                                          <p:spTgt spid="3">
                                            <p:txEl>
                                              <p:pRg st="6" end="6"/>
                                            </p:txEl>
                                          </p:spTgt>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arn(inVertical)">
                                      <p:cBhvr>
                                        <p:cTn id="32" dur="500"/>
                                        <p:tgtEl>
                                          <p:spTgt spid="3">
                                            <p:txEl>
                                              <p:pRg st="7" end="7"/>
                                            </p:txEl>
                                          </p:spTgt>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barn(inVertical)">
                                      <p:cBhvr>
                                        <p:cTn id="35" dur="500"/>
                                        <p:tgtEl>
                                          <p:spTgt spid="3">
                                            <p:txEl>
                                              <p:pRg st="8" end="8"/>
                                            </p:txEl>
                                          </p:spTgt>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barn(inVertical)">
                                      <p:cBhvr>
                                        <p:cTn id="38" dur="500"/>
                                        <p:tgtEl>
                                          <p:spTgt spid="3">
                                            <p:txEl>
                                              <p:pRg st="9" end="9"/>
                                            </p:txEl>
                                          </p:spTgt>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barn(inVertical)">
                                      <p:cBhvr>
                                        <p:cTn id="41" dur="500"/>
                                        <p:tgtEl>
                                          <p:spTgt spid="3">
                                            <p:txEl>
                                              <p:pRg st="10" end="10"/>
                                            </p:txEl>
                                          </p:spTgt>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3">
                                            <p:txEl>
                                              <p:pRg st="11" end="11"/>
                                            </p:txEl>
                                          </p:spTgt>
                                        </p:tgtEl>
                                        <p:attrNameLst>
                                          <p:attrName>style.visibility</p:attrName>
                                        </p:attrNameLst>
                                      </p:cBhvr>
                                      <p:to>
                                        <p:strVal val="visible"/>
                                      </p:to>
                                    </p:set>
                                    <p:animEffect transition="in" filter="barn(inVertical)">
                                      <p:cBhvr>
                                        <p:cTn id="44" dur="500"/>
                                        <p:tgtEl>
                                          <p:spTgt spid="3">
                                            <p:txEl>
                                              <p:pRg st="11" end="11"/>
                                            </p:txEl>
                                          </p:spTgt>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Effect transition="in" filter="barn(inVertical)">
                                      <p:cBhvr>
                                        <p:cTn id="47" dur="500"/>
                                        <p:tgtEl>
                                          <p:spTgt spid="3">
                                            <p:txEl>
                                              <p:pRg st="12" end="12"/>
                                            </p:txEl>
                                          </p:spTgt>
                                        </p:tgtEl>
                                      </p:cBhvr>
                                    </p:animEffect>
                                  </p:childTnLst>
                                </p:cTn>
                              </p:par>
                              <p:par>
                                <p:cTn id="48" presetID="16" presetClass="entr" presetSubtype="21" fill="hold" grpId="0" nodeType="withEffect">
                                  <p:stCondLst>
                                    <p:cond delay="0"/>
                                  </p:stCondLst>
                                  <p:childTnLst>
                                    <p:set>
                                      <p:cBhvr>
                                        <p:cTn id="49" dur="1" fill="hold">
                                          <p:stCondLst>
                                            <p:cond delay="0"/>
                                          </p:stCondLst>
                                        </p:cTn>
                                        <p:tgtEl>
                                          <p:spTgt spid="3">
                                            <p:txEl>
                                              <p:pRg st="13" end="13"/>
                                            </p:txEl>
                                          </p:spTgt>
                                        </p:tgtEl>
                                        <p:attrNameLst>
                                          <p:attrName>style.visibility</p:attrName>
                                        </p:attrNameLst>
                                      </p:cBhvr>
                                      <p:to>
                                        <p:strVal val="visible"/>
                                      </p:to>
                                    </p:set>
                                    <p:animEffect transition="in" filter="barn(inVertical)">
                                      <p:cBhvr>
                                        <p:cTn id="50" dur="500"/>
                                        <p:tgtEl>
                                          <p:spTgt spid="3">
                                            <p:txEl>
                                              <p:pRg st="13" end="13"/>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animEffect transition="in" filter="barn(inVertical)">
                                      <p:cBhvr>
                                        <p:cTn id="55"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3948113" y="542544"/>
            <a:ext cx="3581400" cy="1362456"/>
          </a:xfrm>
        </p:spPr>
        <p:txBody>
          <a:bodyPr/>
          <a:lstStyle/>
          <a:p>
            <a:pPr eaLnBrk="1" hangingPunct="1"/>
            <a:r>
              <a:rPr lang="en-US" altLang="en-US" dirty="0">
                <a:solidFill>
                  <a:schemeClr val="tx1"/>
                </a:solidFill>
              </a:rPr>
              <a:t>Gonorrhea</a:t>
            </a:r>
          </a:p>
        </p:txBody>
      </p:sp>
      <p:pic>
        <p:nvPicPr>
          <p:cNvPr id="38915" name="Picture 2" descr="Microscope slide showing gonorrhea identified as a diplococcus, meaning it grows in pairs which looks like paired coffee beans or kidney beans showing up red or pink as it is gram negative.">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38513" y="1905000"/>
            <a:ext cx="4800600"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A96F9B0E-90AE-E9B4-B314-D4235C7ABBAE}"/>
              </a:ext>
            </a:extLst>
          </p:cNvPr>
          <p:cNvSpPr txBox="1"/>
          <p:nvPr/>
        </p:nvSpPr>
        <p:spPr>
          <a:xfrm>
            <a:off x="902368" y="6389170"/>
            <a:ext cx="11103361" cy="369332"/>
          </a:xfrm>
          <a:prstGeom prst="rect">
            <a:avLst/>
          </a:prstGeom>
          <a:noFill/>
        </p:spPr>
        <p:txBody>
          <a:bodyPr wrap="none" rtlCol="0">
            <a:spAutoFit/>
          </a:bodyPr>
          <a:lstStyle/>
          <a:p>
            <a:r>
              <a:rPr lang="en-US" dirty="0"/>
              <a:t>http://cdn.wwnorton.com/college/biology/microbiology3/micrograph/fig/C26/FIG26.13.A_MICROB3_CH26.jpg</a:t>
            </a:r>
          </a:p>
        </p:txBody>
      </p:sp>
    </p:spTree>
    <p:extLst>
      <p:ext uri="{BB962C8B-B14F-4D97-AF65-F5344CB8AC3E}">
        <p14:creationId xmlns:p14="http://schemas.microsoft.com/office/powerpoint/2010/main" val="1301330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752475" y="228600"/>
            <a:ext cx="8229600" cy="838200"/>
          </a:xfrm>
        </p:spPr>
        <p:txBody>
          <a:bodyPr/>
          <a:lstStyle/>
          <a:p>
            <a:pPr eaLnBrk="1" hangingPunct="1"/>
            <a:r>
              <a:rPr lang="en-US" altLang="en-US" dirty="0"/>
              <a:t>Gonorrhea – General Info</a:t>
            </a:r>
          </a:p>
        </p:txBody>
      </p:sp>
      <p:sp>
        <p:nvSpPr>
          <p:cNvPr id="34819" name="Content Placeholder 2"/>
          <p:cNvSpPr>
            <a:spLocks noGrp="1"/>
          </p:cNvSpPr>
          <p:nvPr>
            <p:ph idx="1"/>
          </p:nvPr>
        </p:nvSpPr>
        <p:spPr>
          <a:xfrm>
            <a:off x="903287" y="1143000"/>
            <a:ext cx="10421937" cy="5486400"/>
          </a:xfrm>
        </p:spPr>
        <p:txBody>
          <a:bodyPr>
            <a:normAutofit lnSpcReduction="10000"/>
          </a:bodyPr>
          <a:lstStyle/>
          <a:p>
            <a:pPr marL="274320" indent="-274320">
              <a:buClr>
                <a:schemeClr val="accent3"/>
              </a:buClr>
              <a:buFont typeface="Wingdings 2"/>
              <a:buChar char=""/>
              <a:defRPr/>
            </a:pPr>
            <a:r>
              <a:rPr lang="en-US" altLang="en-US" sz="2500" i="1" dirty="0"/>
              <a:t>Neisseria gonorrhea </a:t>
            </a:r>
            <a:r>
              <a:rPr lang="en-US" altLang="en-US" sz="2500" dirty="0"/>
              <a:t>is a</a:t>
            </a:r>
            <a:r>
              <a:rPr lang="en-US" altLang="en-US" sz="2500" i="1" dirty="0"/>
              <a:t> </a:t>
            </a:r>
            <a:r>
              <a:rPr lang="en-US" altLang="en-US" sz="2500" dirty="0"/>
              <a:t>gram-negative intracellular Diplococci </a:t>
            </a:r>
          </a:p>
          <a:p>
            <a:pPr marL="274320" indent="-274320">
              <a:buClr>
                <a:schemeClr val="accent3"/>
              </a:buClr>
              <a:buFont typeface="Wingdings 2"/>
              <a:buChar char=""/>
              <a:defRPr/>
            </a:pPr>
            <a:r>
              <a:rPr lang="en-US" altLang="en-US" sz="2500" dirty="0"/>
              <a:t>Transmitted via oral, vaginal, or anal sex w/ an infected partner</a:t>
            </a:r>
          </a:p>
          <a:p>
            <a:pPr marL="274320" indent="-274320">
              <a:buClr>
                <a:schemeClr val="accent3"/>
              </a:buClr>
              <a:buFont typeface="Wingdings 2"/>
              <a:buChar char=""/>
              <a:defRPr/>
            </a:pPr>
            <a:r>
              <a:rPr lang="en-US" altLang="en-US" sz="2500" dirty="0"/>
              <a:t>Both men &amp; women can contract it</a:t>
            </a:r>
          </a:p>
          <a:p>
            <a:pPr marL="274320" indent="-274320">
              <a:buClr>
                <a:schemeClr val="accent3"/>
              </a:buClr>
              <a:buFont typeface="Wingdings 2"/>
              <a:buChar char=""/>
              <a:defRPr/>
            </a:pPr>
            <a:r>
              <a:rPr lang="en-US" altLang="en-US" sz="2500" dirty="0"/>
              <a:t>It can also be transmitted to newborn during a vaginal delivery</a:t>
            </a:r>
          </a:p>
          <a:p>
            <a:pPr marL="274320" indent="-274320">
              <a:buClr>
                <a:schemeClr val="accent3"/>
              </a:buClr>
              <a:buFont typeface="Wingdings 2"/>
              <a:buChar char=""/>
              <a:defRPr/>
            </a:pPr>
            <a:r>
              <a:rPr lang="en-US" altLang="en-US" sz="2500" dirty="0"/>
              <a:t>Risk Factors</a:t>
            </a:r>
          </a:p>
          <a:p>
            <a:pPr marL="640080" lvl="1" indent="-246888">
              <a:buFont typeface="Wingdings 2"/>
              <a:buChar char=""/>
              <a:defRPr/>
            </a:pPr>
            <a:r>
              <a:rPr lang="en-US" altLang="en-US" sz="2000" dirty="0"/>
              <a:t>Prior infection with gonorrhea</a:t>
            </a:r>
          </a:p>
          <a:p>
            <a:pPr marL="640080" lvl="1" indent="-246888">
              <a:buFont typeface="Wingdings 2"/>
              <a:buChar char=""/>
              <a:defRPr/>
            </a:pPr>
            <a:r>
              <a:rPr lang="en-US" altLang="en-US" sz="2000" dirty="0"/>
              <a:t>Positive for other STIs, </a:t>
            </a:r>
            <a:r>
              <a:rPr lang="en-US" altLang="en-US" sz="2000" dirty="0" err="1"/>
              <a:t>esp</a:t>
            </a:r>
            <a:r>
              <a:rPr lang="en-US" altLang="en-US" sz="2000" dirty="0"/>
              <a:t> HIV</a:t>
            </a:r>
          </a:p>
          <a:p>
            <a:pPr marL="640080" lvl="1" indent="-246888">
              <a:buFont typeface="Wingdings 2"/>
              <a:buChar char=""/>
              <a:defRPr/>
            </a:pPr>
            <a:r>
              <a:rPr lang="en-US" altLang="en-US" sz="2000" dirty="0"/>
              <a:t>Have new or multiple sex partners  </a:t>
            </a:r>
          </a:p>
          <a:p>
            <a:pPr marL="640080" lvl="1" indent="-246888">
              <a:buFont typeface="Wingdings 2"/>
              <a:buChar char=""/>
              <a:defRPr/>
            </a:pPr>
            <a:r>
              <a:rPr lang="en-US" altLang="en-US" sz="2000" dirty="0"/>
              <a:t>Use condoms inconsistently </a:t>
            </a:r>
          </a:p>
          <a:p>
            <a:pPr marL="640080" lvl="1" indent="-246888">
              <a:buFont typeface="Wingdings 2"/>
              <a:buChar char=""/>
              <a:defRPr/>
            </a:pPr>
            <a:r>
              <a:rPr lang="en-US" altLang="en-US" sz="2000" dirty="0"/>
              <a:t>Do commercial sex work </a:t>
            </a:r>
          </a:p>
          <a:p>
            <a:pPr marL="640080" lvl="1" indent="-246888">
              <a:buFont typeface="Wingdings 2"/>
              <a:buChar char=""/>
              <a:defRPr/>
            </a:pPr>
            <a:r>
              <a:rPr lang="en-US" altLang="en-US" sz="2000" dirty="0"/>
              <a:t>Use illegal drugs</a:t>
            </a:r>
          </a:p>
          <a:p>
            <a:pPr marL="640080" lvl="1" indent="-246888">
              <a:buFont typeface="Wingdings 2"/>
              <a:buChar char=""/>
              <a:defRPr/>
            </a:pPr>
            <a:r>
              <a:rPr lang="en-US" altLang="en-US" sz="2000" dirty="0"/>
              <a:t>Started sexual relationships early in adolescence</a:t>
            </a:r>
          </a:p>
          <a:p>
            <a:pPr marL="640080" lvl="1" indent="-246888">
              <a:buFont typeface="Wingdings 2"/>
              <a:buChar char=""/>
              <a:defRPr/>
            </a:pPr>
            <a:r>
              <a:rPr lang="en-US" altLang="en-US" sz="2000" dirty="0"/>
              <a:t>Live in a detention facility</a:t>
            </a:r>
          </a:p>
          <a:p>
            <a:pPr marL="640080" lvl="1" indent="-246888">
              <a:buFont typeface="Wingdings 2"/>
              <a:buChar char=""/>
              <a:defRPr/>
            </a:pPr>
            <a:r>
              <a:rPr lang="en-US" altLang="en-US" sz="2000" dirty="0"/>
              <a:t>Are a man who has had sex with men </a:t>
            </a:r>
          </a:p>
          <a:p>
            <a:pPr marL="273367" indent="-246888">
              <a:buFont typeface="Wingdings 2"/>
              <a:buChar char=""/>
              <a:defRPr/>
            </a:pPr>
            <a:r>
              <a:rPr lang="en-US" sz="2400" dirty="0">
                <a:solidFill>
                  <a:schemeClr val="accent1"/>
                </a:solidFill>
              </a:rPr>
              <a:t>2</a:t>
            </a:r>
            <a:r>
              <a:rPr lang="en-US" sz="2400" baseline="30000" dirty="0">
                <a:solidFill>
                  <a:schemeClr val="accent1"/>
                </a:solidFill>
              </a:rPr>
              <a:t>nd</a:t>
            </a:r>
            <a:r>
              <a:rPr lang="en-US" sz="2400" dirty="0">
                <a:solidFill>
                  <a:schemeClr val="accent1"/>
                </a:solidFill>
              </a:rPr>
              <a:t> most common bacterial STI in the US</a:t>
            </a:r>
            <a:endParaRPr lang="en-US" altLang="en-US" sz="2200" dirty="0"/>
          </a:p>
          <a:p>
            <a:pPr marL="274320" indent="-274320">
              <a:buClr>
                <a:schemeClr val="accent3"/>
              </a:buClr>
              <a:buFont typeface="Wingdings 2"/>
              <a:buChar char=""/>
              <a:defRPr/>
            </a:pPr>
            <a:endParaRPr lang="en-US" altLang="en-US" sz="2400" dirty="0"/>
          </a:p>
        </p:txBody>
      </p:sp>
    </p:spTree>
    <p:extLst>
      <p:ext uri="{BB962C8B-B14F-4D97-AF65-F5344CB8AC3E}">
        <p14:creationId xmlns:p14="http://schemas.microsoft.com/office/powerpoint/2010/main" val="25418980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with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wheel(1)">
                                      <p:cBhvr>
                                        <p:cTn id="7" dur="750"/>
                                        <p:tgtEl>
                                          <p:spTgt spid="348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wheel(1)">
                                      <p:cBhvr>
                                        <p:cTn id="12" dur="750"/>
                                        <p:tgtEl>
                                          <p:spTgt spid="34819">
                                            <p:txEl>
                                              <p:pRg st="1" end="1"/>
                                            </p:txEl>
                                          </p:spTgt>
                                        </p:tgtEl>
                                      </p:cBhvr>
                                    </p:animEffect>
                                  </p:childTnLst>
                                </p:cTn>
                              </p:par>
                              <p:par>
                                <p:cTn id="13" presetID="21" presetClass="entr" presetSubtype="1" fill="hold" grpId="0" nodeType="withEffect">
                                  <p:stCondLst>
                                    <p:cond delay="0"/>
                                  </p:stCondLst>
                                  <p:childTnLst>
                                    <p:set>
                                      <p:cBhvr>
                                        <p:cTn id="14" dur="1" fill="hold">
                                          <p:stCondLst>
                                            <p:cond delay="0"/>
                                          </p:stCondLst>
                                        </p:cTn>
                                        <p:tgtEl>
                                          <p:spTgt spid="34819">
                                            <p:txEl>
                                              <p:pRg st="2" end="2"/>
                                            </p:txEl>
                                          </p:spTgt>
                                        </p:tgtEl>
                                        <p:attrNameLst>
                                          <p:attrName>style.visibility</p:attrName>
                                        </p:attrNameLst>
                                      </p:cBhvr>
                                      <p:to>
                                        <p:strVal val="visible"/>
                                      </p:to>
                                    </p:set>
                                    <p:animEffect transition="in" filter="wheel(1)">
                                      <p:cBhvr>
                                        <p:cTn id="15" dur="750"/>
                                        <p:tgtEl>
                                          <p:spTgt spid="34819">
                                            <p:txEl>
                                              <p:pRg st="2" end="2"/>
                                            </p:txEl>
                                          </p:spTgt>
                                        </p:tgtEl>
                                      </p:cBhvr>
                                    </p:animEffect>
                                  </p:childTnLst>
                                </p:cTn>
                              </p:par>
                              <p:par>
                                <p:cTn id="16" presetID="21" presetClass="entr" presetSubtype="1" fill="hold" grpId="0" nodeType="withEffect">
                                  <p:stCondLst>
                                    <p:cond delay="0"/>
                                  </p:stCondLst>
                                  <p:childTnLst>
                                    <p:set>
                                      <p:cBhvr>
                                        <p:cTn id="17" dur="1" fill="hold">
                                          <p:stCondLst>
                                            <p:cond delay="0"/>
                                          </p:stCondLst>
                                        </p:cTn>
                                        <p:tgtEl>
                                          <p:spTgt spid="34819">
                                            <p:txEl>
                                              <p:pRg st="3" end="3"/>
                                            </p:txEl>
                                          </p:spTgt>
                                        </p:tgtEl>
                                        <p:attrNameLst>
                                          <p:attrName>style.visibility</p:attrName>
                                        </p:attrNameLst>
                                      </p:cBhvr>
                                      <p:to>
                                        <p:strVal val="visible"/>
                                      </p:to>
                                    </p:set>
                                    <p:animEffect transition="in" filter="wheel(1)">
                                      <p:cBhvr>
                                        <p:cTn id="18" dur="750"/>
                                        <p:tgtEl>
                                          <p:spTgt spid="3481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34819">
                                            <p:txEl>
                                              <p:pRg st="4" end="4"/>
                                            </p:txEl>
                                          </p:spTgt>
                                        </p:tgtEl>
                                        <p:attrNameLst>
                                          <p:attrName>style.visibility</p:attrName>
                                        </p:attrNameLst>
                                      </p:cBhvr>
                                      <p:to>
                                        <p:strVal val="visible"/>
                                      </p:to>
                                    </p:set>
                                    <p:animEffect transition="in" filter="wheel(1)">
                                      <p:cBhvr>
                                        <p:cTn id="23" dur="750"/>
                                        <p:tgtEl>
                                          <p:spTgt spid="34819">
                                            <p:txEl>
                                              <p:pRg st="4" end="4"/>
                                            </p:txEl>
                                          </p:spTgt>
                                        </p:tgtEl>
                                      </p:cBhvr>
                                    </p:animEffect>
                                  </p:childTnLst>
                                </p:cTn>
                              </p:par>
                              <p:par>
                                <p:cTn id="24" presetID="21" presetClass="entr" presetSubtype="1" fill="hold" grpId="0" nodeType="withEffect">
                                  <p:stCondLst>
                                    <p:cond delay="0"/>
                                  </p:stCondLst>
                                  <p:childTnLst>
                                    <p:set>
                                      <p:cBhvr>
                                        <p:cTn id="25" dur="1" fill="hold">
                                          <p:stCondLst>
                                            <p:cond delay="0"/>
                                          </p:stCondLst>
                                        </p:cTn>
                                        <p:tgtEl>
                                          <p:spTgt spid="34819">
                                            <p:txEl>
                                              <p:pRg st="5" end="5"/>
                                            </p:txEl>
                                          </p:spTgt>
                                        </p:tgtEl>
                                        <p:attrNameLst>
                                          <p:attrName>style.visibility</p:attrName>
                                        </p:attrNameLst>
                                      </p:cBhvr>
                                      <p:to>
                                        <p:strVal val="visible"/>
                                      </p:to>
                                    </p:set>
                                    <p:animEffect transition="in" filter="wheel(1)">
                                      <p:cBhvr>
                                        <p:cTn id="26" dur="750"/>
                                        <p:tgtEl>
                                          <p:spTgt spid="34819">
                                            <p:txEl>
                                              <p:pRg st="5" end="5"/>
                                            </p:txEl>
                                          </p:spTgt>
                                        </p:tgtEl>
                                      </p:cBhvr>
                                    </p:animEffect>
                                  </p:childTnLst>
                                </p:cTn>
                              </p:par>
                              <p:par>
                                <p:cTn id="27" presetID="21" presetClass="entr" presetSubtype="1" fill="hold" grpId="0" nodeType="withEffect">
                                  <p:stCondLst>
                                    <p:cond delay="0"/>
                                  </p:stCondLst>
                                  <p:childTnLst>
                                    <p:set>
                                      <p:cBhvr>
                                        <p:cTn id="28" dur="1" fill="hold">
                                          <p:stCondLst>
                                            <p:cond delay="0"/>
                                          </p:stCondLst>
                                        </p:cTn>
                                        <p:tgtEl>
                                          <p:spTgt spid="34819">
                                            <p:txEl>
                                              <p:pRg st="6" end="6"/>
                                            </p:txEl>
                                          </p:spTgt>
                                        </p:tgtEl>
                                        <p:attrNameLst>
                                          <p:attrName>style.visibility</p:attrName>
                                        </p:attrNameLst>
                                      </p:cBhvr>
                                      <p:to>
                                        <p:strVal val="visible"/>
                                      </p:to>
                                    </p:set>
                                    <p:animEffect transition="in" filter="wheel(1)">
                                      <p:cBhvr>
                                        <p:cTn id="29" dur="750"/>
                                        <p:tgtEl>
                                          <p:spTgt spid="34819">
                                            <p:txEl>
                                              <p:pRg st="6" end="6"/>
                                            </p:txEl>
                                          </p:spTgt>
                                        </p:tgtEl>
                                      </p:cBhvr>
                                    </p:animEffect>
                                  </p:childTnLst>
                                </p:cTn>
                              </p:par>
                              <p:par>
                                <p:cTn id="30" presetID="21" presetClass="entr" presetSubtype="1" fill="hold" grpId="0" nodeType="withEffect">
                                  <p:stCondLst>
                                    <p:cond delay="0"/>
                                  </p:stCondLst>
                                  <p:childTnLst>
                                    <p:set>
                                      <p:cBhvr>
                                        <p:cTn id="31" dur="1" fill="hold">
                                          <p:stCondLst>
                                            <p:cond delay="0"/>
                                          </p:stCondLst>
                                        </p:cTn>
                                        <p:tgtEl>
                                          <p:spTgt spid="34819">
                                            <p:txEl>
                                              <p:pRg st="7" end="7"/>
                                            </p:txEl>
                                          </p:spTgt>
                                        </p:tgtEl>
                                        <p:attrNameLst>
                                          <p:attrName>style.visibility</p:attrName>
                                        </p:attrNameLst>
                                      </p:cBhvr>
                                      <p:to>
                                        <p:strVal val="visible"/>
                                      </p:to>
                                    </p:set>
                                    <p:animEffect transition="in" filter="wheel(1)">
                                      <p:cBhvr>
                                        <p:cTn id="32" dur="750"/>
                                        <p:tgtEl>
                                          <p:spTgt spid="34819">
                                            <p:txEl>
                                              <p:pRg st="7" end="7"/>
                                            </p:txEl>
                                          </p:spTgt>
                                        </p:tgtEl>
                                      </p:cBhvr>
                                    </p:animEffect>
                                  </p:childTnLst>
                                </p:cTn>
                              </p:par>
                              <p:par>
                                <p:cTn id="33" presetID="21" presetClass="entr" presetSubtype="1" fill="hold" grpId="0" nodeType="withEffect">
                                  <p:stCondLst>
                                    <p:cond delay="0"/>
                                  </p:stCondLst>
                                  <p:childTnLst>
                                    <p:set>
                                      <p:cBhvr>
                                        <p:cTn id="34" dur="1" fill="hold">
                                          <p:stCondLst>
                                            <p:cond delay="0"/>
                                          </p:stCondLst>
                                        </p:cTn>
                                        <p:tgtEl>
                                          <p:spTgt spid="34819">
                                            <p:txEl>
                                              <p:pRg st="8" end="8"/>
                                            </p:txEl>
                                          </p:spTgt>
                                        </p:tgtEl>
                                        <p:attrNameLst>
                                          <p:attrName>style.visibility</p:attrName>
                                        </p:attrNameLst>
                                      </p:cBhvr>
                                      <p:to>
                                        <p:strVal val="visible"/>
                                      </p:to>
                                    </p:set>
                                    <p:animEffect transition="in" filter="wheel(1)">
                                      <p:cBhvr>
                                        <p:cTn id="35" dur="750"/>
                                        <p:tgtEl>
                                          <p:spTgt spid="34819">
                                            <p:txEl>
                                              <p:pRg st="8" end="8"/>
                                            </p:txEl>
                                          </p:spTgt>
                                        </p:tgtEl>
                                      </p:cBhvr>
                                    </p:animEffect>
                                  </p:childTnLst>
                                </p:cTn>
                              </p:par>
                              <p:par>
                                <p:cTn id="36" presetID="21" presetClass="entr" presetSubtype="1" fill="hold" grpId="0" nodeType="withEffect">
                                  <p:stCondLst>
                                    <p:cond delay="0"/>
                                  </p:stCondLst>
                                  <p:childTnLst>
                                    <p:set>
                                      <p:cBhvr>
                                        <p:cTn id="37" dur="1" fill="hold">
                                          <p:stCondLst>
                                            <p:cond delay="0"/>
                                          </p:stCondLst>
                                        </p:cTn>
                                        <p:tgtEl>
                                          <p:spTgt spid="34819">
                                            <p:txEl>
                                              <p:pRg st="9" end="9"/>
                                            </p:txEl>
                                          </p:spTgt>
                                        </p:tgtEl>
                                        <p:attrNameLst>
                                          <p:attrName>style.visibility</p:attrName>
                                        </p:attrNameLst>
                                      </p:cBhvr>
                                      <p:to>
                                        <p:strVal val="visible"/>
                                      </p:to>
                                    </p:set>
                                    <p:animEffect transition="in" filter="wheel(1)">
                                      <p:cBhvr>
                                        <p:cTn id="38" dur="750"/>
                                        <p:tgtEl>
                                          <p:spTgt spid="34819">
                                            <p:txEl>
                                              <p:pRg st="9" end="9"/>
                                            </p:txEl>
                                          </p:spTgt>
                                        </p:tgtEl>
                                      </p:cBhvr>
                                    </p:animEffect>
                                  </p:childTnLst>
                                </p:cTn>
                              </p:par>
                              <p:par>
                                <p:cTn id="39" presetID="21" presetClass="entr" presetSubtype="1" fill="hold" grpId="0" nodeType="withEffect">
                                  <p:stCondLst>
                                    <p:cond delay="0"/>
                                  </p:stCondLst>
                                  <p:childTnLst>
                                    <p:set>
                                      <p:cBhvr>
                                        <p:cTn id="40" dur="1" fill="hold">
                                          <p:stCondLst>
                                            <p:cond delay="0"/>
                                          </p:stCondLst>
                                        </p:cTn>
                                        <p:tgtEl>
                                          <p:spTgt spid="34819">
                                            <p:txEl>
                                              <p:pRg st="10" end="10"/>
                                            </p:txEl>
                                          </p:spTgt>
                                        </p:tgtEl>
                                        <p:attrNameLst>
                                          <p:attrName>style.visibility</p:attrName>
                                        </p:attrNameLst>
                                      </p:cBhvr>
                                      <p:to>
                                        <p:strVal val="visible"/>
                                      </p:to>
                                    </p:set>
                                    <p:animEffect transition="in" filter="wheel(1)">
                                      <p:cBhvr>
                                        <p:cTn id="41" dur="750"/>
                                        <p:tgtEl>
                                          <p:spTgt spid="34819">
                                            <p:txEl>
                                              <p:pRg st="10" end="10"/>
                                            </p:txEl>
                                          </p:spTgt>
                                        </p:tgtEl>
                                      </p:cBhvr>
                                    </p:animEffect>
                                  </p:childTnLst>
                                </p:cTn>
                              </p:par>
                              <p:par>
                                <p:cTn id="42" presetID="21" presetClass="entr" presetSubtype="1" fill="hold" grpId="0" nodeType="withEffect">
                                  <p:stCondLst>
                                    <p:cond delay="0"/>
                                  </p:stCondLst>
                                  <p:childTnLst>
                                    <p:set>
                                      <p:cBhvr>
                                        <p:cTn id="43" dur="1" fill="hold">
                                          <p:stCondLst>
                                            <p:cond delay="0"/>
                                          </p:stCondLst>
                                        </p:cTn>
                                        <p:tgtEl>
                                          <p:spTgt spid="34819">
                                            <p:txEl>
                                              <p:pRg st="11" end="11"/>
                                            </p:txEl>
                                          </p:spTgt>
                                        </p:tgtEl>
                                        <p:attrNameLst>
                                          <p:attrName>style.visibility</p:attrName>
                                        </p:attrNameLst>
                                      </p:cBhvr>
                                      <p:to>
                                        <p:strVal val="visible"/>
                                      </p:to>
                                    </p:set>
                                    <p:animEffect transition="in" filter="wheel(1)">
                                      <p:cBhvr>
                                        <p:cTn id="44" dur="750"/>
                                        <p:tgtEl>
                                          <p:spTgt spid="34819">
                                            <p:txEl>
                                              <p:pRg st="11" end="11"/>
                                            </p:txEl>
                                          </p:spTgt>
                                        </p:tgtEl>
                                      </p:cBhvr>
                                    </p:animEffect>
                                  </p:childTnLst>
                                </p:cTn>
                              </p:par>
                              <p:par>
                                <p:cTn id="45" presetID="21" presetClass="entr" presetSubtype="1" fill="hold" grpId="0" nodeType="withEffect">
                                  <p:stCondLst>
                                    <p:cond delay="0"/>
                                  </p:stCondLst>
                                  <p:childTnLst>
                                    <p:set>
                                      <p:cBhvr>
                                        <p:cTn id="46" dur="1" fill="hold">
                                          <p:stCondLst>
                                            <p:cond delay="0"/>
                                          </p:stCondLst>
                                        </p:cTn>
                                        <p:tgtEl>
                                          <p:spTgt spid="34819">
                                            <p:txEl>
                                              <p:pRg st="12" end="12"/>
                                            </p:txEl>
                                          </p:spTgt>
                                        </p:tgtEl>
                                        <p:attrNameLst>
                                          <p:attrName>style.visibility</p:attrName>
                                        </p:attrNameLst>
                                      </p:cBhvr>
                                      <p:to>
                                        <p:strVal val="visible"/>
                                      </p:to>
                                    </p:set>
                                    <p:animEffect transition="in" filter="wheel(1)">
                                      <p:cBhvr>
                                        <p:cTn id="47" dur="750"/>
                                        <p:tgtEl>
                                          <p:spTgt spid="34819">
                                            <p:txEl>
                                              <p:pRg st="12" end="12"/>
                                            </p:txEl>
                                          </p:spTgt>
                                        </p:tgtEl>
                                      </p:cBhvr>
                                    </p:animEffect>
                                  </p:childTnLst>
                                </p:cTn>
                              </p:par>
                              <p:par>
                                <p:cTn id="48" presetID="21" presetClass="entr" presetSubtype="1" fill="hold" grpId="0" nodeType="withEffect">
                                  <p:stCondLst>
                                    <p:cond delay="0"/>
                                  </p:stCondLst>
                                  <p:childTnLst>
                                    <p:set>
                                      <p:cBhvr>
                                        <p:cTn id="49" dur="1" fill="hold">
                                          <p:stCondLst>
                                            <p:cond delay="0"/>
                                          </p:stCondLst>
                                        </p:cTn>
                                        <p:tgtEl>
                                          <p:spTgt spid="34819">
                                            <p:txEl>
                                              <p:pRg st="13" end="13"/>
                                            </p:txEl>
                                          </p:spTgt>
                                        </p:tgtEl>
                                        <p:attrNameLst>
                                          <p:attrName>style.visibility</p:attrName>
                                        </p:attrNameLst>
                                      </p:cBhvr>
                                      <p:to>
                                        <p:strVal val="visible"/>
                                      </p:to>
                                    </p:set>
                                    <p:animEffect transition="in" filter="wheel(1)">
                                      <p:cBhvr>
                                        <p:cTn id="50" dur="750"/>
                                        <p:tgtEl>
                                          <p:spTgt spid="34819">
                                            <p:txEl>
                                              <p:pRg st="13" end="1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1" presetClass="entr" presetSubtype="1" fill="hold" grpId="0" nodeType="clickEffect">
                                  <p:stCondLst>
                                    <p:cond delay="0"/>
                                  </p:stCondLst>
                                  <p:childTnLst>
                                    <p:set>
                                      <p:cBhvr>
                                        <p:cTn id="54" dur="1" fill="hold">
                                          <p:stCondLst>
                                            <p:cond delay="0"/>
                                          </p:stCondLst>
                                        </p:cTn>
                                        <p:tgtEl>
                                          <p:spTgt spid="34819">
                                            <p:txEl>
                                              <p:pRg st="14" end="14"/>
                                            </p:txEl>
                                          </p:spTgt>
                                        </p:tgtEl>
                                        <p:attrNameLst>
                                          <p:attrName>style.visibility</p:attrName>
                                        </p:attrNameLst>
                                      </p:cBhvr>
                                      <p:to>
                                        <p:strVal val="visible"/>
                                      </p:to>
                                    </p:set>
                                    <p:animEffect transition="in" filter="wheel(1)">
                                      <p:cBhvr>
                                        <p:cTn id="55" dur="750"/>
                                        <p:tgtEl>
                                          <p:spTgt spid="34819">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1143000" y="390525"/>
            <a:ext cx="8229600" cy="857250"/>
          </a:xfrm>
        </p:spPr>
        <p:txBody>
          <a:bodyPr/>
          <a:lstStyle/>
          <a:p>
            <a:pPr eaLnBrk="1" hangingPunct="1"/>
            <a:r>
              <a:rPr lang="en-US" altLang="en-US" dirty="0"/>
              <a:t>Chlamydia &amp; Gonorrhea Screening</a:t>
            </a:r>
          </a:p>
        </p:txBody>
      </p:sp>
      <p:sp>
        <p:nvSpPr>
          <p:cNvPr id="30723" name="Content Placeholder 2"/>
          <p:cNvSpPr>
            <a:spLocks noGrp="1"/>
          </p:cNvSpPr>
          <p:nvPr>
            <p:ph sz="quarter" idx="2"/>
          </p:nvPr>
        </p:nvSpPr>
        <p:spPr>
          <a:xfrm>
            <a:off x="1143000" y="1524001"/>
            <a:ext cx="4040188" cy="4602163"/>
          </a:xfrm>
        </p:spPr>
        <p:txBody>
          <a:bodyPr>
            <a:normAutofit fontScale="92500" lnSpcReduction="20000"/>
          </a:bodyPr>
          <a:lstStyle/>
          <a:p>
            <a:pPr eaLnBrk="1" hangingPunct="1"/>
            <a:r>
              <a:rPr lang="en-US" altLang="en-US" dirty="0"/>
              <a:t>The CDC, </a:t>
            </a:r>
          </a:p>
          <a:p>
            <a:pPr eaLnBrk="1" hangingPunct="1"/>
            <a:r>
              <a:rPr lang="en-US" altLang="en-US" dirty="0"/>
              <a:t>The U.S. Preventive Services Task Force (USPSTF), </a:t>
            </a:r>
          </a:p>
          <a:p>
            <a:pPr eaLnBrk="1" hangingPunct="1"/>
            <a:r>
              <a:rPr lang="en-US" altLang="en-US" dirty="0"/>
              <a:t>The American Academy of Family Physicians (AAFP), &amp;</a:t>
            </a:r>
          </a:p>
          <a:p>
            <a:pPr eaLnBrk="1" hangingPunct="1"/>
            <a:r>
              <a:rPr lang="en-US" altLang="en-US" dirty="0"/>
              <a:t>The American College of Obstetricians and Gynecologists (ACOG) </a:t>
            </a:r>
          </a:p>
        </p:txBody>
      </p:sp>
      <p:sp>
        <p:nvSpPr>
          <p:cNvPr id="6" name="Content Placeholder 5"/>
          <p:cNvSpPr>
            <a:spLocks noGrp="1"/>
          </p:cNvSpPr>
          <p:nvPr>
            <p:ph sz="quarter" idx="4"/>
          </p:nvPr>
        </p:nvSpPr>
        <p:spPr>
          <a:xfrm>
            <a:off x="5945188" y="1477964"/>
            <a:ext cx="4570412" cy="4648200"/>
          </a:xfrm>
        </p:spPr>
        <p:txBody>
          <a:bodyPr rtlCol="0">
            <a:normAutofit fontScale="92500" lnSpcReduction="20000"/>
          </a:bodyPr>
          <a:lstStyle/>
          <a:p>
            <a:pPr marL="274320" indent="-274320">
              <a:buClr>
                <a:schemeClr val="accent3"/>
              </a:buClr>
              <a:defRPr/>
            </a:pPr>
            <a:r>
              <a:rPr lang="en-US" dirty="0"/>
              <a:t>USPSTF 24 and younger</a:t>
            </a:r>
          </a:p>
          <a:p>
            <a:pPr marL="274320" indent="-274320">
              <a:buClr>
                <a:schemeClr val="accent3"/>
              </a:buClr>
              <a:defRPr/>
            </a:pPr>
            <a:r>
              <a:rPr lang="en-US" dirty="0"/>
              <a:t>CDC &amp; ACOG says age 25 and younger</a:t>
            </a:r>
          </a:p>
          <a:p>
            <a:pPr marL="274320" indent="-274320">
              <a:buClr>
                <a:schemeClr val="accent3"/>
              </a:buClr>
              <a:defRPr/>
            </a:pPr>
            <a:r>
              <a:rPr lang="en-US" dirty="0"/>
              <a:t>For all other sexually active women who are at increased risk (</a:t>
            </a:r>
            <a:r>
              <a:rPr lang="en-US" dirty="0" err="1"/>
              <a:t>ie</a:t>
            </a:r>
            <a:r>
              <a:rPr lang="en-US" dirty="0"/>
              <a:t> multiple sex partners, new sex partner, prior STI, etc.) </a:t>
            </a:r>
          </a:p>
          <a:p>
            <a:pPr marL="274320" indent="-274320">
              <a:buClr>
                <a:schemeClr val="accent3"/>
              </a:buClr>
              <a:defRPr/>
            </a:pPr>
            <a:r>
              <a:rPr lang="en-US" dirty="0"/>
              <a:t>CDC and ACOG specifically recommend annual screening.</a:t>
            </a:r>
          </a:p>
          <a:p>
            <a:pPr marL="274320" indent="-274320">
              <a:buClr>
                <a:schemeClr val="accent3"/>
              </a:buClr>
              <a:defRPr/>
            </a:pPr>
            <a:r>
              <a:rPr lang="en-US" sz="2400" dirty="0"/>
              <a:t>These organizations do not recommend routine screening for sexually active, heterosexual males.</a:t>
            </a:r>
          </a:p>
          <a:p>
            <a:pPr marL="274320" indent="-274320">
              <a:buClr>
                <a:schemeClr val="accent3"/>
              </a:buClr>
              <a:defRPr/>
            </a:pPr>
            <a:endParaRPr lang="en-US" dirty="0"/>
          </a:p>
          <a:p>
            <a:pPr marL="274320" indent="-274320">
              <a:buClr>
                <a:schemeClr val="accent3"/>
              </a:buClr>
              <a:defRPr/>
            </a:pPr>
            <a:endParaRPr lang="en-US" dirty="0"/>
          </a:p>
          <a:p>
            <a:pPr marL="274320" indent="-274320">
              <a:buClr>
                <a:schemeClr val="accent3"/>
              </a:buClr>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933450" y="342900"/>
            <a:ext cx="8839199" cy="990600"/>
          </a:xfrm>
        </p:spPr>
        <p:txBody>
          <a:bodyPr>
            <a:normAutofit/>
          </a:bodyPr>
          <a:lstStyle/>
          <a:p>
            <a:pPr eaLnBrk="1" hangingPunct="1"/>
            <a:r>
              <a:rPr lang="en-US" altLang="en-US" dirty="0"/>
              <a:t>Chlamydia &amp; Gonorrhea in Pregnancy</a:t>
            </a:r>
          </a:p>
        </p:txBody>
      </p:sp>
      <p:sp>
        <p:nvSpPr>
          <p:cNvPr id="31747" name="Content Placeholder 2"/>
          <p:cNvSpPr>
            <a:spLocks noGrp="1"/>
          </p:cNvSpPr>
          <p:nvPr>
            <p:ph idx="1"/>
          </p:nvPr>
        </p:nvSpPr>
        <p:spPr>
          <a:xfrm>
            <a:off x="933451" y="1333500"/>
            <a:ext cx="10515600" cy="4830763"/>
          </a:xfrm>
        </p:spPr>
        <p:txBody>
          <a:bodyPr/>
          <a:lstStyle/>
          <a:p>
            <a:r>
              <a:rPr lang="en-US" altLang="en-US" dirty="0"/>
              <a:t>For pregnant women, the CDC recommends screening for chlamydia &amp; gonorrhea during the 1st prenatal visit &amp; again in the 3rd trimester for those 25 &amp; younger or who are at increased risk of infection. </a:t>
            </a:r>
          </a:p>
          <a:p>
            <a:pPr eaLnBrk="1" hangingPunct="1"/>
            <a:endParaRPr lang="en-US" altLang="en-US" sz="1200" dirty="0"/>
          </a:p>
          <a:p>
            <a:r>
              <a:rPr lang="en-US" altLang="en-US" dirty="0"/>
              <a:t>Pregnant women diagnosed with chlamydia &amp;/or gonorrhea during the 1st trimester should be retested within 3 - 6 </a:t>
            </a:r>
            <a:r>
              <a:rPr lang="en-US" altLang="en-US" dirty="0" err="1"/>
              <a:t>mon</a:t>
            </a:r>
            <a:r>
              <a:rPr lang="en-US" altLang="en-US" dirty="0"/>
              <a:t>, preferably in the 3rd trimester. </a:t>
            </a:r>
          </a:p>
          <a:p>
            <a:pPr lvl="1" eaLnBrk="1" hangingPunct="1"/>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942975" y="428625"/>
            <a:ext cx="8229600" cy="1143000"/>
          </a:xfrm>
        </p:spPr>
        <p:txBody>
          <a:bodyPr>
            <a:normAutofit fontScale="90000"/>
          </a:bodyPr>
          <a:lstStyle/>
          <a:p>
            <a:r>
              <a:rPr lang="en-US" altLang="en-US" dirty="0"/>
              <a:t>Chlamydia &amp; Gonorrhea – Prevention </a:t>
            </a:r>
          </a:p>
        </p:txBody>
      </p:sp>
      <p:sp>
        <p:nvSpPr>
          <p:cNvPr id="32771" name="Content Placeholder 2"/>
          <p:cNvSpPr>
            <a:spLocks noGrp="1"/>
          </p:cNvSpPr>
          <p:nvPr>
            <p:ph idx="1"/>
          </p:nvPr>
        </p:nvSpPr>
        <p:spPr/>
        <p:txBody>
          <a:bodyPr/>
          <a:lstStyle/>
          <a:p>
            <a:pPr eaLnBrk="1" hangingPunct="1"/>
            <a:r>
              <a:rPr lang="en-US" altLang="en-US"/>
              <a:t>Use condoms</a:t>
            </a:r>
          </a:p>
          <a:p>
            <a:pPr eaLnBrk="1" hangingPunct="1"/>
            <a:r>
              <a:rPr lang="en-US" altLang="en-US"/>
              <a:t>Limit sexual partners</a:t>
            </a:r>
          </a:p>
          <a:p>
            <a:pPr eaLnBrk="1" hangingPunct="1"/>
            <a:r>
              <a:rPr lang="en-US" altLang="en-US"/>
              <a:t>Practice abstinence </a:t>
            </a:r>
          </a:p>
          <a:p>
            <a:pPr eaLnBrk="1" hangingPunct="1"/>
            <a:r>
              <a:rPr lang="en-US" altLang="en-US"/>
              <a:t>Refrain from intercourse if partner is positive for infection until they are treated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095375" y="400051"/>
            <a:ext cx="8229600" cy="1143000"/>
          </a:xfrm>
        </p:spPr>
        <p:txBody>
          <a:bodyPr/>
          <a:lstStyle/>
          <a:p>
            <a:pPr eaLnBrk="1" hangingPunct="1"/>
            <a:r>
              <a:rPr lang="en-US" altLang="en-US" dirty="0"/>
              <a:t>Chlamydia - Symptoms</a:t>
            </a:r>
          </a:p>
        </p:txBody>
      </p:sp>
      <p:sp>
        <p:nvSpPr>
          <p:cNvPr id="33795" name="Text Placeholder 3"/>
          <p:cNvSpPr>
            <a:spLocks noGrp="1"/>
          </p:cNvSpPr>
          <p:nvPr>
            <p:ph type="body" idx="1"/>
          </p:nvPr>
        </p:nvSpPr>
        <p:spPr>
          <a:xfrm>
            <a:off x="1095375" y="1538288"/>
            <a:ext cx="4040188" cy="658813"/>
          </a:xfrm>
        </p:spPr>
        <p:txBody>
          <a:bodyPr/>
          <a:lstStyle/>
          <a:p>
            <a:pPr eaLnBrk="1" hangingPunct="1"/>
            <a:r>
              <a:rPr lang="en-US" altLang="en-US" sz="3000" b="0" i="1" dirty="0"/>
              <a:t>Symptoms in women</a:t>
            </a:r>
          </a:p>
        </p:txBody>
      </p:sp>
      <p:sp>
        <p:nvSpPr>
          <p:cNvPr id="33796" name="Text Placeholder 4"/>
          <p:cNvSpPr>
            <a:spLocks noGrp="1"/>
          </p:cNvSpPr>
          <p:nvPr>
            <p:ph type="body" sz="half" idx="3"/>
          </p:nvPr>
        </p:nvSpPr>
        <p:spPr>
          <a:xfrm>
            <a:off x="6686551" y="1543051"/>
            <a:ext cx="4041775" cy="654050"/>
          </a:xfrm>
        </p:spPr>
        <p:txBody>
          <a:bodyPr/>
          <a:lstStyle/>
          <a:p>
            <a:pPr eaLnBrk="1" hangingPunct="1"/>
            <a:r>
              <a:rPr lang="en-US" altLang="en-US" sz="3000" b="0" i="1" dirty="0"/>
              <a:t>Symptoms in men</a:t>
            </a:r>
          </a:p>
        </p:txBody>
      </p:sp>
      <p:sp>
        <p:nvSpPr>
          <p:cNvPr id="3" name="Content Placeholder 2"/>
          <p:cNvSpPr>
            <a:spLocks noGrp="1"/>
          </p:cNvSpPr>
          <p:nvPr>
            <p:ph sz="quarter" idx="2"/>
          </p:nvPr>
        </p:nvSpPr>
        <p:spPr>
          <a:xfrm>
            <a:off x="1169986" y="2333625"/>
            <a:ext cx="5259389" cy="3951288"/>
          </a:xfrm>
        </p:spPr>
        <p:txBody>
          <a:bodyPr rtlCol="0">
            <a:normAutofit fontScale="77500" lnSpcReduction="20000"/>
          </a:bodyPr>
          <a:lstStyle/>
          <a:p>
            <a:pPr marL="274320" indent="-274320">
              <a:buClr>
                <a:schemeClr val="accent3"/>
              </a:buClr>
              <a:defRPr/>
            </a:pPr>
            <a:r>
              <a:rPr lang="en-US" sz="3400" dirty="0"/>
              <a:t>Usually asymptomatic </a:t>
            </a:r>
          </a:p>
          <a:p>
            <a:pPr marL="274320" indent="-274320">
              <a:buClr>
                <a:schemeClr val="accent3"/>
              </a:buClr>
              <a:defRPr/>
            </a:pPr>
            <a:r>
              <a:rPr lang="en-US" sz="3400" dirty="0"/>
              <a:t>Abnormal vaginal discharge that may have an odor</a:t>
            </a:r>
          </a:p>
          <a:p>
            <a:pPr marL="274320" indent="-274320">
              <a:buClr>
                <a:schemeClr val="accent3"/>
              </a:buClr>
              <a:defRPr/>
            </a:pPr>
            <a:r>
              <a:rPr lang="en-US" sz="3400" dirty="0"/>
              <a:t>Bleeding between periods</a:t>
            </a:r>
          </a:p>
          <a:p>
            <a:pPr marL="274320" indent="-274320">
              <a:buClr>
                <a:schemeClr val="accent3"/>
              </a:buClr>
              <a:defRPr/>
            </a:pPr>
            <a:r>
              <a:rPr lang="en-US" sz="3400" dirty="0"/>
              <a:t>Painful periods</a:t>
            </a:r>
          </a:p>
          <a:p>
            <a:pPr marL="274320" indent="-274320">
              <a:buClr>
                <a:schemeClr val="accent3"/>
              </a:buClr>
              <a:defRPr/>
            </a:pPr>
            <a:r>
              <a:rPr lang="en-US" sz="3400" dirty="0"/>
              <a:t>Abdominal pain with fever</a:t>
            </a:r>
          </a:p>
          <a:p>
            <a:pPr marL="274320" indent="-274320">
              <a:buClr>
                <a:schemeClr val="accent3"/>
              </a:buClr>
              <a:defRPr/>
            </a:pPr>
            <a:r>
              <a:rPr lang="en-US" sz="3400" dirty="0"/>
              <a:t>Pain when having sex </a:t>
            </a:r>
          </a:p>
          <a:p>
            <a:pPr marL="274320" indent="-274320">
              <a:buClr>
                <a:schemeClr val="accent3"/>
              </a:buClr>
              <a:defRPr/>
            </a:pPr>
            <a:r>
              <a:rPr lang="en-US" sz="3400" dirty="0"/>
              <a:t>Itching or burning in or around the vagina</a:t>
            </a:r>
          </a:p>
          <a:p>
            <a:pPr marL="274320" indent="-274320">
              <a:buClr>
                <a:schemeClr val="accent3"/>
              </a:buClr>
              <a:defRPr/>
            </a:pPr>
            <a:r>
              <a:rPr lang="en-US" sz="3400" dirty="0"/>
              <a:t>Pain when urinating</a:t>
            </a:r>
          </a:p>
          <a:p>
            <a:pPr marL="640080" lvl="1" indent="-246888">
              <a:buFont typeface="Arial" panose="020B0604020202020204" pitchFamily="34" charset="0"/>
              <a:buChar char="–"/>
              <a:defRPr/>
            </a:pPr>
            <a:endParaRPr lang="en-US" dirty="0"/>
          </a:p>
          <a:p>
            <a:pPr marL="274320" indent="-274320">
              <a:buClr>
                <a:schemeClr val="accent3"/>
              </a:buClr>
              <a:defRPr/>
            </a:pPr>
            <a:endParaRPr lang="en-US" dirty="0"/>
          </a:p>
        </p:txBody>
      </p:sp>
      <p:sp>
        <p:nvSpPr>
          <p:cNvPr id="28678" name="Content Placeholder 5"/>
          <p:cNvSpPr>
            <a:spLocks noGrp="1"/>
          </p:cNvSpPr>
          <p:nvPr>
            <p:ph sz="quarter" idx="4"/>
          </p:nvPr>
        </p:nvSpPr>
        <p:spPr>
          <a:xfrm>
            <a:off x="6686551" y="2209799"/>
            <a:ext cx="4695824" cy="4075113"/>
          </a:xfrm>
        </p:spPr>
        <p:txBody>
          <a:bodyPr>
            <a:normAutofit fontScale="77500" lnSpcReduction="20000"/>
          </a:bodyPr>
          <a:lstStyle/>
          <a:p>
            <a:pPr eaLnBrk="1" hangingPunct="1"/>
            <a:r>
              <a:rPr lang="en-US" altLang="en-US" sz="3400" dirty="0"/>
              <a:t>Usually asymptomatic </a:t>
            </a:r>
            <a:r>
              <a:rPr lang="en-US" altLang="en-US" sz="2600" dirty="0"/>
              <a:t>	</a:t>
            </a:r>
          </a:p>
          <a:p>
            <a:pPr eaLnBrk="1" hangingPunct="1"/>
            <a:r>
              <a:rPr lang="en-US" altLang="en-US" sz="3400" dirty="0"/>
              <a:t>Small amounts of clear or cloudy discharge from the tip of the penis</a:t>
            </a:r>
          </a:p>
          <a:p>
            <a:pPr eaLnBrk="1" hangingPunct="1"/>
            <a:r>
              <a:rPr lang="en-US" altLang="en-US" sz="3400" dirty="0"/>
              <a:t>Painful urination</a:t>
            </a:r>
          </a:p>
          <a:p>
            <a:pPr eaLnBrk="1" hangingPunct="1"/>
            <a:r>
              <a:rPr lang="en-US" altLang="en-US" sz="3400" dirty="0"/>
              <a:t>Burning &amp; itching around the opening of the penis</a:t>
            </a:r>
          </a:p>
          <a:p>
            <a:pPr eaLnBrk="1" hangingPunct="1"/>
            <a:r>
              <a:rPr lang="en-US" altLang="en-US" sz="3400" dirty="0"/>
              <a:t>Pain &amp; swelling around the testicles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678">
                                            <p:txEl>
                                              <p:pRg st="0" end="0"/>
                                            </p:txEl>
                                          </p:spTgt>
                                        </p:tgtEl>
                                        <p:attrNameLst>
                                          <p:attrName>style.visibility</p:attrName>
                                        </p:attrNameLst>
                                      </p:cBhvr>
                                      <p:to>
                                        <p:strVal val="visible"/>
                                      </p:to>
                                    </p:set>
                                    <p:animEffect transition="in" filter="fade">
                                      <p:cBhvr>
                                        <p:cTn id="10" dur="500"/>
                                        <p:tgtEl>
                                          <p:spTgt spid="28678">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8678">
                                            <p:txEl>
                                              <p:pRg st="1" end="1"/>
                                            </p:txEl>
                                          </p:spTgt>
                                        </p:tgtEl>
                                        <p:attrNameLst>
                                          <p:attrName>style.visibility</p:attrName>
                                        </p:attrNameLst>
                                      </p:cBhvr>
                                      <p:to>
                                        <p:strVal val="visible"/>
                                      </p:to>
                                    </p:set>
                                    <p:animEffect transition="in" filter="fade">
                                      <p:cBhvr>
                                        <p:cTn id="18" dur="500"/>
                                        <p:tgtEl>
                                          <p:spTgt spid="28678">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500"/>
                                        <p:tgtEl>
                                          <p:spTgt spid="3">
                                            <p:txEl>
                                              <p:pRg st="5" end="5"/>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500"/>
                                        <p:tgtEl>
                                          <p:spTgt spid="3">
                                            <p:txEl>
                                              <p:pRg st="6" end="6"/>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8678">
                                            <p:txEl>
                                              <p:pRg st="3" end="3"/>
                                            </p:txEl>
                                          </p:spTgt>
                                        </p:tgtEl>
                                        <p:attrNameLst>
                                          <p:attrName>style.visibility</p:attrName>
                                        </p:attrNameLst>
                                      </p:cBhvr>
                                      <p:to>
                                        <p:strVal val="visible"/>
                                      </p:to>
                                    </p:set>
                                    <p:animEffect transition="in" filter="fade">
                                      <p:cBhvr>
                                        <p:cTn id="44" dur="500"/>
                                        <p:tgtEl>
                                          <p:spTgt spid="28678">
                                            <p:txEl>
                                              <p:pRg st="3" end="3"/>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500"/>
                                        <p:tgtEl>
                                          <p:spTgt spid="3">
                                            <p:txEl>
                                              <p:pRg st="7" end="7"/>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8678">
                                            <p:txEl>
                                              <p:pRg st="2" end="2"/>
                                            </p:txEl>
                                          </p:spTgt>
                                        </p:tgtEl>
                                        <p:attrNameLst>
                                          <p:attrName>style.visibility</p:attrName>
                                        </p:attrNameLst>
                                      </p:cBhvr>
                                      <p:to>
                                        <p:strVal val="visible"/>
                                      </p:to>
                                    </p:set>
                                    <p:animEffect transition="in" filter="fade">
                                      <p:cBhvr>
                                        <p:cTn id="52" dur="500"/>
                                        <p:tgtEl>
                                          <p:spTgt spid="28678">
                                            <p:txEl>
                                              <p:pRg st="2" end="2"/>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8678">
                                            <p:txEl>
                                              <p:pRg st="4" end="4"/>
                                            </p:txEl>
                                          </p:spTgt>
                                        </p:tgtEl>
                                        <p:attrNameLst>
                                          <p:attrName>style.visibility</p:attrName>
                                        </p:attrNameLst>
                                      </p:cBhvr>
                                      <p:to>
                                        <p:strVal val="visible"/>
                                      </p:to>
                                    </p:set>
                                    <p:animEffect transition="in" filter="fade">
                                      <p:cBhvr>
                                        <p:cTn id="57" dur="500"/>
                                        <p:tgtEl>
                                          <p:spTgt spid="286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867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990600" y="219075"/>
            <a:ext cx="8229600" cy="990600"/>
          </a:xfrm>
        </p:spPr>
        <p:txBody>
          <a:bodyPr/>
          <a:lstStyle/>
          <a:p>
            <a:pPr eaLnBrk="1" hangingPunct="1"/>
            <a:r>
              <a:rPr lang="en-US" altLang="en-US" dirty="0"/>
              <a:t>Gonorrhea - Symptoms</a:t>
            </a:r>
          </a:p>
        </p:txBody>
      </p:sp>
      <p:sp>
        <p:nvSpPr>
          <p:cNvPr id="44035" name="Text Placeholder 8"/>
          <p:cNvSpPr>
            <a:spLocks noGrp="1"/>
          </p:cNvSpPr>
          <p:nvPr>
            <p:ph type="body" idx="1"/>
          </p:nvPr>
        </p:nvSpPr>
        <p:spPr>
          <a:xfrm>
            <a:off x="951706" y="1028704"/>
            <a:ext cx="4040188" cy="447672"/>
          </a:xfrm>
        </p:spPr>
        <p:txBody>
          <a:bodyPr/>
          <a:lstStyle/>
          <a:p>
            <a:pPr eaLnBrk="1" hangingPunct="1"/>
            <a:r>
              <a:rPr lang="en-US" altLang="en-US" b="0" i="1" dirty="0"/>
              <a:t>Symptoms in women</a:t>
            </a:r>
          </a:p>
        </p:txBody>
      </p:sp>
      <p:sp>
        <p:nvSpPr>
          <p:cNvPr id="44036" name="Text Placeholder 9"/>
          <p:cNvSpPr>
            <a:spLocks noGrp="1"/>
          </p:cNvSpPr>
          <p:nvPr>
            <p:ph type="body" sz="half" idx="3"/>
          </p:nvPr>
        </p:nvSpPr>
        <p:spPr>
          <a:xfrm>
            <a:off x="6777039" y="960439"/>
            <a:ext cx="4041775" cy="515938"/>
          </a:xfrm>
        </p:spPr>
        <p:txBody>
          <a:bodyPr/>
          <a:lstStyle/>
          <a:p>
            <a:pPr eaLnBrk="1" hangingPunct="1"/>
            <a:r>
              <a:rPr lang="en-US" altLang="en-US" b="0" i="1" dirty="0"/>
              <a:t>Symptoms in men</a:t>
            </a:r>
          </a:p>
        </p:txBody>
      </p:sp>
      <p:sp>
        <p:nvSpPr>
          <p:cNvPr id="38915" name="Content Placeholder 6"/>
          <p:cNvSpPr>
            <a:spLocks noGrp="1"/>
          </p:cNvSpPr>
          <p:nvPr>
            <p:ph sz="quarter" idx="2"/>
          </p:nvPr>
        </p:nvSpPr>
        <p:spPr>
          <a:xfrm>
            <a:off x="990600" y="1476376"/>
            <a:ext cx="5167313" cy="5257800"/>
          </a:xfrm>
        </p:spPr>
        <p:txBody>
          <a:bodyPr>
            <a:normAutofit fontScale="92500" lnSpcReduction="10000"/>
          </a:bodyPr>
          <a:lstStyle/>
          <a:p>
            <a:pPr marL="274320" indent="-274320">
              <a:buClr>
                <a:schemeClr val="accent3"/>
              </a:buClr>
              <a:defRPr/>
            </a:pPr>
            <a:r>
              <a:rPr lang="en-US" dirty="0"/>
              <a:t>Usually asymptomatic </a:t>
            </a:r>
          </a:p>
          <a:p>
            <a:pPr lvl="1" eaLnBrk="1" hangingPunct="1"/>
            <a:r>
              <a:rPr lang="en-US" altLang="en-US" dirty="0"/>
              <a:t>Even if </a:t>
            </a:r>
            <a:r>
              <a:rPr lang="en-US" altLang="en-US" dirty="0" err="1"/>
              <a:t>symps</a:t>
            </a:r>
            <a:r>
              <a:rPr lang="en-US" altLang="en-US" dirty="0"/>
              <a:t>, they are often mild &amp; can be mistaken for a bladder or vaginal infection. </a:t>
            </a:r>
          </a:p>
          <a:p>
            <a:pPr eaLnBrk="1" hangingPunct="1"/>
            <a:r>
              <a:rPr lang="en-US" altLang="en-US" dirty="0"/>
              <a:t>Painful or burning sensation when urinating</a:t>
            </a:r>
          </a:p>
          <a:p>
            <a:pPr eaLnBrk="1" hangingPunct="1"/>
            <a:r>
              <a:rPr lang="en-US" altLang="en-US" dirty="0"/>
              <a:t>Increased vaginal discharge</a:t>
            </a:r>
          </a:p>
          <a:p>
            <a:pPr eaLnBrk="1" hangingPunct="1"/>
            <a:r>
              <a:rPr lang="en-US" altLang="en-US" dirty="0"/>
              <a:t>Vaginal bleeding between periods or spotting after intercourse</a:t>
            </a:r>
          </a:p>
          <a:p>
            <a:pPr eaLnBrk="1" hangingPunct="1"/>
            <a:r>
              <a:rPr lang="en-US" altLang="en-US" dirty="0"/>
              <a:t>Swelling of the vulva</a:t>
            </a:r>
          </a:p>
          <a:p>
            <a:pPr eaLnBrk="1" hangingPunct="1"/>
            <a:r>
              <a:rPr lang="en-US" altLang="en-US" dirty="0"/>
              <a:t>Burning in the throat or swollen glands in the throat</a:t>
            </a:r>
          </a:p>
          <a:p>
            <a:pPr eaLnBrk="1" hangingPunct="1"/>
            <a:endParaRPr lang="en-US" altLang="en-US" dirty="0"/>
          </a:p>
          <a:p>
            <a:pPr eaLnBrk="1" hangingPunct="1"/>
            <a:endParaRPr lang="en-US" altLang="en-US" dirty="0"/>
          </a:p>
        </p:txBody>
      </p:sp>
      <p:sp>
        <p:nvSpPr>
          <p:cNvPr id="38916" name="Content Placeholder 7"/>
          <p:cNvSpPr>
            <a:spLocks noGrp="1"/>
          </p:cNvSpPr>
          <p:nvPr>
            <p:ph sz="quarter" idx="4"/>
          </p:nvPr>
        </p:nvSpPr>
        <p:spPr>
          <a:xfrm>
            <a:off x="6777038" y="1600201"/>
            <a:ext cx="4500562" cy="4454525"/>
          </a:xfrm>
        </p:spPr>
        <p:txBody>
          <a:bodyPr>
            <a:normAutofit fontScale="92500" lnSpcReduction="10000"/>
          </a:bodyPr>
          <a:lstStyle/>
          <a:p>
            <a:pPr marL="274320" indent="-274320">
              <a:buClr>
                <a:schemeClr val="accent3"/>
              </a:buClr>
              <a:defRPr/>
            </a:pPr>
            <a:r>
              <a:rPr lang="en-US" dirty="0"/>
              <a:t>Usually asymptomatic </a:t>
            </a:r>
          </a:p>
          <a:p>
            <a:pPr eaLnBrk="1" hangingPunct="1"/>
            <a:r>
              <a:rPr lang="en-US" altLang="en-US" dirty="0"/>
              <a:t>A burning sensation when urinating</a:t>
            </a:r>
          </a:p>
          <a:p>
            <a:pPr eaLnBrk="1" hangingPunct="1"/>
            <a:r>
              <a:rPr lang="en-US" altLang="en-US" dirty="0"/>
              <a:t>A white, yellow, or green discharge from the penis</a:t>
            </a:r>
          </a:p>
          <a:p>
            <a:pPr eaLnBrk="1" hangingPunct="1"/>
            <a:r>
              <a:rPr lang="en-US" altLang="en-US" dirty="0"/>
              <a:t>Painful or swollen testicles (although this is less common)</a:t>
            </a:r>
          </a:p>
          <a:p>
            <a:pPr eaLnBrk="1" hangingPunct="1"/>
            <a:r>
              <a:rPr lang="en-US" altLang="en-US" dirty="0"/>
              <a:t>Burning in the throat or swollen glands in the throat</a:t>
            </a:r>
          </a:p>
          <a:p>
            <a:pPr eaLnBrk="1" hangingPunct="1"/>
            <a:endParaRPr lang="en-US" altLang="en-US" dirty="0"/>
          </a:p>
        </p:txBody>
      </p:sp>
    </p:spTree>
    <p:extLst>
      <p:ext uri="{BB962C8B-B14F-4D97-AF65-F5344CB8AC3E}">
        <p14:creationId xmlns:p14="http://schemas.microsoft.com/office/powerpoint/2010/main" val="205943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fade">
                                      <p:cBhvr>
                                        <p:cTn id="7" dur="750"/>
                                        <p:tgtEl>
                                          <p:spTgt spid="38915">
                                            <p:txEl>
                                              <p:pRg st="0" end="0"/>
                                            </p:txEl>
                                          </p:spTgt>
                                        </p:tgtEl>
                                      </p:cBhvr>
                                    </p:animEffect>
                                    <p:anim calcmode="lin" valueType="num">
                                      <p:cBhvr>
                                        <p:cTn id="8" dur="750" fill="hold"/>
                                        <p:tgtEl>
                                          <p:spTgt spid="38915">
                                            <p:txEl>
                                              <p:pRg st="0" end="0"/>
                                            </p:txEl>
                                          </p:spTgt>
                                        </p:tgtEl>
                                        <p:attrNameLst>
                                          <p:attrName>ppt_x</p:attrName>
                                        </p:attrNameLst>
                                      </p:cBhvr>
                                      <p:tavLst>
                                        <p:tav tm="0">
                                          <p:val>
                                            <p:strVal val="#ppt_x"/>
                                          </p:val>
                                        </p:tav>
                                        <p:tav tm="100000">
                                          <p:val>
                                            <p:strVal val="#ppt_x"/>
                                          </p:val>
                                        </p:tav>
                                      </p:tavLst>
                                    </p:anim>
                                    <p:anim calcmode="lin" valueType="num">
                                      <p:cBhvr>
                                        <p:cTn id="9" dur="750" fill="hold"/>
                                        <p:tgtEl>
                                          <p:spTgt spid="3891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8915">
                                            <p:txEl>
                                              <p:pRg st="1" end="1"/>
                                            </p:txEl>
                                          </p:spTgt>
                                        </p:tgtEl>
                                        <p:attrNameLst>
                                          <p:attrName>style.visibility</p:attrName>
                                        </p:attrNameLst>
                                      </p:cBhvr>
                                      <p:to>
                                        <p:strVal val="visible"/>
                                      </p:to>
                                    </p:set>
                                    <p:animEffect transition="in" filter="fade">
                                      <p:cBhvr>
                                        <p:cTn id="12" dur="750"/>
                                        <p:tgtEl>
                                          <p:spTgt spid="38915">
                                            <p:txEl>
                                              <p:pRg st="1" end="1"/>
                                            </p:txEl>
                                          </p:spTgt>
                                        </p:tgtEl>
                                      </p:cBhvr>
                                    </p:animEffect>
                                    <p:anim calcmode="lin" valueType="num">
                                      <p:cBhvr>
                                        <p:cTn id="13" dur="750" fill="hold"/>
                                        <p:tgtEl>
                                          <p:spTgt spid="38915">
                                            <p:txEl>
                                              <p:pRg st="1" end="1"/>
                                            </p:txEl>
                                          </p:spTgt>
                                        </p:tgtEl>
                                        <p:attrNameLst>
                                          <p:attrName>ppt_x</p:attrName>
                                        </p:attrNameLst>
                                      </p:cBhvr>
                                      <p:tavLst>
                                        <p:tav tm="0">
                                          <p:val>
                                            <p:strVal val="#ppt_x"/>
                                          </p:val>
                                        </p:tav>
                                        <p:tav tm="100000">
                                          <p:val>
                                            <p:strVal val="#ppt_x"/>
                                          </p:val>
                                        </p:tav>
                                      </p:tavLst>
                                    </p:anim>
                                    <p:anim calcmode="lin" valueType="num">
                                      <p:cBhvr>
                                        <p:cTn id="14" dur="750" fill="hold"/>
                                        <p:tgtEl>
                                          <p:spTgt spid="389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8915">
                                            <p:txEl>
                                              <p:pRg st="2" end="2"/>
                                            </p:txEl>
                                          </p:spTgt>
                                        </p:tgtEl>
                                        <p:attrNameLst>
                                          <p:attrName>style.visibility</p:attrName>
                                        </p:attrNameLst>
                                      </p:cBhvr>
                                      <p:to>
                                        <p:strVal val="visible"/>
                                      </p:to>
                                    </p:set>
                                    <p:animEffect transition="in" filter="fade">
                                      <p:cBhvr>
                                        <p:cTn id="19" dur="750"/>
                                        <p:tgtEl>
                                          <p:spTgt spid="38915">
                                            <p:txEl>
                                              <p:pRg st="2" end="2"/>
                                            </p:txEl>
                                          </p:spTgt>
                                        </p:tgtEl>
                                      </p:cBhvr>
                                    </p:animEffect>
                                    <p:anim calcmode="lin" valueType="num">
                                      <p:cBhvr>
                                        <p:cTn id="20" dur="750" fill="hold"/>
                                        <p:tgtEl>
                                          <p:spTgt spid="38915">
                                            <p:txEl>
                                              <p:pRg st="2" end="2"/>
                                            </p:txEl>
                                          </p:spTgt>
                                        </p:tgtEl>
                                        <p:attrNameLst>
                                          <p:attrName>ppt_x</p:attrName>
                                        </p:attrNameLst>
                                      </p:cBhvr>
                                      <p:tavLst>
                                        <p:tav tm="0">
                                          <p:val>
                                            <p:strVal val="#ppt_x"/>
                                          </p:val>
                                        </p:tav>
                                        <p:tav tm="100000">
                                          <p:val>
                                            <p:strVal val="#ppt_x"/>
                                          </p:val>
                                        </p:tav>
                                      </p:tavLst>
                                    </p:anim>
                                    <p:anim calcmode="lin" valueType="num">
                                      <p:cBhvr>
                                        <p:cTn id="21" dur="750" fill="hold"/>
                                        <p:tgtEl>
                                          <p:spTgt spid="38915">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8916">
                                            <p:txEl>
                                              <p:pRg st="0" end="0"/>
                                            </p:txEl>
                                          </p:spTgt>
                                        </p:tgtEl>
                                        <p:attrNameLst>
                                          <p:attrName>style.visibility</p:attrName>
                                        </p:attrNameLst>
                                      </p:cBhvr>
                                      <p:to>
                                        <p:strVal val="visible"/>
                                      </p:to>
                                    </p:set>
                                    <p:animEffect transition="in" filter="fade">
                                      <p:cBhvr>
                                        <p:cTn id="24" dur="500"/>
                                        <p:tgtEl>
                                          <p:spTgt spid="38916">
                                            <p:txEl>
                                              <p:pRg st="0" end="0"/>
                                            </p:txEl>
                                          </p:spTgt>
                                        </p:tgtEl>
                                      </p:cBhvr>
                                    </p:animEffect>
                                    <p:anim calcmode="lin" valueType="num">
                                      <p:cBhvr>
                                        <p:cTn id="25" dur="500" fill="hold"/>
                                        <p:tgtEl>
                                          <p:spTgt spid="38916">
                                            <p:txEl>
                                              <p:pRg st="0" end="0"/>
                                            </p:txEl>
                                          </p:spTgt>
                                        </p:tgtEl>
                                        <p:attrNameLst>
                                          <p:attrName>ppt_x</p:attrName>
                                        </p:attrNameLst>
                                      </p:cBhvr>
                                      <p:tavLst>
                                        <p:tav tm="0">
                                          <p:val>
                                            <p:strVal val="#ppt_x"/>
                                          </p:val>
                                        </p:tav>
                                        <p:tav tm="100000">
                                          <p:val>
                                            <p:strVal val="#ppt_x"/>
                                          </p:val>
                                        </p:tav>
                                      </p:tavLst>
                                    </p:anim>
                                    <p:anim calcmode="lin" valueType="num">
                                      <p:cBhvr>
                                        <p:cTn id="26" dur="500" fill="hold"/>
                                        <p:tgtEl>
                                          <p:spTgt spid="38916">
                                            <p:txEl>
                                              <p:pRg st="0" end="0"/>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8916">
                                            <p:txEl>
                                              <p:pRg st="1" end="1"/>
                                            </p:txEl>
                                          </p:spTgt>
                                        </p:tgtEl>
                                        <p:attrNameLst>
                                          <p:attrName>style.visibility</p:attrName>
                                        </p:attrNameLst>
                                      </p:cBhvr>
                                      <p:to>
                                        <p:strVal val="visible"/>
                                      </p:to>
                                    </p:set>
                                    <p:animEffect transition="in" filter="fade">
                                      <p:cBhvr>
                                        <p:cTn id="29" dur="500"/>
                                        <p:tgtEl>
                                          <p:spTgt spid="38916">
                                            <p:txEl>
                                              <p:pRg st="1" end="1"/>
                                            </p:txEl>
                                          </p:spTgt>
                                        </p:tgtEl>
                                      </p:cBhvr>
                                    </p:animEffect>
                                    <p:anim calcmode="lin" valueType="num">
                                      <p:cBhvr>
                                        <p:cTn id="30" dur="500" fill="hold"/>
                                        <p:tgtEl>
                                          <p:spTgt spid="38916">
                                            <p:txEl>
                                              <p:pRg st="1" end="1"/>
                                            </p:txEl>
                                          </p:spTgt>
                                        </p:tgtEl>
                                        <p:attrNameLst>
                                          <p:attrName>ppt_x</p:attrName>
                                        </p:attrNameLst>
                                      </p:cBhvr>
                                      <p:tavLst>
                                        <p:tav tm="0">
                                          <p:val>
                                            <p:strVal val="#ppt_x"/>
                                          </p:val>
                                        </p:tav>
                                        <p:tav tm="100000">
                                          <p:val>
                                            <p:strVal val="#ppt_x"/>
                                          </p:val>
                                        </p:tav>
                                      </p:tavLst>
                                    </p:anim>
                                    <p:anim calcmode="lin" valueType="num">
                                      <p:cBhvr>
                                        <p:cTn id="31" dur="500" fill="hold"/>
                                        <p:tgtEl>
                                          <p:spTgt spid="3891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38915">
                                            <p:txEl>
                                              <p:pRg st="3" end="3"/>
                                            </p:txEl>
                                          </p:spTgt>
                                        </p:tgtEl>
                                        <p:attrNameLst>
                                          <p:attrName>style.visibility</p:attrName>
                                        </p:attrNameLst>
                                      </p:cBhvr>
                                      <p:to>
                                        <p:strVal val="visible"/>
                                      </p:to>
                                    </p:set>
                                    <p:animEffect transition="in" filter="fade">
                                      <p:cBhvr>
                                        <p:cTn id="36" dur="750"/>
                                        <p:tgtEl>
                                          <p:spTgt spid="38915">
                                            <p:txEl>
                                              <p:pRg st="3" end="3"/>
                                            </p:txEl>
                                          </p:spTgt>
                                        </p:tgtEl>
                                      </p:cBhvr>
                                    </p:animEffect>
                                    <p:anim calcmode="lin" valueType="num">
                                      <p:cBhvr>
                                        <p:cTn id="37" dur="750" fill="hold"/>
                                        <p:tgtEl>
                                          <p:spTgt spid="38915">
                                            <p:txEl>
                                              <p:pRg st="3" end="3"/>
                                            </p:txEl>
                                          </p:spTgt>
                                        </p:tgtEl>
                                        <p:attrNameLst>
                                          <p:attrName>ppt_x</p:attrName>
                                        </p:attrNameLst>
                                      </p:cBhvr>
                                      <p:tavLst>
                                        <p:tav tm="0">
                                          <p:val>
                                            <p:strVal val="#ppt_x"/>
                                          </p:val>
                                        </p:tav>
                                        <p:tav tm="100000">
                                          <p:val>
                                            <p:strVal val="#ppt_x"/>
                                          </p:val>
                                        </p:tav>
                                      </p:tavLst>
                                    </p:anim>
                                    <p:anim calcmode="lin" valueType="num">
                                      <p:cBhvr>
                                        <p:cTn id="38" dur="750" fill="hold"/>
                                        <p:tgtEl>
                                          <p:spTgt spid="38915">
                                            <p:txEl>
                                              <p:pRg st="3" end="3"/>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8916">
                                            <p:txEl>
                                              <p:pRg st="2" end="2"/>
                                            </p:txEl>
                                          </p:spTgt>
                                        </p:tgtEl>
                                        <p:attrNameLst>
                                          <p:attrName>style.visibility</p:attrName>
                                        </p:attrNameLst>
                                      </p:cBhvr>
                                      <p:to>
                                        <p:strVal val="visible"/>
                                      </p:to>
                                    </p:set>
                                    <p:animEffect transition="in" filter="fade">
                                      <p:cBhvr>
                                        <p:cTn id="41" dur="500"/>
                                        <p:tgtEl>
                                          <p:spTgt spid="38916">
                                            <p:txEl>
                                              <p:pRg st="2" end="2"/>
                                            </p:txEl>
                                          </p:spTgt>
                                        </p:tgtEl>
                                      </p:cBhvr>
                                    </p:animEffect>
                                    <p:anim calcmode="lin" valueType="num">
                                      <p:cBhvr>
                                        <p:cTn id="42" dur="500" fill="hold"/>
                                        <p:tgtEl>
                                          <p:spTgt spid="38916">
                                            <p:txEl>
                                              <p:pRg st="2" end="2"/>
                                            </p:txEl>
                                          </p:spTgt>
                                        </p:tgtEl>
                                        <p:attrNameLst>
                                          <p:attrName>ppt_x</p:attrName>
                                        </p:attrNameLst>
                                      </p:cBhvr>
                                      <p:tavLst>
                                        <p:tav tm="0">
                                          <p:val>
                                            <p:strVal val="#ppt_x"/>
                                          </p:val>
                                        </p:tav>
                                        <p:tav tm="100000">
                                          <p:val>
                                            <p:strVal val="#ppt_x"/>
                                          </p:val>
                                        </p:tav>
                                      </p:tavLst>
                                    </p:anim>
                                    <p:anim calcmode="lin" valueType="num">
                                      <p:cBhvr>
                                        <p:cTn id="43" dur="500" fill="hold"/>
                                        <p:tgtEl>
                                          <p:spTgt spid="3891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8915">
                                            <p:txEl>
                                              <p:pRg st="4" end="4"/>
                                            </p:txEl>
                                          </p:spTgt>
                                        </p:tgtEl>
                                        <p:attrNameLst>
                                          <p:attrName>style.visibility</p:attrName>
                                        </p:attrNameLst>
                                      </p:cBhvr>
                                      <p:to>
                                        <p:strVal val="visible"/>
                                      </p:to>
                                    </p:set>
                                    <p:animEffect transition="in" filter="fade">
                                      <p:cBhvr>
                                        <p:cTn id="48" dur="750"/>
                                        <p:tgtEl>
                                          <p:spTgt spid="38915">
                                            <p:txEl>
                                              <p:pRg st="4" end="4"/>
                                            </p:txEl>
                                          </p:spTgt>
                                        </p:tgtEl>
                                      </p:cBhvr>
                                    </p:animEffect>
                                    <p:anim calcmode="lin" valueType="num">
                                      <p:cBhvr>
                                        <p:cTn id="49" dur="750" fill="hold"/>
                                        <p:tgtEl>
                                          <p:spTgt spid="38915">
                                            <p:txEl>
                                              <p:pRg st="4" end="4"/>
                                            </p:txEl>
                                          </p:spTgt>
                                        </p:tgtEl>
                                        <p:attrNameLst>
                                          <p:attrName>ppt_x</p:attrName>
                                        </p:attrNameLst>
                                      </p:cBhvr>
                                      <p:tavLst>
                                        <p:tav tm="0">
                                          <p:val>
                                            <p:strVal val="#ppt_x"/>
                                          </p:val>
                                        </p:tav>
                                        <p:tav tm="100000">
                                          <p:val>
                                            <p:strVal val="#ppt_x"/>
                                          </p:val>
                                        </p:tav>
                                      </p:tavLst>
                                    </p:anim>
                                    <p:anim calcmode="lin" valueType="num">
                                      <p:cBhvr>
                                        <p:cTn id="50" dur="750" fill="hold"/>
                                        <p:tgtEl>
                                          <p:spTgt spid="3891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8915">
                                            <p:txEl>
                                              <p:pRg st="5" end="5"/>
                                            </p:txEl>
                                          </p:spTgt>
                                        </p:tgtEl>
                                        <p:attrNameLst>
                                          <p:attrName>style.visibility</p:attrName>
                                        </p:attrNameLst>
                                      </p:cBhvr>
                                      <p:to>
                                        <p:strVal val="visible"/>
                                      </p:to>
                                    </p:set>
                                    <p:animEffect transition="in" filter="fade">
                                      <p:cBhvr>
                                        <p:cTn id="55" dur="750"/>
                                        <p:tgtEl>
                                          <p:spTgt spid="38915">
                                            <p:txEl>
                                              <p:pRg st="5" end="5"/>
                                            </p:txEl>
                                          </p:spTgt>
                                        </p:tgtEl>
                                      </p:cBhvr>
                                    </p:animEffect>
                                    <p:anim calcmode="lin" valueType="num">
                                      <p:cBhvr>
                                        <p:cTn id="56" dur="750" fill="hold"/>
                                        <p:tgtEl>
                                          <p:spTgt spid="38915">
                                            <p:txEl>
                                              <p:pRg st="5" end="5"/>
                                            </p:txEl>
                                          </p:spTgt>
                                        </p:tgtEl>
                                        <p:attrNameLst>
                                          <p:attrName>ppt_x</p:attrName>
                                        </p:attrNameLst>
                                      </p:cBhvr>
                                      <p:tavLst>
                                        <p:tav tm="0">
                                          <p:val>
                                            <p:strVal val="#ppt_x"/>
                                          </p:val>
                                        </p:tav>
                                        <p:tav tm="100000">
                                          <p:val>
                                            <p:strVal val="#ppt_x"/>
                                          </p:val>
                                        </p:tav>
                                      </p:tavLst>
                                    </p:anim>
                                    <p:anim calcmode="lin" valueType="num">
                                      <p:cBhvr>
                                        <p:cTn id="57" dur="750" fill="hold"/>
                                        <p:tgtEl>
                                          <p:spTgt spid="38915">
                                            <p:txEl>
                                              <p:pRg st="5" end="5"/>
                                            </p:txEl>
                                          </p:spTgt>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38916">
                                            <p:txEl>
                                              <p:pRg st="3" end="3"/>
                                            </p:txEl>
                                          </p:spTgt>
                                        </p:tgtEl>
                                        <p:attrNameLst>
                                          <p:attrName>style.visibility</p:attrName>
                                        </p:attrNameLst>
                                      </p:cBhvr>
                                      <p:to>
                                        <p:strVal val="visible"/>
                                      </p:to>
                                    </p:set>
                                    <p:animEffect transition="in" filter="fade">
                                      <p:cBhvr>
                                        <p:cTn id="60" dur="500"/>
                                        <p:tgtEl>
                                          <p:spTgt spid="38916">
                                            <p:txEl>
                                              <p:pRg st="3" end="3"/>
                                            </p:txEl>
                                          </p:spTgt>
                                        </p:tgtEl>
                                      </p:cBhvr>
                                    </p:animEffect>
                                    <p:anim calcmode="lin" valueType="num">
                                      <p:cBhvr>
                                        <p:cTn id="61" dur="500" fill="hold"/>
                                        <p:tgtEl>
                                          <p:spTgt spid="38916">
                                            <p:txEl>
                                              <p:pRg st="3" end="3"/>
                                            </p:txEl>
                                          </p:spTgt>
                                        </p:tgtEl>
                                        <p:attrNameLst>
                                          <p:attrName>ppt_x</p:attrName>
                                        </p:attrNameLst>
                                      </p:cBhvr>
                                      <p:tavLst>
                                        <p:tav tm="0">
                                          <p:val>
                                            <p:strVal val="#ppt_x"/>
                                          </p:val>
                                        </p:tav>
                                        <p:tav tm="100000">
                                          <p:val>
                                            <p:strVal val="#ppt_x"/>
                                          </p:val>
                                        </p:tav>
                                      </p:tavLst>
                                    </p:anim>
                                    <p:anim calcmode="lin" valueType="num">
                                      <p:cBhvr>
                                        <p:cTn id="62" dur="500" fill="hold"/>
                                        <p:tgtEl>
                                          <p:spTgt spid="3891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38915">
                                            <p:txEl>
                                              <p:pRg st="6" end="6"/>
                                            </p:txEl>
                                          </p:spTgt>
                                        </p:tgtEl>
                                        <p:attrNameLst>
                                          <p:attrName>style.visibility</p:attrName>
                                        </p:attrNameLst>
                                      </p:cBhvr>
                                      <p:to>
                                        <p:strVal val="visible"/>
                                      </p:to>
                                    </p:set>
                                    <p:animEffect transition="in" filter="fade">
                                      <p:cBhvr>
                                        <p:cTn id="67" dur="750"/>
                                        <p:tgtEl>
                                          <p:spTgt spid="38915">
                                            <p:txEl>
                                              <p:pRg st="6" end="6"/>
                                            </p:txEl>
                                          </p:spTgt>
                                        </p:tgtEl>
                                      </p:cBhvr>
                                    </p:animEffect>
                                    <p:anim calcmode="lin" valueType="num">
                                      <p:cBhvr>
                                        <p:cTn id="68" dur="750" fill="hold"/>
                                        <p:tgtEl>
                                          <p:spTgt spid="38915">
                                            <p:txEl>
                                              <p:pRg st="6" end="6"/>
                                            </p:txEl>
                                          </p:spTgt>
                                        </p:tgtEl>
                                        <p:attrNameLst>
                                          <p:attrName>ppt_x</p:attrName>
                                        </p:attrNameLst>
                                      </p:cBhvr>
                                      <p:tavLst>
                                        <p:tav tm="0">
                                          <p:val>
                                            <p:strVal val="#ppt_x"/>
                                          </p:val>
                                        </p:tav>
                                        <p:tav tm="100000">
                                          <p:val>
                                            <p:strVal val="#ppt_x"/>
                                          </p:val>
                                        </p:tav>
                                      </p:tavLst>
                                    </p:anim>
                                    <p:anim calcmode="lin" valueType="num">
                                      <p:cBhvr>
                                        <p:cTn id="69" dur="750" fill="hold"/>
                                        <p:tgtEl>
                                          <p:spTgt spid="38915">
                                            <p:txEl>
                                              <p:pRg st="6" end="6"/>
                                            </p:txEl>
                                          </p:spTgt>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38916">
                                            <p:txEl>
                                              <p:pRg st="4" end="4"/>
                                            </p:txEl>
                                          </p:spTgt>
                                        </p:tgtEl>
                                        <p:attrNameLst>
                                          <p:attrName>style.visibility</p:attrName>
                                        </p:attrNameLst>
                                      </p:cBhvr>
                                      <p:to>
                                        <p:strVal val="visible"/>
                                      </p:to>
                                    </p:set>
                                    <p:animEffect transition="in" filter="fade">
                                      <p:cBhvr>
                                        <p:cTn id="72" dur="500"/>
                                        <p:tgtEl>
                                          <p:spTgt spid="38916">
                                            <p:txEl>
                                              <p:pRg st="4" end="4"/>
                                            </p:txEl>
                                          </p:spTgt>
                                        </p:tgtEl>
                                      </p:cBhvr>
                                    </p:animEffect>
                                    <p:anim calcmode="lin" valueType="num">
                                      <p:cBhvr>
                                        <p:cTn id="73" dur="500" fill="hold"/>
                                        <p:tgtEl>
                                          <p:spTgt spid="38916">
                                            <p:txEl>
                                              <p:pRg st="4" end="4"/>
                                            </p:txEl>
                                          </p:spTgt>
                                        </p:tgtEl>
                                        <p:attrNameLst>
                                          <p:attrName>ppt_x</p:attrName>
                                        </p:attrNameLst>
                                      </p:cBhvr>
                                      <p:tavLst>
                                        <p:tav tm="0">
                                          <p:val>
                                            <p:strVal val="#ppt_x"/>
                                          </p:val>
                                        </p:tav>
                                        <p:tav tm="100000">
                                          <p:val>
                                            <p:strVal val="#ppt_x"/>
                                          </p:val>
                                        </p:tav>
                                      </p:tavLst>
                                    </p:anim>
                                    <p:anim calcmode="lin" valueType="num">
                                      <p:cBhvr>
                                        <p:cTn id="74" dur="500" fill="hold"/>
                                        <p:tgtEl>
                                          <p:spTgt spid="3891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P spid="3891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1038225" y="400050"/>
            <a:ext cx="8229600" cy="1143000"/>
          </a:xfrm>
        </p:spPr>
        <p:txBody>
          <a:bodyPr/>
          <a:lstStyle/>
          <a:p>
            <a:pPr eaLnBrk="1" hangingPunct="1"/>
            <a:r>
              <a:rPr lang="en-US" altLang="en-US" dirty="0"/>
              <a:t>Chlamydia – Diagnosis </a:t>
            </a:r>
          </a:p>
        </p:txBody>
      </p:sp>
      <p:sp>
        <p:nvSpPr>
          <p:cNvPr id="3" name="Content Placeholder 2"/>
          <p:cNvSpPr>
            <a:spLocks noGrp="1"/>
          </p:cNvSpPr>
          <p:nvPr>
            <p:ph idx="1"/>
          </p:nvPr>
        </p:nvSpPr>
        <p:spPr>
          <a:xfrm>
            <a:off x="1038225" y="1543050"/>
            <a:ext cx="9486900" cy="4648200"/>
          </a:xfrm>
        </p:spPr>
        <p:txBody>
          <a:bodyPr rtlCol="0">
            <a:normAutofit lnSpcReduction="10000"/>
          </a:bodyPr>
          <a:lstStyle/>
          <a:p>
            <a:pPr marL="274320" indent="-274320">
              <a:buClr>
                <a:schemeClr val="accent3"/>
              </a:buClr>
              <a:defRPr/>
            </a:pPr>
            <a:r>
              <a:rPr lang="en-US" dirty="0"/>
              <a:t>Cervical Swab or Vaginal Swab or Urine Sample</a:t>
            </a:r>
          </a:p>
          <a:p>
            <a:pPr marL="274320" indent="-274320">
              <a:buClr>
                <a:schemeClr val="accent3"/>
              </a:buClr>
              <a:defRPr/>
            </a:pPr>
            <a:r>
              <a:rPr lang="en-US" dirty="0"/>
              <a:t>Nucleic Acid Amplification Test (NAAT) is the preferred test</a:t>
            </a:r>
          </a:p>
          <a:p>
            <a:pPr marL="640080" lvl="1" indent="-246888">
              <a:buFont typeface="Arial" panose="020B0604020202020204" pitchFamily="34" charset="0"/>
              <a:buChar char="–"/>
              <a:defRPr/>
            </a:pPr>
            <a:r>
              <a:rPr lang="en-US" dirty="0"/>
              <a:t>Based on amplification of the DNA that is present in </a:t>
            </a:r>
            <a:r>
              <a:rPr lang="en-US" i="1" dirty="0"/>
              <a:t>Chlamydia trachomatis</a:t>
            </a:r>
            <a:r>
              <a:rPr lang="en-US" dirty="0"/>
              <a:t>. </a:t>
            </a:r>
          </a:p>
          <a:p>
            <a:pPr marL="640080" lvl="1" indent="-246888">
              <a:buFont typeface="Arial" panose="020B0604020202020204" pitchFamily="34" charset="0"/>
              <a:buChar char="–"/>
              <a:defRPr/>
            </a:pPr>
            <a:r>
              <a:rPr lang="en-US" dirty="0"/>
              <a:t>Generally more sensitive and specific than other chlamydia tests</a:t>
            </a:r>
          </a:p>
          <a:p>
            <a:pPr marL="640080" lvl="1" indent="-246888">
              <a:buFont typeface="Arial" panose="020B0604020202020204" pitchFamily="34" charset="0"/>
              <a:buChar char="–"/>
              <a:defRPr/>
            </a:pPr>
            <a:r>
              <a:rPr lang="en-US" dirty="0"/>
              <a:t>Can be performed on urine from both men &amp; women</a:t>
            </a:r>
          </a:p>
          <a:p>
            <a:pPr marL="274320" indent="-274320">
              <a:buClr>
                <a:schemeClr val="accent3"/>
              </a:buClr>
              <a:defRPr/>
            </a:pPr>
            <a:r>
              <a:rPr lang="en-US" dirty="0"/>
              <a:t>Other tests include </a:t>
            </a:r>
          </a:p>
          <a:p>
            <a:pPr marL="640080" lvl="1" indent="-246888">
              <a:buFont typeface="Arial" panose="020B0604020202020204" pitchFamily="34" charset="0"/>
              <a:buChar char="–"/>
              <a:defRPr/>
            </a:pPr>
            <a:r>
              <a:rPr lang="en-US" dirty="0"/>
              <a:t>Direct Fluorescent Antibody Stain (DFA), which detects chlamydia antigens, and </a:t>
            </a:r>
          </a:p>
          <a:p>
            <a:pPr marL="640080" lvl="1" indent="-246888">
              <a:buFont typeface="Arial" panose="020B0604020202020204" pitchFamily="34" charset="0"/>
              <a:buChar char="–"/>
              <a:defRPr/>
            </a:pPr>
            <a:r>
              <a:rPr lang="en-US" dirty="0"/>
              <a:t>DNA probe, another test that looks for chlamydia DNA but that is less sensitive than NAAT.</a:t>
            </a:r>
          </a:p>
          <a:p>
            <a:pPr marL="274320" indent="-274320">
              <a:buClr>
                <a:schemeClr val="accent3"/>
              </a:buClr>
              <a:defRPr/>
            </a:pPr>
            <a:r>
              <a:rPr lang="en-US" i="1" dirty="0">
                <a:solidFill>
                  <a:schemeClr val="accent1"/>
                </a:solidFill>
              </a:rPr>
              <a:t>Chlamydia trachomatis </a:t>
            </a:r>
            <a:r>
              <a:rPr lang="en-US" dirty="0">
                <a:solidFill>
                  <a:schemeClr val="accent1"/>
                </a:solidFill>
              </a:rPr>
              <a:t>is not visible with Gram stain</a:t>
            </a:r>
          </a:p>
          <a:p>
            <a:pPr marL="274320" indent="-274320">
              <a:buClr>
                <a:schemeClr val="accent3"/>
              </a:buClr>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1000"/>
                                        <p:tgtEl>
                                          <p:spTgt spid="3">
                                            <p:txEl>
                                              <p:pRg st="1" end="1"/>
                                            </p:txEl>
                                          </p:spTgt>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circle(in)">
                                      <p:cBhvr>
                                        <p:cTn id="15" dur="1000"/>
                                        <p:tgtEl>
                                          <p:spTgt spid="3">
                                            <p:txEl>
                                              <p:pRg st="2" end="2"/>
                                            </p:txEl>
                                          </p:spTgt>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circle(in)">
                                      <p:cBhvr>
                                        <p:cTn id="18" dur="1000"/>
                                        <p:tgtEl>
                                          <p:spTgt spid="3">
                                            <p:txEl>
                                              <p:pRg st="3" end="3"/>
                                            </p:txEl>
                                          </p:spTgt>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circle(in)">
                                      <p:cBhvr>
                                        <p:cTn id="21" dur="10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circle(in)">
                                      <p:cBhvr>
                                        <p:cTn id="26" dur="1000"/>
                                        <p:tgtEl>
                                          <p:spTgt spid="3">
                                            <p:txEl>
                                              <p:pRg st="5" end="5"/>
                                            </p:txEl>
                                          </p:spTgt>
                                        </p:tgtEl>
                                      </p:cBhvr>
                                    </p:animEffect>
                                  </p:childTnLst>
                                </p:cTn>
                              </p:par>
                              <p:par>
                                <p:cTn id="27" presetID="6" presetClass="entr" presetSubtype="16"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circle(in)">
                                      <p:cBhvr>
                                        <p:cTn id="29" dur="1000"/>
                                        <p:tgtEl>
                                          <p:spTgt spid="3">
                                            <p:txEl>
                                              <p:pRg st="6" end="6"/>
                                            </p:txEl>
                                          </p:spTgt>
                                        </p:tgtEl>
                                      </p:cBhvr>
                                    </p:animEffect>
                                  </p:childTnLst>
                                </p:cTn>
                              </p:par>
                              <p:par>
                                <p:cTn id="30" presetID="6" presetClass="entr" presetSubtype="16"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circle(in)">
                                      <p:cBhvr>
                                        <p:cTn id="32" dur="10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circle(in)">
                                      <p:cBhvr>
                                        <p:cTn id="37"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971550" y="228601"/>
            <a:ext cx="8229600" cy="990600"/>
          </a:xfrm>
        </p:spPr>
        <p:txBody>
          <a:bodyPr/>
          <a:lstStyle/>
          <a:p>
            <a:pPr eaLnBrk="1" hangingPunct="1"/>
            <a:r>
              <a:rPr lang="en-US" altLang="en-US" dirty="0"/>
              <a:t>Gonorrhea – Diagnosis </a:t>
            </a:r>
          </a:p>
        </p:txBody>
      </p:sp>
      <p:sp>
        <p:nvSpPr>
          <p:cNvPr id="3" name="Content Placeholder 2"/>
          <p:cNvSpPr>
            <a:spLocks noGrp="1"/>
          </p:cNvSpPr>
          <p:nvPr>
            <p:ph idx="1"/>
          </p:nvPr>
        </p:nvSpPr>
        <p:spPr>
          <a:xfrm>
            <a:off x="971550" y="1228727"/>
            <a:ext cx="10648950" cy="4525963"/>
          </a:xfrm>
        </p:spPr>
        <p:txBody>
          <a:bodyPr rtlCol="0">
            <a:normAutofit fontScale="92500"/>
          </a:bodyPr>
          <a:lstStyle/>
          <a:p>
            <a:pPr marL="274320" indent="-274320">
              <a:buClr>
                <a:schemeClr val="accent3"/>
              </a:buClr>
              <a:defRPr/>
            </a:pPr>
            <a:r>
              <a:rPr lang="en-US" dirty="0"/>
              <a:t>Cervical Swab or Vaginal Swab or Urine Sample</a:t>
            </a:r>
          </a:p>
          <a:p>
            <a:pPr marL="274320" indent="-274320">
              <a:buClr>
                <a:schemeClr val="accent3"/>
              </a:buClr>
              <a:defRPr/>
            </a:pPr>
            <a:r>
              <a:rPr lang="en-US" dirty="0"/>
              <a:t>Nucleic Acid Amplification Test (NAAT) is the preferred test</a:t>
            </a:r>
          </a:p>
          <a:p>
            <a:pPr marL="640080" lvl="1" indent="-246888">
              <a:buFont typeface="Arial" panose="020B0604020202020204" pitchFamily="34" charset="0"/>
              <a:buChar char="–"/>
              <a:defRPr/>
            </a:pPr>
            <a:r>
              <a:rPr lang="en-US" dirty="0"/>
              <a:t>Based on amplification of the DNA that is present in gonorrhea</a:t>
            </a:r>
          </a:p>
          <a:p>
            <a:pPr marL="640080" lvl="1" indent="-246888">
              <a:buFont typeface="Arial" panose="020B0604020202020204" pitchFamily="34" charset="0"/>
              <a:buChar char="–"/>
              <a:defRPr/>
            </a:pPr>
            <a:r>
              <a:rPr lang="en-US" dirty="0"/>
              <a:t>Generally more sensitive and specific than other culture tests</a:t>
            </a:r>
          </a:p>
          <a:p>
            <a:pPr marL="640080" lvl="1" indent="-246888">
              <a:buFont typeface="Arial" panose="020B0604020202020204" pitchFamily="34" charset="0"/>
              <a:buChar char="–"/>
              <a:defRPr/>
            </a:pPr>
            <a:r>
              <a:rPr lang="en-US" dirty="0"/>
              <a:t>Can be performed on urine from both men &amp; women</a:t>
            </a:r>
          </a:p>
          <a:p>
            <a:pPr marL="274320" indent="-274320">
              <a:buClr>
                <a:schemeClr val="accent3"/>
              </a:buClr>
              <a:defRPr/>
            </a:pPr>
            <a:r>
              <a:rPr lang="en-US" dirty="0"/>
              <a:t>Other tests include </a:t>
            </a:r>
          </a:p>
          <a:p>
            <a:pPr marL="640080" lvl="1" indent="-246888">
              <a:buFont typeface="Arial" panose="020B0604020202020204" pitchFamily="34" charset="0"/>
              <a:buChar char="–"/>
              <a:defRPr/>
            </a:pPr>
            <a:r>
              <a:rPr lang="en-US" dirty="0"/>
              <a:t>Direct Fluorescent Antibody Stain (DFA), which detects gonorrhea antigens, and </a:t>
            </a:r>
          </a:p>
          <a:p>
            <a:pPr marL="640080" lvl="1" indent="-246888">
              <a:buFont typeface="Arial" panose="020B0604020202020204" pitchFamily="34" charset="0"/>
              <a:buChar char="–"/>
              <a:defRPr/>
            </a:pPr>
            <a:r>
              <a:rPr lang="en-US" dirty="0"/>
              <a:t>DNA probe, another test that looks for gonorrhea DNA but that is less sensitive than NAAT.</a:t>
            </a:r>
          </a:p>
          <a:p>
            <a:pPr marL="274320" indent="-274320">
              <a:buClr>
                <a:schemeClr val="accent3"/>
              </a:buClr>
              <a:defRPr/>
            </a:pPr>
            <a:r>
              <a:rPr lang="en-US" i="1" dirty="0">
                <a:solidFill>
                  <a:schemeClr val="accent1"/>
                </a:solidFill>
              </a:rPr>
              <a:t>N. Gonorrhea </a:t>
            </a:r>
            <a:r>
              <a:rPr lang="en-US" dirty="0">
                <a:solidFill>
                  <a:schemeClr val="accent1"/>
                </a:solidFill>
              </a:rPr>
              <a:t>is visible on Gram stain</a:t>
            </a:r>
          </a:p>
          <a:p>
            <a:pPr marL="640080" lvl="1" indent="-246888">
              <a:defRPr/>
            </a:pPr>
            <a:r>
              <a:rPr lang="en-US" dirty="0"/>
              <a:t>Gram-negative intracellular </a:t>
            </a:r>
            <a:r>
              <a:rPr lang="en-US" altLang="en-US" dirty="0"/>
              <a:t>Diplococci</a:t>
            </a:r>
            <a:endParaRPr lang="en-US" dirty="0"/>
          </a:p>
          <a:p>
            <a:pPr marL="274320" indent="-274320">
              <a:buClr>
                <a:schemeClr val="accent3"/>
              </a:buClr>
              <a:defRPr/>
            </a:pPr>
            <a:endParaRPr lang="en-US" dirty="0"/>
          </a:p>
        </p:txBody>
      </p:sp>
      <p:pic>
        <p:nvPicPr>
          <p:cNvPr id="45060" name="Picture 2" descr="Microscope slide showing gonorrhea identified as a diplococcus, meaning it grows in pairs which looks like paired coffee beans or kidney beans showing up red or pink as it is gram negative.">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6200" y="4502150"/>
            <a:ext cx="2533650" cy="231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0792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1000"/>
                                        <p:tgtEl>
                                          <p:spTgt spid="3">
                                            <p:txEl>
                                              <p:pRg st="1" end="1"/>
                                            </p:txEl>
                                          </p:spTgt>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circle(in)">
                                      <p:cBhvr>
                                        <p:cTn id="15" dur="1000"/>
                                        <p:tgtEl>
                                          <p:spTgt spid="3">
                                            <p:txEl>
                                              <p:pRg st="2" end="2"/>
                                            </p:txEl>
                                          </p:spTgt>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circle(in)">
                                      <p:cBhvr>
                                        <p:cTn id="18" dur="1000"/>
                                        <p:tgtEl>
                                          <p:spTgt spid="3">
                                            <p:txEl>
                                              <p:pRg st="3" end="3"/>
                                            </p:txEl>
                                          </p:spTgt>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circle(in)">
                                      <p:cBhvr>
                                        <p:cTn id="21" dur="10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circle(in)">
                                      <p:cBhvr>
                                        <p:cTn id="26" dur="1000"/>
                                        <p:tgtEl>
                                          <p:spTgt spid="3">
                                            <p:txEl>
                                              <p:pRg st="5" end="5"/>
                                            </p:txEl>
                                          </p:spTgt>
                                        </p:tgtEl>
                                      </p:cBhvr>
                                    </p:animEffect>
                                  </p:childTnLst>
                                </p:cTn>
                              </p:par>
                              <p:par>
                                <p:cTn id="27" presetID="6" presetClass="entr" presetSubtype="16"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circle(in)">
                                      <p:cBhvr>
                                        <p:cTn id="29" dur="1000"/>
                                        <p:tgtEl>
                                          <p:spTgt spid="3">
                                            <p:txEl>
                                              <p:pRg st="6" end="6"/>
                                            </p:txEl>
                                          </p:spTgt>
                                        </p:tgtEl>
                                      </p:cBhvr>
                                    </p:animEffect>
                                  </p:childTnLst>
                                </p:cTn>
                              </p:par>
                              <p:par>
                                <p:cTn id="30" presetID="6" presetClass="entr" presetSubtype="16"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circle(in)">
                                      <p:cBhvr>
                                        <p:cTn id="32" dur="10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circle(in)">
                                      <p:cBhvr>
                                        <p:cTn id="37" dur="1000"/>
                                        <p:tgtEl>
                                          <p:spTgt spid="3">
                                            <p:txEl>
                                              <p:pRg st="8" end="8"/>
                                            </p:txEl>
                                          </p:spTgt>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circle(in)">
                                      <p:cBhvr>
                                        <p:cTn id="40" dur="1000"/>
                                        <p:tgtEl>
                                          <p:spTgt spid="3">
                                            <p:txEl>
                                              <p:pRg st="9" end="9"/>
                                            </p:txEl>
                                          </p:spTgt>
                                        </p:tgtEl>
                                      </p:cBhvr>
                                    </p:animEffect>
                                  </p:childTnLst>
                                </p:cTn>
                              </p:par>
                              <p:par>
                                <p:cTn id="41" presetID="6" presetClass="entr" presetSubtype="16" fill="hold" nodeType="withEffect">
                                  <p:stCondLst>
                                    <p:cond delay="0"/>
                                  </p:stCondLst>
                                  <p:childTnLst>
                                    <p:set>
                                      <p:cBhvr>
                                        <p:cTn id="42" dur="1" fill="hold">
                                          <p:stCondLst>
                                            <p:cond delay="0"/>
                                          </p:stCondLst>
                                        </p:cTn>
                                        <p:tgtEl>
                                          <p:spTgt spid="45060"/>
                                        </p:tgtEl>
                                        <p:attrNameLst>
                                          <p:attrName>style.visibility</p:attrName>
                                        </p:attrNameLst>
                                      </p:cBhvr>
                                      <p:to>
                                        <p:strVal val="visible"/>
                                      </p:to>
                                    </p:set>
                                    <p:animEffect transition="in" filter="circle(in)">
                                      <p:cBhvr>
                                        <p:cTn id="43" dur="1000"/>
                                        <p:tgtEl>
                                          <p:spTgt spid="45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DC table showing the treatment of chlamydia infections in adults/teens, pregnancy, and children of various ages."/>
          <p:cNvPicPr>
            <a:picLocks noGrp="1" noChangeAspect="1"/>
          </p:cNvPicPr>
          <p:nvPr>
            <p:ph idx="1"/>
          </p:nvPr>
        </p:nvPicPr>
        <p:blipFill>
          <a:blip r:embed="rId2"/>
          <a:stretch>
            <a:fillRect/>
          </a:stretch>
        </p:blipFill>
        <p:spPr>
          <a:xfrm>
            <a:off x="1614140" y="1238250"/>
            <a:ext cx="8382797" cy="3886200"/>
          </a:xfrm>
          <a:prstGeom prst="rect">
            <a:avLst/>
          </a:prstGeom>
        </p:spPr>
      </p:pic>
      <p:sp>
        <p:nvSpPr>
          <p:cNvPr id="5" name="Title 1"/>
          <p:cNvSpPr>
            <a:spLocks noGrp="1"/>
          </p:cNvSpPr>
          <p:nvPr>
            <p:ph type="title"/>
          </p:nvPr>
        </p:nvSpPr>
        <p:spPr>
          <a:xfrm>
            <a:off x="1145875" y="289758"/>
            <a:ext cx="8229600" cy="1143000"/>
          </a:xfrm>
        </p:spPr>
        <p:txBody>
          <a:bodyPr/>
          <a:lstStyle/>
          <a:p>
            <a:pPr eaLnBrk="1" hangingPunct="1"/>
            <a:r>
              <a:rPr lang="en-US" altLang="en-US" dirty="0"/>
              <a:t>Chlamydia – Treatment </a:t>
            </a:r>
          </a:p>
        </p:txBody>
      </p:sp>
      <p:sp>
        <p:nvSpPr>
          <p:cNvPr id="6" name="TextBox 5"/>
          <p:cNvSpPr txBox="1"/>
          <p:nvPr/>
        </p:nvSpPr>
        <p:spPr>
          <a:xfrm>
            <a:off x="1066800" y="5349042"/>
            <a:ext cx="10601325" cy="1477328"/>
          </a:xfrm>
          <a:prstGeom prst="rect">
            <a:avLst/>
          </a:prstGeom>
          <a:noFill/>
        </p:spPr>
        <p:txBody>
          <a:bodyPr wrap="square" rtlCol="0">
            <a:spAutoFit/>
          </a:bodyPr>
          <a:lstStyle/>
          <a:p>
            <a:r>
              <a:rPr lang="en-US" dirty="0"/>
              <a:t>Doxycycline is efficacious for C. trachomatis infections of urogenital, rectal, and oropharyngeal sites. Although azithromycin maintains high efficacy for urogenital C. trachomatis infection among women, concern exists regarding effectiveness of azithromycin for concomitant rectal C. trachomatis infection, which can occur commonly among women as well as men who have sex with men &amp; cannot be predicted by reported sexual activity.</a:t>
            </a:r>
          </a:p>
        </p:txBody>
      </p:sp>
    </p:spTree>
    <p:extLst>
      <p:ext uri="{BB962C8B-B14F-4D97-AF65-F5344CB8AC3E}">
        <p14:creationId xmlns:p14="http://schemas.microsoft.com/office/powerpoint/2010/main" val="1168577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DC table showing the antibiotic treatment of gonorrhea in uncomplicated individuals, pregnancy, etc."/>
          <p:cNvPicPr>
            <a:picLocks noChangeAspect="1"/>
          </p:cNvPicPr>
          <p:nvPr/>
        </p:nvPicPr>
        <p:blipFill>
          <a:blip r:embed="rId2"/>
          <a:stretch>
            <a:fillRect/>
          </a:stretch>
        </p:blipFill>
        <p:spPr>
          <a:xfrm>
            <a:off x="1952072" y="1797889"/>
            <a:ext cx="7697306" cy="4958842"/>
          </a:xfrm>
          <a:prstGeom prst="rect">
            <a:avLst/>
          </a:prstGeom>
        </p:spPr>
      </p:pic>
      <p:sp>
        <p:nvSpPr>
          <p:cNvPr id="5" name="Title 1"/>
          <p:cNvSpPr>
            <a:spLocks noGrp="1"/>
          </p:cNvSpPr>
          <p:nvPr>
            <p:ph type="title"/>
          </p:nvPr>
        </p:nvSpPr>
        <p:spPr>
          <a:xfrm>
            <a:off x="819150" y="285750"/>
            <a:ext cx="8229600" cy="1143000"/>
          </a:xfrm>
        </p:spPr>
        <p:txBody>
          <a:bodyPr/>
          <a:lstStyle/>
          <a:p>
            <a:pPr eaLnBrk="1" hangingPunct="1"/>
            <a:r>
              <a:rPr lang="en-US" altLang="en-US" dirty="0"/>
              <a:t>Gonorrhea – Treatment </a:t>
            </a:r>
          </a:p>
        </p:txBody>
      </p:sp>
      <p:sp>
        <p:nvSpPr>
          <p:cNvPr id="6" name="Content Placeholder 2"/>
          <p:cNvSpPr>
            <a:spLocks noGrp="1"/>
          </p:cNvSpPr>
          <p:nvPr>
            <p:ph idx="1"/>
          </p:nvPr>
        </p:nvSpPr>
        <p:spPr>
          <a:xfrm>
            <a:off x="1676400" y="1340689"/>
            <a:ext cx="8763000" cy="457200"/>
          </a:xfrm>
        </p:spPr>
        <p:txBody>
          <a:bodyPr>
            <a:normAutofit fontScale="70000" lnSpcReduction="20000"/>
          </a:bodyPr>
          <a:lstStyle/>
          <a:p>
            <a:pPr marL="393700" lvl="1" indent="0" algn="ctr">
              <a:buNone/>
            </a:pPr>
            <a:r>
              <a:rPr lang="en-US" sz="2000" dirty="0">
                <a:hlinkClick r:id="rId3"/>
              </a:rPr>
              <a:t>Drug-Resistant Gonorrhea: An Urgent Public Health Issue – YouTube</a:t>
            </a:r>
            <a:r>
              <a:rPr lang="en-US" sz="2000" dirty="0"/>
              <a:t> </a:t>
            </a:r>
          </a:p>
          <a:p>
            <a:pPr marL="393700" lvl="1" indent="0" algn="ctr">
              <a:buNone/>
            </a:pPr>
            <a:r>
              <a:rPr lang="en-US" altLang="en-US" sz="1600" dirty="0"/>
              <a:t>(video 3.35 min)</a:t>
            </a:r>
          </a:p>
        </p:txBody>
      </p:sp>
    </p:spTree>
    <p:extLst>
      <p:ext uri="{BB962C8B-B14F-4D97-AF65-F5344CB8AC3E}">
        <p14:creationId xmlns:p14="http://schemas.microsoft.com/office/powerpoint/2010/main" val="818603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500"/>
                                        <p:tgtEl>
                                          <p:spTgt spid="6">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arn(inVertical)">
                                      <p:cBhvr>
                                        <p:cTn id="10"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Chlamydia &amp; Gonorrhea Management</a:t>
            </a:r>
          </a:p>
        </p:txBody>
      </p:sp>
      <p:sp>
        <p:nvSpPr>
          <p:cNvPr id="3" name="Content Placeholder 2"/>
          <p:cNvSpPr>
            <a:spLocks noGrp="1"/>
          </p:cNvSpPr>
          <p:nvPr>
            <p:ph idx="1"/>
          </p:nvPr>
        </p:nvSpPr>
        <p:spPr>
          <a:xfrm>
            <a:off x="838200" y="1520825"/>
            <a:ext cx="10515600" cy="4972050"/>
          </a:xfrm>
        </p:spPr>
        <p:txBody>
          <a:bodyPr>
            <a:normAutofit fontScale="77500" lnSpcReduction="20000"/>
          </a:bodyPr>
          <a:lstStyle/>
          <a:p>
            <a:pPr eaLnBrk="1" hangingPunct="1"/>
            <a:r>
              <a:rPr lang="en-US" altLang="en-US" dirty="0"/>
              <a:t>Treat sexual partner(s) (considered 60 days preceding the </a:t>
            </a:r>
            <a:r>
              <a:rPr lang="en-US" altLang="en-US" dirty="0" err="1"/>
              <a:t>pt’s</a:t>
            </a:r>
            <a:r>
              <a:rPr lang="en-US" altLang="en-US" dirty="0"/>
              <a:t> onset of symptoms or diagnosis)</a:t>
            </a:r>
          </a:p>
          <a:p>
            <a:pPr lvl="1" eaLnBrk="1" hangingPunct="1"/>
            <a:r>
              <a:rPr lang="en-US" altLang="en-US" dirty="0"/>
              <a:t>Expedited Partner Treatment (EPT) scripts can be written</a:t>
            </a:r>
          </a:p>
          <a:p>
            <a:pPr lvl="2"/>
            <a:r>
              <a:rPr lang="en-US" dirty="0"/>
              <a:t>Chlamydia alone - Treat sexual partner(s) w/ oral doxycycline 100 mg 2 x/day x 7 days.</a:t>
            </a:r>
          </a:p>
          <a:p>
            <a:pPr lvl="2"/>
            <a:r>
              <a:rPr lang="en-US" dirty="0"/>
              <a:t>Gonorrhea alone - Treat sexual partner(s) w/ cefixime 800 mg as a single dose </a:t>
            </a:r>
          </a:p>
          <a:p>
            <a:r>
              <a:rPr lang="en-US" altLang="en-US" dirty="0"/>
              <a:t>Abstain from intercourse (x1wk) until treatment regimen is completed &amp; symptoms have resolved</a:t>
            </a:r>
          </a:p>
          <a:p>
            <a:pPr eaLnBrk="1" hangingPunct="1"/>
            <a:r>
              <a:rPr lang="en-US" altLang="en-US" dirty="0"/>
              <a:t>Counsel patient on safe sexual practices &amp; offer testing for additional STIs</a:t>
            </a:r>
          </a:p>
          <a:p>
            <a:r>
              <a:rPr lang="en-US" dirty="0"/>
              <a:t>Retesting</a:t>
            </a:r>
          </a:p>
          <a:p>
            <a:pPr lvl="1"/>
            <a:r>
              <a:rPr lang="en-US" dirty="0"/>
              <a:t>Test of cure to detect treatment failure (i.e., repeat testing 4 </a:t>
            </a:r>
            <a:r>
              <a:rPr lang="en-US" dirty="0" err="1"/>
              <a:t>wks</a:t>
            </a:r>
            <a:r>
              <a:rPr lang="en-US" dirty="0"/>
              <a:t> after completing therapy) is </a:t>
            </a:r>
            <a:r>
              <a:rPr lang="en-US" u="sng" dirty="0"/>
              <a:t>not</a:t>
            </a:r>
            <a:r>
              <a:rPr lang="en-US" dirty="0"/>
              <a:t> advised for nonpregnant persons treated w/ recommended or alternative regimens, unless therapeutic adherence is in question, symptoms persist, or reinfection is suspected. </a:t>
            </a:r>
          </a:p>
          <a:p>
            <a:pPr lvl="2"/>
            <a:r>
              <a:rPr lang="en-US" dirty="0"/>
              <a:t>Could lead to false positives as well</a:t>
            </a:r>
          </a:p>
          <a:p>
            <a:pPr lvl="2"/>
            <a:r>
              <a:rPr lang="en-US" dirty="0"/>
              <a:t>Most posttreatment infections are the result of reinfection rather than treatment failure</a:t>
            </a:r>
          </a:p>
          <a:p>
            <a:pPr lvl="1"/>
            <a:r>
              <a:rPr lang="en-US" dirty="0"/>
              <a:t>Men &amp; women who have been treated for chlamydia should be retested approximately 3 </a:t>
            </a:r>
            <a:r>
              <a:rPr lang="en-US" dirty="0" err="1"/>
              <a:t>mon</a:t>
            </a:r>
            <a:r>
              <a:rPr lang="en-US" dirty="0"/>
              <a:t> after treatment, regardless of whether they believe their sex partners were treated</a:t>
            </a:r>
            <a:endParaRPr lang="en-US" altLang="en-US" dirty="0"/>
          </a:p>
          <a:p>
            <a:pPr eaLnBrk="1" hangingPunct="1"/>
            <a:r>
              <a:rPr lang="en-US" altLang="en-US" dirty="0"/>
              <a:t>Contact CDC/PHD if needed</a:t>
            </a:r>
          </a:p>
          <a:p>
            <a:pPr lvl="1" eaLnBrk="1" hangingPunct="1"/>
            <a:endParaRPr lang="en-US" altLang="en-US" dirty="0"/>
          </a:p>
          <a:p>
            <a:endParaRPr lang="en-US" dirty="0"/>
          </a:p>
        </p:txBody>
      </p:sp>
    </p:spTree>
    <p:extLst>
      <p:ext uri="{BB962C8B-B14F-4D97-AF65-F5344CB8AC3E}">
        <p14:creationId xmlns:p14="http://schemas.microsoft.com/office/powerpoint/2010/main" val="4272188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arn(inVertical)">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arn(inVertical)">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arn(inVertical)">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arn(inVertical)">
                                      <p:cBhvr>
                                        <p:cTn id="31" dur="500"/>
                                        <p:tgtEl>
                                          <p:spTgt spid="3">
                                            <p:txEl>
                                              <p:pRg st="6" end="6"/>
                                            </p:txEl>
                                          </p:spTgt>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arn(inVertical)">
                                      <p:cBhvr>
                                        <p:cTn id="34" dur="500"/>
                                        <p:tgtEl>
                                          <p:spTgt spid="3">
                                            <p:txEl>
                                              <p:pRg st="7" end="7"/>
                                            </p:txEl>
                                          </p:spTgt>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barn(inVertical)">
                                      <p:cBhvr>
                                        <p:cTn id="37" dur="500"/>
                                        <p:tgtEl>
                                          <p:spTgt spid="3">
                                            <p:txEl>
                                              <p:pRg st="8" end="8"/>
                                            </p:txEl>
                                          </p:spTgt>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barn(inVertical)">
                                      <p:cBhvr>
                                        <p:cTn id="40" dur="500"/>
                                        <p:tgtEl>
                                          <p:spTgt spid="3">
                                            <p:txEl>
                                              <p:pRg st="9" end="9"/>
                                            </p:txEl>
                                          </p:spTgt>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barn(inVertical)">
                                      <p:cBhvr>
                                        <p:cTn id="43" dur="500"/>
                                        <p:tgtEl>
                                          <p:spTgt spid="3">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3">
                                            <p:txEl>
                                              <p:pRg st="11" end="11"/>
                                            </p:txEl>
                                          </p:spTgt>
                                        </p:tgtEl>
                                        <p:attrNameLst>
                                          <p:attrName>style.visibility</p:attrName>
                                        </p:attrNameLst>
                                      </p:cBhvr>
                                      <p:to>
                                        <p:strVal val="visible"/>
                                      </p:to>
                                    </p:set>
                                    <p:animEffect transition="in" filter="barn(inVertical)">
                                      <p:cBhvr>
                                        <p:cTn id="48"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1182687" y="92477"/>
            <a:ext cx="8229600" cy="1143000"/>
          </a:xfrm>
        </p:spPr>
        <p:txBody>
          <a:bodyPr/>
          <a:lstStyle/>
          <a:p>
            <a:pPr eaLnBrk="1" hangingPunct="1"/>
            <a:r>
              <a:rPr lang="en-US" altLang="en-US" dirty="0"/>
              <a:t>Chlamydia – If left untreated</a:t>
            </a:r>
          </a:p>
        </p:txBody>
      </p:sp>
      <p:sp>
        <p:nvSpPr>
          <p:cNvPr id="4" name="Text Placeholder 3"/>
          <p:cNvSpPr>
            <a:spLocks noGrp="1"/>
          </p:cNvSpPr>
          <p:nvPr>
            <p:ph type="body" idx="1"/>
          </p:nvPr>
        </p:nvSpPr>
        <p:spPr>
          <a:xfrm>
            <a:off x="1182687" y="1122364"/>
            <a:ext cx="4459288" cy="515935"/>
          </a:xfrm>
        </p:spPr>
        <p:txBody>
          <a:bodyPr rtlCol="0">
            <a:normAutofit fontScale="92500"/>
          </a:bodyPr>
          <a:lstStyle/>
          <a:p>
            <a:pPr>
              <a:buClr>
                <a:schemeClr val="accent3"/>
              </a:buClr>
              <a:defRPr/>
            </a:pPr>
            <a:r>
              <a:rPr lang="en-US" b="0" i="1" dirty="0"/>
              <a:t>For women, complications include</a:t>
            </a:r>
          </a:p>
        </p:txBody>
      </p:sp>
      <p:sp>
        <p:nvSpPr>
          <p:cNvPr id="32773" name="Text Placeholder 4"/>
          <p:cNvSpPr>
            <a:spLocks noGrp="1"/>
          </p:cNvSpPr>
          <p:nvPr>
            <p:ph type="body" sz="half" idx="3"/>
          </p:nvPr>
        </p:nvSpPr>
        <p:spPr>
          <a:xfrm>
            <a:off x="6550026" y="1196980"/>
            <a:ext cx="4041775" cy="441319"/>
          </a:xfrm>
        </p:spPr>
        <p:txBody>
          <a:bodyPr>
            <a:normAutofit fontScale="92500"/>
          </a:bodyPr>
          <a:lstStyle/>
          <a:p>
            <a:pPr>
              <a:buClr>
                <a:schemeClr val="accent3"/>
              </a:buClr>
              <a:defRPr/>
            </a:pPr>
            <a:r>
              <a:rPr lang="en-US" altLang="en-US" b="0" i="1" dirty="0"/>
              <a:t>For men, complications include </a:t>
            </a:r>
          </a:p>
        </p:txBody>
      </p:sp>
      <p:sp>
        <p:nvSpPr>
          <p:cNvPr id="32772" name="Content Placeholder 2"/>
          <p:cNvSpPr>
            <a:spLocks noGrp="1"/>
          </p:cNvSpPr>
          <p:nvPr>
            <p:ph sz="quarter" idx="2"/>
          </p:nvPr>
        </p:nvSpPr>
        <p:spPr>
          <a:xfrm>
            <a:off x="1182687" y="1699417"/>
            <a:ext cx="4789488" cy="4724400"/>
          </a:xfrm>
        </p:spPr>
        <p:txBody>
          <a:bodyPr>
            <a:normAutofit lnSpcReduction="10000"/>
          </a:bodyPr>
          <a:lstStyle/>
          <a:p>
            <a:pPr eaLnBrk="1" hangingPunct="1"/>
            <a:r>
              <a:rPr lang="en-US" altLang="en-US" dirty="0"/>
              <a:t>Cause PID, which can lead to damage of the fallopian tubes or even cause infertility</a:t>
            </a:r>
          </a:p>
          <a:p>
            <a:pPr eaLnBrk="1" hangingPunct="1"/>
            <a:r>
              <a:rPr lang="en-US" altLang="en-US" dirty="0"/>
              <a:t>Increase the risk of ectopic pregnancy </a:t>
            </a:r>
          </a:p>
          <a:p>
            <a:pPr eaLnBrk="1" hangingPunct="1"/>
            <a:r>
              <a:rPr lang="en-US" altLang="en-US" dirty="0"/>
              <a:t>May cause premature births &amp; the infection can be passed along to delivering baby causing an eye infection, blindness, or pneumonia in the newborn</a:t>
            </a:r>
          </a:p>
          <a:p>
            <a:pPr eaLnBrk="1" hangingPunct="1"/>
            <a:endParaRPr lang="en-US" altLang="en-US" dirty="0"/>
          </a:p>
        </p:txBody>
      </p:sp>
      <p:sp>
        <p:nvSpPr>
          <p:cNvPr id="32774" name="Content Placeholder 5"/>
          <p:cNvSpPr>
            <a:spLocks noGrp="1"/>
          </p:cNvSpPr>
          <p:nvPr>
            <p:ph sz="quarter" idx="4"/>
          </p:nvPr>
        </p:nvSpPr>
        <p:spPr>
          <a:xfrm>
            <a:off x="6616700" y="1699417"/>
            <a:ext cx="4908549" cy="4073525"/>
          </a:xfrm>
        </p:spPr>
        <p:txBody>
          <a:bodyPr>
            <a:normAutofit lnSpcReduction="10000"/>
          </a:bodyPr>
          <a:lstStyle/>
          <a:p>
            <a:pPr eaLnBrk="1" hangingPunct="1"/>
            <a:r>
              <a:rPr lang="en-US" altLang="en-US" dirty="0">
                <a:solidFill>
                  <a:schemeClr val="accent1"/>
                </a:solidFill>
              </a:rPr>
              <a:t>Cause nongonococcal urethritis (NGU) -- an infection of the urethra </a:t>
            </a:r>
          </a:p>
          <a:p>
            <a:pPr eaLnBrk="1" hangingPunct="1"/>
            <a:r>
              <a:rPr lang="en-US" altLang="en-US" dirty="0"/>
              <a:t>Cause epididymitis -- an infection of the epididymis</a:t>
            </a:r>
          </a:p>
          <a:p>
            <a:pPr eaLnBrk="1" hangingPunct="1"/>
            <a:r>
              <a:rPr lang="en-US" altLang="en-US" dirty="0"/>
              <a:t>Cause proctitis -- an inflammation of the rectum</a:t>
            </a:r>
          </a:p>
          <a:p>
            <a:pPr eaLnBrk="1" hangingPunct="1"/>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2772">
                                            <p:txEl>
                                              <p:pRg st="0" end="0"/>
                                            </p:txEl>
                                          </p:spTgt>
                                        </p:tgtEl>
                                        <p:attrNameLst>
                                          <p:attrName>style.visibility</p:attrName>
                                        </p:attrNameLst>
                                      </p:cBhvr>
                                      <p:to>
                                        <p:strVal val="visible"/>
                                      </p:to>
                                    </p:set>
                                    <p:animEffect transition="in" filter="wipe(down)">
                                      <p:cBhvr>
                                        <p:cTn id="7" dur="500"/>
                                        <p:tgtEl>
                                          <p:spTgt spid="3277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2772">
                                            <p:txEl>
                                              <p:pRg st="1" end="1"/>
                                            </p:txEl>
                                          </p:spTgt>
                                        </p:tgtEl>
                                        <p:attrNameLst>
                                          <p:attrName>style.visibility</p:attrName>
                                        </p:attrNameLst>
                                      </p:cBhvr>
                                      <p:to>
                                        <p:strVal val="visible"/>
                                      </p:to>
                                    </p:set>
                                    <p:animEffect transition="in" filter="wipe(down)">
                                      <p:cBhvr>
                                        <p:cTn id="12" dur="500"/>
                                        <p:tgtEl>
                                          <p:spTgt spid="3277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2772">
                                            <p:txEl>
                                              <p:pRg st="2" end="2"/>
                                            </p:txEl>
                                          </p:spTgt>
                                        </p:tgtEl>
                                        <p:attrNameLst>
                                          <p:attrName>style.visibility</p:attrName>
                                        </p:attrNameLst>
                                      </p:cBhvr>
                                      <p:to>
                                        <p:strVal val="visible"/>
                                      </p:to>
                                    </p:set>
                                    <p:animEffect transition="in" filter="wipe(down)">
                                      <p:cBhvr>
                                        <p:cTn id="17" dur="500"/>
                                        <p:tgtEl>
                                          <p:spTgt spid="3277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2774">
                                            <p:txEl>
                                              <p:pRg st="0" end="0"/>
                                            </p:txEl>
                                          </p:spTgt>
                                        </p:tgtEl>
                                        <p:attrNameLst>
                                          <p:attrName>style.visibility</p:attrName>
                                        </p:attrNameLst>
                                      </p:cBhvr>
                                      <p:to>
                                        <p:strVal val="visible"/>
                                      </p:to>
                                    </p:set>
                                    <p:animEffect transition="in" filter="wipe(down)">
                                      <p:cBhvr>
                                        <p:cTn id="22" dur="500"/>
                                        <p:tgtEl>
                                          <p:spTgt spid="32774">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2774">
                                            <p:txEl>
                                              <p:pRg st="1" end="1"/>
                                            </p:txEl>
                                          </p:spTgt>
                                        </p:tgtEl>
                                        <p:attrNameLst>
                                          <p:attrName>style.visibility</p:attrName>
                                        </p:attrNameLst>
                                      </p:cBhvr>
                                      <p:to>
                                        <p:strVal val="visible"/>
                                      </p:to>
                                    </p:set>
                                    <p:animEffect transition="in" filter="wipe(down)">
                                      <p:cBhvr>
                                        <p:cTn id="27" dur="500"/>
                                        <p:tgtEl>
                                          <p:spTgt spid="32774">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2774">
                                            <p:txEl>
                                              <p:pRg st="2" end="2"/>
                                            </p:txEl>
                                          </p:spTgt>
                                        </p:tgtEl>
                                        <p:attrNameLst>
                                          <p:attrName>style.visibility</p:attrName>
                                        </p:attrNameLst>
                                      </p:cBhvr>
                                      <p:to>
                                        <p:strVal val="visible"/>
                                      </p:to>
                                    </p:set>
                                    <p:animEffect transition="in" filter="wipe(down)">
                                      <p:cBhvr>
                                        <p:cTn id="32" dur="500"/>
                                        <p:tgtEl>
                                          <p:spTgt spid="3277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build="p"/>
      <p:bldP spid="3277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1152525" y="220662"/>
            <a:ext cx="8229600" cy="933450"/>
          </a:xfrm>
        </p:spPr>
        <p:txBody>
          <a:bodyPr/>
          <a:lstStyle/>
          <a:p>
            <a:pPr eaLnBrk="1" hangingPunct="1"/>
            <a:r>
              <a:rPr lang="en-US" altLang="en-US" dirty="0"/>
              <a:t>Gonorrhea – If left untreated</a:t>
            </a:r>
          </a:p>
        </p:txBody>
      </p:sp>
      <p:sp>
        <p:nvSpPr>
          <p:cNvPr id="4" name="Text Placeholder 3"/>
          <p:cNvSpPr>
            <a:spLocks noGrp="1"/>
          </p:cNvSpPr>
          <p:nvPr>
            <p:ph type="body" idx="1"/>
          </p:nvPr>
        </p:nvSpPr>
        <p:spPr>
          <a:xfrm>
            <a:off x="1085850" y="1143001"/>
            <a:ext cx="4935538" cy="639763"/>
          </a:xfrm>
        </p:spPr>
        <p:txBody>
          <a:bodyPr rtlCol="0">
            <a:normAutofit fontScale="92500"/>
          </a:bodyPr>
          <a:lstStyle/>
          <a:p>
            <a:pPr>
              <a:buClr>
                <a:schemeClr val="accent3"/>
              </a:buClr>
              <a:defRPr/>
            </a:pPr>
            <a:r>
              <a:rPr lang="en-US" b="0" i="1" dirty="0"/>
              <a:t>For women, complications include</a:t>
            </a:r>
          </a:p>
        </p:txBody>
      </p:sp>
      <p:sp>
        <p:nvSpPr>
          <p:cNvPr id="44037" name="Text Placeholder 4"/>
          <p:cNvSpPr>
            <a:spLocks noGrp="1"/>
          </p:cNvSpPr>
          <p:nvPr>
            <p:ph type="body" sz="half" idx="3"/>
          </p:nvPr>
        </p:nvSpPr>
        <p:spPr>
          <a:xfrm>
            <a:off x="6172201" y="1143001"/>
            <a:ext cx="4041775" cy="639763"/>
          </a:xfrm>
        </p:spPr>
        <p:txBody>
          <a:bodyPr>
            <a:normAutofit fontScale="92500"/>
          </a:bodyPr>
          <a:lstStyle/>
          <a:p>
            <a:pPr>
              <a:buClr>
                <a:schemeClr val="accent3"/>
              </a:buClr>
              <a:defRPr/>
            </a:pPr>
            <a:r>
              <a:rPr lang="en-US" altLang="en-US" b="0" i="1" dirty="0"/>
              <a:t>For men, complications include </a:t>
            </a:r>
          </a:p>
        </p:txBody>
      </p:sp>
      <p:sp>
        <p:nvSpPr>
          <p:cNvPr id="44036" name="Content Placeholder 2"/>
          <p:cNvSpPr>
            <a:spLocks noGrp="1"/>
          </p:cNvSpPr>
          <p:nvPr>
            <p:ph sz="quarter" idx="2"/>
          </p:nvPr>
        </p:nvSpPr>
        <p:spPr>
          <a:xfrm>
            <a:off x="1085850" y="1895476"/>
            <a:ext cx="4667250" cy="4378325"/>
          </a:xfrm>
        </p:spPr>
        <p:txBody>
          <a:bodyPr/>
          <a:lstStyle/>
          <a:p>
            <a:pPr eaLnBrk="1" hangingPunct="1"/>
            <a:r>
              <a:rPr lang="en-US" altLang="en-US" sz="2000" dirty="0"/>
              <a:t>Cause PID, which can lead to damage of the fallopian tubes or even cause infertility</a:t>
            </a:r>
          </a:p>
          <a:p>
            <a:pPr eaLnBrk="1" hangingPunct="1"/>
            <a:r>
              <a:rPr lang="en-US" altLang="en-US" sz="2000" dirty="0"/>
              <a:t>Increase the risk of ectopic pregnancy </a:t>
            </a:r>
          </a:p>
          <a:p>
            <a:pPr eaLnBrk="1" hangingPunct="1"/>
            <a:r>
              <a:rPr lang="en-US" altLang="en-US" sz="2000" dirty="0"/>
              <a:t>Long-term pelvic/abdominal pain</a:t>
            </a:r>
          </a:p>
          <a:p>
            <a:pPr eaLnBrk="1" hangingPunct="1"/>
            <a:r>
              <a:rPr lang="en-US" altLang="en-US" sz="2000" dirty="0"/>
              <a:t>May cause premature births &amp; the infection can be passed along to delivering baby causing an eye infection, blindness, joint infection, or life-threatening blood infection in the newborn.</a:t>
            </a:r>
          </a:p>
        </p:txBody>
      </p:sp>
      <p:sp>
        <p:nvSpPr>
          <p:cNvPr id="44038" name="Content Placeholder 5"/>
          <p:cNvSpPr>
            <a:spLocks noGrp="1"/>
          </p:cNvSpPr>
          <p:nvPr>
            <p:ph sz="quarter" idx="4"/>
          </p:nvPr>
        </p:nvSpPr>
        <p:spPr>
          <a:xfrm>
            <a:off x="6248401" y="1752600"/>
            <a:ext cx="4041775" cy="3951288"/>
          </a:xfrm>
        </p:spPr>
        <p:txBody>
          <a:bodyPr/>
          <a:lstStyle/>
          <a:p>
            <a:pPr eaLnBrk="1" hangingPunct="1"/>
            <a:r>
              <a:rPr lang="en-US" altLang="en-US" sz="2000"/>
              <a:t>Cause painful condition of the testicles called epididymitis</a:t>
            </a:r>
          </a:p>
          <a:p>
            <a:pPr eaLnBrk="1" hangingPunct="1"/>
            <a:r>
              <a:rPr lang="en-US" altLang="en-US" sz="2000"/>
              <a:t>In rare cases, this may cause a man to be sterile</a:t>
            </a:r>
          </a:p>
          <a:p>
            <a:pPr eaLnBrk="1" hangingPunct="1"/>
            <a:r>
              <a:rPr lang="en-US" altLang="en-US" sz="2000"/>
              <a:t>Can also affect the prostate leading to scarring inside the urethra making urination difficult</a:t>
            </a:r>
          </a:p>
        </p:txBody>
      </p:sp>
      <p:pic>
        <p:nvPicPr>
          <p:cNvPr id="44039" name="Picture 8" descr="File:Gonococcal ophthalmia neonatorum.jpg shows the crusted shut eyes of a neonate.">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4391026"/>
            <a:ext cx="3416300" cy="198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4036">
                                            <p:txEl>
                                              <p:pRg st="0" end="0"/>
                                            </p:txEl>
                                          </p:spTgt>
                                        </p:tgtEl>
                                        <p:attrNameLst>
                                          <p:attrName>style.visibility</p:attrName>
                                        </p:attrNameLst>
                                      </p:cBhvr>
                                      <p:to>
                                        <p:strVal val="visible"/>
                                      </p:to>
                                    </p:set>
                                    <p:animEffect transition="in" filter="circle(in)">
                                      <p:cBhvr>
                                        <p:cTn id="7" dur="1000"/>
                                        <p:tgtEl>
                                          <p:spTgt spid="440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4036">
                                            <p:txEl>
                                              <p:pRg st="1" end="1"/>
                                            </p:txEl>
                                          </p:spTgt>
                                        </p:tgtEl>
                                        <p:attrNameLst>
                                          <p:attrName>style.visibility</p:attrName>
                                        </p:attrNameLst>
                                      </p:cBhvr>
                                      <p:to>
                                        <p:strVal val="visible"/>
                                      </p:to>
                                    </p:set>
                                    <p:animEffect transition="in" filter="circle(in)">
                                      <p:cBhvr>
                                        <p:cTn id="12" dur="1000"/>
                                        <p:tgtEl>
                                          <p:spTgt spid="44036">
                                            <p:txEl>
                                              <p:pRg st="1" end="1"/>
                                            </p:txEl>
                                          </p:spTgt>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44036">
                                            <p:txEl>
                                              <p:pRg st="2" end="2"/>
                                            </p:txEl>
                                          </p:spTgt>
                                        </p:tgtEl>
                                        <p:attrNameLst>
                                          <p:attrName>style.visibility</p:attrName>
                                        </p:attrNameLst>
                                      </p:cBhvr>
                                      <p:to>
                                        <p:strVal val="visible"/>
                                      </p:to>
                                    </p:set>
                                    <p:animEffect transition="in" filter="circle(in)">
                                      <p:cBhvr>
                                        <p:cTn id="15" dur="1000"/>
                                        <p:tgtEl>
                                          <p:spTgt spid="44036">
                                            <p:txEl>
                                              <p:pRg st="2" end="2"/>
                                            </p:txEl>
                                          </p:spTgt>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44036">
                                            <p:txEl>
                                              <p:pRg st="3" end="3"/>
                                            </p:txEl>
                                          </p:spTgt>
                                        </p:tgtEl>
                                        <p:attrNameLst>
                                          <p:attrName>style.visibility</p:attrName>
                                        </p:attrNameLst>
                                      </p:cBhvr>
                                      <p:to>
                                        <p:strVal val="visible"/>
                                      </p:to>
                                    </p:set>
                                    <p:animEffect transition="in" filter="circle(in)">
                                      <p:cBhvr>
                                        <p:cTn id="18" dur="1000"/>
                                        <p:tgtEl>
                                          <p:spTgt spid="44036">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6" presetClass="entr" presetSubtype="16" fill="hold" nodeType="clickEffect">
                                  <p:stCondLst>
                                    <p:cond delay="0"/>
                                  </p:stCondLst>
                                  <p:childTnLst>
                                    <p:set>
                                      <p:cBhvr>
                                        <p:cTn id="22" dur="1" fill="hold">
                                          <p:stCondLst>
                                            <p:cond delay="0"/>
                                          </p:stCondLst>
                                        </p:cTn>
                                        <p:tgtEl>
                                          <p:spTgt spid="44039"/>
                                        </p:tgtEl>
                                        <p:attrNameLst>
                                          <p:attrName>style.visibility</p:attrName>
                                        </p:attrNameLst>
                                      </p:cBhvr>
                                      <p:to>
                                        <p:strVal val="visible"/>
                                      </p:to>
                                    </p:set>
                                    <p:animEffect transition="in" filter="circle(in)">
                                      <p:cBhvr>
                                        <p:cTn id="23" dur="1000"/>
                                        <p:tgtEl>
                                          <p:spTgt spid="4403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44038">
                                            <p:txEl>
                                              <p:pRg st="0" end="0"/>
                                            </p:txEl>
                                          </p:spTgt>
                                        </p:tgtEl>
                                        <p:attrNameLst>
                                          <p:attrName>style.visibility</p:attrName>
                                        </p:attrNameLst>
                                      </p:cBhvr>
                                      <p:to>
                                        <p:strVal val="visible"/>
                                      </p:to>
                                    </p:set>
                                    <p:animEffect transition="in" filter="circle(in)">
                                      <p:cBhvr>
                                        <p:cTn id="28" dur="1000"/>
                                        <p:tgtEl>
                                          <p:spTgt spid="44038">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44038">
                                            <p:txEl>
                                              <p:pRg st="1" end="1"/>
                                            </p:txEl>
                                          </p:spTgt>
                                        </p:tgtEl>
                                        <p:attrNameLst>
                                          <p:attrName>style.visibility</p:attrName>
                                        </p:attrNameLst>
                                      </p:cBhvr>
                                      <p:to>
                                        <p:strVal val="visible"/>
                                      </p:to>
                                    </p:set>
                                    <p:animEffect transition="in" filter="circle(in)">
                                      <p:cBhvr>
                                        <p:cTn id="33" dur="1000"/>
                                        <p:tgtEl>
                                          <p:spTgt spid="44038">
                                            <p:txEl>
                                              <p:pRg st="1" end="1"/>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44038">
                                            <p:txEl>
                                              <p:pRg st="2" end="2"/>
                                            </p:txEl>
                                          </p:spTgt>
                                        </p:tgtEl>
                                        <p:attrNameLst>
                                          <p:attrName>style.visibility</p:attrName>
                                        </p:attrNameLst>
                                      </p:cBhvr>
                                      <p:to>
                                        <p:strVal val="visible"/>
                                      </p:to>
                                    </p:set>
                                    <p:animEffect transition="in" filter="circle(in)">
                                      <p:cBhvr>
                                        <p:cTn id="38" dur="1000"/>
                                        <p:tgtEl>
                                          <p:spTgt spid="4403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6" grpId="0" build="p"/>
      <p:bldP spid="44038"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1009650" y="419100"/>
            <a:ext cx="8229600" cy="1143000"/>
          </a:xfrm>
        </p:spPr>
        <p:txBody>
          <a:bodyPr>
            <a:normAutofit/>
          </a:bodyPr>
          <a:lstStyle/>
          <a:p>
            <a:pPr>
              <a:defRPr/>
            </a:pPr>
            <a:r>
              <a:rPr lang="en-US" altLang="en-US" dirty="0"/>
              <a:t>Gonorrhea – If left untreated (</a:t>
            </a:r>
            <a:r>
              <a:rPr lang="en-US" altLang="en-US" dirty="0" err="1"/>
              <a:t>cont</a:t>
            </a:r>
            <a:r>
              <a:rPr lang="en-US" altLang="en-US" dirty="0"/>
              <a:t>)</a:t>
            </a:r>
          </a:p>
        </p:txBody>
      </p:sp>
      <p:sp>
        <p:nvSpPr>
          <p:cNvPr id="50179" name="Content Placeholder 5"/>
          <p:cNvSpPr txBox="1">
            <a:spLocks/>
          </p:cNvSpPr>
          <p:nvPr/>
        </p:nvSpPr>
        <p:spPr bwMode="auto">
          <a:xfrm>
            <a:off x="1009650" y="1554162"/>
            <a:ext cx="10648950" cy="378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buClrTx/>
              <a:buSzTx/>
              <a:buFont typeface="Arial" panose="020B0604020202020204" pitchFamily="34" charset="0"/>
              <a:buChar char="•"/>
            </a:pPr>
            <a:r>
              <a:rPr lang="en-US" altLang="en-US" sz="2800" dirty="0">
                <a:latin typeface="Calibri" panose="020F0502020204030204" pitchFamily="34" charset="0"/>
              </a:rPr>
              <a:t>Can’t See, Can’t Pee, Can’t Climb a Tree</a:t>
            </a:r>
          </a:p>
          <a:p>
            <a:pPr lvl="1" eaLnBrk="1" hangingPunct="1">
              <a:buClrTx/>
              <a:buSzTx/>
              <a:buFont typeface="Arial" panose="020B0604020202020204" pitchFamily="34" charset="0"/>
              <a:buChar char="–"/>
            </a:pPr>
            <a:r>
              <a:rPr lang="en-US" altLang="en-US" dirty="0">
                <a:latin typeface="Calibri" panose="020F0502020204030204" pitchFamily="34" charset="0"/>
              </a:rPr>
              <a:t>Reiter’s Syndrome</a:t>
            </a:r>
          </a:p>
          <a:p>
            <a:pPr lvl="1" eaLnBrk="1" hangingPunct="1">
              <a:buClrTx/>
              <a:buSzTx/>
              <a:buFont typeface="Arial" panose="020B0604020202020204" pitchFamily="34" charset="0"/>
              <a:buChar char="–"/>
            </a:pPr>
            <a:endParaRPr lang="en-US" altLang="en-US" sz="1200" dirty="0">
              <a:latin typeface="Calibri" panose="020F0502020204030204" pitchFamily="34" charset="0"/>
            </a:endParaRPr>
          </a:p>
          <a:p>
            <a:pPr eaLnBrk="1" hangingPunct="1">
              <a:buClrTx/>
              <a:buSzTx/>
              <a:buFont typeface="Arial" panose="020B0604020202020204" pitchFamily="34" charset="0"/>
              <a:buChar char="•"/>
            </a:pPr>
            <a:r>
              <a:rPr lang="en-US" altLang="en-US" sz="2800" dirty="0">
                <a:latin typeface="Calibri" panose="020F0502020204030204" pitchFamily="34" charset="0"/>
              </a:rPr>
              <a:t>Rarely, gonorrhea can also spread to your blood or joints. This condition can be life-threatening.</a:t>
            </a:r>
            <a:endParaRPr lang="en-US" altLang="en-US" sz="2400" dirty="0">
              <a:latin typeface="Calibri" panose="020F0502020204030204" pitchFamily="34" charset="0"/>
            </a:endParaRPr>
          </a:p>
          <a:p>
            <a:pPr eaLnBrk="1" hangingPunct="1">
              <a:buClrTx/>
              <a:buSzTx/>
              <a:buFont typeface="Arial" panose="020B0604020202020204" pitchFamily="34" charset="0"/>
              <a:buChar char="•"/>
            </a:pPr>
            <a:endParaRPr lang="en-US" altLang="en-US" sz="1200" dirty="0">
              <a:latin typeface="Calibri" panose="020F0502020204030204" pitchFamily="34" charset="0"/>
            </a:endParaRPr>
          </a:p>
          <a:p>
            <a:pPr eaLnBrk="1" hangingPunct="1">
              <a:buClrTx/>
              <a:buSzTx/>
              <a:buFont typeface="Arial" panose="020B0604020202020204" pitchFamily="34" charset="0"/>
              <a:buChar char="•"/>
            </a:pPr>
            <a:r>
              <a:rPr lang="en-US" altLang="en-US" sz="2800" dirty="0">
                <a:latin typeface="Calibri" panose="020F0502020204030204" pitchFamily="34" charset="0"/>
              </a:rPr>
              <a:t>Untreated gonorrhea may increase your changes of getting/giving HIV.</a:t>
            </a:r>
          </a:p>
          <a:p>
            <a:pPr lvl="1" eaLnBrk="1" hangingPunct="1">
              <a:buClrTx/>
              <a:buSzTx/>
              <a:buFont typeface="Arial" panose="020B0604020202020204" pitchFamily="34" charset="0"/>
              <a:buChar char="–"/>
            </a:pPr>
            <a:endParaRPr lang="en-US" altLang="en-US" sz="2000" dirty="0">
              <a:latin typeface="Calibri" panose="020F050202020403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C3CE-BDBF-BC46-E7DA-DBF5E18D935D}"/>
              </a:ext>
            </a:extLst>
          </p:cNvPr>
          <p:cNvSpPr>
            <a:spLocks noGrp="1"/>
          </p:cNvSpPr>
          <p:nvPr>
            <p:ph type="title"/>
          </p:nvPr>
        </p:nvSpPr>
        <p:spPr>
          <a:xfrm>
            <a:off x="933450" y="498706"/>
            <a:ext cx="8229600" cy="717087"/>
          </a:xfrm>
        </p:spPr>
        <p:txBody>
          <a:bodyPr/>
          <a:lstStyle/>
          <a:p>
            <a:r>
              <a:rPr lang="en-US" dirty="0">
                <a:solidFill>
                  <a:srgbClr val="C00000"/>
                </a:solidFill>
              </a:rPr>
              <a:t>Doxy-Pep</a:t>
            </a:r>
          </a:p>
        </p:txBody>
      </p:sp>
      <p:sp>
        <p:nvSpPr>
          <p:cNvPr id="3" name="Content Placeholder 2">
            <a:extLst>
              <a:ext uri="{FF2B5EF4-FFF2-40B4-BE49-F238E27FC236}">
                <a16:creationId xmlns:a16="http://schemas.microsoft.com/office/drawing/2014/main" id="{DAFD9F4E-A06F-5CB2-036B-00F9CF36A270}"/>
              </a:ext>
            </a:extLst>
          </p:cNvPr>
          <p:cNvSpPr>
            <a:spLocks noGrp="1"/>
          </p:cNvSpPr>
          <p:nvPr>
            <p:ph idx="1"/>
          </p:nvPr>
        </p:nvSpPr>
        <p:spPr>
          <a:xfrm>
            <a:off x="742951" y="1463040"/>
            <a:ext cx="3371849" cy="5201654"/>
          </a:xfrm>
        </p:spPr>
        <p:txBody>
          <a:bodyPr/>
          <a:lstStyle/>
          <a:p>
            <a:r>
              <a:rPr lang="en-US" sz="1800" dirty="0"/>
              <a:t>Take doxycycline 200 mg as soon as possible, w/in 72 hours, after anal, oral, or vaginal sex. </a:t>
            </a:r>
          </a:p>
          <a:p>
            <a:r>
              <a:rPr lang="en-US" sz="1800" dirty="0"/>
              <a:t>Don't take more than 1 dose of doxy in a 24-hr period, regardless of how many times you have sex in a day. </a:t>
            </a:r>
          </a:p>
          <a:p>
            <a:r>
              <a:rPr lang="en-US" sz="1800" dirty="0"/>
              <a:t>You can take Doxy-PEP as often as every day if you need.</a:t>
            </a:r>
          </a:p>
          <a:p>
            <a:r>
              <a:rPr lang="en-US" sz="1800" dirty="0"/>
              <a:t>Can help some people reduce chances of getting (STI).</a:t>
            </a:r>
          </a:p>
          <a:p>
            <a:r>
              <a:rPr lang="en-US" sz="1800" dirty="0"/>
              <a:t>Patients should see their provider again q 3-6 months.</a:t>
            </a:r>
          </a:p>
        </p:txBody>
      </p:sp>
      <p:pic>
        <p:nvPicPr>
          <p:cNvPr id="5" name="Picture 4" descr="New England Journal of Medicine screen snip related to the research article on postexposure doxycycline to prevent bacterial sexually transmitted infections">
            <a:extLst>
              <a:ext uri="{FF2B5EF4-FFF2-40B4-BE49-F238E27FC236}">
                <a16:creationId xmlns:a16="http://schemas.microsoft.com/office/drawing/2014/main" id="{FF95AC1B-8723-57F6-3584-2FC4A304BB5B}"/>
              </a:ext>
            </a:extLst>
          </p:cNvPr>
          <p:cNvPicPr>
            <a:picLocks noChangeAspect="1"/>
          </p:cNvPicPr>
          <p:nvPr/>
        </p:nvPicPr>
        <p:blipFill>
          <a:blip r:embed="rId2"/>
          <a:stretch>
            <a:fillRect/>
          </a:stretch>
        </p:blipFill>
        <p:spPr>
          <a:xfrm>
            <a:off x="4449196" y="857250"/>
            <a:ext cx="6735589" cy="5674093"/>
          </a:xfrm>
          <a:prstGeom prst="rect">
            <a:avLst/>
          </a:prstGeom>
        </p:spPr>
      </p:pic>
    </p:spTree>
    <p:extLst>
      <p:ext uri="{BB962C8B-B14F-4D97-AF65-F5344CB8AC3E}">
        <p14:creationId xmlns:p14="http://schemas.microsoft.com/office/powerpoint/2010/main" val="3408221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4C724-FF5B-A4FB-9B33-03AA5CA028C1}"/>
              </a:ext>
            </a:extLst>
          </p:cNvPr>
          <p:cNvSpPr>
            <a:spLocks noGrp="1"/>
          </p:cNvSpPr>
          <p:nvPr>
            <p:ph type="title"/>
          </p:nvPr>
        </p:nvSpPr>
        <p:spPr/>
        <p:txBody>
          <a:bodyPr>
            <a:normAutofit/>
          </a:bodyPr>
          <a:lstStyle/>
          <a:p>
            <a:r>
              <a:rPr lang="en-US" sz="3600" dirty="0"/>
              <a:t>Bacterial STI Prophylaxis: </a:t>
            </a:r>
            <a:r>
              <a:rPr lang="en-US" sz="3600" dirty="0">
                <a:solidFill>
                  <a:srgbClr val="C00000"/>
                </a:solidFill>
              </a:rPr>
              <a:t>Doxy-PEP</a:t>
            </a:r>
            <a:endParaRPr lang="en-AE" sz="3600" dirty="0">
              <a:solidFill>
                <a:srgbClr val="C00000"/>
              </a:solidFill>
            </a:endParaRPr>
          </a:p>
        </p:txBody>
      </p:sp>
      <p:sp>
        <p:nvSpPr>
          <p:cNvPr id="3" name="Content Placeholder 2">
            <a:extLst>
              <a:ext uri="{FF2B5EF4-FFF2-40B4-BE49-F238E27FC236}">
                <a16:creationId xmlns:a16="http://schemas.microsoft.com/office/drawing/2014/main" id="{DD06078E-744D-534A-CB79-D08D0E85CE85}"/>
              </a:ext>
            </a:extLst>
          </p:cNvPr>
          <p:cNvSpPr>
            <a:spLocks noGrp="1"/>
          </p:cNvSpPr>
          <p:nvPr>
            <p:ph idx="1"/>
          </p:nvPr>
        </p:nvSpPr>
        <p:spPr>
          <a:xfrm>
            <a:off x="838200" y="1495425"/>
            <a:ext cx="10515600" cy="4681538"/>
          </a:xfrm>
        </p:spPr>
        <p:txBody>
          <a:bodyPr>
            <a:normAutofit fontScale="92500"/>
          </a:bodyPr>
          <a:lstStyle/>
          <a:p>
            <a:r>
              <a:rPr lang="en-US" dirty="0"/>
              <a:t>Indication:</a:t>
            </a:r>
          </a:p>
          <a:p>
            <a:pPr lvl="1"/>
            <a:r>
              <a:rPr lang="en-US" sz="2000" dirty="0"/>
              <a:t>Post-exposure prophylaxis (PEP) to prevent bacterial STIs—specifically Chlamydia trachomatis, Syphilis (Treponema pallidum), and to a lesser extent, Gonorrhea—following condomless sexual exposure in high-risk populations.</a:t>
            </a:r>
          </a:p>
          <a:p>
            <a:r>
              <a:rPr lang="en-US" dirty="0"/>
              <a:t>Mechanism of Action:</a:t>
            </a:r>
          </a:p>
          <a:p>
            <a:pPr lvl="1"/>
            <a:r>
              <a:rPr lang="en-US" sz="2000" dirty="0"/>
              <a:t>Doxycycline is a tetracycline antibiotic.</a:t>
            </a:r>
          </a:p>
          <a:p>
            <a:pPr lvl="2"/>
            <a:r>
              <a:rPr lang="en-US" dirty="0"/>
              <a:t>Reversibly binds to the </a:t>
            </a:r>
            <a:r>
              <a:rPr lang="en-US" b="1" dirty="0">
                <a:solidFill>
                  <a:srgbClr val="C00000"/>
                </a:solidFill>
              </a:rPr>
              <a:t>30S ribosomal subunit</a:t>
            </a:r>
            <a:r>
              <a:rPr lang="en-US" dirty="0"/>
              <a:t>, blocking the binding of aminoacyl-tRNA to the mRNA-ribosome complex, thereby </a:t>
            </a:r>
            <a:r>
              <a:rPr lang="en-US" b="1" dirty="0">
                <a:solidFill>
                  <a:srgbClr val="C00000"/>
                </a:solidFill>
              </a:rPr>
              <a:t>inhibiting</a:t>
            </a:r>
            <a:r>
              <a:rPr lang="en-US" dirty="0"/>
              <a:t> </a:t>
            </a:r>
            <a:r>
              <a:rPr lang="en-US" b="1" dirty="0">
                <a:solidFill>
                  <a:srgbClr val="C00000"/>
                </a:solidFill>
              </a:rPr>
              <a:t>bacterial protein synthesis </a:t>
            </a:r>
            <a:r>
              <a:rPr lang="en-US" dirty="0"/>
              <a:t>(bacteriostatic).</a:t>
            </a:r>
          </a:p>
          <a:p>
            <a:r>
              <a:rPr lang="en-US" dirty="0"/>
              <a:t>Adverse Effects:</a:t>
            </a:r>
          </a:p>
          <a:p>
            <a:pPr lvl="1"/>
            <a:r>
              <a:rPr lang="en-US" sz="2100" dirty="0"/>
              <a:t>Pill Esophagitis: Can cause severe esophageal mucosal irritation and ulceration. Should be taken with a full glass of water and remain upright for at least 30 minutes before lying down.</a:t>
            </a:r>
          </a:p>
          <a:p>
            <a:pPr lvl="1"/>
            <a:r>
              <a:rPr lang="en-US" sz="2100" dirty="0"/>
              <a:t>Photosensitivity: Increased risk of exaggerated sunburns on sun-exposed skin.</a:t>
            </a:r>
          </a:p>
          <a:p>
            <a:pPr lvl="1"/>
            <a:r>
              <a:rPr lang="en-US" sz="2100" dirty="0"/>
              <a:t>GI Distress: Nausea, vomiting, and abdominal discomfort.</a:t>
            </a:r>
          </a:p>
          <a:p>
            <a:endParaRPr lang="en-AE" dirty="0"/>
          </a:p>
        </p:txBody>
      </p:sp>
    </p:spTree>
    <p:extLst>
      <p:ext uri="{BB962C8B-B14F-4D97-AF65-F5344CB8AC3E}">
        <p14:creationId xmlns:p14="http://schemas.microsoft.com/office/powerpoint/2010/main" val="18347872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DBFD3-6322-2083-4B60-325539EEA00C}"/>
              </a:ext>
            </a:extLst>
          </p:cNvPr>
          <p:cNvSpPr>
            <a:spLocks noGrp="1"/>
          </p:cNvSpPr>
          <p:nvPr>
            <p:ph type="title"/>
          </p:nvPr>
        </p:nvSpPr>
        <p:spPr/>
        <p:txBody>
          <a:bodyPr>
            <a:normAutofit/>
          </a:bodyPr>
          <a:lstStyle/>
          <a:p>
            <a:r>
              <a:rPr lang="en-US" sz="3600" dirty="0">
                <a:solidFill>
                  <a:srgbClr val="C00000"/>
                </a:solidFill>
              </a:rPr>
              <a:t>Doxy-PEP-</a:t>
            </a:r>
            <a:r>
              <a:rPr lang="en-US" sz="3600" dirty="0"/>
              <a:t>Warnings</a:t>
            </a:r>
            <a:endParaRPr lang="en-AE" sz="3600" dirty="0"/>
          </a:p>
        </p:txBody>
      </p:sp>
      <p:sp>
        <p:nvSpPr>
          <p:cNvPr id="3" name="Content Placeholder 2">
            <a:extLst>
              <a:ext uri="{FF2B5EF4-FFF2-40B4-BE49-F238E27FC236}">
                <a16:creationId xmlns:a16="http://schemas.microsoft.com/office/drawing/2014/main" id="{43E79C12-3881-B0B0-B447-A146C3587DA4}"/>
              </a:ext>
            </a:extLst>
          </p:cNvPr>
          <p:cNvSpPr>
            <a:spLocks noGrp="1"/>
          </p:cNvSpPr>
          <p:nvPr>
            <p:ph idx="1"/>
          </p:nvPr>
        </p:nvSpPr>
        <p:spPr/>
        <p:txBody>
          <a:bodyPr>
            <a:normAutofit/>
          </a:bodyPr>
          <a:lstStyle/>
          <a:p>
            <a:r>
              <a:rPr lang="en-US" sz="2400" dirty="0"/>
              <a:t>Critical Drug Interactions:</a:t>
            </a:r>
          </a:p>
          <a:p>
            <a:pPr lvl="1"/>
            <a:r>
              <a:rPr lang="en-US" dirty="0"/>
              <a:t>Avoid taking concurrently with divalent or trivalent cations (calcium, iron, magnesium, aluminum, prenatal vitamins, or antacids). These agents chelate doxycycline in the GI tract, significantly reducing its absorption and systemic efficacy.</a:t>
            </a:r>
          </a:p>
          <a:p>
            <a:pPr marL="457200" lvl="1" indent="0">
              <a:buNone/>
            </a:pPr>
            <a:endParaRPr lang="en-US" dirty="0"/>
          </a:p>
          <a:p>
            <a:pPr lvl="1"/>
            <a:r>
              <a:rPr lang="en-US" dirty="0"/>
              <a:t>Pregnancy Warning: Not recommended in pregnancy due to fetal risks, including deposition in calcifying teeth (leading to permanent discoloration) and bone growth inhibition.</a:t>
            </a:r>
          </a:p>
          <a:p>
            <a:endParaRPr lang="en-AE" sz="2400" dirty="0"/>
          </a:p>
        </p:txBody>
      </p:sp>
    </p:spTree>
    <p:extLst>
      <p:ext uri="{BB962C8B-B14F-4D97-AF65-F5344CB8AC3E}">
        <p14:creationId xmlns:p14="http://schemas.microsoft.com/office/powerpoint/2010/main" val="21465959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CF270-3AF3-58AB-1D19-F01476270C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15A689-2EB1-F6BF-7397-BCBA89133D15}"/>
              </a:ext>
            </a:extLst>
          </p:cNvPr>
          <p:cNvSpPr>
            <a:spLocks noGrp="1"/>
          </p:cNvSpPr>
          <p:nvPr>
            <p:ph type="title"/>
          </p:nvPr>
        </p:nvSpPr>
        <p:spPr>
          <a:xfrm>
            <a:off x="619125" y="365125"/>
            <a:ext cx="10515600" cy="1325563"/>
          </a:xfrm>
        </p:spPr>
        <p:txBody>
          <a:bodyPr/>
          <a:lstStyle/>
          <a:p>
            <a:r>
              <a:rPr lang="en-US" dirty="0"/>
              <a:t>Cervical Dysplasia</a:t>
            </a:r>
          </a:p>
        </p:txBody>
      </p:sp>
      <p:sp>
        <p:nvSpPr>
          <p:cNvPr id="3" name="Content Placeholder 2">
            <a:extLst>
              <a:ext uri="{FF2B5EF4-FFF2-40B4-BE49-F238E27FC236}">
                <a16:creationId xmlns:a16="http://schemas.microsoft.com/office/drawing/2014/main" id="{C3F7DCAA-16FA-4068-F939-D71B64F6E7C8}"/>
              </a:ext>
            </a:extLst>
          </p:cNvPr>
          <p:cNvSpPr>
            <a:spLocks noGrp="1"/>
          </p:cNvSpPr>
          <p:nvPr>
            <p:ph idx="1"/>
          </p:nvPr>
        </p:nvSpPr>
        <p:spPr>
          <a:xfrm>
            <a:off x="408714" y="1603116"/>
            <a:ext cx="7658100" cy="5178425"/>
          </a:xfrm>
        </p:spPr>
        <p:txBody>
          <a:bodyPr>
            <a:normAutofit/>
          </a:bodyPr>
          <a:lstStyle/>
          <a:p>
            <a:r>
              <a:rPr lang="en-US" dirty="0"/>
              <a:t>HPV mediated </a:t>
            </a:r>
          </a:p>
          <a:p>
            <a:pPr lvl="1"/>
            <a:r>
              <a:rPr lang="en-US" dirty="0"/>
              <a:t>Usually types 16 &amp; 18, but there are many high-risk types</a:t>
            </a:r>
          </a:p>
          <a:p>
            <a:pPr lvl="1"/>
            <a:r>
              <a:rPr lang="en-US" dirty="0"/>
              <a:t>Transformation Zone is where HPV likes to invade as there is high cell turnover</a:t>
            </a:r>
          </a:p>
          <a:p>
            <a:pPr lvl="1"/>
            <a:r>
              <a:rPr lang="en-US" dirty="0"/>
              <a:t>99.7% of all cervical cancers have HPV</a:t>
            </a:r>
          </a:p>
          <a:p>
            <a:pPr lvl="1"/>
            <a:r>
              <a:rPr lang="en-US" dirty="0"/>
              <a:t>Sexually transmitted</a:t>
            </a:r>
          </a:p>
          <a:p>
            <a:pPr lvl="1"/>
            <a:r>
              <a:rPr lang="en-US" dirty="0"/>
              <a:t>Prevention through Vaccination (approved 9-45 yrs old in men &amp; women)</a:t>
            </a:r>
          </a:p>
          <a:p>
            <a:pPr lvl="2"/>
            <a:r>
              <a:rPr lang="en-US" dirty="0"/>
              <a:t>2 or 3 dose series depending on age when series is started</a:t>
            </a:r>
          </a:p>
          <a:p>
            <a:pPr lvl="1"/>
            <a:endParaRPr lang="en-US" dirty="0"/>
          </a:p>
          <a:p>
            <a:pPr lvl="1"/>
            <a:endParaRPr lang="en-US" dirty="0"/>
          </a:p>
        </p:txBody>
      </p:sp>
      <p:pic>
        <p:nvPicPr>
          <p:cNvPr id="10" name="Picture 9" descr="Black and white electron micrograph showing a spherical virus particle called the Human Papillomavirus with a textured surface composed of repeating units. The image highlights structural details of the virus, including a dense core and surrounding lighter halo.">
            <a:extLst>
              <a:ext uri="{FF2B5EF4-FFF2-40B4-BE49-F238E27FC236}">
                <a16:creationId xmlns:a16="http://schemas.microsoft.com/office/drawing/2014/main" id="{3D617BA5-149D-49BA-44B6-A575E9A5A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5657384" y="-139234"/>
            <a:ext cx="1828863" cy="2437532"/>
          </a:xfrm>
          <a:prstGeom prst="rect">
            <a:avLst/>
          </a:prstGeom>
        </p:spPr>
      </p:pic>
      <p:pic>
        <p:nvPicPr>
          <p:cNvPr id="12" name="Picture 11" descr="Photograph showing a close-up view of a cervix with labeled anatomical areas including the transformation zone, squamocolumnar junction (SCJ), and a lesion within the transformation zone. The image highlights abnormal tissue in the transformation zone, indicating a possible cervical lesion or pathology.">
            <a:extLst>
              <a:ext uri="{FF2B5EF4-FFF2-40B4-BE49-F238E27FC236}">
                <a16:creationId xmlns:a16="http://schemas.microsoft.com/office/drawing/2014/main" id="{D815ED01-7B02-A199-B093-BDB367312F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8257" y="165100"/>
            <a:ext cx="3706092" cy="3157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6" descr="Cervical picture showing acetowhite changes consistent with cervical abnormalities">
            <a:extLst>
              <a:ext uri="{FF2B5EF4-FFF2-40B4-BE49-F238E27FC236}">
                <a16:creationId xmlns:a16="http://schemas.microsoft.com/office/drawing/2014/main" id="{5FAA11C9-E80A-2173-4537-4D85DC06C6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92436" y="3616325"/>
            <a:ext cx="2857500"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768EE07-BCCD-B8A0-6AFA-0BB01866D0EB}"/>
              </a:ext>
            </a:extLst>
          </p:cNvPr>
          <p:cNvSpPr txBox="1"/>
          <p:nvPr/>
        </p:nvSpPr>
        <p:spPr>
          <a:xfrm>
            <a:off x="237271" y="6191250"/>
            <a:ext cx="6210546" cy="369332"/>
          </a:xfrm>
          <a:prstGeom prst="rect">
            <a:avLst/>
          </a:prstGeom>
          <a:noFill/>
        </p:spPr>
        <p:txBody>
          <a:bodyPr wrap="none" rtlCol="0">
            <a:spAutoFit/>
          </a:bodyPr>
          <a:lstStyle/>
          <a:p>
            <a:r>
              <a:rPr lang="en-US" dirty="0"/>
              <a:t>http://www.aafp.org/afp/2013/0615/afp20130615p836-f1.jpg</a:t>
            </a:r>
          </a:p>
        </p:txBody>
      </p:sp>
    </p:spTree>
    <p:extLst>
      <p:ext uri="{BB962C8B-B14F-4D97-AF65-F5344CB8AC3E}">
        <p14:creationId xmlns:p14="http://schemas.microsoft.com/office/powerpoint/2010/main" val="1329573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6" presetID="2" presetClass="entr" presetSubtype="2"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 calcmode="lin" valueType="num">
                                      <p:cBhvr additive="base">
                                        <p:cTn id="3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36" fill="hold">
                            <p:stCondLst>
                              <p:cond delay="500"/>
                            </p:stCondLst>
                            <p:childTnLst>
                              <p:par>
                                <p:cTn id="37" presetID="16" presetClass="entr" presetSubtype="21" fill="hold" nodeType="after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barn(inVertical)">
                                      <p:cBhvr>
                                        <p:cTn id="39" dur="500"/>
                                        <p:tgtEl>
                                          <p:spTgt spid="4"/>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
                                            <p:txEl>
                                              <p:pRg st="4" end="4"/>
                                            </p:txEl>
                                          </p:spTgt>
                                        </p:tgtEl>
                                        <p:attrNameLst>
                                          <p:attrName>style.visibility</p:attrName>
                                        </p:attrNameLst>
                                      </p:cBhvr>
                                      <p:to>
                                        <p:strVal val="visible"/>
                                      </p:to>
                                    </p:set>
                                    <p:anim calcmode="lin" valueType="num">
                                      <p:cBhvr additive="base">
                                        <p:cTn id="4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anim calcmode="lin" valueType="num">
                                      <p:cBhvr additive="base">
                                        <p:cTn id="5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 calcmode="lin" valueType="num">
                                      <p:cBhvr additive="base">
                                        <p:cTn id="5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F9DAC-D474-33B1-B47B-C4AD750B92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230223-A226-086E-C727-03E74635D740}"/>
              </a:ext>
            </a:extLst>
          </p:cNvPr>
          <p:cNvSpPr>
            <a:spLocks noGrp="1"/>
          </p:cNvSpPr>
          <p:nvPr>
            <p:ph type="title"/>
          </p:nvPr>
        </p:nvSpPr>
        <p:spPr>
          <a:xfrm>
            <a:off x="619125" y="365125"/>
            <a:ext cx="10515600" cy="1006475"/>
          </a:xfrm>
        </p:spPr>
        <p:txBody>
          <a:bodyPr/>
          <a:lstStyle/>
          <a:p>
            <a:r>
              <a:rPr lang="en-US" dirty="0"/>
              <a:t>Cervical Dysplasia </a:t>
            </a:r>
            <a:r>
              <a:rPr lang="en-US" dirty="0" err="1"/>
              <a:t>cont</a:t>
            </a:r>
            <a:endParaRPr lang="en-US" dirty="0"/>
          </a:p>
        </p:txBody>
      </p:sp>
      <p:sp>
        <p:nvSpPr>
          <p:cNvPr id="3" name="Content Placeholder 2">
            <a:extLst>
              <a:ext uri="{FF2B5EF4-FFF2-40B4-BE49-F238E27FC236}">
                <a16:creationId xmlns:a16="http://schemas.microsoft.com/office/drawing/2014/main" id="{232CF76E-70DC-421B-D612-E078E250E5F3}"/>
              </a:ext>
            </a:extLst>
          </p:cNvPr>
          <p:cNvSpPr>
            <a:spLocks noGrp="1"/>
          </p:cNvSpPr>
          <p:nvPr>
            <p:ph idx="1"/>
          </p:nvPr>
        </p:nvSpPr>
        <p:spPr>
          <a:xfrm>
            <a:off x="495300" y="1514475"/>
            <a:ext cx="11449049" cy="5178425"/>
          </a:xfrm>
        </p:spPr>
        <p:txBody>
          <a:bodyPr>
            <a:normAutofit/>
          </a:bodyPr>
          <a:lstStyle/>
          <a:p>
            <a:pPr lvl="1"/>
            <a:r>
              <a:rPr lang="en-US" dirty="0" err="1"/>
              <a:t>Surveillanced</a:t>
            </a:r>
            <a:r>
              <a:rPr lang="en-US" dirty="0"/>
              <a:t> with HPV testing &amp; cervical cytology sampling (</a:t>
            </a:r>
            <a:r>
              <a:rPr lang="en-US" dirty="0" err="1"/>
              <a:t>ie</a:t>
            </a:r>
            <a:r>
              <a:rPr lang="en-US" dirty="0"/>
              <a:t> Pap Smear)</a:t>
            </a:r>
          </a:p>
          <a:p>
            <a:pPr lvl="2"/>
            <a:r>
              <a:rPr lang="en-US" dirty="0"/>
              <a:t>Results classified via Bethesda Classification System</a:t>
            </a:r>
          </a:p>
          <a:p>
            <a:pPr lvl="1"/>
            <a:endParaRPr lang="en-US" dirty="0"/>
          </a:p>
          <a:p>
            <a:pPr lvl="1"/>
            <a:endParaRPr lang="en-US" dirty="0"/>
          </a:p>
        </p:txBody>
      </p:sp>
      <p:pic>
        <p:nvPicPr>
          <p:cNvPr id="9" name="Picture 8" descr="Diagram illustrating progression of Cervical Intraepithelial Neoplasia (CIN) from normal to CIN 3 stages, showing increasing abnormality in cervical cells on Pap smear and corresponding tissue layers. Four panels display squamous and basal cells with color-coded nuclei, highlighting cellular changes and density increase as CIN severity advances.">
            <a:extLst>
              <a:ext uri="{FF2B5EF4-FFF2-40B4-BE49-F238E27FC236}">
                <a16:creationId xmlns:a16="http://schemas.microsoft.com/office/drawing/2014/main" id="{455FE49A-2945-73A7-EB1E-15837BB319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7011" y="2386028"/>
            <a:ext cx="6357978" cy="3782997"/>
          </a:xfrm>
          <a:prstGeom prst="rect">
            <a:avLst/>
          </a:prstGeom>
        </p:spPr>
      </p:pic>
    </p:spTree>
    <p:extLst>
      <p:ext uri="{BB962C8B-B14F-4D97-AF65-F5344CB8AC3E}">
        <p14:creationId xmlns:p14="http://schemas.microsoft.com/office/powerpoint/2010/main" val="29262401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ables showing the progression of the Bethesda classification nominclauture starting simply with normal vs carcinoma in situ vs invasive and transitioning to more description terminology within the carcinoma in situ category (mild vs moderate vs severe dysplasia) then (CIN I vs CIN II vs CIN III).">
            <a:extLst>
              <a:ext uri="{FF2B5EF4-FFF2-40B4-BE49-F238E27FC236}">
                <a16:creationId xmlns:a16="http://schemas.microsoft.com/office/drawing/2014/main" id="{04301ED8-A3B3-2BFD-6867-6D4A04BE0EB8}"/>
              </a:ext>
            </a:extLst>
          </p:cNvPr>
          <p:cNvPicPr>
            <a:picLocks noChangeAspect="1"/>
          </p:cNvPicPr>
          <p:nvPr/>
        </p:nvPicPr>
        <p:blipFill>
          <a:blip r:embed="rId2"/>
          <a:stretch>
            <a:fillRect/>
          </a:stretch>
        </p:blipFill>
        <p:spPr>
          <a:xfrm>
            <a:off x="85726" y="75240"/>
            <a:ext cx="5325218" cy="2381582"/>
          </a:xfrm>
          <a:prstGeom prst="rect">
            <a:avLst/>
          </a:prstGeom>
        </p:spPr>
      </p:pic>
      <p:sp>
        <p:nvSpPr>
          <p:cNvPr id="17" name="Arrow: Right 16" descr="Arrow pointing from 1 panel to the next illustrating the progression of the bethesda classification nominclature over time.">
            <a:extLst>
              <a:ext uri="{FF2B5EF4-FFF2-40B4-BE49-F238E27FC236}">
                <a16:creationId xmlns:a16="http://schemas.microsoft.com/office/drawing/2014/main" id="{45C2F51B-533F-5404-6B62-2DD95B10F7BA}"/>
              </a:ext>
            </a:extLst>
          </p:cNvPr>
          <p:cNvSpPr/>
          <p:nvPr/>
        </p:nvSpPr>
        <p:spPr>
          <a:xfrm>
            <a:off x="5758233" y="751190"/>
            <a:ext cx="1132733" cy="4762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ables showing the progression of the Bethesda classification nominclauture starting simply with normal vs carcinoma in situ vs invasive and transitioning to more description terminology within the carcinoma in situ category (mild vs moderate vs severe dysplasia) then (CIN I vs CIN II vs CIN III).">
            <a:extLst>
              <a:ext uri="{FF2B5EF4-FFF2-40B4-BE49-F238E27FC236}">
                <a16:creationId xmlns:a16="http://schemas.microsoft.com/office/drawing/2014/main" id="{DF087288-8FEC-DF0B-B12A-918A13D6D47B}"/>
              </a:ext>
            </a:extLst>
          </p:cNvPr>
          <p:cNvPicPr>
            <a:picLocks noChangeAspect="1"/>
          </p:cNvPicPr>
          <p:nvPr/>
        </p:nvPicPr>
        <p:blipFill>
          <a:blip r:embed="rId3"/>
          <a:stretch>
            <a:fillRect/>
          </a:stretch>
        </p:blipFill>
        <p:spPr>
          <a:xfrm>
            <a:off x="7095425" y="50939"/>
            <a:ext cx="5010849" cy="2353003"/>
          </a:xfrm>
          <a:prstGeom prst="rect">
            <a:avLst/>
          </a:prstGeom>
        </p:spPr>
      </p:pic>
      <p:sp>
        <p:nvSpPr>
          <p:cNvPr id="19" name="Arrow: Right 18" descr="Arrow pointing from 1 panel to the next illustrating the progression of the bethesda classification nominclature over time.">
            <a:extLst>
              <a:ext uri="{FF2B5EF4-FFF2-40B4-BE49-F238E27FC236}">
                <a16:creationId xmlns:a16="http://schemas.microsoft.com/office/drawing/2014/main" id="{9B1CA1BE-9673-7695-AE82-D8CE81D11680}"/>
              </a:ext>
            </a:extLst>
          </p:cNvPr>
          <p:cNvSpPr/>
          <p:nvPr/>
        </p:nvSpPr>
        <p:spPr>
          <a:xfrm rot="8067840">
            <a:off x="10736560" y="2817953"/>
            <a:ext cx="1132733" cy="4762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ables showing the progression of the Bethesda classification nominclauture starting simply with normal vs carcinoma in situ vs invasive and transitioning to more description terminology within the carcinoma in situ category (mild vs moderate vs severe dysplasia) then (CIN I vs CIN II vs CIN III).">
            <a:extLst>
              <a:ext uri="{FF2B5EF4-FFF2-40B4-BE49-F238E27FC236}">
                <a16:creationId xmlns:a16="http://schemas.microsoft.com/office/drawing/2014/main" id="{25085AAB-86D6-DE4D-53E3-7099818CE231}"/>
              </a:ext>
            </a:extLst>
          </p:cNvPr>
          <p:cNvPicPr>
            <a:picLocks noChangeAspect="1"/>
          </p:cNvPicPr>
          <p:nvPr/>
        </p:nvPicPr>
        <p:blipFill>
          <a:blip r:embed="rId4"/>
          <a:stretch>
            <a:fillRect/>
          </a:stretch>
        </p:blipFill>
        <p:spPr>
          <a:xfrm>
            <a:off x="6324600" y="3010665"/>
            <a:ext cx="4521549" cy="3774747"/>
          </a:xfrm>
          <a:prstGeom prst="rect">
            <a:avLst/>
          </a:prstGeom>
        </p:spPr>
      </p:pic>
      <p:sp>
        <p:nvSpPr>
          <p:cNvPr id="22" name="Oval 21" descr="Circle highlighting CIN II which lacks diagnostic reproducability of pathologists.">
            <a:extLst>
              <a:ext uri="{FF2B5EF4-FFF2-40B4-BE49-F238E27FC236}">
                <a16:creationId xmlns:a16="http://schemas.microsoft.com/office/drawing/2014/main" id="{363E594C-E889-BB57-66E9-F792AAD85789}"/>
              </a:ext>
            </a:extLst>
          </p:cNvPr>
          <p:cNvSpPr/>
          <p:nvPr/>
        </p:nvSpPr>
        <p:spPr>
          <a:xfrm>
            <a:off x="8290099" y="5829300"/>
            <a:ext cx="590550" cy="619125"/>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descr="Arrow pointing from 1 panel to the next illustrating the progression of the bethesda classification nominclature over time.">
            <a:extLst>
              <a:ext uri="{FF2B5EF4-FFF2-40B4-BE49-F238E27FC236}">
                <a16:creationId xmlns:a16="http://schemas.microsoft.com/office/drawing/2014/main" id="{EFA4337F-C941-74B0-6A13-CAEF3BE5628D}"/>
              </a:ext>
            </a:extLst>
          </p:cNvPr>
          <p:cNvSpPr/>
          <p:nvPr/>
        </p:nvSpPr>
        <p:spPr>
          <a:xfrm rot="10800000">
            <a:off x="5069864" y="4898038"/>
            <a:ext cx="1132733" cy="4762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Content Placeholder 10" descr="Tables showing the progression of the Bethesda classification nominclauture starting simply with normal vs carcinoma in situ vs invasive and transitioning to more description terminology within the carcinoma in situ category (mild vs moderate vs severe dysplasia) then (CIN I vs CIN II vs CIN III).">
            <a:extLst>
              <a:ext uri="{FF2B5EF4-FFF2-40B4-BE49-F238E27FC236}">
                <a16:creationId xmlns:a16="http://schemas.microsoft.com/office/drawing/2014/main" id="{A3943E25-006C-2A11-471B-147093D1FB68}"/>
              </a:ext>
            </a:extLst>
          </p:cNvPr>
          <p:cNvPicPr>
            <a:picLocks noChangeAspect="1"/>
          </p:cNvPicPr>
          <p:nvPr/>
        </p:nvPicPr>
        <p:blipFill>
          <a:blip r:embed="rId5"/>
          <a:stretch>
            <a:fillRect/>
          </a:stretch>
        </p:blipFill>
        <p:spPr>
          <a:xfrm>
            <a:off x="85726" y="2781179"/>
            <a:ext cx="4862135" cy="4001581"/>
          </a:xfrm>
          <a:prstGeom prst="rect">
            <a:avLst/>
          </a:prstGeom>
        </p:spPr>
      </p:pic>
      <p:sp>
        <p:nvSpPr>
          <p:cNvPr id="2" name="Title 1">
            <a:extLst>
              <a:ext uri="{FF2B5EF4-FFF2-40B4-BE49-F238E27FC236}">
                <a16:creationId xmlns:a16="http://schemas.microsoft.com/office/drawing/2014/main" id="{AAFEDDD0-336D-7FA1-65DA-25A81991533A}"/>
              </a:ext>
            </a:extLst>
          </p:cNvPr>
          <p:cNvSpPr>
            <a:spLocks noGrp="1"/>
          </p:cNvSpPr>
          <p:nvPr>
            <p:ph type="title"/>
          </p:nvPr>
        </p:nvSpPr>
        <p:spPr>
          <a:xfrm>
            <a:off x="5133269" y="1737982"/>
            <a:ext cx="2350218" cy="1325563"/>
          </a:xfrm>
        </p:spPr>
        <p:txBody>
          <a:bodyPr>
            <a:normAutofit/>
          </a:bodyPr>
          <a:lstStyle/>
          <a:p>
            <a:r>
              <a:rPr lang="en-US" dirty="0"/>
              <a:t>Bethesda</a:t>
            </a:r>
            <a:br>
              <a:rPr lang="en-US" dirty="0"/>
            </a:br>
            <a:r>
              <a:rPr lang="en-US" dirty="0"/>
              <a:t>evolution</a:t>
            </a:r>
          </a:p>
        </p:txBody>
      </p:sp>
    </p:spTree>
    <p:extLst>
      <p:ext uri="{BB962C8B-B14F-4D97-AF65-F5344CB8AC3E}">
        <p14:creationId xmlns:p14="http://schemas.microsoft.com/office/powerpoint/2010/main" val="1464433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9"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0-#ppt_w/2"/>
                                          </p:val>
                                        </p:tav>
                                        <p:tav tm="100000">
                                          <p:val>
                                            <p:strVal val="#ppt_x"/>
                                          </p:val>
                                        </p:tav>
                                      </p:tavLst>
                                    </p:anim>
                                    <p:anim calcmode="lin" valueType="num">
                                      <p:cBhvr additive="base">
                                        <p:cTn id="20"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9"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0-#ppt_w/2"/>
                                          </p:val>
                                        </p:tav>
                                        <p:tav tm="100000">
                                          <p:val>
                                            <p:strVal val="#ppt_x"/>
                                          </p:val>
                                        </p:tav>
                                      </p:tavLst>
                                    </p:anim>
                                    <p:anim calcmode="lin" valueType="num">
                                      <p:cBhvr additive="base">
                                        <p:cTn id="26"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fill="hold"/>
                                        <p:tgtEl>
                                          <p:spTgt spid="22"/>
                                        </p:tgtEl>
                                        <p:attrNameLst>
                                          <p:attrName>ppt_x</p:attrName>
                                        </p:attrNameLst>
                                      </p:cBhvr>
                                      <p:tavLst>
                                        <p:tav tm="0">
                                          <p:val>
                                            <p:strVal val="#ppt_x"/>
                                          </p:val>
                                        </p:tav>
                                        <p:tav tm="100000">
                                          <p:val>
                                            <p:strVal val="#ppt_x"/>
                                          </p:val>
                                        </p:tav>
                                      </p:tavLst>
                                    </p:anim>
                                    <p:anim calcmode="lin" valueType="num">
                                      <p:cBhvr additive="base">
                                        <p:cTn id="3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DB0E8-D107-3270-7674-EDB30491592C}"/>
              </a:ext>
            </a:extLst>
          </p:cNvPr>
          <p:cNvSpPr>
            <a:spLocks noGrp="1"/>
          </p:cNvSpPr>
          <p:nvPr>
            <p:ph type="title"/>
          </p:nvPr>
        </p:nvSpPr>
        <p:spPr/>
        <p:txBody>
          <a:bodyPr/>
          <a:lstStyle/>
          <a:p>
            <a:r>
              <a:rPr lang="en-US" dirty="0" err="1"/>
              <a:t>Koilocytes</a:t>
            </a:r>
            <a:endParaRPr lang="en-US" dirty="0"/>
          </a:p>
        </p:txBody>
      </p:sp>
      <p:pic>
        <p:nvPicPr>
          <p:cNvPr id="8" name="Picture 7" descr="Diagram illustrating progression of cervical epithelial cells from normal epithelium to invasive carcinoma over months and years. It shows stages including HPV infection koilocytosis, CIN1, CIN2, CIN3, with color-coded cells transitioning from gray to pink, highlighting increasing abnormality and cancer development.">
            <a:extLst>
              <a:ext uri="{FF2B5EF4-FFF2-40B4-BE49-F238E27FC236}">
                <a16:creationId xmlns:a16="http://schemas.microsoft.com/office/drawing/2014/main" id="{3E159E11-A2AB-4177-AC54-37AE85B5E7BA}"/>
              </a:ext>
            </a:extLst>
          </p:cNvPr>
          <p:cNvPicPr>
            <a:picLocks noChangeAspect="1"/>
          </p:cNvPicPr>
          <p:nvPr/>
        </p:nvPicPr>
        <p:blipFill>
          <a:blip r:embed="rId2"/>
          <a:stretch>
            <a:fillRect/>
          </a:stretch>
        </p:blipFill>
        <p:spPr>
          <a:xfrm>
            <a:off x="1861545" y="2933475"/>
            <a:ext cx="8468907" cy="3219899"/>
          </a:xfrm>
          <a:prstGeom prst="rect">
            <a:avLst/>
          </a:prstGeom>
        </p:spPr>
      </p:pic>
      <p:sp>
        <p:nvSpPr>
          <p:cNvPr id="10" name="Content Placeholder 9">
            <a:extLst>
              <a:ext uri="{FF2B5EF4-FFF2-40B4-BE49-F238E27FC236}">
                <a16:creationId xmlns:a16="http://schemas.microsoft.com/office/drawing/2014/main" id="{0C8AF035-1FB6-6019-A238-62B43B80B7B6}"/>
              </a:ext>
            </a:extLst>
          </p:cNvPr>
          <p:cNvSpPr txBox="1">
            <a:spLocks noGrp="1"/>
          </p:cNvSpPr>
          <p:nvPr>
            <p:ph idx="1"/>
          </p:nvPr>
        </p:nvSpPr>
        <p:spPr>
          <a:xfrm>
            <a:off x="838199" y="1435100"/>
            <a:ext cx="10515600" cy="1774268"/>
          </a:xfrm>
          <a:prstGeom prst="rect">
            <a:avLst/>
          </a:prstGeom>
          <a:noFill/>
        </p:spPr>
        <p:txBody>
          <a:bodyPr wrap="square" rtlCol="0">
            <a:spAutoFit/>
          </a:bodyPr>
          <a:lstStyle/>
          <a:p>
            <a:r>
              <a:rPr lang="en-US" dirty="0"/>
              <a:t>HPV infected cells in which the HPV DNA is incorporated into the host cell DNA leading to precancerous changes; Enlarged nucleus and perinuclear halo</a:t>
            </a:r>
          </a:p>
          <a:p>
            <a:endParaRPr lang="en-US" dirty="0"/>
          </a:p>
        </p:txBody>
      </p:sp>
    </p:spTree>
    <p:extLst>
      <p:ext uri="{BB962C8B-B14F-4D97-AF65-F5344CB8AC3E}">
        <p14:creationId xmlns:p14="http://schemas.microsoft.com/office/powerpoint/2010/main" val="3774240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199818"/>
            <a:ext cx="10515600" cy="798338"/>
          </a:xfrm>
        </p:spPr>
        <p:txBody>
          <a:bodyPr/>
          <a:lstStyle/>
          <a:p>
            <a:r>
              <a:rPr lang="en-US" dirty="0"/>
              <a:t>P16 Stain helps differentiate CIN II</a:t>
            </a:r>
          </a:p>
        </p:txBody>
      </p:sp>
      <p:pic>
        <p:nvPicPr>
          <p:cNvPr id="10245" name="Picture 5" descr="Photomicrographs showing tissue samples stained with H&amp;E on left and IHC &quot;Block Negative&quot; p16 on right, used for histological and immunohistochemical analysis. H&amp;E panel displays cellular and structural details in purple and pink hues, while IHC panel highlights p16 protein expression with brown staining in specific cells against a lighter backgrou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526" y="881062"/>
            <a:ext cx="5340949" cy="4232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descr="Photomicrograph of immunohistochemistry staining labeled &quot;IHC 'Block Positive' p16&quot; showing a tissue section with a distinct layer of cells stained dark brown indicating positive p16 expression, contrasted against a lighter blue-stained area below. The image highlights strong nuclear and cytoplasmic p16 protein presence in the upper cell layer, suggesting cellular activity or pathology related to p16 mark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5475" y="893937"/>
            <a:ext cx="3280952" cy="421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descr="Flowchart illustrating immunostain results for p16 in CIN II cases, used to differentiate between HGSIL and LGSIL. Arrows indicate that positive p16 immunostain leads to HGSIL diagnosis, while negative results lead to LGSIL diagnosis.">
            <a:extLst>
              <a:ext uri="{FF2B5EF4-FFF2-40B4-BE49-F238E27FC236}">
                <a16:creationId xmlns:a16="http://schemas.microsoft.com/office/drawing/2014/main" id="{447D6B7A-4402-3D60-78B0-7FE0436B78E2}"/>
              </a:ext>
            </a:extLst>
          </p:cNvPr>
          <p:cNvPicPr>
            <a:picLocks noChangeAspect="1"/>
          </p:cNvPicPr>
          <p:nvPr/>
        </p:nvPicPr>
        <p:blipFill>
          <a:blip r:embed="rId4"/>
          <a:stretch>
            <a:fillRect/>
          </a:stretch>
        </p:blipFill>
        <p:spPr>
          <a:xfrm>
            <a:off x="5772150" y="4429125"/>
            <a:ext cx="6344240" cy="2229057"/>
          </a:xfrm>
          <a:prstGeom prst="rect">
            <a:avLst/>
          </a:prstGeom>
        </p:spPr>
      </p:pic>
    </p:spTree>
    <p:extLst>
      <p:ext uri="{BB962C8B-B14F-4D97-AF65-F5344CB8AC3E}">
        <p14:creationId xmlns:p14="http://schemas.microsoft.com/office/powerpoint/2010/main" val="23800346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2DCDD-5E9B-CA8F-BBF2-E66916200E33}"/>
              </a:ext>
            </a:extLst>
          </p:cNvPr>
          <p:cNvSpPr>
            <a:spLocks noGrp="1"/>
          </p:cNvSpPr>
          <p:nvPr>
            <p:ph type="title"/>
          </p:nvPr>
        </p:nvSpPr>
        <p:spPr>
          <a:xfrm>
            <a:off x="380356" y="500062"/>
            <a:ext cx="2409825" cy="1325563"/>
          </a:xfrm>
        </p:spPr>
        <p:txBody>
          <a:bodyPr>
            <a:normAutofit fontScale="90000"/>
          </a:bodyPr>
          <a:lstStyle/>
          <a:p>
            <a:r>
              <a:rPr lang="en-US" dirty="0"/>
              <a:t>Final Bethesda System</a:t>
            </a:r>
          </a:p>
        </p:txBody>
      </p:sp>
      <p:sp>
        <p:nvSpPr>
          <p:cNvPr id="6" name="TextBox 5">
            <a:extLst>
              <a:ext uri="{FF2B5EF4-FFF2-40B4-BE49-F238E27FC236}">
                <a16:creationId xmlns:a16="http://schemas.microsoft.com/office/drawing/2014/main" id="{629FA5F7-927A-6972-DB5F-EEC4F9EBB4E5}"/>
              </a:ext>
            </a:extLst>
          </p:cNvPr>
          <p:cNvSpPr txBox="1"/>
          <p:nvPr/>
        </p:nvSpPr>
        <p:spPr>
          <a:xfrm>
            <a:off x="266057" y="5032376"/>
            <a:ext cx="3810595" cy="1477328"/>
          </a:xfrm>
          <a:prstGeom prst="rect">
            <a:avLst/>
          </a:prstGeom>
          <a:noFill/>
        </p:spPr>
        <p:txBody>
          <a:bodyPr wrap="none" rtlCol="0">
            <a:spAutoFit/>
          </a:bodyPr>
          <a:lstStyle/>
          <a:p>
            <a:r>
              <a:rPr lang="en-US" dirty="0"/>
              <a:t>Lower </a:t>
            </a:r>
          </a:p>
          <a:p>
            <a:r>
              <a:rPr lang="en-US" dirty="0"/>
              <a:t>Anogenital </a:t>
            </a:r>
          </a:p>
          <a:p>
            <a:r>
              <a:rPr lang="en-US" dirty="0"/>
              <a:t>Squamous </a:t>
            </a:r>
          </a:p>
          <a:p>
            <a:r>
              <a:rPr lang="en-US" dirty="0"/>
              <a:t>Terminology</a:t>
            </a:r>
          </a:p>
          <a:p>
            <a:r>
              <a:rPr lang="en-US" dirty="0"/>
              <a:t>LAST Standardization Project in 2012</a:t>
            </a:r>
          </a:p>
        </p:txBody>
      </p:sp>
      <p:pic>
        <p:nvPicPr>
          <p:cNvPr id="5" name="Picture 4" descr="Tables showing the progression of the Bethesda classification nominclauture starting simply with normal vs carcinoma in situ vs invasive and transitioning to more description terminology within the carcinoma in situ category (mild vs moderate vs severe dysplasia) then (CIN I vs CIN II vs CIN III) then (LGSIL vs LGSIL p16 negative vs HGSIL p16 positive vs HGSIL)">
            <a:extLst>
              <a:ext uri="{FF2B5EF4-FFF2-40B4-BE49-F238E27FC236}">
                <a16:creationId xmlns:a16="http://schemas.microsoft.com/office/drawing/2014/main" id="{6597E3B3-4CE9-8B48-22C4-70E0729FFEDB}"/>
              </a:ext>
            </a:extLst>
          </p:cNvPr>
          <p:cNvPicPr>
            <a:picLocks noChangeAspect="1"/>
          </p:cNvPicPr>
          <p:nvPr/>
        </p:nvPicPr>
        <p:blipFill>
          <a:blip r:embed="rId2"/>
          <a:stretch>
            <a:fillRect/>
          </a:stretch>
        </p:blipFill>
        <p:spPr>
          <a:xfrm>
            <a:off x="2790181" y="227675"/>
            <a:ext cx="9221487" cy="6630325"/>
          </a:xfrm>
          <a:prstGeom prst="rect">
            <a:avLst/>
          </a:prstGeom>
        </p:spPr>
      </p:pic>
    </p:spTree>
    <p:extLst>
      <p:ext uri="{BB962C8B-B14F-4D97-AF65-F5344CB8AC3E}">
        <p14:creationId xmlns:p14="http://schemas.microsoft.com/office/powerpoint/2010/main" val="24940544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12" y="2209800"/>
            <a:ext cx="2705100" cy="2041588"/>
          </a:xfrm>
        </p:spPr>
        <p:txBody>
          <a:bodyPr>
            <a:noAutofit/>
          </a:bodyPr>
          <a:lstStyle/>
          <a:p>
            <a:r>
              <a:rPr lang="en-US" sz="3200" dirty="0"/>
              <a:t>Cervical Cancer Screening Guidelines</a:t>
            </a:r>
          </a:p>
        </p:txBody>
      </p:sp>
      <p:pic>
        <p:nvPicPr>
          <p:cNvPr id="4" name="Picture 3" descr="Table comparing cervical cancer screening guidelines for average-risk women from American Cancer Society, U.S. Preventive Services Task Force, and American College of Obstetricians and Gynecologists. It highlights differences in screening start age, methods, intervals, stopping age, post-hysterectomy screening, and HPV vaccination considerations using color-coded rows and detailed text entries.">
            <a:extLst>
              <a:ext uri="{FF2B5EF4-FFF2-40B4-BE49-F238E27FC236}">
                <a16:creationId xmlns:a16="http://schemas.microsoft.com/office/drawing/2014/main" id="{9C86074E-F144-106C-8F8E-5A51EBE352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0825" y="76200"/>
            <a:ext cx="9136063" cy="6728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543905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a:xfrm>
            <a:off x="952499" y="238125"/>
            <a:ext cx="10220325" cy="1143000"/>
          </a:xfrm>
        </p:spPr>
        <p:txBody>
          <a:bodyPr>
            <a:normAutofit/>
          </a:bodyPr>
          <a:lstStyle/>
          <a:p>
            <a:pPr eaLnBrk="1" hangingPunct="1"/>
            <a:r>
              <a:rPr lang="en-US" altLang="en-US" dirty="0"/>
              <a:t>HPV Screening &amp; Treatment of the cervix</a:t>
            </a:r>
          </a:p>
        </p:txBody>
      </p:sp>
      <p:sp>
        <p:nvSpPr>
          <p:cNvPr id="82947" name="Content Placeholder 1"/>
          <p:cNvSpPr>
            <a:spLocks noGrp="1"/>
          </p:cNvSpPr>
          <p:nvPr>
            <p:ph idx="1"/>
          </p:nvPr>
        </p:nvSpPr>
        <p:spPr>
          <a:xfrm>
            <a:off x="952499" y="1524000"/>
            <a:ext cx="10467975" cy="5181600"/>
          </a:xfrm>
        </p:spPr>
        <p:txBody>
          <a:bodyPr/>
          <a:lstStyle/>
          <a:p>
            <a:pPr eaLnBrk="1" hangingPunct="1"/>
            <a:r>
              <a:rPr lang="en-US" altLang="en-US" dirty="0"/>
              <a:t>Follow ASCCP 2019 recommendations (</a:t>
            </a:r>
            <a:r>
              <a:rPr lang="en-US" altLang="en-US" dirty="0">
                <a:sym typeface="Wingdings" panose="05000000000000000000" pitchFamily="2" charset="2"/>
              </a:rPr>
              <a:t>Get the App)</a:t>
            </a:r>
          </a:p>
          <a:p>
            <a:pPr lvl="1" eaLnBrk="1" hangingPunct="1"/>
            <a:endParaRPr lang="en-US" altLang="en-US" dirty="0">
              <a:sym typeface="Wingdings" panose="05000000000000000000" pitchFamily="2" charset="2"/>
            </a:endParaRPr>
          </a:p>
          <a:p>
            <a:r>
              <a:rPr lang="en-US" altLang="en-US" dirty="0"/>
              <a:t>Cervical Intraepithelial Neoplasm Treatments</a:t>
            </a:r>
          </a:p>
          <a:p>
            <a:pPr lvl="1"/>
            <a:r>
              <a:rPr lang="en-US" altLang="en-US" sz="2100" dirty="0"/>
              <a:t>Monitoring (</a:t>
            </a:r>
            <a:r>
              <a:rPr lang="en-US" altLang="en-US" sz="2100" dirty="0" err="1"/>
              <a:t>ie</a:t>
            </a:r>
            <a:r>
              <a:rPr lang="en-US" altLang="en-US" sz="2100" dirty="0"/>
              <a:t> repeat pap more frequently and/or Colposcopy)</a:t>
            </a:r>
          </a:p>
          <a:p>
            <a:pPr lvl="1"/>
            <a:r>
              <a:rPr lang="en-US" altLang="en-US" sz="2100" dirty="0"/>
              <a:t>Cryotherapy (fallen out of favor)</a:t>
            </a:r>
          </a:p>
          <a:p>
            <a:pPr lvl="1"/>
            <a:r>
              <a:rPr lang="en-US" altLang="en-US" sz="2100" dirty="0"/>
              <a:t>LEEP</a:t>
            </a:r>
          </a:p>
          <a:p>
            <a:pPr lvl="1"/>
            <a:r>
              <a:rPr lang="en-US" altLang="en-US" sz="2100" dirty="0"/>
              <a:t>CONE</a:t>
            </a:r>
          </a:p>
          <a:p>
            <a:pPr lvl="1"/>
            <a:r>
              <a:rPr lang="en-US" altLang="en-US" sz="2100" dirty="0"/>
              <a:t>Hysterectomy</a:t>
            </a:r>
          </a:p>
          <a:p>
            <a:endParaRPr lang="en-US" altLang="en-US" dirty="0">
              <a:sym typeface="Wingdings" panose="05000000000000000000" pitchFamily="2" charset="2"/>
            </a:endParaRPr>
          </a:p>
          <a:p>
            <a:pPr lvl="2" eaLnBrk="1" hangingPunct="1"/>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82947">
                                            <p:txEl>
                                              <p:pRg st="0" end="0"/>
                                            </p:txEl>
                                          </p:spTgt>
                                        </p:tgtEl>
                                        <p:attrNameLst>
                                          <p:attrName>style.visibility</p:attrName>
                                        </p:attrNameLst>
                                      </p:cBhvr>
                                      <p:to>
                                        <p:strVal val="visible"/>
                                      </p:to>
                                    </p:set>
                                    <p:animEffect transition="in" filter="wipe(down)">
                                      <p:cBhvr>
                                        <p:cTn id="7" dur="290">
                                          <p:stCondLst>
                                            <p:cond delay="0"/>
                                          </p:stCondLst>
                                        </p:cTn>
                                        <p:tgtEl>
                                          <p:spTgt spid="82947">
                                            <p:txEl>
                                              <p:pRg st="0" end="0"/>
                                            </p:txEl>
                                          </p:spTgt>
                                        </p:tgtEl>
                                      </p:cBhvr>
                                    </p:animEffect>
                                    <p:anim calcmode="lin" valueType="num">
                                      <p:cBhvr>
                                        <p:cTn id="8" dur="911" tmFilter="0,0; 0.14,0.36; 0.43,0.73; 0.71,0.91; 1.0,1.0">
                                          <p:stCondLst>
                                            <p:cond delay="0"/>
                                          </p:stCondLst>
                                        </p:cTn>
                                        <p:tgtEl>
                                          <p:spTgt spid="82947">
                                            <p:txEl>
                                              <p:pRg st="0" end="0"/>
                                            </p:txEl>
                                          </p:spTgt>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82947">
                                            <p:txEl>
                                              <p:pRg st="0" end="0"/>
                                            </p:txEl>
                                          </p:spTgt>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82947">
                                            <p:txEl>
                                              <p:pRg st="0" end="0"/>
                                            </p:txEl>
                                          </p:spTgt>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82947">
                                            <p:txEl>
                                              <p:pRg st="0" end="0"/>
                                            </p:txEl>
                                          </p:spTgt>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82947">
                                            <p:txEl>
                                              <p:pRg st="0" end="0"/>
                                            </p:txEl>
                                          </p:spTgt>
                                        </p:tgtEl>
                                        <p:attrNameLst>
                                          <p:attrName>ppt_y</p:attrName>
                                        </p:attrNameLst>
                                      </p:cBhvr>
                                      <p:tavLst>
                                        <p:tav tm="0" fmla="#ppt_y-sin(pi*$)/81">
                                          <p:val>
                                            <p:fltVal val="0"/>
                                          </p:val>
                                        </p:tav>
                                        <p:tav tm="100000">
                                          <p:val>
                                            <p:fltVal val="1"/>
                                          </p:val>
                                        </p:tav>
                                      </p:tavLst>
                                    </p:anim>
                                    <p:animScale>
                                      <p:cBhvr>
                                        <p:cTn id="13" dur="13">
                                          <p:stCondLst>
                                            <p:cond delay="325"/>
                                          </p:stCondLst>
                                        </p:cTn>
                                        <p:tgtEl>
                                          <p:spTgt spid="82947">
                                            <p:txEl>
                                              <p:pRg st="0" end="0"/>
                                            </p:txEl>
                                          </p:spTgt>
                                        </p:tgtEl>
                                      </p:cBhvr>
                                      <p:to x="100000" y="60000"/>
                                    </p:animScale>
                                    <p:animScale>
                                      <p:cBhvr>
                                        <p:cTn id="14" dur="83" decel="50000">
                                          <p:stCondLst>
                                            <p:cond delay="338"/>
                                          </p:stCondLst>
                                        </p:cTn>
                                        <p:tgtEl>
                                          <p:spTgt spid="82947">
                                            <p:txEl>
                                              <p:pRg st="0" end="0"/>
                                            </p:txEl>
                                          </p:spTgt>
                                        </p:tgtEl>
                                      </p:cBhvr>
                                      <p:to x="100000" y="100000"/>
                                    </p:animScale>
                                    <p:animScale>
                                      <p:cBhvr>
                                        <p:cTn id="15" dur="13">
                                          <p:stCondLst>
                                            <p:cond delay="656"/>
                                          </p:stCondLst>
                                        </p:cTn>
                                        <p:tgtEl>
                                          <p:spTgt spid="82947">
                                            <p:txEl>
                                              <p:pRg st="0" end="0"/>
                                            </p:txEl>
                                          </p:spTgt>
                                        </p:tgtEl>
                                      </p:cBhvr>
                                      <p:to x="100000" y="80000"/>
                                    </p:animScale>
                                    <p:animScale>
                                      <p:cBhvr>
                                        <p:cTn id="16" dur="83" decel="50000">
                                          <p:stCondLst>
                                            <p:cond delay="669"/>
                                          </p:stCondLst>
                                        </p:cTn>
                                        <p:tgtEl>
                                          <p:spTgt spid="82947">
                                            <p:txEl>
                                              <p:pRg st="0" end="0"/>
                                            </p:txEl>
                                          </p:spTgt>
                                        </p:tgtEl>
                                      </p:cBhvr>
                                      <p:to x="100000" y="100000"/>
                                    </p:animScale>
                                    <p:animScale>
                                      <p:cBhvr>
                                        <p:cTn id="17" dur="13">
                                          <p:stCondLst>
                                            <p:cond delay="821"/>
                                          </p:stCondLst>
                                        </p:cTn>
                                        <p:tgtEl>
                                          <p:spTgt spid="82947">
                                            <p:txEl>
                                              <p:pRg st="0" end="0"/>
                                            </p:txEl>
                                          </p:spTgt>
                                        </p:tgtEl>
                                      </p:cBhvr>
                                      <p:to x="100000" y="90000"/>
                                    </p:animScale>
                                    <p:animScale>
                                      <p:cBhvr>
                                        <p:cTn id="18" dur="83" decel="50000">
                                          <p:stCondLst>
                                            <p:cond delay="834"/>
                                          </p:stCondLst>
                                        </p:cTn>
                                        <p:tgtEl>
                                          <p:spTgt spid="82947">
                                            <p:txEl>
                                              <p:pRg st="0" end="0"/>
                                            </p:txEl>
                                          </p:spTgt>
                                        </p:tgtEl>
                                      </p:cBhvr>
                                      <p:to x="100000" y="100000"/>
                                    </p:animScale>
                                    <p:animScale>
                                      <p:cBhvr>
                                        <p:cTn id="19" dur="13">
                                          <p:stCondLst>
                                            <p:cond delay="904"/>
                                          </p:stCondLst>
                                        </p:cTn>
                                        <p:tgtEl>
                                          <p:spTgt spid="82947">
                                            <p:txEl>
                                              <p:pRg st="0" end="0"/>
                                            </p:txEl>
                                          </p:spTgt>
                                        </p:tgtEl>
                                      </p:cBhvr>
                                      <p:to x="100000" y="95000"/>
                                    </p:animScale>
                                    <p:animScale>
                                      <p:cBhvr>
                                        <p:cTn id="20" dur="83" decel="50000">
                                          <p:stCondLst>
                                            <p:cond delay="917"/>
                                          </p:stCondLst>
                                        </p:cTn>
                                        <p:tgtEl>
                                          <p:spTgt spid="82947">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82947">
                                            <p:txEl>
                                              <p:pRg st="2" end="2"/>
                                            </p:txEl>
                                          </p:spTgt>
                                        </p:tgtEl>
                                        <p:attrNameLst>
                                          <p:attrName>style.visibility</p:attrName>
                                        </p:attrNameLst>
                                      </p:cBhvr>
                                      <p:to>
                                        <p:strVal val="visible"/>
                                      </p:to>
                                    </p:set>
                                    <p:animEffect transition="in" filter="wipe(down)">
                                      <p:cBhvr>
                                        <p:cTn id="25" dur="290">
                                          <p:stCondLst>
                                            <p:cond delay="0"/>
                                          </p:stCondLst>
                                        </p:cTn>
                                        <p:tgtEl>
                                          <p:spTgt spid="82947">
                                            <p:txEl>
                                              <p:pRg st="2" end="2"/>
                                            </p:txEl>
                                          </p:spTgt>
                                        </p:tgtEl>
                                      </p:cBhvr>
                                    </p:animEffect>
                                    <p:anim calcmode="lin" valueType="num">
                                      <p:cBhvr>
                                        <p:cTn id="26" dur="911" tmFilter="0,0; 0.14,0.36; 0.43,0.73; 0.71,0.91; 1.0,1.0">
                                          <p:stCondLst>
                                            <p:cond delay="0"/>
                                          </p:stCondLst>
                                        </p:cTn>
                                        <p:tgtEl>
                                          <p:spTgt spid="82947">
                                            <p:txEl>
                                              <p:pRg st="2" end="2"/>
                                            </p:txEl>
                                          </p:spTgt>
                                        </p:tgtEl>
                                        <p:attrNameLst>
                                          <p:attrName>ppt_x</p:attrName>
                                        </p:attrNameLst>
                                      </p:cBhvr>
                                      <p:tavLst>
                                        <p:tav tm="0">
                                          <p:val>
                                            <p:strVal val="#ppt_x-0.25"/>
                                          </p:val>
                                        </p:tav>
                                        <p:tav tm="100000">
                                          <p:val>
                                            <p:strVal val="#ppt_x"/>
                                          </p:val>
                                        </p:tav>
                                      </p:tavLst>
                                    </p:anim>
                                    <p:anim calcmode="lin" valueType="num">
                                      <p:cBhvr>
                                        <p:cTn id="27" dur="332" tmFilter="0.0,0.0; 0.25,0.07; 0.50,0.2; 0.75,0.467; 1.0,1.0">
                                          <p:stCondLst>
                                            <p:cond delay="0"/>
                                          </p:stCondLst>
                                        </p:cTn>
                                        <p:tgtEl>
                                          <p:spTgt spid="82947">
                                            <p:txEl>
                                              <p:pRg st="2" end="2"/>
                                            </p:txEl>
                                          </p:spTgt>
                                        </p:tgtEl>
                                        <p:attrNameLst>
                                          <p:attrName>ppt_y</p:attrName>
                                        </p:attrNameLst>
                                      </p:cBhvr>
                                      <p:tavLst>
                                        <p:tav tm="0" fmla="#ppt_y-sin(pi*$)/3">
                                          <p:val>
                                            <p:fltVal val="0.5"/>
                                          </p:val>
                                        </p:tav>
                                        <p:tav tm="100000">
                                          <p:val>
                                            <p:fltVal val="1"/>
                                          </p:val>
                                        </p:tav>
                                      </p:tavLst>
                                    </p:anim>
                                    <p:anim calcmode="lin" valueType="num">
                                      <p:cBhvr>
                                        <p:cTn id="28" dur="332" tmFilter="0, 0; 0.125,0.2665; 0.25,0.4; 0.375,0.465; 0.5,0.5;  0.625,0.535; 0.75,0.6; 0.875,0.7335; 1,1">
                                          <p:stCondLst>
                                            <p:cond delay="332"/>
                                          </p:stCondLst>
                                        </p:cTn>
                                        <p:tgtEl>
                                          <p:spTgt spid="82947">
                                            <p:txEl>
                                              <p:pRg st="2" end="2"/>
                                            </p:txEl>
                                          </p:spTgt>
                                        </p:tgtEl>
                                        <p:attrNameLst>
                                          <p:attrName>ppt_y</p:attrName>
                                        </p:attrNameLst>
                                      </p:cBhvr>
                                      <p:tavLst>
                                        <p:tav tm="0" fmla="#ppt_y-sin(pi*$)/9">
                                          <p:val>
                                            <p:fltVal val="0"/>
                                          </p:val>
                                        </p:tav>
                                        <p:tav tm="100000">
                                          <p:val>
                                            <p:fltVal val="1"/>
                                          </p:val>
                                        </p:tav>
                                      </p:tavLst>
                                    </p:anim>
                                    <p:anim calcmode="lin" valueType="num">
                                      <p:cBhvr>
                                        <p:cTn id="29" dur="166" tmFilter="0, 0; 0.125,0.2665; 0.25,0.4; 0.375,0.465; 0.5,0.5;  0.625,0.535; 0.75,0.6; 0.875,0.7335; 1,1">
                                          <p:stCondLst>
                                            <p:cond delay="662"/>
                                          </p:stCondLst>
                                        </p:cTn>
                                        <p:tgtEl>
                                          <p:spTgt spid="82947">
                                            <p:txEl>
                                              <p:pRg st="2" end="2"/>
                                            </p:txEl>
                                          </p:spTgt>
                                        </p:tgtEl>
                                        <p:attrNameLst>
                                          <p:attrName>ppt_y</p:attrName>
                                        </p:attrNameLst>
                                      </p:cBhvr>
                                      <p:tavLst>
                                        <p:tav tm="0" fmla="#ppt_y-sin(pi*$)/27">
                                          <p:val>
                                            <p:fltVal val="0"/>
                                          </p:val>
                                        </p:tav>
                                        <p:tav tm="100000">
                                          <p:val>
                                            <p:fltVal val="1"/>
                                          </p:val>
                                        </p:tav>
                                      </p:tavLst>
                                    </p:anim>
                                    <p:anim calcmode="lin" valueType="num">
                                      <p:cBhvr>
                                        <p:cTn id="30" dur="82" tmFilter="0, 0; 0.125,0.2665; 0.25,0.4; 0.375,0.465; 0.5,0.5;  0.625,0.535; 0.75,0.6; 0.875,0.7335; 1,1">
                                          <p:stCondLst>
                                            <p:cond delay="828"/>
                                          </p:stCondLst>
                                        </p:cTn>
                                        <p:tgtEl>
                                          <p:spTgt spid="82947">
                                            <p:txEl>
                                              <p:pRg st="2" end="2"/>
                                            </p:txEl>
                                          </p:spTgt>
                                        </p:tgtEl>
                                        <p:attrNameLst>
                                          <p:attrName>ppt_y</p:attrName>
                                        </p:attrNameLst>
                                      </p:cBhvr>
                                      <p:tavLst>
                                        <p:tav tm="0" fmla="#ppt_y-sin(pi*$)/81">
                                          <p:val>
                                            <p:fltVal val="0"/>
                                          </p:val>
                                        </p:tav>
                                        <p:tav tm="100000">
                                          <p:val>
                                            <p:fltVal val="1"/>
                                          </p:val>
                                        </p:tav>
                                      </p:tavLst>
                                    </p:anim>
                                    <p:animScale>
                                      <p:cBhvr>
                                        <p:cTn id="31" dur="13">
                                          <p:stCondLst>
                                            <p:cond delay="325"/>
                                          </p:stCondLst>
                                        </p:cTn>
                                        <p:tgtEl>
                                          <p:spTgt spid="82947">
                                            <p:txEl>
                                              <p:pRg st="2" end="2"/>
                                            </p:txEl>
                                          </p:spTgt>
                                        </p:tgtEl>
                                      </p:cBhvr>
                                      <p:to x="100000" y="60000"/>
                                    </p:animScale>
                                    <p:animScale>
                                      <p:cBhvr>
                                        <p:cTn id="32" dur="83" decel="50000">
                                          <p:stCondLst>
                                            <p:cond delay="338"/>
                                          </p:stCondLst>
                                        </p:cTn>
                                        <p:tgtEl>
                                          <p:spTgt spid="82947">
                                            <p:txEl>
                                              <p:pRg st="2" end="2"/>
                                            </p:txEl>
                                          </p:spTgt>
                                        </p:tgtEl>
                                      </p:cBhvr>
                                      <p:to x="100000" y="100000"/>
                                    </p:animScale>
                                    <p:animScale>
                                      <p:cBhvr>
                                        <p:cTn id="33" dur="13">
                                          <p:stCondLst>
                                            <p:cond delay="656"/>
                                          </p:stCondLst>
                                        </p:cTn>
                                        <p:tgtEl>
                                          <p:spTgt spid="82947">
                                            <p:txEl>
                                              <p:pRg st="2" end="2"/>
                                            </p:txEl>
                                          </p:spTgt>
                                        </p:tgtEl>
                                      </p:cBhvr>
                                      <p:to x="100000" y="80000"/>
                                    </p:animScale>
                                    <p:animScale>
                                      <p:cBhvr>
                                        <p:cTn id="34" dur="83" decel="50000">
                                          <p:stCondLst>
                                            <p:cond delay="669"/>
                                          </p:stCondLst>
                                        </p:cTn>
                                        <p:tgtEl>
                                          <p:spTgt spid="82947">
                                            <p:txEl>
                                              <p:pRg st="2" end="2"/>
                                            </p:txEl>
                                          </p:spTgt>
                                        </p:tgtEl>
                                      </p:cBhvr>
                                      <p:to x="100000" y="100000"/>
                                    </p:animScale>
                                    <p:animScale>
                                      <p:cBhvr>
                                        <p:cTn id="35" dur="13">
                                          <p:stCondLst>
                                            <p:cond delay="821"/>
                                          </p:stCondLst>
                                        </p:cTn>
                                        <p:tgtEl>
                                          <p:spTgt spid="82947">
                                            <p:txEl>
                                              <p:pRg st="2" end="2"/>
                                            </p:txEl>
                                          </p:spTgt>
                                        </p:tgtEl>
                                      </p:cBhvr>
                                      <p:to x="100000" y="90000"/>
                                    </p:animScale>
                                    <p:animScale>
                                      <p:cBhvr>
                                        <p:cTn id="36" dur="83" decel="50000">
                                          <p:stCondLst>
                                            <p:cond delay="834"/>
                                          </p:stCondLst>
                                        </p:cTn>
                                        <p:tgtEl>
                                          <p:spTgt spid="82947">
                                            <p:txEl>
                                              <p:pRg st="2" end="2"/>
                                            </p:txEl>
                                          </p:spTgt>
                                        </p:tgtEl>
                                      </p:cBhvr>
                                      <p:to x="100000" y="100000"/>
                                    </p:animScale>
                                    <p:animScale>
                                      <p:cBhvr>
                                        <p:cTn id="37" dur="13">
                                          <p:stCondLst>
                                            <p:cond delay="904"/>
                                          </p:stCondLst>
                                        </p:cTn>
                                        <p:tgtEl>
                                          <p:spTgt spid="82947">
                                            <p:txEl>
                                              <p:pRg st="2" end="2"/>
                                            </p:txEl>
                                          </p:spTgt>
                                        </p:tgtEl>
                                      </p:cBhvr>
                                      <p:to x="100000" y="95000"/>
                                    </p:animScale>
                                    <p:animScale>
                                      <p:cBhvr>
                                        <p:cTn id="38" dur="83" decel="50000">
                                          <p:stCondLst>
                                            <p:cond delay="917"/>
                                          </p:stCondLst>
                                        </p:cTn>
                                        <p:tgtEl>
                                          <p:spTgt spid="82947">
                                            <p:txEl>
                                              <p:pRg st="2" end="2"/>
                                            </p:txEl>
                                          </p:spTgt>
                                        </p:tgtEl>
                                      </p:cBhvr>
                                      <p:to x="100000" y="100000"/>
                                    </p:animScale>
                                  </p:childTnLst>
                                </p:cTn>
                              </p:par>
                              <p:par>
                                <p:cTn id="39" presetID="26" presetClass="entr" presetSubtype="0" fill="hold" grpId="0" nodeType="withEffect">
                                  <p:stCondLst>
                                    <p:cond delay="0"/>
                                  </p:stCondLst>
                                  <p:childTnLst>
                                    <p:set>
                                      <p:cBhvr>
                                        <p:cTn id="40" dur="1" fill="hold">
                                          <p:stCondLst>
                                            <p:cond delay="0"/>
                                          </p:stCondLst>
                                        </p:cTn>
                                        <p:tgtEl>
                                          <p:spTgt spid="82947">
                                            <p:txEl>
                                              <p:pRg st="3" end="3"/>
                                            </p:txEl>
                                          </p:spTgt>
                                        </p:tgtEl>
                                        <p:attrNameLst>
                                          <p:attrName>style.visibility</p:attrName>
                                        </p:attrNameLst>
                                      </p:cBhvr>
                                      <p:to>
                                        <p:strVal val="visible"/>
                                      </p:to>
                                    </p:set>
                                    <p:animEffect transition="in" filter="wipe(down)">
                                      <p:cBhvr>
                                        <p:cTn id="41" dur="290">
                                          <p:stCondLst>
                                            <p:cond delay="0"/>
                                          </p:stCondLst>
                                        </p:cTn>
                                        <p:tgtEl>
                                          <p:spTgt spid="82947">
                                            <p:txEl>
                                              <p:pRg st="3" end="3"/>
                                            </p:txEl>
                                          </p:spTgt>
                                        </p:tgtEl>
                                      </p:cBhvr>
                                    </p:animEffect>
                                    <p:anim calcmode="lin" valueType="num">
                                      <p:cBhvr>
                                        <p:cTn id="42" dur="911" tmFilter="0,0; 0.14,0.36; 0.43,0.73; 0.71,0.91; 1.0,1.0">
                                          <p:stCondLst>
                                            <p:cond delay="0"/>
                                          </p:stCondLst>
                                        </p:cTn>
                                        <p:tgtEl>
                                          <p:spTgt spid="82947">
                                            <p:txEl>
                                              <p:pRg st="3" end="3"/>
                                            </p:txEl>
                                          </p:spTgt>
                                        </p:tgtEl>
                                        <p:attrNameLst>
                                          <p:attrName>ppt_x</p:attrName>
                                        </p:attrNameLst>
                                      </p:cBhvr>
                                      <p:tavLst>
                                        <p:tav tm="0">
                                          <p:val>
                                            <p:strVal val="#ppt_x-0.25"/>
                                          </p:val>
                                        </p:tav>
                                        <p:tav tm="100000">
                                          <p:val>
                                            <p:strVal val="#ppt_x"/>
                                          </p:val>
                                        </p:tav>
                                      </p:tavLst>
                                    </p:anim>
                                    <p:anim calcmode="lin" valueType="num">
                                      <p:cBhvr>
                                        <p:cTn id="43" dur="332" tmFilter="0.0,0.0; 0.25,0.07; 0.50,0.2; 0.75,0.467; 1.0,1.0">
                                          <p:stCondLst>
                                            <p:cond delay="0"/>
                                          </p:stCondLst>
                                        </p:cTn>
                                        <p:tgtEl>
                                          <p:spTgt spid="82947">
                                            <p:txEl>
                                              <p:pRg st="3" end="3"/>
                                            </p:txEl>
                                          </p:spTgt>
                                        </p:tgtEl>
                                        <p:attrNameLst>
                                          <p:attrName>ppt_y</p:attrName>
                                        </p:attrNameLst>
                                      </p:cBhvr>
                                      <p:tavLst>
                                        <p:tav tm="0" fmla="#ppt_y-sin(pi*$)/3">
                                          <p:val>
                                            <p:fltVal val="0.5"/>
                                          </p:val>
                                        </p:tav>
                                        <p:tav tm="100000">
                                          <p:val>
                                            <p:fltVal val="1"/>
                                          </p:val>
                                        </p:tav>
                                      </p:tavLst>
                                    </p:anim>
                                    <p:anim calcmode="lin" valueType="num">
                                      <p:cBhvr>
                                        <p:cTn id="44" dur="332" tmFilter="0, 0; 0.125,0.2665; 0.25,0.4; 0.375,0.465; 0.5,0.5;  0.625,0.535; 0.75,0.6; 0.875,0.7335; 1,1">
                                          <p:stCondLst>
                                            <p:cond delay="332"/>
                                          </p:stCondLst>
                                        </p:cTn>
                                        <p:tgtEl>
                                          <p:spTgt spid="82947">
                                            <p:txEl>
                                              <p:pRg st="3" end="3"/>
                                            </p:txEl>
                                          </p:spTgt>
                                        </p:tgtEl>
                                        <p:attrNameLst>
                                          <p:attrName>ppt_y</p:attrName>
                                        </p:attrNameLst>
                                      </p:cBhvr>
                                      <p:tavLst>
                                        <p:tav tm="0" fmla="#ppt_y-sin(pi*$)/9">
                                          <p:val>
                                            <p:fltVal val="0"/>
                                          </p:val>
                                        </p:tav>
                                        <p:tav tm="100000">
                                          <p:val>
                                            <p:fltVal val="1"/>
                                          </p:val>
                                        </p:tav>
                                      </p:tavLst>
                                    </p:anim>
                                    <p:anim calcmode="lin" valueType="num">
                                      <p:cBhvr>
                                        <p:cTn id="45" dur="166" tmFilter="0, 0; 0.125,0.2665; 0.25,0.4; 0.375,0.465; 0.5,0.5;  0.625,0.535; 0.75,0.6; 0.875,0.7335; 1,1">
                                          <p:stCondLst>
                                            <p:cond delay="662"/>
                                          </p:stCondLst>
                                        </p:cTn>
                                        <p:tgtEl>
                                          <p:spTgt spid="82947">
                                            <p:txEl>
                                              <p:pRg st="3" end="3"/>
                                            </p:txEl>
                                          </p:spTgt>
                                        </p:tgtEl>
                                        <p:attrNameLst>
                                          <p:attrName>ppt_y</p:attrName>
                                        </p:attrNameLst>
                                      </p:cBhvr>
                                      <p:tavLst>
                                        <p:tav tm="0" fmla="#ppt_y-sin(pi*$)/27">
                                          <p:val>
                                            <p:fltVal val="0"/>
                                          </p:val>
                                        </p:tav>
                                        <p:tav tm="100000">
                                          <p:val>
                                            <p:fltVal val="1"/>
                                          </p:val>
                                        </p:tav>
                                      </p:tavLst>
                                    </p:anim>
                                    <p:anim calcmode="lin" valueType="num">
                                      <p:cBhvr>
                                        <p:cTn id="46" dur="82" tmFilter="0, 0; 0.125,0.2665; 0.25,0.4; 0.375,0.465; 0.5,0.5;  0.625,0.535; 0.75,0.6; 0.875,0.7335; 1,1">
                                          <p:stCondLst>
                                            <p:cond delay="828"/>
                                          </p:stCondLst>
                                        </p:cTn>
                                        <p:tgtEl>
                                          <p:spTgt spid="82947">
                                            <p:txEl>
                                              <p:pRg st="3" end="3"/>
                                            </p:txEl>
                                          </p:spTgt>
                                        </p:tgtEl>
                                        <p:attrNameLst>
                                          <p:attrName>ppt_y</p:attrName>
                                        </p:attrNameLst>
                                      </p:cBhvr>
                                      <p:tavLst>
                                        <p:tav tm="0" fmla="#ppt_y-sin(pi*$)/81">
                                          <p:val>
                                            <p:fltVal val="0"/>
                                          </p:val>
                                        </p:tav>
                                        <p:tav tm="100000">
                                          <p:val>
                                            <p:fltVal val="1"/>
                                          </p:val>
                                        </p:tav>
                                      </p:tavLst>
                                    </p:anim>
                                    <p:animScale>
                                      <p:cBhvr>
                                        <p:cTn id="47" dur="13">
                                          <p:stCondLst>
                                            <p:cond delay="325"/>
                                          </p:stCondLst>
                                        </p:cTn>
                                        <p:tgtEl>
                                          <p:spTgt spid="82947">
                                            <p:txEl>
                                              <p:pRg st="3" end="3"/>
                                            </p:txEl>
                                          </p:spTgt>
                                        </p:tgtEl>
                                      </p:cBhvr>
                                      <p:to x="100000" y="60000"/>
                                    </p:animScale>
                                    <p:animScale>
                                      <p:cBhvr>
                                        <p:cTn id="48" dur="83" decel="50000">
                                          <p:stCondLst>
                                            <p:cond delay="338"/>
                                          </p:stCondLst>
                                        </p:cTn>
                                        <p:tgtEl>
                                          <p:spTgt spid="82947">
                                            <p:txEl>
                                              <p:pRg st="3" end="3"/>
                                            </p:txEl>
                                          </p:spTgt>
                                        </p:tgtEl>
                                      </p:cBhvr>
                                      <p:to x="100000" y="100000"/>
                                    </p:animScale>
                                    <p:animScale>
                                      <p:cBhvr>
                                        <p:cTn id="49" dur="13">
                                          <p:stCondLst>
                                            <p:cond delay="656"/>
                                          </p:stCondLst>
                                        </p:cTn>
                                        <p:tgtEl>
                                          <p:spTgt spid="82947">
                                            <p:txEl>
                                              <p:pRg st="3" end="3"/>
                                            </p:txEl>
                                          </p:spTgt>
                                        </p:tgtEl>
                                      </p:cBhvr>
                                      <p:to x="100000" y="80000"/>
                                    </p:animScale>
                                    <p:animScale>
                                      <p:cBhvr>
                                        <p:cTn id="50" dur="83" decel="50000">
                                          <p:stCondLst>
                                            <p:cond delay="669"/>
                                          </p:stCondLst>
                                        </p:cTn>
                                        <p:tgtEl>
                                          <p:spTgt spid="82947">
                                            <p:txEl>
                                              <p:pRg st="3" end="3"/>
                                            </p:txEl>
                                          </p:spTgt>
                                        </p:tgtEl>
                                      </p:cBhvr>
                                      <p:to x="100000" y="100000"/>
                                    </p:animScale>
                                    <p:animScale>
                                      <p:cBhvr>
                                        <p:cTn id="51" dur="13">
                                          <p:stCondLst>
                                            <p:cond delay="821"/>
                                          </p:stCondLst>
                                        </p:cTn>
                                        <p:tgtEl>
                                          <p:spTgt spid="82947">
                                            <p:txEl>
                                              <p:pRg st="3" end="3"/>
                                            </p:txEl>
                                          </p:spTgt>
                                        </p:tgtEl>
                                      </p:cBhvr>
                                      <p:to x="100000" y="90000"/>
                                    </p:animScale>
                                    <p:animScale>
                                      <p:cBhvr>
                                        <p:cTn id="52" dur="83" decel="50000">
                                          <p:stCondLst>
                                            <p:cond delay="834"/>
                                          </p:stCondLst>
                                        </p:cTn>
                                        <p:tgtEl>
                                          <p:spTgt spid="82947">
                                            <p:txEl>
                                              <p:pRg st="3" end="3"/>
                                            </p:txEl>
                                          </p:spTgt>
                                        </p:tgtEl>
                                      </p:cBhvr>
                                      <p:to x="100000" y="100000"/>
                                    </p:animScale>
                                    <p:animScale>
                                      <p:cBhvr>
                                        <p:cTn id="53" dur="13">
                                          <p:stCondLst>
                                            <p:cond delay="904"/>
                                          </p:stCondLst>
                                        </p:cTn>
                                        <p:tgtEl>
                                          <p:spTgt spid="82947">
                                            <p:txEl>
                                              <p:pRg st="3" end="3"/>
                                            </p:txEl>
                                          </p:spTgt>
                                        </p:tgtEl>
                                      </p:cBhvr>
                                      <p:to x="100000" y="95000"/>
                                    </p:animScale>
                                    <p:animScale>
                                      <p:cBhvr>
                                        <p:cTn id="54" dur="83" decel="50000">
                                          <p:stCondLst>
                                            <p:cond delay="917"/>
                                          </p:stCondLst>
                                        </p:cTn>
                                        <p:tgtEl>
                                          <p:spTgt spid="82947">
                                            <p:txEl>
                                              <p:pRg st="3" end="3"/>
                                            </p:txEl>
                                          </p:spTgt>
                                        </p:tgtEl>
                                      </p:cBhvr>
                                      <p:to x="100000" y="100000"/>
                                    </p:animScale>
                                  </p:childTnLst>
                                </p:cTn>
                              </p:par>
                              <p:par>
                                <p:cTn id="55" presetID="26" presetClass="entr" presetSubtype="0" fill="hold" grpId="0" nodeType="withEffect">
                                  <p:stCondLst>
                                    <p:cond delay="0"/>
                                  </p:stCondLst>
                                  <p:childTnLst>
                                    <p:set>
                                      <p:cBhvr>
                                        <p:cTn id="56" dur="1" fill="hold">
                                          <p:stCondLst>
                                            <p:cond delay="0"/>
                                          </p:stCondLst>
                                        </p:cTn>
                                        <p:tgtEl>
                                          <p:spTgt spid="82947">
                                            <p:txEl>
                                              <p:pRg st="4" end="4"/>
                                            </p:txEl>
                                          </p:spTgt>
                                        </p:tgtEl>
                                        <p:attrNameLst>
                                          <p:attrName>style.visibility</p:attrName>
                                        </p:attrNameLst>
                                      </p:cBhvr>
                                      <p:to>
                                        <p:strVal val="visible"/>
                                      </p:to>
                                    </p:set>
                                    <p:animEffect transition="in" filter="wipe(down)">
                                      <p:cBhvr>
                                        <p:cTn id="57" dur="290">
                                          <p:stCondLst>
                                            <p:cond delay="0"/>
                                          </p:stCondLst>
                                        </p:cTn>
                                        <p:tgtEl>
                                          <p:spTgt spid="82947">
                                            <p:txEl>
                                              <p:pRg st="4" end="4"/>
                                            </p:txEl>
                                          </p:spTgt>
                                        </p:tgtEl>
                                      </p:cBhvr>
                                    </p:animEffect>
                                    <p:anim calcmode="lin" valueType="num">
                                      <p:cBhvr>
                                        <p:cTn id="58" dur="911" tmFilter="0,0; 0.14,0.36; 0.43,0.73; 0.71,0.91; 1.0,1.0">
                                          <p:stCondLst>
                                            <p:cond delay="0"/>
                                          </p:stCondLst>
                                        </p:cTn>
                                        <p:tgtEl>
                                          <p:spTgt spid="82947">
                                            <p:txEl>
                                              <p:pRg st="4" end="4"/>
                                            </p:txEl>
                                          </p:spTgt>
                                        </p:tgtEl>
                                        <p:attrNameLst>
                                          <p:attrName>ppt_x</p:attrName>
                                        </p:attrNameLst>
                                      </p:cBhvr>
                                      <p:tavLst>
                                        <p:tav tm="0">
                                          <p:val>
                                            <p:strVal val="#ppt_x-0.25"/>
                                          </p:val>
                                        </p:tav>
                                        <p:tav tm="100000">
                                          <p:val>
                                            <p:strVal val="#ppt_x"/>
                                          </p:val>
                                        </p:tav>
                                      </p:tavLst>
                                    </p:anim>
                                    <p:anim calcmode="lin" valueType="num">
                                      <p:cBhvr>
                                        <p:cTn id="59" dur="332" tmFilter="0.0,0.0; 0.25,0.07; 0.50,0.2; 0.75,0.467; 1.0,1.0">
                                          <p:stCondLst>
                                            <p:cond delay="0"/>
                                          </p:stCondLst>
                                        </p:cTn>
                                        <p:tgtEl>
                                          <p:spTgt spid="82947">
                                            <p:txEl>
                                              <p:pRg st="4" end="4"/>
                                            </p:txEl>
                                          </p:spTgt>
                                        </p:tgtEl>
                                        <p:attrNameLst>
                                          <p:attrName>ppt_y</p:attrName>
                                        </p:attrNameLst>
                                      </p:cBhvr>
                                      <p:tavLst>
                                        <p:tav tm="0" fmla="#ppt_y-sin(pi*$)/3">
                                          <p:val>
                                            <p:fltVal val="0.5"/>
                                          </p:val>
                                        </p:tav>
                                        <p:tav tm="100000">
                                          <p:val>
                                            <p:fltVal val="1"/>
                                          </p:val>
                                        </p:tav>
                                      </p:tavLst>
                                    </p:anim>
                                    <p:anim calcmode="lin" valueType="num">
                                      <p:cBhvr>
                                        <p:cTn id="60" dur="332" tmFilter="0, 0; 0.125,0.2665; 0.25,0.4; 0.375,0.465; 0.5,0.5;  0.625,0.535; 0.75,0.6; 0.875,0.7335; 1,1">
                                          <p:stCondLst>
                                            <p:cond delay="332"/>
                                          </p:stCondLst>
                                        </p:cTn>
                                        <p:tgtEl>
                                          <p:spTgt spid="82947">
                                            <p:txEl>
                                              <p:pRg st="4" end="4"/>
                                            </p:txEl>
                                          </p:spTgt>
                                        </p:tgtEl>
                                        <p:attrNameLst>
                                          <p:attrName>ppt_y</p:attrName>
                                        </p:attrNameLst>
                                      </p:cBhvr>
                                      <p:tavLst>
                                        <p:tav tm="0" fmla="#ppt_y-sin(pi*$)/9">
                                          <p:val>
                                            <p:fltVal val="0"/>
                                          </p:val>
                                        </p:tav>
                                        <p:tav tm="100000">
                                          <p:val>
                                            <p:fltVal val="1"/>
                                          </p:val>
                                        </p:tav>
                                      </p:tavLst>
                                    </p:anim>
                                    <p:anim calcmode="lin" valueType="num">
                                      <p:cBhvr>
                                        <p:cTn id="61" dur="166" tmFilter="0, 0; 0.125,0.2665; 0.25,0.4; 0.375,0.465; 0.5,0.5;  0.625,0.535; 0.75,0.6; 0.875,0.7335; 1,1">
                                          <p:stCondLst>
                                            <p:cond delay="662"/>
                                          </p:stCondLst>
                                        </p:cTn>
                                        <p:tgtEl>
                                          <p:spTgt spid="82947">
                                            <p:txEl>
                                              <p:pRg st="4" end="4"/>
                                            </p:txEl>
                                          </p:spTgt>
                                        </p:tgtEl>
                                        <p:attrNameLst>
                                          <p:attrName>ppt_y</p:attrName>
                                        </p:attrNameLst>
                                      </p:cBhvr>
                                      <p:tavLst>
                                        <p:tav tm="0" fmla="#ppt_y-sin(pi*$)/27">
                                          <p:val>
                                            <p:fltVal val="0"/>
                                          </p:val>
                                        </p:tav>
                                        <p:tav tm="100000">
                                          <p:val>
                                            <p:fltVal val="1"/>
                                          </p:val>
                                        </p:tav>
                                      </p:tavLst>
                                    </p:anim>
                                    <p:anim calcmode="lin" valueType="num">
                                      <p:cBhvr>
                                        <p:cTn id="62" dur="82" tmFilter="0, 0; 0.125,0.2665; 0.25,0.4; 0.375,0.465; 0.5,0.5;  0.625,0.535; 0.75,0.6; 0.875,0.7335; 1,1">
                                          <p:stCondLst>
                                            <p:cond delay="828"/>
                                          </p:stCondLst>
                                        </p:cTn>
                                        <p:tgtEl>
                                          <p:spTgt spid="82947">
                                            <p:txEl>
                                              <p:pRg st="4" end="4"/>
                                            </p:txEl>
                                          </p:spTgt>
                                        </p:tgtEl>
                                        <p:attrNameLst>
                                          <p:attrName>ppt_y</p:attrName>
                                        </p:attrNameLst>
                                      </p:cBhvr>
                                      <p:tavLst>
                                        <p:tav tm="0" fmla="#ppt_y-sin(pi*$)/81">
                                          <p:val>
                                            <p:fltVal val="0"/>
                                          </p:val>
                                        </p:tav>
                                        <p:tav tm="100000">
                                          <p:val>
                                            <p:fltVal val="1"/>
                                          </p:val>
                                        </p:tav>
                                      </p:tavLst>
                                    </p:anim>
                                    <p:animScale>
                                      <p:cBhvr>
                                        <p:cTn id="63" dur="13">
                                          <p:stCondLst>
                                            <p:cond delay="325"/>
                                          </p:stCondLst>
                                        </p:cTn>
                                        <p:tgtEl>
                                          <p:spTgt spid="82947">
                                            <p:txEl>
                                              <p:pRg st="4" end="4"/>
                                            </p:txEl>
                                          </p:spTgt>
                                        </p:tgtEl>
                                      </p:cBhvr>
                                      <p:to x="100000" y="60000"/>
                                    </p:animScale>
                                    <p:animScale>
                                      <p:cBhvr>
                                        <p:cTn id="64" dur="83" decel="50000">
                                          <p:stCondLst>
                                            <p:cond delay="338"/>
                                          </p:stCondLst>
                                        </p:cTn>
                                        <p:tgtEl>
                                          <p:spTgt spid="82947">
                                            <p:txEl>
                                              <p:pRg st="4" end="4"/>
                                            </p:txEl>
                                          </p:spTgt>
                                        </p:tgtEl>
                                      </p:cBhvr>
                                      <p:to x="100000" y="100000"/>
                                    </p:animScale>
                                    <p:animScale>
                                      <p:cBhvr>
                                        <p:cTn id="65" dur="13">
                                          <p:stCondLst>
                                            <p:cond delay="656"/>
                                          </p:stCondLst>
                                        </p:cTn>
                                        <p:tgtEl>
                                          <p:spTgt spid="82947">
                                            <p:txEl>
                                              <p:pRg st="4" end="4"/>
                                            </p:txEl>
                                          </p:spTgt>
                                        </p:tgtEl>
                                      </p:cBhvr>
                                      <p:to x="100000" y="80000"/>
                                    </p:animScale>
                                    <p:animScale>
                                      <p:cBhvr>
                                        <p:cTn id="66" dur="83" decel="50000">
                                          <p:stCondLst>
                                            <p:cond delay="669"/>
                                          </p:stCondLst>
                                        </p:cTn>
                                        <p:tgtEl>
                                          <p:spTgt spid="82947">
                                            <p:txEl>
                                              <p:pRg st="4" end="4"/>
                                            </p:txEl>
                                          </p:spTgt>
                                        </p:tgtEl>
                                      </p:cBhvr>
                                      <p:to x="100000" y="100000"/>
                                    </p:animScale>
                                    <p:animScale>
                                      <p:cBhvr>
                                        <p:cTn id="67" dur="13">
                                          <p:stCondLst>
                                            <p:cond delay="821"/>
                                          </p:stCondLst>
                                        </p:cTn>
                                        <p:tgtEl>
                                          <p:spTgt spid="82947">
                                            <p:txEl>
                                              <p:pRg st="4" end="4"/>
                                            </p:txEl>
                                          </p:spTgt>
                                        </p:tgtEl>
                                      </p:cBhvr>
                                      <p:to x="100000" y="90000"/>
                                    </p:animScale>
                                    <p:animScale>
                                      <p:cBhvr>
                                        <p:cTn id="68" dur="83" decel="50000">
                                          <p:stCondLst>
                                            <p:cond delay="834"/>
                                          </p:stCondLst>
                                        </p:cTn>
                                        <p:tgtEl>
                                          <p:spTgt spid="82947">
                                            <p:txEl>
                                              <p:pRg st="4" end="4"/>
                                            </p:txEl>
                                          </p:spTgt>
                                        </p:tgtEl>
                                      </p:cBhvr>
                                      <p:to x="100000" y="100000"/>
                                    </p:animScale>
                                    <p:animScale>
                                      <p:cBhvr>
                                        <p:cTn id="69" dur="13">
                                          <p:stCondLst>
                                            <p:cond delay="904"/>
                                          </p:stCondLst>
                                        </p:cTn>
                                        <p:tgtEl>
                                          <p:spTgt spid="82947">
                                            <p:txEl>
                                              <p:pRg st="4" end="4"/>
                                            </p:txEl>
                                          </p:spTgt>
                                        </p:tgtEl>
                                      </p:cBhvr>
                                      <p:to x="100000" y="95000"/>
                                    </p:animScale>
                                    <p:animScale>
                                      <p:cBhvr>
                                        <p:cTn id="70" dur="83" decel="50000">
                                          <p:stCondLst>
                                            <p:cond delay="917"/>
                                          </p:stCondLst>
                                        </p:cTn>
                                        <p:tgtEl>
                                          <p:spTgt spid="82947">
                                            <p:txEl>
                                              <p:pRg st="4" end="4"/>
                                            </p:txEl>
                                          </p:spTgt>
                                        </p:tgtEl>
                                      </p:cBhvr>
                                      <p:to x="100000" y="100000"/>
                                    </p:animScale>
                                  </p:childTnLst>
                                </p:cTn>
                              </p:par>
                              <p:par>
                                <p:cTn id="71" presetID="26" presetClass="entr" presetSubtype="0" fill="hold" grpId="0" nodeType="withEffect">
                                  <p:stCondLst>
                                    <p:cond delay="0"/>
                                  </p:stCondLst>
                                  <p:childTnLst>
                                    <p:set>
                                      <p:cBhvr>
                                        <p:cTn id="72" dur="1" fill="hold">
                                          <p:stCondLst>
                                            <p:cond delay="0"/>
                                          </p:stCondLst>
                                        </p:cTn>
                                        <p:tgtEl>
                                          <p:spTgt spid="82947">
                                            <p:txEl>
                                              <p:pRg st="5" end="5"/>
                                            </p:txEl>
                                          </p:spTgt>
                                        </p:tgtEl>
                                        <p:attrNameLst>
                                          <p:attrName>style.visibility</p:attrName>
                                        </p:attrNameLst>
                                      </p:cBhvr>
                                      <p:to>
                                        <p:strVal val="visible"/>
                                      </p:to>
                                    </p:set>
                                    <p:animEffect transition="in" filter="wipe(down)">
                                      <p:cBhvr>
                                        <p:cTn id="73" dur="290">
                                          <p:stCondLst>
                                            <p:cond delay="0"/>
                                          </p:stCondLst>
                                        </p:cTn>
                                        <p:tgtEl>
                                          <p:spTgt spid="82947">
                                            <p:txEl>
                                              <p:pRg st="5" end="5"/>
                                            </p:txEl>
                                          </p:spTgt>
                                        </p:tgtEl>
                                      </p:cBhvr>
                                    </p:animEffect>
                                    <p:anim calcmode="lin" valueType="num">
                                      <p:cBhvr>
                                        <p:cTn id="74" dur="911" tmFilter="0,0; 0.14,0.36; 0.43,0.73; 0.71,0.91; 1.0,1.0">
                                          <p:stCondLst>
                                            <p:cond delay="0"/>
                                          </p:stCondLst>
                                        </p:cTn>
                                        <p:tgtEl>
                                          <p:spTgt spid="82947">
                                            <p:txEl>
                                              <p:pRg st="5" end="5"/>
                                            </p:txEl>
                                          </p:spTgt>
                                        </p:tgtEl>
                                        <p:attrNameLst>
                                          <p:attrName>ppt_x</p:attrName>
                                        </p:attrNameLst>
                                      </p:cBhvr>
                                      <p:tavLst>
                                        <p:tav tm="0">
                                          <p:val>
                                            <p:strVal val="#ppt_x-0.25"/>
                                          </p:val>
                                        </p:tav>
                                        <p:tav tm="100000">
                                          <p:val>
                                            <p:strVal val="#ppt_x"/>
                                          </p:val>
                                        </p:tav>
                                      </p:tavLst>
                                    </p:anim>
                                    <p:anim calcmode="lin" valueType="num">
                                      <p:cBhvr>
                                        <p:cTn id="75" dur="332" tmFilter="0.0,0.0; 0.25,0.07; 0.50,0.2; 0.75,0.467; 1.0,1.0">
                                          <p:stCondLst>
                                            <p:cond delay="0"/>
                                          </p:stCondLst>
                                        </p:cTn>
                                        <p:tgtEl>
                                          <p:spTgt spid="82947">
                                            <p:txEl>
                                              <p:pRg st="5" end="5"/>
                                            </p:txEl>
                                          </p:spTgt>
                                        </p:tgtEl>
                                        <p:attrNameLst>
                                          <p:attrName>ppt_y</p:attrName>
                                        </p:attrNameLst>
                                      </p:cBhvr>
                                      <p:tavLst>
                                        <p:tav tm="0" fmla="#ppt_y-sin(pi*$)/3">
                                          <p:val>
                                            <p:fltVal val="0.5"/>
                                          </p:val>
                                        </p:tav>
                                        <p:tav tm="100000">
                                          <p:val>
                                            <p:fltVal val="1"/>
                                          </p:val>
                                        </p:tav>
                                      </p:tavLst>
                                    </p:anim>
                                    <p:anim calcmode="lin" valueType="num">
                                      <p:cBhvr>
                                        <p:cTn id="76" dur="332" tmFilter="0, 0; 0.125,0.2665; 0.25,0.4; 0.375,0.465; 0.5,0.5;  0.625,0.535; 0.75,0.6; 0.875,0.7335; 1,1">
                                          <p:stCondLst>
                                            <p:cond delay="332"/>
                                          </p:stCondLst>
                                        </p:cTn>
                                        <p:tgtEl>
                                          <p:spTgt spid="82947">
                                            <p:txEl>
                                              <p:pRg st="5" end="5"/>
                                            </p:txEl>
                                          </p:spTgt>
                                        </p:tgtEl>
                                        <p:attrNameLst>
                                          <p:attrName>ppt_y</p:attrName>
                                        </p:attrNameLst>
                                      </p:cBhvr>
                                      <p:tavLst>
                                        <p:tav tm="0" fmla="#ppt_y-sin(pi*$)/9">
                                          <p:val>
                                            <p:fltVal val="0"/>
                                          </p:val>
                                        </p:tav>
                                        <p:tav tm="100000">
                                          <p:val>
                                            <p:fltVal val="1"/>
                                          </p:val>
                                        </p:tav>
                                      </p:tavLst>
                                    </p:anim>
                                    <p:anim calcmode="lin" valueType="num">
                                      <p:cBhvr>
                                        <p:cTn id="77" dur="166" tmFilter="0, 0; 0.125,0.2665; 0.25,0.4; 0.375,0.465; 0.5,0.5;  0.625,0.535; 0.75,0.6; 0.875,0.7335; 1,1">
                                          <p:stCondLst>
                                            <p:cond delay="662"/>
                                          </p:stCondLst>
                                        </p:cTn>
                                        <p:tgtEl>
                                          <p:spTgt spid="82947">
                                            <p:txEl>
                                              <p:pRg st="5" end="5"/>
                                            </p:txEl>
                                          </p:spTgt>
                                        </p:tgtEl>
                                        <p:attrNameLst>
                                          <p:attrName>ppt_y</p:attrName>
                                        </p:attrNameLst>
                                      </p:cBhvr>
                                      <p:tavLst>
                                        <p:tav tm="0" fmla="#ppt_y-sin(pi*$)/27">
                                          <p:val>
                                            <p:fltVal val="0"/>
                                          </p:val>
                                        </p:tav>
                                        <p:tav tm="100000">
                                          <p:val>
                                            <p:fltVal val="1"/>
                                          </p:val>
                                        </p:tav>
                                      </p:tavLst>
                                    </p:anim>
                                    <p:anim calcmode="lin" valueType="num">
                                      <p:cBhvr>
                                        <p:cTn id="78" dur="82" tmFilter="0, 0; 0.125,0.2665; 0.25,0.4; 0.375,0.465; 0.5,0.5;  0.625,0.535; 0.75,0.6; 0.875,0.7335; 1,1">
                                          <p:stCondLst>
                                            <p:cond delay="828"/>
                                          </p:stCondLst>
                                        </p:cTn>
                                        <p:tgtEl>
                                          <p:spTgt spid="82947">
                                            <p:txEl>
                                              <p:pRg st="5" end="5"/>
                                            </p:txEl>
                                          </p:spTgt>
                                        </p:tgtEl>
                                        <p:attrNameLst>
                                          <p:attrName>ppt_y</p:attrName>
                                        </p:attrNameLst>
                                      </p:cBhvr>
                                      <p:tavLst>
                                        <p:tav tm="0" fmla="#ppt_y-sin(pi*$)/81">
                                          <p:val>
                                            <p:fltVal val="0"/>
                                          </p:val>
                                        </p:tav>
                                        <p:tav tm="100000">
                                          <p:val>
                                            <p:fltVal val="1"/>
                                          </p:val>
                                        </p:tav>
                                      </p:tavLst>
                                    </p:anim>
                                    <p:animScale>
                                      <p:cBhvr>
                                        <p:cTn id="79" dur="13">
                                          <p:stCondLst>
                                            <p:cond delay="325"/>
                                          </p:stCondLst>
                                        </p:cTn>
                                        <p:tgtEl>
                                          <p:spTgt spid="82947">
                                            <p:txEl>
                                              <p:pRg st="5" end="5"/>
                                            </p:txEl>
                                          </p:spTgt>
                                        </p:tgtEl>
                                      </p:cBhvr>
                                      <p:to x="100000" y="60000"/>
                                    </p:animScale>
                                    <p:animScale>
                                      <p:cBhvr>
                                        <p:cTn id="80" dur="83" decel="50000">
                                          <p:stCondLst>
                                            <p:cond delay="338"/>
                                          </p:stCondLst>
                                        </p:cTn>
                                        <p:tgtEl>
                                          <p:spTgt spid="82947">
                                            <p:txEl>
                                              <p:pRg st="5" end="5"/>
                                            </p:txEl>
                                          </p:spTgt>
                                        </p:tgtEl>
                                      </p:cBhvr>
                                      <p:to x="100000" y="100000"/>
                                    </p:animScale>
                                    <p:animScale>
                                      <p:cBhvr>
                                        <p:cTn id="81" dur="13">
                                          <p:stCondLst>
                                            <p:cond delay="656"/>
                                          </p:stCondLst>
                                        </p:cTn>
                                        <p:tgtEl>
                                          <p:spTgt spid="82947">
                                            <p:txEl>
                                              <p:pRg st="5" end="5"/>
                                            </p:txEl>
                                          </p:spTgt>
                                        </p:tgtEl>
                                      </p:cBhvr>
                                      <p:to x="100000" y="80000"/>
                                    </p:animScale>
                                    <p:animScale>
                                      <p:cBhvr>
                                        <p:cTn id="82" dur="83" decel="50000">
                                          <p:stCondLst>
                                            <p:cond delay="669"/>
                                          </p:stCondLst>
                                        </p:cTn>
                                        <p:tgtEl>
                                          <p:spTgt spid="82947">
                                            <p:txEl>
                                              <p:pRg st="5" end="5"/>
                                            </p:txEl>
                                          </p:spTgt>
                                        </p:tgtEl>
                                      </p:cBhvr>
                                      <p:to x="100000" y="100000"/>
                                    </p:animScale>
                                    <p:animScale>
                                      <p:cBhvr>
                                        <p:cTn id="83" dur="13">
                                          <p:stCondLst>
                                            <p:cond delay="821"/>
                                          </p:stCondLst>
                                        </p:cTn>
                                        <p:tgtEl>
                                          <p:spTgt spid="82947">
                                            <p:txEl>
                                              <p:pRg st="5" end="5"/>
                                            </p:txEl>
                                          </p:spTgt>
                                        </p:tgtEl>
                                      </p:cBhvr>
                                      <p:to x="100000" y="90000"/>
                                    </p:animScale>
                                    <p:animScale>
                                      <p:cBhvr>
                                        <p:cTn id="84" dur="83" decel="50000">
                                          <p:stCondLst>
                                            <p:cond delay="834"/>
                                          </p:stCondLst>
                                        </p:cTn>
                                        <p:tgtEl>
                                          <p:spTgt spid="82947">
                                            <p:txEl>
                                              <p:pRg st="5" end="5"/>
                                            </p:txEl>
                                          </p:spTgt>
                                        </p:tgtEl>
                                      </p:cBhvr>
                                      <p:to x="100000" y="100000"/>
                                    </p:animScale>
                                    <p:animScale>
                                      <p:cBhvr>
                                        <p:cTn id="85" dur="13">
                                          <p:stCondLst>
                                            <p:cond delay="904"/>
                                          </p:stCondLst>
                                        </p:cTn>
                                        <p:tgtEl>
                                          <p:spTgt spid="82947">
                                            <p:txEl>
                                              <p:pRg st="5" end="5"/>
                                            </p:txEl>
                                          </p:spTgt>
                                        </p:tgtEl>
                                      </p:cBhvr>
                                      <p:to x="100000" y="95000"/>
                                    </p:animScale>
                                    <p:animScale>
                                      <p:cBhvr>
                                        <p:cTn id="86" dur="83" decel="50000">
                                          <p:stCondLst>
                                            <p:cond delay="917"/>
                                          </p:stCondLst>
                                        </p:cTn>
                                        <p:tgtEl>
                                          <p:spTgt spid="82947">
                                            <p:txEl>
                                              <p:pRg st="5" end="5"/>
                                            </p:txEl>
                                          </p:spTgt>
                                        </p:tgtEl>
                                      </p:cBhvr>
                                      <p:to x="100000" y="100000"/>
                                    </p:animScale>
                                  </p:childTnLst>
                                </p:cTn>
                              </p:par>
                              <p:par>
                                <p:cTn id="87" presetID="26" presetClass="entr" presetSubtype="0" fill="hold" grpId="0" nodeType="withEffect">
                                  <p:stCondLst>
                                    <p:cond delay="0"/>
                                  </p:stCondLst>
                                  <p:childTnLst>
                                    <p:set>
                                      <p:cBhvr>
                                        <p:cTn id="88" dur="1" fill="hold">
                                          <p:stCondLst>
                                            <p:cond delay="0"/>
                                          </p:stCondLst>
                                        </p:cTn>
                                        <p:tgtEl>
                                          <p:spTgt spid="82947">
                                            <p:txEl>
                                              <p:pRg st="6" end="6"/>
                                            </p:txEl>
                                          </p:spTgt>
                                        </p:tgtEl>
                                        <p:attrNameLst>
                                          <p:attrName>style.visibility</p:attrName>
                                        </p:attrNameLst>
                                      </p:cBhvr>
                                      <p:to>
                                        <p:strVal val="visible"/>
                                      </p:to>
                                    </p:set>
                                    <p:animEffect transition="in" filter="wipe(down)">
                                      <p:cBhvr>
                                        <p:cTn id="89" dur="290">
                                          <p:stCondLst>
                                            <p:cond delay="0"/>
                                          </p:stCondLst>
                                        </p:cTn>
                                        <p:tgtEl>
                                          <p:spTgt spid="82947">
                                            <p:txEl>
                                              <p:pRg st="6" end="6"/>
                                            </p:txEl>
                                          </p:spTgt>
                                        </p:tgtEl>
                                      </p:cBhvr>
                                    </p:animEffect>
                                    <p:anim calcmode="lin" valueType="num">
                                      <p:cBhvr>
                                        <p:cTn id="90" dur="911" tmFilter="0,0; 0.14,0.36; 0.43,0.73; 0.71,0.91; 1.0,1.0">
                                          <p:stCondLst>
                                            <p:cond delay="0"/>
                                          </p:stCondLst>
                                        </p:cTn>
                                        <p:tgtEl>
                                          <p:spTgt spid="82947">
                                            <p:txEl>
                                              <p:pRg st="6" end="6"/>
                                            </p:txEl>
                                          </p:spTgt>
                                        </p:tgtEl>
                                        <p:attrNameLst>
                                          <p:attrName>ppt_x</p:attrName>
                                        </p:attrNameLst>
                                      </p:cBhvr>
                                      <p:tavLst>
                                        <p:tav tm="0">
                                          <p:val>
                                            <p:strVal val="#ppt_x-0.25"/>
                                          </p:val>
                                        </p:tav>
                                        <p:tav tm="100000">
                                          <p:val>
                                            <p:strVal val="#ppt_x"/>
                                          </p:val>
                                        </p:tav>
                                      </p:tavLst>
                                    </p:anim>
                                    <p:anim calcmode="lin" valueType="num">
                                      <p:cBhvr>
                                        <p:cTn id="91" dur="332" tmFilter="0.0,0.0; 0.25,0.07; 0.50,0.2; 0.75,0.467; 1.0,1.0">
                                          <p:stCondLst>
                                            <p:cond delay="0"/>
                                          </p:stCondLst>
                                        </p:cTn>
                                        <p:tgtEl>
                                          <p:spTgt spid="82947">
                                            <p:txEl>
                                              <p:pRg st="6" end="6"/>
                                            </p:txEl>
                                          </p:spTgt>
                                        </p:tgtEl>
                                        <p:attrNameLst>
                                          <p:attrName>ppt_y</p:attrName>
                                        </p:attrNameLst>
                                      </p:cBhvr>
                                      <p:tavLst>
                                        <p:tav tm="0" fmla="#ppt_y-sin(pi*$)/3">
                                          <p:val>
                                            <p:fltVal val="0.5"/>
                                          </p:val>
                                        </p:tav>
                                        <p:tav tm="100000">
                                          <p:val>
                                            <p:fltVal val="1"/>
                                          </p:val>
                                        </p:tav>
                                      </p:tavLst>
                                    </p:anim>
                                    <p:anim calcmode="lin" valueType="num">
                                      <p:cBhvr>
                                        <p:cTn id="92" dur="332" tmFilter="0, 0; 0.125,0.2665; 0.25,0.4; 0.375,0.465; 0.5,0.5;  0.625,0.535; 0.75,0.6; 0.875,0.7335; 1,1">
                                          <p:stCondLst>
                                            <p:cond delay="332"/>
                                          </p:stCondLst>
                                        </p:cTn>
                                        <p:tgtEl>
                                          <p:spTgt spid="82947">
                                            <p:txEl>
                                              <p:pRg st="6" end="6"/>
                                            </p:txEl>
                                          </p:spTgt>
                                        </p:tgtEl>
                                        <p:attrNameLst>
                                          <p:attrName>ppt_y</p:attrName>
                                        </p:attrNameLst>
                                      </p:cBhvr>
                                      <p:tavLst>
                                        <p:tav tm="0" fmla="#ppt_y-sin(pi*$)/9">
                                          <p:val>
                                            <p:fltVal val="0"/>
                                          </p:val>
                                        </p:tav>
                                        <p:tav tm="100000">
                                          <p:val>
                                            <p:fltVal val="1"/>
                                          </p:val>
                                        </p:tav>
                                      </p:tavLst>
                                    </p:anim>
                                    <p:anim calcmode="lin" valueType="num">
                                      <p:cBhvr>
                                        <p:cTn id="93" dur="166" tmFilter="0, 0; 0.125,0.2665; 0.25,0.4; 0.375,0.465; 0.5,0.5;  0.625,0.535; 0.75,0.6; 0.875,0.7335; 1,1">
                                          <p:stCondLst>
                                            <p:cond delay="662"/>
                                          </p:stCondLst>
                                        </p:cTn>
                                        <p:tgtEl>
                                          <p:spTgt spid="82947">
                                            <p:txEl>
                                              <p:pRg st="6" end="6"/>
                                            </p:txEl>
                                          </p:spTgt>
                                        </p:tgtEl>
                                        <p:attrNameLst>
                                          <p:attrName>ppt_y</p:attrName>
                                        </p:attrNameLst>
                                      </p:cBhvr>
                                      <p:tavLst>
                                        <p:tav tm="0" fmla="#ppt_y-sin(pi*$)/27">
                                          <p:val>
                                            <p:fltVal val="0"/>
                                          </p:val>
                                        </p:tav>
                                        <p:tav tm="100000">
                                          <p:val>
                                            <p:fltVal val="1"/>
                                          </p:val>
                                        </p:tav>
                                      </p:tavLst>
                                    </p:anim>
                                    <p:anim calcmode="lin" valueType="num">
                                      <p:cBhvr>
                                        <p:cTn id="94" dur="82" tmFilter="0, 0; 0.125,0.2665; 0.25,0.4; 0.375,0.465; 0.5,0.5;  0.625,0.535; 0.75,0.6; 0.875,0.7335; 1,1">
                                          <p:stCondLst>
                                            <p:cond delay="828"/>
                                          </p:stCondLst>
                                        </p:cTn>
                                        <p:tgtEl>
                                          <p:spTgt spid="82947">
                                            <p:txEl>
                                              <p:pRg st="6" end="6"/>
                                            </p:txEl>
                                          </p:spTgt>
                                        </p:tgtEl>
                                        <p:attrNameLst>
                                          <p:attrName>ppt_y</p:attrName>
                                        </p:attrNameLst>
                                      </p:cBhvr>
                                      <p:tavLst>
                                        <p:tav tm="0" fmla="#ppt_y-sin(pi*$)/81">
                                          <p:val>
                                            <p:fltVal val="0"/>
                                          </p:val>
                                        </p:tav>
                                        <p:tav tm="100000">
                                          <p:val>
                                            <p:fltVal val="1"/>
                                          </p:val>
                                        </p:tav>
                                      </p:tavLst>
                                    </p:anim>
                                    <p:animScale>
                                      <p:cBhvr>
                                        <p:cTn id="95" dur="13">
                                          <p:stCondLst>
                                            <p:cond delay="325"/>
                                          </p:stCondLst>
                                        </p:cTn>
                                        <p:tgtEl>
                                          <p:spTgt spid="82947">
                                            <p:txEl>
                                              <p:pRg st="6" end="6"/>
                                            </p:txEl>
                                          </p:spTgt>
                                        </p:tgtEl>
                                      </p:cBhvr>
                                      <p:to x="100000" y="60000"/>
                                    </p:animScale>
                                    <p:animScale>
                                      <p:cBhvr>
                                        <p:cTn id="96" dur="83" decel="50000">
                                          <p:stCondLst>
                                            <p:cond delay="338"/>
                                          </p:stCondLst>
                                        </p:cTn>
                                        <p:tgtEl>
                                          <p:spTgt spid="82947">
                                            <p:txEl>
                                              <p:pRg st="6" end="6"/>
                                            </p:txEl>
                                          </p:spTgt>
                                        </p:tgtEl>
                                      </p:cBhvr>
                                      <p:to x="100000" y="100000"/>
                                    </p:animScale>
                                    <p:animScale>
                                      <p:cBhvr>
                                        <p:cTn id="97" dur="13">
                                          <p:stCondLst>
                                            <p:cond delay="656"/>
                                          </p:stCondLst>
                                        </p:cTn>
                                        <p:tgtEl>
                                          <p:spTgt spid="82947">
                                            <p:txEl>
                                              <p:pRg st="6" end="6"/>
                                            </p:txEl>
                                          </p:spTgt>
                                        </p:tgtEl>
                                      </p:cBhvr>
                                      <p:to x="100000" y="80000"/>
                                    </p:animScale>
                                    <p:animScale>
                                      <p:cBhvr>
                                        <p:cTn id="98" dur="83" decel="50000">
                                          <p:stCondLst>
                                            <p:cond delay="669"/>
                                          </p:stCondLst>
                                        </p:cTn>
                                        <p:tgtEl>
                                          <p:spTgt spid="82947">
                                            <p:txEl>
                                              <p:pRg st="6" end="6"/>
                                            </p:txEl>
                                          </p:spTgt>
                                        </p:tgtEl>
                                      </p:cBhvr>
                                      <p:to x="100000" y="100000"/>
                                    </p:animScale>
                                    <p:animScale>
                                      <p:cBhvr>
                                        <p:cTn id="99" dur="13">
                                          <p:stCondLst>
                                            <p:cond delay="821"/>
                                          </p:stCondLst>
                                        </p:cTn>
                                        <p:tgtEl>
                                          <p:spTgt spid="82947">
                                            <p:txEl>
                                              <p:pRg st="6" end="6"/>
                                            </p:txEl>
                                          </p:spTgt>
                                        </p:tgtEl>
                                      </p:cBhvr>
                                      <p:to x="100000" y="90000"/>
                                    </p:animScale>
                                    <p:animScale>
                                      <p:cBhvr>
                                        <p:cTn id="100" dur="83" decel="50000">
                                          <p:stCondLst>
                                            <p:cond delay="834"/>
                                          </p:stCondLst>
                                        </p:cTn>
                                        <p:tgtEl>
                                          <p:spTgt spid="82947">
                                            <p:txEl>
                                              <p:pRg st="6" end="6"/>
                                            </p:txEl>
                                          </p:spTgt>
                                        </p:tgtEl>
                                      </p:cBhvr>
                                      <p:to x="100000" y="100000"/>
                                    </p:animScale>
                                    <p:animScale>
                                      <p:cBhvr>
                                        <p:cTn id="101" dur="13">
                                          <p:stCondLst>
                                            <p:cond delay="904"/>
                                          </p:stCondLst>
                                        </p:cTn>
                                        <p:tgtEl>
                                          <p:spTgt spid="82947">
                                            <p:txEl>
                                              <p:pRg st="6" end="6"/>
                                            </p:txEl>
                                          </p:spTgt>
                                        </p:tgtEl>
                                      </p:cBhvr>
                                      <p:to x="100000" y="95000"/>
                                    </p:animScale>
                                    <p:animScale>
                                      <p:cBhvr>
                                        <p:cTn id="102" dur="83" decel="50000">
                                          <p:stCondLst>
                                            <p:cond delay="917"/>
                                          </p:stCondLst>
                                        </p:cTn>
                                        <p:tgtEl>
                                          <p:spTgt spid="82947">
                                            <p:txEl>
                                              <p:pRg st="6" end="6"/>
                                            </p:txEl>
                                          </p:spTgt>
                                        </p:tgtEl>
                                      </p:cBhvr>
                                      <p:to x="100000" y="100000"/>
                                    </p:animScale>
                                  </p:childTnLst>
                                </p:cTn>
                              </p:par>
                              <p:par>
                                <p:cTn id="103" presetID="26" presetClass="entr" presetSubtype="0" fill="hold" grpId="0" nodeType="withEffect">
                                  <p:stCondLst>
                                    <p:cond delay="0"/>
                                  </p:stCondLst>
                                  <p:childTnLst>
                                    <p:set>
                                      <p:cBhvr>
                                        <p:cTn id="104" dur="1" fill="hold">
                                          <p:stCondLst>
                                            <p:cond delay="0"/>
                                          </p:stCondLst>
                                        </p:cTn>
                                        <p:tgtEl>
                                          <p:spTgt spid="82947">
                                            <p:txEl>
                                              <p:pRg st="7" end="7"/>
                                            </p:txEl>
                                          </p:spTgt>
                                        </p:tgtEl>
                                        <p:attrNameLst>
                                          <p:attrName>style.visibility</p:attrName>
                                        </p:attrNameLst>
                                      </p:cBhvr>
                                      <p:to>
                                        <p:strVal val="visible"/>
                                      </p:to>
                                    </p:set>
                                    <p:animEffect transition="in" filter="wipe(down)">
                                      <p:cBhvr>
                                        <p:cTn id="105" dur="290">
                                          <p:stCondLst>
                                            <p:cond delay="0"/>
                                          </p:stCondLst>
                                        </p:cTn>
                                        <p:tgtEl>
                                          <p:spTgt spid="82947">
                                            <p:txEl>
                                              <p:pRg st="7" end="7"/>
                                            </p:txEl>
                                          </p:spTgt>
                                        </p:tgtEl>
                                      </p:cBhvr>
                                    </p:animEffect>
                                    <p:anim calcmode="lin" valueType="num">
                                      <p:cBhvr>
                                        <p:cTn id="106" dur="911" tmFilter="0,0; 0.14,0.36; 0.43,0.73; 0.71,0.91; 1.0,1.0">
                                          <p:stCondLst>
                                            <p:cond delay="0"/>
                                          </p:stCondLst>
                                        </p:cTn>
                                        <p:tgtEl>
                                          <p:spTgt spid="82947">
                                            <p:txEl>
                                              <p:pRg st="7" end="7"/>
                                            </p:txEl>
                                          </p:spTgt>
                                        </p:tgtEl>
                                        <p:attrNameLst>
                                          <p:attrName>ppt_x</p:attrName>
                                        </p:attrNameLst>
                                      </p:cBhvr>
                                      <p:tavLst>
                                        <p:tav tm="0">
                                          <p:val>
                                            <p:strVal val="#ppt_x-0.25"/>
                                          </p:val>
                                        </p:tav>
                                        <p:tav tm="100000">
                                          <p:val>
                                            <p:strVal val="#ppt_x"/>
                                          </p:val>
                                        </p:tav>
                                      </p:tavLst>
                                    </p:anim>
                                    <p:anim calcmode="lin" valueType="num">
                                      <p:cBhvr>
                                        <p:cTn id="107" dur="332" tmFilter="0.0,0.0; 0.25,0.07; 0.50,0.2; 0.75,0.467; 1.0,1.0">
                                          <p:stCondLst>
                                            <p:cond delay="0"/>
                                          </p:stCondLst>
                                        </p:cTn>
                                        <p:tgtEl>
                                          <p:spTgt spid="82947">
                                            <p:txEl>
                                              <p:pRg st="7" end="7"/>
                                            </p:txEl>
                                          </p:spTgt>
                                        </p:tgtEl>
                                        <p:attrNameLst>
                                          <p:attrName>ppt_y</p:attrName>
                                        </p:attrNameLst>
                                      </p:cBhvr>
                                      <p:tavLst>
                                        <p:tav tm="0" fmla="#ppt_y-sin(pi*$)/3">
                                          <p:val>
                                            <p:fltVal val="0.5"/>
                                          </p:val>
                                        </p:tav>
                                        <p:tav tm="100000">
                                          <p:val>
                                            <p:fltVal val="1"/>
                                          </p:val>
                                        </p:tav>
                                      </p:tavLst>
                                    </p:anim>
                                    <p:anim calcmode="lin" valueType="num">
                                      <p:cBhvr>
                                        <p:cTn id="108" dur="332" tmFilter="0, 0; 0.125,0.2665; 0.25,0.4; 0.375,0.465; 0.5,0.5;  0.625,0.535; 0.75,0.6; 0.875,0.7335; 1,1">
                                          <p:stCondLst>
                                            <p:cond delay="332"/>
                                          </p:stCondLst>
                                        </p:cTn>
                                        <p:tgtEl>
                                          <p:spTgt spid="82947">
                                            <p:txEl>
                                              <p:pRg st="7" end="7"/>
                                            </p:txEl>
                                          </p:spTgt>
                                        </p:tgtEl>
                                        <p:attrNameLst>
                                          <p:attrName>ppt_y</p:attrName>
                                        </p:attrNameLst>
                                      </p:cBhvr>
                                      <p:tavLst>
                                        <p:tav tm="0" fmla="#ppt_y-sin(pi*$)/9">
                                          <p:val>
                                            <p:fltVal val="0"/>
                                          </p:val>
                                        </p:tav>
                                        <p:tav tm="100000">
                                          <p:val>
                                            <p:fltVal val="1"/>
                                          </p:val>
                                        </p:tav>
                                      </p:tavLst>
                                    </p:anim>
                                    <p:anim calcmode="lin" valueType="num">
                                      <p:cBhvr>
                                        <p:cTn id="109" dur="166" tmFilter="0, 0; 0.125,0.2665; 0.25,0.4; 0.375,0.465; 0.5,0.5;  0.625,0.535; 0.75,0.6; 0.875,0.7335; 1,1">
                                          <p:stCondLst>
                                            <p:cond delay="662"/>
                                          </p:stCondLst>
                                        </p:cTn>
                                        <p:tgtEl>
                                          <p:spTgt spid="82947">
                                            <p:txEl>
                                              <p:pRg st="7" end="7"/>
                                            </p:txEl>
                                          </p:spTgt>
                                        </p:tgtEl>
                                        <p:attrNameLst>
                                          <p:attrName>ppt_y</p:attrName>
                                        </p:attrNameLst>
                                      </p:cBhvr>
                                      <p:tavLst>
                                        <p:tav tm="0" fmla="#ppt_y-sin(pi*$)/27">
                                          <p:val>
                                            <p:fltVal val="0"/>
                                          </p:val>
                                        </p:tav>
                                        <p:tav tm="100000">
                                          <p:val>
                                            <p:fltVal val="1"/>
                                          </p:val>
                                        </p:tav>
                                      </p:tavLst>
                                    </p:anim>
                                    <p:anim calcmode="lin" valueType="num">
                                      <p:cBhvr>
                                        <p:cTn id="110" dur="82" tmFilter="0, 0; 0.125,0.2665; 0.25,0.4; 0.375,0.465; 0.5,0.5;  0.625,0.535; 0.75,0.6; 0.875,0.7335; 1,1">
                                          <p:stCondLst>
                                            <p:cond delay="828"/>
                                          </p:stCondLst>
                                        </p:cTn>
                                        <p:tgtEl>
                                          <p:spTgt spid="82947">
                                            <p:txEl>
                                              <p:pRg st="7" end="7"/>
                                            </p:txEl>
                                          </p:spTgt>
                                        </p:tgtEl>
                                        <p:attrNameLst>
                                          <p:attrName>ppt_y</p:attrName>
                                        </p:attrNameLst>
                                      </p:cBhvr>
                                      <p:tavLst>
                                        <p:tav tm="0" fmla="#ppt_y-sin(pi*$)/81">
                                          <p:val>
                                            <p:fltVal val="0"/>
                                          </p:val>
                                        </p:tav>
                                        <p:tav tm="100000">
                                          <p:val>
                                            <p:fltVal val="1"/>
                                          </p:val>
                                        </p:tav>
                                      </p:tavLst>
                                    </p:anim>
                                    <p:animScale>
                                      <p:cBhvr>
                                        <p:cTn id="111" dur="13">
                                          <p:stCondLst>
                                            <p:cond delay="325"/>
                                          </p:stCondLst>
                                        </p:cTn>
                                        <p:tgtEl>
                                          <p:spTgt spid="82947">
                                            <p:txEl>
                                              <p:pRg st="7" end="7"/>
                                            </p:txEl>
                                          </p:spTgt>
                                        </p:tgtEl>
                                      </p:cBhvr>
                                      <p:to x="100000" y="60000"/>
                                    </p:animScale>
                                    <p:animScale>
                                      <p:cBhvr>
                                        <p:cTn id="112" dur="83" decel="50000">
                                          <p:stCondLst>
                                            <p:cond delay="338"/>
                                          </p:stCondLst>
                                        </p:cTn>
                                        <p:tgtEl>
                                          <p:spTgt spid="82947">
                                            <p:txEl>
                                              <p:pRg st="7" end="7"/>
                                            </p:txEl>
                                          </p:spTgt>
                                        </p:tgtEl>
                                      </p:cBhvr>
                                      <p:to x="100000" y="100000"/>
                                    </p:animScale>
                                    <p:animScale>
                                      <p:cBhvr>
                                        <p:cTn id="113" dur="13">
                                          <p:stCondLst>
                                            <p:cond delay="656"/>
                                          </p:stCondLst>
                                        </p:cTn>
                                        <p:tgtEl>
                                          <p:spTgt spid="82947">
                                            <p:txEl>
                                              <p:pRg st="7" end="7"/>
                                            </p:txEl>
                                          </p:spTgt>
                                        </p:tgtEl>
                                      </p:cBhvr>
                                      <p:to x="100000" y="80000"/>
                                    </p:animScale>
                                    <p:animScale>
                                      <p:cBhvr>
                                        <p:cTn id="114" dur="83" decel="50000">
                                          <p:stCondLst>
                                            <p:cond delay="669"/>
                                          </p:stCondLst>
                                        </p:cTn>
                                        <p:tgtEl>
                                          <p:spTgt spid="82947">
                                            <p:txEl>
                                              <p:pRg st="7" end="7"/>
                                            </p:txEl>
                                          </p:spTgt>
                                        </p:tgtEl>
                                      </p:cBhvr>
                                      <p:to x="100000" y="100000"/>
                                    </p:animScale>
                                    <p:animScale>
                                      <p:cBhvr>
                                        <p:cTn id="115" dur="13">
                                          <p:stCondLst>
                                            <p:cond delay="821"/>
                                          </p:stCondLst>
                                        </p:cTn>
                                        <p:tgtEl>
                                          <p:spTgt spid="82947">
                                            <p:txEl>
                                              <p:pRg st="7" end="7"/>
                                            </p:txEl>
                                          </p:spTgt>
                                        </p:tgtEl>
                                      </p:cBhvr>
                                      <p:to x="100000" y="90000"/>
                                    </p:animScale>
                                    <p:animScale>
                                      <p:cBhvr>
                                        <p:cTn id="116" dur="83" decel="50000">
                                          <p:stCondLst>
                                            <p:cond delay="834"/>
                                          </p:stCondLst>
                                        </p:cTn>
                                        <p:tgtEl>
                                          <p:spTgt spid="82947">
                                            <p:txEl>
                                              <p:pRg st="7" end="7"/>
                                            </p:txEl>
                                          </p:spTgt>
                                        </p:tgtEl>
                                      </p:cBhvr>
                                      <p:to x="100000" y="100000"/>
                                    </p:animScale>
                                    <p:animScale>
                                      <p:cBhvr>
                                        <p:cTn id="117" dur="13">
                                          <p:stCondLst>
                                            <p:cond delay="904"/>
                                          </p:stCondLst>
                                        </p:cTn>
                                        <p:tgtEl>
                                          <p:spTgt spid="82947">
                                            <p:txEl>
                                              <p:pRg st="7" end="7"/>
                                            </p:txEl>
                                          </p:spTgt>
                                        </p:tgtEl>
                                      </p:cBhvr>
                                      <p:to x="100000" y="95000"/>
                                    </p:animScale>
                                    <p:animScale>
                                      <p:cBhvr>
                                        <p:cTn id="118" dur="83" decel="50000">
                                          <p:stCondLst>
                                            <p:cond delay="917"/>
                                          </p:stCondLst>
                                        </p:cTn>
                                        <p:tgtEl>
                                          <p:spTgt spid="82947">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56025-CDC1-400A-25AE-B3A3B345EB22}"/>
              </a:ext>
            </a:extLst>
          </p:cNvPr>
          <p:cNvSpPr>
            <a:spLocks noGrp="1"/>
          </p:cNvSpPr>
          <p:nvPr>
            <p:ph type="title"/>
          </p:nvPr>
        </p:nvSpPr>
        <p:spPr>
          <a:xfrm>
            <a:off x="838200" y="365126"/>
            <a:ext cx="10515600" cy="920750"/>
          </a:xfrm>
        </p:spPr>
        <p:txBody>
          <a:bodyPr/>
          <a:lstStyle/>
          <a:p>
            <a:r>
              <a:rPr lang="en-US" dirty="0"/>
              <a:t>Cervical Precancer Monitoring &amp; Treatment</a:t>
            </a:r>
          </a:p>
        </p:txBody>
      </p:sp>
      <p:sp>
        <p:nvSpPr>
          <p:cNvPr id="3" name="Content Placeholder 2">
            <a:extLst>
              <a:ext uri="{FF2B5EF4-FFF2-40B4-BE49-F238E27FC236}">
                <a16:creationId xmlns:a16="http://schemas.microsoft.com/office/drawing/2014/main" id="{3D6F7D07-E44C-EB9F-3758-7D30931AC4EA}"/>
              </a:ext>
            </a:extLst>
          </p:cNvPr>
          <p:cNvSpPr>
            <a:spLocks noGrp="1"/>
          </p:cNvSpPr>
          <p:nvPr>
            <p:ph idx="1"/>
          </p:nvPr>
        </p:nvSpPr>
        <p:spPr>
          <a:xfrm>
            <a:off x="600075" y="1515302"/>
            <a:ext cx="4038600" cy="4738688"/>
          </a:xfrm>
        </p:spPr>
        <p:txBody>
          <a:bodyPr>
            <a:normAutofit/>
          </a:bodyPr>
          <a:lstStyle/>
          <a:p>
            <a:r>
              <a:rPr lang="en-US" dirty="0"/>
              <a:t>CIN 1 often regresses spontaneously while CIN 2/3 carries significant risk of progression to cancer</a:t>
            </a:r>
          </a:p>
          <a:p>
            <a:r>
              <a:rPr lang="en-US" dirty="0"/>
              <a:t>ASCCP 2019 guidelines direct shorter pap/HPV testing intervals vs colposcopy vs treatment (</a:t>
            </a:r>
            <a:r>
              <a:rPr lang="en-US" dirty="0" err="1"/>
              <a:t>ie</a:t>
            </a:r>
            <a:r>
              <a:rPr lang="en-US" dirty="0"/>
              <a:t> LEEP, </a:t>
            </a:r>
            <a:r>
              <a:rPr lang="en-US" dirty="0" err="1"/>
              <a:t>etc</a:t>
            </a:r>
            <a:r>
              <a:rPr lang="en-US" dirty="0"/>
              <a:t>)</a:t>
            </a:r>
          </a:p>
        </p:txBody>
      </p:sp>
      <p:pic>
        <p:nvPicPr>
          <p:cNvPr id="5" name="Picture 4" descr="Diagram illustrating progression from normal cervix to cervical cancer over time, emphasizing early treatment of precancerous lesions to reduce cancer risk. It features labeled phases with colored arrows and lines showing HPV infection, viral persistence, precancerous lesion development, and cancer invasion, with a timeline spanning from 15 to 45 years.">
            <a:extLst>
              <a:ext uri="{FF2B5EF4-FFF2-40B4-BE49-F238E27FC236}">
                <a16:creationId xmlns:a16="http://schemas.microsoft.com/office/drawing/2014/main" id="{E6716DD2-96F9-D6CE-8E9F-499D1539548B}"/>
              </a:ext>
            </a:extLst>
          </p:cNvPr>
          <p:cNvPicPr>
            <a:picLocks noChangeAspect="1"/>
          </p:cNvPicPr>
          <p:nvPr/>
        </p:nvPicPr>
        <p:blipFill>
          <a:blip r:embed="rId2"/>
          <a:stretch>
            <a:fillRect/>
          </a:stretch>
        </p:blipFill>
        <p:spPr>
          <a:xfrm>
            <a:off x="4743450" y="1515302"/>
            <a:ext cx="7267575" cy="4790171"/>
          </a:xfrm>
          <a:prstGeom prst="rect">
            <a:avLst/>
          </a:prstGeom>
        </p:spPr>
      </p:pic>
    </p:spTree>
    <p:extLst>
      <p:ext uri="{BB962C8B-B14F-4D97-AF65-F5344CB8AC3E}">
        <p14:creationId xmlns:p14="http://schemas.microsoft.com/office/powerpoint/2010/main" val="26735287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History of HPV</a:t>
            </a:r>
          </a:p>
        </p:txBody>
      </p:sp>
      <p:sp>
        <p:nvSpPr>
          <p:cNvPr id="8" name="Content Placeholder 2">
            <a:extLst>
              <a:ext uri="{FF2B5EF4-FFF2-40B4-BE49-F238E27FC236}">
                <a16:creationId xmlns:a16="http://schemas.microsoft.com/office/drawing/2014/main" id="{E38E82BB-A22B-CAEE-D7C6-EE0D09607137}"/>
              </a:ext>
            </a:extLst>
          </p:cNvPr>
          <p:cNvSpPr txBox="1">
            <a:spLocks/>
          </p:cNvSpPr>
          <p:nvPr/>
        </p:nvSpPr>
        <p:spPr>
          <a:xfrm>
            <a:off x="838200" y="1504950"/>
            <a:ext cx="4495800" cy="49069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longer HPV infection persists, the greater risk for CIN 2/3 &amp; cancer</a:t>
            </a:r>
          </a:p>
          <a:p>
            <a:r>
              <a:rPr lang="en-US" dirty="0"/>
              <a:t>ASCCP guidelines are risk based with a &gt;4% 5 yr risk of CIN 3 being the threshold for diagnostic evaluation (Colposcopy) or treatment (LEEP)</a:t>
            </a:r>
          </a:p>
        </p:txBody>
      </p:sp>
      <p:pic>
        <p:nvPicPr>
          <p:cNvPr id="7" name="Content Placeholder 6" descr="Stacked area chart showing infection status percentages over 84 months from a cohort study in Guanacaste, Costa Rica, with categories Progressed (peach), Persisted (purple), and Cleared (light blue). Key trends include a rapid decrease in Persisted infections within first 24 months and a steady increase in Cleared infections, stabilizing near 90% after 36 months, highlighted by red markers and a blue box emphasizing data between 30 and 42 months.">
            <a:extLst>
              <a:ext uri="{FF2B5EF4-FFF2-40B4-BE49-F238E27FC236}">
                <a16:creationId xmlns:a16="http://schemas.microsoft.com/office/drawing/2014/main" id="{78303175-F1B7-5945-CCE2-82A251C54362}"/>
              </a:ext>
            </a:extLst>
          </p:cNvPr>
          <p:cNvPicPr>
            <a:picLocks noGrp="1" noChangeAspect="1"/>
          </p:cNvPicPr>
          <p:nvPr>
            <p:ph idx="1"/>
          </p:nvPr>
        </p:nvPicPr>
        <p:blipFill>
          <a:blip r:embed="rId2"/>
          <a:stretch>
            <a:fillRect/>
          </a:stretch>
        </p:blipFill>
        <p:spPr>
          <a:xfrm>
            <a:off x="5462140" y="1504950"/>
            <a:ext cx="6411220" cy="4239217"/>
          </a:xfrm>
          <a:prstGeom prst="rect">
            <a:avLst/>
          </a:prstGeom>
        </p:spPr>
      </p:pic>
      <p:sp>
        <p:nvSpPr>
          <p:cNvPr id="9" name="TextBox 8">
            <a:extLst>
              <a:ext uri="{FF2B5EF4-FFF2-40B4-BE49-F238E27FC236}">
                <a16:creationId xmlns:a16="http://schemas.microsoft.com/office/drawing/2014/main" id="{BCD47F48-1B4F-5D1C-861F-51A0ABC37456}"/>
              </a:ext>
              <a:ext uri="{C183D7F6-B498-43B3-948B-1728B52AA6E4}">
                <adec:decorative xmlns:adec="http://schemas.microsoft.com/office/drawing/2017/decorative" val="1"/>
              </a:ext>
            </a:extLst>
          </p:cNvPr>
          <p:cNvSpPr txBox="1"/>
          <p:nvPr/>
        </p:nvSpPr>
        <p:spPr>
          <a:xfrm>
            <a:off x="7960237" y="6356349"/>
            <a:ext cx="3913123" cy="369332"/>
          </a:xfrm>
          <a:prstGeom prst="rect">
            <a:avLst/>
          </a:prstGeom>
          <a:noFill/>
        </p:spPr>
        <p:txBody>
          <a:bodyPr wrap="none" rtlCol="0">
            <a:spAutoFit/>
          </a:bodyPr>
          <a:lstStyle/>
          <a:p>
            <a:r>
              <a:rPr lang="en-US" dirty="0"/>
              <a:t>Schiffman, Castle et al. (2007) Lancet</a:t>
            </a:r>
          </a:p>
        </p:txBody>
      </p:sp>
    </p:spTree>
    <p:extLst>
      <p:ext uri="{BB962C8B-B14F-4D97-AF65-F5344CB8AC3E}">
        <p14:creationId xmlns:p14="http://schemas.microsoft.com/office/powerpoint/2010/main" val="16020098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8505F-5D53-371B-009C-DD45D5B1B7D0}"/>
              </a:ext>
            </a:extLst>
          </p:cNvPr>
          <p:cNvSpPr>
            <a:spLocks noGrp="1"/>
          </p:cNvSpPr>
          <p:nvPr>
            <p:ph type="title"/>
          </p:nvPr>
        </p:nvSpPr>
        <p:spPr>
          <a:xfrm>
            <a:off x="838200" y="365125"/>
            <a:ext cx="10515600" cy="803275"/>
          </a:xfrm>
        </p:spPr>
        <p:txBody>
          <a:bodyPr/>
          <a:lstStyle/>
          <a:p>
            <a:r>
              <a:rPr lang="en-US" dirty="0"/>
              <a:t>HPV Cancer Screening &amp; HIV</a:t>
            </a:r>
          </a:p>
        </p:txBody>
      </p:sp>
      <p:sp>
        <p:nvSpPr>
          <p:cNvPr id="3" name="Content Placeholder 2">
            <a:extLst>
              <a:ext uri="{FF2B5EF4-FFF2-40B4-BE49-F238E27FC236}">
                <a16:creationId xmlns:a16="http://schemas.microsoft.com/office/drawing/2014/main" id="{D751D5C0-AF5A-203F-35F3-27DED9B9A50C}"/>
              </a:ext>
            </a:extLst>
          </p:cNvPr>
          <p:cNvSpPr>
            <a:spLocks noGrp="1"/>
          </p:cNvSpPr>
          <p:nvPr>
            <p:ph idx="1"/>
          </p:nvPr>
        </p:nvSpPr>
        <p:spPr>
          <a:xfrm>
            <a:off x="714375" y="1168399"/>
            <a:ext cx="10515600" cy="5324475"/>
          </a:xfrm>
        </p:spPr>
        <p:txBody>
          <a:bodyPr>
            <a:normAutofit lnSpcReduction="10000"/>
          </a:bodyPr>
          <a:lstStyle/>
          <a:p>
            <a:r>
              <a:rPr lang="en-US" dirty="0"/>
              <a:t>Individuals with HIV start screening earlier and screen more often for cervical cancer with pap smears</a:t>
            </a:r>
          </a:p>
          <a:p>
            <a:endParaRPr lang="en-US" dirty="0"/>
          </a:p>
          <a:p>
            <a:endParaRPr lang="en-US" dirty="0"/>
          </a:p>
          <a:p>
            <a:endParaRPr lang="en-US" dirty="0"/>
          </a:p>
          <a:p>
            <a:endParaRPr lang="en-US" dirty="0"/>
          </a:p>
          <a:p>
            <a:endParaRPr lang="en-US" dirty="0"/>
          </a:p>
          <a:p>
            <a:endParaRPr lang="en-US" dirty="0"/>
          </a:p>
          <a:p>
            <a:endParaRPr lang="en-US" dirty="0"/>
          </a:p>
          <a:p>
            <a:r>
              <a:rPr lang="en-US" dirty="0"/>
              <a:t>Individuals with HIV also are recommended to undergo anal pap smears as HPV can cause rectal cancers &amp; HIV increases that risk</a:t>
            </a:r>
          </a:p>
        </p:txBody>
      </p:sp>
      <p:pic>
        <p:nvPicPr>
          <p:cNvPr id="6" name="Picture 4" descr="Anal Cancer Brochure">
            <a:extLst>
              <a:ext uri="{FF2B5EF4-FFF2-40B4-BE49-F238E27FC236}">
                <a16:creationId xmlns:a16="http://schemas.microsoft.com/office/drawing/2014/main" id="{3CB725AD-6D8D-F1FC-C856-9C1F9F27D88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7899"/>
          <a:stretch/>
        </p:blipFill>
        <p:spPr bwMode="auto">
          <a:xfrm>
            <a:off x="6295800" y="1791097"/>
            <a:ext cx="2848200" cy="3275806"/>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D0A83B7-2C49-944A-224A-A7550FAD85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9450" y="1965260"/>
            <a:ext cx="2503082" cy="2927480"/>
          </a:xfrm>
          <a:prstGeom prst="rect">
            <a:avLst/>
          </a:prstGeom>
        </p:spPr>
      </p:pic>
    </p:spTree>
    <p:extLst>
      <p:ext uri="{BB962C8B-B14F-4D97-AF65-F5344CB8AC3E}">
        <p14:creationId xmlns:p14="http://schemas.microsoft.com/office/powerpoint/2010/main" val="2449858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Effect transition="in" filter="barn(inVertical)">
                                      <p:cBhvr>
                                        <p:cTn id="15" dur="500"/>
                                        <p:tgtEl>
                                          <p:spTgt spid="3">
                                            <p:txEl>
                                              <p:pRg st="8" end="8"/>
                                            </p:txEl>
                                          </p:spTgt>
                                        </p:tgtEl>
                                      </p:cBhvr>
                                    </p:animEffect>
                                  </p:childTnLst>
                                </p:cTn>
                              </p:par>
                            </p:childTnLst>
                          </p:cTn>
                        </p:par>
                        <p:par>
                          <p:cTn id="16" fill="hold">
                            <p:stCondLst>
                              <p:cond delay="500"/>
                            </p:stCondLst>
                            <p:childTnLst>
                              <p:par>
                                <p:cTn id="17" presetID="16" presetClass="entr" presetSubtype="21"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Vertical)">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D84FC-3E3B-3A2F-F756-F30613DD1A34}"/>
              </a:ext>
            </a:extLst>
          </p:cNvPr>
          <p:cNvSpPr>
            <a:spLocks noGrp="1"/>
          </p:cNvSpPr>
          <p:nvPr>
            <p:ph type="title"/>
          </p:nvPr>
        </p:nvSpPr>
        <p:spPr>
          <a:xfrm>
            <a:off x="838200" y="95251"/>
            <a:ext cx="10515600" cy="585786"/>
          </a:xfrm>
        </p:spPr>
        <p:txBody>
          <a:bodyPr>
            <a:normAutofit fontScale="90000"/>
          </a:bodyPr>
          <a:lstStyle/>
          <a:p>
            <a:r>
              <a:rPr lang="en-US" dirty="0"/>
              <a:t>Anal Pap Smear Screening Guidelines in Women</a:t>
            </a:r>
          </a:p>
        </p:txBody>
      </p:sp>
      <p:sp>
        <p:nvSpPr>
          <p:cNvPr id="3" name="Content Placeholder 2">
            <a:extLst>
              <a:ext uri="{FF2B5EF4-FFF2-40B4-BE49-F238E27FC236}">
                <a16:creationId xmlns:a16="http://schemas.microsoft.com/office/drawing/2014/main" id="{5D5A4065-2D89-06D2-F695-2F84C1D96A0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F7B05E1-6BD4-8FE1-DC1E-07028C83AB89}"/>
              </a:ext>
            </a:extLst>
          </p:cNvPr>
          <p:cNvPicPr>
            <a:picLocks noChangeAspect="1"/>
          </p:cNvPicPr>
          <p:nvPr/>
        </p:nvPicPr>
        <p:blipFill>
          <a:blip r:embed="rId2"/>
          <a:stretch>
            <a:fillRect/>
          </a:stretch>
        </p:blipFill>
        <p:spPr>
          <a:xfrm>
            <a:off x="491063" y="772305"/>
            <a:ext cx="11015081" cy="5752320"/>
          </a:xfrm>
          <a:prstGeom prst="rect">
            <a:avLst/>
          </a:prstGeom>
        </p:spPr>
      </p:pic>
    </p:spTree>
    <p:extLst>
      <p:ext uri="{BB962C8B-B14F-4D97-AF65-F5344CB8AC3E}">
        <p14:creationId xmlns:p14="http://schemas.microsoft.com/office/powerpoint/2010/main" val="11664675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F6A62-DC40-FB04-73A7-C456A4C39C56}"/>
              </a:ext>
            </a:extLst>
          </p:cNvPr>
          <p:cNvSpPr>
            <a:spLocks noGrp="1"/>
          </p:cNvSpPr>
          <p:nvPr>
            <p:ph type="title"/>
          </p:nvPr>
        </p:nvSpPr>
        <p:spPr>
          <a:xfrm>
            <a:off x="1266825" y="266587"/>
            <a:ext cx="10515600" cy="641237"/>
          </a:xfrm>
        </p:spPr>
        <p:txBody>
          <a:bodyPr>
            <a:normAutofit fontScale="90000"/>
          </a:bodyPr>
          <a:lstStyle/>
          <a:p>
            <a:r>
              <a:rPr lang="en-US" dirty="0"/>
              <a:t>Anal Pap Smear Screening Guidelines in Men</a:t>
            </a:r>
          </a:p>
        </p:txBody>
      </p:sp>
      <p:pic>
        <p:nvPicPr>
          <p:cNvPr id="5" name="Picture 4">
            <a:extLst>
              <a:ext uri="{FF2B5EF4-FFF2-40B4-BE49-F238E27FC236}">
                <a16:creationId xmlns:a16="http://schemas.microsoft.com/office/drawing/2014/main" id="{FC590ECE-1FB6-030E-3D23-E9C72819E2A9}"/>
              </a:ext>
            </a:extLst>
          </p:cNvPr>
          <p:cNvPicPr>
            <a:picLocks noChangeAspect="1"/>
          </p:cNvPicPr>
          <p:nvPr/>
        </p:nvPicPr>
        <p:blipFill>
          <a:blip r:embed="rId2"/>
          <a:stretch>
            <a:fillRect/>
          </a:stretch>
        </p:blipFill>
        <p:spPr>
          <a:xfrm>
            <a:off x="923731" y="1006362"/>
            <a:ext cx="10283889" cy="5765744"/>
          </a:xfrm>
          <a:prstGeom prst="rect">
            <a:avLst/>
          </a:prstGeom>
        </p:spPr>
      </p:pic>
    </p:spTree>
    <p:extLst>
      <p:ext uri="{BB962C8B-B14F-4D97-AF65-F5344CB8AC3E}">
        <p14:creationId xmlns:p14="http://schemas.microsoft.com/office/powerpoint/2010/main" val="42730344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a:xfrm>
            <a:off x="622300" y="204787"/>
            <a:ext cx="9410700" cy="762000"/>
          </a:xfrm>
        </p:spPr>
        <p:txBody>
          <a:bodyPr>
            <a:normAutofit fontScale="90000"/>
          </a:bodyPr>
          <a:lstStyle/>
          <a:p>
            <a:pPr eaLnBrk="1" hangingPunct="1"/>
            <a:r>
              <a:rPr lang="en-US" altLang="en-US" dirty="0"/>
              <a:t>Prevention - HPV Vaccination – CDC 2020</a:t>
            </a:r>
          </a:p>
        </p:txBody>
      </p:sp>
      <p:sp>
        <p:nvSpPr>
          <p:cNvPr id="96259" name="Content Placeholder 2"/>
          <p:cNvSpPr>
            <a:spLocks noGrp="1"/>
          </p:cNvSpPr>
          <p:nvPr>
            <p:ph idx="1"/>
          </p:nvPr>
        </p:nvSpPr>
        <p:spPr>
          <a:xfrm>
            <a:off x="622299" y="880639"/>
            <a:ext cx="10702713" cy="5350827"/>
          </a:xfrm>
        </p:spPr>
        <p:txBody>
          <a:bodyPr>
            <a:normAutofit fontScale="92500" lnSpcReduction="10000"/>
          </a:bodyPr>
          <a:lstStyle/>
          <a:p>
            <a:pPr indent="-203200">
              <a:defRPr/>
            </a:pPr>
            <a:r>
              <a:rPr lang="en-US" dirty="0"/>
              <a:t>Gardasil</a:t>
            </a:r>
            <a:r>
              <a:rPr lang="en-US" sz="2000" dirty="0"/>
              <a:t> has types 6, 11, 16, 18, 31, 33, 45, 52, 58 </a:t>
            </a:r>
            <a:endParaRPr lang="en-US" sz="1200" dirty="0"/>
          </a:p>
          <a:p>
            <a:pPr marL="914400" lvl="2">
              <a:buFont typeface="Arial" panose="020B0604020202020204" pitchFamily="34" charset="0"/>
              <a:buChar char="–"/>
              <a:defRPr/>
            </a:pPr>
            <a:r>
              <a:rPr lang="en-US" dirty="0"/>
              <a:t>Types 16 &amp; 18 account for 70% of all cervical cancers</a:t>
            </a:r>
          </a:p>
          <a:p>
            <a:pPr marL="914717" lvl="2" indent="-246888">
              <a:buFont typeface="Arial" panose="020B0604020202020204" pitchFamily="34" charset="0"/>
              <a:buChar char="–"/>
              <a:defRPr/>
            </a:pPr>
            <a:r>
              <a:rPr lang="en-US" dirty="0"/>
              <a:t>Types 31, 33, 45, 52, 58 account for another 10%</a:t>
            </a:r>
          </a:p>
          <a:p>
            <a:pPr marL="914717" lvl="2" indent="-246888">
              <a:buFont typeface="Arial" panose="020B0604020202020204" pitchFamily="34" charset="0"/>
              <a:buChar char="–"/>
              <a:defRPr/>
            </a:pPr>
            <a:r>
              <a:rPr lang="en-US" altLang="en-US" dirty="0"/>
              <a:t>Types 6, 11 cause genital warts</a:t>
            </a:r>
          </a:p>
          <a:p>
            <a:pPr eaLnBrk="1" hangingPunct="1"/>
            <a:r>
              <a:rPr lang="en-US" altLang="en-US" dirty="0"/>
              <a:t>Routine vaccination</a:t>
            </a:r>
          </a:p>
          <a:p>
            <a:pPr lvl="1" eaLnBrk="1" hangingPunct="1"/>
            <a:r>
              <a:rPr lang="en-US" altLang="en-US" sz="2000" b="1" dirty="0"/>
              <a:t>HPV vaccination recommended for all adults through age 26 years: </a:t>
            </a:r>
            <a:r>
              <a:rPr lang="en-US" altLang="en-US" sz="2000" dirty="0"/>
              <a:t>2- or 3-dose series depending on age at initial vaccination or condition:</a:t>
            </a:r>
          </a:p>
          <a:p>
            <a:pPr lvl="2" eaLnBrk="1" hangingPunct="1"/>
            <a:r>
              <a:rPr lang="en-US" altLang="en-US" sz="1800" b="1" dirty="0"/>
              <a:t>Age 15 years or older at initial vaccination:</a:t>
            </a:r>
            <a:r>
              <a:rPr lang="en-US" altLang="en-US" sz="1800" dirty="0"/>
              <a:t> 3-dose series at 0, 1–2, 6 months (minimum intervals: 4 weeks between doses 1 and 2/12 weeks between doses 2 and 3/5 months between doses 1 and 3; repeat dose if administered too soon)</a:t>
            </a:r>
          </a:p>
          <a:p>
            <a:pPr lvl="2" eaLnBrk="1" hangingPunct="1"/>
            <a:r>
              <a:rPr lang="en-US" altLang="en-US" sz="1800" b="1" dirty="0"/>
              <a:t>Age 9 through 14 years at initial vaccination and received 1 dose or 2 doses less than 5 months apart:</a:t>
            </a:r>
            <a:r>
              <a:rPr lang="en-US" altLang="en-US" sz="1800" dirty="0"/>
              <a:t> 1 dose</a:t>
            </a:r>
          </a:p>
          <a:p>
            <a:pPr lvl="2" eaLnBrk="1" hangingPunct="1"/>
            <a:r>
              <a:rPr lang="en-US" altLang="en-US" sz="1800" b="1" dirty="0"/>
              <a:t>Age 9 through 14 years at initial vaccination and received 2 doses at least 5 months apart:</a:t>
            </a:r>
            <a:r>
              <a:rPr lang="en-US" altLang="en-US" sz="1800" dirty="0"/>
              <a:t> HPV vaccination complete, no additional dose needed.</a:t>
            </a:r>
          </a:p>
          <a:p>
            <a:pPr eaLnBrk="1" hangingPunct="1"/>
            <a:r>
              <a:rPr lang="en-US" altLang="en-US" dirty="0"/>
              <a:t>Shared clinical decision-making</a:t>
            </a:r>
          </a:p>
          <a:p>
            <a:pPr lvl="1" eaLnBrk="1" hangingPunct="1"/>
            <a:r>
              <a:rPr lang="en-US" altLang="en-US" sz="2000" b="1" dirty="0"/>
              <a:t>Age 27 through 45 years based on shared clinical decision-making:</a:t>
            </a:r>
            <a:endParaRPr lang="en-US" altLang="en-US" sz="2000" dirty="0"/>
          </a:p>
          <a:p>
            <a:pPr lvl="2" eaLnBrk="1" hangingPunct="1"/>
            <a:r>
              <a:rPr lang="en-US" altLang="en-US" sz="1800" dirty="0"/>
              <a:t>2- or 3-dose series as above</a:t>
            </a:r>
          </a:p>
          <a:p>
            <a:pPr eaLnBrk="1" hangingPunct="1"/>
            <a:endParaRPr lang="en-US" altLang="en-US" dirty="0"/>
          </a:p>
        </p:txBody>
      </p:sp>
      <p:pic>
        <p:nvPicPr>
          <p:cNvPr id="96260" name="Picture 5" descr="CDC vaccine table for HPV vaccination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82800" y="5891213"/>
            <a:ext cx="7950200"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Effect transition="in" filter="randombar(horizontal)">
                                      <p:cBhvr>
                                        <p:cTn id="7" dur="500"/>
                                        <p:tgtEl>
                                          <p:spTgt spid="96259">
                                            <p:txEl>
                                              <p:pRg st="0" end="0"/>
                                            </p:tx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96259">
                                            <p:txEl>
                                              <p:pRg st="1" end="1"/>
                                            </p:txEl>
                                          </p:spTgt>
                                        </p:tgtEl>
                                        <p:attrNameLst>
                                          <p:attrName>style.visibility</p:attrName>
                                        </p:attrNameLst>
                                      </p:cBhvr>
                                      <p:to>
                                        <p:strVal val="visible"/>
                                      </p:to>
                                    </p:set>
                                    <p:animEffect transition="in" filter="randombar(horizontal)">
                                      <p:cBhvr>
                                        <p:cTn id="10" dur="500"/>
                                        <p:tgtEl>
                                          <p:spTgt spid="96259">
                                            <p:txEl>
                                              <p:pRg st="1" end="1"/>
                                            </p:tx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96259">
                                            <p:txEl>
                                              <p:pRg st="2" end="2"/>
                                            </p:txEl>
                                          </p:spTgt>
                                        </p:tgtEl>
                                        <p:attrNameLst>
                                          <p:attrName>style.visibility</p:attrName>
                                        </p:attrNameLst>
                                      </p:cBhvr>
                                      <p:to>
                                        <p:strVal val="visible"/>
                                      </p:to>
                                    </p:set>
                                    <p:animEffect transition="in" filter="randombar(horizontal)">
                                      <p:cBhvr>
                                        <p:cTn id="13" dur="500"/>
                                        <p:tgtEl>
                                          <p:spTgt spid="96259">
                                            <p:txEl>
                                              <p:pRg st="2" end="2"/>
                                            </p:txEl>
                                          </p:spTgt>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96259">
                                            <p:txEl>
                                              <p:pRg st="3" end="3"/>
                                            </p:txEl>
                                          </p:spTgt>
                                        </p:tgtEl>
                                        <p:attrNameLst>
                                          <p:attrName>style.visibility</p:attrName>
                                        </p:attrNameLst>
                                      </p:cBhvr>
                                      <p:to>
                                        <p:strVal val="visible"/>
                                      </p:to>
                                    </p:set>
                                    <p:animEffect transition="in" filter="randombar(horizontal)">
                                      <p:cBhvr>
                                        <p:cTn id="16" dur="500"/>
                                        <p:tgtEl>
                                          <p:spTgt spid="9625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96259">
                                            <p:txEl>
                                              <p:pRg st="4" end="4"/>
                                            </p:txEl>
                                          </p:spTgt>
                                        </p:tgtEl>
                                        <p:attrNameLst>
                                          <p:attrName>style.visibility</p:attrName>
                                        </p:attrNameLst>
                                      </p:cBhvr>
                                      <p:to>
                                        <p:strVal val="visible"/>
                                      </p:to>
                                    </p:set>
                                    <p:animEffect transition="in" filter="randombar(horizontal)">
                                      <p:cBhvr>
                                        <p:cTn id="21" dur="500"/>
                                        <p:tgtEl>
                                          <p:spTgt spid="96259">
                                            <p:txEl>
                                              <p:pRg st="4" end="4"/>
                                            </p:txEl>
                                          </p:spTgt>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96259">
                                            <p:txEl>
                                              <p:pRg st="5" end="5"/>
                                            </p:txEl>
                                          </p:spTgt>
                                        </p:tgtEl>
                                        <p:attrNameLst>
                                          <p:attrName>style.visibility</p:attrName>
                                        </p:attrNameLst>
                                      </p:cBhvr>
                                      <p:to>
                                        <p:strVal val="visible"/>
                                      </p:to>
                                    </p:set>
                                    <p:animEffect transition="in" filter="randombar(horizontal)">
                                      <p:cBhvr>
                                        <p:cTn id="24" dur="500"/>
                                        <p:tgtEl>
                                          <p:spTgt spid="96259">
                                            <p:txEl>
                                              <p:pRg st="5" end="5"/>
                                            </p:txEl>
                                          </p:spTgt>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96259">
                                            <p:txEl>
                                              <p:pRg st="6" end="6"/>
                                            </p:txEl>
                                          </p:spTgt>
                                        </p:tgtEl>
                                        <p:attrNameLst>
                                          <p:attrName>style.visibility</p:attrName>
                                        </p:attrNameLst>
                                      </p:cBhvr>
                                      <p:to>
                                        <p:strVal val="visible"/>
                                      </p:to>
                                    </p:set>
                                    <p:animEffect transition="in" filter="randombar(horizontal)">
                                      <p:cBhvr>
                                        <p:cTn id="27" dur="500"/>
                                        <p:tgtEl>
                                          <p:spTgt spid="96259">
                                            <p:txEl>
                                              <p:pRg st="6" end="6"/>
                                            </p:txEl>
                                          </p:spTgt>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96259">
                                            <p:txEl>
                                              <p:pRg st="7" end="7"/>
                                            </p:txEl>
                                          </p:spTgt>
                                        </p:tgtEl>
                                        <p:attrNameLst>
                                          <p:attrName>style.visibility</p:attrName>
                                        </p:attrNameLst>
                                      </p:cBhvr>
                                      <p:to>
                                        <p:strVal val="visible"/>
                                      </p:to>
                                    </p:set>
                                    <p:animEffect transition="in" filter="randombar(horizontal)">
                                      <p:cBhvr>
                                        <p:cTn id="30" dur="500"/>
                                        <p:tgtEl>
                                          <p:spTgt spid="96259">
                                            <p:txEl>
                                              <p:pRg st="7" end="7"/>
                                            </p:txEl>
                                          </p:spTgt>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96259">
                                            <p:txEl>
                                              <p:pRg st="8" end="8"/>
                                            </p:txEl>
                                          </p:spTgt>
                                        </p:tgtEl>
                                        <p:attrNameLst>
                                          <p:attrName>style.visibility</p:attrName>
                                        </p:attrNameLst>
                                      </p:cBhvr>
                                      <p:to>
                                        <p:strVal val="visible"/>
                                      </p:to>
                                    </p:set>
                                    <p:animEffect transition="in" filter="randombar(horizontal)">
                                      <p:cBhvr>
                                        <p:cTn id="33" dur="500"/>
                                        <p:tgtEl>
                                          <p:spTgt spid="96259">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96259">
                                            <p:txEl>
                                              <p:pRg st="9" end="9"/>
                                            </p:txEl>
                                          </p:spTgt>
                                        </p:tgtEl>
                                        <p:attrNameLst>
                                          <p:attrName>style.visibility</p:attrName>
                                        </p:attrNameLst>
                                      </p:cBhvr>
                                      <p:to>
                                        <p:strVal val="visible"/>
                                      </p:to>
                                    </p:set>
                                    <p:animEffect transition="in" filter="randombar(horizontal)">
                                      <p:cBhvr>
                                        <p:cTn id="38" dur="500"/>
                                        <p:tgtEl>
                                          <p:spTgt spid="96259">
                                            <p:txEl>
                                              <p:pRg st="9" end="9"/>
                                            </p:txEl>
                                          </p:spTgt>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96259">
                                            <p:txEl>
                                              <p:pRg st="10" end="10"/>
                                            </p:txEl>
                                          </p:spTgt>
                                        </p:tgtEl>
                                        <p:attrNameLst>
                                          <p:attrName>style.visibility</p:attrName>
                                        </p:attrNameLst>
                                      </p:cBhvr>
                                      <p:to>
                                        <p:strVal val="visible"/>
                                      </p:to>
                                    </p:set>
                                    <p:animEffect transition="in" filter="randombar(horizontal)">
                                      <p:cBhvr>
                                        <p:cTn id="41" dur="500"/>
                                        <p:tgtEl>
                                          <p:spTgt spid="96259">
                                            <p:txEl>
                                              <p:pRg st="10" end="10"/>
                                            </p:txEl>
                                          </p:spTgt>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96259">
                                            <p:txEl>
                                              <p:pRg st="11" end="11"/>
                                            </p:txEl>
                                          </p:spTgt>
                                        </p:tgtEl>
                                        <p:attrNameLst>
                                          <p:attrName>style.visibility</p:attrName>
                                        </p:attrNameLst>
                                      </p:cBhvr>
                                      <p:to>
                                        <p:strVal val="visible"/>
                                      </p:to>
                                    </p:set>
                                    <p:animEffect transition="in" filter="randombar(horizontal)">
                                      <p:cBhvr>
                                        <p:cTn id="44" dur="500"/>
                                        <p:tgtEl>
                                          <p:spTgt spid="9625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6E923-D659-50DB-2ECF-9FF0448AE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A64C8-227F-3407-D73D-539524046C43}"/>
              </a:ext>
            </a:extLst>
          </p:cNvPr>
          <p:cNvSpPr>
            <a:spLocks noGrp="1"/>
          </p:cNvSpPr>
          <p:nvPr>
            <p:ph type="title"/>
          </p:nvPr>
        </p:nvSpPr>
        <p:spPr/>
        <p:txBody>
          <a:bodyPr/>
          <a:lstStyle/>
          <a:p>
            <a:r>
              <a:rPr lang="en-US" dirty="0"/>
              <a:t>Vaginovulvar Path</a:t>
            </a:r>
          </a:p>
        </p:txBody>
      </p:sp>
      <p:sp>
        <p:nvSpPr>
          <p:cNvPr id="3" name="Text Placeholder 2">
            <a:extLst>
              <a:ext uri="{FF2B5EF4-FFF2-40B4-BE49-F238E27FC236}">
                <a16:creationId xmlns:a16="http://schemas.microsoft.com/office/drawing/2014/main" id="{1F561E83-0DBC-2E9B-2F04-9E93948C219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773579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25C95-2A23-4B56-B238-350D153FBBE6}"/>
              </a:ext>
            </a:extLst>
          </p:cNvPr>
          <p:cNvSpPr>
            <a:spLocks noGrp="1"/>
          </p:cNvSpPr>
          <p:nvPr>
            <p:ph type="title"/>
          </p:nvPr>
        </p:nvSpPr>
        <p:spPr>
          <a:xfrm>
            <a:off x="838200" y="365125"/>
            <a:ext cx="5341330" cy="1325563"/>
          </a:xfrm>
        </p:spPr>
        <p:txBody>
          <a:bodyPr/>
          <a:lstStyle/>
          <a:p>
            <a:pPr>
              <a:defRPr/>
            </a:pPr>
            <a:r>
              <a:rPr lang="en-US" altLang="en-US" dirty="0"/>
              <a:t>Hymen</a:t>
            </a:r>
            <a:endParaRPr lang="en-US" dirty="0"/>
          </a:p>
        </p:txBody>
      </p:sp>
      <p:pic>
        <p:nvPicPr>
          <p:cNvPr id="39941" name="Picture 4" descr="Photograph showing a close-up view of a semilunar hymen with intravaginally visible longitudinal ridges and mild periurethral dilatation. The image highlights normal anatomical features and subtle tissue details in a clinical context.">
            <a:extLst>
              <a:ext uri="{FF2B5EF4-FFF2-40B4-BE49-F238E27FC236}">
                <a16:creationId xmlns:a16="http://schemas.microsoft.com/office/drawing/2014/main" id="{064E112A-B87F-8EB3-BFE8-8E94464DD7F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52500" y="2219325"/>
            <a:ext cx="5227030" cy="310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3" descr="Diagram illustrating five types of hymen anatomy, including annular, cribriform, septate, imperforate, and parous introitus. Each type is depicted with distinct shapes and openings, labeled clearly to highlight structural differences and variations in hymenal openings.">
            <a:extLst>
              <a:ext uri="{FF2B5EF4-FFF2-40B4-BE49-F238E27FC236}">
                <a16:creationId xmlns:a16="http://schemas.microsoft.com/office/drawing/2014/main" id="{6E34ADCF-C67B-6D65-7314-FDDDB318C3A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46988" y="681037"/>
            <a:ext cx="4672402" cy="522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5F60F6B6-5FAB-F548-756C-C08C9842C51E}"/>
              </a:ext>
              <a:ext uri="{C183D7F6-B498-43B3-948B-1728B52AA6E4}">
                <adec:decorative xmlns:adec="http://schemas.microsoft.com/office/drawing/2017/decorative" val="1"/>
              </a:ext>
            </a:extLst>
          </p:cNvPr>
          <p:cNvSpPr txBox="1"/>
          <p:nvPr/>
        </p:nvSpPr>
        <p:spPr>
          <a:xfrm>
            <a:off x="554229" y="6385997"/>
            <a:ext cx="6023572" cy="369332"/>
          </a:xfrm>
          <a:prstGeom prst="rect">
            <a:avLst/>
          </a:prstGeom>
          <a:noFill/>
        </p:spPr>
        <p:txBody>
          <a:bodyPr wrap="none" rtlCol="0">
            <a:spAutoFit/>
          </a:bodyPr>
          <a:lstStyle/>
          <a:p>
            <a:r>
              <a:rPr lang="en-US" dirty="0"/>
              <a:t>https://vulvovaginaldisorders.org/annotation/annotation-n/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0CD4C-307B-A36D-3885-803099D2A2AC}"/>
              </a:ext>
            </a:extLst>
          </p:cNvPr>
          <p:cNvSpPr>
            <a:spLocks noGrp="1"/>
          </p:cNvSpPr>
          <p:nvPr>
            <p:ph type="title"/>
          </p:nvPr>
        </p:nvSpPr>
        <p:spPr/>
        <p:txBody>
          <a:bodyPr/>
          <a:lstStyle/>
          <a:p>
            <a:r>
              <a:rPr lang="en-US" dirty="0"/>
              <a:t>Infectious - STIs</a:t>
            </a:r>
          </a:p>
        </p:txBody>
      </p:sp>
      <p:sp>
        <p:nvSpPr>
          <p:cNvPr id="3" name="Content Placeholder 2">
            <a:extLst>
              <a:ext uri="{FF2B5EF4-FFF2-40B4-BE49-F238E27FC236}">
                <a16:creationId xmlns:a16="http://schemas.microsoft.com/office/drawing/2014/main" id="{43DF303B-8BCD-88F6-8075-BFFA76E60C95}"/>
              </a:ext>
            </a:extLst>
          </p:cNvPr>
          <p:cNvSpPr>
            <a:spLocks noGrp="1"/>
          </p:cNvSpPr>
          <p:nvPr>
            <p:ph idx="1"/>
          </p:nvPr>
        </p:nvSpPr>
        <p:spPr>
          <a:xfrm>
            <a:off x="838200" y="1428750"/>
            <a:ext cx="10515600" cy="4748213"/>
          </a:xfrm>
        </p:spPr>
        <p:txBody>
          <a:bodyPr/>
          <a:lstStyle/>
          <a:p>
            <a:r>
              <a:rPr lang="en-US" dirty="0"/>
              <a:t>Herpes simplex (HSV)</a:t>
            </a:r>
          </a:p>
          <a:p>
            <a:r>
              <a:rPr lang="en-US" dirty="0"/>
              <a:t>Syphilitic chancre</a:t>
            </a:r>
          </a:p>
          <a:p>
            <a:r>
              <a:rPr lang="en-US" dirty="0" err="1"/>
              <a:t>Condylomata</a:t>
            </a:r>
            <a:r>
              <a:rPr lang="en-US" dirty="0"/>
              <a:t> acuminata (HPV)</a:t>
            </a:r>
          </a:p>
          <a:p>
            <a:r>
              <a:rPr lang="en-US" dirty="0"/>
              <a:t>Molluscum contagiosum</a:t>
            </a:r>
          </a:p>
          <a:p>
            <a:r>
              <a:rPr lang="en-US" dirty="0"/>
              <a:t>Trichomoniasis</a:t>
            </a:r>
          </a:p>
        </p:txBody>
      </p:sp>
      <p:pic>
        <p:nvPicPr>
          <p:cNvPr id="4" name="Picture 4" descr="3 pictures showing herpes lesions. 1st is a cluster of vesicles on the face, then penis, then labia.">
            <a:extLst>
              <a:ext uri="{FF2B5EF4-FFF2-40B4-BE49-F238E27FC236}">
                <a16:creationId xmlns:a16="http://schemas.microsoft.com/office/drawing/2014/main" id="{A270A5D4-E8F0-6A2D-C22A-C14DF274C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533400"/>
            <a:ext cx="5484813"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Genital Warts">
            <a:extLst>
              <a:ext uri="{FF2B5EF4-FFF2-40B4-BE49-F238E27FC236}">
                <a16:creationId xmlns:a16="http://schemas.microsoft.com/office/drawing/2014/main" id="{FB6AE83F-F3B5-B57B-CF5E-839DE80212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5393" y="4286250"/>
            <a:ext cx="3197820"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Syphilis symptoms picture | STD Center NY">
            <a:extLst>
              <a:ext uri="{FF2B5EF4-FFF2-40B4-BE49-F238E27FC236}">
                <a16:creationId xmlns:a16="http://schemas.microsoft.com/office/drawing/2014/main" id="{9392FF4C-1B8C-3A68-2FCD-9A8052AFA3E7}"/>
              </a:ext>
            </a:extLst>
          </p:cNvPr>
          <p:cNvPicPr>
            <a:picLocks noChangeAspect="1"/>
          </p:cNvPicPr>
          <p:nvPr/>
        </p:nvPicPr>
        <p:blipFill>
          <a:blip r:embed="rId4"/>
          <a:stretch>
            <a:fillRect/>
          </a:stretch>
        </p:blipFill>
        <p:spPr>
          <a:xfrm>
            <a:off x="5216245" y="3635374"/>
            <a:ext cx="2613305" cy="2757487"/>
          </a:xfrm>
          <a:prstGeom prst="rect">
            <a:avLst/>
          </a:prstGeom>
        </p:spPr>
      </p:pic>
      <p:sp>
        <p:nvSpPr>
          <p:cNvPr id="9" name="TextBox 8">
            <a:extLst>
              <a:ext uri="{FF2B5EF4-FFF2-40B4-BE49-F238E27FC236}">
                <a16:creationId xmlns:a16="http://schemas.microsoft.com/office/drawing/2014/main" id="{775ADE59-C90F-C8CE-CDFB-3B9FFA7EE0F5}"/>
              </a:ext>
            </a:extLst>
          </p:cNvPr>
          <p:cNvSpPr txBox="1"/>
          <p:nvPr/>
        </p:nvSpPr>
        <p:spPr>
          <a:xfrm>
            <a:off x="285750" y="5603178"/>
            <a:ext cx="6096000" cy="923330"/>
          </a:xfrm>
          <a:prstGeom prst="rect">
            <a:avLst/>
          </a:prstGeom>
          <a:noFill/>
        </p:spPr>
        <p:txBody>
          <a:bodyPr wrap="square">
            <a:spAutoFit/>
          </a:bodyPr>
          <a:lstStyle/>
          <a:p>
            <a:r>
              <a:rPr lang="en-US" dirty="0"/>
              <a:t>http://thescienceofeating.com/wp-content/uploads/2015/02/Genital-Herpes-HV1-e1423608033412.jpg</a:t>
            </a:r>
          </a:p>
        </p:txBody>
      </p:sp>
    </p:spTree>
    <p:extLst>
      <p:ext uri="{BB962C8B-B14F-4D97-AF65-F5344CB8AC3E}">
        <p14:creationId xmlns:p14="http://schemas.microsoft.com/office/powerpoint/2010/main" val="3881450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1000"/>
                                        <p:tgtEl>
                                          <p:spTgt spid="3">
                                            <p:txEl>
                                              <p:pRg st="0" end="0"/>
                                            </p:txEl>
                                          </p:spTgt>
                                        </p:tgtEl>
                                      </p:cBhvr>
                                    </p:animEffect>
                                  </p:childTnLst>
                                </p:cTn>
                              </p:par>
                              <p:par>
                                <p:cTn id="8" presetID="31"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1000" fill="hold"/>
                                        <p:tgtEl>
                                          <p:spTgt spid="4"/>
                                        </p:tgtEl>
                                        <p:attrNameLst>
                                          <p:attrName>ppt_w</p:attrName>
                                        </p:attrNameLst>
                                      </p:cBhvr>
                                      <p:tavLst>
                                        <p:tav tm="0">
                                          <p:val>
                                            <p:fltVal val="0"/>
                                          </p:val>
                                        </p:tav>
                                        <p:tav tm="100000">
                                          <p:val>
                                            <p:strVal val="#ppt_w"/>
                                          </p:val>
                                        </p:tav>
                                      </p:tavLst>
                                    </p:anim>
                                    <p:anim calcmode="lin" valueType="num">
                                      <p:cBhvr>
                                        <p:cTn id="11" dur="1000" fill="hold"/>
                                        <p:tgtEl>
                                          <p:spTgt spid="4"/>
                                        </p:tgtEl>
                                        <p:attrNameLst>
                                          <p:attrName>ppt_h</p:attrName>
                                        </p:attrNameLst>
                                      </p:cBhvr>
                                      <p:tavLst>
                                        <p:tav tm="0">
                                          <p:val>
                                            <p:fltVal val="0"/>
                                          </p:val>
                                        </p:tav>
                                        <p:tav tm="100000">
                                          <p:val>
                                            <p:strVal val="#ppt_h"/>
                                          </p:val>
                                        </p:tav>
                                      </p:tavLst>
                                    </p:anim>
                                    <p:anim calcmode="lin" valueType="num">
                                      <p:cBhvr>
                                        <p:cTn id="12" dur="1000" fill="hold"/>
                                        <p:tgtEl>
                                          <p:spTgt spid="4"/>
                                        </p:tgtEl>
                                        <p:attrNameLst>
                                          <p:attrName>style.rotation</p:attrName>
                                        </p:attrNameLst>
                                      </p:cBhvr>
                                      <p:tavLst>
                                        <p:tav tm="0">
                                          <p:val>
                                            <p:fltVal val="90"/>
                                          </p:val>
                                        </p:tav>
                                        <p:tav tm="100000">
                                          <p:val>
                                            <p:fltVal val="0"/>
                                          </p:val>
                                        </p:tav>
                                      </p:tavLst>
                                    </p:anim>
                                    <p:animEffect transition="in" filter="fade">
                                      <p:cBhvr>
                                        <p:cTn id="13" dur="10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wheel(1)">
                                      <p:cBhvr>
                                        <p:cTn id="18" dur="1000"/>
                                        <p:tgtEl>
                                          <p:spTgt spid="3">
                                            <p:txEl>
                                              <p:pRg st="1" end="1"/>
                                            </p:txEl>
                                          </p:spTgt>
                                        </p:tgtEl>
                                      </p:cBhvr>
                                    </p:animEffect>
                                  </p:childTnLst>
                                </p:cTn>
                              </p:par>
                              <p:par>
                                <p:cTn id="19" presetID="3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1000" fill="hold"/>
                                        <p:tgtEl>
                                          <p:spTgt spid="6"/>
                                        </p:tgtEl>
                                        <p:attrNameLst>
                                          <p:attrName>ppt_w</p:attrName>
                                        </p:attrNameLst>
                                      </p:cBhvr>
                                      <p:tavLst>
                                        <p:tav tm="0">
                                          <p:val>
                                            <p:fltVal val="0"/>
                                          </p:val>
                                        </p:tav>
                                        <p:tav tm="100000">
                                          <p:val>
                                            <p:strVal val="#ppt_w"/>
                                          </p:val>
                                        </p:tav>
                                      </p:tavLst>
                                    </p:anim>
                                    <p:anim calcmode="lin" valueType="num">
                                      <p:cBhvr>
                                        <p:cTn id="22" dur="1000" fill="hold"/>
                                        <p:tgtEl>
                                          <p:spTgt spid="6"/>
                                        </p:tgtEl>
                                        <p:attrNameLst>
                                          <p:attrName>ppt_h</p:attrName>
                                        </p:attrNameLst>
                                      </p:cBhvr>
                                      <p:tavLst>
                                        <p:tav tm="0">
                                          <p:val>
                                            <p:fltVal val="0"/>
                                          </p:val>
                                        </p:tav>
                                        <p:tav tm="100000">
                                          <p:val>
                                            <p:strVal val="#ppt_h"/>
                                          </p:val>
                                        </p:tav>
                                      </p:tavLst>
                                    </p:anim>
                                    <p:anim calcmode="lin" valueType="num">
                                      <p:cBhvr>
                                        <p:cTn id="23" dur="1000" fill="hold"/>
                                        <p:tgtEl>
                                          <p:spTgt spid="6"/>
                                        </p:tgtEl>
                                        <p:attrNameLst>
                                          <p:attrName>style.rotation</p:attrName>
                                        </p:attrNameLst>
                                      </p:cBhvr>
                                      <p:tavLst>
                                        <p:tav tm="0">
                                          <p:val>
                                            <p:fltVal val="90"/>
                                          </p:val>
                                        </p:tav>
                                        <p:tav tm="100000">
                                          <p:val>
                                            <p:fltVal val="0"/>
                                          </p:val>
                                        </p:tav>
                                      </p:tavLst>
                                    </p:anim>
                                    <p:animEffect transition="in" filter="fade">
                                      <p:cBhvr>
                                        <p:cTn id="24" dur="10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wheel(1)">
                                      <p:cBhvr>
                                        <p:cTn id="29" dur="1000"/>
                                        <p:tgtEl>
                                          <p:spTgt spid="3">
                                            <p:txEl>
                                              <p:pRg st="2" end="2"/>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randombar(horizontal)">
                                      <p:cBhvr>
                                        <p:cTn id="32" dur="10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wheel(1)">
                                      <p:cBhvr>
                                        <p:cTn id="37" dur="10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wheel(1)">
                                      <p:cBhvr>
                                        <p:cTn id="42"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EDFB9-5C4F-6E96-F516-6CAE812F3930}"/>
              </a:ext>
            </a:extLst>
          </p:cNvPr>
          <p:cNvSpPr>
            <a:spLocks noGrp="1"/>
          </p:cNvSpPr>
          <p:nvPr>
            <p:ph type="title"/>
          </p:nvPr>
        </p:nvSpPr>
        <p:spPr>
          <a:xfrm>
            <a:off x="723900" y="213358"/>
            <a:ext cx="10153650" cy="930275"/>
          </a:xfrm>
        </p:spPr>
        <p:txBody>
          <a:bodyPr/>
          <a:lstStyle/>
          <a:p>
            <a:r>
              <a:rPr lang="en-US" dirty="0"/>
              <a:t>Vulvovaginal Candidiasis - General Info</a:t>
            </a:r>
          </a:p>
        </p:txBody>
      </p:sp>
      <p:sp>
        <p:nvSpPr>
          <p:cNvPr id="3" name="Content Placeholder 2">
            <a:extLst>
              <a:ext uri="{FF2B5EF4-FFF2-40B4-BE49-F238E27FC236}">
                <a16:creationId xmlns:a16="http://schemas.microsoft.com/office/drawing/2014/main" id="{1A5B6155-2087-E4D6-1253-ABEE79365676}"/>
              </a:ext>
            </a:extLst>
          </p:cNvPr>
          <p:cNvSpPr>
            <a:spLocks noGrp="1"/>
          </p:cNvSpPr>
          <p:nvPr>
            <p:ph idx="1"/>
          </p:nvPr>
        </p:nvSpPr>
        <p:spPr>
          <a:xfrm>
            <a:off x="809625" y="1117569"/>
            <a:ext cx="10906124" cy="5527073"/>
          </a:xfrm>
        </p:spPr>
        <p:txBody>
          <a:bodyPr>
            <a:normAutofit fontScale="92500" lnSpcReduction="20000"/>
          </a:bodyPr>
          <a:lstStyle/>
          <a:p>
            <a:r>
              <a:rPr lang="en-US" dirty="0"/>
              <a:t>Due to a fungus/yeast, Candida </a:t>
            </a:r>
            <a:r>
              <a:rPr lang="en-US" dirty="0" err="1"/>
              <a:t>Albigans</a:t>
            </a:r>
            <a:r>
              <a:rPr lang="en-US" dirty="0"/>
              <a:t> &amp; non-candida </a:t>
            </a:r>
            <a:r>
              <a:rPr lang="en-US" dirty="0" err="1"/>
              <a:t>albigans</a:t>
            </a:r>
            <a:r>
              <a:rPr lang="en-US" dirty="0"/>
              <a:t> species (</a:t>
            </a:r>
            <a:r>
              <a:rPr lang="en-US" dirty="0" err="1"/>
              <a:t>ie</a:t>
            </a:r>
            <a:r>
              <a:rPr lang="en-US" dirty="0"/>
              <a:t> Candida glabrata)</a:t>
            </a:r>
          </a:p>
          <a:p>
            <a:pPr lvl="1"/>
            <a:r>
              <a:rPr lang="en-US" dirty="0"/>
              <a:t>Fungal overgrowth due to an imbalance of the naturally occurring yeast in the vagina </a:t>
            </a:r>
          </a:p>
          <a:p>
            <a:pPr marL="274320" indent="-274320">
              <a:buClr>
                <a:schemeClr val="accent3"/>
              </a:buClr>
              <a:defRPr/>
            </a:pPr>
            <a:r>
              <a:rPr lang="en-US" dirty="0"/>
              <a:t> </a:t>
            </a:r>
            <a:r>
              <a:rPr lang="en-US" sz="3100" dirty="0"/>
              <a:t>Risk factors include </a:t>
            </a:r>
          </a:p>
          <a:p>
            <a:pPr marL="640080" lvl="1" indent="-246888">
              <a:buFont typeface="Arial" panose="020B0604020202020204" pitchFamily="34" charset="0"/>
              <a:buChar char="–"/>
              <a:defRPr/>
            </a:pPr>
            <a:r>
              <a:rPr lang="en-US" dirty="0"/>
              <a:t>Diabetes or HIV</a:t>
            </a:r>
          </a:p>
          <a:p>
            <a:pPr marL="640080" lvl="1" indent="-246888">
              <a:buFont typeface="Arial" panose="020B0604020202020204" pitchFamily="34" charset="0"/>
              <a:buChar char="–"/>
              <a:defRPr/>
            </a:pPr>
            <a:r>
              <a:rPr lang="en-US" dirty="0"/>
              <a:t>Douching</a:t>
            </a:r>
          </a:p>
          <a:p>
            <a:pPr marL="640080" lvl="1" indent="-246888">
              <a:buFont typeface="Arial" panose="020B0604020202020204" pitchFamily="34" charset="0"/>
              <a:buChar char="–"/>
              <a:defRPr/>
            </a:pPr>
            <a:r>
              <a:rPr lang="en-US" dirty="0"/>
              <a:t>New or multiple sex partners</a:t>
            </a:r>
          </a:p>
          <a:p>
            <a:pPr marL="640080" lvl="1" indent="-246888">
              <a:buFont typeface="Arial" panose="020B0604020202020204" pitchFamily="34" charset="0"/>
              <a:buChar char="–"/>
              <a:defRPr/>
            </a:pPr>
            <a:r>
              <a:rPr lang="en-US" dirty="0"/>
              <a:t>Antibiotics/antifungals or Other Medication Side Effects (think SGLT2i)</a:t>
            </a:r>
          </a:p>
          <a:p>
            <a:pPr marL="640080" lvl="1" indent="-246888">
              <a:buFont typeface="Arial" panose="020B0604020202020204" pitchFamily="34" charset="0"/>
              <a:buChar char="–"/>
              <a:defRPr/>
            </a:pPr>
            <a:r>
              <a:rPr lang="en-US" dirty="0"/>
              <a:t>Using a copper IUD (whereas hormonal IUDs may have a protective effect) or Condoms</a:t>
            </a:r>
          </a:p>
          <a:p>
            <a:pPr marL="640080" lvl="1" indent="-246888">
              <a:buFont typeface="Arial" panose="020B0604020202020204" pitchFamily="34" charset="0"/>
              <a:buChar char="–"/>
              <a:defRPr/>
            </a:pPr>
            <a:r>
              <a:rPr lang="en-US" dirty="0"/>
              <a:t>Frequent </a:t>
            </a:r>
            <a:r>
              <a:rPr lang="en-US" dirty="0" err="1"/>
              <a:t>Menses</a:t>
            </a:r>
            <a:endParaRPr lang="en-US" dirty="0"/>
          </a:p>
          <a:p>
            <a:pPr marL="274320" indent="-274320">
              <a:buClr>
                <a:schemeClr val="accent3"/>
              </a:buClr>
              <a:defRPr/>
            </a:pPr>
            <a:r>
              <a:rPr lang="en-US" sz="3100" dirty="0">
                <a:solidFill>
                  <a:schemeClr val="accent1"/>
                </a:solidFill>
              </a:rPr>
              <a:t>40% of all vaginal infection in women of reproductive age &amp; 75% of all women have had one</a:t>
            </a:r>
          </a:p>
          <a:p>
            <a:endParaRPr lang="en-US" dirty="0"/>
          </a:p>
          <a:p>
            <a:pPr marL="0" indent="0">
              <a:buNone/>
            </a:pPr>
            <a:br>
              <a:rPr lang="en-US" dirty="0"/>
            </a:br>
            <a:endParaRPr lang="en-US" dirty="0"/>
          </a:p>
        </p:txBody>
      </p:sp>
    </p:spTree>
    <p:extLst>
      <p:ext uri="{BB962C8B-B14F-4D97-AF65-F5344CB8AC3E}">
        <p14:creationId xmlns:p14="http://schemas.microsoft.com/office/powerpoint/2010/main" val="2903969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5" dur="500"/>
                                        <p:tgtEl>
                                          <p:spTgt spid="3">
                                            <p:txEl>
                                              <p:pRg st="2" end="2"/>
                                            </p:txEl>
                                          </p:spTgt>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8" dur="500"/>
                                        <p:tgtEl>
                                          <p:spTgt spid="3">
                                            <p:txEl>
                                              <p:pRg st="3" end="3"/>
                                            </p:txEl>
                                          </p:spTgt>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1" dur="500"/>
                                        <p:tgtEl>
                                          <p:spTgt spid="3">
                                            <p:txEl>
                                              <p:pRg st="4" end="4"/>
                                            </p:txEl>
                                          </p:spTgt>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4" dur="500"/>
                                        <p:tgtEl>
                                          <p:spTgt spid="3">
                                            <p:txEl>
                                              <p:pRg st="5" end="5"/>
                                            </p:txEl>
                                          </p:spTgt>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7" dur="500"/>
                                        <p:tgtEl>
                                          <p:spTgt spid="3">
                                            <p:txEl>
                                              <p:pRg st="6" end="6"/>
                                            </p:txEl>
                                          </p:spTgt>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randombar(horizontal)">
                                      <p:cBhvr>
                                        <p:cTn id="30" dur="500"/>
                                        <p:tgtEl>
                                          <p:spTgt spid="3">
                                            <p:txEl>
                                              <p:pRg st="7" end="7"/>
                                            </p:txEl>
                                          </p:spTgt>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randombar(horizontal)">
                                      <p:cBhvr>
                                        <p:cTn id="33" dur="500"/>
                                        <p:tgtEl>
                                          <p:spTgt spid="3">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randombar(horizontal)">
                                      <p:cBhvr>
                                        <p:cTn id="38" dur="500"/>
                                        <p:tgtEl>
                                          <p:spTgt spid="3">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grpId="0"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Effect transition="in" filter="randombar(horizontal)">
                                      <p:cBhvr>
                                        <p:cTn id="43"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9BBF1-F015-9402-B6F6-0DDA55225D55}"/>
              </a:ext>
            </a:extLst>
          </p:cNvPr>
          <p:cNvSpPr>
            <a:spLocks noGrp="1"/>
          </p:cNvSpPr>
          <p:nvPr>
            <p:ph type="title"/>
          </p:nvPr>
        </p:nvSpPr>
        <p:spPr>
          <a:xfrm>
            <a:off x="838200" y="365126"/>
            <a:ext cx="10515600" cy="1054100"/>
          </a:xfrm>
        </p:spPr>
        <p:txBody>
          <a:bodyPr/>
          <a:lstStyle/>
          <a:p>
            <a:r>
              <a:rPr lang="en-US" dirty="0"/>
              <a:t>Vulvovaginal Candidiasis - Symptoms</a:t>
            </a:r>
          </a:p>
        </p:txBody>
      </p:sp>
      <p:sp>
        <p:nvSpPr>
          <p:cNvPr id="3" name="Content Placeholder 2">
            <a:extLst>
              <a:ext uri="{FF2B5EF4-FFF2-40B4-BE49-F238E27FC236}">
                <a16:creationId xmlns:a16="http://schemas.microsoft.com/office/drawing/2014/main" id="{1A641C3D-55F1-0FDE-C116-EEF842BDFDEF}"/>
              </a:ext>
            </a:extLst>
          </p:cNvPr>
          <p:cNvSpPr>
            <a:spLocks noGrp="1"/>
          </p:cNvSpPr>
          <p:nvPr>
            <p:ph idx="1"/>
          </p:nvPr>
        </p:nvSpPr>
        <p:spPr>
          <a:xfrm>
            <a:off x="838200" y="1419226"/>
            <a:ext cx="10515600" cy="4351338"/>
          </a:xfrm>
        </p:spPr>
        <p:txBody>
          <a:bodyPr/>
          <a:lstStyle/>
          <a:p>
            <a:r>
              <a:rPr lang="en-US" dirty="0"/>
              <a:t>Increased vaginal discharge</a:t>
            </a:r>
          </a:p>
          <a:p>
            <a:pPr lvl="1"/>
            <a:r>
              <a:rPr lang="en-US" dirty="0"/>
              <a:t>chunky white discharge</a:t>
            </a:r>
          </a:p>
          <a:p>
            <a:r>
              <a:rPr lang="en-US" dirty="0"/>
              <a:t>Itching</a:t>
            </a:r>
          </a:p>
          <a:p>
            <a:r>
              <a:rPr lang="en-US" dirty="0"/>
              <a:t>Asymptomatic</a:t>
            </a:r>
          </a:p>
          <a:p>
            <a:endParaRPr lang="en-US" dirty="0"/>
          </a:p>
        </p:txBody>
      </p:sp>
      <p:pic>
        <p:nvPicPr>
          <p:cNvPr id="7" name="Picture 6" descr="Picture of a cervix with white chunky discharge.">
            <a:extLst>
              <a:ext uri="{FF2B5EF4-FFF2-40B4-BE49-F238E27FC236}">
                <a16:creationId xmlns:a16="http://schemas.microsoft.com/office/drawing/2014/main" id="{A5739320-89AD-0122-7026-558ED90350E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28541" y="2473326"/>
            <a:ext cx="3079284" cy="2965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567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0BAAD-661F-B475-5C08-813A84F06CE7}"/>
              </a:ext>
            </a:extLst>
          </p:cNvPr>
          <p:cNvSpPr>
            <a:spLocks noGrp="1"/>
          </p:cNvSpPr>
          <p:nvPr>
            <p:ph type="title"/>
          </p:nvPr>
        </p:nvSpPr>
        <p:spPr/>
        <p:txBody>
          <a:bodyPr/>
          <a:lstStyle/>
          <a:p>
            <a:r>
              <a:rPr lang="en-US" dirty="0"/>
              <a:t>Vulvovaginal Candidiasis - Diagnosis</a:t>
            </a:r>
          </a:p>
        </p:txBody>
      </p:sp>
      <p:sp>
        <p:nvSpPr>
          <p:cNvPr id="3" name="Content Placeholder 2">
            <a:extLst>
              <a:ext uri="{FF2B5EF4-FFF2-40B4-BE49-F238E27FC236}">
                <a16:creationId xmlns:a16="http://schemas.microsoft.com/office/drawing/2014/main" id="{491AC96C-B3F1-D62A-7DF8-952DCDAAB3FD}"/>
              </a:ext>
            </a:extLst>
          </p:cNvPr>
          <p:cNvSpPr>
            <a:spLocks noGrp="1"/>
          </p:cNvSpPr>
          <p:nvPr>
            <p:ph idx="1"/>
          </p:nvPr>
        </p:nvSpPr>
        <p:spPr/>
        <p:txBody>
          <a:bodyPr>
            <a:normAutofit/>
          </a:bodyPr>
          <a:lstStyle/>
          <a:p>
            <a:r>
              <a:rPr lang="en-US" dirty="0">
                <a:solidFill>
                  <a:schemeClr val="tx2"/>
                </a:solidFill>
              </a:rPr>
              <a:t>pH paper or </a:t>
            </a:r>
            <a:r>
              <a:rPr lang="en-US" dirty="0" err="1">
                <a:solidFill>
                  <a:schemeClr val="tx2"/>
                </a:solidFill>
              </a:rPr>
              <a:t>PhemAlert</a:t>
            </a:r>
            <a:endParaRPr lang="en-US" dirty="0">
              <a:solidFill>
                <a:schemeClr val="tx2"/>
              </a:solidFill>
            </a:endParaRPr>
          </a:p>
          <a:p>
            <a:pPr lvl="1"/>
            <a:r>
              <a:rPr lang="en-US" dirty="0">
                <a:solidFill>
                  <a:schemeClr val="tx2"/>
                </a:solidFill>
              </a:rPr>
              <a:t>pH &lt;4.5 (normal vaginal pH)</a:t>
            </a:r>
          </a:p>
          <a:p>
            <a:r>
              <a:rPr lang="en-US" dirty="0">
                <a:solidFill>
                  <a:schemeClr val="tx2"/>
                </a:solidFill>
              </a:rPr>
              <a:t>Wet Prep/KOH Prep </a:t>
            </a:r>
          </a:p>
          <a:p>
            <a:pPr lvl="1"/>
            <a:r>
              <a:rPr lang="en-US" dirty="0">
                <a:solidFill>
                  <a:schemeClr val="tx2"/>
                </a:solidFill>
              </a:rPr>
              <a:t>hyphae, </a:t>
            </a:r>
            <a:r>
              <a:rPr lang="en-US" dirty="0" err="1">
                <a:solidFill>
                  <a:schemeClr val="tx2"/>
                </a:solidFill>
              </a:rPr>
              <a:t>pseudohyphae</a:t>
            </a:r>
            <a:r>
              <a:rPr lang="en-US" dirty="0">
                <a:solidFill>
                  <a:schemeClr val="tx2"/>
                </a:solidFill>
              </a:rPr>
              <a:t>, budding yeast</a:t>
            </a:r>
          </a:p>
          <a:p>
            <a:r>
              <a:rPr lang="en-US" dirty="0">
                <a:solidFill>
                  <a:schemeClr val="tx2"/>
                </a:solidFill>
              </a:rPr>
              <a:t>Fungal Culture</a:t>
            </a:r>
          </a:p>
          <a:p>
            <a:pPr lvl="1"/>
            <a:r>
              <a:rPr lang="en-US" dirty="0">
                <a:solidFill>
                  <a:schemeClr val="tx2"/>
                </a:solidFill>
              </a:rPr>
              <a:t>Candida albicans is most common cause</a:t>
            </a:r>
          </a:p>
          <a:p>
            <a:pPr lvl="1"/>
            <a:r>
              <a:rPr lang="en-US" dirty="0">
                <a:solidFill>
                  <a:schemeClr val="tx2"/>
                </a:solidFill>
              </a:rPr>
              <a:t>can help determine if a different candida species is present &amp; can guide antifungal treatment</a:t>
            </a:r>
          </a:p>
          <a:p>
            <a:r>
              <a:rPr lang="en-US" dirty="0">
                <a:solidFill>
                  <a:schemeClr val="tx2"/>
                </a:solidFill>
              </a:rPr>
              <a:t>Molecular Testing - PCR</a:t>
            </a:r>
          </a:p>
        </p:txBody>
      </p:sp>
      <p:pic>
        <p:nvPicPr>
          <p:cNvPr id="6" name="Picture 5" descr="Budding yeast on microscopy showing clear circles connected in a chaing like fashion.">
            <a:extLst>
              <a:ext uri="{FF2B5EF4-FFF2-40B4-BE49-F238E27FC236}">
                <a16:creationId xmlns:a16="http://schemas.microsoft.com/office/drawing/2014/main" id="{BA0ABF7A-392B-1A76-EADC-AAB288194D1B}"/>
              </a:ext>
            </a:extLst>
          </p:cNvPr>
          <p:cNvPicPr>
            <a:picLocks noChangeAspect="1"/>
          </p:cNvPicPr>
          <p:nvPr/>
        </p:nvPicPr>
        <p:blipFill>
          <a:blip r:embed="rId2"/>
          <a:stretch>
            <a:fillRect/>
          </a:stretch>
        </p:blipFill>
        <p:spPr>
          <a:xfrm>
            <a:off x="8591550" y="1825625"/>
            <a:ext cx="2561761" cy="2326933"/>
          </a:xfrm>
          <a:prstGeom prst="rect">
            <a:avLst/>
          </a:prstGeom>
        </p:spPr>
      </p:pic>
    </p:spTree>
    <p:extLst>
      <p:ext uri="{BB962C8B-B14F-4D97-AF65-F5344CB8AC3E}">
        <p14:creationId xmlns:p14="http://schemas.microsoft.com/office/powerpoint/2010/main" val="1127637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FA6A0-9772-087B-4C39-D211D97ED571}"/>
              </a:ext>
            </a:extLst>
          </p:cNvPr>
          <p:cNvSpPr>
            <a:spLocks noGrp="1"/>
          </p:cNvSpPr>
          <p:nvPr>
            <p:ph type="title"/>
          </p:nvPr>
        </p:nvSpPr>
        <p:spPr/>
        <p:txBody>
          <a:bodyPr/>
          <a:lstStyle/>
          <a:p>
            <a:r>
              <a:rPr lang="en-US" dirty="0"/>
              <a:t>Vulvovaginal Candidiasis - Treatment</a:t>
            </a:r>
          </a:p>
        </p:txBody>
      </p:sp>
      <p:sp>
        <p:nvSpPr>
          <p:cNvPr id="3" name="Content Placeholder 2">
            <a:extLst>
              <a:ext uri="{FF2B5EF4-FFF2-40B4-BE49-F238E27FC236}">
                <a16:creationId xmlns:a16="http://schemas.microsoft.com/office/drawing/2014/main" id="{04C976A0-A95A-9F52-E5B0-FF4C17B17866}"/>
              </a:ext>
            </a:extLst>
          </p:cNvPr>
          <p:cNvSpPr>
            <a:spLocks noGrp="1"/>
          </p:cNvSpPr>
          <p:nvPr>
            <p:ph idx="1"/>
          </p:nvPr>
        </p:nvSpPr>
        <p:spPr>
          <a:xfrm>
            <a:off x="838199" y="1400174"/>
            <a:ext cx="10868025" cy="5172075"/>
          </a:xfrm>
        </p:spPr>
        <p:txBody>
          <a:bodyPr>
            <a:normAutofit fontScale="92500" lnSpcReduction="10000"/>
          </a:bodyPr>
          <a:lstStyle/>
          <a:p>
            <a:r>
              <a:rPr lang="en-US" dirty="0"/>
              <a:t>Oral or Topical antifungals </a:t>
            </a:r>
          </a:p>
          <a:p>
            <a:pPr lvl="1"/>
            <a:r>
              <a:rPr lang="en-US" dirty="0"/>
              <a:t>Azoles for Albicans species </a:t>
            </a:r>
          </a:p>
          <a:p>
            <a:pPr lvl="2"/>
            <a:r>
              <a:rPr lang="en-US" dirty="0"/>
              <a:t>Clotrimazole &amp; Miconazole are OTC intravaginal agents</a:t>
            </a:r>
          </a:p>
          <a:p>
            <a:pPr lvl="3"/>
            <a:r>
              <a:rPr lang="en-US" dirty="0"/>
              <a:t>MOA – alters cell membrane permeability (binding with phospholipids) causing cellular constituents to leak</a:t>
            </a:r>
          </a:p>
          <a:p>
            <a:pPr lvl="2"/>
            <a:r>
              <a:rPr lang="en-US" dirty="0"/>
              <a:t>Fluconazole is an oral prescription</a:t>
            </a:r>
          </a:p>
          <a:p>
            <a:pPr lvl="3"/>
            <a:r>
              <a:rPr lang="en-US" dirty="0"/>
              <a:t>150 mg as a single dose</a:t>
            </a:r>
          </a:p>
          <a:p>
            <a:pPr lvl="3"/>
            <a:r>
              <a:rPr lang="en-US" dirty="0"/>
              <a:t>MOA – fungistatic - highly selective inhibitor of fungal cytochrome P450 dependent enzyme lanosterol 14-alpha-demethylase</a:t>
            </a:r>
          </a:p>
          <a:p>
            <a:pPr lvl="1"/>
            <a:r>
              <a:rPr lang="en-US" dirty="0"/>
              <a:t>Non-Azoles for non-Albicans species</a:t>
            </a:r>
          </a:p>
          <a:p>
            <a:pPr lvl="2"/>
            <a:r>
              <a:rPr lang="en-US" dirty="0"/>
              <a:t>Nystatin 1 intravaginal suppository (100,000 units) at bedtime x14-30 days</a:t>
            </a:r>
          </a:p>
          <a:p>
            <a:pPr lvl="3"/>
            <a:r>
              <a:rPr lang="en-US" dirty="0"/>
              <a:t>MOA – binds to fungal cell membrane sterols disrupting the selective barrier causing cellular constituents to be lost</a:t>
            </a:r>
          </a:p>
          <a:p>
            <a:pPr lvl="2"/>
            <a:r>
              <a:rPr lang="en-US" dirty="0"/>
              <a:t>600 mg of Boric Acid in a gelatin capsule administered vaginally once daily x 3 </a:t>
            </a:r>
            <a:r>
              <a:rPr lang="en-US" dirty="0" err="1"/>
              <a:t>wks</a:t>
            </a:r>
            <a:endParaRPr lang="en-US" dirty="0"/>
          </a:p>
          <a:p>
            <a:pPr lvl="3"/>
            <a:r>
              <a:rPr lang="en-US" dirty="0"/>
              <a:t>Clinical &amp; mycologic eradication rates of approximately 70%</a:t>
            </a:r>
          </a:p>
          <a:p>
            <a:pPr lvl="3"/>
            <a:r>
              <a:rPr lang="en-US" dirty="0"/>
              <a:t>MOA – weak anti-infective agent</a:t>
            </a:r>
          </a:p>
          <a:p>
            <a:r>
              <a:rPr lang="en-US" dirty="0"/>
              <a:t>No need to treat sexual partners</a:t>
            </a:r>
          </a:p>
          <a:p>
            <a:endParaRPr lang="en-US" dirty="0"/>
          </a:p>
        </p:txBody>
      </p:sp>
    </p:spTree>
    <p:extLst>
      <p:ext uri="{BB962C8B-B14F-4D97-AF65-F5344CB8AC3E}">
        <p14:creationId xmlns:p14="http://schemas.microsoft.com/office/powerpoint/2010/main" val="12517622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65A3A-D59F-18D9-78E4-C5E2D385B4FC}"/>
              </a:ext>
            </a:extLst>
          </p:cNvPr>
          <p:cNvSpPr>
            <a:spLocks noGrp="1"/>
          </p:cNvSpPr>
          <p:nvPr>
            <p:ph type="title"/>
          </p:nvPr>
        </p:nvSpPr>
        <p:spPr/>
        <p:txBody>
          <a:bodyPr/>
          <a:lstStyle/>
          <a:p>
            <a:r>
              <a:rPr lang="en-US" dirty="0"/>
              <a:t>Vulvovaginal Candidiasis in Pregnancy</a:t>
            </a:r>
          </a:p>
        </p:txBody>
      </p:sp>
      <p:sp>
        <p:nvSpPr>
          <p:cNvPr id="3" name="Content Placeholder 2">
            <a:extLst>
              <a:ext uri="{FF2B5EF4-FFF2-40B4-BE49-F238E27FC236}">
                <a16:creationId xmlns:a16="http://schemas.microsoft.com/office/drawing/2014/main" id="{334CAD89-436D-8E93-B52B-2177F29BEA7F}"/>
              </a:ext>
            </a:extLst>
          </p:cNvPr>
          <p:cNvSpPr>
            <a:spLocks noGrp="1"/>
          </p:cNvSpPr>
          <p:nvPr>
            <p:ph idx="1"/>
          </p:nvPr>
        </p:nvSpPr>
        <p:spPr>
          <a:xfrm>
            <a:off x="838200" y="1690688"/>
            <a:ext cx="10515600" cy="4486275"/>
          </a:xfrm>
        </p:spPr>
        <p:txBody>
          <a:bodyPr/>
          <a:lstStyle/>
          <a:p>
            <a:r>
              <a:rPr lang="en-US" dirty="0"/>
              <a:t>Topical Azoles are the recommended treatment</a:t>
            </a:r>
          </a:p>
          <a:p>
            <a:r>
              <a:rPr lang="en-US" dirty="0"/>
              <a:t>Oral single dose Fluconazole can be associated with spontaneous abortion &amp; congenital anomalies</a:t>
            </a:r>
          </a:p>
        </p:txBody>
      </p:sp>
    </p:spTree>
    <p:extLst>
      <p:ext uri="{BB962C8B-B14F-4D97-AF65-F5344CB8AC3E}">
        <p14:creationId xmlns:p14="http://schemas.microsoft.com/office/powerpoint/2010/main" val="40596296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948FD-3651-E2F5-4CE7-5A49D5102AB5}"/>
              </a:ext>
            </a:extLst>
          </p:cNvPr>
          <p:cNvSpPr>
            <a:spLocks noGrp="1"/>
          </p:cNvSpPr>
          <p:nvPr>
            <p:ph type="title"/>
          </p:nvPr>
        </p:nvSpPr>
        <p:spPr/>
        <p:txBody>
          <a:bodyPr/>
          <a:lstStyle/>
          <a:p>
            <a:r>
              <a:rPr lang="en-US" dirty="0"/>
              <a:t>Recurrent Vulvovaginal Candidiasis </a:t>
            </a:r>
          </a:p>
        </p:txBody>
      </p:sp>
      <p:sp>
        <p:nvSpPr>
          <p:cNvPr id="3" name="Content Placeholder 2">
            <a:extLst>
              <a:ext uri="{FF2B5EF4-FFF2-40B4-BE49-F238E27FC236}">
                <a16:creationId xmlns:a16="http://schemas.microsoft.com/office/drawing/2014/main" id="{5C7B0C1E-96DF-AACA-FE0F-F4A16DD85FDA}"/>
              </a:ext>
            </a:extLst>
          </p:cNvPr>
          <p:cNvSpPr>
            <a:spLocks noGrp="1"/>
          </p:cNvSpPr>
          <p:nvPr>
            <p:ph idx="1"/>
          </p:nvPr>
        </p:nvSpPr>
        <p:spPr/>
        <p:txBody>
          <a:bodyPr/>
          <a:lstStyle/>
          <a:p>
            <a:r>
              <a:rPr lang="en-US" dirty="0"/>
              <a:t>Defined as 3+ episodes in 1 year</a:t>
            </a:r>
          </a:p>
          <a:p>
            <a:r>
              <a:rPr lang="en-US" dirty="0"/>
              <a:t>Fluconazole is an oral prescription at an increased dose and/or for a longer course</a:t>
            </a:r>
          </a:p>
          <a:p>
            <a:endParaRPr lang="en-US" dirty="0"/>
          </a:p>
        </p:txBody>
      </p:sp>
    </p:spTree>
    <p:extLst>
      <p:ext uri="{BB962C8B-B14F-4D97-AF65-F5344CB8AC3E}">
        <p14:creationId xmlns:p14="http://schemas.microsoft.com/office/powerpoint/2010/main" val="9086420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876299" y="333375"/>
            <a:ext cx="8124825" cy="838200"/>
          </a:xfrm>
        </p:spPr>
        <p:txBody>
          <a:bodyPr>
            <a:normAutofit/>
          </a:bodyPr>
          <a:lstStyle/>
          <a:p>
            <a:pPr eaLnBrk="1" hangingPunct="1"/>
            <a:r>
              <a:rPr lang="en-US" altLang="en-US" dirty="0"/>
              <a:t>Bacterial Vaginosis – General Info</a:t>
            </a:r>
          </a:p>
        </p:txBody>
      </p:sp>
      <p:sp>
        <p:nvSpPr>
          <p:cNvPr id="3" name="Content Placeholder 2"/>
          <p:cNvSpPr>
            <a:spLocks noGrp="1"/>
          </p:cNvSpPr>
          <p:nvPr>
            <p:ph idx="1"/>
          </p:nvPr>
        </p:nvSpPr>
        <p:spPr>
          <a:xfrm>
            <a:off x="876299" y="1171575"/>
            <a:ext cx="10810875" cy="5334000"/>
          </a:xfrm>
        </p:spPr>
        <p:txBody>
          <a:bodyPr rtlCol="0">
            <a:normAutofit fontScale="92500" lnSpcReduction="20000"/>
          </a:bodyPr>
          <a:lstStyle/>
          <a:p>
            <a:pPr marL="274320" indent="-274320">
              <a:buClr>
                <a:schemeClr val="accent3"/>
              </a:buClr>
              <a:defRPr/>
            </a:pPr>
            <a:r>
              <a:rPr lang="en-US" sz="3100" dirty="0"/>
              <a:t>New evidence this might be an STI</a:t>
            </a:r>
          </a:p>
          <a:p>
            <a:pPr marL="274320" indent="-274320">
              <a:buClr>
                <a:schemeClr val="accent3"/>
              </a:buClr>
              <a:defRPr/>
            </a:pPr>
            <a:r>
              <a:rPr lang="en-US" sz="3100" dirty="0"/>
              <a:t>Due to a bacteria, Gardnerella vaginitis</a:t>
            </a:r>
          </a:p>
          <a:p>
            <a:pPr marL="640080" lvl="1" indent="-246888">
              <a:buFont typeface="Arial" panose="020B0604020202020204" pitchFamily="34" charset="0"/>
              <a:buChar char="–"/>
              <a:defRPr/>
            </a:pPr>
            <a:r>
              <a:rPr lang="en-US" dirty="0"/>
              <a:t>Bacteria overgrowth due to an imbalance of the naturally occurring bacteria in the vagina</a:t>
            </a:r>
          </a:p>
          <a:p>
            <a:pPr marL="274320" indent="-274320">
              <a:buClr>
                <a:schemeClr val="accent3"/>
              </a:buClr>
              <a:defRPr/>
            </a:pPr>
            <a:r>
              <a:rPr lang="en-US" sz="3100" dirty="0"/>
              <a:t>Risk factors include </a:t>
            </a:r>
          </a:p>
          <a:p>
            <a:pPr marL="640080" lvl="1" indent="-246888">
              <a:buFont typeface="Arial" panose="020B0604020202020204" pitchFamily="34" charset="0"/>
              <a:buChar char="–"/>
              <a:defRPr/>
            </a:pPr>
            <a:r>
              <a:rPr lang="en-US" dirty="0"/>
              <a:t>Smoking, </a:t>
            </a:r>
          </a:p>
          <a:p>
            <a:pPr marL="640080" lvl="1" indent="-246888">
              <a:buFont typeface="Arial" panose="020B0604020202020204" pitchFamily="34" charset="0"/>
              <a:buChar char="–"/>
              <a:defRPr/>
            </a:pPr>
            <a:r>
              <a:rPr lang="en-US" dirty="0"/>
              <a:t>Douching, </a:t>
            </a:r>
          </a:p>
          <a:p>
            <a:pPr marL="640080" lvl="1" indent="-246888">
              <a:buFont typeface="Arial" panose="020B0604020202020204" pitchFamily="34" charset="0"/>
              <a:buChar char="–"/>
              <a:defRPr/>
            </a:pPr>
            <a:r>
              <a:rPr lang="en-US" dirty="0"/>
              <a:t>New or multiple sex partners, </a:t>
            </a:r>
          </a:p>
          <a:p>
            <a:pPr marL="640080" lvl="1" indent="-246888">
              <a:buFont typeface="Arial" panose="020B0604020202020204" pitchFamily="34" charset="0"/>
              <a:buChar char="–"/>
              <a:defRPr/>
            </a:pPr>
            <a:r>
              <a:rPr lang="en-US" dirty="0"/>
              <a:t>Antibiotics/antifungals, and </a:t>
            </a:r>
          </a:p>
          <a:p>
            <a:pPr marL="640080" lvl="1" indent="-246888">
              <a:buFont typeface="Arial" panose="020B0604020202020204" pitchFamily="34" charset="0"/>
              <a:buChar char="–"/>
              <a:defRPr/>
            </a:pPr>
            <a:r>
              <a:rPr lang="en-US" dirty="0"/>
              <a:t>Using a copper IUD (whereas hormonal IUDs may have a protective effect) or Condoms</a:t>
            </a:r>
          </a:p>
          <a:p>
            <a:pPr marL="640080" lvl="1" indent="-246888">
              <a:buFont typeface="Arial" panose="020B0604020202020204" pitchFamily="34" charset="0"/>
              <a:buChar char="–"/>
              <a:defRPr/>
            </a:pPr>
            <a:r>
              <a:rPr lang="en-US" dirty="0"/>
              <a:t>Frequent </a:t>
            </a:r>
            <a:r>
              <a:rPr lang="en-US" dirty="0" err="1"/>
              <a:t>Menses</a:t>
            </a:r>
            <a:endParaRPr lang="en-US" dirty="0"/>
          </a:p>
          <a:p>
            <a:pPr marL="274320" indent="-274320">
              <a:buClr>
                <a:schemeClr val="accent3"/>
              </a:buClr>
              <a:defRPr/>
            </a:pPr>
            <a:r>
              <a:rPr lang="en-US" sz="3100" dirty="0"/>
              <a:t>Increases risk of other STIs/PID, mucopurulent cervicitis, CIN on pap, HIV, and premature delivery in pregnant women</a:t>
            </a:r>
          </a:p>
          <a:p>
            <a:pPr marL="274320" indent="-274320">
              <a:buClr>
                <a:schemeClr val="accent3"/>
              </a:buClr>
              <a:defRPr/>
            </a:pPr>
            <a:r>
              <a:rPr lang="en-US" sz="3100" dirty="0">
                <a:solidFill>
                  <a:schemeClr val="accent1"/>
                </a:solidFill>
              </a:rPr>
              <a:t>Most common vaginal infection in women of reproductive age</a:t>
            </a:r>
          </a:p>
        </p:txBody>
      </p:sp>
      <p:pic>
        <p:nvPicPr>
          <p:cNvPr id="2" name="Picture 2" descr="Clue Cells on Microscopy showing hyperdense cytoplasma.">
            <a:extLst>
              <a:ext uri="{FF2B5EF4-FFF2-40B4-BE49-F238E27FC236}">
                <a16:creationId xmlns:a16="http://schemas.microsoft.com/office/drawing/2014/main" id="{2E7F9DAF-9DDB-8C78-3129-0EDAEFC06A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24" y="102677"/>
            <a:ext cx="2896438" cy="18923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down)">
                                      <p:cBhvr>
                                        <p:cTn id="21" dur="500"/>
                                        <p:tgtEl>
                                          <p:spTgt spid="3">
                                            <p:txEl>
                                              <p:pRg st="4" end="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down)">
                                      <p:cBhvr>
                                        <p:cTn id="24" dur="500"/>
                                        <p:tgtEl>
                                          <p:spTgt spid="3">
                                            <p:txEl>
                                              <p:pRg st="5" end="5"/>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down)">
                                      <p:cBhvr>
                                        <p:cTn id="27" dur="500"/>
                                        <p:tgtEl>
                                          <p:spTgt spid="3">
                                            <p:txEl>
                                              <p:pRg st="6" end="6"/>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wipe(down)">
                                      <p:cBhvr>
                                        <p:cTn id="30" dur="500"/>
                                        <p:tgtEl>
                                          <p:spTgt spid="3">
                                            <p:txEl>
                                              <p:pRg st="7" end="7"/>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wipe(down)">
                                      <p:cBhvr>
                                        <p:cTn id="33" dur="500"/>
                                        <p:tgtEl>
                                          <p:spTgt spid="3">
                                            <p:txEl>
                                              <p:pRg st="8" end="8"/>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wipe(down)">
                                      <p:cBhvr>
                                        <p:cTn id="36" dur="500"/>
                                        <p:tgtEl>
                                          <p:spTgt spid="3">
                                            <p:txEl>
                                              <p:pRg st="9" end="9"/>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wipe(down)">
                                      <p:cBhvr>
                                        <p:cTn id="41" dur="500"/>
                                        <p:tgtEl>
                                          <p:spTgt spid="3">
                                            <p:txEl>
                                              <p:pRg st="10" end="1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wipe(down)">
                                      <p:cBhvr>
                                        <p:cTn id="46" dur="500"/>
                                        <p:tgtEl>
                                          <p:spTgt spid="3">
                                            <p:txEl>
                                              <p:pRg st="11" end="11"/>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fade">
                                      <p:cBhvr>
                                        <p:cTn id="4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857250" y="476250"/>
            <a:ext cx="8229600" cy="781050"/>
          </a:xfrm>
        </p:spPr>
        <p:txBody>
          <a:bodyPr>
            <a:normAutofit/>
          </a:bodyPr>
          <a:lstStyle/>
          <a:p>
            <a:pPr>
              <a:defRPr/>
            </a:pPr>
            <a:r>
              <a:rPr lang="en-US" altLang="en-US" dirty="0"/>
              <a:t>Bacterial Vaginosis - Symptoms</a:t>
            </a:r>
          </a:p>
        </p:txBody>
      </p:sp>
      <p:sp>
        <p:nvSpPr>
          <p:cNvPr id="9219" name="Content Placeholder 3"/>
          <p:cNvSpPr>
            <a:spLocks noGrp="1"/>
          </p:cNvSpPr>
          <p:nvPr>
            <p:ph idx="1"/>
          </p:nvPr>
        </p:nvSpPr>
        <p:spPr>
          <a:xfrm>
            <a:off x="962025" y="1356518"/>
            <a:ext cx="8229600" cy="4525963"/>
          </a:xfrm>
        </p:spPr>
        <p:txBody>
          <a:bodyPr/>
          <a:lstStyle/>
          <a:p>
            <a:pPr eaLnBrk="1" hangingPunct="1"/>
            <a:r>
              <a:rPr lang="en-US" altLang="en-US" sz="3500" dirty="0"/>
              <a:t>Increased vaginal discharge </a:t>
            </a:r>
          </a:p>
          <a:p>
            <a:pPr lvl="1"/>
            <a:r>
              <a:rPr lang="en-US" altLang="en-US" sz="3100" dirty="0"/>
              <a:t>white or gray in color </a:t>
            </a:r>
          </a:p>
          <a:p>
            <a:pPr lvl="1"/>
            <a:r>
              <a:rPr lang="en-US" altLang="en-US" sz="3100" dirty="0"/>
              <a:t>smells like fish</a:t>
            </a:r>
          </a:p>
          <a:p>
            <a:pPr eaLnBrk="1" hangingPunct="1"/>
            <a:r>
              <a:rPr lang="en-US" altLang="en-US" sz="3500" dirty="0"/>
              <a:t>Itching is uncommon</a:t>
            </a:r>
          </a:p>
          <a:p>
            <a:pPr eaLnBrk="1" hangingPunct="1"/>
            <a:r>
              <a:rPr lang="en-US" altLang="en-US" sz="3500" dirty="0"/>
              <a:t>1/3 of patients are asymptomatic</a:t>
            </a:r>
          </a:p>
          <a:p>
            <a:pPr eaLnBrk="1" hangingPunct="1"/>
            <a:endParaRPr lang="en-US" altLang="en-US" dirty="0"/>
          </a:p>
        </p:txBody>
      </p:sp>
      <p:pic>
        <p:nvPicPr>
          <p:cNvPr id="9220" name="Picture 2" descr="Pi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5776" y="1695450"/>
            <a:ext cx="334327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additive="base">
                                        <p:cTn id="7" dur="500" fill="hold"/>
                                        <p:tgtEl>
                                          <p:spTgt spid="92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anim calcmode="lin" valueType="num">
                                      <p:cBhvr additive="base">
                                        <p:cTn id="11" dur="500" fill="hold"/>
                                        <p:tgtEl>
                                          <p:spTgt spid="921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21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220"/>
                                        </p:tgtEl>
                                        <p:attrNameLst>
                                          <p:attrName>style.visibility</p:attrName>
                                        </p:attrNameLst>
                                      </p:cBhvr>
                                      <p:to>
                                        <p:strVal val="visible"/>
                                      </p:to>
                                    </p:set>
                                    <p:anim calcmode="lin" valueType="num">
                                      <p:cBhvr additive="base">
                                        <p:cTn id="15" dur="500" fill="hold"/>
                                        <p:tgtEl>
                                          <p:spTgt spid="9220"/>
                                        </p:tgtEl>
                                        <p:attrNameLst>
                                          <p:attrName>ppt_x</p:attrName>
                                        </p:attrNameLst>
                                      </p:cBhvr>
                                      <p:tavLst>
                                        <p:tav tm="0">
                                          <p:val>
                                            <p:strVal val="#ppt_x"/>
                                          </p:val>
                                        </p:tav>
                                        <p:tav tm="100000">
                                          <p:val>
                                            <p:strVal val="#ppt_x"/>
                                          </p:val>
                                        </p:tav>
                                      </p:tavLst>
                                    </p:anim>
                                    <p:anim calcmode="lin" valueType="num">
                                      <p:cBhvr additive="base">
                                        <p:cTn id="16" dur="500" fill="hold"/>
                                        <p:tgtEl>
                                          <p:spTgt spid="922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219">
                                            <p:txEl>
                                              <p:pRg st="2" end="2"/>
                                            </p:txEl>
                                          </p:spTgt>
                                        </p:tgtEl>
                                        <p:attrNameLst>
                                          <p:attrName>style.visibility</p:attrName>
                                        </p:attrNameLst>
                                      </p:cBhvr>
                                      <p:to>
                                        <p:strVal val="visible"/>
                                      </p:to>
                                    </p:set>
                                    <p:anim calcmode="lin" valueType="num">
                                      <p:cBhvr additive="base">
                                        <p:cTn id="19" dur="500" fill="hold"/>
                                        <p:tgtEl>
                                          <p:spTgt spid="921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219">
                                            <p:txEl>
                                              <p:pRg st="3" end="3"/>
                                            </p:txEl>
                                          </p:spTgt>
                                        </p:tgtEl>
                                        <p:attrNameLst>
                                          <p:attrName>style.visibility</p:attrName>
                                        </p:attrNameLst>
                                      </p:cBhvr>
                                      <p:to>
                                        <p:strVal val="visible"/>
                                      </p:to>
                                    </p:set>
                                    <p:anim calcmode="lin" valueType="num">
                                      <p:cBhvr additive="base">
                                        <p:cTn id="25" dur="500" fill="hold"/>
                                        <p:tgtEl>
                                          <p:spTgt spid="921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2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219">
                                            <p:txEl>
                                              <p:pRg st="4" end="4"/>
                                            </p:txEl>
                                          </p:spTgt>
                                        </p:tgtEl>
                                        <p:attrNameLst>
                                          <p:attrName>style.visibility</p:attrName>
                                        </p:attrNameLst>
                                      </p:cBhvr>
                                      <p:to>
                                        <p:strVal val="visible"/>
                                      </p:to>
                                    </p:set>
                                    <p:anim calcmode="lin" valueType="num">
                                      <p:cBhvr additive="base">
                                        <p:cTn id="31" dur="500" fill="hold"/>
                                        <p:tgtEl>
                                          <p:spTgt spid="921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21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838200" y="381000"/>
            <a:ext cx="8229600" cy="1143000"/>
          </a:xfrm>
        </p:spPr>
        <p:txBody>
          <a:bodyPr/>
          <a:lstStyle/>
          <a:p>
            <a:pPr eaLnBrk="1" hangingPunct="1"/>
            <a:r>
              <a:rPr lang="en-US" altLang="en-US" dirty="0"/>
              <a:t>Bacterial Vaginosis – Diagnosis </a:t>
            </a:r>
          </a:p>
        </p:txBody>
      </p:sp>
      <p:sp>
        <p:nvSpPr>
          <p:cNvPr id="3" name="Content Placeholder 2"/>
          <p:cNvSpPr>
            <a:spLocks noGrp="1"/>
          </p:cNvSpPr>
          <p:nvPr>
            <p:ph idx="1"/>
          </p:nvPr>
        </p:nvSpPr>
        <p:spPr>
          <a:xfrm>
            <a:off x="838200" y="1524000"/>
            <a:ext cx="10515600" cy="4351338"/>
          </a:xfrm>
        </p:spPr>
        <p:txBody>
          <a:bodyPr rtlCol="0">
            <a:normAutofit/>
          </a:bodyPr>
          <a:lstStyle/>
          <a:p>
            <a:pPr marL="274320" indent="-274320">
              <a:buClr>
                <a:schemeClr val="accent3"/>
              </a:buClr>
              <a:defRPr/>
            </a:pPr>
            <a:r>
              <a:rPr lang="en-US" dirty="0"/>
              <a:t>AMSEL’s Criteria – must have 3 out of 4 present</a:t>
            </a:r>
          </a:p>
          <a:p>
            <a:pPr marL="971550" lvl="1" indent="-514350">
              <a:buFont typeface="+mj-lt"/>
              <a:buAutoNum type="arabicPeriod"/>
              <a:defRPr/>
            </a:pPr>
            <a:r>
              <a:rPr lang="en-US" dirty="0"/>
              <a:t>Discharge – thin, homogenous, white-gray, adherent to vaginal walls, milky</a:t>
            </a:r>
          </a:p>
          <a:p>
            <a:pPr marL="971550" lvl="1" indent="-514350">
              <a:buFont typeface="+mj-lt"/>
              <a:buAutoNum type="arabicPeriod"/>
              <a:defRPr/>
            </a:pPr>
            <a:r>
              <a:rPr lang="en-US" dirty="0"/>
              <a:t>pH &gt; 4.5</a:t>
            </a:r>
          </a:p>
          <a:p>
            <a:pPr marL="971550" lvl="1" indent="-514350">
              <a:buFont typeface="+mj-lt"/>
              <a:buAutoNum type="arabicPeriod"/>
              <a:defRPr/>
            </a:pPr>
            <a:r>
              <a:rPr lang="en-US" dirty="0"/>
              <a:t>KOH “whiff test” is positive</a:t>
            </a:r>
          </a:p>
          <a:p>
            <a:pPr marL="971550" lvl="1" indent="-514350">
              <a:buFont typeface="+mj-lt"/>
              <a:buAutoNum type="arabicPeriod"/>
              <a:defRPr/>
            </a:pPr>
            <a:r>
              <a:rPr lang="en-US" dirty="0"/>
              <a:t>Wet prep – Clue Cells &gt;20%, coccoid bacteria, no WBCs, decrease in Lactobacilli</a:t>
            </a:r>
          </a:p>
          <a:p>
            <a:pPr marL="285750">
              <a:buClr>
                <a:schemeClr val="accent3"/>
              </a:buClr>
              <a:defRPr/>
            </a:pPr>
            <a:r>
              <a:rPr lang="en-US" dirty="0"/>
              <a:t>Sensitivity 37-70% and Specificity 94-99%</a:t>
            </a:r>
          </a:p>
        </p:txBody>
      </p:sp>
      <p:pic>
        <p:nvPicPr>
          <p:cNvPr id="2" name="Picture 2" descr="File:Vaginose-G15.jpg Microscope slide showing clue cells which are dense cytoplasmic cells.">
            <a:hlinkClick r:id="rId2"/>
            <a:extLst>
              <a:ext uri="{FF2B5EF4-FFF2-40B4-BE49-F238E27FC236}">
                <a16:creationId xmlns:a16="http://schemas.microsoft.com/office/drawing/2014/main" id="{2C9E021C-31FA-E7CE-1590-C289775840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837713" y="3957589"/>
            <a:ext cx="3893276" cy="2752821"/>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4" descr="clue cells vs. normal vaginal cel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101" y="2819400"/>
            <a:ext cx="7947025"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Title 1"/>
          <p:cNvSpPr>
            <a:spLocks noGrp="1"/>
          </p:cNvSpPr>
          <p:nvPr>
            <p:ph type="title"/>
          </p:nvPr>
        </p:nvSpPr>
        <p:spPr>
          <a:xfrm>
            <a:off x="981074" y="314325"/>
            <a:ext cx="8229600" cy="1143000"/>
          </a:xfrm>
        </p:spPr>
        <p:txBody>
          <a:bodyPr>
            <a:normAutofit fontScale="90000"/>
          </a:bodyPr>
          <a:lstStyle/>
          <a:p>
            <a:pPr eaLnBrk="1" hangingPunct="1"/>
            <a:r>
              <a:rPr lang="en-US" altLang="en-US" dirty="0"/>
              <a:t>Bacterial Vaginosis – Diagnosis </a:t>
            </a:r>
            <a:r>
              <a:rPr lang="en-US" altLang="en-US" dirty="0" err="1"/>
              <a:t>cont</a:t>
            </a:r>
            <a:endParaRPr lang="en-US" altLang="en-US" dirty="0"/>
          </a:p>
        </p:txBody>
      </p:sp>
      <p:sp>
        <p:nvSpPr>
          <p:cNvPr id="15364" name="Content Placeholder 2"/>
          <p:cNvSpPr>
            <a:spLocks noGrp="1"/>
          </p:cNvSpPr>
          <p:nvPr>
            <p:ph idx="1"/>
          </p:nvPr>
        </p:nvSpPr>
        <p:spPr>
          <a:xfrm>
            <a:off x="923925" y="1457325"/>
            <a:ext cx="9991725" cy="4495800"/>
          </a:xfrm>
        </p:spPr>
        <p:txBody>
          <a:bodyPr/>
          <a:lstStyle/>
          <a:p>
            <a:pPr marL="604838" indent="-514350"/>
            <a:r>
              <a:rPr lang="en-US" altLang="en-US" dirty="0"/>
              <a:t>Wet prep – Clue Cells &gt;20%, coccoid bacteria, no WBCs, decrease in Lactobacilli</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847725" y="638175"/>
            <a:ext cx="8229600" cy="762000"/>
          </a:xfrm>
        </p:spPr>
        <p:txBody>
          <a:bodyPr>
            <a:normAutofit/>
          </a:bodyPr>
          <a:lstStyle/>
          <a:p>
            <a:pPr>
              <a:defRPr/>
            </a:pPr>
            <a:r>
              <a:rPr lang="en-US" altLang="en-US" dirty="0"/>
              <a:t>Bacterial </a:t>
            </a:r>
            <a:r>
              <a:rPr lang="en-US" altLang="en-US" dirty="0" err="1"/>
              <a:t>Vaginosis</a:t>
            </a:r>
            <a:r>
              <a:rPr lang="en-US" altLang="en-US" dirty="0"/>
              <a:t> – Other Tests</a:t>
            </a:r>
          </a:p>
        </p:txBody>
      </p:sp>
      <p:sp>
        <p:nvSpPr>
          <p:cNvPr id="16387" name="Content Placeholder 2"/>
          <p:cNvSpPr>
            <a:spLocks noGrp="1"/>
          </p:cNvSpPr>
          <p:nvPr>
            <p:ph idx="1"/>
          </p:nvPr>
        </p:nvSpPr>
        <p:spPr>
          <a:xfrm>
            <a:off x="847725" y="1647825"/>
            <a:ext cx="9886950" cy="4572000"/>
          </a:xfrm>
        </p:spPr>
        <p:txBody>
          <a:bodyPr/>
          <a:lstStyle/>
          <a:p>
            <a:pPr eaLnBrk="1" hangingPunct="1"/>
            <a:r>
              <a:rPr lang="en-US" altLang="en-US" dirty="0"/>
              <a:t>OSOM BV Blue Test – 10-15 min POC</a:t>
            </a:r>
          </a:p>
          <a:p>
            <a:pPr lvl="1" eaLnBrk="1" hangingPunct="1"/>
            <a:r>
              <a:rPr lang="en-US" altLang="en-US" dirty="0"/>
              <a:t>90.3% sensitivity &amp; 96.6% specificity</a:t>
            </a:r>
          </a:p>
          <a:p>
            <a:pPr eaLnBrk="1" hangingPunct="1"/>
            <a:endParaRPr lang="en-US" altLang="en-US" sz="1200" dirty="0"/>
          </a:p>
          <a:p>
            <a:pPr eaLnBrk="1" hangingPunct="1"/>
            <a:r>
              <a:rPr lang="en-US" altLang="en-US" dirty="0"/>
              <a:t>Pap Smear – low sensitivity but high specificity</a:t>
            </a:r>
          </a:p>
          <a:p>
            <a:pPr eaLnBrk="1" hangingPunct="1"/>
            <a:endParaRPr lang="en-US" altLang="en-US" sz="1200" dirty="0"/>
          </a:p>
          <a:p>
            <a:pPr eaLnBrk="1" hangingPunct="1"/>
            <a:r>
              <a:rPr lang="en-US" altLang="en-US" dirty="0"/>
              <a:t>Gram Stain – Nugent Score</a:t>
            </a:r>
          </a:p>
          <a:p>
            <a:pPr lvl="2" eaLnBrk="1" hangingPunct="1"/>
            <a:r>
              <a:rPr lang="en-US" altLang="en-US" dirty="0"/>
              <a:t>Calculated by assessing for the presence of large Gram + rods (Lactobacillus </a:t>
            </a:r>
            <a:r>
              <a:rPr lang="en-US" altLang="en-US" dirty="0" err="1"/>
              <a:t>morphotypes</a:t>
            </a:r>
            <a:r>
              <a:rPr lang="en-US" altLang="en-US" dirty="0"/>
              <a:t>; decrease in </a:t>
            </a:r>
            <a:r>
              <a:rPr lang="en-US" altLang="en-US" i="1" dirty="0"/>
              <a:t>Lactobacillus</a:t>
            </a:r>
            <a:r>
              <a:rPr lang="en-US" altLang="en-US" dirty="0"/>
              <a:t> scored as 0 to 4), small Gram-variable rods (</a:t>
            </a:r>
            <a:r>
              <a:rPr lang="en-US" altLang="en-US" dirty="0" err="1"/>
              <a:t>Gardnerella</a:t>
            </a:r>
            <a:r>
              <a:rPr lang="en-US" altLang="en-US" dirty="0"/>
              <a:t> </a:t>
            </a:r>
            <a:r>
              <a:rPr lang="en-US" altLang="en-US" dirty="0" err="1"/>
              <a:t>vaginalis</a:t>
            </a:r>
            <a:r>
              <a:rPr lang="en-US" altLang="en-US" dirty="0"/>
              <a:t> </a:t>
            </a:r>
            <a:r>
              <a:rPr lang="en-US" altLang="en-US" dirty="0" err="1"/>
              <a:t>morphotypes</a:t>
            </a:r>
            <a:r>
              <a:rPr lang="en-US" altLang="en-US" dirty="0"/>
              <a:t>; scored as 0 to 4), &amp; curved Gram-variable rods (</a:t>
            </a:r>
            <a:r>
              <a:rPr lang="en-US" altLang="en-US" dirty="0" err="1"/>
              <a:t>Mobiluncus</a:t>
            </a:r>
            <a:r>
              <a:rPr lang="en-US" altLang="en-US" dirty="0"/>
              <a:t> spp. </a:t>
            </a:r>
            <a:r>
              <a:rPr lang="en-US" altLang="en-US" dirty="0" err="1"/>
              <a:t>morphotypes</a:t>
            </a:r>
            <a:r>
              <a:rPr lang="en-US" altLang="en-US" dirty="0"/>
              <a:t>; scored as 0 to 2) &amp; can range from 0 to 10. A score of 7 to 10 is consistent w/ BV.</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171575" y="523875"/>
            <a:ext cx="8229600" cy="781050"/>
          </a:xfrm>
        </p:spPr>
        <p:txBody>
          <a:bodyPr>
            <a:normAutofit/>
          </a:bodyPr>
          <a:lstStyle/>
          <a:p>
            <a:pPr>
              <a:defRPr/>
            </a:pPr>
            <a:r>
              <a:rPr lang="en-US" altLang="en-US" dirty="0"/>
              <a:t>Bacteria </a:t>
            </a:r>
            <a:r>
              <a:rPr lang="en-US" altLang="en-US" dirty="0" err="1"/>
              <a:t>Vaginosis</a:t>
            </a:r>
            <a:r>
              <a:rPr lang="en-US" altLang="en-US" dirty="0"/>
              <a:t> – Treatment </a:t>
            </a:r>
          </a:p>
        </p:txBody>
      </p:sp>
      <p:pic>
        <p:nvPicPr>
          <p:cNvPr id="4" name="Picture 3" descr="CDC table showing the treatment of bacterial vagninosis"/>
          <p:cNvPicPr>
            <a:picLocks noChangeAspect="1"/>
          </p:cNvPicPr>
          <p:nvPr/>
        </p:nvPicPr>
        <p:blipFill>
          <a:blip r:embed="rId2"/>
          <a:stretch>
            <a:fillRect/>
          </a:stretch>
        </p:blipFill>
        <p:spPr>
          <a:xfrm>
            <a:off x="1171575" y="1600200"/>
            <a:ext cx="8769517" cy="1600200"/>
          </a:xfrm>
          <a:prstGeom prst="rect">
            <a:avLst/>
          </a:prstGeom>
        </p:spPr>
      </p:pic>
      <p:sp>
        <p:nvSpPr>
          <p:cNvPr id="5" name="TextBox 4"/>
          <p:cNvSpPr txBox="1"/>
          <p:nvPr/>
        </p:nvSpPr>
        <p:spPr>
          <a:xfrm>
            <a:off x="887262" y="5848350"/>
            <a:ext cx="10417475" cy="369332"/>
          </a:xfrm>
          <a:prstGeom prst="rect">
            <a:avLst/>
          </a:prstGeom>
          <a:noFill/>
        </p:spPr>
        <p:txBody>
          <a:bodyPr wrap="square" rtlCol="0">
            <a:spAutoFit/>
          </a:bodyPr>
          <a:lstStyle/>
          <a:p>
            <a:r>
              <a:rPr lang="en-US" dirty="0">
                <a:latin typeface="Constantia" panose="02030602050306030303" pitchFamily="18" charset="0"/>
              </a:rPr>
              <a:t>Clindamycin cream is oil based and might weaken latex condoms and diaphragms for 5 days after use</a:t>
            </a:r>
          </a:p>
        </p:txBody>
      </p:sp>
      <p:sp>
        <p:nvSpPr>
          <p:cNvPr id="2" name="Content Placeholder 2">
            <a:extLst>
              <a:ext uri="{FF2B5EF4-FFF2-40B4-BE49-F238E27FC236}">
                <a16:creationId xmlns:a16="http://schemas.microsoft.com/office/drawing/2014/main" id="{404A50FF-11E1-0244-AAB2-167CF90EA064}"/>
              </a:ext>
            </a:extLst>
          </p:cNvPr>
          <p:cNvSpPr>
            <a:spLocks noGrp="1"/>
          </p:cNvSpPr>
          <p:nvPr>
            <p:ph idx="1"/>
          </p:nvPr>
        </p:nvSpPr>
        <p:spPr>
          <a:xfrm>
            <a:off x="1152524" y="3657601"/>
            <a:ext cx="9886950" cy="1762126"/>
          </a:xfrm>
        </p:spPr>
        <p:txBody>
          <a:bodyPr>
            <a:normAutofit fontScale="70000" lnSpcReduction="20000"/>
          </a:bodyPr>
          <a:lstStyle/>
          <a:p>
            <a:r>
              <a:rPr lang="en-US" altLang="en-US" dirty="0" err="1"/>
              <a:t>Metroniazole</a:t>
            </a:r>
            <a:r>
              <a:rPr lang="en-US" altLang="en-US" dirty="0"/>
              <a:t> MOA - </a:t>
            </a:r>
            <a:r>
              <a:rPr lang="en-US" dirty="0"/>
              <a:t>After diffusing into the organism, interacts with DNA to cause a loss of helical DNA structure &amp; strand breakage resulting in inhibition of protein synthesis &amp; cell death in susceptible organisms</a:t>
            </a:r>
          </a:p>
          <a:p>
            <a:r>
              <a:rPr lang="en-US" altLang="en-US" dirty="0"/>
              <a:t>Clindamycin MOA - </a:t>
            </a:r>
            <a:r>
              <a:rPr lang="en-US" dirty="0"/>
              <a:t>Reversibly binds to 50S ribosomal subunits preventing peptide bond formation thus inhibiting bacterial protein synthesis; bacteriostatic or bactericidal depending on drug concentration, infection site, and organism</a:t>
            </a:r>
            <a:endParaRPr lang="en-US"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181100" y="381001"/>
            <a:ext cx="8229600" cy="1143000"/>
          </a:xfrm>
        </p:spPr>
        <p:txBody>
          <a:bodyPr/>
          <a:lstStyle/>
          <a:p>
            <a:pPr eaLnBrk="1" hangingPunct="1"/>
            <a:r>
              <a:rPr lang="en-US" altLang="en-US" dirty="0"/>
              <a:t>Bacteria Vaginosis in Pregnancy</a:t>
            </a:r>
          </a:p>
        </p:txBody>
      </p:sp>
      <p:sp>
        <p:nvSpPr>
          <p:cNvPr id="18435" name="Content Placeholder 2"/>
          <p:cNvSpPr>
            <a:spLocks noGrp="1"/>
          </p:cNvSpPr>
          <p:nvPr>
            <p:ph idx="1"/>
          </p:nvPr>
        </p:nvSpPr>
        <p:spPr>
          <a:xfrm>
            <a:off x="1181100" y="1524001"/>
            <a:ext cx="9667875" cy="4800600"/>
          </a:xfrm>
        </p:spPr>
        <p:txBody>
          <a:bodyPr>
            <a:normAutofit/>
          </a:bodyPr>
          <a:lstStyle/>
          <a:p>
            <a:pPr eaLnBrk="1" hangingPunct="1"/>
            <a:r>
              <a:rPr lang="en-US" altLang="en-US" dirty="0"/>
              <a:t>Diagnosis &amp; Treatment before 20 </a:t>
            </a:r>
            <a:r>
              <a:rPr lang="en-US" altLang="en-US" dirty="0" err="1"/>
              <a:t>wks</a:t>
            </a:r>
            <a:r>
              <a:rPr lang="en-US" altLang="en-US" dirty="0"/>
              <a:t> of symptomatic BV or those at risk of premature birth is recommended</a:t>
            </a:r>
          </a:p>
          <a:p>
            <a:pPr lvl="1" eaLnBrk="1" hangingPunct="1"/>
            <a:r>
              <a:rPr lang="en-US" altLang="en-US" dirty="0"/>
              <a:t>Routine screening of </a:t>
            </a:r>
            <a:r>
              <a:rPr lang="en-US" altLang="en-US" dirty="0" err="1"/>
              <a:t>asymp</a:t>
            </a:r>
            <a:r>
              <a:rPr lang="en-US" altLang="en-US" dirty="0"/>
              <a:t> pregnant women is not recommended</a:t>
            </a:r>
          </a:p>
          <a:p>
            <a:pPr eaLnBrk="1" hangingPunct="1"/>
            <a:endParaRPr lang="en-US" altLang="en-US" sz="1200" dirty="0"/>
          </a:p>
          <a:p>
            <a:pPr eaLnBrk="1" hangingPunct="1"/>
            <a:r>
              <a:rPr lang="en-US" altLang="en-US" dirty="0"/>
              <a:t>Recommended Regimens</a:t>
            </a:r>
          </a:p>
          <a:p>
            <a:pPr lvl="1" eaLnBrk="1" hangingPunct="1"/>
            <a:r>
              <a:rPr lang="en-US" altLang="en-US" dirty="0"/>
              <a:t>Metronidazole 250 mg </a:t>
            </a:r>
            <a:r>
              <a:rPr lang="en-US" altLang="en-US" dirty="0" err="1"/>
              <a:t>po</a:t>
            </a:r>
            <a:r>
              <a:rPr lang="en-US" altLang="en-US" dirty="0"/>
              <a:t> </a:t>
            </a:r>
            <a:r>
              <a:rPr lang="en-US" altLang="en-US" dirty="0" err="1"/>
              <a:t>tid</a:t>
            </a:r>
            <a:r>
              <a:rPr lang="en-US" altLang="en-US" dirty="0"/>
              <a:t> x 7 days</a:t>
            </a:r>
          </a:p>
          <a:p>
            <a:pPr lvl="1" eaLnBrk="1" hangingPunct="1"/>
            <a:r>
              <a:rPr lang="en-US" altLang="en-US" dirty="0"/>
              <a:t>Metronidazole 500 mg </a:t>
            </a:r>
            <a:r>
              <a:rPr lang="en-US" altLang="en-US" dirty="0" err="1"/>
              <a:t>po</a:t>
            </a:r>
            <a:r>
              <a:rPr lang="en-US" altLang="en-US" dirty="0"/>
              <a:t> bid x 7 days</a:t>
            </a:r>
          </a:p>
          <a:p>
            <a:pPr lvl="1" eaLnBrk="1" hangingPunct="1"/>
            <a:r>
              <a:rPr lang="en-US" altLang="en-US" dirty="0"/>
              <a:t>Clindamycin 300 mg </a:t>
            </a:r>
            <a:r>
              <a:rPr lang="en-US" altLang="en-US" dirty="0" err="1"/>
              <a:t>po</a:t>
            </a:r>
            <a:r>
              <a:rPr lang="en-US" altLang="en-US" dirty="0"/>
              <a:t> bid x 7 days</a:t>
            </a:r>
          </a:p>
          <a:p>
            <a:pPr lvl="1" eaLnBrk="1" hangingPunct="1"/>
            <a:r>
              <a:rPr lang="en-US" dirty="0"/>
              <a:t>Metronidazole gel 0.75% for 5 days</a:t>
            </a:r>
            <a:endParaRPr lang="en-US" altLang="en-US" dirty="0"/>
          </a:p>
          <a:p>
            <a:pPr lvl="1" eaLnBrk="1" hangingPunct="1"/>
            <a:endParaRPr lang="en-US" altLang="en-US" sz="1200" dirty="0"/>
          </a:p>
          <a:p>
            <a:pPr eaLnBrk="1" hangingPunct="1"/>
            <a:r>
              <a:rPr lang="en-US" altLang="en-US" dirty="0"/>
              <a:t>Recheck in 1 month</a:t>
            </a:r>
          </a:p>
          <a:p>
            <a:pPr lvl="1" eaLnBrk="1" hangingPunct="1"/>
            <a:endParaRPr lang="en-US"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257300" y="381000"/>
            <a:ext cx="8229600" cy="1143000"/>
          </a:xfrm>
        </p:spPr>
        <p:txBody>
          <a:bodyPr/>
          <a:lstStyle/>
          <a:p>
            <a:pPr eaLnBrk="1" hangingPunct="1"/>
            <a:r>
              <a:rPr lang="en-US" altLang="en-US" dirty="0"/>
              <a:t>Recurrent Bacterial Vaginosis</a:t>
            </a:r>
          </a:p>
        </p:txBody>
      </p:sp>
      <p:sp>
        <p:nvSpPr>
          <p:cNvPr id="3" name="Content Placeholder 2"/>
          <p:cNvSpPr>
            <a:spLocks noGrp="1"/>
          </p:cNvSpPr>
          <p:nvPr>
            <p:ph idx="1"/>
          </p:nvPr>
        </p:nvSpPr>
        <p:spPr>
          <a:xfrm>
            <a:off x="1343024" y="1371600"/>
            <a:ext cx="9839325" cy="5105400"/>
          </a:xfrm>
        </p:spPr>
        <p:txBody>
          <a:bodyPr/>
          <a:lstStyle/>
          <a:p>
            <a:pPr eaLnBrk="1" hangingPunct="1">
              <a:buFont typeface="Arial" panose="020B0604020202020204" pitchFamily="34" charset="0"/>
              <a:buChar char="•"/>
            </a:pPr>
            <a:r>
              <a:rPr lang="en-US" altLang="en-US" dirty="0"/>
              <a:t>Retest and Rethink</a:t>
            </a:r>
          </a:p>
          <a:p>
            <a:pPr eaLnBrk="1" hangingPunct="1">
              <a:buFont typeface="Arial" panose="020B0604020202020204" pitchFamily="34" charset="0"/>
              <a:buChar char="•"/>
            </a:pPr>
            <a:r>
              <a:rPr lang="en-US" dirty="0"/>
              <a:t>Use a different recommended treatment regimen </a:t>
            </a:r>
          </a:p>
          <a:p>
            <a:pPr eaLnBrk="1" hangingPunct="1">
              <a:buFont typeface="Arial" panose="020B0604020202020204" pitchFamily="34" charset="0"/>
              <a:buChar char="•"/>
            </a:pPr>
            <a:r>
              <a:rPr lang="en-US" dirty="0"/>
              <a:t>Retreatment with same recommended regimen is an acceptable approach for treating persistent or recurrent BV after 1st occurrence </a:t>
            </a:r>
          </a:p>
          <a:p>
            <a:pPr eaLnBrk="1" hangingPunct="1">
              <a:buFont typeface="Arial" panose="020B0604020202020204" pitchFamily="34" charset="0"/>
              <a:buChar char="•"/>
            </a:pPr>
            <a:r>
              <a:rPr lang="en-US" dirty="0"/>
              <a:t>For multiple recurrences, either </a:t>
            </a:r>
          </a:p>
          <a:p>
            <a:pPr lvl="1" eaLnBrk="1" hangingPunct="1">
              <a:buFont typeface="Arial" panose="020B0604020202020204" pitchFamily="34" charset="0"/>
              <a:buChar char="•"/>
            </a:pPr>
            <a:r>
              <a:rPr lang="en-US" dirty="0"/>
              <a:t>0.75% metronidazole gel or 750 mg metronidazole vaginal suppository 2x/</a:t>
            </a:r>
            <a:r>
              <a:rPr lang="en-US" dirty="0" err="1"/>
              <a:t>wk</a:t>
            </a:r>
            <a:r>
              <a:rPr lang="en-US" dirty="0"/>
              <a:t> x &gt;3 mon has been reported to reduce recurrences, although this benefit does not persist when suppressive therapy is discontinued</a:t>
            </a:r>
          </a:p>
          <a:p>
            <a:r>
              <a:rPr lang="en-US" altLang="en-US" dirty="0"/>
              <a:t>Treat Partner (some evidence in same sex couples)</a:t>
            </a:r>
          </a:p>
          <a:p>
            <a:endParaRPr lang="en-US" dirty="0"/>
          </a:p>
          <a:p>
            <a:pPr lvl="1" eaLnBrk="1" hangingPunct="1">
              <a:buFont typeface="Arial" panose="020B0604020202020204" pitchFamily="34" charset="0"/>
              <a:buChar char="–"/>
            </a:pP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C431B-E4C1-41BA-4B11-3BDC31B45866}"/>
              </a:ext>
            </a:extLst>
          </p:cNvPr>
          <p:cNvSpPr>
            <a:spLocks noGrp="1"/>
          </p:cNvSpPr>
          <p:nvPr>
            <p:ph type="title"/>
          </p:nvPr>
        </p:nvSpPr>
        <p:spPr>
          <a:xfrm>
            <a:off x="1158115" y="563562"/>
            <a:ext cx="3352800" cy="1143000"/>
          </a:xfrm>
        </p:spPr>
        <p:txBody>
          <a:bodyPr>
            <a:noAutofit/>
          </a:bodyPr>
          <a:lstStyle/>
          <a:p>
            <a:r>
              <a:rPr lang="en-US" sz="4000" dirty="0"/>
              <a:t>Recurrent Bacterial Vaginosis </a:t>
            </a:r>
            <a:r>
              <a:rPr lang="en-US" sz="4000" dirty="0" err="1"/>
              <a:t>cont</a:t>
            </a:r>
            <a:endParaRPr lang="en-US" sz="4000" dirty="0"/>
          </a:p>
        </p:txBody>
      </p:sp>
      <p:sp>
        <p:nvSpPr>
          <p:cNvPr id="3" name="Content Placeholder 2">
            <a:extLst>
              <a:ext uri="{FF2B5EF4-FFF2-40B4-BE49-F238E27FC236}">
                <a16:creationId xmlns:a16="http://schemas.microsoft.com/office/drawing/2014/main" id="{E51F5A49-FF34-1EE2-B856-7305738EA534}"/>
              </a:ext>
            </a:extLst>
          </p:cNvPr>
          <p:cNvSpPr>
            <a:spLocks noGrp="1"/>
          </p:cNvSpPr>
          <p:nvPr>
            <p:ph idx="1"/>
          </p:nvPr>
        </p:nvSpPr>
        <p:spPr>
          <a:xfrm>
            <a:off x="1158115" y="2038350"/>
            <a:ext cx="3352800" cy="4602162"/>
          </a:xfrm>
        </p:spPr>
        <p:txBody>
          <a:bodyPr>
            <a:normAutofit fontScale="92500" lnSpcReduction="10000"/>
          </a:bodyPr>
          <a:lstStyle/>
          <a:p>
            <a:pPr marL="0" indent="0">
              <a:buNone/>
            </a:pPr>
            <a:r>
              <a:rPr lang="en-US" dirty="0"/>
              <a:t>Combined oral &amp; antimicrobial therapy (metronidazole 400 mg BID x7d &amp; 2% clindamycin cream applied to penis BID x7d) for male partners to </a:t>
            </a:r>
            <a:r>
              <a:rPr lang="en-US" dirty="0" err="1"/>
              <a:t>tx</a:t>
            </a:r>
            <a:r>
              <a:rPr lang="en-US" dirty="0"/>
              <a:t> women for BV results in lower rate of recurrence of BV w/in 12 </a:t>
            </a:r>
            <a:r>
              <a:rPr lang="en-US" dirty="0" err="1"/>
              <a:t>wks</a:t>
            </a:r>
            <a:r>
              <a:rPr lang="en-US" dirty="0"/>
              <a:t> compared to not treating male partners</a:t>
            </a:r>
          </a:p>
        </p:txBody>
      </p:sp>
      <p:pic>
        <p:nvPicPr>
          <p:cNvPr id="5" name="Picture 4" descr="The New England Journal of Medicine article showing &quot;Male-Partner Treatment to Prevent Recurrence of Bacterial Vaginosis&quot; published in March 2025.">
            <a:extLst>
              <a:ext uri="{FF2B5EF4-FFF2-40B4-BE49-F238E27FC236}">
                <a16:creationId xmlns:a16="http://schemas.microsoft.com/office/drawing/2014/main" id="{378F41AF-0E8A-B1C2-E435-0AF3488D27D6}"/>
              </a:ext>
            </a:extLst>
          </p:cNvPr>
          <p:cNvPicPr>
            <a:picLocks noChangeAspect="1"/>
          </p:cNvPicPr>
          <p:nvPr/>
        </p:nvPicPr>
        <p:blipFill>
          <a:blip r:embed="rId2"/>
          <a:stretch>
            <a:fillRect/>
          </a:stretch>
        </p:blipFill>
        <p:spPr>
          <a:xfrm>
            <a:off x="5149090" y="0"/>
            <a:ext cx="5518910" cy="6858000"/>
          </a:xfrm>
          <a:prstGeom prst="rect">
            <a:avLst/>
          </a:prstGeom>
        </p:spPr>
      </p:pic>
    </p:spTree>
    <p:extLst>
      <p:ext uri="{BB962C8B-B14F-4D97-AF65-F5344CB8AC3E}">
        <p14:creationId xmlns:p14="http://schemas.microsoft.com/office/powerpoint/2010/main" val="11873129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08648-B9F1-0007-1D87-1DB5C12991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E2824B-92DB-B202-5182-D4078FEE9BDD}"/>
              </a:ext>
            </a:extLst>
          </p:cNvPr>
          <p:cNvSpPr>
            <a:spLocks noGrp="1"/>
          </p:cNvSpPr>
          <p:nvPr>
            <p:ph type="title"/>
          </p:nvPr>
        </p:nvSpPr>
        <p:spPr>
          <a:xfrm>
            <a:off x="723900" y="213358"/>
            <a:ext cx="10153650" cy="930275"/>
          </a:xfrm>
        </p:spPr>
        <p:txBody>
          <a:bodyPr/>
          <a:lstStyle/>
          <a:p>
            <a:r>
              <a:rPr lang="en-US" dirty="0"/>
              <a:t>Trichomonas Vaginitis - General Info</a:t>
            </a:r>
          </a:p>
        </p:txBody>
      </p:sp>
      <p:sp>
        <p:nvSpPr>
          <p:cNvPr id="3" name="Content Placeholder 2">
            <a:extLst>
              <a:ext uri="{FF2B5EF4-FFF2-40B4-BE49-F238E27FC236}">
                <a16:creationId xmlns:a16="http://schemas.microsoft.com/office/drawing/2014/main" id="{AFC2029C-2194-47AC-A440-E2CBF5471A9B}"/>
              </a:ext>
            </a:extLst>
          </p:cNvPr>
          <p:cNvSpPr>
            <a:spLocks noGrp="1"/>
          </p:cNvSpPr>
          <p:nvPr>
            <p:ph idx="1"/>
          </p:nvPr>
        </p:nvSpPr>
        <p:spPr>
          <a:xfrm>
            <a:off x="809625" y="1117569"/>
            <a:ext cx="10906124" cy="5527073"/>
          </a:xfrm>
        </p:spPr>
        <p:txBody>
          <a:bodyPr>
            <a:normAutofit/>
          </a:bodyPr>
          <a:lstStyle/>
          <a:p>
            <a:r>
              <a:rPr lang="en-US" dirty="0"/>
              <a:t>Due to a </a:t>
            </a:r>
            <a:r>
              <a:rPr lang="en-US" dirty="0">
                <a:solidFill>
                  <a:schemeClr val="tx2"/>
                </a:solidFill>
              </a:rPr>
              <a:t>protozoan parasite</a:t>
            </a:r>
            <a:r>
              <a:rPr lang="en-US" dirty="0"/>
              <a:t>, Trichomonas vaginalis</a:t>
            </a:r>
          </a:p>
          <a:p>
            <a:r>
              <a:rPr lang="en-US" dirty="0"/>
              <a:t>Sexually transmitted </a:t>
            </a:r>
          </a:p>
          <a:p>
            <a:r>
              <a:rPr lang="en-US" dirty="0"/>
              <a:t>Risk factors include </a:t>
            </a:r>
          </a:p>
          <a:p>
            <a:pPr marL="640080" lvl="1" indent="-246888">
              <a:buFont typeface="Arial" panose="020B0604020202020204" pitchFamily="34" charset="0"/>
              <a:buChar char="–"/>
              <a:defRPr/>
            </a:pPr>
            <a:r>
              <a:rPr lang="en-US" sz="2000" dirty="0"/>
              <a:t>New or multiple sex partners</a:t>
            </a:r>
          </a:p>
          <a:p>
            <a:pPr marL="640080" lvl="1" indent="-246888">
              <a:buFont typeface="Arial" panose="020B0604020202020204" pitchFamily="34" charset="0"/>
              <a:buChar char="–"/>
              <a:defRPr/>
            </a:pPr>
            <a:r>
              <a:rPr lang="en-US" sz="2000" dirty="0"/>
              <a:t>Not using condoms</a:t>
            </a:r>
          </a:p>
          <a:p>
            <a:pPr marL="640080" lvl="1" indent="-246888">
              <a:buFont typeface="Arial" panose="020B0604020202020204" pitchFamily="34" charset="0"/>
              <a:buChar char="–"/>
              <a:defRPr/>
            </a:pPr>
            <a:r>
              <a:rPr lang="en-US" sz="2000" dirty="0">
                <a:solidFill>
                  <a:schemeClr val="tx2"/>
                </a:solidFill>
              </a:rPr>
              <a:t>HIV &amp; other STIs</a:t>
            </a:r>
            <a:endParaRPr lang="en-US" sz="2000" dirty="0"/>
          </a:p>
          <a:p>
            <a:pPr>
              <a:defRPr/>
            </a:pPr>
            <a:r>
              <a:rPr lang="en-US" dirty="0"/>
              <a:t>Complications</a:t>
            </a:r>
          </a:p>
          <a:p>
            <a:pPr marL="640080" lvl="1" indent="-246888">
              <a:buFont typeface="Arial" panose="020B0604020202020204" pitchFamily="34" charset="0"/>
              <a:buChar char="–"/>
              <a:defRPr/>
            </a:pPr>
            <a:r>
              <a:rPr lang="en-US" dirty="0">
                <a:solidFill>
                  <a:schemeClr val="tx2"/>
                </a:solidFill>
              </a:rPr>
              <a:t>HIV &amp; other STIs</a:t>
            </a:r>
          </a:p>
          <a:p>
            <a:pPr marL="640080" lvl="1" indent="-246888">
              <a:buFont typeface="Arial" panose="020B0604020202020204" pitchFamily="34" charset="0"/>
              <a:buChar char="–"/>
              <a:defRPr/>
            </a:pPr>
            <a:r>
              <a:rPr lang="en-US" dirty="0">
                <a:solidFill>
                  <a:schemeClr val="tx2"/>
                </a:solidFill>
              </a:rPr>
              <a:t>PID &amp; Infertility</a:t>
            </a:r>
          </a:p>
          <a:p>
            <a:pPr marL="640080" lvl="1" indent="-246888">
              <a:buFont typeface="Arial" panose="020B0604020202020204" pitchFamily="34" charset="0"/>
              <a:buChar char="–"/>
              <a:defRPr/>
            </a:pPr>
            <a:r>
              <a:rPr lang="en-US" dirty="0">
                <a:solidFill>
                  <a:schemeClr val="tx2"/>
                </a:solidFill>
              </a:rPr>
              <a:t>Prostate Cancer</a:t>
            </a:r>
          </a:p>
          <a:p>
            <a:pPr marL="640080" lvl="1" indent="-246888">
              <a:buFont typeface="Arial" panose="020B0604020202020204" pitchFamily="34" charset="0"/>
              <a:buChar char="–"/>
              <a:defRPr/>
            </a:pPr>
            <a:r>
              <a:rPr lang="en-US" dirty="0">
                <a:solidFill>
                  <a:schemeClr val="tx2"/>
                </a:solidFill>
              </a:rPr>
              <a:t>Fistulas in the reproductive tract</a:t>
            </a:r>
            <a:br>
              <a:rPr lang="en-US" dirty="0"/>
            </a:br>
            <a:endParaRPr lang="en-US" dirty="0"/>
          </a:p>
        </p:txBody>
      </p:sp>
      <p:pic>
        <p:nvPicPr>
          <p:cNvPr id="4" name="Picture 2" descr="Microscope slide showing protazoa Trichomonas as clear oval heads with a long flagellated tail.">
            <a:extLst>
              <a:ext uri="{FF2B5EF4-FFF2-40B4-BE49-F238E27FC236}">
                <a16:creationId xmlns:a16="http://schemas.microsoft.com/office/drawing/2014/main" id="{39ABF38A-38FC-E781-06AD-9108746EE6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876" y="2204975"/>
            <a:ext cx="3759607" cy="271944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331CA9E-C84E-0078-B26B-27AE2870D1BD}"/>
              </a:ext>
            </a:extLst>
          </p:cNvPr>
          <p:cNvSpPr txBox="1"/>
          <p:nvPr/>
        </p:nvSpPr>
        <p:spPr>
          <a:xfrm>
            <a:off x="476251" y="6275310"/>
            <a:ext cx="7496174" cy="369332"/>
          </a:xfrm>
          <a:prstGeom prst="rect">
            <a:avLst/>
          </a:prstGeom>
          <a:noFill/>
        </p:spPr>
        <p:txBody>
          <a:bodyPr wrap="square">
            <a:spAutoFit/>
          </a:bodyPr>
          <a:lstStyle/>
          <a:p>
            <a:r>
              <a:rPr lang="en-US" dirty="0"/>
              <a:t>http://www.aafp.org/afp/2011/0401/afp20110401p807-f2.jpg</a:t>
            </a:r>
          </a:p>
        </p:txBody>
      </p:sp>
    </p:spTree>
    <p:extLst>
      <p:ext uri="{BB962C8B-B14F-4D97-AF65-F5344CB8AC3E}">
        <p14:creationId xmlns:p14="http://schemas.microsoft.com/office/powerpoint/2010/main" val="4010206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wipe(down)">
                                      <p:cBhvr>
                                        <p:cTn id="25" dur="500"/>
                                        <p:tgtEl>
                                          <p:spTgt spid="3">
                                            <p:txEl>
                                              <p:pRg st="3" end="3"/>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wipe(down)">
                                      <p:cBhvr>
                                        <p:cTn id="28" dur="500"/>
                                        <p:tgtEl>
                                          <p:spTgt spid="3">
                                            <p:txEl>
                                              <p:pRg st="4" end="4"/>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wipe(down)">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wipe(down)">
                                      <p:cBhvr>
                                        <p:cTn id="36" dur="500"/>
                                        <p:tgtEl>
                                          <p:spTgt spid="3">
                                            <p:txEl>
                                              <p:pRg st="6" end="6"/>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wipe(down)">
                                      <p:cBhvr>
                                        <p:cTn id="39" dur="500"/>
                                        <p:tgtEl>
                                          <p:spTgt spid="3">
                                            <p:txEl>
                                              <p:pRg st="7" end="7"/>
                                            </p:tx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wipe(down)">
                                      <p:cBhvr>
                                        <p:cTn id="42" dur="500"/>
                                        <p:tgtEl>
                                          <p:spTgt spid="3">
                                            <p:txEl>
                                              <p:pRg st="8" end="8"/>
                                            </p:txEl>
                                          </p:spTgt>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wipe(down)">
                                      <p:cBhvr>
                                        <p:cTn id="45" dur="500"/>
                                        <p:tgtEl>
                                          <p:spTgt spid="3">
                                            <p:txEl>
                                              <p:pRg st="9" end="9"/>
                                            </p:txEl>
                                          </p:spTgt>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3">
                                            <p:txEl>
                                              <p:pRg st="10" end="10"/>
                                            </p:txEl>
                                          </p:spTgt>
                                        </p:tgtEl>
                                        <p:attrNameLst>
                                          <p:attrName>style.visibility</p:attrName>
                                        </p:attrNameLst>
                                      </p:cBhvr>
                                      <p:to>
                                        <p:strVal val="visible"/>
                                      </p:to>
                                    </p:set>
                                    <p:animEffect transition="in" filter="wipe(down)">
                                      <p:cBhvr>
                                        <p:cTn id="4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DDE5B-209B-7F9A-CEF7-67F2D3E213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91D5A6-7F9E-9184-6B12-AA7E2FA7F8E1}"/>
              </a:ext>
            </a:extLst>
          </p:cNvPr>
          <p:cNvSpPr>
            <a:spLocks noGrp="1"/>
          </p:cNvSpPr>
          <p:nvPr>
            <p:ph type="title"/>
          </p:nvPr>
        </p:nvSpPr>
        <p:spPr>
          <a:xfrm>
            <a:off x="838200" y="365126"/>
            <a:ext cx="10515600" cy="1054100"/>
          </a:xfrm>
        </p:spPr>
        <p:txBody>
          <a:bodyPr/>
          <a:lstStyle/>
          <a:p>
            <a:r>
              <a:rPr lang="en-US" dirty="0"/>
              <a:t>Trichomonas Vaginitis - Symptoms</a:t>
            </a:r>
          </a:p>
        </p:txBody>
      </p:sp>
      <p:sp>
        <p:nvSpPr>
          <p:cNvPr id="3" name="Content Placeholder 2">
            <a:extLst>
              <a:ext uri="{FF2B5EF4-FFF2-40B4-BE49-F238E27FC236}">
                <a16:creationId xmlns:a16="http://schemas.microsoft.com/office/drawing/2014/main" id="{25CB3CFF-95C1-6357-B1DE-494A4C814296}"/>
              </a:ext>
            </a:extLst>
          </p:cNvPr>
          <p:cNvSpPr>
            <a:spLocks noGrp="1"/>
          </p:cNvSpPr>
          <p:nvPr>
            <p:ph idx="1"/>
          </p:nvPr>
        </p:nvSpPr>
        <p:spPr>
          <a:xfrm>
            <a:off x="838200" y="1419226"/>
            <a:ext cx="10515600" cy="4351338"/>
          </a:xfrm>
        </p:spPr>
        <p:txBody>
          <a:bodyPr/>
          <a:lstStyle/>
          <a:p>
            <a:r>
              <a:rPr lang="en-US" dirty="0"/>
              <a:t>Increased vaginal discharge</a:t>
            </a:r>
          </a:p>
          <a:p>
            <a:pPr lvl="1"/>
            <a:r>
              <a:rPr lang="en-US" dirty="0"/>
              <a:t>Profuse frothy yellow-green discharge</a:t>
            </a:r>
          </a:p>
          <a:p>
            <a:r>
              <a:rPr lang="en-US" dirty="0"/>
              <a:t>Vulvar irritation in women</a:t>
            </a:r>
          </a:p>
          <a:p>
            <a:r>
              <a:rPr lang="en-US" dirty="0"/>
              <a:t>Urethritis, Epididymitis, Prostatitis in men</a:t>
            </a:r>
          </a:p>
          <a:p>
            <a:r>
              <a:rPr lang="en-US" dirty="0"/>
              <a:t>Asymptomatic</a:t>
            </a:r>
          </a:p>
          <a:p>
            <a:endParaRPr lang="en-US" dirty="0"/>
          </a:p>
        </p:txBody>
      </p:sp>
      <p:pic>
        <p:nvPicPr>
          <p:cNvPr id="4" name="Picture 9" descr="Frothy white bubbly discharge in the vagina seen in trichomonas.">
            <a:hlinkClick r:id="rId2"/>
            <a:extLst>
              <a:ext uri="{FF2B5EF4-FFF2-40B4-BE49-F238E27FC236}">
                <a16:creationId xmlns:a16="http://schemas.microsoft.com/office/drawing/2014/main" id="{850AFB84-BF49-418B-0A00-8F42C181A5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8252" y="3239012"/>
            <a:ext cx="3545548" cy="271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Cervicitis - Symptoms, diagnosis and treatment | BMJ Best Practice">
            <a:extLst>
              <a:ext uri="{FF2B5EF4-FFF2-40B4-BE49-F238E27FC236}">
                <a16:creationId xmlns:a16="http://schemas.microsoft.com/office/drawing/2014/main" id="{D601367C-D490-1B0A-F95C-8E1C89D4086C}"/>
              </a:ext>
            </a:extLst>
          </p:cNvPr>
          <p:cNvPicPr>
            <a:picLocks noChangeAspect="1"/>
          </p:cNvPicPr>
          <p:nvPr/>
        </p:nvPicPr>
        <p:blipFill>
          <a:blip r:embed="rId4"/>
          <a:stretch>
            <a:fillRect/>
          </a:stretch>
        </p:blipFill>
        <p:spPr>
          <a:xfrm>
            <a:off x="4003638" y="3429000"/>
            <a:ext cx="3597312" cy="2693987"/>
          </a:xfrm>
          <a:prstGeom prst="rect">
            <a:avLst/>
          </a:prstGeom>
        </p:spPr>
      </p:pic>
      <p:sp>
        <p:nvSpPr>
          <p:cNvPr id="7" name="TextBox 6">
            <a:extLst>
              <a:ext uri="{FF2B5EF4-FFF2-40B4-BE49-F238E27FC236}">
                <a16:creationId xmlns:a16="http://schemas.microsoft.com/office/drawing/2014/main" id="{D62564EF-A257-D059-D789-B0989123641A}"/>
              </a:ext>
            </a:extLst>
          </p:cNvPr>
          <p:cNvSpPr txBox="1"/>
          <p:nvPr/>
        </p:nvSpPr>
        <p:spPr>
          <a:xfrm>
            <a:off x="650581" y="6211669"/>
            <a:ext cx="8126264" cy="646331"/>
          </a:xfrm>
          <a:prstGeom prst="rect">
            <a:avLst/>
          </a:prstGeom>
          <a:noFill/>
        </p:spPr>
        <p:txBody>
          <a:bodyPr wrap="none" rtlCol="0">
            <a:spAutoFit/>
          </a:bodyPr>
          <a:lstStyle/>
          <a:p>
            <a:r>
              <a:rPr lang="en-US" dirty="0">
                <a:hlinkClick r:id="rId5"/>
              </a:rPr>
              <a:t>Cervicitis - Symptoms, diagnosis and treatment | BMJ Best Practice US</a:t>
            </a:r>
            <a:endParaRPr lang="en-US" dirty="0"/>
          </a:p>
          <a:p>
            <a:r>
              <a:rPr lang="en-US" dirty="0"/>
              <a:t>http://jacobimed.org/public/images/ambulatory_content/trich%20discharge.jpg</a:t>
            </a:r>
          </a:p>
        </p:txBody>
      </p:sp>
    </p:spTree>
    <p:extLst>
      <p:ext uri="{BB962C8B-B14F-4D97-AF65-F5344CB8AC3E}">
        <p14:creationId xmlns:p14="http://schemas.microsoft.com/office/powerpoint/2010/main" val="3104452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5880F-0E57-8629-5616-EEB4960F1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E0309-7AED-B905-E417-3795D16DBDCA}"/>
              </a:ext>
            </a:extLst>
          </p:cNvPr>
          <p:cNvSpPr>
            <a:spLocks noGrp="1"/>
          </p:cNvSpPr>
          <p:nvPr>
            <p:ph type="title"/>
          </p:nvPr>
        </p:nvSpPr>
        <p:spPr/>
        <p:txBody>
          <a:bodyPr/>
          <a:lstStyle/>
          <a:p>
            <a:r>
              <a:rPr lang="en-US" dirty="0"/>
              <a:t>Trichomonas Vaginitis - Diagnosis</a:t>
            </a:r>
          </a:p>
        </p:txBody>
      </p:sp>
      <p:sp>
        <p:nvSpPr>
          <p:cNvPr id="3" name="Content Placeholder 2">
            <a:extLst>
              <a:ext uri="{FF2B5EF4-FFF2-40B4-BE49-F238E27FC236}">
                <a16:creationId xmlns:a16="http://schemas.microsoft.com/office/drawing/2014/main" id="{FCFFEF82-2DC9-3418-1B0D-1EA2465395B6}"/>
              </a:ext>
            </a:extLst>
          </p:cNvPr>
          <p:cNvSpPr>
            <a:spLocks noGrp="1"/>
          </p:cNvSpPr>
          <p:nvPr>
            <p:ph idx="1"/>
          </p:nvPr>
        </p:nvSpPr>
        <p:spPr>
          <a:xfrm>
            <a:off x="838200" y="1492250"/>
            <a:ext cx="10515600" cy="4351338"/>
          </a:xfrm>
        </p:spPr>
        <p:txBody>
          <a:bodyPr>
            <a:normAutofit/>
          </a:bodyPr>
          <a:lstStyle/>
          <a:p>
            <a:r>
              <a:rPr lang="en-US" dirty="0">
                <a:solidFill>
                  <a:schemeClr val="tx2"/>
                </a:solidFill>
              </a:rPr>
              <a:t>pH paper or </a:t>
            </a:r>
            <a:r>
              <a:rPr lang="en-US" dirty="0" err="1">
                <a:solidFill>
                  <a:schemeClr val="tx2"/>
                </a:solidFill>
              </a:rPr>
              <a:t>PhemAlert</a:t>
            </a:r>
            <a:endParaRPr lang="en-US" dirty="0">
              <a:solidFill>
                <a:schemeClr val="tx2"/>
              </a:solidFill>
            </a:endParaRPr>
          </a:p>
          <a:p>
            <a:pPr lvl="1"/>
            <a:r>
              <a:rPr lang="en-US" dirty="0">
                <a:solidFill>
                  <a:schemeClr val="tx2"/>
                </a:solidFill>
              </a:rPr>
              <a:t>pH &gt;4.5 (normal vaginal pH is &lt;4.5)</a:t>
            </a:r>
          </a:p>
          <a:p>
            <a:r>
              <a:rPr lang="en-US" dirty="0">
                <a:solidFill>
                  <a:schemeClr val="tx2"/>
                </a:solidFill>
              </a:rPr>
              <a:t>Wet Prep/KOH Prep </a:t>
            </a:r>
          </a:p>
          <a:p>
            <a:pPr lvl="1"/>
            <a:r>
              <a:rPr lang="en-US" dirty="0">
                <a:solidFill>
                  <a:schemeClr val="tx2"/>
                </a:solidFill>
              </a:rPr>
              <a:t>Motile trichomonads</a:t>
            </a:r>
          </a:p>
          <a:p>
            <a:pPr lvl="1"/>
            <a:r>
              <a:rPr lang="en-US" dirty="0" err="1">
                <a:hlinkClick r:id="rId2"/>
              </a:rPr>
              <a:t>Youtube</a:t>
            </a:r>
            <a:r>
              <a:rPr lang="en-US" dirty="0">
                <a:hlinkClick r:id="rId2"/>
              </a:rPr>
              <a:t> video showing motile trichomonads</a:t>
            </a:r>
            <a:endParaRPr lang="en-US" dirty="0"/>
          </a:p>
          <a:p>
            <a:pPr lvl="1"/>
            <a:r>
              <a:rPr lang="en-US" dirty="0" err="1">
                <a:hlinkClick r:id="rId3"/>
              </a:rPr>
              <a:t>Youtube</a:t>
            </a:r>
            <a:r>
              <a:rPr lang="en-US" dirty="0">
                <a:hlinkClick r:id="rId3"/>
              </a:rPr>
              <a:t> video showing motile trichomonads</a:t>
            </a:r>
            <a:endParaRPr lang="en-US" dirty="0">
              <a:solidFill>
                <a:schemeClr val="tx2"/>
              </a:solidFill>
            </a:endParaRPr>
          </a:p>
          <a:p>
            <a:r>
              <a:rPr lang="en-US" dirty="0">
                <a:solidFill>
                  <a:schemeClr val="tx2"/>
                </a:solidFill>
              </a:rPr>
              <a:t>Molecular Testing - PCR</a:t>
            </a:r>
          </a:p>
        </p:txBody>
      </p:sp>
    </p:spTree>
    <p:extLst>
      <p:ext uri="{BB962C8B-B14F-4D97-AF65-F5344CB8AC3E}">
        <p14:creationId xmlns:p14="http://schemas.microsoft.com/office/powerpoint/2010/main" val="16844695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53B31-D302-83E9-F8CE-F15EF3351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945E1-280F-44DF-2613-6B99AD63D905}"/>
              </a:ext>
            </a:extLst>
          </p:cNvPr>
          <p:cNvSpPr>
            <a:spLocks noGrp="1"/>
          </p:cNvSpPr>
          <p:nvPr>
            <p:ph type="title"/>
          </p:nvPr>
        </p:nvSpPr>
        <p:spPr/>
        <p:txBody>
          <a:bodyPr/>
          <a:lstStyle/>
          <a:p>
            <a:r>
              <a:rPr lang="en-US" dirty="0"/>
              <a:t>Trichomonas Vaginitis - Treatment</a:t>
            </a:r>
          </a:p>
        </p:txBody>
      </p:sp>
      <p:sp>
        <p:nvSpPr>
          <p:cNvPr id="3" name="Content Placeholder 2">
            <a:extLst>
              <a:ext uri="{FF2B5EF4-FFF2-40B4-BE49-F238E27FC236}">
                <a16:creationId xmlns:a16="http://schemas.microsoft.com/office/drawing/2014/main" id="{8B415878-BA02-F019-65F8-32026BC1B4C6}"/>
              </a:ext>
            </a:extLst>
          </p:cNvPr>
          <p:cNvSpPr>
            <a:spLocks noGrp="1"/>
          </p:cNvSpPr>
          <p:nvPr>
            <p:ph idx="1"/>
          </p:nvPr>
        </p:nvSpPr>
        <p:spPr>
          <a:xfrm>
            <a:off x="838199" y="1690688"/>
            <a:ext cx="10868025" cy="4881561"/>
          </a:xfrm>
        </p:spPr>
        <p:txBody>
          <a:bodyPr>
            <a:normAutofit/>
          </a:bodyPr>
          <a:lstStyle/>
          <a:p>
            <a:r>
              <a:rPr lang="en-US" dirty="0"/>
              <a:t>Treat sexual partners</a:t>
            </a:r>
          </a:p>
          <a:p>
            <a:pPr lvl="1"/>
            <a:r>
              <a:rPr lang="en-US" altLang="en-US" dirty="0">
                <a:solidFill>
                  <a:schemeClr val="tx2"/>
                </a:solidFill>
              </a:rPr>
              <a:t>Expedited Partner Treatment (EPT) scripts can be written</a:t>
            </a:r>
            <a:endParaRPr lang="en-US" dirty="0"/>
          </a:p>
          <a:p>
            <a:r>
              <a:rPr lang="en-US" dirty="0">
                <a:solidFill>
                  <a:schemeClr val="tx2"/>
                </a:solidFill>
              </a:rPr>
              <a:t>Due to high rate of re-infection, CDC recommends women be retested after treatment about 3 months later</a:t>
            </a:r>
          </a:p>
          <a:p>
            <a:endParaRPr lang="en-US" dirty="0"/>
          </a:p>
          <a:p>
            <a:endParaRPr lang="en-US" dirty="0"/>
          </a:p>
        </p:txBody>
      </p:sp>
      <p:pic>
        <p:nvPicPr>
          <p:cNvPr id="5" name="Picture 4" descr="CDC table showing the treatment for trichomoniasis.">
            <a:extLst>
              <a:ext uri="{FF2B5EF4-FFF2-40B4-BE49-F238E27FC236}">
                <a16:creationId xmlns:a16="http://schemas.microsoft.com/office/drawing/2014/main" id="{9D8FF0AB-8372-FE10-7A73-2BAC1766163E}"/>
              </a:ext>
            </a:extLst>
          </p:cNvPr>
          <p:cNvPicPr>
            <a:picLocks noChangeAspect="1"/>
          </p:cNvPicPr>
          <p:nvPr/>
        </p:nvPicPr>
        <p:blipFill>
          <a:blip r:embed="rId2"/>
          <a:stretch>
            <a:fillRect/>
          </a:stretch>
        </p:blipFill>
        <p:spPr>
          <a:xfrm>
            <a:off x="826945" y="3676219"/>
            <a:ext cx="10526855" cy="1491093"/>
          </a:xfrm>
          <a:prstGeom prst="rect">
            <a:avLst/>
          </a:prstGeom>
        </p:spPr>
      </p:pic>
    </p:spTree>
    <p:extLst>
      <p:ext uri="{BB962C8B-B14F-4D97-AF65-F5344CB8AC3E}">
        <p14:creationId xmlns:p14="http://schemas.microsoft.com/office/powerpoint/2010/main" val="36776901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D22B6-2CCA-C1F9-DA24-CF2C4A07F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DCBA22-3966-BDB6-E0F1-5D9DBA81525C}"/>
              </a:ext>
            </a:extLst>
          </p:cNvPr>
          <p:cNvSpPr>
            <a:spLocks noGrp="1"/>
          </p:cNvSpPr>
          <p:nvPr>
            <p:ph type="title"/>
          </p:nvPr>
        </p:nvSpPr>
        <p:spPr/>
        <p:txBody>
          <a:bodyPr/>
          <a:lstStyle/>
          <a:p>
            <a:r>
              <a:rPr lang="en-US" dirty="0"/>
              <a:t>Trichomonas Vaginitis in Pregnancy</a:t>
            </a:r>
          </a:p>
        </p:txBody>
      </p:sp>
      <p:sp>
        <p:nvSpPr>
          <p:cNvPr id="3" name="Content Placeholder 2">
            <a:extLst>
              <a:ext uri="{FF2B5EF4-FFF2-40B4-BE49-F238E27FC236}">
                <a16:creationId xmlns:a16="http://schemas.microsoft.com/office/drawing/2014/main" id="{331D965C-FBA3-463C-0549-B81AE86A8873}"/>
              </a:ext>
            </a:extLst>
          </p:cNvPr>
          <p:cNvSpPr>
            <a:spLocks noGrp="1"/>
          </p:cNvSpPr>
          <p:nvPr>
            <p:ph idx="1"/>
          </p:nvPr>
        </p:nvSpPr>
        <p:spPr>
          <a:xfrm>
            <a:off x="838200" y="1514476"/>
            <a:ext cx="10515600" cy="4662488"/>
          </a:xfrm>
        </p:spPr>
        <p:txBody>
          <a:bodyPr/>
          <a:lstStyle/>
          <a:p>
            <a:pPr>
              <a:defRPr/>
            </a:pPr>
            <a:r>
              <a:rPr lang="en-US" dirty="0">
                <a:solidFill>
                  <a:schemeClr val="tx2"/>
                </a:solidFill>
              </a:rPr>
              <a:t>Transmission to baby during delivery causing oral or vaginal infections in baby (rare)</a:t>
            </a:r>
          </a:p>
          <a:p>
            <a:pPr>
              <a:defRPr/>
            </a:pPr>
            <a:r>
              <a:rPr lang="en-US" dirty="0">
                <a:solidFill>
                  <a:schemeClr val="tx2"/>
                </a:solidFill>
              </a:rPr>
              <a:t>Premature Birth &amp; LBW babies (unclear mech)</a:t>
            </a:r>
          </a:p>
        </p:txBody>
      </p:sp>
    </p:spTree>
    <p:extLst>
      <p:ext uri="{BB962C8B-B14F-4D97-AF65-F5344CB8AC3E}">
        <p14:creationId xmlns:p14="http://schemas.microsoft.com/office/powerpoint/2010/main" val="27028542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5FA24-92EB-8800-D2E2-CB2F81F53149}"/>
              </a:ext>
            </a:extLst>
          </p:cNvPr>
          <p:cNvSpPr>
            <a:spLocks noGrp="1"/>
          </p:cNvSpPr>
          <p:nvPr>
            <p:ph type="title"/>
          </p:nvPr>
        </p:nvSpPr>
        <p:spPr>
          <a:xfrm>
            <a:off x="666750" y="207962"/>
            <a:ext cx="10515600" cy="1325563"/>
          </a:xfrm>
        </p:spPr>
        <p:txBody>
          <a:bodyPr/>
          <a:lstStyle/>
          <a:p>
            <a:r>
              <a:rPr lang="en-US" dirty="0"/>
              <a:t>HPV – Genital Warts</a:t>
            </a:r>
          </a:p>
        </p:txBody>
      </p:sp>
      <p:sp>
        <p:nvSpPr>
          <p:cNvPr id="3" name="Content Placeholder 2">
            <a:extLst>
              <a:ext uri="{FF2B5EF4-FFF2-40B4-BE49-F238E27FC236}">
                <a16:creationId xmlns:a16="http://schemas.microsoft.com/office/drawing/2014/main" id="{38B870A5-C5B4-63EA-A344-5983D36E6F99}"/>
              </a:ext>
            </a:extLst>
          </p:cNvPr>
          <p:cNvSpPr>
            <a:spLocks noGrp="1"/>
          </p:cNvSpPr>
          <p:nvPr>
            <p:ph idx="1"/>
          </p:nvPr>
        </p:nvSpPr>
        <p:spPr>
          <a:xfrm>
            <a:off x="666750" y="1320800"/>
            <a:ext cx="10515600" cy="4351338"/>
          </a:xfrm>
        </p:spPr>
        <p:txBody>
          <a:bodyPr/>
          <a:lstStyle/>
          <a:p>
            <a:r>
              <a:rPr lang="en-US" dirty="0"/>
              <a:t>Low risk types (6 &amp; 11) that do not cause cancer</a:t>
            </a:r>
          </a:p>
          <a:p>
            <a:r>
              <a:rPr lang="en-US" dirty="0"/>
              <a:t>Can be sexually transmitted &amp; not always prevented by condom usage</a:t>
            </a:r>
          </a:p>
          <a:p>
            <a:r>
              <a:rPr lang="en-US" dirty="0"/>
              <a:t>Treatments</a:t>
            </a:r>
          </a:p>
          <a:p>
            <a:pPr lvl="1"/>
            <a:r>
              <a:rPr lang="en-US" dirty="0"/>
              <a:t>Patient applied </a:t>
            </a:r>
          </a:p>
          <a:p>
            <a:pPr lvl="1"/>
            <a:r>
              <a:rPr lang="en-US" dirty="0"/>
              <a:t>Clinician provided</a:t>
            </a:r>
          </a:p>
        </p:txBody>
      </p:sp>
      <p:pic>
        <p:nvPicPr>
          <p:cNvPr id="4" name="Picture 2" descr="Genital Warts">
            <a:extLst>
              <a:ext uri="{FF2B5EF4-FFF2-40B4-BE49-F238E27FC236}">
                <a16:creationId xmlns:a16="http://schemas.microsoft.com/office/drawing/2014/main" id="{95DCE188-673F-5B7E-C4D0-14043AAA2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2568" y="4489450"/>
            <a:ext cx="3197820"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1941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889BF-DADB-C7B0-6464-766CDDBB2C36}"/>
              </a:ext>
            </a:extLst>
          </p:cNvPr>
          <p:cNvSpPr>
            <a:spLocks noGrp="1"/>
          </p:cNvSpPr>
          <p:nvPr>
            <p:ph type="title"/>
          </p:nvPr>
        </p:nvSpPr>
        <p:spPr/>
        <p:txBody>
          <a:bodyPr>
            <a:normAutofit/>
          </a:bodyPr>
          <a:lstStyle/>
          <a:p>
            <a:r>
              <a:rPr lang="en-AE" sz="3600" dirty="0"/>
              <a:t>Patient-Applied (Self-Administered) Wart Treatments:</a:t>
            </a:r>
            <a:br>
              <a:rPr lang="en-AE" sz="3600" dirty="0"/>
            </a:br>
            <a:endParaRPr lang="en-AE" sz="3600" dirty="0"/>
          </a:p>
        </p:txBody>
      </p:sp>
      <p:sp>
        <p:nvSpPr>
          <p:cNvPr id="3" name="Content Placeholder 2">
            <a:extLst>
              <a:ext uri="{FF2B5EF4-FFF2-40B4-BE49-F238E27FC236}">
                <a16:creationId xmlns:a16="http://schemas.microsoft.com/office/drawing/2014/main" id="{1AE48623-1CB8-20A1-490A-A44C3BA5B0B3}"/>
              </a:ext>
            </a:extLst>
          </p:cNvPr>
          <p:cNvSpPr>
            <a:spLocks noGrp="1"/>
          </p:cNvSpPr>
          <p:nvPr>
            <p:ph idx="1"/>
          </p:nvPr>
        </p:nvSpPr>
        <p:spPr/>
        <p:txBody>
          <a:bodyPr>
            <a:normAutofit/>
          </a:bodyPr>
          <a:lstStyle/>
          <a:p>
            <a:pPr lvl="1"/>
            <a:r>
              <a:rPr lang="en-AE" b="1" dirty="0"/>
              <a:t>Imiquimod:</a:t>
            </a:r>
            <a:r>
              <a:rPr lang="en-AE" dirty="0"/>
              <a:t> Acts as a Toll-like receptor 7 (TLR7) agonist, inducing local cytokines (Interferon-\alpha, TNF-\alpha) to stimulate a cell-mediated immune response. </a:t>
            </a:r>
            <a:r>
              <a:rPr lang="en-US" dirty="0"/>
              <a:t>External application.</a:t>
            </a:r>
            <a:endParaRPr lang="en-AE" dirty="0"/>
          </a:p>
          <a:p>
            <a:pPr marL="457200" lvl="1" indent="0">
              <a:buNone/>
            </a:pPr>
            <a:endParaRPr lang="en-AE" dirty="0"/>
          </a:p>
          <a:p>
            <a:pPr marL="457200" lvl="1" indent="0">
              <a:buNone/>
            </a:pPr>
            <a:endParaRPr lang="en-AE" dirty="0"/>
          </a:p>
          <a:p>
            <a:pPr lvl="1"/>
            <a:r>
              <a:rPr lang="en-AE" b="1" dirty="0"/>
              <a:t>Podophyllotoxin:</a:t>
            </a:r>
            <a:r>
              <a:rPr lang="en-AE" dirty="0"/>
              <a:t> A purified mitotic inhibitor that causes metaphase arrest in dividing cells.</a:t>
            </a:r>
            <a:r>
              <a:rPr lang="en-US" dirty="0"/>
              <a:t> External application.</a:t>
            </a:r>
            <a:r>
              <a:rPr lang="en-AE" dirty="0"/>
              <a:t> </a:t>
            </a:r>
            <a:r>
              <a:rPr lang="en-AE" b="1" dirty="0"/>
              <a:t>Contraindicated in pregnancy.</a:t>
            </a:r>
            <a:endParaRPr lang="en-AE" dirty="0"/>
          </a:p>
          <a:p>
            <a:pPr marL="0" indent="0">
              <a:buNone/>
            </a:pPr>
            <a:endParaRPr lang="en-AE" dirty="0"/>
          </a:p>
        </p:txBody>
      </p:sp>
    </p:spTree>
    <p:extLst>
      <p:ext uri="{BB962C8B-B14F-4D97-AF65-F5344CB8AC3E}">
        <p14:creationId xmlns:p14="http://schemas.microsoft.com/office/powerpoint/2010/main" val="21749990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06700-EBE6-E72F-5740-095653E13E59}"/>
              </a:ext>
            </a:extLst>
          </p:cNvPr>
          <p:cNvSpPr>
            <a:spLocks noGrp="1"/>
          </p:cNvSpPr>
          <p:nvPr>
            <p:ph type="title"/>
          </p:nvPr>
        </p:nvSpPr>
        <p:spPr/>
        <p:txBody>
          <a:bodyPr>
            <a:normAutofit/>
          </a:bodyPr>
          <a:lstStyle/>
          <a:p>
            <a:r>
              <a:rPr lang="en-AE" sz="3600" dirty="0"/>
              <a:t>Clinician-Administered Wart Treatments:</a:t>
            </a:r>
            <a:br>
              <a:rPr lang="en-AE" sz="3600" dirty="0"/>
            </a:br>
            <a:endParaRPr lang="en-AE" sz="3600" dirty="0"/>
          </a:p>
        </p:txBody>
      </p:sp>
      <p:sp>
        <p:nvSpPr>
          <p:cNvPr id="3" name="Content Placeholder 2">
            <a:extLst>
              <a:ext uri="{FF2B5EF4-FFF2-40B4-BE49-F238E27FC236}">
                <a16:creationId xmlns:a16="http://schemas.microsoft.com/office/drawing/2014/main" id="{8EB1E081-E70D-C978-0C94-83839A0D477A}"/>
              </a:ext>
            </a:extLst>
          </p:cNvPr>
          <p:cNvSpPr>
            <a:spLocks noGrp="1"/>
          </p:cNvSpPr>
          <p:nvPr>
            <p:ph idx="1"/>
          </p:nvPr>
        </p:nvSpPr>
        <p:spPr>
          <a:xfrm>
            <a:off x="838200" y="1396999"/>
            <a:ext cx="10515600" cy="4899025"/>
          </a:xfrm>
        </p:spPr>
        <p:txBody>
          <a:bodyPr>
            <a:normAutofit lnSpcReduction="10000"/>
          </a:bodyPr>
          <a:lstStyle/>
          <a:p>
            <a:pPr lvl="1"/>
            <a:r>
              <a:rPr lang="en-AE" b="1" dirty="0"/>
              <a:t>Trichloroacetic acid (TCA) / Bichloroacetic acid (BCA):</a:t>
            </a:r>
            <a:r>
              <a:rPr lang="en-AE" dirty="0"/>
              <a:t> Caustic agents that chemically cauterize the lesion. These are </a:t>
            </a:r>
            <a:r>
              <a:rPr lang="en-AE" b="1" dirty="0">
                <a:solidFill>
                  <a:srgbClr val="C00000"/>
                </a:solidFill>
              </a:rPr>
              <a:t>preferred in pregnancy</a:t>
            </a:r>
            <a:r>
              <a:rPr lang="en-AE" dirty="0">
                <a:solidFill>
                  <a:srgbClr val="C00000"/>
                </a:solidFill>
              </a:rPr>
              <a:t> </a:t>
            </a:r>
            <a:r>
              <a:rPr lang="en-AE" dirty="0"/>
              <a:t>as they have no systemic absorption.</a:t>
            </a:r>
          </a:p>
          <a:p>
            <a:pPr marL="457200" lvl="1" indent="0">
              <a:buNone/>
            </a:pPr>
            <a:endParaRPr lang="en-AE" dirty="0"/>
          </a:p>
          <a:p>
            <a:pPr lvl="1"/>
            <a:r>
              <a:rPr lang="en-AE" b="1" dirty="0"/>
              <a:t>Podophyllum Resin:</a:t>
            </a:r>
            <a:r>
              <a:rPr lang="en-AE" dirty="0"/>
              <a:t> A crude, non-purified version of the mitotic inhibitor. Requires a </a:t>
            </a:r>
            <a:r>
              <a:rPr lang="en-AE" b="1" dirty="0"/>
              <a:t>mandatory </a:t>
            </a:r>
            <a:r>
              <a:rPr lang="en-AE" b="1" dirty="0">
                <a:solidFill>
                  <a:srgbClr val="C00000"/>
                </a:solidFill>
              </a:rPr>
              <a:t>wash-off </a:t>
            </a:r>
            <a:r>
              <a:rPr lang="en-AE" dirty="0"/>
              <a:t>within 1–4 hours of application to prevent systemic neurotoxicity.</a:t>
            </a:r>
          </a:p>
          <a:p>
            <a:pPr marL="457200" lvl="1" indent="0">
              <a:buNone/>
            </a:pPr>
            <a:endParaRPr lang="en-AE" dirty="0"/>
          </a:p>
          <a:p>
            <a:pPr lvl="1"/>
            <a:r>
              <a:rPr lang="en-US" b="1" dirty="0"/>
              <a:t>Intralesional interferon-</a:t>
            </a:r>
            <a:r>
              <a:rPr lang="el-GR" b="1" dirty="0"/>
              <a:t>α: </a:t>
            </a:r>
            <a:r>
              <a:rPr lang="en-US" dirty="0"/>
              <a:t>Reserved for </a:t>
            </a:r>
            <a:r>
              <a:rPr lang="en-US" b="1" dirty="0">
                <a:solidFill>
                  <a:srgbClr val="C00000"/>
                </a:solidFill>
              </a:rPr>
              <a:t>refractory</a:t>
            </a:r>
            <a:r>
              <a:rPr lang="en-US" dirty="0"/>
              <a:t> genital warts; limited by adverse effects and poor tolerability. </a:t>
            </a:r>
            <a:r>
              <a:rPr lang="en-AE" dirty="0"/>
              <a:t>Induces host cell enzymes that inhibit viral RNA translation and degrade viral mRNA. </a:t>
            </a:r>
          </a:p>
          <a:p>
            <a:pPr lvl="1"/>
            <a:endParaRPr lang="en-AE" dirty="0"/>
          </a:p>
          <a:p>
            <a:pPr lvl="1"/>
            <a:r>
              <a:rPr lang="en-AE" dirty="0"/>
              <a:t>Procedurally, these can also be frozen with liquid nitrogen, cauterized off at the base, or treated with a laser.</a:t>
            </a:r>
          </a:p>
          <a:p>
            <a:endParaRPr lang="en-AE" dirty="0"/>
          </a:p>
        </p:txBody>
      </p:sp>
    </p:spTree>
    <p:extLst>
      <p:ext uri="{BB962C8B-B14F-4D97-AF65-F5344CB8AC3E}">
        <p14:creationId xmlns:p14="http://schemas.microsoft.com/office/powerpoint/2010/main" val="7643174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43F6D-CD79-1C74-16DB-627E043FD516}"/>
              </a:ext>
            </a:extLst>
          </p:cNvPr>
          <p:cNvSpPr>
            <a:spLocks noGrp="1"/>
          </p:cNvSpPr>
          <p:nvPr>
            <p:ph type="title"/>
          </p:nvPr>
        </p:nvSpPr>
        <p:spPr>
          <a:xfrm>
            <a:off x="685800" y="231775"/>
            <a:ext cx="10515600" cy="1130300"/>
          </a:xfrm>
        </p:spPr>
        <p:txBody>
          <a:bodyPr/>
          <a:lstStyle/>
          <a:p>
            <a:r>
              <a:rPr lang="en-US" dirty="0"/>
              <a:t>Inflammatory - Vaginal</a:t>
            </a:r>
          </a:p>
        </p:txBody>
      </p:sp>
      <p:sp>
        <p:nvSpPr>
          <p:cNvPr id="3" name="Content Placeholder 2">
            <a:extLst>
              <a:ext uri="{FF2B5EF4-FFF2-40B4-BE49-F238E27FC236}">
                <a16:creationId xmlns:a16="http://schemas.microsoft.com/office/drawing/2014/main" id="{E3271BF8-2C78-2E96-75C3-AB7C16C28FB5}"/>
              </a:ext>
            </a:extLst>
          </p:cNvPr>
          <p:cNvSpPr>
            <a:spLocks noGrp="1"/>
          </p:cNvSpPr>
          <p:nvPr>
            <p:ph idx="1"/>
          </p:nvPr>
        </p:nvSpPr>
        <p:spPr>
          <a:xfrm>
            <a:off x="228772" y="1362075"/>
            <a:ext cx="10515600" cy="5329238"/>
          </a:xfrm>
        </p:spPr>
        <p:txBody>
          <a:bodyPr>
            <a:normAutofit lnSpcReduction="10000"/>
          </a:bodyPr>
          <a:lstStyle/>
          <a:p>
            <a:r>
              <a:rPr lang="en-US" dirty="0"/>
              <a:t>Desquamative inflammatory vaginitis – uncommon chronic purulent vaginitis occurring mostly in perimenopausal Caucasians</a:t>
            </a:r>
          </a:p>
          <a:p>
            <a:pPr lvl="1"/>
            <a:r>
              <a:rPr lang="en-US" dirty="0"/>
              <a:t>Symp – abnormal discharge</a:t>
            </a:r>
          </a:p>
          <a:p>
            <a:pPr lvl="1"/>
            <a:r>
              <a:rPr lang="en-US" dirty="0"/>
              <a:t>Diagnosis of exclusion – on microscopy, increase in inflammatory &amp; parabasal epithelial cells (immature squamous cells), pH &gt;4.5</a:t>
            </a:r>
          </a:p>
          <a:p>
            <a:pPr lvl="1"/>
            <a:r>
              <a:rPr lang="en-US" dirty="0"/>
              <a:t>Treatment with topical clindamycin or corticosteroids</a:t>
            </a:r>
          </a:p>
          <a:p>
            <a:r>
              <a:rPr lang="en-US" dirty="0"/>
              <a:t>Atrophic vaginitis / Genitourinary syndrome of menopause – hypoestrogenic state</a:t>
            </a:r>
          </a:p>
          <a:p>
            <a:pPr lvl="1"/>
            <a:r>
              <a:rPr lang="en-US" dirty="0"/>
              <a:t>Symp – decreased vaginal lubrication, dyspareunia, burning, pressure, itching, change in discharge, </a:t>
            </a:r>
            <a:r>
              <a:rPr lang="en-US" dirty="0" err="1"/>
              <a:t>freq</a:t>
            </a:r>
            <a:r>
              <a:rPr lang="en-US" dirty="0"/>
              <a:t> infections, pale vulvar appearance, loss of vaginal rugae, fusion of labia minora, introital stenosis, bleeding</a:t>
            </a:r>
          </a:p>
          <a:p>
            <a:pPr lvl="1"/>
            <a:r>
              <a:rPr lang="en-US" dirty="0"/>
              <a:t>Diagnosis – r/o infections, chemical irritants, peri/menopause</a:t>
            </a:r>
          </a:p>
          <a:p>
            <a:pPr lvl="1"/>
            <a:r>
              <a:rPr lang="en-US" dirty="0"/>
              <a:t>Treatment with vaginal estrogen &amp; moisturizers</a:t>
            </a:r>
          </a:p>
          <a:p>
            <a:endParaRPr lang="en-US" dirty="0"/>
          </a:p>
        </p:txBody>
      </p:sp>
      <p:pic>
        <p:nvPicPr>
          <p:cNvPr id="4" name="Picture 3" descr="Picture of external female genitals showing atrophic vaginitis">
            <a:extLst>
              <a:ext uri="{FF2B5EF4-FFF2-40B4-BE49-F238E27FC236}">
                <a16:creationId xmlns:a16="http://schemas.microsoft.com/office/drawing/2014/main" id="{3A37CE81-EA00-F798-6057-3C9ADCFB3CCF}"/>
              </a:ext>
            </a:extLst>
          </p:cNvPr>
          <p:cNvPicPr>
            <a:picLocks noChangeAspect="1"/>
          </p:cNvPicPr>
          <p:nvPr/>
        </p:nvPicPr>
        <p:blipFill>
          <a:blip r:embed="rId2"/>
          <a:stretch>
            <a:fillRect/>
          </a:stretch>
        </p:blipFill>
        <p:spPr>
          <a:xfrm>
            <a:off x="9925050" y="2052637"/>
            <a:ext cx="2038178" cy="2561061"/>
          </a:xfrm>
          <a:prstGeom prst="rect">
            <a:avLst/>
          </a:prstGeom>
        </p:spPr>
      </p:pic>
    </p:spTree>
    <p:extLst>
      <p:ext uri="{BB962C8B-B14F-4D97-AF65-F5344CB8AC3E}">
        <p14:creationId xmlns:p14="http://schemas.microsoft.com/office/powerpoint/2010/main" val="172542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500"/>
                                        <p:tgtEl>
                                          <p:spTgt spid="3">
                                            <p:txEl>
                                              <p:pRg st="1" end="1"/>
                                            </p:tx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3" dur="500"/>
                                        <p:tgtEl>
                                          <p:spTgt spid="3">
                                            <p:txEl>
                                              <p:pRg st="2" end="2"/>
                                            </p:txEl>
                                          </p:spTgt>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1" dur="500"/>
                                        <p:tgtEl>
                                          <p:spTgt spid="3">
                                            <p:txEl>
                                              <p:pRg st="4" end="4"/>
                                            </p:txEl>
                                          </p:spTgt>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4" dur="500"/>
                                        <p:tgtEl>
                                          <p:spTgt spid="3">
                                            <p:txEl>
                                              <p:pRg st="5" end="5"/>
                                            </p:txEl>
                                          </p:spTgt>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7" dur="500"/>
                                        <p:tgtEl>
                                          <p:spTgt spid="3">
                                            <p:txEl>
                                              <p:pRg st="6" end="6"/>
                                            </p:txEl>
                                          </p:spTgt>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randombar(horizontal)">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randombar(horizontal)">
                                      <p:cBhvr>
                                        <p:cTn id="3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029-5594-8EEF-ED2F-1BD892D50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CC7272-DE15-D724-0FBA-F3308B5C94F5}"/>
              </a:ext>
            </a:extLst>
          </p:cNvPr>
          <p:cNvSpPr>
            <a:spLocks noGrp="1"/>
          </p:cNvSpPr>
          <p:nvPr>
            <p:ph type="title"/>
          </p:nvPr>
        </p:nvSpPr>
        <p:spPr>
          <a:xfrm>
            <a:off x="485775" y="200025"/>
            <a:ext cx="10515600" cy="730250"/>
          </a:xfrm>
        </p:spPr>
        <p:txBody>
          <a:bodyPr/>
          <a:lstStyle/>
          <a:p>
            <a:r>
              <a:rPr lang="en-US" dirty="0"/>
              <a:t>Inflammatory - Vulvar</a:t>
            </a:r>
          </a:p>
        </p:txBody>
      </p:sp>
      <p:sp>
        <p:nvSpPr>
          <p:cNvPr id="3" name="Content Placeholder 2">
            <a:extLst>
              <a:ext uri="{FF2B5EF4-FFF2-40B4-BE49-F238E27FC236}">
                <a16:creationId xmlns:a16="http://schemas.microsoft.com/office/drawing/2014/main" id="{C6B15255-34A1-81B0-1016-F06B60CC4494}"/>
              </a:ext>
            </a:extLst>
          </p:cNvPr>
          <p:cNvSpPr>
            <a:spLocks noGrp="1"/>
          </p:cNvSpPr>
          <p:nvPr>
            <p:ph idx="1"/>
          </p:nvPr>
        </p:nvSpPr>
        <p:spPr>
          <a:xfrm>
            <a:off x="485775" y="930275"/>
            <a:ext cx="8763000" cy="5807188"/>
          </a:xfrm>
        </p:spPr>
        <p:txBody>
          <a:bodyPr>
            <a:normAutofit fontScale="92500" lnSpcReduction="10000"/>
          </a:bodyPr>
          <a:lstStyle/>
          <a:p>
            <a:pPr>
              <a:tabLst>
                <a:tab pos="228600" algn="l"/>
              </a:tabLst>
            </a:pPr>
            <a:r>
              <a:rPr lang="en-US" dirty="0"/>
              <a:t>Lichen sclerosis – chronic inflammatory 		</a:t>
            </a:r>
          </a:p>
          <a:p>
            <a:pPr marL="0" indent="0">
              <a:buNone/>
              <a:tabLst>
                <a:tab pos="228600" algn="l"/>
              </a:tabLst>
            </a:pPr>
            <a:r>
              <a:rPr lang="en-US" dirty="0"/>
              <a:t>	dermatitis affecting the vulva &amp; anogenital </a:t>
            </a:r>
          </a:p>
          <a:p>
            <a:pPr marL="0" indent="0">
              <a:buNone/>
              <a:tabLst>
                <a:tab pos="228600" algn="l"/>
              </a:tabLst>
            </a:pPr>
            <a:r>
              <a:rPr lang="en-US" dirty="0"/>
              <a:t>	regions (figure of 8 pattern) </a:t>
            </a:r>
          </a:p>
          <a:p>
            <a:pPr lvl="1"/>
            <a:r>
              <a:rPr lang="en-US" dirty="0"/>
              <a:t>Symp – white atrophic plaques, intense pruritus, dyspareunia, dysuria, labia minora regression &amp; clitoral scarring</a:t>
            </a:r>
          </a:p>
          <a:p>
            <a:pPr lvl="1"/>
            <a:r>
              <a:rPr lang="en-US" dirty="0"/>
              <a:t>Risk of progression to SCC</a:t>
            </a:r>
          </a:p>
          <a:p>
            <a:pPr lvl="1"/>
            <a:r>
              <a:rPr lang="en-US" dirty="0"/>
              <a:t>Treatment with ultrapotent topical steroids</a:t>
            </a:r>
          </a:p>
          <a:p>
            <a:r>
              <a:rPr lang="en-US" dirty="0"/>
              <a:t>Lichen planus – T cell–mediated inflammatory autoimmune condition affecting skin &amp; mucosa that can affect genital &amp; oral regions</a:t>
            </a:r>
          </a:p>
          <a:p>
            <a:pPr lvl="1"/>
            <a:r>
              <a:rPr lang="en-US" dirty="0"/>
              <a:t>Symp – pain, burning, scarring, well-demarcated bright-red vestibular patches with a hyperkeratotic border or a net-like plaque known as Wickham striae</a:t>
            </a:r>
          </a:p>
          <a:p>
            <a:pPr lvl="1"/>
            <a:r>
              <a:rPr lang="en-US" dirty="0"/>
              <a:t>Risk of scarring and developing vaginal stenosis if untreated</a:t>
            </a:r>
          </a:p>
          <a:p>
            <a:pPr lvl="1"/>
            <a:r>
              <a:rPr lang="en-US" dirty="0"/>
              <a:t>Treatment with ultrapotent topical &amp; intravaginal suppositories of steroids, may need vaginal dilatation</a:t>
            </a:r>
          </a:p>
        </p:txBody>
      </p:sp>
      <p:pic>
        <p:nvPicPr>
          <p:cNvPr id="4" name="Content Placeholder 3" descr="Picture of external female genitalia showing silvery white skin on the vulva consistent with lichen sclerosis.">
            <a:extLst>
              <a:ext uri="{FF2B5EF4-FFF2-40B4-BE49-F238E27FC236}">
                <a16:creationId xmlns:a16="http://schemas.microsoft.com/office/drawing/2014/main" id="{78830AEA-4112-0987-2E8B-1A21E78492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9497112" y="2130033"/>
            <a:ext cx="2644867" cy="1907499"/>
          </a:xfrm>
          <a:prstGeom prst="rect">
            <a:avLst/>
          </a:prstGeom>
        </p:spPr>
      </p:pic>
      <p:pic>
        <p:nvPicPr>
          <p:cNvPr id="6" name="Picture 5" descr="Picture of external female genitalia showing silvery white skin on the vulva consistent with lichen sclerosis.">
            <a:extLst>
              <a:ext uri="{FF2B5EF4-FFF2-40B4-BE49-F238E27FC236}">
                <a16:creationId xmlns:a16="http://schemas.microsoft.com/office/drawing/2014/main" id="{C3E25F61-4F8B-4B89-55D1-A119367FAA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500813" y="55002"/>
            <a:ext cx="2644867" cy="2058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Picture of external female genitalia showing silvery white skin on the vulva consistent with lichen sclerosis.">
            <a:extLst>
              <a:ext uri="{FF2B5EF4-FFF2-40B4-BE49-F238E27FC236}">
                <a16:creationId xmlns:a16="http://schemas.microsoft.com/office/drawing/2014/main" id="{E68B681C-5E22-E66F-66E3-5A5CC048844B}"/>
              </a:ext>
            </a:extLst>
          </p:cNvPr>
          <p:cNvPicPr>
            <a:picLocks noChangeAspect="1"/>
          </p:cNvPicPr>
          <p:nvPr/>
        </p:nvPicPr>
        <p:blipFill>
          <a:blip r:embed="rId4"/>
          <a:stretch>
            <a:fillRect/>
          </a:stretch>
        </p:blipFill>
        <p:spPr>
          <a:xfrm>
            <a:off x="7020242" y="120537"/>
            <a:ext cx="2400635" cy="1619476"/>
          </a:xfrm>
          <a:prstGeom prst="rect">
            <a:avLst/>
          </a:prstGeom>
        </p:spPr>
      </p:pic>
      <p:pic>
        <p:nvPicPr>
          <p:cNvPr id="8" name="Picture 7" descr="Picture of external female genitalia showing red patches of skin on the vulva consistent with lichen planus.">
            <a:extLst>
              <a:ext uri="{FF2B5EF4-FFF2-40B4-BE49-F238E27FC236}">
                <a16:creationId xmlns:a16="http://schemas.microsoft.com/office/drawing/2014/main" id="{BDBF9008-12DA-3B17-0636-6AD075892B3F}"/>
              </a:ext>
            </a:extLst>
          </p:cNvPr>
          <p:cNvPicPr>
            <a:picLocks noChangeAspect="1"/>
          </p:cNvPicPr>
          <p:nvPr/>
        </p:nvPicPr>
        <p:blipFill>
          <a:blip r:embed="rId5"/>
          <a:stretch>
            <a:fillRect/>
          </a:stretch>
        </p:blipFill>
        <p:spPr>
          <a:xfrm>
            <a:off x="9764688" y="4188594"/>
            <a:ext cx="2281261" cy="2614404"/>
          </a:xfrm>
          <a:prstGeom prst="rect">
            <a:avLst/>
          </a:prstGeom>
        </p:spPr>
      </p:pic>
    </p:spTree>
    <p:extLst>
      <p:ext uri="{BB962C8B-B14F-4D97-AF65-F5344CB8AC3E}">
        <p14:creationId xmlns:p14="http://schemas.microsoft.com/office/powerpoint/2010/main" val="1656988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par>
                                <p:cTn id="37" presetID="10" presetClass="entr" presetSubtype="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500"/>
                                        <p:tgtEl>
                                          <p:spTgt spid="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fade">
                                      <p:cBhvr>
                                        <p:cTn id="4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A1F99-035F-A32B-24F3-F83B02829C45}"/>
              </a:ext>
            </a:extLst>
          </p:cNvPr>
          <p:cNvSpPr>
            <a:spLocks noGrp="1"/>
          </p:cNvSpPr>
          <p:nvPr>
            <p:ph type="title"/>
          </p:nvPr>
        </p:nvSpPr>
        <p:spPr>
          <a:xfrm>
            <a:off x="714375" y="346076"/>
            <a:ext cx="10515600" cy="863600"/>
          </a:xfrm>
        </p:spPr>
        <p:txBody>
          <a:bodyPr/>
          <a:lstStyle/>
          <a:p>
            <a:r>
              <a:rPr lang="en-US" dirty="0"/>
              <a:t>Inflammatory – Vulvar </a:t>
            </a:r>
            <a:r>
              <a:rPr lang="en-US" dirty="0" err="1"/>
              <a:t>cont</a:t>
            </a:r>
            <a:endParaRPr lang="en-US" dirty="0"/>
          </a:p>
        </p:txBody>
      </p:sp>
      <p:sp>
        <p:nvSpPr>
          <p:cNvPr id="3" name="Content Placeholder 2">
            <a:extLst>
              <a:ext uri="{FF2B5EF4-FFF2-40B4-BE49-F238E27FC236}">
                <a16:creationId xmlns:a16="http://schemas.microsoft.com/office/drawing/2014/main" id="{DA687C13-120C-FDB0-F67B-2B6796975C4F}"/>
              </a:ext>
            </a:extLst>
          </p:cNvPr>
          <p:cNvSpPr>
            <a:spLocks noGrp="1"/>
          </p:cNvSpPr>
          <p:nvPr>
            <p:ph idx="1"/>
          </p:nvPr>
        </p:nvSpPr>
        <p:spPr>
          <a:xfrm>
            <a:off x="352425" y="1209676"/>
            <a:ext cx="8858250" cy="5391149"/>
          </a:xfrm>
        </p:spPr>
        <p:txBody>
          <a:bodyPr>
            <a:normAutofit fontScale="85000" lnSpcReduction="20000"/>
          </a:bodyPr>
          <a:lstStyle/>
          <a:p>
            <a:r>
              <a:rPr lang="en-US" dirty="0"/>
              <a:t>Lichen simplex </a:t>
            </a:r>
            <a:r>
              <a:rPr lang="en-US" dirty="0" err="1"/>
              <a:t>chronicus</a:t>
            </a:r>
            <a:r>
              <a:rPr lang="en-US" dirty="0"/>
              <a:t> – itch-scratch cycle causing thickened leathery skin usually due to underlying eczema, asthma, or allergies usually in 60 </a:t>
            </a:r>
            <a:r>
              <a:rPr lang="en-US" dirty="0" err="1"/>
              <a:t>yo</a:t>
            </a:r>
            <a:r>
              <a:rPr lang="en-US" dirty="0"/>
              <a:t>+ or those with anxiety disorders</a:t>
            </a:r>
          </a:p>
          <a:p>
            <a:pPr lvl="1"/>
            <a:r>
              <a:rPr lang="en-US" dirty="0"/>
              <a:t>Symp – intense pruritus even disturbing sleep, excoriations on vulva</a:t>
            </a:r>
          </a:p>
          <a:p>
            <a:pPr lvl="1"/>
            <a:r>
              <a:rPr lang="en-US" dirty="0"/>
              <a:t>Treatment is breaking the cycle with steroids </a:t>
            </a:r>
          </a:p>
          <a:p>
            <a:r>
              <a:rPr lang="en-US" dirty="0"/>
              <a:t>Contact dermatitis (irritant and allergic) </a:t>
            </a:r>
          </a:p>
          <a:p>
            <a:r>
              <a:rPr lang="en-US" dirty="0"/>
              <a:t>Psoriasis of the vulva</a:t>
            </a:r>
          </a:p>
          <a:p>
            <a:r>
              <a:rPr lang="en-US" dirty="0"/>
              <a:t>Hidradenitis suppurativa – inflammatory skin condition/folliculitis due to increased cytokine &amp; chemokine secretion resulting in hyperkeratosis, follicular occlusion, &amp; cyst development in apocrine gland–bearing skin (axilla, pubic)</a:t>
            </a:r>
          </a:p>
          <a:p>
            <a:pPr lvl="1"/>
            <a:r>
              <a:rPr lang="en-US" dirty="0"/>
              <a:t>Symp - painful lumps &amp; tunnels leading to scarring &amp; recurrent abscesses, open double “tombstone” </a:t>
            </a:r>
            <a:r>
              <a:rPr lang="en-US" dirty="0" err="1"/>
              <a:t>comedones</a:t>
            </a:r>
            <a:endParaRPr lang="en-US" dirty="0"/>
          </a:p>
          <a:p>
            <a:pPr lvl="1"/>
            <a:r>
              <a:rPr lang="en-US" dirty="0"/>
              <a:t>Risk – female, black, FH, tobacco, obesity, DM, Crohn’s</a:t>
            </a:r>
          </a:p>
          <a:p>
            <a:pPr lvl="1"/>
            <a:r>
              <a:rPr lang="en-US" dirty="0"/>
              <a:t>Diagnosis – clinical, Hurley classification staging system (I-III)</a:t>
            </a:r>
          </a:p>
          <a:p>
            <a:pPr lvl="1"/>
            <a:r>
              <a:rPr lang="en-US" dirty="0"/>
              <a:t>Treatment – loose clothing, lose weight, stop tobacco, topical clindamycin, oral tetracyclines, spironolactone, biologics, surgery</a:t>
            </a:r>
          </a:p>
          <a:p>
            <a:endParaRPr lang="en-US" dirty="0"/>
          </a:p>
        </p:txBody>
      </p:sp>
      <p:pic>
        <p:nvPicPr>
          <p:cNvPr id="5" name="Picture 4" descr="Picture of external female genitalia showing leathery skin consistent with lichen simplex chronicus.">
            <a:extLst>
              <a:ext uri="{FF2B5EF4-FFF2-40B4-BE49-F238E27FC236}">
                <a16:creationId xmlns:a16="http://schemas.microsoft.com/office/drawing/2014/main" id="{F81FB757-2199-A4CC-7E7E-CDD396DB39DA}"/>
              </a:ext>
            </a:extLst>
          </p:cNvPr>
          <p:cNvPicPr>
            <a:picLocks noChangeAspect="1"/>
          </p:cNvPicPr>
          <p:nvPr/>
        </p:nvPicPr>
        <p:blipFill>
          <a:blip r:embed="rId2"/>
          <a:stretch>
            <a:fillRect/>
          </a:stretch>
        </p:blipFill>
        <p:spPr>
          <a:xfrm>
            <a:off x="9480042" y="38100"/>
            <a:ext cx="2688336" cy="3200400"/>
          </a:xfrm>
          <a:prstGeom prst="rect">
            <a:avLst/>
          </a:prstGeom>
        </p:spPr>
      </p:pic>
      <p:pic>
        <p:nvPicPr>
          <p:cNvPr id="6" name="Picture 5" descr="Hidradenitis Suppurativa (Acne Inversa): A Complete Picture - DermNet">
            <a:extLst>
              <a:ext uri="{FF2B5EF4-FFF2-40B4-BE49-F238E27FC236}">
                <a16:creationId xmlns:a16="http://schemas.microsoft.com/office/drawing/2014/main" id="{1462F3F0-A8A4-A85F-9201-A6B8ED9D6FEA}"/>
              </a:ext>
            </a:extLst>
          </p:cNvPr>
          <p:cNvPicPr>
            <a:picLocks noChangeAspect="1"/>
          </p:cNvPicPr>
          <p:nvPr/>
        </p:nvPicPr>
        <p:blipFill>
          <a:blip r:embed="rId3"/>
          <a:stretch>
            <a:fillRect/>
          </a:stretch>
        </p:blipFill>
        <p:spPr>
          <a:xfrm>
            <a:off x="9105901" y="3238500"/>
            <a:ext cx="2814578" cy="2110933"/>
          </a:xfrm>
          <a:prstGeom prst="rect">
            <a:avLst/>
          </a:prstGeom>
        </p:spPr>
      </p:pic>
      <p:sp>
        <p:nvSpPr>
          <p:cNvPr id="7" name="TextBox 6">
            <a:extLst>
              <a:ext uri="{FF2B5EF4-FFF2-40B4-BE49-F238E27FC236}">
                <a16:creationId xmlns:a16="http://schemas.microsoft.com/office/drawing/2014/main" id="{7F02B1FE-F2EE-CD57-75EB-9718D597F865}"/>
              </a:ext>
            </a:extLst>
          </p:cNvPr>
          <p:cNvSpPr txBox="1"/>
          <p:nvPr/>
        </p:nvSpPr>
        <p:spPr>
          <a:xfrm>
            <a:off x="1181100" y="6327258"/>
            <a:ext cx="7222618" cy="369332"/>
          </a:xfrm>
          <a:prstGeom prst="rect">
            <a:avLst/>
          </a:prstGeom>
          <a:noFill/>
        </p:spPr>
        <p:txBody>
          <a:bodyPr wrap="none" rtlCol="0">
            <a:spAutoFit/>
          </a:bodyPr>
          <a:lstStyle/>
          <a:p>
            <a:r>
              <a:rPr lang="en-US" dirty="0">
                <a:hlinkClick r:id="rId4"/>
              </a:rPr>
              <a:t>Hidradenitis Suppurativa (Acne </a:t>
            </a:r>
            <a:r>
              <a:rPr lang="en-US" dirty="0" err="1">
                <a:hlinkClick r:id="rId4"/>
              </a:rPr>
              <a:t>Inversa</a:t>
            </a:r>
            <a:r>
              <a:rPr lang="en-US" dirty="0">
                <a:hlinkClick r:id="rId4"/>
              </a:rPr>
              <a:t>): A Complete Picture - </a:t>
            </a:r>
            <a:r>
              <a:rPr lang="en-US" dirty="0" err="1">
                <a:hlinkClick r:id="rId4"/>
              </a:rPr>
              <a:t>DermNet</a:t>
            </a:r>
            <a:endParaRPr lang="en-US" dirty="0"/>
          </a:p>
        </p:txBody>
      </p:sp>
      <p:pic>
        <p:nvPicPr>
          <p:cNvPr id="8" name="Picture 7" descr="Picture of external female genitalia showing scarring and tombstone comedones in hidradenitis suppurativa.">
            <a:extLst>
              <a:ext uri="{FF2B5EF4-FFF2-40B4-BE49-F238E27FC236}">
                <a16:creationId xmlns:a16="http://schemas.microsoft.com/office/drawing/2014/main" id="{870E28DD-83E9-29B6-8D0B-C51A6A1F0B97}"/>
              </a:ext>
            </a:extLst>
          </p:cNvPr>
          <p:cNvPicPr>
            <a:picLocks noChangeAspect="1"/>
          </p:cNvPicPr>
          <p:nvPr/>
        </p:nvPicPr>
        <p:blipFill>
          <a:blip r:embed="rId5"/>
          <a:stretch>
            <a:fillRect/>
          </a:stretch>
        </p:blipFill>
        <p:spPr>
          <a:xfrm>
            <a:off x="9089517" y="5055108"/>
            <a:ext cx="3051048" cy="1764792"/>
          </a:xfrm>
          <a:prstGeom prst="rect">
            <a:avLst/>
          </a:prstGeom>
        </p:spPr>
      </p:pic>
    </p:spTree>
    <p:extLst>
      <p:ext uri="{BB962C8B-B14F-4D97-AF65-F5344CB8AC3E}">
        <p14:creationId xmlns:p14="http://schemas.microsoft.com/office/powerpoint/2010/main" val="2313025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down)">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down)">
                                      <p:cBhvr>
                                        <p:cTn id="28" dur="500"/>
                                        <p:tgtEl>
                                          <p:spTgt spid="3">
                                            <p:txEl>
                                              <p:pRg st="5" end="5"/>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down)">
                                      <p:cBhvr>
                                        <p:cTn id="31" dur="500"/>
                                        <p:tgtEl>
                                          <p:spTgt spid="3">
                                            <p:txEl>
                                              <p:pRg st="6" end="6"/>
                                            </p:txEl>
                                          </p:spTgt>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wipe(down)">
                                      <p:cBhvr>
                                        <p:cTn id="34" dur="500"/>
                                        <p:tgtEl>
                                          <p:spTgt spid="3">
                                            <p:txEl>
                                              <p:pRg st="7" end="7"/>
                                            </p:txEl>
                                          </p:spTgt>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wipe(down)">
                                      <p:cBhvr>
                                        <p:cTn id="37" dur="500"/>
                                        <p:tgtEl>
                                          <p:spTgt spid="3">
                                            <p:txEl>
                                              <p:pRg st="8" end="8"/>
                                            </p:txEl>
                                          </p:spTgt>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wipe(down)">
                                      <p:cBhvr>
                                        <p:cTn id="40" dur="500"/>
                                        <p:tgtEl>
                                          <p:spTgt spid="3">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down)">
                                      <p:cBhvr>
                                        <p:cTn id="45" dur="500"/>
                                        <p:tgtEl>
                                          <p:spTgt spid="5"/>
                                        </p:tgtEl>
                                      </p:cBhvr>
                                    </p:animEffect>
                                  </p:childTnLst>
                                </p:cTn>
                              </p:par>
                              <p:par>
                                <p:cTn id="46" presetID="22" presetClass="entr" presetSubtype="4" fill="hold" nodeType="with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ipe(down)">
                                      <p:cBhvr>
                                        <p:cTn id="48" dur="500"/>
                                        <p:tgtEl>
                                          <p:spTgt spid="6"/>
                                        </p:tgtEl>
                                      </p:cBhvr>
                                    </p:animEffect>
                                  </p:childTnLst>
                                </p:cTn>
                              </p:par>
                              <p:par>
                                <p:cTn id="49" presetID="22" presetClass="entr" presetSubtype="4" fill="hold" nodeType="with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wipe(down)">
                                      <p:cBhvr>
                                        <p:cTn id="5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164F1-CA1B-5AF7-016B-807392D82010}"/>
              </a:ext>
            </a:extLst>
          </p:cNvPr>
          <p:cNvSpPr>
            <a:spLocks noGrp="1"/>
          </p:cNvSpPr>
          <p:nvPr>
            <p:ph type="title"/>
          </p:nvPr>
        </p:nvSpPr>
        <p:spPr>
          <a:xfrm>
            <a:off x="838200" y="365125"/>
            <a:ext cx="10515600" cy="758825"/>
          </a:xfrm>
        </p:spPr>
        <p:txBody>
          <a:bodyPr/>
          <a:lstStyle/>
          <a:p>
            <a:r>
              <a:rPr lang="en-US" dirty="0"/>
              <a:t>Other Vulvar Pathologies</a:t>
            </a:r>
          </a:p>
        </p:txBody>
      </p:sp>
      <p:sp>
        <p:nvSpPr>
          <p:cNvPr id="3" name="Content Placeholder 2">
            <a:extLst>
              <a:ext uri="{FF2B5EF4-FFF2-40B4-BE49-F238E27FC236}">
                <a16:creationId xmlns:a16="http://schemas.microsoft.com/office/drawing/2014/main" id="{73672D65-C952-5FE0-1A84-E878D49BD3E5}"/>
              </a:ext>
            </a:extLst>
          </p:cNvPr>
          <p:cNvSpPr>
            <a:spLocks noGrp="1"/>
          </p:cNvSpPr>
          <p:nvPr>
            <p:ph idx="1"/>
          </p:nvPr>
        </p:nvSpPr>
        <p:spPr>
          <a:xfrm>
            <a:off x="619124" y="1123950"/>
            <a:ext cx="11039475" cy="5438775"/>
          </a:xfrm>
        </p:spPr>
        <p:txBody>
          <a:bodyPr>
            <a:normAutofit/>
          </a:bodyPr>
          <a:lstStyle/>
          <a:p>
            <a:r>
              <a:rPr lang="en-US" dirty="0"/>
              <a:t>Vulvodynia – vulvar pain without an identifiable cause that persists for at least three months (diagnosis of exclusion)</a:t>
            </a:r>
          </a:p>
          <a:p>
            <a:pPr lvl="1"/>
            <a:r>
              <a:rPr lang="en-US" dirty="0"/>
              <a:t>Can occur alone or in association with another disorder like interstitial cystitis, fibromyalgia, irritable bowel syndrome, pelvic myofascial pain, psychosocial conditions, &amp; sexual dysfunction</a:t>
            </a:r>
          </a:p>
          <a:p>
            <a:pPr lvl="1"/>
            <a:r>
              <a:rPr lang="en-US" dirty="0"/>
              <a:t>Symp – localized or generalized pain, random or provoked, intermittent or constant</a:t>
            </a:r>
          </a:p>
          <a:p>
            <a:pPr lvl="1"/>
            <a:r>
              <a:rPr lang="en-US" dirty="0"/>
              <a:t>Most common cause of dyspareunia in premenopausal (12% prevalence)</a:t>
            </a:r>
          </a:p>
          <a:p>
            <a:pPr lvl="1"/>
            <a:r>
              <a:rPr lang="en-US" dirty="0"/>
              <a:t>Diagnosis – pressure point testing using a cotton swab in a circumferential fashion along the vulvar vestibule, which will elicit pain with even light touch in a patient with vulvodynia</a:t>
            </a:r>
          </a:p>
          <a:p>
            <a:pPr lvl="1"/>
            <a:r>
              <a:rPr lang="en-US" dirty="0"/>
              <a:t>Multimodal treatment – pelvic floor physical therapy, cognitive behavioral therapy, neuropathic pain modulators, </a:t>
            </a:r>
            <a:r>
              <a:rPr lang="en-US" dirty="0" err="1"/>
              <a:t>vestibulectomy</a:t>
            </a:r>
            <a:endParaRPr lang="en-US" dirty="0"/>
          </a:p>
          <a:p>
            <a:endParaRPr lang="en-US" dirty="0"/>
          </a:p>
          <a:p>
            <a:endParaRPr lang="en-US" dirty="0"/>
          </a:p>
        </p:txBody>
      </p:sp>
    </p:spTree>
    <p:extLst>
      <p:ext uri="{BB962C8B-B14F-4D97-AF65-F5344CB8AC3E}">
        <p14:creationId xmlns:p14="http://schemas.microsoft.com/office/powerpoint/2010/main" val="20511778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8DFA9-C039-A7D3-16A5-04A82E9450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1D847-3E8B-A71B-1A68-0935005E9EBB}"/>
              </a:ext>
            </a:extLst>
          </p:cNvPr>
          <p:cNvSpPr>
            <a:spLocks noGrp="1"/>
          </p:cNvSpPr>
          <p:nvPr>
            <p:ph type="title"/>
          </p:nvPr>
        </p:nvSpPr>
        <p:spPr>
          <a:xfrm>
            <a:off x="304800" y="248745"/>
            <a:ext cx="10715625" cy="839829"/>
          </a:xfrm>
        </p:spPr>
        <p:txBody>
          <a:bodyPr/>
          <a:lstStyle/>
          <a:p>
            <a:r>
              <a:rPr lang="en-US" dirty="0"/>
              <a:t>Other Vulvar Pathologies </a:t>
            </a:r>
            <a:r>
              <a:rPr lang="en-US" dirty="0" err="1"/>
              <a:t>cont</a:t>
            </a:r>
            <a:endParaRPr lang="en-US" dirty="0"/>
          </a:p>
        </p:txBody>
      </p:sp>
      <p:sp>
        <p:nvSpPr>
          <p:cNvPr id="3" name="Content Placeholder 2">
            <a:extLst>
              <a:ext uri="{FF2B5EF4-FFF2-40B4-BE49-F238E27FC236}">
                <a16:creationId xmlns:a16="http://schemas.microsoft.com/office/drawing/2014/main" id="{BD16F5DD-258A-F610-6B93-FF8E39C12E76}"/>
              </a:ext>
            </a:extLst>
          </p:cNvPr>
          <p:cNvSpPr>
            <a:spLocks noGrp="1"/>
          </p:cNvSpPr>
          <p:nvPr>
            <p:ph idx="1"/>
          </p:nvPr>
        </p:nvSpPr>
        <p:spPr>
          <a:xfrm>
            <a:off x="504825" y="1164452"/>
            <a:ext cx="10848975" cy="5140325"/>
          </a:xfrm>
        </p:spPr>
        <p:txBody>
          <a:bodyPr>
            <a:normAutofit fontScale="92500"/>
          </a:bodyPr>
          <a:lstStyle/>
          <a:p>
            <a:r>
              <a:rPr lang="en-US" dirty="0"/>
              <a:t>Bartholin gland cyst/abscess – </a:t>
            </a:r>
          </a:p>
          <a:p>
            <a:pPr marL="0" indent="0">
              <a:buNone/>
              <a:tabLst>
                <a:tab pos="228600" algn="l"/>
              </a:tabLst>
            </a:pPr>
            <a:r>
              <a:rPr lang="en-US" dirty="0"/>
              <a:t>	blockage of lubricating duct can lead </a:t>
            </a:r>
          </a:p>
          <a:p>
            <a:pPr marL="0" indent="0">
              <a:buNone/>
              <a:tabLst>
                <a:tab pos="228600" algn="l"/>
              </a:tabLst>
            </a:pPr>
            <a:r>
              <a:rPr lang="en-US" dirty="0"/>
              <a:t>	to mucous entrapment &amp; infection</a:t>
            </a:r>
          </a:p>
          <a:p>
            <a:pPr lvl="1"/>
            <a:r>
              <a:rPr lang="en-US" dirty="0"/>
              <a:t>Symp – pain, fever, dyspareunia</a:t>
            </a:r>
          </a:p>
          <a:p>
            <a:pPr lvl="1"/>
            <a:r>
              <a:rPr lang="en-US" dirty="0"/>
              <a:t>Treatment – management requires a Word catheter or marsupialization, antibiotics</a:t>
            </a:r>
          </a:p>
          <a:p>
            <a:r>
              <a:rPr lang="en-US" dirty="0"/>
              <a:t>Gartner duct cysts – benign fluid filled pouch that develops along the side wall of the vagina due to embryonic development</a:t>
            </a:r>
          </a:p>
          <a:p>
            <a:r>
              <a:rPr lang="en-US" dirty="0"/>
              <a:t>Beh</a:t>
            </a:r>
            <a:r>
              <a:rPr lang="en-US" dirty="0">
                <a:hlinkClick r:id="rId2">
                  <a:extLst>
                    <a:ext uri="{A12FA001-AC4F-418D-AE19-62706E023703}">
                      <ahyp:hlinkClr xmlns:ahyp="http://schemas.microsoft.com/office/drawing/2018/hyperlinkcolor" val="tx"/>
                    </a:ext>
                  </a:extLst>
                </a:hlinkClick>
              </a:rPr>
              <a:t>ç</a:t>
            </a:r>
            <a:r>
              <a:rPr lang="en-US" dirty="0"/>
              <a:t>et disease – rare autoimmune disease that can cause painful recurrent oral &amp; genital ulceration</a:t>
            </a:r>
          </a:p>
          <a:p>
            <a:r>
              <a:rPr lang="en-US" dirty="0" err="1"/>
              <a:t>Lipschütz</a:t>
            </a:r>
            <a:r>
              <a:rPr lang="en-US" dirty="0"/>
              <a:t> ulcers – </a:t>
            </a:r>
            <a:r>
              <a:rPr lang="en-US" dirty="0" err="1"/>
              <a:t>nonsexually</a:t>
            </a:r>
            <a:r>
              <a:rPr lang="en-US" dirty="0"/>
              <a:t> acquired painful genital ulceration in young, non–sexually active patients often preceded by flu-like or mononucleosis-like illnesses (</a:t>
            </a:r>
            <a:r>
              <a:rPr lang="en-US" dirty="0" err="1"/>
              <a:t>ie</a:t>
            </a:r>
            <a:r>
              <a:rPr lang="en-US" dirty="0"/>
              <a:t> Epstein-Barr virus)</a:t>
            </a:r>
          </a:p>
          <a:p>
            <a:endParaRPr lang="en-US" dirty="0"/>
          </a:p>
          <a:p>
            <a:endParaRPr lang="en-US" dirty="0"/>
          </a:p>
        </p:txBody>
      </p:sp>
      <p:pic>
        <p:nvPicPr>
          <p:cNvPr id="4" name="Picture 3" descr="Bartholin Gland Cyst: Care Instructions | Kaiser Permanente">
            <a:extLst>
              <a:ext uri="{FF2B5EF4-FFF2-40B4-BE49-F238E27FC236}">
                <a16:creationId xmlns:a16="http://schemas.microsoft.com/office/drawing/2014/main" id="{699C617F-125D-C227-FBB1-F650CCEC2728}"/>
              </a:ext>
            </a:extLst>
          </p:cNvPr>
          <p:cNvPicPr>
            <a:picLocks noChangeAspect="1"/>
          </p:cNvPicPr>
          <p:nvPr/>
        </p:nvPicPr>
        <p:blipFill>
          <a:blip r:embed="rId3"/>
          <a:stretch>
            <a:fillRect/>
          </a:stretch>
        </p:blipFill>
        <p:spPr>
          <a:xfrm>
            <a:off x="6343650" y="856864"/>
            <a:ext cx="2921000" cy="1905000"/>
          </a:xfrm>
          <a:prstGeom prst="rect">
            <a:avLst/>
          </a:prstGeom>
        </p:spPr>
      </p:pic>
      <p:sp>
        <p:nvSpPr>
          <p:cNvPr id="5" name="TextBox 4">
            <a:extLst>
              <a:ext uri="{FF2B5EF4-FFF2-40B4-BE49-F238E27FC236}">
                <a16:creationId xmlns:a16="http://schemas.microsoft.com/office/drawing/2014/main" id="{F5BF0B7B-0AE8-D752-22AE-EF693B7B1E05}"/>
              </a:ext>
              <a:ext uri="{C183D7F6-B498-43B3-948B-1728B52AA6E4}">
                <adec:decorative xmlns:adec="http://schemas.microsoft.com/office/drawing/2017/decorative" val="1"/>
              </a:ext>
            </a:extLst>
          </p:cNvPr>
          <p:cNvSpPr txBox="1"/>
          <p:nvPr/>
        </p:nvSpPr>
        <p:spPr>
          <a:xfrm>
            <a:off x="31751" y="6264275"/>
            <a:ext cx="10950574" cy="646331"/>
          </a:xfrm>
          <a:prstGeom prst="rect">
            <a:avLst/>
          </a:prstGeom>
          <a:noFill/>
        </p:spPr>
        <p:txBody>
          <a:bodyPr wrap="square" rtlCol="0">
            <a:spAutoFit/>
          </a:bodyPr>
          <a:lstStyle/>
          <a:p>
            <a:r>
              <a:rPr lang="en-US" dirty="0">
                <a:hlinkClick r:id="rId4"/>
              </a:rPr>
              <a:t>Bartholin Gland Cyst: Care Instructions | Kaiser Permanente</a:t>
            </a:r>
            <a:endParaRPr lang="en-US" dirty="0"/>
          </a:p>
          <a:p>
            <a:r>
              <a:rPr lang="en-US" dirty="0">
                <a:hlinkClick r:id="rId5"/>
              </a:rPr>
              <a:t>Word catheter for Bartholin’s abscess — Chelsea and Westminster Hospital NHS Foundation Trust</a:t>
            </a:r>
            <a:endParaRPr lang="en-US" dirty="0"/>
          </a:p>
        </p:txBody>
      </p:sp>
      <p:pic>
        <p:nvPicPr>
          <p:cNvPr id="6" name="Picture 5" descr="Word catheter for Bartholin's abscess — Chelsea and Westminster Hospital  NHS Foundation Trust">
            <a:extLst>
              <a:ext uri="{FF2B5EF4-FFF2-40B4-BE49-F238E27FC236}">
                <a16:creationId xmlns:a16="http://schemas.microsoft.com/office/drawing/2014/main" id="{52527B1E-0E20-05F2-C9C9-D5940660FEDE}"/>
              </a:ext>
            </a:extLst>
          </p:cNvPr>
          <p:cNvPicPr>
            <a:picLocks noChangeAspect="1"/>
          </p:cNvPicPr>
          <p:nvPr/>
        </p:nvPicPr>
        <p:blipFill>
          <a:blip r:embed="rId6"/>
          <a:stretch>
            <a:fillRect/>
          </a:stretch>
        </p:blipFill>
        <p:spPr>
          <a:xfrm>
            <a:off x="9163050" y="132365"/>
            <a:ext cx="2921000" cy="2064173"/>
          </a:xfrm>
          <a:prstGeom prst="rect">
            <a:avLst/>
          </a:prstGeom>
        </p:spPr>
      </p:pic>
    </p:spTree>
    <p:extLst>
      <p:ext uri="{BB962C8B-B14F-4D97-AF65-F5344CB8AC3E}">
        <p14:creationId xmlns:p14="http://schemas.microsoft.com/office/powerpoint/2010/main" val="3318362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1000"/>
                                        <p:tgtEl>
                                          <p:spTgt spid="3">
                                            <p:txEl>
                                              <p:pRg st="0" end="0"/>
                                            </p:txEl>
                                          </p:spTgt>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heel(1)">
                                      <p:cBhvr>
                                        <p:cTn id="10" dur="1000"/>
                                        <p:tgtEl>
                                          <p:spTgt spid="3">
                                            <p:txEl>
                                              <p:pRg st="1" end="1"/>
                                            </p:txEl>
                                          </p:spTgt>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heel(1)">
                                      <p:cBhvr>
                                        <p:cTn id="13" dur="1000"/>
                                        <p:tgtEl>
                                          <p:spTgt spid="3">
                                            <p:txEl>
                                              <p:pRg st="2" end="2"/>
                                            </p:txEl>
                                          </p:spTgt>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heel(1)">
                                      <p:cBhvr>
                                        <p:cTn id="16" dur="1000"/>
                                        <p:tgtEl>
                                          <p:spTgt spid="3">
                                            <p:txEl>
                                              <p:pRg st="3" end="3"/>
                                            </p:txEl>
                                          </p:spTgt>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heel(1)">
                                      <p:cBhvr>
                                        <p:cTn id="19" dur="1000"/>
                                        <p:tgtEl>
                                          <p:spTgt spid="3">
                                            <p:txEl>
                                              <p:pRg st="4" end="4"/>
                                            </p:txEl>
                                          </p:spTgt>
                                        </p:tgtEl>
                                      </p:cBhvr>
                                    </p:animEffect>
                                  </p:childTnLst>
                                </p:cTn>
                              </p:par>
                              <p:par>
                                <p:cTn id="20" presetID="21" presetClass="entr" presetSubtype="1"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heel(1)">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heel(1)">
                                      <p:cBhvr>
                                        <p:cTn id="27" dur="1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heel(1)">
                                      <p:cBhvr>
                                        <p:cTn id="32" dur="1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heel(1)">
                                      <p:cBhvr>
                                        <p:cTn id="37" dur="1000"/>
                                        <p:tgtEl>
                                          <p:spTgt spid="3">
                                            <p:txEl>
                                              <p:pRg st="7" end="7"/>
                                            </p:txEl>
                                          </p:spTgt>
                                        </p:tgtEl>
                                      </p:cBhvr>
                                    </p:animEffect>
                                  </p:childTnLst>
                                </p:cTn>
                              </p:par>
                              <p:par>
                                <p:cTn id="38" presetID="21" presetClass="entr" presetSubtype="1" fill="hold"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heel(1)">
                                      <p:cBhvr>
                                        <p:cTn id="4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346514-0B24-B0F4-ED40-F82F8CBAF240}"/>
              </a:ext>
            </a:extLst>
          </p:cNvPr>
          <p:cNvSpPr>
            <a:spLocks noGrp="1"/>
          </p:cNvSpPr>
          <p:nvPr>
            <p:ph type="title"/>
          </p:nvPr>
        </p:nvSpPr>
        <p:spPr/>
        <p:txBody>
          <a:bodyPr/>
          <a:lstStyle/>
          <a:p>
            <a:r>
              <a:rPr lang="en-US" dirty="0"/>
              <a:t>Questions?</a:t>
            </a:r>
          </a:p>
        </p:txBody>
      </p:sp>
      <p:sp>
        <p:nvSpPr>
          <p:cNvPr id="5" name="Text Placeholder 4">
            <a:extLst>
              <a:ext uri="{FF2B5EF4-FFF2-40B4-BE49-F238E27FC236}">
                <a16:creationId xmlns:a16="http://schemas.microsoft.com/office/drawing/2014/main" id="{28E9A65B-78FF-6AC0-2CC3-12E3D193AD8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756200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E2510-599A-08CD-83E5-85E6368D869B}"/>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682850FC-0515-B04C-2302-89F30AFCA225}"/>
              </a:ext>
            </a:extLst>
          </p:cNvPr>
          <p:cNvSpPr>
            <a:spLocks noGrp="1"/>
          </p:cNvSpPr>
          <p:nvPr>
            <p:ph idx="1"/>
          </p:nvPr>
        </p:nvSpPr>
        <p:spPr>
          <a:xfrm>
            <a:off x="838200" y="1592826"/>
            <a:ext cx="10515600" cy="4584137"/>
          </a:xfrm>
        </p:spPr>
        <p:txBody>
          <a:bodyPr>
            <a:normAutofit fontScale="92500"/>
          </a:bodyPr>
          <a:lstStyle/>
          <a:p>
            <a:r>
              <a:rPr lang="en-US" dirty="0">
                <a:hlinkClick r:id="rId2"/>
              </a:rPr>
              <a:t>Cervical Cancer Prevention &amp; HPV Management | ASCCP</a:t>
            </a:r>
            <a:endParaRPr lang="en-US" dirty="0"/>
          </a:p>
          <a:p>
            <a:r>
              <a:rPr lang="en-US" dirty="0">
                <a:hlinkClick r:id="rId3"/>
              </a:rPr>
              <a:t>Home page | United States Preventive Services Taskforce</a:t>
            </a:r>
            <a:endParaRPr lang="en-US" dirty="0"/>
          </a:p>
          <a:p>
            <a:r>
              <a:rPr lang="en-US" dirty="0">
                <a:hlinkClick r:id="rId4"/>
              </a:rPr>
              <a:t>CDC</a:t>
            </a:r>
          </a:p>
          <a:p>
            <a:r>
              <a:rPr lang="en-US" dirty="0">
                <a:hlinkClick r:id="rId4"/>
              </a:rPr>
              <a:t>https://labtestsonline.org/understanding/analytes/chlamydia/tab/test</a:t>
            </a:r>
            <a:endParaRPr lang="en-US" dirty="0"/>
          </a:p>
          <a:p>
            <a:r>
              <a:rPr lang="en-US" dirty="0">
                <a:hlinkClick r:id="rId5"/>
              </a:rPr>
              <a:t>Male-Partner Treatment to Prevent Recurrence of Bacterial Vaginosis</a:t>
            </a:r>
            <a:endParaRPr lang="en-US" dirty="0"/>
          </a:p>
          <a:p>
            <a:r>
              <a:rPr lang="en-US" dirty="0">
                <a:hlinkClick r:id="rId6"/>
              </a:rPr>
              <a:t>Desquamative inflammatory vaginitis </a:t>
            </a:r>
            <a:r>
              <a:rPr lang="en-US" dirty="0">
                <a:hlinkClick r:id="rId7"/>
              </a:rPr>
              <a:t>–</a:t>
            </a:r>
            <a:r>
              <a:rPr lang="en-US" dirty="0">
                <a:hlinkClick r:id="rId6"/>
              </a:rPr>
              <a:t> PubMed</a:t>
            </a:r>
            <a:endParaRPr lang="en-US" dirty="0"/>
          </a:p>
          <a:p>
            <a:r>
              <a:rPr lang="en-US" dirty="0">
                <a:hlinkClick r:id="rId8"/>
              </a:rPr>
              <a:t>Diagnosis and Treatment of Atrophic Vaginitis | AFP</a:t>
            </a:r>
            <a:endParaRPr lang="en-US" dirty="0"/>
          </a:p>
          <a:p>
            <a:r>
              <a:rPr lang="en-US" dirty="0">
                <a:hlinkClick r:id="rId9"/>
              </a:rPr>
              <a:t>Common Benign Chronic Vulvar Disorders | AFP</a:t>
            </a:r>
            <a:endParaRPr lang="en-US" dirty="0"/>
          </a:p>
          <a:p>
            <a:r>
              <a:rPr lang="en-US" dirty="0">
                <a:hlinkClick r:id="rId10"/>
              </a:rPr>
              <a:t>Hidradenitis Suppurativa: Rapid Evidence Review | AFP</a:t>
            </a:r>
            <a:endParaRPr lang="en-US" dirty="0">
              <a:hlinkClick r:id="rId7"/>
            </a:endParaRPr>
          </a:p>
        </p:txBody>
      </p:sp>
    </p:spTree>
    <p:extLst>
      <p:ext uri="{BB962C8B-B14F-4D97-AF65-F5344CB8AC3E}">
        <p14:creationId xmlns:p14="http://schemas.microsoft.com/office/powerpoint/2010/main" val="30703032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6205</TotalTime>
  <Words>4710</Words>
  <Application>Microsoft Office PowerPoint</Application>
  <PresentationFormat>Widescreen</PresentationFormat>
  <Paragraphs>506</Paragraphs>
  <Slides>73</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73</vt:i4>
      </vt:variant>
    </vt:vector>
  </HeadingPairs>
  <TitlesOfParts>
    <vt:vector size="81" baseType="lpstr">
      <vt:lpstr>Aptos</vt:lpstr>
      <vt:lpstr>Aptos Display</vt:lpstr>
      <vt:lpstr>Arial</vt:lpstr>
      <vt:lpstr>Calibri</vt:lpstr>
      <vt:lpstr>Constantia</vt:lpstr>
      <vt:lpstr>Wingdings</vt:lpstr>
      <vt:lpstr>Wingdings 2</vt:lpstr>
      <vt:lpstr>Office Theme</vt:lpstr>
      <vt:lpstr>Cervical &amp; Vaginovulvar Pathologies</vt:lpstr>
      <vt:lpstr>Objectives</vt:lpstr>
      <vt:lpstr>Disclosures</vt:lpstr>
      <vt:lpstr>Cervical Path</vt:lpstr>
      <vt:lpstr>Benign Cervical Lesions</vt:lpstr>
      <vt:lpstr>Benign Cervical Lesions – part 2</vt:lpstr>
      <vt:lpstr>Chlamydia</vt:lpstr>
      <vt:lpstr>Chlamydia – General Info</vt:lpstr>
      <vt:lpstr>Gonorrhea</vt:lpstr>
      <vt:lpstr>Gonorrhea – General Info</vt:lpstr>
      <vt:lpstr>Chlamydia &amp; Gonorrhea Screening</vt:lpstr>
      <vt:lpstr>Chlamydia &amp; Gonorrhea in Pregnancy</vt:lpstr>
      <vt:lpstr>Chlamydia &amp; Gonorrhea – Prevention </vt:lpstr>
      <vt:lpstr>Chlamydia - Symptoms</vt:lpstr>
      <vt:lpstr>Gonorrhea - Symptoms</vt:lpstr>
      <vt:lpstr>Chlamydia – Diagnosis </vt:lpstr>
      <vt:lpstr>Gonorrhea – Diagnosis </vt:lpstr>
      <vt:lpstr>Chlamydia – Treatment </vt:lpstr>
      <vt:lpstr>Gonorrhea – Treatment </vt:lpstr>
      <vt:lpstr>Chlamydia &amp; Gonorrhea Management</vt:lpstr>
      <vt:lpstr>Chlamydia – If left untreated</vt:lpstr>
      <vt:lpstr>Gonorrhea – If left untreated</vt:lpstr>
      <vt:lpstr>Gonorrhea – If left untreated (cont)</vt:lpstr>
      <vt:lpstr>Doxy-Pep</vt:lpstr>
      <vt:lpstr>Bacterial STI Prophylaxis: Doxy-PEP</vt:lpstr>
      <vt:lpstr>Doxy-PEP-Warnings</vt:lpstr>
      <vt:lpstr>Cervical Dysplasia</vt:lpstr>
      <vt:lpstr>Cervical Dysplasia cont</vt:lpstr>
      <vt:lpstr>Bethesda evolution</vt:lpstr>
      <vt:lpstr>Koilocytes</vt:lpstr>
      <vt:lpstr>P16 Stain helps differentiate CIN II</vt:lpstr>
      <vt:lpstr>Final Bethesda System</vt:lpstr>
      <vt:lpstr>Cervical Cancer Screening Guidelines</vt:lpstr>
      <vt:lpstr>HPV Screening &amp; Treatment of the cervix</vt:lpstr>
      <vt:lpstr>Cervical Precancer Monitoring &amp; Treatment</vt:lpstr>
      <vt:lpstr>Natural History of HPV</vt:lpstr>
      <vt:lpstr>HPV Cancer Screening &amp; HIV</vt:lpstr>
      <vt:lpstr>Anal Pap Smear Screening Guidelines in Women</vt:lpstr>
      <vt:lpstr>Anal Pap Smear Screening Guidelines in Men</vt:lpstr>
      <vt:lpstr>Prevention - HPV Vaccination – CDC 2020</vt:lpstr>
      <vt:lpstr>Vaginovulvar Path</vt:lpstr>
      <vt:lpstr>Hymen</vt:lpstr>
      <vt:lpstr>Infectious - STIs</vt:lpstr>
      <vt:lpstr>Vulvovaginal Candidiasis - General Info</vt:lpstr>
      <vt:lpstr>Vulvovaginal Candidiasis - Symptoms</vt:lpstr>
      <vt:lpstr>Vulvovaginal Candidiasis - Diagnosis</vt:lpstr>
      <vt:lpstr>Vulvovaginal Candidiasis - Treatment</vt:lpstr>
      <vt:lpstr>Vulvovaginal Candidiasis in Pregnancy</vt:lpstr>
      <vt:lpstr>Recurrent Vulvovaginal Candidiasis </vt:lpstr>
      <vt:lpstr>Bacterial Vaginosis – General Info</vt:lpstr>
      <vt:lpstr>Bacterial Vaginosis - Symptoms</vt:lpstr>
      <vt:lpstr>Bacterial Vaginosis – Diagnosis </vt:lpstr>
      <vt:lpstr>Bacterial Vaginosis – Diagnosis cont</vt:lpstr>
      <vt:lpstr>Bacterial Vaginosis – Other Tests</vt:lpstr>
      <vt:lpstr>Bacteria Vaginosis – Treatment </vt:lpstr>
      <vt:lpstr>Bacteria Vaginosis in Pregnancy</vt:lpstr>
      <vt:lpstr>Recurrent Bacterial Vaginosis</vt:lpstr>
      <vt:lpstr>Recurrent Bacterial Vaginosis cont</vt:lpstr>
      <vt:lpstr>Trichomonas Vaginitis - General Info</vt:lpstr>
      <vt:lpstr>Trichomonas Vaginitis - Symptoms</vt:lpstr>
      <vt:lpstr>Trichomonas Vaginitis - Diagnosis</vt:lpstr>
      <vt:lpstr>Trichomonas Vaginitis - Treatment</vt:lpstr>
      <vt:lpstr>Trichomonas Vaginitis in Pregnancy</vt:lpstr>
      <vt:lpstr>HPV – Genital Warts</vt:lpstr>
      <vt:lpstr>Patient-Applied (Self-Administered) Wart Treatments: </vt:lpstr>
      <vt:lpstr>Clinician-Administered Wart Treatments: </vt:lpstr>
      <vt:lpstr>Inflammatory - Vaginal</vt:lpstr>
      <vt:lpstr>Inflammatory - Vulvar</vt:lpstr>
      <vt:lpstr>Inflammatory – Vulvar cont</vt:lpstr>
      <vt:lpstr>Other Vulvar Pathologies</vt:lpstr>
      <vt:lpstr>Other Vulvar Pathologies cont</vt:lpstr>
      <vt:lpstr>Questions?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Carla.Rafferty</dc:creator>
  <cp:lastModifiedBy>Carla.Rafferty</cp:lastModifiedBy>
  <cp:revision>19</cp:revision>
  <dcterms:created xsi:type="dcterms:W3CDTF">2026-08-06T23:32:32Z</dcterms:created>
  <dcterms:modified xsi:type="dcterms:W3CDTF">2026-09-01T14:49:20Z</dcterms:modified>
</cp:coreProperties>
</file>