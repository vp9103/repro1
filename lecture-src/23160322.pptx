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86" r:id="rId3"/>
    <p:sldId id="360" r:id="rId4"/>
    <p:sldId id="402" r:id="rId5"/>
    <p:sldId id="363" r:id="rId6"/>
    <p:sldId id="361" r:id="rId7"/>
    <p:sldId id="387" r:id="rId8"/>
    <p:sldId id="362" r:id="rId9"/>
    <p:sldId id="405" r:id="rId10"/>
    <p:sldId id="409" r:id="rId11"/>
    <p:sldId id="365" r:id="rId12"/>
    <p:sldId id="364" r:id="rId13"/>
    <p:sldId id="257" r:id="rId14"/>
    <p:sldId id="393" r:id="rId15"/>
    <p:sldId id="258" r:id="rId16"/>
    <p:sldId id="271" r:id="rId17"/>
    <p:sldId id="274" r:id="rId18"/>
    <p:sldId id="261" r:id="rId19"/>
    <p:sldId id="259" r:id="rId20"/>
    <p:sldId id="283" r:id="rId21"/>
    <p:sldId id="264" r:id="rId22"/>
    <p:sldId id="419" r:id="rId23"/>
    <p:sldId id="368" r:id="rId24"/>
    <p:sldId id="394" r:id="rId25"/>
    <p:sldId id="276" r:id="rId26"/>
    <p:sldId id="265" r:id="rId27"/>
    <p:sldId id="273" r:id="rId28"/>
    <p:sldId id="411" r:id="rId29"/>
    <p:sldId id="410" r:id="rId30"/>
    <p:sldId id="266" r:id="rId31"/>
    <p:sldId id="395" r:id="rId32"/>
    <p:sldId id="267" r:id="rId33"/>
    <p:sldId id="268" r:id="rId34"/>
    <p:sldId id="369" r:id="rId35"/>
    <p:sldId id="279" r:id="rId36"/>
    <p:sldId id="420" r:id="rId37"/>
    <p:sldId id="280" r:id="rId38"/>
    <p:sldId id="396" r:id="rId39"/>
    <p:sldId id="400" r:id="rId40"/>
    <p:sldId id="371" r:id="rId41"/>
    <p:sldId id="406" r:id="rId42"/>
    <p:sldId id="389" r:id="rId43"/>
    <p:sldId id="416" r:id="rId44"/>
    <p:sldId id="417" r:id="rId45"/>
    <p:sldId id="415" r:id="rId46"/>
    <p:sldId id="408" r:id="rId47"/>
    <p:sldId id="388" r:id="rId48"/>
    <p:sldId id="381" r:id="rId49"/>
    <p:sldId id="414" r:id="rId50"/>
    <p:sldId id="373" r:id="rId51"/>
    <p:sldId id="278" r:id="rId52"/>
    <p:sldId id="418" r:id="rId53"/>
    <p:sldId id="374" r:id="rId54"/>
    <p:sldId id="375" r:id="rId55"/>
    <p:sldId id="412" r:id="rId56"/>
    <p:sldId id="376" r:id="rId57"/>
    <p:sldId id="392" r:id="rId58"/>
    <p:sldId id="383" r:id="rId59"/>
    <p:sldId id="421" r:id="rId60"/>
    <p:sldId id="384"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F7A4E3-A8FE-42B8-8081-846560FC8865}" v="438" dt="2025-07-28T23:49:58.5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16" d="100"/>
          <a:sy n="116" d="100"/>
        </p:scale>
        <p:origin x="108"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6-24T12:23:09.709"/>
    </inkml:context>
    <inkml:brush xml:id="br0">
      <inkml:brushProperty name="width" value="0.1" units="cm"/>
      <inkml:brushProperty name="height" value="0.1" units="cm"/>
    </inkml:brush>
  </inkml:definitions>
  <inkml:trace contextRef="#ctx0" brushRef="#br0">21740 13695 16383 0 0,'0'4'0'0'0,"-4"6"0"0"0,-2 5 0 0 0,-3 4 0 0 0,-5 4 0 0 0,-4 1 0 0 0,-4 1 0 0 0,-1-3 0 0 0,3-2 0 0 0,0 0 0 0 0,0-3 0 0 0,3-1 0 0 0,4 2 0 0 0,5 1 0 0 0,-1-2 0 0 0,2 0 0 0 0,-3-2 0 0 0,-4-1 0 0 0,-3 3 0 0 0,-3 1 0 0 0,1 3 0 0 0,9-2 0 0 0,10-5 0 0 0,9-5 0 0 0,7 1 0 0 0,6 2 0 0 0,2 0 0 0 0,2-3 0 0 0,1-2 0 0 0,-1-3 0 0 0,0 2 0 0 0,0 1 0 0 0,-5 2 0 0 0,-1 1 0 0 0,-1-3 0 0 0,2 3 0 0 0,-4-1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6-24T12:23:09.710"/>
    </inkml:context>
    <inkml:brush xml:id="br0">
      <inkml:brushProperty name="width" value="0.1" units="cm"/>
      <inkml:brushProperty name="height" value="0.1" units="cm"/>
      <inkml:brushProperty name="color" value="#E71224"/>
    </inkml:brush>
  </inkml:definitions>
  <inkml:trace contextRef="#ctx0" brushRef="#br0">22602 20242 16383 0 0,'13'0'0'0'0,"20"0"0"0"0,18 0 0 0 0,13 0 0 0 0,7 0 0 0 0,1 0 0 0 0,0 0 0 0 0,0 0 0 0 0,-3 0 0 0 0,-1 0 0 0 0,-3 0 0 0 0,-6 0 0 0 0,1 0 0 0 0,3 0 0 0 0,-2 0 0 0 0,2 0 0 0 0,7 0 0 0 0,0 0 0 0 0,0 0 0 0 0,-3 0 0 0 0,-4 0 0 0 0,-5 0 0 0 0,0 0 0 0 0,-5 0 0 0 0,-4 0 0 0 0,-5 0 0 0 0,-3 0 0 0 0,5 0 0 0 0,-1 0 0 0 0,0 0 0 0 0,-4 0 0 0 0,0 0 0 0 0,1 0 0 0 0,-2 0 0 0 0,5 0 0 0 0,2 0 0 0 0,-2 0 0 0 0,4 0 0 0 0,2 0 0 0 0,0 0 0 0 0,1 0 0 0 0,-1 0 0 0 0,-1 0 0 0 0,5 0 0 0 0,0 0 0 0 0,0 0 0 0 0,2 0 0 0 0,-3 0 0 0 0,1 0 0 0 0,4 0 0 0 0,0 0 0 0 0,3 0 0 0 0,3 0 0 0 0,3 0 0 0 0,7 0 0 0 0,4 0 0 0 0,4 0 0 0 0,1 0 0 0 0,3 0 0 0 0,-1 0 0 0 0,-6 0 0 0 0,-5 0 0 0 0,-2 0 0 0 0,-6 0 0 0 0,-1 0 0 0 0,1 0 0 0 0,-3 0 0 0 0,0 0 0 0 0,2 0 0 0 0,-2 0 0 0 0,1 0 0 0 0,2 0 0 0 0,-3 0 0 0 0,2 0 0 0 0,1 0 0 0 0,2 0 0 0 0,-7 0 0 0 0,-1 0 0 0 0,-7 0 0 0 0,1 0 0 0 0,-2 0 0 0 0,-5 0 0 0 0,-3 0 0 0 0,4 0 0 0 0,-2 0 0 0 0,-1 0 0 0 0,-4 0 0 0 0,-1 0 0 0 0,1 0 0 0 0,2 0 0 0 0,2 0 0 0 0,-3 0 0 0 0,-5 0 0 0 0,0 0 0 0 0,-2 0 0 0 0,-4 0 0 0 0,-2 0 0 0 0,1 0 0 0 0,1 0 0 0 0,2 0 0 0 0,0 0 0 0 0,-2 0 0 0 0,-2 0 0 0 0,-1 0 0 0 0,-3 0 0 0 0,0 0 0 0 0,-6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6-24T12:23:09.711"/>
    </inkml:context>
    <inkml:brush xml:id="br0">
      <inkml:brushProperty name="width" value="0.1" units="cm"/>
      <inkml:brushProperty name="height" value="0.1" units="cm"/>
      <inkml:brushProperty name="color" value="#E71224"/>
    </inkml:brush>
  </inkml:definitions>
  <inkml:trace contextRef="#ctx0" brushRef="#br0">22730 19876 16383 0 0,'-5'4'0'0'0,"-4"1"0"0"0,-6 1 0 0 0,-5 2 0 0 0,2 5 0 0 0,4 4 0 0 0,-1-1 0 0 0,-1-3 0 0 0,-2 0 0 0 0,1 3 0 0 0,0-2 0 0 0,-1-3 0 0 0,2 0 0 0 0,4 3 0 0 0,0 3 0 0 0,-3 4 0 0 0,2 1 0 0 0,-1 1 0 0 0,1 2 0 0 0,4 0 0 0 0,7 0 0 0 0,8-4 0 0 0,7-1 0 0 0,10-5 0 0 0,5-4 0 0 0,6 0 0 0 0,2 2 0 0 0,-1-1 0 0 0,-3-2 0 0 0,-2 0 0 0 0,-2 0 0 0 0,-2 2 0 0 0,-1-2 0 0 0,-1-2 0 0 0,-4 2 0 0 0,-5 4 0 0 0,-2-2 0 0 0,2-2 0 0 0,-2-2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6-24T12:23:09.712"/>
    </inkml:context>
    <inkml:brush xml:id="br0">
      <inkml:brushProperty name="width" value="0.1" units="cm"/>
      <inkml:brushProperty name="height" value="0.1" units="cm"/>
    </inkml:brush>
  </inkml:definitions>
  <inkml:trace contextRef="#ctx0" brushRef="#br0">21756 14034 16383 0 0,'4'0'0'0'0,"10"0"0"0"0,11 0 0 0 0,5 0 0 0 0,6 0 0 0 0,5 0 0 0 0,1 0 0 0 0,4 0 0 0 0,0 0 0 0 0,-1 0 0 0 0,2 0 0 0 0,-4 0 0 0 0,-1 0 0 0 0,1 0 0 0 0,2 0 0 0 0,1 0 0 0 0,-3 0 0 0 0,0 0 0 0 0,-4 0 0 0 0,-3 0 0 0 0,-1 0 0 0 0,-1 0 0 0 0,-2 0 0 0 0,1 0 0 0 0,0 0 0 0 0,-2 0 0 0 0,-2 0 0 0 0,-2 0 0 0 0,-1 0 0 0 0,3 0 0 0 0,2 0 0 0 0,-2 0 0 0 0,4 0 0 0 0,0 0 0 0 0,-2 0 0 0 0,3 0 0 0 0,4 0 0 0 0,-1 0 0 0 0,-2 0 0 0 0,1 0 0 0 0,-1 0 0 0 0,-2 0 0 0 0,-3 0 0 0 0,2 0 0 0 0,-1 0 0 0 0,0 0 0 0 0,2 0 0 0 0,4 0 0 0 0,4 0 0 0 0,-1 0 0 0 0,-3 0 0 0 0,1 0 0 0 0,-2 0 0 0 0,1 0 0 0 0,-1 0 0 0 0,1 0 0 0 0,-1 0 0 0 0,-3 0 0 0 0,-3 0 0 0 0,-1 0 0 0 0,-3 0 0 0 0,-1 0 0 0 0,-1 0 0 0 0,1 0 0 0 0,-1 0 0 0 0,0 0 0 0 0,0 0 0 0 0,-4 4 0 0 0,-1 1 0 0 0,0 1 0 0 0,2-2 0 0 0,0-1 0 0 0,2-1 0 0 0,1-1 0 0 0,0-1 0 0 0,0 0 0 0 0,1 0 0 0 0,0 0 0 0 0,0 0 0 0 0,0-1 0 0 0,-1 1 0 0 0,1 0 0 0 0,-4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6-24T12:23:09.713"/>
    </inkml:context>
    <inkml:brush xml:id="br0">
      <inkml:brushProperty name="width" value="0.1" units="cm"/>
      <inkml:brushProperty name="height" value="0.1" units="cm"/>
    </inkml:brush>
  </inkml:definitions>
  <inkml:trace contextRef="#ctx0" brushRef="#br0">41088 13328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6-24T12:23:09.714"/>
    </inkml:context>
    <inkml:brush xml:id="br0">
      <inkml:brushProperty name="width" value="0.1" units="cm"/>
      <inkml:brushProperty name="height" value="0.1" units="cm"/>
    </inkml:brush>
  </inkml:definitions>
  <inkml:trace contextRef="#ctx0" brushRef="#br0">38915 8361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6-24T12:23:09.715"/>
    </inkml:context>
    <inkml:brush xml:id="br0">
      <inkml:brushProperty name="width" value="0.1" units="cm"/>
      <inkml:brushProperty name="height" value="0.1" units="cm"/>
      <inkml:brushProperty name="color" value="#E71224"/>
    </inkml:brush>
  </inkml:definitions>
  <inkml:trace contextRef="#ctx0" brushRef="#br0">2198 2491 16383 0 0,'0'0'0'0'0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lide with Bullet points">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6561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11.pn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customXml" Target="../ink/ink4.xml"/><Relationship Id="rId14" Type="http://schemas.openxmlformats.org/officeDocument/2006/relationships/customXml" Target="../ink/ink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sso.uptodate.com/contents/fludrocortisone-drug-information?search=congenital%20adrenal%20hyperplasia%20%20treatment%20&amp;topicRef=136&amp;source=see_link" TargetMode="External"/><Relationship Id="rId2" Type="http://schemas.openxmlformats.org/officeDocument/2006/relationships/hyperlink" Target="https://sso.uptodate.com/contents/hydrocortisone-drug-information?search=congenital%20adrenal%20hyperplasia%20%20treatment%20&amp;topicRef=136&amp;source=see_link"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Endocrine lectures – Adrenal </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Sathya Subbiah, MD</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2181E-098C-3C9D-23C1-A9A6E8974FCE}"/>
              </a:ext>
            </a:extLst>
          </p:cNvPr>
          <p:cNvSpPr>
            <a:spLocks noGrp="1"/>
          </p:cNvSpPr>
          <p:nvPr>
            <p:ph type="title"/>
          </p:nvPr>
        </p:nvSpPr>
        <p:spPr/>
        <p:txBody>
          <a:bodyPr/>
          <a:lstStyle/>
          <a:p>
            <a:r>
              <a:rPr lang="en-US"/>
              <a:t>Objectives </a:t>
            </a:r>
            <a:endParaRPr lang="en-US" dirty="0"/>
          </a:p>
        </p:txBody>
      </p:sp>
      <p:sp>
        <p:nvSpPr>
          <p:cNvPr id="3" name="Content Placeholder 2">
            <a:extLst>
              <a:ext uri="{FF2B5EF4-FFF2-40B4-BE49-F238E27FC236}">
                <a16:creationId xmlns:a16="http://schemas.microsoft.com/office/drawing/2014/main" id="{E67E3E6E-1961-7EA3-978C-882DE2AAF205}"/>
              </a:ext>
            </a:extLst>
          </p:cNvPr>
          <p:cNvSpPr>
            <a:spLocks noGrp="1"/>
          </p:cNvSpPr>
          <p:nvPr>
            <p:ph idx="1"/>
          </p:nvPr>
        </p:nvSpPr>
        <p:spPr/>
        <p:txBody>
          <a:bodyPr vert="horz" lIns="91440" tIns="45720" rIns="91440" bIns="45720" rtlCol="0" anchor="t">
            <a:normAutofit/>
          </a:bodyPr>
          <a:lstStyle/>
          <a:p>
            <a:r>
              <a:rPr lang="en-US" sz="1500" dirty="0">
                <a:latin typeface="PT Serif"/>
              </a:rPr>
              <a:t>Learn relevant anatomy and embryology of adrenal glands</a:t>
            </a:r>
            <a:endParaRPr lang="en-US">
              <a:latin typeface="Aptos" panose="020B0004020202020204"/>
            </a:endParaRPr>
          </a:p>
          <a:p>
            <a:r>
              <a:rPr lang="en-US" sz="1500" dirty="0">
                <a:latin typeface="PT Serif"/>
              </a:rPr>
              <a:t>Understand pathophysiology of adrenal insufficiency and treatment</a:t>
            </a:r>
          </a:p>
          <a:p>
            <a:r>
              <a:rPr lang="en-US" sz="1500" dirty="0">
                <a:latin typeface="PT Serif"/>
              </a:rPr>
              <a:t>Define polyglandular autoimmune syndromes</a:t>
            </a:r>
          </a:p>
          <a:p>
            <a:r>
              <a:rPr lang="en-US" sz="1500" dirty="0">
                <a:latin typeface="PT Serif"/>
              </a:rPr>
              <a:t>Understand steroid synthesis pathways and  pathology of congenital adrenal hyperplasia (CAH) </a:t>
            </a:r>
            <a:r>
              <a:rPr lang="en-US" sz="1100" b="1" dirty="0">
                <a:solidFill>
                  <a:srgbClr val="FFFFFF"/>
                </a:solidFill>
                <a:latin typeface="PT Serif"/>
              </a:rPr>
              <a:t>1</a:t>
            </a:r>
            <a:endParaRPr lang="en-US" dirty="0"/>
          </a:p>
          <a:p>
            <a:r>
              <a:rPr lang="en-US" sz="1500" dirty="0">
                <a:latin typeface="PT Serif"/>
              </a:rPr>
              <a:t>Describe the varying clinical features of CAH and how they relate to hormonal abnormalities.</a:t>
            </a:r>
            <a:r>
              <a:rPr lang="en-US" sz="1100" b="1" dirty="0">
                <a:solidFill>
                  <a:srgbClr val="FFFFFF"/>
                </a:solidFill>
                <a:latin typeface="PT Serif"/>
              </a:rPr>
              <a:t>2</a:t>
            </a:r>
            <a:endParaRPr lang="en-US" dirty="0"/>
          </a:p>
          <a:p>
            <a:r>
              <a:rPr lang="en-US" sz="1500" dirty="0">
                <a:latin typeface="PT Serif"/>
              </a:rPr>
              <a:t>Understand hormonal causes of hypertension – Primary hyperaldosteronism and pheochromocytoma</a:t>
            </a:r>
            <a:endParaRPr lang="en-US">
              <a:solidFill>
                <a:srgbClr val="000000"/>
              </a:solidFill>
              <a:latin typeface="Aptos"/>
            </a:endParaRPr>
          </a:p>
          <a:p>
            <a:r>
              <a:rPr lang="en-US" sz="1500" dirty="0">
                <a:latin typeface="PT Serif"/>
              </a:rPr>
              <a:t>Describe the genetic features, cellular origins, and presentation and treatment of pheochromocytoma.</a:t>
            </a:r>
            <a:r>
              <a:rPr lang="en-US" sz="1100" b="1" dirty="0">
                <a:solidFill>
                  <a:srgbClr val="FFFFFF"/>
                </a:solidFill>
                <a:latin typeface="PT Serif"/>
              </a:rPr>
              <a:t>3</a:t>
            </a:r>
            <a:endParaRPr lang="en-US" dirty="0"/>
          </a:p>
          <a:p>
            <a:pPr marL="0" indent="0">
              <a:buNone/>
            </a:pPr>
            <a:r>
              <a:rPr lang="en-US" sz="1100" b="1" dirty="0">
                <a:solidFill>
                  <a:srgbClr val="FFFFFF"/>
                </a:solidFill>
                <a:latin typeface="PT Serif"/>
              </a:rPr>
              <a:t>4</a:t>
            </a:r>
            <a:endParaRPr lang="en-US" dirty="0"/>
          </a:p>
          <a:p>
            <a:endParaRPr lang="en-US" sz="1500" dirty="0">
              <a:latin typeface="PT Serif"/>
            </a:endParaRPr>
          </a:p>
          <a:p>
            <a:endParaRPr lang="en-US" dirty="0">
              <a:latin typeface="Aptos" panose="020B0004020202020204"/>
            </a:endParaRPr>
          </a:p>
        </p:txBody>
      </p:sp>
    </p:spTree>
    <p:extLst>
      <p:ext uri="{BB962C8B-B14F-4D97-AF65-F5344CB8AC3E}">
        <p14:creationId xmlns:p14="http://schemas.microsoft.com/office/powerpoint/2010/main" val="1304053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D2A6B-7416-E7F8-26D8-D4F123F4805B}"/>
              </a:ext>
            </a:extLst>
          </p:cNvPr>
          <p:cNvSpPr>
            <a:spLocks noGrp="1"/>
          </p:cNvSpPr>
          <p:nvPr>
            <p:ph type="title"/>
          </p:nvPr>
        </p:nvSpPr>
        <p:spPr/>
        <p:txBody>
          <a:bodyPr/>
          <a:lstStyle/>
          <a:p>
            <a:endParaRPr lang="en-US"/>
          </a:p>
        </p:txBody>
      </p:sp>
      <p:pic>
        <p:nvPicPr>
          <p:cNvPr id="4" name="Content Placeholder 3" descr="Kidney Gross Anatomy">
            <a:extLst>
              <a:ext uri="{FF2B5EF4-FFF2-40B4-BE49-F238E27FC236}">
                <a16:creationId xmlns:a16="http://schemas.microsoft.com/office/drawing/2014/main" id="{67E30E4F-CDD7-A1C5-916B-924EE1DC08AE}"/>
              </a:ext>
            </a:extLst>
          </p:cNvPr>
          <p:cNvPicPr>
            <a:picLocks noGrp="1" noChangeAspect="1"/>
          </p:cNvPicPr>
          <p:nvPr>
            <p:ph idx="1"/>
          </p:nvPr>
        </p:nvPicPr>
        <p:blipFill>
          <a:blip r:embed="rId2"/>
          <a:stretch>
            <a:fillRect/>
          </a:stretch>
        </p:blipFill>
        <p:spPr>
          <a:xfrm>
            <a:off x="1451450" y="1816100"/>
            <a:ext cx="4736150" cy="4351338"/>
          </a:xfrm>
        </p:spPr>
      </p:pic>
      <p:sp>
        <p:nvSpPr>
          <p:cNvPr id="3" name="TextBox 2">
            <a:extLst>
              <a:ext uri="{FF2B5EF4-FFF2-40B4-BE49-F238E27FC236}">
                <a16:creationId xmlns:a16="http://schemas.microsoft.com/office/drawing/2014/main" id="{00587DF3-16A2-1063-EEC7-CD8033C0A04F}"/>
              </a:ext>
            </a:extLst>
          </p:cNvPr>
          <p:cNvSpPr txBox="1"/>
          <p:nvPr/>
        </p:nvSpPr>
        <p:spPr>
          <a:xfrm>
            <a:off x="6791325" y="2266950"/>
            <a:ext cx="2743200" cy="1374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nSpc>
                <a:spcPts val="1950"/>
              </a:lnSpc>
              <a:buFont typeface=""/>
              <a:buChar char="•"/>
            </a:pPr>
            <a:r>
              <a:rPr lang="en-US">
                <a:latin typeface="Times New Roman"/>
                <a:cs typeface="Arial"/>
              </a:rPr>
              <a:t>The adrenal gland comprises 2 distinct tissues: the outer cortex and the inner medulla. It weighs about 5 gm.​</a:t>
            </a:r>
          </a:p>
        </p:txBody>
      </p:sp>
    </p:spTree>
    <p:extLst>
      <p:ext uri="{BB962C8B-B14F-4D97-AF65-F5344CB8AC3E}">
        <p14:creationId xmlns:p14="http://schemas.microsoft.com/office/powerpoint/2010/main" val="2553329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AB5BA-FE37-460B-EBAB-00A97D9F3C5F}"/>
              </a:ext>
            </a:extLst>
          </p:cNvPr>
          <p:cNvSpPr>
            <a:spLocks noGrp="1"/>
          </p:cNvSpPr>
          <p:nvPr>
            <p:ph type="title"/>
          </p:nvPr>
        </p:nvSpPr>
        <p:spPr/>
        <p:txBody>
          <a:bodyPr/>
          <a:lstStyle/>
          <a:p>
            <a:r>
              <a:rPr lang="en-US" dirty="0"/>
              <a:t>Embryology</a:t>
            </a:r>
          </a:p>
        </p:txBody>
      </p:sp>
      <p:sp>
        <p:nvSpPr>
          <p:cNvPr id="3" name="Content Placeholder 2">
            <a:extLst>
              <a:ext uri="{FF2B5EF4-FFF2-40B4-BE49-F238E27FC236}">
                <a16:creationId xmlns:a16="http://schemas.microsoft.com/office/drawing/2014/main" id="{9BB031E9-D7D7-2844-C5D2-1B1B612CB48E}"/>
              </a:ext>
            </a:extLst>
          </p:cNvPr>
          <p:cNvSpPr>
            <a:spLocks noGrp="1"/>
          </p:cNvSpPr>
          <p:nvPr>
            <p:ph idx="1"/>
          </p:nvPr>
        </p:nvSpPr>
        <p:spPr/>
        <p:txBody>
          <a:bodyPr vert="horz" lIns="91440" tIns="45720" rIns="91440" bIns="45720" rtlCol="0" anchor="t">
            <a:normAutofit/>
          </a:bodyPr>
          <a:lstStyle/>
          <a:p>
            <a:r>
              <a:rPr lang="en-US" sz="2000" dirty="0">
                <a:latin typeface="Times New Roman"/>
                <a:cs typeface="Times New Roman"/>
              </a:rPr>
              <a:t>In the 5th week of development, an isolated cluster of cells emerges within the urogenital ridge, identified as the adrenal-gonadal primordial germ cells.</a:t>
            </a:r>
            <a:endParaRPr lang="en-US" sz="2000"/>
          </a:p>
          <a:p>
            <a:r>
              <a:rPr lang="en-US" sz="2000" dirty="0">
                <a:latin typeface="PT Serif"/>
              </a:rPr>
              <a:t>The Adrenal cortex and medulla have different embryologic origins. </a:t>
            </a:r>
            <a:endParaRPr lang="en-US" sz="2000" dirty="0">
              <a:latin typeface="Aptos" panose="020B0004020202020204"/>
            </a:endParaRPr>
          </a:p>
          <a:p>
            <a:r>
              <a:rPr lang="en-US" sz="2000" dirty="0">
                <a:latin typeface="PT Serif"/>
              </a:rPr>
              <a:t>By week 8 -</a:t>
            </a:r>
            <a:endParaRPr lang="en-US" sz="2000" dirty="0">
              <a:latin typeface="Aptos" panose="020B0004020202020204"/>
            </a:endParaRPr>
          </a:p>
          <a:p>
            <a:r>
              <a:rPr lang="en-US" sz="2000" dirty="0">
                <a:latin typeface="PT Serif"/>
              </a:rPr>
              <a:t>The adrenal cortex is derived from </a:t>
            </a:r>
            <a:r>
              <a:rPr lang="en-US" sz="2000" u="sng" dirty="0">
                <a:latin typeface="PT Serif"/>
              </a:rPr>
              <a:t>mesoderm.</a:t>
            </a:r>
            <a:endParaRPr lang="en-US" sz="2000"/>
          </a:p>
          <a:p>
            <a:r>
              <a:rPr lang="en-US" sz="2000" dirty="0">
                <a:latin typeface="PT Serif"/>
              </a:rPr>
              <a:t>The adrenal medulla derives from </a:t>
            </a:r>
            <a:r>
              <a:rPr lang="en-US" sz="2000" u="sng" dirty="0">
                <a:latin typeface="PT Serif"/>
              </a:rPr>
              <a:t>neural crest (ectoderm).</a:t>
            </a:r>
          </a:p>
          <a:p>
            <a:pPr marL="0" indent="0">
              <a:buNone/>
            </a:pPr>
            <a:r>
              <a:rPr lang="en-US" sz="2000" u="sng" dirty="0">
                <a:latin typeface="PT Serif"/>
              </a:rPr>
              <a:t>So it produces the neurotransmitters norepinephrine and epinephrine</a:t>
            </a:r>
            <a:endParaRPr lang="en-US"/>
          </a:p>
          <a:p>
            <a:r>
              <a:rPr lang="en-US" sz="2000" dirty="0">
                <a:latin typeface="PT Serif"/>
              </a:rPr>
              <a:t>The gland is not mature at birth,</a:t>
            </a:r>
          </a:p>
          <a:p>
            <a:pPr marL="0" indent="0">
              <a:buNone/>
            </a:pPr>
            <a:r>
              <a:rPr lang="en-US" sz="2000" dirty="0">
                <a:latin typeface="PT Serif"/>
              </a:rPr>
              <a:t> and evolves over the first 4 years of life into its adult form</a:t>
            </a:r>
            <a:endParaRPr lang="en-US"/>
          </a:p>
          <a:p>
            <a:endParaRPr lang="en-US" sz="2000" u="sng" dirty="0">
              <a:latin typeface="PT Serif"/>
            </a:endParaRPr>
          </a:p>
        </p:txBody>
      </p:sp>
      <p:pic>
        <p:nvPicPr>
          <p:cNvPr id="7" name="Picture 6" descr="A diagram of the human body&#10;&#10;AI-generated content may be incorrect.">
            <a:extLst>
              <a:ext uri="{FF2B5EF4-FFF2-40B4-BE49-F238E27FC236}">
                <a16:creationId xmlns:a16="http://schemas.microsoft.com/office/drawing/2014/main" id="{4DDCB80A-CFED-350D-5B34-ABACF305A6A1}"/>
              </a:ext>
            </a:extLst>
          </p:cNvPr>
          <p:cNvPicPr>
            <a:picLocks noChangeAspect="1"/>
          </p:cNvPicPr>
          <p:nvPr/>
        </p:nvPicPr>
        <p:blipFill>
          <a:blip r:embed="rId2"/>
          <a:stretch>
            <a:fillRect/>
          </a:stretch>
        </p:blipFill>
        <p:spPr>
          <a:xfrm>
            <a:off x="8683960" y="2529220"/>
            <a:ext cx="3212726" cy="3648075"/>
          </a:xfrm>
          <a:prstGeom prst="rect">
            <a:avLst/>
          </a:prstGeom>
        </p:spPr>
      </p:pic>
    </p:spTree>
    <p:extLst>
      <p:ext uri="{BB962C8B-B14F-4D97-AF65-F5344CB8AC3E}">
        <p14:creationId xmlns:p14="http://schemas.microsoft.com/office/powerpoint/2010/main" val="3268963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126F7-0C83-E260-31C7-47C76D705BB2}"/>
              </a:ext>
            </a:extLst>
          </p:cNvPr>
          <p:cNvSpPr>
            <a:spLocks noGrp="1"/>
          </p:cNvSpPr>
          <p:nvPr>
            <p:ph type="title"/>
          </p:nvPr>
        </p:nvSpPr>
        <p:spPr/>
        <p:txBody>
          <a:bodyPr/>
          <a:lstStyle/>
          <a:p>
            <a:endParaRPr lang="en-US"/>
          </a:p>
        </p:txBody>
      </p:sp>
      <p:pic>
        <p:nvPicPr>
          <p:cNvPr id="4" name="Content Placeholder 3" descr="A diagram of a human body&#10;&#10;AI-generated content may be incorrect.">
            <a:extLst>
              <a:ext uri="{FF2B5EF4-FFF2-40B4-BE49-F238E27FC236}">
                <a16:creationId xmlns:a16="http://schemas.microsoft.com/office/drawing/2014/main" id="{9D07FB91-17D2-E4F3-7DD2-8B182E14AB1E}"/>
              </a:ext>
            </a:extLst>
          </p:cNvPr>
          <p:cNvPicPr>
            <a:picLocks noGrp="1" noChangeAspect="1"/>
          </p:cNvPicPr>
          <p:nvPr>
            <p:ph idx="1"/>
          </p:nvPr>
        </p:nvPicPr>
        <p:blipFill>
          <a:blip r:embed="rId2"/>
          <a:stretch>
            <a:fillRect/>
          </a:stretch>
        </p:blipFill>
        <p:spPr>
          <a:xfrm>
            <a:off x="393837" y="606425"/>
            <a:ext cx="5698851" cy="5446713"/>
          </a:xfrm>
        </p:spPr>
      </p:pic>
      <p:sp>
        <p:nvSpPr>
          <p:cNvPr id="3" name="TextBox 2">
            <a:extLst>
              <a:ext uri="{FF2B5EF4-FFF2-40B4-BE49-F238E27FC236}">
                <a16:creationId xmlns:a16="http://schemas.microsoft.com/office/drawing/2014/main" id="{ECB4C2CC-9A6D-D01E-1987-CC03F84F5E7A}"/>
              </a:ext>
            </a:extLst>
          </p:cNvPr>
          <p:cNvSpPr txBox="1"/>
          <p:nvPr/>
        </p:nvSpPr>
        <p:spPr>
          <a:xfrm>
            <a:off x="6896100" y="2209800"/>
            <a:ext cx="27432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rPr>
              <a:t>The names of these zones can also be recalled by remembering "GFR" for glomerulosa, fasciculata, and reticularis.</a:t>
            </a:r>
            <a:endParaRPr lang="en-US"/>
          </a:p>
        </p:txBody>
      </p:sp>
    </p:spTree>
    <p:extLst>
      <p:ext uri="{BB962C8B-B14F-4D97-AF65-F5344CB8AC3E}">
        <p14:creationId xmlns:p14="http://schemas.microsoft.com/office/powerpoint/2010/main" val="1537021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81B0-3F6C-4352-4C86-A4C47C548CEA}"/>
              </a:ext>
            </a:extLst>
          </p:cNvPr>
          <p:cNvSpPr>
            <a:spLocks noGrp="1"/>
          </p:cNvSpPr>
          <p:nvPr>
            <p:ph type="title"/>
          </p:nvPr>
        </p:nvSpPr>
        <p:spPr/>
        <p:txBody>
          <a:bodyPr/>
          <a:lstStyle/>
          <a:p>
            <a:r>
              <a:rPr lang="en-US" dirty="0"/>
              <a:t>Adrenal cortex</a:t>
            </a:r>
          </a:p>
        </p:txBody>
      </p:sp>
      <p:sp>
        <p:nvSpPr>
          <p:cNvPr id="12" name="Content Placeholder 11">
            <a:extLst>
              <a:ext uri="{FF2B5EF4-FFF2-40B4-BE49-F238E27FC236}">
                <a16:creationId xmlns:a16="http://schemas.microsoft.com/office/drawing/2014/main" id="{46810915-C41B-E4F4-5A64-0655575FD716}"/>
              </a:ext>
            </a:extLst>
          </p:cNvPr>
          <p:cNvSpPr>
            <a:spLocks noGrp="1"/>
          </p:cNvSpPr>
          <p:nvPr>
            <p:ph idx="1"/>
          </p:nvPr>
        </p:nvSpPr>
        <p:spPr>
          <a:xfrm>
            <a:off x="838200" y="1425575"/>
            <a:ext cx="10515600" cy="4351338"/>
          </a:xfrm>
        </p:spPr>
        <p:txBody>
          <a:bodyPr vert="horz" lIns="91440" tIns="45720" rIns="91440" bIns="45720" rtlCol="0" anchor="t">
            <a:noAutofit/>
          </a:bodyPr>
          <a:lstStyle/>
          <a:p>
            <a:pPr marL="0" indent="0">
              <a:buNone/>
            </a:pPr>
            <a:endParaRPr lang="en-US" sz="1800" dirty="0">
              <a:latin typeface="Times New Roman"/>
              <a:cs typeface="Times New Roman"/>
            </a:endParaRPr>
          </a:p>
          <a:p>
            <a:r>
              <a:rPr lang="en-US" sz="1800" dirty="0">
                <a:latin typeface="Times New Roman"/>
                <a:cs typeface="Times New Roman"/>
              </a:rPr>
              <a:t>The adrenal cortex is much larger than the smaller medulla, accounting only for approximately 15% of the gland. It is composed of 3 distinct zones:</a:t>
            </a:r>
            <a:endParaRPr lang="en-US" sz="1800"/>
          </a:p>
          <a:p>
            <a:r>
              <a:rPr lang="en-US" sz="1800" b="1" dirty="0">
                <a:latin typeface="Times New Roman"/>
                <a:cs typeface="Times New Roman"/>
              </a:rPr>
              <a:t>Zona Glomerulosa -- Aldosterone synthesis under ACTH, regulated by Renin</a:t>
            </a:r>
            <a:endParaRPr lang="en-US" sz="1800" dirty="0">
              <a:latin typeface="Aptos" panose="020B0004020202020204"/>
              <a:cs typeface="Times New Roman"/>
            </a:endParaRPr>
          </a:p>
          <a:p>
            <a:r>
              <a:rPr lang="en-US" sz="1800" dirty="0">
                <a:latin typeface="Times New Roman"/>
                <a:cs typeface="Times New Roman"/>
              </a:rPr>
              <a:t>The zona glomerulosa (outer layer) synthesizes mineralocorticoids, the most important of which is </a:t>
            </a:r>
            <a:r>
              <a:rPr lang="en-US" sz="1800" dirty="0">
                <a:solidFill>
                  <a:srgbClr val="FF0000"/>
                </a:solidFill>
                <a:latin typeface="Times New Roman"/>
                <a:cs typeface="Times New Roman"/>
              </a:rPr>
              <a:t>aldosterone.</a:t>
            </a:r>
            <a:r>
              <a:rPr lang="en-US" sz="1800" dirty="0">
                <a:latin typeface="Times New Roman"/>
                <a:cs typeface="Times New Roman"/>
              </a:rPr>
              <a:t> This hormone plays an important role in electrolyte balance and blood pressure regulation.</a:t>
            </a:r>
            <a:endParaRPr lang="en-US" sz="1800"/>
          </a:p>
          <a:p>
            <a:r>
              <a:rPr lang="en-US" sz="1800" b="1" dirty="0">
                <a:latin typeface="Times New Roman"/>
                <a:cs typeface="Times New Roman"/>
              </a:rPr>
              <a:t>Zona Fasciculata --under ACTH control</a:t>
            </a:r>
            <a:endParaRPr lang="en-US" sz="1800" dirty="0"/>
          </a:p>
          <a:p>
            <a:r>
              <a:rPr lang="en-US" sz="1800" dirty="0">
                <a:latin typeface="Times New Roman"/>
                <a:cs typeface="Times New Roman"/>
              </a:rPr>
              <a:t>The zona fasciculata (middle layer) produces glucocorticoids, the predominant hormone being</a:t>
            </a:r>
            <a:r>
              <a:rPr lang="en-US" sz="1800" dirty="0">
                <a:solidFill>
                  <a:srgbClr val="FF0000"/>
                </a:solidFill>
                <a:latin typeface="Times New Roman"/>
                <a:cs typeface="Times New Roman"/>
              </a:rPr>
              <a:t> cortisol</a:t>
            </a:r>
            <a:r>
              <a:rPr lang="en-US" sz="1800" dirty="0">
                <a:latin typeface="Times New Roman"/>
                <a:cs typeface="Times New Roman"/>
              </a:rPr>
              <a:t>. This hormone regulates blood sugar via gluconeogenesis, modulates the immune system, and regulates the metabolism of fat, protein, and carbohydrates. Cortisol secretion is regulated by the adrenocorticotropic hormone, which is released from the pituitary gland.</a:t>
            </a:r>
            <a:endParaRPr lang="en-US" sz="1800" dirty="0"/>
          </a:p>
          <a:p>
            <a:r>
              <a:rPr lang="en-US" sz="1800" b="1" dirty="0">
                <a:latin typeface="Times New Roman"/>
                <a:cs typeface="Times New Roman"/>
              </a:rPr>
              <a:t>Zona Reticularis—under ACTH control</a:t>
            </a:r>
            <a:endParaRPr lang="en-US" sz="1800" dirty="0"/>
          </a:p>
          <a:p>
            <a:r>
              <a:rPr lang="en-US" sz="1800" dirty="0">
                <a:latin typeface="Times New Roman"/>
                <a:cs typeface="Times New Roman"/>
              </a:rPr>
              <a:t>The zona reticularis (inner zone) produces androgens and plays a role in the development of secondary sexual characteristics. The primary androgen produced in the zona reticularis is dehydroepiandrosterone (DHEA), which is the most abundant hormone in the body. It serves as a precursor for synthesizing many other hormones the adrenal gland produces, such as progesterone, estrogen, cortisol, and testosterone.</a:t>
            </a:r>
            <a:endParaRPr lang="en-US" sz="1800" dirty="0"/>
          </a:p>
          <a:p>
            <a:endParaRPr lang="en-US" dirty="0"/>
          </a:p>
        </p:txBody>
      </p:sp>
    </p:spTree>
    <p:extLst>
      <p:ext uri="{BB962C8B-B14F-4D97-AF65-F5344CB8AC3E}">
        <p14:creationId xmlns:p14="http://schemas.microsoft.com/office/powerpoint/2010/main" val="3369400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7B39D-396C-14BC-898E-0AF9A841AB2D}"/>
              </a:ext>
            </a:extLst>
          </p:cNvPr>
          <p:cNvSpPr>
            <a:spLocks noGrp="1"/>
          </p:cNvSpPr>
          <p:nvPr>
            <p:ph type="title"/>
          </p:nvPr>
        </p:nvSpPr>
        <p:spPr/>
        <p:txBody>
          <a:bodyPr/>
          <a:lstStyle/>
          <a:p>
            <a:endParaRPr lang="en-US" dirty="0"/>
          </a:p>
        </p:txBody>
      </p:sp>
      <p:pic>
        <p:nvPicPr>
          <p:cNvPr id="4" name="Content Placeholder 3">
            <a:extLst>
              <a:ext uri="{FF2B5EF4-FFF2-40B4-BE49-F238E27FC236}">
                <a16:creationId xmlns:a16="http://schemas.microsoft.com/office/drawing/2014/main" id="{775A655B-6B8C-6D27-224B-199BF99D73BD}"/>
              </a:ext>
            </a:extLst>
          </p:cNvPr>
          <p:cNvPicPr>
            <a:picLocks noGrp="1" noChangeAspect="1"/>
          </p:cNvPicPr>
          <p:nvPr>
            <p:ph idx="1"/>
          </p:nvPr>
        </p:nvPicPr>
        <p:blipFill>
          <a:blip r:embed="rId2"/>
          <a:stretch>
            <a:fillRect/>
          </a:stretch>
        </p:blipFill>
        <p:spPr>
          <a:xfrm>
            <a:off x="832097" y="2490627"/>
            <a:ext cx="8622806" cy="2478409"/>
          </a:xfrm>
        </p:spPr>
      </p:pic>
    </p:spTree>
    <p:extLst>
      <p:ext uri="{BB962C8B-B14F-4D97-AF65-F5344CB8AC3E}">
        <p14:creationId xmlns:p14="http://schemas.microsoft.com/office/powerpoint/2010/main" val="1705564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7D36-BC4F-B009-9BC7-CEBC8A05FFF0}"/>
              </a:ext>
            </a:extLst>
          </p:cNvPr>
          <p:cNvSpPr>
            <a:spLocks noGrp="1"/>
          </p:cNvSpPr>
          <p:nvPr>
            <p:ph type="title"/>
          </p:nvPr>
        </p:nvSpPr>
        <p:spPr/>
        <p:txBody>
          <a:bodyPr/>
          <a:lstStyle/>
          <a:p>
            <a:r>
              <a:rPr lang="en-US" dirty="0"/>
              <a:t>Adrenal medulla</a:t>
            </a:r>
          </a:p>
        </p:txBody>
      </p:sp>
      <p:sp>
        <p:nvSpPr>
          <p:cNvPr id="3" name="Content Placeholder 2">
            <a:extLst>
              <a:ext uri="{FF2B5EF4-FFF2-40B4-BE49-F238E27FC236}">
                <a16:creationId xmlns:a16="http://schemas.microsoft.com/office/drawing/2014/main" id="{D58B3DCD-E5D5-DD90-671C-5F667ABEA41A}"/>
              </a:ext>
            </a:extLst>
          </p:cNvPr>
          <p:cNvSpPr>
            <a:spLocks noGrp="1"/>
          </p:cNvSpPr>
          <p:nvPr>
            <p:ph idx="1"/>
          </p:nvPr>
        </p:nvSpPr>
        <p:spPr>
          <a:xfrm>
            <a:off x="0" y="1587500"/>
            <a:ext cx="10515600" cy="4351338"/>
          </a:xfrm>
        </p:spPr>
        <p:txBody>
          <a:bodyPr vert="horz" lIns="91440" tIns="45720" rIns="91440" bIns="45720" rtlCol="0" anchor="t">
            <a:normAutofit/>
          </a:bodyPr>
          <a:lstStyle/>
          <a:p>
            <a:pPr marL="0" indent="0">
              <a:buNone/>
            </a:pPr>
            <a:endParaRPr lang="en-US" sz="1800" dirty="0">
              <a:latin typeface="Times New Roman"/>
              <a:cs typeface="Times New Roman"/>
            </a:endParaRPr>
          </a:p>
          <a:p>
            <a:r>
              <a:rPr lang="en-US" sz="1800" dirty="0">
                <a:latin typeface="Times New Roman"/>
                <a:cs typeface="Times New Roman"/>
              </a:rPr>
              <a:t>The adrenal medulla synthesizes catecholamines. </a:t>
            </a:r>
            <a:endParaRPr lang="en-US" sz="1800" dirty="0">
              <a:solidFill>
                <a:srgbClr val="985735"/>
              </a:solidFill>
              <a:latin typeface="Times New Roman"/>
              <a:cs typeface="Times New Roman"/>
            </a:endParaRPr>
          </a:p>
          <a:p>
            <a:r>
              <a:rPr lang="en-US" sz="1800" dirty="0">
                <a:latin typeface="Times New Roman"/>
                <a:cs typeface="Times New Roman"/>
              </a:rPr>
              <a:t> Once norepinephrine has been created, it is then methylated via </a:t>
            </a:r>
            <a:r>
              <a:rPr lang="en-US" sz="1800" dirty="0" err="1">
                <a:latin typeface="Times New Roman"/>
                <a:cs typeface="Times New Roman"/>
              </a:rPr>
              <a:t>phenylethanolamine</a:t>
            </a:r>
            <a:r>
              <a:rPr lang="en-US" sz="1800" dirty="0">
                <a:latin typeface="Times New Roman"/>
                <a:cs typeface="Times New Roman"/>
              </a:rPr>
              <a:t> N-methyltransferase (PNMT), which is only present in the adrenal medulla to epinephrine. </a:t>
            </a:r>
            <a:r>
              <a:rPr lang="en-US" sz="1600" dirty="0">
                <a:latin typeface="PT Serif"/>
                <a:cs typeface="Times New Roman"/>
              </a:rPr>
              <a:t> In the adrenal gland, norepinephrine and dopamine act mainly as precursor molecules to adrenaline, but in neurons and the </a:t>
            </a:r>
            <a:r>
              <a:rPr lang="en-US" sz="1600" u="sng" dirty="0">
                <a:latin typeface="PT Serif"/>
                <a:cs typeface="Times New Roman"/>
              </a:rPr>
              <a:t>central nervous system, they have their own unique roles as important neurotransmitters.</a:t>
            </a:r>
            <a:endParaRPr lang="en-US" sz="1800" dirty="0">
              <a:solidFill>
                <a:srgbClr val="985735"/>
              </a:solidFill>
              <a:latin typeface="Times New Roman"/>
              <a:cs typeface="Times New Roman"/>
            </a:endParaRPr>
          </a:p>
          <a:p>
            <a:endParaRPr lang="en-US" sz="1800" dirty="0">
              <a:latin typeface="Times New Roman"/>
              <a:cs typeface="Times New Roman"/>
            </a:endParaRPr>
          </a:p>
          <a:p>
            <a:endParaRPr lang="en-US" sz="1800" dirty="0">
              <a:latin typeface="Times New Roman"/>
              <a:cs typeface="Times New Roman"/>
            </a:endParaRPr>
          </a:p>
          <a:p>
            <a:endParaRPr lang="en-US" dirty="0"/>
          </a:p>
        </p:txBody>
      </p:sp>
      <p:sp>
        <p:nvSpPr>
          <p:cNvPr id="7" name="TextBox 6">
            <a:extLst>
              <a:ext uri="{FF2B5EF4-FFF2-40B4-BE49-F238E27FC236}">
                <a16:creationId xmlns:a16="http://schemas.microsoft.com/office/drawing/2014/main" id="{CBD575B6-47E4-4A82-B7FB-1F00CA514741}"/>
              </a:ext>
            </a:extLst>
          </p:cNvPr>
          <p:cNvSpPr txBox="1"/>
          <p:nvPr/>
        </p:nvSpPr>
        <p:spPr>
          <a:xfrm>
            <a:off x="7870785" y="5372582"/>
            <a:ext cx="168797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Adrenal medulla</a:t>
            </a:r>
          </a:p>
        </p:txBody>
      </p:sp>
      <p:sp>
        <p:nvSpPr>
          <p:cNvPr id="10" name="TextBox 9">
            <a:extLst>
              <a:ext uri="{FF2B5EF4-FFF2-40B4-BE49-F238E27FC236}">
                <a16:creationId xmlns:a16="http://schemas.microsoft.com/office/drawing/2014/main" id="{BA797CA9-2B68-80CB-480A-5623DB78DAEC}"/>
              </a:ext>
            </a:extLst>
          </p:cNvPr>
          <p:cNvSpPr txBox="1"/>
          <p:nvPr/>
        </p:nvSpPr>
        <p:spPr>
          <a:xfrm>
            <a:off x="6646582" y="3287120"/>
            <a:ext cx="244032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001D35"/>
                </a:solidFill>
                <a:ea typeface="+mn-lt"/>
                <a:cs typeface="+mn-lt"/>
              </a:rPr>
              <a:t>Protein-rich foods, including meats, poultry, fish, dairy products, and certain nuts and seeds. </a:t>
            </a:r>
            <a:endParaRPr lang="en-US" dirty="0"/>
          </a:p>
        </p:txBody>
      </p:sp>
      <p:pic>
        <p:nvPicPr>
          <p:cNvPr id="11" name="Picture 10" descr="A diagram of a complex of vitamins&#10;&#10;AI-generated content may be incorrect.">
            <a:extLst>
              <a:ext uri="{FF2B5EF4-FFF2-40B4-BE49-F238E27FC236}">
                <a16:creationId xmlns:a16="http://schemas.microsoft.com/office/drawing/2014/main" id="{DE44B437-4F10-9920-20DE-E315A7781817}"/>
              </a:ext>
            </a:extLst>
          </p:cNvPr>
          <p:cNvPicPr>
            <a:picLocks noChangeAspect="1"/>
          </p:cNvPicPr>
          <p:nvPr/>
        </p:nvPicPr>
        <p:blipFill>
          <a:blip r:embed="rId2"/>
          <a:stretch>
            <a:fillRect/>
          </a:stretch>
        </p:blipFill>
        <p:spPr>
          <a:xfrm>
            <a:off x="4534678" y="3349040"/>
            <a:ext cx="1740412" cy="2871222"/>
          </a:xfrm>
          <a:prstGeom prst="rect">
            <a:avLst/>
          </a:prstGeom>
        </p:spPr>
      </p:pic>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7AB188F8-3C73-A79E-933F-EE4DC5CCB11B}"/>
                  </a:ext>
                </a:extLst>
              </p14:cNvPr>
              <p14:cNvContentPartPr/>
              <p14:nvPr/>
            </p14:nvContentPartPr>
            <p14:xfrm>
              <a:off x="5443617" y="3751300"/>
              <a:ext cx="108018" cy="189192"/>
            </p14:xfrm>
          </p:contentPart>
        </mc:Choice>
        <mc:Fallback xmlns="">
          <p:pic>
            <p:nvPicPr>
              <p:cNvPr id="13" name="Ink 12">
                <a:extLst>
                  <a:ext uri="{FF2B5EF4-FFF2-40B4-BE49-F238E27FC236}">
                    <a16:creationId xmlns:a16="http://schemas.microsoft.com/office/drawing/2014/main" id="{7AB188F8-3C73-A79E-933F-EE4DC5CCB11B}"/>
                  </a:ext>
                </a:extLst>
              </p:cNvPr>
              <p:cNvPicPr/>
              <p:nvPr/>
            </p:nvPicPr>
            <p:blipFill>
              <a:blip r:embed="rId4"/>
              <a:stretch>
                <a:fillRect/>
              </a:stretch>
            </p:blipFill>
            <p:spPr>
              <a:xfrm>
                <a:off x="5426033" y="3733709"/>
                <a:ext cx="143546" cy="224733"/>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59F6411E-CCCC-0B82-6AD9-28E596A02899}"/>
                  </a:ext>
                </a:extLst>
              </p14:cNvPr>
              <p14:cNvContentPartPr/>
              <p14:nvPr/>
            </p14:nvContentPartPr>
            <p14:xfrm>
              <a:off x="5808588" y="5806928"/>
              <a:ext cx="2090767" cy="8306"/>
            </p14:xfrm>
          </p:contentPart>
        </mc:Choice>
        <mc:Fallback xmlns="">
          <p:pic>
            <p:nvPicPr>
              <p:cNvPr id="15" name="Ink 14">
                <a:extLst>
                  <a:ext uri="{FF2B5EF4-FFF2-40B4-BE49-F238E27FC236}">
                    <a16:creationId xmlns:a16="http://schemas.microsoft.com/office/drawing/2014/main" id="{59F6411E-CCCC-0B82-6AD9-28E596A02899}"/>
                  </a:ext>
                </a:extLst>
              </p:cNvPr>
              <p:cNvPicPr/>
              <p:nvPr/>
            </p:nvPicPr>
            <p:blipFill>
              <a:blip r:embed="rId6"/>
              <a:stretch>
                <a:fillRect/>
              </a:stretch>
            </p:blipFill>
            <p:spPr>
              <a:xfrm>
                <a:off x="5790592" y="5391628"/>
                <a:ext cx="2126399" cy="830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AA150DB7-0AC0-E815-90E1-21A5EA28002B}"/>
                  </a:ext>
                </a:extLst>
              </p14:cNvPr>
              <p14:cNvContentPartPr/>
              <p14:nvPr/>
            </p14:nvContentPartPr>
            <p14:xfrm>
              <a:off x="5758072" y="5691741"/>
              <a:ext cx="149751" cy="192999"/>
            </p14:xfrm>
          </p:contentPart>
        </mc:Choice>
        <mc:Fallback xmlns="">
          <p:pic>
            <p:nvPicPr>
              <p:cNvPr id="16" name="Ink 15">
                <a:extLst>
                  <a:ext uri="{FF2B5EF4-FFF2-40B4-BE49-F238E27FC236}">
                    <a16:creationId xmlns:a16="http://schemas.microsoft.com/office/drawing/2014/main" id="{AA150DB7-0AC0-E815-90E1-21A5EA28002B}"/>
                  </a:ext>
                </a:extLst>
              </p:cNvPr>
              <p:cNvPicPr/>
              <p:nvPr/>
            </p:nvPicPr>
            <p:blipFill>
              <a:blip r:embed="rId8"/>
              <a:stretch>
                <a:fillRect/>
              </a:stretch>
            </p:blipFill>
            <p:spPr>
              <a:xfrm>
                <a:off x="5740475" y="5674130"/>
                <a:ext cx="185303" cy="2285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9CE8FEF0-29AA-C12F-6069-F42C4C45ADD9}"/>
                  </a:ext>
                </a:extLst>
              </p14:cNvPr>
              <p14:cNvContentPartPr/>
              <p14:nvPr/>
            </p14:nvContentPartPr>
            <p14:xfrm>
              <a:off x="5542775" y="3857625"/>
              <a:ext cx="947095" cy="9246"/>
            </p14:xfrm>
          </p:contentPart>
        </mc:Choice>
        <mc:Fallback xmlns="">
          <p:pic>
            <p:nvPicPr>
              <p:cNvPr id="17" name="Ink 16">
                <a:extLst>
                  <a:ext uri="{FF2B5EF4-FFF2-40B4-BE49-F238E27FC236}">
                    <a16:creationId xmlns:a16="http://schemas.microsoft.com/office/drawing/2014/main" id="{9CE8FEF0-29AA-C12F-6069-F42C4C45ADD9}"/>
                  </a:ext>
                </a:extLst>
              </p:cNvPr>
              <p:cNvPicPr/>
              <p:nvPr/>
            </p:nvPicPr>
            <p:blipFill>
              <a:blip r:embed="rId10"/>
              <a:stretch>
                <a:fillRect/>
              </a:stretch>
            </p:blipFill>
            <p:spPr>
              <a:xfrm>
                <a:off x="5525143" y="3840845"/>
                <a:ext cx="982719" cy="43148"/>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A6C925C7-4800-03CB-5333-7343F5394553}"/>
                  </a:ext>
                </a:extLst>
              </p14:cNvPr>
              <p14:cNvContentPartPr/>
              <p14:nvPr/>
            </p14:nvContentPartPr>
            <p14:xfrm>
              <a:off x="11612195" y="3636113"/>
              <a:ext cx="8306" cy="8306"/>
            </p14:xfrm>
          </p:contentPart>
        </mc:Choice>
        <mc:Fallback xmlns="">
          <p:pic>
            <p:nvPicPr>
              <p:cNvPr id="18" name="Ink 17">
                <a:extLst>
                  <a:ext uri="{FF2B5EF4-FFF2-40B4-BE49-F238E27FC236}">
                    <a16:creationId xmlns:a16="http://schemas.microsoft.com/office/drawing/2014/main" id="{A6C925C7-4800-03CB-5333-7343F5394553}"/>
                  </a:ext>
                </a:extLst>
              </p:cNvPr>
              <p:cNvPicPr/>
              <p:nvPr/>
            </p:nvPicPr>
            <p:blipFill>
              <a:blip r:embed="rId12"/>
              <a:stretch>
                <a:fillRect/>
              </a:stretch>
            </p:blipFill>
            <p:spPr>
              <a:xfrm>
                <a:off x="11196895" y="3229119"/>
                <a:ext cx="830600" cy="830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B4F8013F-1263-62D1-9216-7061979BC9CA}"/>
                  </a:ext>
                </a:extLst>
              </p14:cNvPr>
              <p14:cNvContentPartPr/>
              <p14:nvPr/>
            </p14:nvContentPartPr>
            <p14:xfrm>
              <a:off x="10929938" y="2076672"/>
              <a:ext cx="8306" cy="8306"/>
            </p14:xfrm>
          </p:contentPart>
        </mc:Choice>
        <mc:Fallback xmlns="">
          <p:pic>
            <p:nvPicPr>
              <p:cNvPr id="19" name="Ink 18">
                <a:extLst>
                  <a:ext uri="{FF2B5EF4-FFF2-40B4-BE49-F238E27FC236}">
                    <a16:creationId xmlns:a16="http://schemas.microsoft.com/office/drawing/2014/main" id="{B4F8013F-1263-62D1-9216-7061979BC9CA}"/>
                  </a:ext>
                </a:extLst>
              </p:cNvPr>
              <p:cNvPicPr/>
              <p:nvPr/>
            </p:nvPicPr>
            <p:blipFill>
              <a:blip r:embed="rId12"/>
              <a:stretch>
                <a:fillRect/>
              </a:stretch>
            </p:blipFill>
            <p:spPr>
              <a:xfrm>
                <a:off x="10522944" y="1669678"/>
                <a:ext cx="830600" cy="830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BA49127B-3DEF-1FE1-89FD-5135F9560E1E}"/>
                  </a:ext>
                </a:extLst>
              </p14:cNvPr>
              <p14:cNvContentPartPr/>
              <p14:nvPr/>
            </p14:nvContentPartPr>
            <p14:xfrm>
              <a:off x="-597526" y="233695"/>
              <a:ext cx="8306" cy="8306"/>
            </p14:xfrm>
          </p:contentPart>
        </mc:Choice>
        <mc:Fallback xmlns="">
          <p:pic>
            <p:nvPicPr>
              <p:cNvPr id="20" name="Ink 19">
                <a:extLst>
                  <a:ext uri="{FF2B5EF4-FFF2-40B4-BE49-F238E27FC236}">
                    <a16:creationId xmlns:a16="http://schemas.microsoft.com/office/drawing/2014/main" id="{BA49127B-3DEF-1FE1-89FD-5135F9560E1E}"/>
                  </a:ext>
                </a:extLst>
              </p:cNvPr>
              <p:cNvPicPr/>
              <p:nvPr/>
            </p:nvPicPr>
            <p:blipFill>
              <a:blip r:embed="rId15"/>
              <a:stretch>
                <a:fillRect/>
              </a:stretch>
            </p:blipFill>
            <p:spPr>
              <a:xfrm>
                <a:off x="-1004520" y="-173299"/>
                <a:ext cx="830600" cy="830600"/>
              </a:xfrm>
              <a:prstGeom prst="rect">
                <a:avLst/>
              </a:prstGeom>
            </p:spPr>
          </p:pic>
        </mc:Fallback>
      </mc:AlternateContent>
    </p:spTree>
    <p:extLst>
      <p:ext uri="{BB962C8B-B14F-4D97-AF65-F5344CB8AC3E}">
        <p14:creationId xmlns:p14="http://schemas.microsoft.com/office/powerpoint/2010/main" val="58945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7BF43-4D10-93C1-1779-A5A86DC847F6}"/>
              </a:ext>
            </a:extLst>
          </p:cNvPr>
          <p:cNvSpPr>
            <a:spLocks noGrp="1"/>
          </p:cNvSpPr>
          <p:nvPr>
            <p:ph type="title"/>
          </p:nvPr>
        </p:nvSpPr>
        <p:spPr/>
        <p:txBody>
          <a:bodyPr/>
          <a:lstStyle/>
          <a:p>
            <a:endParaRPr lang="en-US" dirty="0"/>
          </a:p>
        </p:txBody>
      </p:sp>
      <p:pic>
        <p:nvPicPr>
          <p:cNvPr id="4" name="Content Placeholder 3" descr="A rabbit wearing a blue jacket&#10;&#10;AI-generated content may be incorrect.">
            <a:extLst>
              <a:ext uri="{FF2B5EF4-FFF2-40B4-BE49-F238E27FC236}">
                <a16:creationId xmlns:a16="http://schemas.microsoft.com/office/drawing/2014/main" id="{3D14C360-B108-2A2F-C701-4EAAFCE4A14D}"/>
              </a:ext>
            </a:extLst>
          </p:cNvPr>
          <p:cNvPicPr>
            <a:picLocks noGrp="1" noChangeAspect="1"/>
          </p:cNvPicPr>
          <p:nvPr>
            <p:ph idx="1"/>
          </p:nvPr>
        </p:nvPicPr>
        <p:blipFill>
          <a:blip r:embed="rId2"/>
          <a:stretch>
            <a:fillRect/>
          </a:stretch>
        </p:blipFill>
        <p:spPr>
          <a:xfrm>
            <a:off x="3324225" y="1843881"/>
            <a:ext cx="5543550" cy="4314825"/>
          </a:xfrm>
        </p:spPr>
      </p:pic>
      <p:pic>
        <p:nvPicPr>
          <p:cNvPr id="5" name="Picture 4" descr="A person in a suit&#10;&#10;AI-generated content may be incorrect.">
            <a:extLst>
              <a:ext uri="{FF2B5EF4-FFF2-40B4-BE49-F238E27FC236}">
                <a16:creationId xmlns:a16="http://schemas.microsoft.com/office/drawing/2014/main" id="{BDE415E8-DA54-5DA7-7723-0024A9729BF1}"/>
              </a:ext>
            </a:extLst>
          </p:cNvPr>
          <p:cNvPicPr>
            <a:picLocks noChangeAspect="1"/>
          </p:cNvPicPr>
          <p:nvPr/>
        </p:nvPicPr>
        <p:blipFill>
          <a:blip r:embed="rId3"/>
          <a:stretch>
            <a:fillRect/>
          </a:stretch>
        </p:blipFill>
        <p:spPr>
          <a:xfrm>
            <a:off x="316651" y="96912"/>
            <a:ext cx="2733675" cy="3190875"/>
          </a:xfrm>
          <a:prstGeom prst="rect">
            <a:avLst/>
          </a:prstGeom>
        </p:spPr>
      </p:pic>
    </p:spTree>
    <p:extLst>
      <p:ext uri="{BB962C8B-B14F-4D97-AF65-F5344CB8AC3E}">
        <p14:creationId xmlns:p14="http://schemas.microsoft.com/office/powerpoint/2010/main" val="3562975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3BAD5-B6D6-8D92-83AA-04DF1511E87B}"/>
              </a:ext>
            </a:extLst>
          </p:cNvPr>
          <p:cNvSpPr>
            <a:spLocks noGrp="1"/>
          </p:cNvSpPr>
          <p:nvPr>
            <p:ph type="title"/>
          </p:nvPr>
        </p:nvSpPr>
        <p:spPr/>
        <p:txBody>
          <a:bodyPr/>
          <a:lstStyle/>
          <a:p>
            <a:r>
              <a:rPr lang="en-US" dirty="0"/>
              <a:t>Adrenal  medulla</a:t>
            </a:r>
          </a:p>
        </p:txBody>
      </p:sp>
      <p:pic>
        <p:nvPicPr>
          <p:cNvPr id="4" name="Content Placeholder 3" descr="A diagram of a brain&#10;&#10;AI-generated content may be incorrect.">
            <a:extLst>
              <a:ext uri="{FF2B5EF4-FFF2-40B4-BE49-F238E27FC236}">
                <a16:creationId xmlns:a16="http://schemas.microsoft.com/office/drawing/2014/main" id="{83C79F23-5423-7C87-8FDC-1F93324E91FF}"/>
              </a:ext>
            </a:extLst>
          </p:cNvPr>
          <p:cNvPicPr>
            <a:picLocks noGrp="1" noChangeAspect="1"/>
          </p:cNvPicPr>
          <p:nvPr>
            <p:ph idx="1"/>
          </p:nvPr>
        </p:nvPicPr>
        <p:blipFill>
          <a:blip r:embed="rId2"/>
          <a:stretch>
            <a:fillRect/>
          </a:stretch>
        </p:blipFill>
        <p:spPr>
          <a:xfrm>
            <a:off x="1623988" y="1825625"/>
            <a:ext cx="8944023" cy="4351338"/>
          </a:xfrm>
        </p:spPr>
      </p:pic>
    </p:spTree>
    <p:extLst>
      <p:ext uri="{BB962C8B-B14F-4D97-AF65-F5344CB8AC3E}">
        <p14:creationId xmlns:p14="http://schemas.microsoft.com/office/powerpoint/2010/main" val="4270020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D60C7-7AA8-3069-D037-48D7118EE037}"/>
              </a:ext>
            </a:extLst>
          </p:cNvPr>
          <p:cNvSpPr>
            <a:spLocks noGrp="1"/>
          </p:cNvSpPr>
          <p:nvPr>
            <p:ph type="title"/>
          </p:nvPr>
        </p:nvSpPr>
        <p:spPr/>
        <p:txBody>
          <a:bodyPr/>
          <a:lstStyle/>
          <a:p>
            <a:r>
              <a:rPr lang="en-US" sz="1200" dirty="0">
                <a:latin typeface="Times New Roman"/>
                <a:cs typeface="Times New Roman"/>
              </a:rPr>
              <a:t>spinal cord's lateral horn from the T5–T8 spinal cord segments.</a:t>
            </a:r>
            <a:endParaRPr lang="en-US" dirty="0"/>
          </a:p>
        </p:txBody>
      </p:sp>
      <p:pic>
        <p:nvPicPr>
          <p:cNvPr id="4" name="Content Placeholder 3" descr="A diagram of the human body&#10;&#10;AI-generated content may be incorrect.">
            <a:extLst>
              <a:ext uri="{FF2B5EF4-FFF2-40B4-BE49-F238E27FC236}">
                <a16:creationId xmlns:a16="http://schemas.microsoft.com/office/drawing/2014/main" id="{FA142C7D-24AD-C40E-4FF2-8FA540AD306D}"/>
              </a:ext>
            </a:extLst>
          </p:cNvPr>
          <p:cNvPicPr>
            <a:picLocks noGrp="1" noChangeAspect="1"/>
          </p:cNvPicPr>
          <p:nvPr>
            <p:ph idx="1"/>
          </p:nvPr>
        </p:nvPicPr>
        <p:blipFill>
          <a:blip r:embed="rId2"/>
          <a:stretch>
            <a:fillRect/>
          </a:stretch>
        </p:blipFill>
        <p:spPr>
          <a:xfrm>
            <a:off x="1264400" y="463550"/>
            <a:ext cx="4757825" cy="6094413"/>
          </a:xfrm>
        </p:spPr>
      </p:pic>
      <p:sp>
        <p:nvSpPr>
          <p:cNvPr id="3" name="TextBox 2">
            <a:extLst>
              <a:ext uri="{FF2B5EF4-FFF2-40B4-BE49-F238E27FC236}">
                <a16:creationId xmlns:a16="http://schemas.microsoft.com/office/drawing/2014/main" id="{575D707D-1DFE-5FDE-4C3F-0DB9EF287767}"/>
              </a:ext>
            </a:extLst>
          </p:cNvPr>
          <p:cNvSpPr txBox="1"/>
          <p:nvPr/>
        </p:nvSpPr>
        <p:spPr>
          <a:xfrm>
            <a:off x="6496050" y="1257300"/>
            <a:ext cx="274320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2. Some fibers of the greater splanchnic nerve circumvent the celiac ganglion and directly enter the adrenal gland to synapse at the chromaffin cells' membranes. This is why the adrenal medulla acts as a neuroendocrine junction between the 2 physiological segments. The chromaffin cells release their neurohormones directly into the bloodstream to produce a widespread sympathetic response </a:t>
            </a:r>
            <a:endParaRPr lang="en-US" dirty="0"/>
          </a:p>
        </p:txBody>
      </p:sp>
      <p:sp>
        <p:nvSpPr>
          <p:cNvPr id="5" name="TextBox 4">
            <a:extLst>
              <a:ext uri="{FF2B5EF4-FFF2-40B4-BE49-F238E27FC236}">
                <a16:creationId xmlns:a16="http://schemas.microsoft.com/office/drawing/2014/main" id="{AB3CE700-0243-BCA3-1D6B-E30C4F087009}"/>
              </a:ext>
            </a:extLst>
          </p:cNvPr>
          <p:cNvSpPr txBox="1"/>
          <p:nvPr/>
        </p:nvSpPr>
        <p:spPr>
          <a:xfrm>
            <a:off x="6324600" y="247650"/>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dirty="0">
                <a:latin typeface="Times New Roman"/>
                <a:cs typeface="Times New Roman"/>
              </a:rPr>
              <a:t>Spinal cord's lateral horn from the T5–T8 spinal cord segments.</a:t>
            </a:r>
            <a:endParaRPr lang="en-US" dirty="0"/>
          </a:p>
        </p:txBody>
      </p:sp>
    </p:spTree>
    <p:extLst>
      <p:ext uri="{BB962C8B-B14F-4D97-AF65-F5344CB8AC3E}">
        <p14:creationId xmlns:p14="http://schemas.microsoft.com/office/powerpoint/2010/main" val="3418075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10C5E-DF53-EF52-41F4-C8323535381C}"/>
              </a:ext>
            </a:extLst>
          </p:cNvPr>
          <p:cNvSpPr>
            <a:spLocks noGrp="1"/>
          </p:cNvSpPr>
          <p:nvPr>
            <p:ph type="title"/>
          </p:nvPr>
        </p:nvSpPr>
        <p:spPr/>
        <p:txBody>
          <a:bodyPr/>
          <a:lstStyle/>
          <a:p>
            <a:endParaRPr lang="en-US"/>
          </a:p>
        </p:txBody>
      </p:sp>
      <p:pic>
        <p:nvPicPr>
          <p:cNvPr id="4" name="Content Placeholder 3" descr="A diagram of the internal organs&#10;&#10;AI-generated content may be incorrect.">
            <a:extLst>
              <a:ext uri="{FF2B5EF4-FFF2-40B4-BE49-F238E27FC236}">
                <a16:creationId xmlns:a16="http://schemas.microsoft.com/office/drawing/2014/main" id="{CE5E6578-CE00-F0C3-60FB-59108932D6EE}"/>
              </a:ext>
            </a:extLst>
          </p:cNvPr>
          <p:cNvPicPr>
            <a:picLocks noGrp="1" noChangeAspect="1"/>
          </p:cNvPicPr>
          <p:nvPr>
            <p:ph idx="1"/>
          </p:nvPr>
        </p:nvPicPr>
        <p:blipFill>
          <a:blip r:embed="rId2"/>
          <a:stretch>
            <a:fillRect/>
          </a:stretch>
        </p:blipFill>
        <p:spPr>
          <a:xfrm>
            <a:off x="748579" y="530225"/>
            <a:ext cx="5094142" cy="5865813"/>
          </a:xfrm>
        </p:spPr>
      </p:pic>
      <p:sp>
        <p:nvSpPr>
          <p:cNvPr id="5" name="TextBox 4">
            <a:extLst>
              <a:ext uri="{FF2B5EF4-FFF2-40B4-BE49-F238E27FC236}">
                <a16:creationId xmlns:a16="http://schemas.microsoft.com/office/drawing/2014/main" id="{09BCAD0C-0DC9-2485-4DF3-75B6A4124C37}"/>
              </a:ext>
            </a:extLst>
          </p:cNvPr>
          <p:cNvSpPr txBox="1"/>
          <p:nvPr/>
        </p:nvSpPr>
        <p:spPr>
          <a:xfrm>
            <a:off x="6734175" y="1857375"/>
            <a:ext cx="274320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The venous drainage from the adrenal glands is dependent on the side of the gland. The left adrenal gland is anatomically further away from the inferior vena cava; therefore, </a:t>
            </a:r>
            <a:r>
              <a:rPr lang="en-US" dirty="0">
                <a:solidFill>
                  <a:srgbClr val="FF0000"/>
                </a:solidFill>
                <a:latin typeface="Times New Roman"/>
                <a:cs typeface="Times New Roman"/>
              </a:rPr>
              <a:t>the left adrenal vein drains into the left renal vein.</a:t>
            </a:r>
            <a:r>
              <a:rPr lang="en-US" dirty="0">
                <a:latin typeface="Times New Roman"/>
                <a:cs typeface="Times New Roman"/>
              </a:rPr>
              <a:t> The right adrenal vein is much closer to the inferior vena cava and drains directly into this large vessel. </a:t>
            </a:r>
            <a:endParaRPr lang="en-US" dirty="0"/>
          </a:p>
        </p:txBody>
      </p:sp>
    </p:spTree>
    <p:extLst>
      <p:ext uri="{BB962C8B-B14F-4D97-AF65-F5344CB8AC3E}">
        <p14:creationId xmlns:p14="http://schemas.microsoft.com/office/powerpoint/2010/main" val="256404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02851-E0C9-C0D8-2C15-FEC81C4DDDA6}"/>
              </a:ext>
            </a:extLst>
          </p:cNvPr>
          <p:cNvSpPr>
            <a:spLocks noGrp="1"/>
          </p:cNvSpPr>
          <p:nvPr>
            <p:ph type="title"/>
          </p:nvPr>
        </p:nvSpPr>
        <p:spPr/>
        <p:txBody>
          <a:bodyPr/>
          <a:lstStyle/>
          <a:p>
            <a:r>
              <a:rPr lang="en-US" dirty="0"/>
              <a:t>Adrenal ( Adrenocortical) insufficiency- Addison's disease</a:t>
            </a:r>
          </a:p>
        </p:txBody>
      </p:sp>
      <p:sp>
        <p:nvSpPr>
          <p:cNvPr id="3" name="Content Placeholder 2">
            <a:extLst>
              <a:ext uri="{FF2B5EF4-FFF2-40B4-BE49-F238E27FC236}">
                <a16:creationId xmlns:a16="http://schemas.microsoft.com/office/drawing/2014/main" id="{8E1B6D2F-4D77-2437-8175-47635E5D0436}"/>
              </a:ext>
            </a:extLst>
          </p:cNvPr>
          <p:cNvSpPr>
            <a:spLocks noGrp="1"/>
          </p:cNvSpPr>
          <p:nvPr>
            <p:ph idx="1"/>
          </p:nvPr>
        </p:nvSpPr>
        <p:spPr/>
        <p:txBody>
          <a:bodyPr vert="horz" lIns="91440" tIns="45720" rIns="91440" bIns="45720" rtlCol="0" anchor="t">
            <a:normAutofit/>
          </a:bodyPr>
          <a:lstStyle/>
          <a:p>
            <a:pPr marL="0" indent="0">
              <a:buNone/>
            </a:pPr>
            <a:r>
              <a:rPr lang="en-US" dirty="0"/>
              <a:t>32 year man presents with weight loss of 15 </a:t>
            </a:r>
            <a:r>
              <a:rPr lang="en-US" dirty="0" err="1"/>
              <a:t>pds</a:t>
            </a:r>
            <a:r>
              <a:rPr lang="en-US" dirty="0"/>
              <a:t>, skin darkening in spite of staying out of sun, poor appetite, dizziness and fatigue. </a:t>
            </a:r>
            <a:r>
              <a:rPr lang="en-US" dirty="0" err="1"/>
              <a:t>Non smoker</a:t>
            </a:r>
            <a:r>
              <a:rPr lang="en-US" dirty="0"/>
              <a:t>. </a:t>
            </a:r>
          </a:p>
          <a:p>
            <a:pPr marL="0" indent="0">
              <a:buNone/>
            </a:pPr>
            <a:r>
              <a:rPr lang="en-US" dirty="0"/>
              <a:t>Labs- Glucose – normal , Na  normal , K mild high 5.5, Renal function normal. </a:t>
            </a:r>
          </a:p>
          <a:p>
            <a:pPr marL="0" indent="0">
              <a:buNone/>
            </a:pPr>
            <a:r>
              <a:rPr lang="en-US" dirty="0"/>
              <a:t>8 am cortisol 4 mcg/dl ( low) and ACTH is 500( high)</a:t>
            </a:r>
          </a:p>
          <a:p>
            <a:pPr marL="0" indent="0">
              <a:buNone/>
            </a:pPr>
            <a:r>
              <a:rPr lang="en-US" dirty="0"/>
              <a:t>TSH 6 mild high , with low FT4 and + </a:t>
            </a:r>
            <a:r>
              <a:rPr lang="en-US" dirty="0" err="1"/>
              <a:t>Thyroperoxidase</a:t>
            </a:r>
            <a:r>
              <a:rPr lang="en-US" dirty="0"/>
              <a:t> ab</a:t>
            </a:r>
          </a:p>
          <a:p>
            <a:pPr marL="0" indent="0">
              <a:buNone/>
            </a:pPr>
            <a:endParaRPr lang="en-US" dirty="0"/>
          </a:p>
        </p:txBody>
      </p:sp>
    </p:spTree>
    <p:extLst>
      <p:ext uri="{BB962C8B-B14F-4D97-AF65-F5344CB8AC3E}">
        <p14:creationId xmlns:p14="http://schemas.microsoft.com/office/powerpoint/2010/main" val="469025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C6863-6B99-0E4B-71AD-25ED6F8E4A05}"/>
              </a:ext>
            </a:extLst>
          </p:cNvPr>
          <p:cNvSpPr>
            <a:spLocks noGrp="1"/>
          </p:cNvSpPr>
          <p:nvPr>
            <p:ph type="title"/>
          </p:nvPr>
        </p:nvSpPr>
        <p:spPr/>
        <p:txBody>
          <a:bodyPr/>
          <a:lstStyle/>
          <a:p>
            <a:r>
              <a:rPr lang="en-US" dirty="0"/>
              <a:t>Causes </a:t>
            </a:r>
          </a:p>
        </p:txBody>
      </p:sp>
      <p:pic>
        <p:nvPicPr>
          <p:cNvPr id="4" name="Content Placeholder 3" descr="A diagram of a disease&#10;&#10;AI-generated content may be incorrect.">
            <a:extLst>
              <a:ext uri="{FF2B5EF4-FFF2-40B4-BE49-F238E27FC236}">
                <a16:creationId xmlns:a16="http://schemas.microsoft.com/office/drawing/2014/main" id="{FC50CC65-225C-69F9-A452-43A332B9F59A}"/>
              </a:ext>
            </a:extLst>
          </p:cNvPr>
          <p:cNvPicPr>
            <a:picLocks noGrp="1" noChangeAspect="1"/>
          </p:cNvPicPr>
          <p:nvPr>
            <p:ph idx="1"/>
          </p:nvPr>
        </p:nvPicPr>
        <p:blipFill>
          <a:blip r:embed="rId2"/>
          <a:stretch>
            <a:fillRect/>
          </a:stretch>
        </p:blipFill>
        <p:spPr>
          <a:xfrm>
            <a:off x="6338694" y="851182"/>
            <a:ext cx="4000887" cy="5414399"/>
          </a:xfrm>
        </p:spPr>
      </p:pic>
      <p:pic>
        <p:nvPicPr>
          <p:cNvPr id="5" name="Picture 4" descr="A diagram of a human body&#10;&#10;AI-generated content may be incorrect.">
            <a:extLst>
              <a:ext uri="{FF2B5EF4-FFF2-40B4-BE49-F238E27FC236}">
                <a16:creationId xmlns:a16="http://schemas.microsoft.com/office/drawing/2014/main" id="{D1725727-9F4D-2C5F-3FA4-A093A3DDACCD}"/>
              </a:ext>
            </a:extLst>
          </p:cNvPr>
          <p:cNvPicPr>
            <a:picLocks noChangeAspect="1"/>
          </p:cNvPicPr>
          <p:nvPr/>
        </p:nvPicPr>
        <p:blipFill>
          <a:blip r:embed="rId3"/>
          <a:stretch>
            <a:fillRect/>
          </a:stretch>
        </p:blipFill>
        <p:spPr>
          <a:xfrm>
            <a:off x="1859278" y="1908426"/>
            <a:ext cx="2615569" cy="3345947"/>
          </a:xfrm>
          <a:prstGeom prst="rect">
            <a:avLst/>
          </a:prstGeom>
        </p:spPr>
      </p:pic>
    </p:spTree>
    <p:extLst>
      <p:ext uri="{BB962C8B-B14F-4D97-AF65-F5344CB8AC3E}">
        <p14:creationId xmlns:p14="http://schemas.microsoft.com/office/powerpoint/2010/main" val="250988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2CE4C-0064-CFC6-5151-88A896561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F37FD-7407-59EB-2980-26E8EB8CC0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B15B01-19B3-94D8-8DDE-6C83C8D90973}"/>
              </a:ext>
            </a:extLst>
          </p:cNvPr>
          <p:cNvSpPr>
            <a:spLocks noGrp="1"/>
          </p:cNvSpPr>
          <p:nvPr>
            <p:ph idx="1"/>
          </p:nvPr>
        </p:nvSpPr>
        <p:spPr>
          <a:xfrm>
            <a:off x="381000" y="568325"/>
            <a:ext cx="10515600" cy="4351338"/>
          </a:xfrm>
        </p:spPr>
        <p:txBody>
          <a:bodyPr vert="horz" lIns="91440" tIns="45720" rIns="91440" bIns="45720" rtlCol="0" anchor="t">
            <a:normAutofit/>
          </a:bodyPr>
          <a:lstStyle/>
          <a:p>
            <a:pPr>
              <a:buNone/>
            </a:pPr>
            <a:r>
              <a:rPr lang="en-US" dirty="0">
                <a:ea typeface="+mn-lt"/>
                <a:cs typeface="+mn-lt"/>
              </a:rPr>
              <a:t>Primary adrenal </a:t>
            </a:r>
            <a:r>
              <a:rPr lang="en-US" dirty="0" err="1">
                <a:ea typeface="+mn-lt"/>
                <a:cs typeface="+mn-lt"/>
              </a:rPr>
              <a:t>insufficency</a:t>
            </a:r>
            <a:r>
              <a:rPr lang="en-US" dirty="0">
                <a:ea typeface="+mn-lt"/>
                <a:cs typeface="+mn-lt"/>
              </a:rPr>
              <a:t> - Hyperpigmentation of skin (elbows and </a:t>
            </a:r>
            <a:r>
              <a:rPr lang="en-US" dirty="0" err="1">
                <a:ea typeface="+mn-lt"/>
                <a:cs typeface="+mn-lt"/>
              </a:rPr>
              <a:t>palmarcreases</a:t>
            </a:r>
            <a:r>
              <a:rPr lang="en-US" dirty="0">
                <a:ea typeface="+mn-lt"/>
                <a:cs typeface="+mn-lt"/>
              </a:rPr>
              <a:t>) and tongue – pigmented fungiform papillae </a:t>
            </a:r>
          </a:p>
          <a:p>
            <a:pPr marL="0" indent="0">
              <a:buNone/>
            </a:pPr>
            <a:endParaRPr lang="en-US" dirty="0"/>
          </a:p>
          <a:p>
            <a:pPr marL="0" indent="0">
              <a:buNone/>
            </a:pPr>
            <a:endParaRPr lang="en-US" dirty="0"/>
          </a:p>
          <a:p>
            <a:pPr marL="0" indent="0">
              <a:buNone/>
            </a:pPr>
            <a:endParaRPr lang="en-US" dirty="0"/>
          </a:p>
          <a:p>
            <a:endParaRPr lang="en-US" dirty="0"/>
          </a:p>
        </p:txBody>
      </p:sp>
      <p:pic>
        <p:nvPicPr>
          <p:cNvPr id="4" name="Picture 3" descr="A close up of hands&#10;&#10;AI-generated content may be incorrect.">
            <a:extLst>
              <a:ext uri="{FF2B5EF4-FFF2-40B4-BE49-F238E27FC236}">
                <a16:creationId xmlns:a16="http://schemas.microsoft.com/office/drawing/2014/main" id="{62903A5D-1C17-D847-F278-A965AF79DD0E}"/>
              </a:ext>
            </a:extLst>
          </p:cNvPr>
          <p:cNvPicPr>
            <a:picLocks noChangeAspect="1"/>
          </p:cNvPicPr>
          <p:nvPr/>
        </p:nvPicPr>
        <p:blipFill>
          <a:blip r:embed="rId2"/>
          <a:stretch>
            <a:fillRect/>
          </a:stretch>
        </p:blipFill>
        <p:spPr>
          <a:xfrm>
            <a:off x="2934296" y="4582787"/>
            <a:ext cx="2450203" cy="1704975"/>
          </a:xfrm>
          <a:prstGeom prst="rect">
            <a:avLst/>
          </a:prstGeom>
        </p:spPr>
      </p:pic>
      <p:pic>
        <p:nvPicPr>
          <p:cNvPr id="5" name="Picture 4" descr="A person with a tongue sticking out&#10;&#10;AI-generated content may be incorrect.">
            <a:extLst>
              <a:ext uri="{FF2B5EF4-FFF2-40B4-BE49-F238E27FC236}">
                <a16:creationId xmlns:a16="http://schemas.microsoft.com/office/drawing/2014/main" id="{ED17FA29-848D-C8DD-DF49-8008760A11F0}"/>
              </a:ext>
            </a:extLst>
          </p:cNvPr>
          <p:cNvPicPr>
            <a:picLocks noChangeAspect="1"/>
          </p:cNvPicPr>
          <p:nvPr/>
        </p:nvPicPr>
        <p:blipFill>
          <a:blip r:embed="rId3"/>
          <a:stretch>
            <a:fillRect/>
          </a:stretch>
        </p:blipFill>
        <p:spPr>
          <a:xfrm>
            <a:off x="306062" y="2923166"/>
            <a:ext cx="2362200" cy="1704975"/>
          </a:xfrm>
          <a:prstGeom prst="rect">
            <a:avLst/>
          </a:prstGeom>
        </p:spPr>
      </p:pic>
      <p:pic>
        <p:nvPicPr>
          <p:cNvPr id="6" name="Picture 5" descr="A diagram of a nervous system&#10;&#10;AI-generated content may be incorrect.">
            <a:extLst>
              <a:ext uri="{FF2B5EF4-FFF2-40B4-BE49-F238E27FC236}">
                <a16:creationId xmlns:a16="http://schemas.microsoft.com/office/drawing/2014/main" id="{FB42BE93-AC02-66D6-E42E-A239901E2131}"/>
              </a:ext>
            </a:extLst>
          </p:cNvPr>
          <p:cNvPicPr>
            <a:picLocks noChangeAspect="1"/>
          </p:cNvPicPr>
          <p:nvPr/>
        </p:nvPicPr>
        <p:blipFill>
          <a:blip r:embed="rId4"/>
          <a:stretch>
            <a:fillRect/>
          </a:stretch>
        </p:blipFill>
        <p:spPr>
          <a:xfrm>
            <a:off x="5943600" y="2000250"/>
            <a:ext cx="5715000" cy="3543300"/>
          </a:xfrm>
          <a:prstGeom prst="rect">
            <a:avLst/>
          </a:prstGeom>
        </p:spPr>
      </p:pic>
      <p:sp>
        <p:nvSpPr>
          <p:cNvPr id="7" name="Star: 5 Points 6">
            <a:extLst>
              <a:ext uri="{FF2B5EF4-FFF2-40B4-BE49-F238E27FC236}">
                <a16:creationId xmlns:a16="http://schemas.microsoft.com/office/drawing/2014/main" id="{B84472F7-1E25-BA18-104E-928CEB08A3AE}"/>
              </a:ext>
            </a:extLst>
          </p:cNvPr>
          <p:cNvSpPr/>
          <p:nvPr/>
        </p:nvSpPr>
        <p:spPr>
          <a:xfrm>
            <a:off x="55444" y="109159"/>
            <a:ext cx="409354" cy="347331"/>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0635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AE0DF-AD5A-2758-4845-698B4FC2A75D}"/>
              </a:ext>
            </a:extLst>
          </p:cNvPr>
          <p:cNvSpPr>
            <a:spLocks noGrp="1"/>
          </p:cNvSpPr>
          <p:nvPr>
            <p:ph type="title"/>
          </p:nvPr>
        </p:nvSpPr>
        <p:spPr/>
        <p:txBody>
          <a:bodyPr/>
          <a:lstStyle/>
          <a:p>
            <a:endParaRPr lang="en-US"/>
          </a:p>
        </p:txBody>
      </p:sp>
      <p:pic>
        <p:nvPicPr>
          <p:cNvPr id="4" name="Content Placeholder 3" descr="A screenshot of a medical information&#10;&#10;AI-generated content may be incorrect.">
            <a:extLst>
              <a:ext uri="{FF2B5EF4-FFF2-40B4-BE49-F238E27FC236}">
                <a16:creationId xmlns:a16="http://schemas.microsoft.com/office/drawing/2014/main" id="{E77F9A97-A3D7-6A7E-4C56-9D23BE041825}"/>
              </a:ext>
            </a:extLst>
          </p:cNvPr>
          <p:cNvPicPr>
            <a:picLocks noGrp="1" noChangeAspect="1"/>
          </p:cNvPicPr>
          <p:nvPr>
            <p:ph idx="1"/>
          </p:nvPr>
        </p:nvPicPr>
        <p:blipFill>
          <a:blip r:embed="rId2"/>
          <a:stretch>
            <a:fillRect/>
          </a:stretch>
        </p:blipFill>
        <p:spPr>
          <a:xfrm>
            <a:off x="3419867" y="1035050"/>
            <a:ext cx="4675990" cy="5141913"/>
          </a:xfrm>
        </p:spPr>
      </p:pic>
    </p:spTree>
    <p:extLst>
      <p:ext uri="{BB962C8B-B14F-4D97-AF65-F5344CB8AC3E}">
        <p14:creationId xmlns:p14="http://schemas.microsoft.com/office/powerpoint/2010/main" val="1716330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13A6BD-99A9-925C-AF18-5217C1B7F355}"/>
              </a:ext>
            </a:extLst>
          </p:cNvPr>
          <p:cNvSpPr txBox="1"/>
          <p:nvPr/>
        </p:nvSpPr>
        <p:spPr>
          <a:xfrm>
            <a:off x="2638425" y="857250"/>
            <a:ext cx="8429625"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latin typeface="Calibri"/>
                <a:ea typeface="Calibri"/>
                <a:cs typeface="Calibri"/>
              </a:rPr>
              <a:t>Causes of Primary Adrenal Insufficiency (Addison’s Disease)</a:t>
            </a:r>
            <a:endParaRPr lang="en-US" sz="2000" dirty="0">
              <a:latin typeface="Aptos" panose="020B0004020202020204"/>
              <a:ea typeface="Calibri"/>
              <a:cs typeface="Calibri"/>
            </a:endParaRPr>
          </a:p>
          <a:p>
            <a:r>
              <a:rPr lang="en-US" sz="2000" b="1" dirty="0">
                <a:latin typeface="Calibri"/>
                <a:ea typeface="Calibri"/>
                <a:cs typeface="Calibri"/>
              </a:rPr>
              <a:t>1. Autoimmune Adrenocortical Insufficiency </a:t>
            </a:r>
            <a:r>
              <a:rPr lang="en-US" sz="2000" dirty="0">
                <a:latin typeface="Calibri"/>
                <a:ea typeface="Calibri"/>
                <a:cs typeface="Calibri"/>
              </a:rPr>
              <a:t>– p</a:t>
            </a:r>
            <a:r>
              <a:rPr lang="en-US" sz="2000" dirty="0">
                <a:solidFill>
                  <a:srgbClr val="FF0000"/>
                </a:solidFill>
                <a:latin typeface="Calibri"/>
                <a:ea typeface="Calibri"/>
                <a:cs typeface="Calibri"/>
              </a:rPr>
              <a:t>ositive 21 hydroxylase antibodies </a:t>
            </a:r>
            <a:endParaRPr lang="en-US" sz="2000">
              <a:solidFill>
                <a:srgbClr val="FF0000"/>
              </a:solidFill>
              <a:latin typeface="Aptos" panose="020B0004020202020204"/>
              <a:ea typeface="Calibri"/>
              <a:cs typeface="Calibri"/>
            </a:endParaRPr>
          </a:p>
          <a:p>
            <a:r>
              <a:rPr lang="en-US" sz="2000" b="1" dirty="0">
                <a:latin typeface="Calibri"/>
                <a:ea typeface="Calibri"/>
                <a:cs typeface="Calibri"/>
              </a:rPr>
              <a:t>Most common cause</a:t>
            </a:r>
            <a:r>
              <a:rPr lang="en-US" sz="2000" dirty="0">
                <a:latin typeface="Calibri"/>
                <a:ea typeface="Calibri"/>
                <a:cs typeface="Calibri"/>
              </a:rPr>
              <a:t>; </a:t>
            </a:r>
          </a:p>
          <a:p>
            <a:r>
              <a:rPr lang="en-US" sz="2000" dirty="0">
                <a:latin typeface="Calibri"/>
                <a:ea typeface="Calibri"/>
                <a:cs typeface="Calibri"/>
              </a:rPr>
              <a:t>Adrenal glands are small and atrophic </a:t>
            </a:r>
          </a:p>
          <a:p>
            <a:r>
              <a:rPr lang="en-US" sz="2000" dirty="0">
                <a:latin typeface="Calibri"/>
                <a:ea typeface="Calibri"/>
                <a:cs typeface="Calibri"/>
              </a:rPr>
              <a:t> Frequently accompanied by other immune disorders as described above (APS-2)</a:t>
            </a:r>
            <a:endParaRPr lang="en-US" sz="2000" dirty="0"/>
          </a:p>
          <a:p>
            <a:pPr marL="228600" indent="-228600">
              <a:buFont typeface=""/>
              <a:buChar char="•"/>
            </a:pPr>
            <a:r>
              <a:rPr lang="en-US" sz="2000" b="1" dirty="0">
                <a:latin typeface="Calibri"/>
                <a:ea typeface="Calibri"/>
                <a:cs typeface="Calibri"/>
              </a:rPr>
              <a:t>Adrenal Hemorrhage</a:t>
            </a:r>
            <a:r>
              <a:rPr lang="en-US" sz="2000" dirty="0">
                <a:latin typeface="Calibri"/>
                <a:ea typeface="Calibri"/>
                <a:cs typeface="Calibri"/>
              </a:rPr>
              <a:t> – observed in patients that have been taking anti-coagulant therapy or are predisposed to thrombosis</a:t>
            </a:r>
          </a:p>
          <a:p>
            <a:pPr marL="228600" indent="-228600">
              <a:buFont typeface=""/>
              <a:buChar char="•"/>
            </a:pPr>
            <a:r>
              <a:rPr lang="en-US" sz="2000" b="1" dirty="0">
                <a:latin typeface="Calibri"/>
                <a:ea typeface="Calibri"/>
                <a:cs typeface="Calibri"/>
              </a:rPr>
              <a:t>Infections</a:t>
            </a:r>
            <a:r>
              <a:rPr lang="en-US" sz="2000" dirty="0">
                <a:latin typeface="Calibri"/>
                <a:ea typeface="Calibri"/>
                <a:cs typeface="Calibri"/>
              </a:rPr>
              <a:t> – Tuberculosis is a common cause in countries outside the US; systemic fungal infection (and treatment with antifungal agents that inhibit adrenal cytochrome P450 steroidogenic enzymes); HIV/AIDS,  </a:t>
            </a:r>
          </a:p>
          <a:p>
            <a:pPr marL="228600" indent="-228600">
              <a:buFont typeface=""/>
              <a:buChar char="•"/>
            </a:pPr>
            <a:r>
              <a:rPr lang="en-US" sz="2000" b="1" dirty="0">
                <a:latin typeface="Calibri"/>
                <a:ea typeface="Calibri"/>
                <a:cs typeface="Calibri"/>
              </a:rPr>
              <a:t>Metastatic adrenal disease</a:t>
            </a:r>
            <a:r>
              <a:rPr lang="en-US" sz="2000" dirty="0">
                <a:latin typeface="Calibri"/>
                <a:ea typeface="Calibri"/>
                <a:cs typeface="Calibri"/>
              </a:rPr>
              <a:t> – adrenal glands are common sites of metastasis for lung, GI, breast, and renal neoplasia; non-Hodgkin and Hodgkin lymphoma</a:t>
            </a:r>
          </a:p>
          <a:p>
            <a:pPr marL="228600" indent="-228600">
              <a:buFont typeface=""/>
              <a:buChar char="•"/>
            </a:pPr>
            <a:r>
              <a:rPr lang="en-US" sz="2000" b="1" dirty="0">
                <a:latin typeface="Calibri"/>
                <a:ea typeface="Calibri"/>
                <a:cs typeface="Calibri"/>
              </a:rPr>
              <a:t>Congenital Adrenal Hyperplasia (CAH)</a:t>
            </a:r>
            <a:r>
              <a:rPr lang="en-US" sz="2000" dirty="0">
                <a:latin typeface="Calibri"/>
                <a:ea typeface="Calibri"/>
                <a:cs typeface="Calibri"/>
              </a:rPr>
              <a:t> – autosomal recessive genetic defect in one of the adrenal enzymes involved in synthesizing adrenal steroid hormones from cholesterol</a:t>
            </a:r>
          </a:p>
        </p:txBody>
      </p:sp>
    </p:spTree>
    <p:extLst>
      <p:ext uri="{BB962C8B-B14F-4D97-AF65-F5344CB8AC3E}">
        <p14:creationId xmlns:p14="http://schemas.microsoft.com/office/powerpoint/2010/main" val="3639545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B1DE3-0CE9-FF17-7DF8-352CC0212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04DFD-4ADD-2B41-46A5-A205B7243D56}"/>
              </a:ext>
            </a:extLst>
          </p:cNvPr>
          <p:cNvSpPr>
            <a:spLocks noGrp="1"/>
          </p:cNvSpPr>
          <p:nvPr>
            <p:ph type="title"/>
          </p:nvPr>
        </p:nvSpPr>
        <p:spPr/>
        <p:txBody>
          <a:bodyPr/>
          <a:lstStyle/>
          <a:p>
            <a:endParaRPr lang="en-US"/>
          </a:p>
        </p:txBody>
      </p:sp>
      <p:pic>
        <p:nvPicPr>
          <p:cNvPr id="4" name="Content Placeholder 3" descr="Image result for polyglandular autoimmune syndrome type 2">
            <a:extLst>
              <a:ext uri="{FF2B5EF4-FFF2-40B4-BE49-F238E27FC236}">
                <a16:creationId xmlns:a16="http://schemas.microsoft.com/office/drawing/2014/main" id="{AFFE784E-D5A6-7D48-5372-6C6E5269AE4C}"/>
              </a:ext>
            </a:extLst>
          </p:cNvPr>
          <p:cNvPicPr>
            <a:picLocks noGrp="1" noChangeAspect="1"/>
          </p:cNvPicPr>
          <p:nvPr>
            <p:ph idx="1"/>
          </p:nvPr>
        </p:nvPicPr>
        <p:blipFill>
          <a:blip r:embed="rId2"/>
          <a:stretch>
            <a:fillRect/>
          </a:stretch>
        </p:blipFill>
        <p:spPr>
          <a:xfrm>
            <a:off x="95250" y="-3969"/>
            <a:ext cx="7562850" cy="4524375"/>
          </a:xfrm>
        </p:spPr>
      </p:pic>
      <p:sp>
        <p:nvSpPr>
          <p:cNvPr id="5" name="TextBox 4">
            <a:extLst>
              <a:ext uri="{FF2B5EF4-FFF2-40B4-BE49-F238E27FC236}">
                <a16:creationId xmlns:a16="http://schemas.microsoft.com/office/drawing/2014/main" id="{69140BE0-9D37-4641-E4DF-77DC8B044B37}"/>
              </a:ext>
            </a:extLst>
          </p:cNvPr>
          <p:cNvSpPr txBox="1"/>
          <p:nvPr/>
        </p:nvSpPr>
        <p:spPr>
          <a:xfrm>
            <a:off x="7848600" y="438150"/>
            <a:ext cx="36576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1200" b="1" dirty="0">
                <a:latin typeface="Calibri"/>
                <a:ea typeface="Calibri"/>
                <a:cs typeface="Calibri"/>
              </a:rPr>
              <a:t>Autoimmune polyglandular syndrome (APS), Type II</a:t>
            </a:r>
            <a:r>
              <a:rPr lang="en-US" sz="1200" dirty="0">
                <a:latin typeface="Calibri"/>
                <a:ea typeface="Calibri"/>
                <a:cs typeface="Calibri"/>
              </a:rPr>
              <a:t> (also known as Polyglandular Autoimmune Syndrome, or PGAS) – heterogeneous group of diseases of the immune system which may lead to inflammatory damage of various endocrine glands</a:t>
            </a:r>
          </a:p>
          <a:p>
            <a:pPr marL="228600" indent="-228600">
              <a:buFont typeface=""/>
              <a:buChar char="•"/>
            </a:pPr>
            <a:endParaRPr lang="en-US" sz="1200" b="1" dirty="0">
              <a:latin typeface="Calibri"/>
              <a:ea typeface="Calibri"/>
              <a:cs typeface="Calibri"/>
            </a:endParaRPr>
          </a:p>
          <a:p>
            <a:pPr marL="228600" indent="-228600">
              <a:buFont typeface=""/>
              <a:buChar char="•"/>
            </a:pPr>
            <a:r>
              <a:rPr lang="en-US" sz="1200" b="1" dirty="0">
                <a:latin typeface="Calibri"/>
                <a:ea typeface="Calibri"/>
                <a:cs typeface="Calibri"/>
              </a:rPr>
              <a:t>About 1 in 7 people have Type II APS; In addition to type 1 diabetes, they develop thyroid disease, malfunctioning adrenal glands and sometimes other immune disorders.</a:t>
            </a:r>
          </a:p>
          <a:p>
            <a:pPr marL="228600" indent="-228600">
              <a:buFont typeface=""/>
              <a:buChar char="•"/>
            </a:pPr>
            <a:r>
              <a:rPr lang="en-US" sz="1200" dirty="0">
                <a:latin typeface="Calibri"/>
                <a:ea typeface="Calibri"/>
                <a:cs typeface="Calibri"/>
              </a:rPr>
              <a:t> Type II APS is characterized by AI (100% frequency), hypothyroidism/hyperthyroidism (69%), and type 1 (52%) diabetes. Usually occurs in adults; peak incidence is age 30, and occurs more often in women</a:t>
            </a:r>
          </a:p>
        </p:txBody>
      </p:sp>
      <p:sp>
        <p:nvSpPr>
          <p:cNvPr id="3" name="TextBox 2">
            <a:extLst>
              <a:ext uri="{FF2B5EF4-FFF2-40B4-BE49-F238E27FC236}">
                <a16:creationId xmlns:a16="http://schemas.microsoft.com/office/drawing/2014/main" id="{FE9437EF-9DCE-FB6B-F835-7501E764457C}"/>
              </a:ext>
            </a:extLst>
          </p:cNvPr>
          <p:cNvSpPr txBox="1"/>
          <p:nvPr/>
        </p:nvSpPr>
        <p:spPr>
          <a:xfrm>
            <a:off x="993493" y="5719822"/>
            <a:ext cx="588379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Monitor for premature menopause</a:t>
            </a:r>
          </a:p>
        </p:txBody>
      </p:sp>
      <p:sp>
        <p:nvSpPr>
          <p:cNvPr id="6" name="Star: 5 Points 5">
            <a:extLst>
              <a:ext uri="{FF2B5EF4-FFF2-40B4-BE49-F238E27FC236}">
                <a16:creationId xmlns:a16="http://schemas.microsoft.com/office/drawing/2014/main" id="{E74761B0-39BD-3797-2C56-A15D48F43F29}"/>
              </a:ext>
            </a:extLst>
          </p:cNvPr>
          <p:cNvSpPr/>
          <p:nvPr/>
        </p:nvSpPr>
        <p:spPr>
          <a:xfrm>
            <a:off x="2509074" y="4350829"/>
            <a:ext cx="542261" cy="542261"/>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2538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7E01A-CF72-B7F9-6C4B-19198A471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AAE49-E27E-5091-E0C4-0738D475BF75}"/>
              </a:ext>
            </a:extLst>
          </p:cNvPr>
          <p:cNvSpPr>
            <a:spLocks noGrp="1"/>
          </p:cNvSpPr>
          <p:nvPr>
            <p:ph type="title"/>
          </p:nvPr>
        </p:nvSpPr>
        <p:spPr/>
        <p:txBody>
          <a:bodyPr/>
          <a:lstStyle/>
          <a:p>
            <a:endParaRPr lang="en-US"/>
          </a:p>
        </p:txBody>
      </p:sp>
      <p:pic>
        <p:nvPicPr>
          <p:cNvPr id="7" name="Content Placeholder 6" descr="A diagram of a patient&amp;#39;s reaction&#10;&#10;AI-generated content may be incorrect.">
            <a:extLst>
              <a:ext uri="{FF2B5EF4-FFF2-40B4-BE49-F238E27FC236}">
                <a16:creationId xmlns:a16="http://schemas.microsoft.com/office/drawing/2014/main" id="{555A3A2F-16B7-EDAE-77A4-01F76EF298D0}"/>
              </a:ext>
            </a:extLst>
          </p:cNvPr>
          <p:cNvPicPr>
            <a:picLocks noGrp="1" noChangeAspect="1"/>
          </p:cNvPicPr>
          <p:nvPr>
            <p:ph idx="1"/>
          </p:nvPr>
        </p:nvPicPr>
        <p:blipFill>
          <a:blip r:embed="rId2"/>
          <a:stretch>
            <a:fillRect/>
          </a:stretch>
        </p:blipFill>
        <p:spPr>
          <a:xfrm>
            <a:off x="155207" y="916235"/>
            <a:ext cx="6838950" cy="4391025"/>
          </a:xfrm>
        </p:spPr>
      </p:pic>
      <p:pic>
        <p:nvPicPr>
          <p:cNvPr id="9" name="Picture 8" descr="Adrenal Disorders">
            <a:extLst>
              <a:ext uri="{FF2B5EF4-FFF2-40B4-BE49-F238E27FC236}">
                <a16:creationId xmlns:a16="http://schemas.microsoft.com/office/drawing/2014/main" id="{6E9E62F1-4155-1C66-B896-9ADE055F8C0F}"/>
              </a:ext>
            </a:extLst>
          </p:cNvPr>
          <p:cNvPicPr>
            <a:picLocks noChangeAspect="1"/>
          </p:cNvPicPr>
          <p:nvPr/>
        </p:nvPicPr>
        <p:blipFill>
          <a:blip r:embed="rId3"/>
          <a:stretch>
            <a:fillRect/>
          </a:stretch>
        </p:blipFill>
        <p:spPr>
          <a:xfrm>
            <a:off x="8609717" y="1343541"/>
            <a:ext cx="2743199" cy="3605977"/>
          </a:xfrm>
          <a:prstGeom prst="rect">
            <a:avLst/>
          </a:prstGeom>
        </p:spPr>
      </p:pic>
    </p:spTree>
    <p:extLst>
      <p:ext uri="{BB962C8B-B14F-4D97-AF65-F5344CB8AC3E}">
        <p14:creationId xmlns:p14="http://schemas.microsoft.com/office/powerpoint/2010/main" val="562595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7A8C2C-6D62-AD51-3C09-B30612760FE5}"/>
              </a:ext>
            </a:extLst>
          </p:cNvPr>
          <p:cNvSpPr txBox="1"/>
          <p:nvPr/>
        </p:nvSpPr>
        <p:spPr>
          <a:xfrm>
            <a:off x="619125" y="333375"/>
            <a:ext cx="274320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rgbClr val="FF0000"/>
                </a:solidFill>
                <a:latin typeface="Calibri"/>
                <a:ea typeface="Calibri"/>
                <a:cs typeface="Calibri"/>
              </a:rPr>
              <a:t>What is a cosyntropin stimulation test?  Evaluate adrenal  corticosteroid </a:t>
            </a:r>
            <a:r>
              <a:rPr lang="en-US" sz="1200" b="1" dirty="0" err="1">
                <a:solidFill>
                  <a:srgbClr val="FF0000"/>
                </a:solidFill>
                <a:latin typeface="Calibri"/>
                <a:ea typeface="Calibri"/>
                <a:cs typeface="Calibri"/>
              </a:rPr>
              <a:t>insuff</a:t>
            </a:r>
            <a:endParaRPr lang="en-US" dirty="0" err="1">
              <a:solidFill>
                <a:srgbClr val="000000"/>
              </a:solidFill>
              <a:latin typeface="Aptos" panose="020B0004020202020204"/>
              <a:ea typeface="Calibri"/>
              <a:cs typeface="Calibri"/>
            </a:endParaRPr>
          </a:p>
          <a:p>
            <a:endParaRPr lang="en-US" sz="1200" i="1" u="sng" dirty="0">
              <a:solidFill>
                <a:srgbClr val="000000"/>
              </a:solidFill>
              <a:latin typeface="Calibri"/>
              <a:ea typeface="Calibri"/>
              <a:cs typeface="Calibri"/>
            </a:endParaRPr>
          </a:p>
          <a:p>
            <a:r>
              <a:rPr lang="en-US" sz="1200" i="1" u="sng" dirty="0">
                <a:solidFill>
                  <a:srgbClr val="000000"/>
                </a:solidFill>
                <a:latin typeface="Calibri"/>
                <a:ea typeface="Calibri"/>
                <a:cs typeface="Calibri"/>
              </a:rPr>
              <a:t>Rationale</a:t>
            </a:r>
            <a:r>
              <a:rPr lang="en-US" sz="1200" i="1" u="sng" dirty="0">
                <a:latin typeface="Calibri"/>
                <a:ea typeface="Calibri"/>
                <a:cs typeface="Calibri"/>
              </a:rPr>
              <a:t>:</a:t>
            </a:r>
            <a:r>
              <a:rPr lang="en-US" sz="1200" dirty="0">
                <a:latin typeface="Calibri"/>
                <a:ea typeface="Calibri"/>
                <a:cs typeface="Calibri"/>
              </a:rPr>
              <a:t> Cosyntropin, (ACTH 1-24), consists of the first 24 amino acids of the N-terminal portion of the intact native ACTH molecule (ACTH 1-36).</a:t>
            </a:r>
            <a:endParaRPr lang="en-US"/>
          </a:p>
        </p:txBody>
      </p:sp>
      <p:pic>
        <p:nvPicPr>
          <p:cNvPr id="3" name="Picture 2">
            <a:extLst>
              <a:ext uri="{FF2B5EF4-FFF2-40B4-BE49-F238E27FC236}">
                <a16:creationId xmlns:a16="http://schemas.microsoft.com/office/drawing/2014/main" id="{D92DD6B3-250C-277C-0F86-A00E4F925C39}"/>
              </a:ext>
            </a:extLst>
          </p:cNvPr>
          <p:cNvPicPr>
            <a:picLocks noChangeAspect="1"/>
          </p:cNvPicPr>
          <p:nvPr/>
        </p:nvPicPr>
        <p:blipFill>
          <a:blip r:embed="rId2"/>
          <a:stretch>
            <a:fillRect/>
          </a:stretch>
        </p:blipFill>
        <p:spPr>
          <a:xfrm>
            <a:off x="481012" y="2409825"/>
            <a:ext cx="3629025" cy="2171700"/>
          </a:xfrm>
          <a:prstGeom prst="rect">
            <a:avLst/>
          </a:prstGeom>
        </p:spPr>
      </p:pic>
      <p:pic>
        <p:nvPicPr>
          <p:cNvPr id="5" name="Content Placeholder 3" descr="Related image">
            <a:extLst>
              <a:ext uri="{FF2B5EF4-FFF2-40B4-BE49-F238E27FC236}">
                <a16:creationId xmlns:a16="http://schemas.microsoft.com/office/drawing/2014/main" id="{CEA4D573-4F3B-59E7-91B4-3550F13F9760}"/>
              </a:ext>
            </a:extLst>
          </p:cNvPr>
          <p:cNvPicPr>
            <a:picLocks noChangeAspect="1"/>
          </p:cNvPicPr>
          <p:nvPr/>
        </p:nvPicPr>
        <p:blipFill>
          <a:blip r:embed="rId3"/>
          <a:stretch>
            <a:fillRect/>
          </a:stretch>
        </p:blipFill>
        <p:spPr>
          <a:xfrm>
            <a:off x="5691187" y="334169"/>
            <a:ext cx="4467225" cy="5305425"/>
          </a:xfrm>
          <a:prstGeom prst="rect">
            <a:avLst/>
          </a:prstGeom>
        </p:spPr>
      </p:pic>
    </p:spTree>
    <p:extLst>
      <p:ext uri="{BB962C8B-B14F-4D97-AF65-F5344CB8AC3E}">
        <p14:creationId xmlns:p14="http://schemas.microsoft.com/office/powerpoint/2010/main" val="2182103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CBA40-AF5C-34A7-F3D8-ABF293D1E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04BE4-30CF-684C-278B-31A1F967DC53}"/>
              </a:ext>
            </a:extLst>
          </p:cNvPr>
          <p:cNvSpPr>
            <a:spLocks noGrp="1"/>
          </p:cNvSpPr>
          <p:nvPr>
            <p:ph type="title"/>
          </p:nvPr>
        </p:nvSpPr>
        <p:spPr/>
        <p:txBody>
          <a:bodyPr/>
          <a:lstStyle/>
          <a:p>
            <a:r>
              <a:rPr lang="en-US" dirty="0"/>
              <a:t>Treatment </a:t>
            </a:r>
          </a:p>
        </p:txBody>
      </p:sp>
      <p:sp>
        <p:nvSpPr>
          <p:cNvPr id="3" name="Content Placeholder 2">
            <a:extLst>
              <a:ext uri="{FF2B5EF4-FFF2-40B4-BE49-F238E27FC236}">
                <a16:creationId xmlns:a16="http://schemas.microsoft.com/office/drawing/2014/main" id="{1FDD55FC-4995-11B8-C6F2-5C2906A54A84}"/>
              </a:ext>
            </a:extLst>
          </p:cNvPr>
          <p:cNvSpPr>
            <a:spLocks noGrp="1"/>
          </p:cNvSpPr>
          <p:nvPr>
            <p:ph idx="1"/>
          </p:nvPr>
        </p:nvSpPr>
        <p:spPr/>
        <p:txBody>
          <a:bodyPr vert="horz" lIns="91440" tIns="45720" rIns="91440" bIns="45720" rtlCol="0" anchor="t">
            <a:normAutofit/>
          </a:bodyPr>
          <a:lstStyle/>
          <a:p>
            <a:pPr marL="0" indent="0">
              <a:buNone/>
            </a:pPr>
            <a:r>
              <a:rPr lang="en-US" sz="2000" dirty="0">
                <a:solidFill>
                  <a:srgbClr val="FF0000"/>
                </a:solidFill>
                <a:latin typeface="Calibri"/>
                <a:ea typeface="Calibri"/>
                <a:cs typeface="Calibri"/>
              </a:rPr>
              <a:t>PRIMARY ADRENAL INSUFF:</a:t>
            </a:r>
          </a:p>
          <a:p>
            <a:pPr marL="0" indent="0">
              <a:buNone/>
            </a:pPr>
            <a:endParaRPr lang="en-US" dirty="0"/>
          </a:p>
          <a:p>
            <a:r>
              <a:rPr lang="en-US" sz="2000" dirty="0">
                <a:latin typeface="Calibri"/>
                <a:ea typeface="Calibri"/>
                <a:cs typeface="Calibri"/>
              </a:rPr>
              <a:t>Corticosteroids – Hydrocortisone 10-15 mg am and 5-10 mg late afternoon, Prednisone 5 mg daily , dexamethasone</a:t>
            </a:r>
            <a:endParaRPr lang="en-US" sz="2000"/>
          </a:p>
          <a:p>
            <a:pPr marL="0" indent="0">
              <a:buNone/>
            </a:pPr>
            <a:r>
              <a:rPr lang="en-US" sz="2000" dirty="0">
                <a:latin typeface="Calibri"/>
                <a:ea typeface="Calibri"/>
                <a:cs typeface="Calibri"/>
              </a:rPr>
              <a:t>AND</a:t>
            </a:r>
          </a:p>
          <a:p>
            <a:r>
              <a:rPr lang="en-US" sz="2000" dirty="0">
                <a:latin typeface="Calibri"/>
                <a:ea typeface="Calibri"/>
                <a:cs typeface="Calibri"/>
              </a:rPr>
              <a:t>Mineralocorticoid – Fludrocortisone 0.1 to 0.2 mg daily  as entire cortex is destroyed</a:t>
            </a:r>
            <a:endParaRPr lang="en-US" sz="2000" dirty="0">
              <a:latin typeface="Aptos" panose="020B0004020202020204"/>
              <a:ea typeface="Calibri"/>
              <a:cs typeface="Calibri"/>
            </a:endParaRPr>
          </a:p>
          <a:p>
            <a:r>
              <a:rPr lang="en-US" sz="2000" dirty="0"/>
              <a:t>Sick day advice- doubling of steroids when ill or during emergency</a:t>
            </a:r>
            <a:br>
              <a:rPr lang="en-US" dirty="0"/>
            </a:br>
            <a:endParaRPr lang="en-US" sz="2000"/>
          </a:p>
          <a:p>
            <a:r>
              <a:rPr lang="en-US" sz="2000" b="1" dirty="0">
                <a:latin typeface="Calibri"/>
                <a:ea typeface="Calibri"/>
                <a:cs typeface="Calibri"/>
              </a:rPr>
              <a:t>Caution:</a:t>
            </a:r>
            <a:r>
              <a:rPr lang="en-US" sz="2000" dirty="0">
                <a:latin typeface="Calibri"/>
                <a:ea typeface="Calibri"/>
                <a:cs typeface="Calibri"/>
              </a:rPr>
              <a:t> starting Thyroid hormone therapy prior to replacement of glucocorticoids can precipitate acute adrenal insufficiency and crisis.</a:t>
            </a:r>
            <a:endParaRPr lang="en-US" dirty="0">
              <a:latin typeface="Aptos" panose="020B0004020202020204"/>
              <a:ea typeface="Calibri"/>
              <a:cs typeface="Calibri"/>
            </a:endParaRPr>
          </a:p>
          <a:p>
            <a:endParaRPr lang="en-US" sz="2000" dirty="0">
              <a:latin typeface="Calibri"/>
              <a:ea typeface="Calibri"/>
              <a:cs typeface="Calibri"/>
            </a:endParaRPr>
          </a:p>
          <a:p>
            <a:endParaRPr lang="en-US" sz="2000" dirty="0">
              <a:latin typeface="Calibri"/>
              <a:ea typeface="Calibri"/>
              <a:cs typeface="Calibri"/>
            </a:endParaRPr>
          </a:p>
        </p:txBody>
      </p:sp>
      <p:pic>
        <p:nvPicPr>
          <p:cNvPr id="4" name="Picture 3" descr="Hydrocortisone Tablets, USP">
            <a:extLst>
              <a:ext uri="{FF2B5EF4-FFF2-40B4-BE49-F238E27FC236}">
                <a16:creationId xmlns:a16="http://schemas.microsoft.com/office/drawing/2014/main" id="{D5CF4FFB-1510-6B54-6B8D-9EE047BA1214}"/>
              </a:ext>
            </a:extLst>
          </p:cNvPr>
          <p:cNvPicPr>
            <a:picLocks noChangeAspect="1"/>
          </p:cNvPicPr>
          <p:nvPr/>
        </p:nvPicPr>
        <p:blipFill>
          <a:blip r:embed="rId2"/>
          <a:stretch>
            <a:fillRect/>
          </a:stretch>
        </p:blipFill>
        <p:spPr>
          <a:xfrm>
            <a:off x="5762626" y="519497"/>
            <a:ext cx="3505198" cy="1513705"/>
          </a:xfrm>
          <a:prstGeom prst="rect">
            <a:avLst/>
          </a:prstGeom>
        </p:spPr>
      </p:pic>
      <p:pic>
        <p:nvPicPr>
          <p:cNvPr id="5" name="Picture 4" descr="Solu-Cortef Injection: Inflammation ...">
            <a:extLst>
              <a:ext uri="{FF2B5EF4-FFF2-40B4-BE49-F238E27FC236}">
                <a16:creationId xmlns:a16="http://schemas.microsoft.com/office/drawing/2014/main" id="{AB55E66E-0286-A3E2-263C-8A63223D81AD}"/>
              </a:ext>
            </a:extLst>
          </p:cNvPr>
          <p:cNvPicPr>
            <a:picLocks noChangeAspect="1"/>
          </p:cNvPicPr>
          <p:nvPr/>
        </p:nvPicPr>
        <p:blipFill>
          <a:blip r:embed="rId3"/>
          <a:stretch>
            <a:fillRect/>
          </a:stretch>
        </p:blipFill>
        <p:spPr>
          <a:xfrm>
            <a:off x="9415463" y="519113"/>
            <a:ext cx="2143125" cy="2143125"/>
          </a:xfrm>
          <a:prstGeom prst="rect">
            <a:avLst/>
          </a:prstGeom>
        </p:spPr>
      </p:pic>
    </p:spTree>
    <p:extLst>
      <p:ext uri="{BB962C8B-B14F-4D97-AF65-F5344CB8AC3E}">
        <p14:creationId xmlns:p14="http://schemas.microsoft.com/office/powerpoint/2010/main" val="3495064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E2F13-D1EA-A464-79AE-650B73DB6171}"/>
              </a:ext>
            </a:extLst>
          </p:cNvPr>
          <p:cNvSpPr>
            <a:spLocks noGrp="1"/>
          </p:cNvSpPr>
          <p:nvPr>
            <p:ph type="title"/>
          </p:nvPr>
        </p:nvSpPr>
        <p:spPr/>
        <p:txBody>
          <a:bodyPr/>
          <a:lstStyle/>
          <a:p>
            <a:r>
              <a:rPr lang="en-US" dirty="0"/>
              <a:t>Addison's crisis</a:t>
            </a:r>
          </a:p>
        </p:txBody>
      </p:sp>
      <p:sp>
        <p:nvSpPr>
          <p:cNvPr id="3" name="Content Placeholder 2">
            <a:extLst>
              <a:ext uri="{FF2B5EF4-FFF2-40B4-BE49-F238E27FC236}">
                <a16:creationId xmlns:a16="http://schemas.microsoft.com/office/drawing/2014/main" id="{6FD3F01A-588D-D341-F99D-AA4E8D2987D8}"/>
              </a:ext>
            </a:extLst>
          </p:cNvPr>
          <p:cNvSpPr>
            <a:spLocks noGrp="1"/>
          </p:cNvSpPr>
          <p:nvPr>
            <p:ph idx="1"/>
          </p:nvPr>
        </p:nvSpPr>
        <p:spPr/>
        <p:txBody>
          <a:bodyPr vert="horz" lIns="91440" tIns="45720" rIns="91440" bIns="45720" rtlCol="0" anchor="t">
            <a:normAutofit/>
          </a:bodyPr>
          <a:lstStyle/>
          <a:p>
            <a:r>
              <a:rPr lang="en-US" dirty="0"/>
              <a:t>Acute adrenal crisis is precipitated by </a:t>
            </a:r>
          </a:p>
          <a:p>
            <a:pPr>
              <a:buFont typeface="Calibri" panose="020B0604020202020204" pitchFamily="34" charset="0"/>
              <a:buChar char="-"/>
            </a:pPr>
            <a:r>
              <a:rPr lang="en-US" dirty="0"/>
              <a:t>Missed steroid doses/ abrupt steroid withdrawal</a:t>
            </a:r>
          </a:p>
          <a:p>
            <a:pPr>
              <a:buFont typeface="Calibri" panose="020B0604020202020204" pitchFamily="34" charset="0"/>
              <a:buChar char="-"/>
            </a:pPr>
            <a:r>
              <a:rPr lang="en-US" dirty="0"/>
              <a:t>Infections/ MI/ surgery </a:t>
            </a:r>
            <a:r>
              <a:rPr lang="en-US" dirty="0" err="1"/>
              <a:t>etc</a:t>
            </a:r>
            <a:r>
              <a:rPr lang="en-US" dirty="0"/>
              <a:t> </a:t>
            </a:r>
          </a:p>
          <a:p>
            <a:pPr marL="0" indent="0">
              <a:buNone/>
            </a:pPr>
            <a:r>
              <a:rPr lang="en-US" dirty="0"/>
              <a:t>Symptoms:  Hypotension, Tachycardia, vomiting/ abdominal pain/electrolyte changes( low Na/ High K, low glucose) </a:t>
            </a:r>
          </a:p>
          <a:p>
            <a:pPr marL="0" indent="0">
              <a:buNone/>
            </a:pPr>
            <a:r>
              <a:rPr lang="en-US" dirty="0"/>
              <a:t>Treatment: Immediate..</a:t>
            </a:r>
          </a:p>
          <a:p>
            <a:pPr marL="0" indent="0">
              <a:buNone/>
            </a:pPr>
            <a:r>
              <a:rPr lang="en-US" dirty="0"/>
              <a:t>- IV Fluids- Normal saline till BP is normal</a:t>
            </a:r>
          </a:p>
          <a:p>
            <a:pPr marL="0" indent="0">
              <a:buNone/>
            </a:pPr>
            <a:r>
              <a:rPr lang="en-US" dirty="0"/>
              <a:t>-IV high dose steroids</a:t>
            </a:r>
          </a:p>
          <a:p>
            <a:pPr marL="0" indent="0">
              <a:buNone/>
            </a:pPr>
            <a:endParaRPr lang="en-US" dirty="0"/>
          </a:p>
          <a:p>
            <a:pPr>
              <a:buFont typeface="Calibri" panose="020B0604020202020204" pitchFamily="34" charset="0"/>
              <a:buChar char="-"/>
            </a:pPr>
            <a:endParaRPr lang="en-US" dirty="0"/>
          </a:p>
        </p:txBody>
      </p:sp>
      <p:sp>
        <p:nvSpPr>
          <p:cNvPr id="4" name="Star: 5 Points 3">
            <a:extLst>
              <a:ext uri="{FF2B5EF4-FFF2-40B4-BE49-F238E27FC236}">
                <a16:creationId xmlns:a16="http://schemas.microsoft.com/office/drawing/2014/main" id="{B5628358-F346-F075-3D59-032387AEC535}"/>
              </a:ext>
            </a:extLst>
          </p:cNvPr>
          <p:cNvSpPr/>
          <p:nvPr/>
        </p:nvSpPr>
        <p:spPr>
          <a:xfrm>
            <a:off x="9752152" y="614783"/>
            <a:ext cx="914400" cy="91440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0173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01168-F473-60E3-ED2F-345938F9E36B}"/>
              </a:ext>
            </a:extLst>
          </p:cNvPr>
          <p:cNvSpPr>
            <a:spLocks noGrp="1"/>
          </p:cNvSpPr>
          <p:nvPr>
            <p:ph type="title"/>
          </p:nvPr>
        </p:nvSpPr>
        <p:spPr/>
        <p:txBody>
          <a:bodyPr/>
          <a:lstStyle/>
          <a:p>
            <a:r>
              <a:rPr lang="en-US" dirty="0"/>
              <a:t>Secondary Adrenal insufficiency</a:t>
            </a:r>
          </a:p>
        </p:txBody>
      </p:sp>
      <p:sp>
        <p:nvSpPr>
          <p:cNvPr id="3" name="Content Placeholder 2">
            <a:extLst>
              <a:ext uri="{FF2B5EF4-FFF2-40B4-BE49-F238E27FC236}">
                <a16:creationId xmlns:a16="http://schemas.microsoft.com/office/drawing/2014/main" id="{A8605A83-BA21-5D32-5871-EA254AF2D572}"/>
              </a:ext>
            </a:extLst>
          </p:cNvPr>
          <p:cNvSpPr>
            <a:spLocks noGrp="1"/>
          </p:cNvSpPr>
          <p:nvPr>
            <p:ph idx="1"/>
          </p:nvPr>
        </p:nvSpPr>
        <p:spPr>
          <a:xfrm>
            <a:off x="142875" y="1797050"/>
            <a:ext cx="10515600" cy="4351338"/>
          </a:xfrm>
        </p:spPr>
        <p:txBody>
          <a:bodyPr vert="horz" lIns="91440" tIns="45720" rIns="91440" bIns="45720" rtlCol="0" anchor="t">
            <a:normAutofit/>
          </a:bodyPr>
          <a:lstStyle/>
          <a:p>
            <a:r>
              <a:rPr lang="en-US" dirty="0"/>
              <a:t>Commonest cause - </a:t>
            </a:r>
          </a:p>
          <a:p>
            <a:r>
              <a:rPr lang="en-US" dirty="0">
                <a:solidFill>
                  <a:srgbClr val="FF0000"/>
                </a:solidFill>
              </a:rPr>
              <a:t>Abrupt withdrawal of exogenous steroids (</a:t>
            </a:r>
            <a:r>
              <a:rPr lang="en-US" sz="2400" dirty="0"/>
              <a:t>injections, pills </a:t>
            </a:r>
            <a:r>
              <a:rPr lang="en-US" sz="2400" err="1"/>
              <a:t>etc</a:t>
            </a:r>
            <a:r>
              <a:rPr lang="en-US" sz="2400" dirty="0"/>
              <a:t>)</a:t>
            </a:r>
          </a:p>
          <a:p>
            <a:r>
              <a:rPr lang="en-US" sz="2400" dirty="0"/>
              <a:t>Pituitary adenoma/ lesions or </a:t>
            </a:r>
            <a:r>
              <a:rPr lang="en-US" sz="2400" err="1"/>
              <a:t>post surgical</a:t>
            </a:r>
            <a:r>
              <a:rPr lang="en-US" sz="2400" dirty="0"/>
              <a:t>/ post radiation</a:t>
            </a:r>
          </a:p>
          <a:p>
            <a:r>
              <a:rPr lang="en-US" sz="2400" err="1"/>
              <a:t>Hypophysitis</a:t>
            </a:r>
            <a:r>
              <a:rPr lang="en-US" sz="2400" dirty="0"/>
              <a:t> – inflammation, cancer immunotherapy, </a:t>
            </a:r>
            <a:r>
              <a:rPr lang="en-US" sz="2400" err="1"/>
              <a:t>post partum</a:t>
            </a:r>
            <a:r>
              <a:rPr lang="en-US" sz="2400" dirty="0"/>
              <a:t> </a:t>
            </a:r>
            <a:r>
              <a:rPr lang="en-US" sz="2400" err="1"/>
              <a:t>etc</a:t>
            </a:r>
            <a:r>
              <a:rPr lang="en-US" sz="2400" dirty="0"/>
              <a:t> </a:t>
            </a:r>
          </a:p>
          <a:p>
            <a:r>
              <a:rPr lang="en-US" dirty="0"/>
              <a:t>Labs – ACTH and cortisol are both low</a:t>
            </a:r>
          </a:p>
          <a:p>
            <a:r>
              <a:rPr lang="en-US" sz="2000" dirty="0">
                <a:solidFill>
                  <a:srgbClr val="FF0000"/>
                </a:solidFill>
                <a:latin typeface="Calibri"/>
                <a:ea typeface="Calibri"/>
                <a:cs typeface="Calibri"/>
              </a:rPr>
              <a:t>SECONDARY ADRENAL INSUFF</a:t>
            </a:r>
            <a:r>
              <a:rPr lang="en-US" sz="2000" dirty="0">
                <a:latin typeface="Calibri"/>
                <a:ea typeface="Calibri"/>
                <a:cs typeface="Calibri"/>
              </a:rPr>
              <a:t>:  </a:t>
            </a:r>
            <a:r>
              <a:rPr lang="en-US" u="sng" dirty="0">
                <a:latin typeface="Calibri"/>
                <a:ea typeface="Calibri"/>
                <a:cs typeface="Calibri"/>
              </a:rPr>
              <a:t>Only corticosteroid repl</a:t>
            </a:r>
            <a:r>
              <a:rPr lang="en-US" dirty="0">
                <a:latin typeface="Calibri"/>
                <a:ea typeface="Calibri"/>
                <a:cs typeface="Calibri"/>
              </a:rPr>
              <a:t>acement</a:t>
            </a:r>
            <a:r>
              <a:rPr lang="en-US" sz="2000" dirty="0">
                <a:latin typeface="Calibri"/>
                <a:ea typeface="Calibri"/>
                <a:cs typeface="Calibri"/>
              </a:rPr>
              <a:t> is needed </a:t>
            </a:r>
            <a:br>
              <a:rPr lang="en-US" sz="2000" dirty="0">
                <a:latin typeface="Calibri"/>
                <a:ea typeface="Calibri"/>
                <a:cs typeface="Calibri"/>
              </a:rPr>
            </a:br>
            <a:endParaRPr lang="en-US" sz="2000" dirty="0">
              <a:latin typeface="Calibri"/>
              <a:ea typeface="Calibri"/>
              <a:cs typeface="Calibri"/>
            </a:endParaRPr>
          </a:p>
          <a:p>
            <a:endParaRPr lang="en-US" dirty="0"/>
          </a:p>
          <a:p>
            <a:pPr marL="0" indent="0">
              <a:buNone/>
            </a:pPr>
            <a:endParaRPr lang="en-US" dirty="0"/>
          </a:p>
        </p:txBody>
      </p:sp>
      <p:pic>
        <p:nvPicPr>
          <p:cNvPr id="5" name="Picture 4" descr="Adrenal Disorders">
            <a:extLst>
              <a:ext uri="{FF2B5EF4-FFF2-40B4-BE49-F238E27FC236}">
                <a16:creationId xmlns:a16="http://schemas.microsoft.com/office/drawing/2014/main" id="{8A4A60C1-54F0-3F49-0A93-002010A918E9}"/>
              </a:ext>
            </a:extLst>
          </p:cNvPr>
          <p:cNvPicPr>
            <a:picLocks noChangeAspect="1"/>
          </p:cNvPicPr>
          <p:nvPr/>
        </p:nvPicPr>
        <p:blipFill>
          <a:blip r:embed="rId2"/>
          <a:stretch>
            <a:fillRect/>
          </a:stretch>
        </p:blipFill>
        <p:spPr>
          <a:xfrm>
            <a:off x="9486017" y="1695966"/>
            <a:ext cx="2705099" cy="3520252"/>
          </a:xfrm>
          <a:prstGeom prst="rect">
            <a:avLst/>
          </a:prstGeom>
        </p:spPr>
      </p:pic>
    </p:spTree>
    <p:extLst>
      <p:ext uri="{BB962C8B-B14F-4D97-AF65-F5344CB8AC3E}">
        <p14:creationId xmlns:p14="http://schemas.microsoft.com/office/powerpoint/2010/main" val="1970998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450BD-70D8-D7E8-244A-215FFBC8F1F7}"/>
              </a:ext>
            </a:extLst>
          </p:cNvPr>
          <p:cNvSpPr>
            <a:spLocks noGrp="1"/>
          </p:cNvSpPr>
          <p:nvPr>
            <p:ph type="title"/>
          </p:nvPr>
        </p:nvSpPr>
        <p:spPr/>
        <p:txBody>
          <a:bodyPr/>
          <a:lstStyle/>
          <a:p>
            <a:r>
              <a:rPr lang="en-US" dirty="0"/>
              <a:t>Do not abruptly stop long term steroids</a:t>
            </a:r>
          </a:p>
        </p:txBody>
      </p:sp>
      <p:sp>
        <p:nvSpPr>
          <p:cNvPr id="3" name="Content Placeholder 2">
            <a:extLst>
              <a:ext uri="{FF2B5EF4-FFF2-40B4-BE49-F238E27FC236}">
                <a16:creationId xmlns:a16="http://schemas.microsoft.com/office/drawing/2014/main" id="{486E65EB-8425-6898-1558-C7327372AECB}"/>
              </a:ext>
            </a:extLst>
          </p:cNvPr>
          <p:cNvSpPr>
            <a:spLocks noGrp="1"/>
          </p:cNvSpPr>
          <p:nvPr>
            <p:ph idx="1"/>
          </p:nvPr>
        </p:nvSpPr>
        <p:spPr/>
        <p:txBody>
          <a:bodyPr vert="horz" lIns="91440" tIns="45720" rIns="91440" bIns="45720" rtlCol="0" anchor="t">
            <a:normAutofit/>
          </a:bodyPr>
          <a:lstStyle/>
          <a:p>
            <a:r>
              <a:rPr lang="en-US" sz="1600" b="1" dirty="0">
                <a:latin typeface="PT Serif"/>
              </a:rPr>
              <a:t>Withdrawal of Glucocorticoids.</a:t>
            </a:r>
            <a:r>
              <a:rPr lang="en-US" sz="1600" dirty="0">
                <a:latin typeface="PT Serif"/>
              </a:rPr>
              <a:t> The abrupt withdrawal from prolonged use of glucocorticoid drugs like </a:t>
            </a:r>
            <a:r>
              <a:rPr lang="en-US" sz="1600" u="sng" dirty="0">
                <a:latin typeface="PT Serif"/>
              </a:rPr>
              <a:t>prednisone is </a:t>
            </a:r>
            <a:r>
              <a:rPr lang="en-US" sz="1600" b="1" u="sng" dirty="0">
                <a:latin typeface="PT Serif"/>
              </a:rPr>
              <a:t>the most common cause of AI overall</a:t>
            </a:r>
            <a:r>
              <a:rPr lang="en-US" sz="1600" u="sng" dirty="0">
                <a:latin typeface="PT Serif"/>
              </a:rPr>
              <a:t>. </a:t>
            </a:r>
            <a:endParaRPr lang="en-US" dirty="0">
              <a:latin typeface="Aptos" panose="020B0004020202020204"/>
            </a:endParaRPr>
          </a:p>
          <a:p>
            <a:endParaRPr lang="en-US" sz="1600" dirty="0">
              <a:latin typeface="PT Serif"/>
            </a:endParaRPr>
          </a:p>
          <a:p>
            <a:r>
              <a:rPr lang="en-US" sz="1600" dirty="0">
                <a:latin typeface="PT Serif"/>
              </a:rPr>
              <a:t>Glucocorticoid drugs act like endogenous cortisol to suppress the HPA axis (lower CRH and ACTH secretion). Over time, the low ACTH levels lead to adrenal </a:t>
            </a:r>
            <a:r>
              <a:rPr lang="en-US" sz="1600" u="sng" dirty="0">
                <a:latin typeface="PT Serif"/>
              </a:rPr>
              <a:t>atrophy and insufficiency (secondary AI), so the gland cannot make cortisol. </a:t>
            </a:r>
            <a:r>
              <a:rPr lang="en-US" sz="1600" dirty="0">
                <a:latin typeface="PT Serif"/>
              </a:rPr>
              <a:t>As long as patients take the glucocorticoid drug, they will appear normal or have signs of hypercortisolism (Cushing syndrome) like moon facies and mood swings. But, if the drug is abruptly stopped, the suppressed ACTH secretion and insufficient adrenal gland cannot produce enough cortisol to maintain body functions, </a:t>
            </a:r>
            <a:r>
              <a:rPr lang="en-US" sz="1600" u="sng" dirty="0">
                <a:latin typeface="PT Serif"/>
              </a:rPr>
              <a:t>and signs of </a:t>
            </a:r>
            <a:r>
              <a:rPr lang="en-US" sz="1600" u="sng" dirty="0" err="1">
                <a:latin typeface="PT Serif"/>
              </a:rPr>
              <a:t>hypocortisolism</a:t>
            </a:r>
            <a:r>
              <a:rPr lang="en-US" sz="1600" u="sng" dirty="0">
                <a:latin typeface="PT Serif"/>
              </a:rPr>
              <a:t> can occur, including nausea, vomiting, hypotension, and hypoglycemia.</a:t>
            </a:r>
            <a:endParaRPr lang="en-US"/>
          </a:p>
        </p:txBody>
      </p:sp>
      <p:pic>
        <p:nvPicPr>
          <p:cNvPr id="5" name="Content Placeholder 3" descr="A diagram of a disease&#10;&#10;AI-generated content may be incorrect.">
            <a:extLst>
              <a:ext uri="{FF2B5EF4-FFF2-40B4-BE49-F238E27FC236}">
                <a16:creationId xmlns:a16="http://schemas.microsoft.com/office/drawing/2014/main" id="{AEC75101-D995-677F-2893-0F33879C99A3}"/>
              </a:ext>
            </a:extLst>
          </p:cNvPr>
          <p:cNvPicPr>
            <a:picLocks noChangeAspect="1"/>
          </p:cNvPicPr>
          <p:nvPr/>
        </p:nvPicPr>
        <p:blipFill>
          <a:blip r:embed="rId2"/>
          <a:stretch>
            <a:fillRect/>
          </a:stretch>
        </p:blipFill>
        <p:spPr>
          <a:xfrm>
            <a:off x="10228438" y="4147275"/>
            <a:ext cx="1759190" cy="2384120"/>
          </a:xfrm>
          <a:prstGeom prst="rect">
            <a:avLst/>
          </a:prstGeom>
        </p:spPr>
      </p:pic>
      <p:sp>
        <p:nvSpPr>
          <p:cNvPr id="4" name="Star: 5 Points 3">
            <a:extLst>
              <a:ext uri="{FF2B5EF4-FFF2-40B4-BE49-F238E27FC236}">
                <a16:creationId xmlns:a16="http://schemas.microsoft.com/office/drawing/2014/main" id="{A444CF26-34D7-3269-5C6A-8DFCCE490755}"/>
              </a:ext>
            </a:extLst>
          </p:cNvPr>
          <p:cNvSpPr/>
          <p:nvPr/>
        </p:nvSpPr>
        <p:spPr>
          <a:xfrm>
            <a:off x="564957" y="540032"/>
            <a:ext cx="453656" cy="41821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E3DFBCD-E9A6-04C6-15C5-23B841E08E75}"/>
              </a:ext>
            </a:extLst>
          </p:cNvPr>
          <p:cNvSpPr txBox="1"/>
          <p:nvPr/>
        </p:nvSpPr>
        <p:spPr>
          <a:xfrm>
            <a:off x="565296" y="4789399"/>
            <a:ext cx="327366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Steroids are anti-inflammatory. </a:t>
            </a:r>
          </a:p>
          <a:p>
            <a:r>
              <a:rPr lang="en-US"/>
              <a:t>Creams </a:t>
            </a:r>
            <a:endParaRPr lang="en-US" dirty="0"/>
          </a:p>
          <a:p>
            <a:r>
              <a:rPr lang="en-US"/>
              <a:t>Injections </a:t>
            </a:r>
          </a:p>
          <a:p>
            <a:r>
              <a:rPr lang="en-US" dirty="0"/>
              <a:t>Pills </a:t>
            </a:r>
          </a:p>
          <a:p>
            <a:endParaRPr lang="en-US" dirty="0"/>
          </a:p>
        </p:txBody>
      </p:sp>
    </p:spTree>
    <p:extLst>
      <p:ext uri="{BB962C8B-B14F-4D97-AF65-F5344CB8AC3E}">
        <p14:creationId xmlns:p14="http://schemas.microsoft.com/office/powerpoint/2010/main" val="388394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CC064-9BA4-86DD-7898-DBEADE62D037}"/>
              </a:ext>
            </a:extLst>
          </p:cNvPr>
          <p:cNvSpPr>
            <a:spLocks noGrp="1"/>
          </p:cNvSpPr>
          <p:nvPr>
            <p:ph type="title"/>
          </p:nvPr>
        </p:nvSpPr>
        <p:spPr/>
        <p:txBody>
          <a:bodyPr/>
          <a:lstStyle/>
          <a:p>
            <a:r>
              <a:rPr lang="en-US" dirty="0"/>
              <a:t>Cushing syndrome</a:t>
            </a:r>
          </a:p>
        </p:txBody>
      </p:sp>
      <p:sp>
        <p:nvSpPr>
          <p:cNvPr id="3" name="Content Placeholder 2">
            <a:extLst>
              <a:ext uri="{FF2B5EF4-FFF2-40B4-BE49-F238E27FC236}">
                <a16:creationId xmlns:a16="http://schemas.microsoft.com/office/drawing/2014/main" id="{6B5761A2-AF2C-306D-DC59-A674F0731219}"/>
              </a:ext>
            </a:extLst>
          </p:cNvPr>
          <p:cNvSpPr>
            <a:spLocks noGrp="1"/>
          </p:cNvSpPr>
          <p:nvPr>
            <p:ph idx="1"/>
          </p:nvPr>
        </p:nvSpPr>
        <p:spPr/>
        <p:txBody>
          <a:bodyPr vert="horz" lIns="91440" tIns="45720" rIns="91440" bIns="45720" rtlCol="0" anchor="t">
            <a:normAutofit fontScale="92500" lnSpcReduction="20000"/>
          </a:bodyPr>
          <a:lstStyle/>
          <a:p>
            <a:r>
              <a:rPr lang="en-US" dirty="0"/>
              <a:t>42 yr woman with DM2 , HTN, complains that she is unable to lose weight in spite of dieting. She has a h/o irregular menses, and is seeing a therapist for depression. She also had an ankle fracture few years ago. </a:t>
            </a:r>
          </a:p>
          <a:p>
            <a:r>
              <a:rPr lang="en-US" dirty="0"/>
              <a:t>Exam – 150/100, Skin – facial acne, purple striae in abdomen, central abdominal obesity with some fat padding of neck. </a:t>
            </a:r>
          </a:p>
          <a:p>
            <a:r>
              <a:rPr lang="en-US" dirty="0"/>
              <a:t>Labs- Na/renal function normal , Mild low potassium, A1c 10, </a:t>
            </a:r>
          </a:p>
          <a:p>
            <a:r>
              <a:rPr lang="en-US" dirty="0"/>
              <a:t>11 pm salivary cortisol high</a:t>
            </a:r>
          </a:p>
          <a:p>
            <a:r>
              <a:rPr lang="en-US" dirty="0"/>
              <a:t>1 pm low dose dexamethasone suppression test – 2.5 and 4 mcg/dl ( high)</a:t>
            </a:r>
          </a:p>
          <a:p>
            <a:r>
              <a:rPr lang="en-US" dirty="0"/>
              <a:t>24 h Urine Free Cortisol – 100 mcg/dl ( high)</a:t>
            </a:r>
          </a:p>
          <a:p>
            <a:r>
              <a:rPr lang="en-US" dirty="0"/>
              <a:t>Bone density is low</a:t>
            </a:r>
          </a:p>
        </p:txBody>
      </p:sp>
    </p:spTree>
    <p:extLst>
      <p:ext uri="{BB962C8B-B14F-4D97-AF65-F5344CB8AC3E}">
        <p14:creationId xmlns:p14="http://schemas.microsoft.com/office/powerpoint/2010/main" val="2333688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2DA08-40C7-1149-6EAD-28CE69065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902D3-113D-AC30-AC7F-017E2EBFD87F}"/>
              </a:ext>
            </a:extLst>
          </p:cNvPr>
          <p:cNvSpPr>
            <a:spLocks noGrp="1"/>
          </p:cNvSpPr>
          <p:nvPr>
            <p:ph type="title"/>
          </p:nvPr>
        </p:nvSpPr>
        <p:spPr/>
        <p:txBody>
          <a:bodyPr>
            <a:normAutofit/>
          </a:bodyPr>
          <a:lstStyle/>
          <a:p>
            <a:r>
              <a:rPr lang="en-US" sz="2000" dirty="0">
                <a:solidFill>
                  <a:srgbClr val="FF0000"/>
                </a:solidFill>
                <a:latin typeface="Calibri"/>
                <a:ea typeface="Calibri"/>
                <a:cs typeface="Calibri"/>
              </a:rPr>
              <a:t>What is the difference between Cushing Syndrome and Cushing Disease?</a:t>
            </a:r>
            <a:endParaRPr lang="en-US" sz="2000" dirty="0"/>
          </a:p>
        </p:txBody>
      </p:sp>
      <p:sp>
        <p:nvSpPr>
          <p:cNvPr id="3" name="Content Placeholder 2">
            <a:extLst>
              <a:ext uri="{FF2B5EF4-FFF2-40B4-BE49-F238E27FC236}">
                <a16:creationId xmlns:a16="http://schemas.microsoft.com/office/drawing/2014/main" id="{5262A889-705C-8F21-4C87-69D8E0F7E4F1}"/>
              </a:ext>
            </a:extLst>
          </p:cNvPr>
          <p:cNvSpPr>
            <a:spLocks noGrp="1"/>
          </p:cNvSpPr>
          <p:nvPr>
            <p:ph idx="1"/>
          </p:nvPr>
        </p:nvSpPr>
        <p:spPr/>
        <p:txBody>
          <a:bodyPr vert="horz" lIns="91440" tIns="45720" rIns="91440" bIns="45720" rtlCol="0" anchor="t">
            <a:normAutofit/>
          </a:bodyPr>
          <a:lstStyle/>
          <a:p>
            <a:endParaRPr lang="en-US" sz="1200" dirty="0">
              <a:solidFill>
                <a:srgbClr val="FF0000"/>
              </a:solidFill>
              <a:latin typeface="Calibri"/>
              <a:ea typeface="Calibri"/>
              <a:cs typeface="Calibri"/>
            </a:endParaRPr>
          </a:p>
          <a:p>
            <a:pPr marL="0" indent="0">
              <a:buNone/>
            </a:pPr>
            <a:br>
              <a:rPr lang="en-US" dirty="0"/>
            </a:br>
            <a:endParaRPr lang="en-US" sz="2000"/>
          </a:p>
          <a:p>
            <a:r>
              <a:rPr lang="en-US" sz="2000" dirty="0">
                <a:latin typeface="Calibri"/>
                <a:ea typeface="Calibri"/>
                <a:cs typeface="Calibri"/>
              </a:rPr>
              <a:t> Cushing syndrome is a constellation of symptoms and physical features due to chronic glucocorticoid excess -from any source - pituitary, adrenal, ectopic or exogenous.</a:t>
            </a:r>
            <a:endParaRPr lang="en-US" sz="2000" dirty="0"/>
          </a:p>
          <a:p>
            <a:pPr marL="0" indent="0">
              <a:buNone/>
            </a:pPr>
            <a:br>
              <a:rPr lang="en-US" dirty="0"/>
            </a:br>
            <a:endParaRPr lang="en-US" sz="2000"/>
          </a:p>
          <a:p>
            <a:r>
              <a:rPr lang="en-US" sz="2000" dirty="0">
                <a:latin typeface="Calibri"/>
                <a:ea typeface="Calibri"/>
                <a:cs typeface="Calibri"/>
              </a:rPr>
              <a:t>Cushing disease – term is used when cortisol excess is due to excess ACTH secretion from a pituitary source. </a:t>
            </a:r>
            <a:endParaRPr lang="en-US" sz="2000"/>
          </a:p>
          <a:p>
            <a:pPr marL="0" indent="0">
              <a:buNone/>
            </a:pPr>
            <a:br>
              <a:rPr lang="en-US" dirty="0"/>
            </a:br>
            <a:endParaRPr lang="en-US" dirty="0"/>
          </a:p>
        </p:txBody>
      </p:sp>
    </p:spTree>
    <p:extLst>
      <p:ext uri="{BB962C8B-B14F-4D97-AF65-F5344CB8AC3E}">
        <p14:creationId xmlns:p14="http://schemas.microsoft.com/office/powerpoint/2010/main" val="650824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7D8145-CF6D-63A2-7CA3-40DC81DA9CBC}"/>
              </a:ext>
            </a:extLst>
          </p:cNvPr>
          <p:cNvSpPr txBox="1"/>
          <p:nvPr/>
        </p:nvSpPr>
        <p:spPr>
          <a:xfrm>
            <a:off x="1590675" y="0"/>
            <a:ext cx="5305425"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FF0000"/>
                </a:solidFill>
                <a:latin typeface="Calibri"/>
                <a:ea typeface="Calibri"/>
                <a:cs typeface="Calibri"/>
              </a:rPr>
              <a:t>Clinical features of Cushing Syndrome?   THE MECHANISMS BEHIND THE CLINICAL FEATURES </a:t>
            </a:r>
            <a:endParaRPr lang="en-US" sz="1600" b="1">
              <a:latin typeface="Calibri"/>
              <a:ea typeface="Calibri"/>
              <a:cs typeface="Calibri"/>
            </a:endParaRPr>
          </a:p>
          <a:p>
            <a:pPr marL="228600" indent="-228600">
              <a:buFont typeface=""/>
              <a:buChar char="•"/>
            </a:pPr>
            <a:r>
              <a:rPr lang="en-US" sz="1600" dirty="0">
                <a:latin typeface="Calibri"/>
                <a:ea typeface="Calibri"/>
                <a:cs typeface="Calibri"/>
              </a:rPr>
              <a:t>Central obesity/ Buffalo hump (90% prevalence)--redistribution of fat</a:t>
            </a:r>
          </a:p>
          <a:p>
            <a:pPr marL="228600" indent="-228600">
              <a:buFont typeface=""/>
              <a:buChar char="•"/>
            </a:pPr>
            <a:r>
              <a:rPr lang="en-US" sz="1600" dirty="0">
                <a:latin typeface="Calibri"/>
                <a:ea typeface="Calibri"/>
                <a:cs typeface="Calibri"/>
              </a:rPr>
              <a:t>skin changes- </a:t>
            </a:r>
          </a:p>
          <a:p>
            <a:pPr marL="228600" lvl="1" indent="-228600">
              <a:buFont typeface=""/>
              <a:buChar char="•"/>
            </a:pPr>
            <a:r>
              <a:rPr lang="en-US" sz="1600" u="sng" dirty="0">
                <a:latin typeface="Calibri"/>
                <a:ea typeface="Calibri"/>
                <a:cs typeface="Calibri"/>
              </a:rPr>
              <a:t>Atrophy of epidermis and connective tissue</a:t>
            </a:r>
            <a:r>
              <a:rPr lang="en-US" sz="1600" dirty="0">
                <a:latin typeface="Calibri"/>
                <a:ea typeface="Calibri"/>
                <a:cs typeface="Calibri"/>
              </a:rPr>
              <a:t> leads to skin thinning, easy bruising , purple striae &gt; 1 cm  due to bleeding dermal vessels, </a:t>
            </a:r>
          </a:p>
          <a:p>
            <a:pPr marL="228600" lvl="1" indent="-228600">
              <a:buFont typeface=""/>
              <a:buChar char="•"/>
            </a:pPr>
            <a:r>
              <a:rPr lang="en-US" sz="1600" dirty="0">
                <a:latin typeface="Calibri"/>
                <a:ea typeface="Calibri"/>
                <a:cs typeface="Calibri"/>
              </a:rPr>
              <a:t>reduced fibroblast activity </a:t>
            </a:r>
            <a:endParaRPr lang="en-US" dirty="0"/>
          </a:p>
          <a:p>
            <a:pPr marL="228600" lvl="1" indent="-228600">
              <a:buFont typeface=""/>
              <a:buChar char="•"/>
            </a:pPr>
            <a:r>
              <a:rPr lang="en-US" sz="1600" dirty="0">
                <a:latin typeface="Calibri"/>
                <a:ea typeface="Calibri"/>
                <a:cs typeface="Calibri"/>
              </a:rPr>
              <a:t>Acne due to </a:t>
            </a:r>
            <a:r>
              <a:rPr lang="en-US" sz="1600" u="sng" dirty="0">
                <a:latin typeface="Calibri"/>
                <a:ea typeface="Calibri"/>
                <a:cs typeface="Calibri"/>
              </a:rPr>
              <a:t>excess Cortisol or hyperandrogenism</a:t>
            </a:r>
            <a:r>
              <a:rPr lang="en-US" sz="1600" dirty="0">
                <a:latin typeface="Calibri"/>
                <a:ea typeface="Calibri"/>
                <a:cs typeface="Calibri"/>
              </a:rPr>
              <a:t>. </a:t>
            </a:r>
            <a:endParaRPr lang="en-US" sz="1600">
              <a:latin typeface="Aptos" panose="020B0004020202020204"/>
              <a:ea typeface="Calibri"/>
              <a:cs typeface="Calibri"/>
            </a:endParaRPr>
          </a:p>
          <a:p>
            <a:pPr marL="228600" lvl="1" indent="-228600">
              <a:buFont typeface=""/>
              <a:buChar char="•"/>
            </a:pPr>
            <a:r>
              <a:rPr lang="en-US" sz="1600" dirty="0">
                <a:latin typeface="Calibri"/>
                <a:ea typeface="Calibri"/>
                <a:cs typeface="Calibri"/>
              </a:rPr>
              <a:t>High cortisol reduces immunity - recurrent infections  </a:t>
            </a:r>
            <a:endParaRPr lang="en-US" sz="1600"/>
          </a:p>
          <a:p>
            <a:pPr marL="228600" lvl="1" indent="-228600">
              <a:buFont typeface=""/>
              <a:buChar char="•"/>
            </a:pPr>
            <a:r>
              <a:rPr lang="en-US" sz="1600" dirty="0">
                <a:latin typeface="Calibri"/>
                <a:ea typeface="Calibri"/>
                <a:cs typeface="Calibri"/>
              </a:rPr>
              <a:t>High risk of  blood clots, MI</a:t>
            </a:r>
          </a:p>
          <a:p>
            <a:pPr marL="228600" indent="-228600">
              <a:buFont typeface=""/>
              <a:buChar char="•"/>
            </a:pPr>
            <a:r>
              <a:rPr lang="en-US" sz="1600" dirty="0">
                <a:latin typeface="Calibri"/>
                <a:ea typeface="Calibri"/>
                <a:cs typeface="Calibri"/>
              </a:rPr>
              <a:t>Hypertension (85%) </a:t>
            </a:r>
            <a:r>
              <a:rPr lang="en-US" sz="1600" dirty="0" err="1">
                <a:latin typeface="Calibri"/>
                <a:ea typeface="Calibri"/>
                <a:cs typeface="Calibri"/>
              </a:rPr>
              <a:t>esp</a:t>
            </a:r>
            <a:r>
              <a:rPr lang="en-US" sz="1600" dirty="0">
                <a:latin typeface="Calibri"/>
                <a:ea typeface="Calibri"/>
                <a:cs typeface="Calibri"/>
              </a:rPr>
              <a:t> diastolic due to increased Na/ H20 retention</a:t>
            </a:r>
          </a:p>
          <a:p>
            <a:pPr marL="228600" indent="-228600">
              <a:buFont typeface=""/>
              <a:buChar char="•"/>
            </a:pPr>
            <a:r>
              <a:rPr lang="en-US" sz="1600" dirty="0">
                <a:latin typeface="Calibri"/>
                <a:ea typeface="Calibri"/>
                <a:cs typeface="Calibri"/>
              </a:rPr>
              <a:t>Proximal muscle weakness (65%) due to </a:t>
            </a:r>
            <a:r>
              <a:rPr lang="en-US" sz="1600" u="sng" dirty="0">
                <a:latin typeface="Calibri"/>
                <a:ea typeface="Calibri"/>
                <a:cs typeface="Calibri"/>
              </a:rPr>
              <a:t>loss of muscle mass and body protein</a:t>
            </a:r>
          </a:p>
          <a:p>
            <a:pPr marL="228600" indent="-228600">
              <a:buFont typeface=""/>
              <a:buChar char="•"/>
            </a:pPr>
            <a:r>
              <a:rPr lang="en-US" sz="1600" dirty="0">
                <a:latin typeface="Calibri"/>
                <a:ea typeface="Calibri"/>
                <a:cs typeface="Calibri"/>
              </a:rPr>
              <a:t>Glucose intolerance or diabetes mellitus (75%) due to </a:t>
            </a:r>
            <a:r>
              <a:rPr lang="en-US" sz="1600" u="sng" dirty="0">
                <a:latin typeface="Calibri"/>
                <a:ea typeface="Calibri"/>
                <a:cs typeface="Calibri"/>
              </a:rPr>
              <a:t>insulin resistance </a:t>
            </a:r>
          </a:p>
          <a:p>
            <a:pPr marL="228600" indent="-228600">
              <a:buFont typeface=""/>
              <a:buChar char="•"/>
            </a:pPr>
            <a:r>
              <a:rPr lang="en-US" sz="1600" dirty="0">
                <a:latin typeface="Calibri"/>
                <a:ea typeface="Calibri"/>
                <a:cs typeface="Calibri"/>
              </a:rPr>
              <a:t>Menstrual irregularities, decreased libido or impotence (70-85%) due to</a:t>
            </a:r>
            <a:r>
              <a:rPr lang="en-US" sz="1600" u="sng" dirty="0">
                <a:latin typeface="Calibri"/>
                <a:ea typeface="Calibri"/>
                <a:cs typeface="Calibri"/>
              </a:rPr>
              <a:t> high androgens and cortisol.</a:t>
            </a:r>
          </a:p>
          <a:p>
            <a:pPr marL="228600" indent="-228600">
              <a:buFont typeface=""/>
              <a:buChar char="•"/>
            </a:pPr>
            <a:r>
              <a:rPr lang="en-US" sz="1600" dirty="0">
                <a:latin typeface="Calibri"/>
                <a:ea typeface="Calibri"/>
                <a:cs typeface="Calibri"/>
              </a:rPr>
              <a:t>Depression or psychosis (85%)</a:t>
            </a:r>
          </a:p>
          <a:p>
            <a:pPr marL="228600" indent="-228600">
              <a:buFont typeface=""/>
              <a:buChar char="•"/>
            </a:pPr>
            <a:r>
              <a:rPr lang="en-US" sz="1600" dirty="0">
                <a:latin typeface="Calibri"/>
                <a:ea typeface="Calibri"/>
                <a:cs typeface="Calibri"/>
              </a:rPr>
              <a:t>Low bone mass (85%) and Osteoporosis due to excess calcium loss in urine,</a:t>
            </a:r>
            <a:r>
              <a:rPr lang="en-US" sz="1600" u="sng" dirty="0">
                <a:latin typeface="Calibri"/>
                <a:ea typeface="Calibri"/>
                <a:cs typeface="Calibri"/>
              </a:rPr>
              <a:t> </a:t>
            </a:r>
            <a:r>
              <a:rPr lang="en-US" sz="1600" dirty="0">
                <a:latin typeface="Calibri"/>
                <a:ea typeface="Calibri"/>
                <a:cs typeface="Calibri"/>
              </a:rPr>
              <a:t> increased osteoclast / reduced osteoblast action, poor calcium absorption </a:t>
            </a:r>
            <a:r>
              <a:rPr lang="en-US" sz="1600" err="1">
                <a:latin typeface="Calibri"/>
                <a:ea typeface="Calibri"/>
                <a:cs typeface="Calibri"/>
              </a:rPr>
              <a:t>etc</a:t>
            </a:r>
            <a:endParaRPr lang="en-US" sz="1600">
              <a:latin typeface="Calibri"/>
              <a:ea typeface="Calibri"/>
              <a:cs typeface="Calibri"/>
            </a:endParaRPr>
          </a:p>
          <a:p>
            <a:pPr marL="228600" indent="-228600">
              <a:buFont typeface=""/>
              <a:buChar char="•"/>
            </a:pPr>
            <a:r>
              <a:rPr lang="en-US" sz="1600" dirty="0">
                <a:latin typeface="Calibri"/>
                <a:ea typeface="Calibri"/>
                <a:cs typeface="Calibri"/>
              </a:rPr>
              <a:t>Hirsutism – excess hair growth (75%) due to </a:t>
            </a:r>
            <a:r>
              <a:rPr lang="en-US" sz="1600" u="sng" dirty="0">
                <a:latin typeface="Calibri"/>
                <a:ea typeface="Calibri"/>
                <a:cs typeface="Calibri"/>
              </a:rPr>
              <a:t>hypersecretion of adrenal androgens</a:t>
            </a:r>
          </a:p>
          <a:p>
            <a:pPr marL="228600" indent="-228600">
              <a:buFont typeface=""/>
              <a:buChar char="•"/>
            </a:pPr>
            <a:r>
              <a:rPr lang="en-US" sz="1600" u="sng" dirty="0">
                <a:latin typeface="Calibri"/>
                <a:ea typeface="Calibri"/>
                <a:cs typeface="Calibri"/>
              </a:rPr>
              <a:t>Reduced linear growth</a:t>
            </a:r>
            <a:r>
              <a:rPr lang="en-US" sz="1600" dirty="0">
                <a:latin typeface="Calibri"/>
                <a:ea typeface="Calibri"/>
                <a:cs typeface="Calibri"/>
              </a:rPr>
              <a:t> in kids </a:t>
            </a:r>
          </a:p>
        </p:txBody>
      </p:sp>
      <p:pic>
        <p:nvPicPr>
          <p:cNvPr id="3" name="Picture 2" descr="A diagram of a person&amp;#39;s body&#10;&#10;AI-generated content may be incorrect.">
            <a:extLst>
              <a:ext uri="{FF2B5EF4-FFF2-40B4-BE49-F238E27FC236}">
                <a16:creationId xmlns:a16="http://schemas.microsoft.com/office/drawing/2014/main" id="{B5437D2A-F9E6-75BC-1BAA-99D84A33C015}"/>
              </a:ext>
            </a:extLst>
          </p:cNvPr>
          <p:cNvPicPr>
            <a:picLocks noChangeAspect="1"/>
          </p:cNvPicPr>
          <p:nvPr/>
        </p:nvPicPr>
        <p:blipFill>
          <a:blip r:embed="rId2"/>
          <a:stretch>
            <a:fillRect/>
          </a:stretch>
        </p:blipFill>
        <p:spPr>
          <a:xfrm>
            <a:off x="7319962" y="1133475"/>
            <a:ext cx="3667125" cy="5553075"/>
          </a:xfrm>
          <a:prstGeom prst="rect">
            <a:avLst/>
          </a:prstGeom>
        </p:spPr>
      </p:pic>
      <p:sp>
        <p:nvSpPr>
          <p:cNvPr id="4" name="Star: 5 Points 3">
            <a:extLst>
              <a:ext uri="{FF2B5EF4-FFF2-40B4-BE49-F238E27FC236}">
                <a16:creationId xmlns:a16="http://schemas.microsoft.com/office/drawing/2014/main" id="{B103B4AB-64FE-B3BD-EE0A-AA63C6ACBBD5}"/>
              </a:ext>
            </a:extLst>
          </p:cNvPr>
          <p:cNvSpPr/>
          <p:nvPr/>
        </p:nvSpPr>
        <p:spPr>
          <a:xfrm>
            <a:off x="656347" y="490183"/>
            <a:ext cx="311889" cy="41821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8879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lose-up of skin rashes&#10;&#10;AI-generated content may be incorrect.">
            <a:extLst>
              <a:ext uri="{FF2B5EF4-FFF2-40B4-BE49-F238E27FC236}">
                <a16:creationId xmlns:a16="http://schemas.microsoft.com/office/drawing/2014/main" id="{E3DF42DF-0AF8-090D-9073-16603D9AE82C}"/>
              </a:ext>
            </a:extLst>
          </p:cNvPr>
          <p:cNvPicPr>
            <a:picLocks noChangeAspect="1"/>
          </p:cNvPicPr>
          <p:nvPr/>
        </p:nvPicPr>
        <p:blipFill>
          <a:blip r:embed="rId2"/>
          <a:stretch>
            <a:fillRect/>
          </a:stretch>
        </p:blipFill>
        <p:spPr>
          <a:xfrm>
            <a:off x="942975" y="147638"/>
            <a:ext cx="10306050" cy="6562725"/>
          </a:xfrm>
          <a:prstGeom prst="rect">
            <a:avLst/>
          </a:prstGeom>
        </p:spPr>
      </p:pic>
    </p:spTree>
    <p:extLst>
      <p:ext uri="{BB962C8B-B14F-4D97-AF65-F5344CB8AC3E}">
        <p14:creationId xmlns:p14="http://schemas.microsoft.com/office/powerpoint/2010/main" val="1315305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white text with black text&#10;&#10;AI-generated content may be incorrect.">
            <a:extLst>
              <a:ext uri="{FF2B5EF4-FFF2-40B4-BE49-F238E27FC236}">
                <a16:creationId xmlns:a16="http://schemas.microsoft.com/office/drawing/2014/main" id="{9CFC1383-B5E9-C95B-77C0-1DF517EEB340}"/>
              </a:ext>
            </a:extLst>
          </p:cNvPr>
          <p:cNvPicPr>
            <a:picLocks noChangeAspect="1"/>
          </p:cNvPicPr>
          <p:nvPr/>
        </p:nvPicPr>
        <p:blipFill>
          <a:blip r:embed="rId2"/>
          <a:stretch>
            <a:fillRect/>
          </a:stretch>
        </p:blipFill>
        <p:spPr>
          <a:xfrm>
            <a:off x="204788" y="747713"/>
            <a:ext cx="11782425" cy="5362575"/>
          </a:xfrm>
          <a:prstGeom prst="rect">
            <a:avLst/>
          </a:prstGeom>
        </p:spPr>
      </p:pic>
    </p:spTree>
    <p:extLst>
      <p:ext uri="{BB962C8B-B14F-4D97-AF65-F5344CB8AC3E}">
        <p14:creationId xmlns:p14="http://schemas.microsoft.com/office/powerpoint/2010/main" val="1355559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B015F-AE59-294C-9884-4CBAE725F8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1AFEF-D58A-CDF1-9530-A450AE9C0DBC}"/>
              </a:ext>
            </a:extLst>
          </p:cNvPr>
          <p:cNvSpPr>
            <a:spLocks noGrp="1"/>
          </p:cNvSpPr>
          <p:nvPr>
            <p:ph type="title"/>
          </p:nvPr>
        </p:nvSpPr>
        <p:spPr/>
        <p:txBody>
          <a:bodyPr/>
          <a:lstStyle/>
          <a:p>
            <a:r>
              <a:rPr lang="en-US" dirty="0"/>
              <a:t>Causes of Cushing syndrome</a:t>
            </a:r>
          </a:p>
        </p:txBody>
      </p:sp>
      <p:sp>
        <p:nvSpPr>
          <p:cNvPr id="3" name="Content Placeholder 2">
            <a:extLst>
              <a:ext uri="{FF2B5EF4-FFF2-40B4-BE49-F238E27FC236}">
                <a16:creationId xmlns:a16="http://schemas.microsoft.com/office/drawing/2014/main" id="{C7B1225A-2A6A-3A1C-97F7-2F5F4E903A9B}"/>
              </a:ext>
            </a:extLst>
          </p:cNvPr>
          <p:cNvSpPr>
            <a:spLocks noGrp="1"/>
          </p:cNvSpPr>
          <p:nvPr>
            <p:ph idx="1"/>
          </p:nvPr>
        </p:nvSpPr>
        <p:spPr/>
        <p:txBody>
          <a:bodyPr vert="horz" lIns="91440" tIns="45720" rIns="91440" bIns="45720" rtlCol="0" anchor="t">
            <a:normAutofit/>
          </a:bodyPr>
          <a:lstStyle/>
          <a:p>
            <a:pPr marL="0" indent="0">
              <a:buNone/>
            </a:pPr>
            <a:endParaRPr lang="en-US" sz="2000" dirty="0">
              <a:latin typeface="Calibri"/>
              <a:ea typeface="Calibri"/>
              <a:cs typeface="Calibri"/>
            </a:endParaRPr>
          </a:p>
          <a:p>
            <a:pPr>
              <a:buFont typeface="Calibri" panose="020B0604020202020204" pitchFamily="34" charset="0"/>
              <a:buChar char="-"/>
            </a:pPr>
            <a:r>
              <a:rPr lang="en-US" sz="2000" b="1" dirty="0">
                <a:latin typeface="Calibri"/>
                <a:ea typeface="Calibri"/>
                <a:cs typeface="Calibri"/>
              </a:rPr>
              <a:t>ACTH-dependent</a:t>
            </a:r>
            <a:r>
              <a:rPr lang="en-US" sz="2000" dirty="0">
                <a:latin typeface="Calibri"/>
                <a:ea typeface="Calibri"/>
                <a:cs typeface="Calibri"/>
              </a:rPr>
              <a:t> = Pituitary adenoma (Cushing disease 80%) or nonpituitary neoplasm (ectopic ACTH- small cell cancer lung </a:t>
            </a:r>
            <a:r>
              <a:rPr lang="en-US" sz="2000" dirty="0" err="1">
                <a:latin typeface="Calibri"/>
                <a:ea typeface="Calibri"/>
                <a:cs typeface="Calibri"/>
              </a:rPr>
              <a:t>etc</a:t>
            </a:r>
            <a:r>
              <a:rPr lang="en-US" sz="2000" dirty="0">
                <a:latin typeface="Calibri"/>
                <a:ea typeface="Calibri"/>
                <a:cs typeface="Calibri"/>
              </a:rPr>
              <a:t>)</a:t>
            </a:r>
            <a:endParaRPr lang="en-US" sz="2000" dirty="0"/>
          </a:p>
          <a:p>
            <a:r>
              <a:rPr lang="en-US" sz="2000" b="1" dirty="0">
                <a:latin typeface="Calibri"/>
                <a:ea typeface="Calibri"/>
                <a:cs typeface="Calibri"/>
              </a:rPr>
              <a:t>ACTH-independent</a:t>
            </a:r>
            <a:r>
              <a:rPr lang="en-US" sz="2000" dirty="0">
                <a:latin typeface="Calibri"/>
                <a:ea typeface="Calibri"/>
                <a:cs typeface="Calibri"/>
              </a:rPr>
              <a:t> = </a:t>
            </a:r>
            <a:r>
              <a:rPr lang="en-US" sz="2000" dirty="0">
                <a:solidFill>
                  <a:srgbClr val="FF0000"/>
                </a:solidFill>
                <a:latin typeface="Calibri"/>
                <a:ea typeface="Calibri"/>
                <a:cs typeface="Calibri"/>
              </a:rPr>
              <a:t>Iatrogenic (glucocorticoid use)</a:t>
            </a:r>
            <a:r>
              <a:rPr lang="en-US" sz="2000" dirty="0">
                <a:latin typeface="Calibri"/>
                <a:ea typeface="Calibri"/>
                <a:cs typeface="Calibri"/>
              </a:rPr>
              <a:t>, Adrenal neoplasm (adenoma, carcinoma), or nodular adrenal hyperplasia</a:t>
            </a:r>
            <a:endParaRPr lang="en-US" sz="2000" dirty="0"/>
          </a:p>
          <a:p>
            <a:endParaRPr lang="en-US" sz="2000" dirty="0">
              <a:latin typeface="Calibri"/>
              <a:ea typeface="Calibri"/>
              <a:cs typeface="Calibri"/>
            </a:endParaRPr>
          </a:p>
          <a:p>
            <a:r>
              <a:rPr lang="en-US" sz="2000" dirty="0">
                <a:latin typeface="Calibri"/>
                <a:ea typeface="Calibri"/>
                <a:cs typeface="Calibri"/>
              </a:rPr>
              <a:t>Pseudo- Cushing- Clinically similar to Cushing syndrome , but tests are nonconclusive. It seen in people with chronic alcoholism, depression etc.</a:t>
            </a:r>
          </a:p>
          <a:p>
            <a:endParaRPr lang="en-US" sz="2000" dirty="0"/>
          </a:p>
        </p:txBody>
      </p:sp>
    </p:spTree>
    <p:extLst>
      <p:ext uri="{BB962C8B-B14F-4D97-AF65-F5344CB8AC3E}">
        <p14:creationId xmlns:p14="http://schemas.microsoft.com/office/powerpoint/2010/main" val="606321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BBD7A-F581-1A70-C841-F3FDC1C6A358}"/>
              </a:ext>
            </a:extLst>
          </p:cNvPr>
          <p:cNvSpPr>
            <a:spLocks noGrp="1"/>
          </p:cNvSpPr>
          <p:nvPr>
            <p:ph type="title"/>
          </p:nvPr>
        </p:nvSpPr>
        <p:spPr/>
        <p:txBody>
          <a:bodyPr/>
          <a:lstStyle/>
          <a:p>
            <a:endParaRPr lang="en-US"/>
          </a:p>
        </p:txBody>
      </p:sp>
      <p:pic>
        <p:nvPicPr>
          <p:cNvPr id="4" name="Content Placeholder 3" descr="A diagram of a disease&#10;&#10;AI-generated content may be incorrect.">
            <a:extLst>
              <a:ext uri="{FF2B5EF4-FFF2-40B4-BE49-F238E27FC236}">
                <a16:creationId xmlns:a16="http://schemas.microsoft.com/office/drawing/2014/main" id="{3B986E4A-DB95-5F28-3B2C-E27C47DBE0D3}"/>
              </a:ext>
            </a:extLst>
          </p:cNvPr>
          <p:cNvPicPr>
            <a:picLocks noGrp="1" noChangeAspect="1"/>
          </p:cNvPicPr>
          <p:nvPr>
            <p:ph idx="1"/>
          </p:nvPr>
        </p:nvPicPr>
        <p:blipFill>
          <a:blip r:embed="rId2"/>
          <a:stretch>
            <a:fillRect/>
          </a:stretch>
        </p:blipFill>
        <p:spPr>
          <a:xfrm>
            <a:off x="2714556" y="1825625"/>
            <a:ext cx="6762887" cy="4351338"/>
          </a:xfrm>
        </p:spPr>
      </p:pic>
      <p:sp>
        <p:nvSpPr>
          <p:cNvPr id="3" name="Star: 5 Points 2">
            <a:extLst>
              <a:ext uri="{FF2B5EF4-FFF2-40B4-BE49-F238E27FC236}">
                <a16:creationId xmlns:a16="http://schemas.microsoft.com/office/drawing/2014/main" id="{7B89C9AA-800F-900A-A889-7E6554DABD9D}"/>
              </a:ext>
            </a:extLst>
          </p:cNvPr>
          <p:cNvSpPr/>
          <p:nvPr/>
        </p:nvSpPr>
        <p:spPr>
          <a:xfrm>
            <a:off x="731121" y="1628406"/>
            <a:ext cx="373912" cy="44479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40030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0B6B7-06AD-9373-C51D-58BB0BA88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30AA6C-3593-120E-BFB1-0AEA7D0B0709}"/>
              </a:ext>
            </a:extLst>
          </p:cNvPr>
          <p:cNvSpPr>
            <a:spLocks noGrp="1"/>
          </p:cNvSpPr>
          <p:nvPr>
            <p:ph type="title"/>
          </p:nvPr>
        </p:nvSpPr>
        <p:spPr/>
        <p:txBody>
          <a:bodyPr/>
          <a:lstStyle/>
          <a:p>
            <a:r>
              <a:rPr lang="en-US" dirty="0"/>
              <a:t>Testing - 3</a:t>
            </a:r>
          </a:p>
        </p:txBody>
      </p:sp>
      <p:pic>
        <p:nvPicPr>
          <p:cNvPr id="4" name="Content Placeholder 3" descr="A graph showing the time of the sun&#10;&#10;AI-generated content may be incorrect.">
            <a:extLst>
              <a:ext uri="{FF2B5EF4-FFF2-40B4-BE49-F238E27FC236}">
                <a16:creationId xmlns:a16="http://schemas.microsoft.com/office/drawing/2014/main" id="{E80A533D-0173-9CBE-DC5C-AA352D27615F}"/>
              </a:ext>
            </a:extLst>
          </p:cNvPr>
          <p:cNvPicPr>
            <a:picLocks noGrp="1" noChangeAspect="1"/>
          </p:cNvPicPr>
          <p:nvPr>
            <p:ph idx="1"/>
          </p:nvPr>
        </p:nvPicPr>
        <p:blipFill>
          <a:blip r:embed="rId2"/>
          <a:stretch>
            <a:fillRect/>
          </a:stretch>
        </p:blipFill>
        <p:spPr>
          <a:xfrm>
            <a:off x="520740" y="2011413"/>
            <a:ext cx="4692810" cy="2831939"/>
          </a:xfrm>
        </p:spPr>
      </p:pic>
      <p:sp>
        <p:nvSpPr>
          <p:cNvPr id="5" name="TextBox 4">
            <a:extLst>
              <a:ext uri="{FF2B5EF4-FFF2-40B4-BE49-F238E27FC236}">
                <a16:creationId xmlns:a16="http://schemas.microsoft.com/office/drawing/2014/main" id="{5B7C13F0-9FFA-A645-D8A9-4717E1C7C87E}"/>
              </a:ext>
            </a:extLst>
          </p:cNvPr>
          <p:cNvSpPr txBox="1"/>
          <p:nvPr/>
        </p:nvSpPr>
        <p:spPr>
          <a:xfrm>
            <a:off x="6769260" y="94527"/>
            <a:ext cx="4681959"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Calibri"/>
                <a:ea typeface="Calibri"/>
                <a:cs typeface="Calibri"/>
              </a:rPr>
              <a:t>There are 3 tests that are used for diagnosis. If one test is abnormal, it is </a:t>
            </a:r>
            <a:r>
              <a:rPr lang="en-US" dirty="0">
                <a:solidFill>
                  <a:srgbClr val="FF0000"/>
                </a:solidFill>
                <a:latin typeface="Calibri"/>
                <a:ea typeface="Calibri"/>
                <a:cs typeface="Calibri"/>
              </a:rPr>
              <a:t>recommended to confirm with another test and also to repeat t</a:t>
            </a:r>
            <a:r>
              <a:rPr lang="en-US" dirty="0">
                <a:latin typeface="Calibri"/>
                <a:ea typeface="Calibri"/>
                <a:cs typeface="Calibri"/>
              </a:rPr>
              <a:t>he test</a:t>
            </a:r>
            <a:br>
              <a:rPr lang="en-US" dirty="0"/>
            </a:br>
            <a:r>
              <a:rPr lang="en-US" b="1" dirty="0">
                <a:latin typeface="Calibri"/>
                <a:ea typeface="Calibri"/>
                <a:cs typeface="Calibri"/>
              </a:rPr>
              <a:t>1. Low dose  1 mg dexamethasone suppression test</a:t>
            </a:r>
            <a:r>
              <a:rPr lang="en-US" dirty="0">
                <a:latin typeface="Calibri"/>
                <a:ea typeface="Calibri"/>
                <a:cs typeface="Calibri"/>
              </a:rPr>
              <a:t>  Rationale is that Dexamethasone should suppress plasma cortisol in healthy subjects to less than 1.8 ug/dL following an overnight 1 mg test. Dexamethasone provides negative feedback to the HPA axis, thus blocking production of natural corticoids as the binding of dexamethasone to glucocorticoid receptors in hypothalamus –this inhibits corticotropin-releasing hormone, which blocks ACTH secretion. </a:t>
            </a:r>
            <a:br>
              <a:rPr lang="en-US" dirty="0"/>
            </a:br>
            <a:r>
              <a:rPr lang="en-US" b="1" dirty="0">
                <a:latin typeface="Calibri"/>
                <a:ea typeface="Calibri"/>
                <a:cs typeface="Calibri"/>
              </a:rPr>
              <a:t>2. 24-hr urinary cortisol </a:t>
            </a:r>
            <a:r>
              <a:rPr lang="en-US" dirty="0">
                <a:latin typeface="Calibri"/>
                <a:ea typeface="Calibri"/>
                <a:cs typeface="Calibri"/>
              </a:rPr>
              <a:t>– A 24 hour urine free cortisol level reflects the cortisol secretion throughout an entire day. . </a:t>
            </a:r>
            <a:br>
              <a:rPr lang="en-US" dirty="0"/>
            </a:br>
            <a:r>
              <a:rPr lang="en-US" b="1" dirty="0">
                <a:latin typeface="Calibri"/>
                <a:ea typeface="Calibri"/>
                <a:cs typeface="Calibri"/>
              </a:rPr>
              <a:t>3. Late night salivary cortisol test</a:t>
            </a:r>
            <a:r>
              <a:rPr lang="en-US" dirty="0">
                <a:latin typeface="Calibri"/>
                <a:ea typeface="Calibri"/>
                <a:cs typeface="Calibri"/>
              </a:rPr>
              <a:t> – This is one of t</a:t>
            </a:r>
            <a:r>
              <a:rPr lang="en-US" dirty="0">
                <a:solidFill>
                  <a:srgbClr val="FF0000"/>
                </a:solidFill>
                <a:latin typeface="Calibri"/>
                <a:ea typeface="Calibri"/>
                <a:cs typeface="Calibri"/>
              </a:rPr>
              <a:t>he most sensitive </a:t>
            </a:r>
            <a:r>
              <a:rPr lang="en-US" dirty="0">
                <a:latin typeface="Calibri"/>
                <a:ea typeface="Calibri"/>
                <a:cs typeface="Calibri"/>
              </a:rPr>
              <a:t>diagnostic tests for Cushing’s syndrome. </a:t>
            </a:r>
            <a:r>
              <a:rPr lang="en-US" u="sng" dirty="0">
                <a:latin typeface="Calibri"/>
                <a:ea typeface="Calibri"/>
                <a:cs typeface="Calibri"/>
              </a:rPr>
              <a:t>Elevated cortisol between 11:00 p.m. and midnight</a:t>
            </a:r>
            <a:r>
              <a:rPr lang="en-US" dirty="0">
                <a:latin typeface="Calibri"/>
                <a:ea typeface="Calibri"/>
                <a:cs typeface="Calibri"/>
              </a:rPr>
              <a:t> appears to be the earliest detectable abnormality in many patients </a:t>
            </a:r>
            <a:endParaRPr lang="en-US" dirty="0"/>
          </a:p>
        </p:txBody>
      </p:sp>
    </p:spTree>
    <p:extLst>
      <p:ext uri="{BB962C8B-B14F-4D97-AF65-F5344CB8AC3E}">
        <p14:creationId xmlns:p14="http://schemas.microsoft.com/office/powerpoint/2010/main" val="1592451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8A78F-65B7-3D4B-5CF2-A53A09103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8FF52E-3C70-95F4-04F6-46D100CADADD}"/>
              </a:ext>
            </a:extLst>
          </p:cNvPr>
          <p:cNvSpPr>
            <a:spLocks noGrp="1"/>
          </p:cNvSpPr>
          <p:nvPr>
            <p:ph type="title"/>
          </p:nvPr>
        </p:nvSpPr>
        <p:spPr/>
        <p:txBody>
          <a:bodyPr/>
          <a:lstStyle/>
          <a:p>
            <a:endParaRPr lang="en-US"/>
          </a:p>
        </p:txBody>
      </p:sp>
      <p:pic>
        <p:nvPicPr>
          <p:cNvPr id="4" name="Content Placeholder 3" descr="A diagram of a cushing syndrome&#10;&#10;AI-generated content may be incorrect.">
            <a:extLst>
              <a:ext uri="{FF2B5EF4-FFF2-40B4-BE49-F238E27FC236}">
                <a16:creationId xmlns:a16="http://schemas.microsoft.com/office/drawing/2014/main" id="{F9754CDB-6231-09AC-A1ED-E63E924059F0}"/>
              </a:ext>
            </a:extLst>
          </p:cNvPr>
          <p:cNvPicPr>
            <a:picLocks noGrp="1" noChangeAspect="1"/>
          </p:cNvPicPr>
          <p:nvPr>
            <p:ph idx="1"/>
          </p:nvPr>
        </p:nvPicPr>
        <p:blipFill>
          <a:blip r:embed="rId2"/>
          <a:stretch>
            <a:fillRect/>
          </a:stretch>
        </p:blipFill>
        <p:spPr>
          <a:xfrm>
            <a:off x="173741" y="354606"/>
            <a:ext cx="5246948" cy="5074895"/>
          </a:xfrm>
        </p:spPr>
      </p:pic>
      <p:sp>
        <p:nvSpPr>
          <p:cNvPr id="5" name="TextBox 4">
            <a:extLst>
              <a:ext uri="{FF2B5EF4-FFF2-40B4-BE49-F238E27FC236}">
                <a16:creationId xmlns:a16="http://schemas.microsoft.com/office/drawing/2014/main" id="{00E1A983-A18B-5145-0662-6E15F2CC519E}"/>
              </a:ext>
            </a:extLst>
          </p:cNvPr>
          <p:cNvSpPr txBox="1"/>
          <p:nvPr/>
        </p:nvSpPr>
        <p:spPr>
          <a:xfrm>
            <a:off x="4377160" y="5717894"/>
            <a:ext cx="8549832"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Calibri"/>
                <a:ea typeface="Calibri"/>
                <a:cs typeface="Calibri"/>
              </a:rPr>
              <a:t>ACTH-Independent (Adrenals)</a:t>
            </a:r>
            <a:r>
              <a:rPr lang="en-US" sz="1600" dirty="0">
                <a:latin typeface="Calibri"/>
                <a:ea typeface="Calibri"/>
                <a:cs typeface="Calibri"/>
              </a:rPr>
              <a:t> = ACTH level &lt;5 </a:t>
            </a:r>
            <a:r>
              <a:rPr lang="en-US" sz="1600" err="1">
                <a:latin typeface="Calibri"/>
                <a:ea typeface="Calibri"/>
                <a:cs typeface="Calibri"/>
              </a:rPr>
              <a:t>pg</a:t>
            </a:r>
            <a:r>
              <a:rPr lang="en-US" sz="1600" dirty="0">
                <a:latin typeface="Calibri"/>
                <a:ea typeface="Calibri"/>
                <a:cs typeface="Calibri"/>
              </a:rPr>
              <a:t>/mL </a:t>
            </a:r>
          </a:p>
          <a:p>
            <a:r>
              <a:rPr lang="en-US" sz="1600" b="1" dirty="0">
                <a:latin typeface="Calibri"/>
                <a:ea typeface="Calibri"/>
                <a:cs typeface="Calibri"/>
              </a:rPr>
              <a:t>ACTH-Dependent (ACTH Tumors)</a:t>
            </a:r>
            <a:r>
              <a:rPr lang="en-US" sz="1600" dirty="0">
                <a:latin typeface="Calibri"/>
                <a:ea typeface="Calibri"/>
                <a:cs typeface="Calibri"/>
              </a:rPr>
              <a:t> = ACTH level &gt; 10 </a:t>
            </a:r>
            <a:r>
              <a:rPr lang="en-US" sz="1600" dirty="0" err="1">
                <a:latin typeface="Calibri"/>
                <a:ea typeface="Calibri"/>
                <a:cs typeface="Calibri"/>
              </a:rPr>
              <a:t>pg</a:t>
            </a:r>
            <a:r>
              <a:rPr lang="en-US" sz="1600" dirty="0">
                <a:latin typeface="Calibri"/>
                <a:ea typeface="Calibri"/>
                <a:cs typeface="Calibri"/>
              </a:rPr>
              <a:t>/mL . ACTH secreting tumors are </a:t>
            </a:r>
            <a:r>
              <a:rPr lang="en-US" sz="1600" u="sng" dirty="0">
                <a:latin typeface="Calibri"/>
                <a:ea typeface="Calibri"/>
                <a:cs typeface="Calibri"/>
              </a:rPr>
              <a:t>not responsive</a:t>
            </a:r>
            <a:r>
              <a:rPr lang="en-US" sz="1600" dirty="0">
                <a:latin typeface="Calibri"/>
                <a:ea typeface="Calibri"/>
                <a:cs typeface="Calibri"/>
              </a:rPr>
              <a:t> to negative feedback.</a:t>
            </a:r>
          </a:p>
          <a:p>
            <a:r>
              <a:rPr lang="en-US" sz="1600" dirty="0">
                <a:latin typeface="Calibri"/>
                <a:ea typeface="Calibri"/>
                <a:cs typeface="Calibri"/>
              </a:rPr>
              <a:t>Surgical therapy offered first line. </a:t>
            </a:r>
          </a:p>
          <a:p>
            <a:endParaRPr lang="en-US" sz="1600" dirty="0">
              <a:latin typeface="Calibri"/>
              <a:ea typeface="Calibri"/>
              <a:cs typeface="Calibri"/>
            </a:endParaRPr>
          </a:p>
          <a:p>
            <a:endParaRPr lang="en-US" sz="1600" dirty="0">
              <a:latin typeface="Calibri"/>
              <a:ea typeface="Calibri"/>
              <a:cs typeface="Calibri"/>
            </a:endParaRPr>
          </a:p>
        </p:txBody>
      </p:sp>
      <p:pic>
        <p:nvPicPr>
          <p:cNvPr id="6" name="Picture 5" descr="A diagram of cushing syndrome&#10;&#10;AI-generated content may be incorrect.">
            <a:extLst>
              <a:ext uri="{FF2B5EF4-FFF2-40B4-BE49-F238E27FC236}">
                <a16:creationId xmlns:a16="http://schemas.microsoft.com/office/drawing/2014/main" id="{C7EF98AD-F0DC-8DC4-256B-D1F109054552}"/>
              </a:ext>
            </a:extLst>
          </p:cNvPr>
          <p:cNvPicPr>
            <a:picLocks noChangeAspect="1"/>
          </p:cNvPicPr>
          <p:nvPr/>
        </p:nvPicPr>
        <p:blipFill>
          <a:blip r:embed="rId3"/>
          <a:stretch>
            <a:fillRect/>
          </a:stretch>
        </p:blipFill>
        <p:spPr>
          <a:xfrm>
            <a:off x="6221453" y="434352"/>
            <a:ext cx="4861245" cy="4908991"/>
          </a:xfrm>
          <a:prstGeom prst="rect">
            <a:avLst/>
          </a:prstGeom>
        </p:spPr>
      </p:pic>
      <p:sp>
        <p:nvSpPr>
          <p:cNvPr id="7" name="TextBox 6">
            <a:extLst>
              <a:ext uri="{FF2B5EF4-FFF2-40B4-BE49-F238E27FC236}">
                <a16:creationId xmlns:a16="http://schemas.microsoft.com/office/drawing/2014/main" id="{24475D49-22CD-F2ED-91B9-D69999E7AF3D}"/>
              </a:ext>
            </a:extLst>
          </p:cNvPr>
          <p:cNvSpPr txBox="1"/>
          <p:nvPr/>
        </p:nvSpPr>
        <p:spPr>
          <a:xfrm>
            <a:off x="241139" y="125392"/>
            <a:ext cx="15336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Step 1 </a:t>
            </a:r>
          </a:p>
        </p:txBody>
      </p:sp>
      <p:sp>
        <p:nvSpPr>
          <p:cNvPr id="8" name="TextBox 7">
            <a:extLst>
              <a:ext uri="{FF2B5EF4-FFF2-40B4-BE49-F238E27FC236}">
                <a16:creationId xmlns:a16="http://schemas.microsoft.com/office/drawing/2014/main" id="{0993BA39-DFF0-3763-4891-5D232B7FC7C5}"/>
              </a:ext>
            </a:extLst>
          </p:cNvPr>
          <p:cNvSpPr txBox="1"/>
          <p:nvPr/>
        </p:nvSpPr>
        <p:spPr>
          <a:xfrm>
            <a:off x="5768050" y="279721"/>
            <a:ext cx="106101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Step 2 </a:t>
            </a:r>
          </a:p>
        </p:txBody>
      </p:sp>
    </p:spTree>
    <p:extLst>
      <p:ext uri="{BB962C8B-B14F-4D97-AF65-F5344CB8AC3E}">
        <p14:creationId xmlns:p14="http://schemas.microsoft.com/office/powerpoint/2010/main" val="37826512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75F9B-6FE9-8DD1-31F7-80DD43CD2BEC}"/>
              </a:ext>
            </a:extLst>
          </p:cNvPr>
          <p:cNvSpPr>
            <a:spLocks noGrp="1"/>
          </p:cNvSpPr>
          <p:nvPr>
            <p:ph type="title"/>
          </p:nvPr>
        </p:nvSpPr>
        <p:spPr/>
        <p:txBody>
          <a:bodyPr/>
          <a:lstStyle/>
          <a:p>
            <a:r>
              <a:rPr lang="en-US" dirty="0"/>
              <a:t>Treatment </a:t>
            </a:r>
          </a:p>
        </p:txBody>
      </p:sp>
      <p:sp>
        <p:nvSpPr>
          <p:cNvPr id="3" name="Content Placeholder 2">
            <a:extLst>
              <a:ext uri="{FF2B5EF4-FFF2-40B4-BE49-F238E27FC236}">
                <a16:creationId xmlns:a16="http://schemas.microsoft.com/office/drawing/2014/main" id="{426D8A00-2BA2-EC93-924E-8F8E60071BFE}"/>
              </a:ext>
            </a:extLst>
          </p:cNvPr>
          <p:cNvSpPr>
            <a:spLocks noGrp="1"/>
          </p:cNvSpPr>
          <p:nvPr>
            <p:ph idx="1"/>
          </p:nvPr>
        </p:nvSpPr>
        <p:spPr/>
        <p:txBody>
          <a:bodyPr vert="horz" lIns="91440" tIns="45720" rIns="91440" bIns="45720" rtlCol="0" anchor="t">
            <a:normAutofit/>
          </a:bodyPr>
          <a:lstStyle/>
          <a:p>
            <a:r>
              <a:rPr lang="en-US" sz="1600" dirty="0">
                <a:latin typeface="PT Serif"/>
              </a:rPr>
              <a:t>Exogenous (iatrogenic) disease is treated by lowering the glucocorticoid dose or removing the drug, if possible. The drug should be tapered off, not stopped abruptly, to avoid acute </a:t>
            </a:r>
            <a:r>
              <a:rPr lang="en-US" sz="1600" u="sng" dirty="0">
                <a:latin typeface="PT Serif"/>
              </a:rPr>
              <a:t>adrenal insufficiency.</a:t>
            </a:r>
            <a:endParaRPr lang="en-US" dirty="0"/>
          </a:p>
          <a:p>
            <a:r>
              <a:rPr lang="en-US" sz="1600" dirty="0">
                <a:latin typeface="PT Serif"/>
              </a:rPr>
              <a:t>Pituitary adenomas can be surgically resected.</a:t>
            </a:r>
            <a:endParaRPr lang="en-US"/>
          </a:p>
          <a:p>
            <a:r>
              <a:rPr lang="en-US" sz="1600" dirty="0">
                <a:latin typeface="PT Serif"/>
              </a:rPr>
              <a:t>Adrenal adenomas and bilateral adrenal hyperplasia are treated with adrenalectomy, sometimes along with drugs that inhibit the synthesis of cortisol; such medicines include </a:t>
            </a:r>
            <a:r>
              <a:rPr lang="en-US" sz="1600" u="sng" dirty="0">
                <a:latin typeface="PT Serif"/>
              </a:rPr>
              <a:t>metyrapone, ketoconazole, and mitotane.</a:t>
            </a:r>
            <a:endParaRPr lang="en-US"/>
          </a:p>
          <a:p>
            <a:r>
              <a:rPr lang="en-US" sz="1600" dirty="0">
                <a:latin typeface="PT Serif"/>
              </a:rPr>
              <a:t>Ectopic cancers are located and treated surgically or with chemotherapy, depending on the cancer. Cortisol-reducing drugs can be used in cancer for unresectable metastatic disease.</a:t>
            </a:r>
            <a:endParaRPr lang="en-US"/>
          </a:p>
          <a:p>
            <a:endParaRPr lang="en-US" dirty="0"/>
          </a:p>
        </p:txBody>
      </p:sp>
    </p:spTree>
    <p:extLst>
      <p:ext uri="{BB962C8B-B14F-4D97-AF65-F5344CB8AC3E}">
        <p14:creationId xmlns:p14="http://schemas.microsoft.com/office/powerpoint/2010/main" val="30567027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9D2F0-9294-07A1-0430-531B76EF69BD}"/>
              </a:ext>
            </a:extLst>
          </p:cNvPr>
          <p:cNvSpPr>
            <a:spLocks noGrp="1"/>
          </p:cNvSpPr>
          <p:nvPr>
            <p:ph type="title"/>
          </p:nvPr>
        </p:nvSpPr>
        <p:spPr/>
        <p:txBody>
          <a:bodyPr/>
          <a:lstStyle/>
          <a:p>
            <a:r>
              <a:rPr lang="en-US" sz="3600" dirty="0"/>
              <a:t>Aldosterone excess- </a:t>
            </a:r>
            <a:br>
              <a:rPr lang="en-US" sz="3600" dirty="0"/>
            </a:br>
            <a:r>
              <a:rPr lang="en-US" sz="3600" dirty="0"/>
              <a:t>Primary hyperaldosteronism</a:t>
            </a:r>
          </a:p>
        </p:txBody>
      </p:sp>
      <p:sp>
        <p:nvSpPr>
          <p:cNvPr id="3" name="Content Placeholder 2">
            <a:extLst>
              <a:ext uri="{FF2B5EF4-FFF2-40B4-BE49-F238E27FC236}">
                <a16:creationId xmlns:a16="http://schemas.microsoft.com/office/drawing/2014/main" id="{581EAFF0-EE71-80FE-A74F-523F32AFCDEF}"/>
              </a:ext>
            </a:extLst>
          </p:cNvPr>
          <p:cNvSpPr>
            <a:spLocks noGrp="1"/>
          </p:cNvSpPr>
          <p:nvPr>
            <p:ph idx="1"/>
          </p:nvPr>
        </p:nvSpPr>
        <p:spPr/>
        <p:txBody>
          <a:bodyPr vert="horz" lIns="91440" tIns="45720" rIns="91440" bIns="45720" rtlCol="0" anchor="t">
            <a:normAutofit/>
          </a:bodyPr>
          <a:lstStyle/>
          <a:p>
            <a:r>
              <a:rPr lang="en-US" sz="2400" dirty="0"/>
              <a:t>Aldosterone producing adenoma </a:t>
            </a:r>
          </a:p>
          <a:p>
            <a:pPr marL="0" indent="0">
              <a:buNone/>
            </a:pPr>
            <a:r>
              <a:rPr lang="en-US" sz="2400" dirty="0"/>
              <a:t>or bilateral hyperplasia</a:t>
            </a:r>
          </a:p>
          <a:p>
            <a:pPr marL="0" indent="0">
              <a:buNone/>
            </a:pPr>
            <a:r>
              <a:rPr lang="en-US" sz="2400" dirty="0"/>
              <a:t>Labs- High aldosterone and Low renin</a:t>
            </a:r>
          </a:p>
          <a:p>
            <a:r>
              <a:rPr lang="en-US" sz="2400" dirty="0"/>
              <a:t>Difficult to control HTN , hypokalemia</a:t>
            </a:r>
          </a:p>
          <a:p>
            <a:r>
              <a:rPr lang="en-US" sz="2400" dirty="0"/>
              <a:t>Treatment - </a:t>
            </a:r>
          </a:p>
          <a:p>
            <a:pPr>
              <a:buFont typeface="Calibri" panose="020B0604020202020204" pitchFamily="34" charset="0"/>
              <a:buChar char="-"/>
            </a:pPr>
            <a:r>
              <a:rPr lang="en-US" sz="2400" dirty="0"/>
              <a:t>Medical :Spironolactone, eplerenone</a:t>
            </a:r>
          </a:p>
          <a:p>
            <a:pPr marL="0" indent="0">
              <a:buNone/>
            </a:pPr>
            <a:r>
              <a:rPr lang="en-US" sz="2400" dirty="0"/>
              <a:t>( aldosterone receptor antagonist)</a:t>
            </a:r>
          </a:p>
          <a:p>
            <a:pPr marL="0" indent="0">
              <a:buNone/>
            </a:pPr>
            <a:r>
              <a:rPr lang="en-US" sz="2400" dirty="0"/>
              <a:t>Improve myocardial remodeling</a:t>
            </a:r>
          </a:p>
          <a:p>
            <a:pPr>
              <a:buFont typeface="Calibri" panose="020B0604020202020204" pitchFamily="34" charset="0"/>
              <a:buChar char="-"/>
            </a:pPr>
            <a:r>
              <a:rPr lang="en-US" sz="2400" dirty="0"/>
              <a:t>Surgical removal after localization</a:t>
            </a:r>
          </a:p>
          <a:p>
            <a:endParaRPr lang="en-US" sz="2400" dirty="0"/>
          </a:p>
        </p:txBody>
      </p:sp>
      <p:sp>
        <p:nvSpPr>
          <p:cNvPr id="4" name="TextBox 3">
            <a:extLst>
              <a:ext uri="{FF2B5EF4-FFF2-40B4-BE49-F238E27FC236}">
                <a16:creationId xmlns:a16="http://schemas.microsoft.com/office/drawing/2014/main" id="{6525A740-3FAC-72EB-356E-EDE0DB71546F}"/>
              </a:ext>
            </a:extLst>
          </p:cNvPr>
          <p:cNvSpPr txBox="1"/>
          <p:nvPr/>
        </p:nvSpPr>
        <p:spPr>
          <a:xfrm>
            <a:off x="6334125" y="4781550"/>
            <a:ext cx="597217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1200" b="1">
                <a:latin typeface="Calibri"/>
                <a:ea typeface="Calibri"/>
                <a:cs typeface="Calibri"/>
              </a:rPr>
              <a:t>Aldosterone</a:t>
            </a:r>
            <a:r>
              <a:rPr lang="en-US" sz="1200">
                <a:latin typeface="Calibri"/>
                <a:ea typeface="Calibri"/>
                <a:cs typeface="Calibri"/>
              </a:rPr>
              <a:t> is secreted from the zona glomerulosa under the primary control of </a:t>
            </a:r>
            <a:r>
              <a:rPr lang="en-US" sz="1200" b="1">
                <a:latin typeface="Calibri"/>
                <a:ea typeface="Calibri"/>
                <a:cs typeface="Calibri"/>
              </a:rPr>
              <a:t>angiotensin II</a:t>
            </a:r>
            <a:r>
              <a:rPr lang="en-US" sz="1200">
                <a:latin typeface="Calibri"/>
                <a:ea typeface="Calibri"/>
                <a:cs typeface="Calibri"/>
              </a:rPr>
              <a:t>, potassium, and corticotropin (ACTH). </a:t>
            </a:r>
          </a:p>
          <a:p>
            <a:pPr marL="228600" indent="-228600">
              <a:buFont typeface=""/>
              <a:buChar char="•"/>
            </a:pPr>
            <a:r>
              <a:rPr lang="en-US" sz="1200">
                <a:latin typeface="Calibri"/>
                <a:ea typeface="Calibri"/>
                <a:cs typeface="Calibri"/>
              </a:rPr>
              <a:t>The secretion of aldosterone is restricted to the zona glomerulosa because of zonal-specific expression of aldosterone synthase (CYP11B2)</a:t>
            </a:r>
          </a:p>
          <a:p>
            <a:pPr marL="228600" indent="-228600">
              <a:buFont typeface=""/>
              <a:buChar char="•"/>
            </a:pPr>
            <a:r>
              <a:rPr lang="en-US" sz="1200" b="1">
                <a:latin typeface="Calibri"/>
                <a:ea typeface="Calibri"/>
                <a:cs typeface="Calibri"/>
              </a:rPr>
              <a:t>Aldosterone causes the renal tubules to increase the reabsorption of sodium and water into the blood, while at the same time causing the excretion of potassium (to maintain electrolyte balance). This increases the volume of extracellular fluid in the body, which also increases blood pressure.</a:t>
            </a:r>
          </a:p>
        </p:txBody>
      </p:sp>
      <p:pic>
        <p:nvPicPr>
          <p:cNvPr id="6" name="Content Placeholder 3" descr="Image result for renin angiotensin aldosterone pathway">
            <a:extLst>
              <a:ext uri="{FF2B5EF4-FFF2-40B4-BE49-F238E27FC236}">
                <a16:creationId xmlns:a16="http://schemas.microsoft.com/office/drawing/2014/main" id="{221E3F7C-31AD-EF9E-8155-40EEDBB80CBF}"/>
              </a:ext>
            </a:extLst>
          </p:cNvPr>
          <p:cNvPicPr>
            <a:picLocks noChangeAspect="1"/>
          </p:cNvPicPr>
          <p:nvPr/>
        </p:nvPicPr>
        <p:blipFill>
          <a:blip r:embed="rId2"/>
          <a:stretch>
            <a:fillRect/>
          </a:stretch>
        </p:blipFill>
        <p:spPr>
          <a:xfrm>
            <a:off x="6210300" y="96044"/>
            <a:ext cx="5981700" cy="4362450"/>
          </a:xfrm>
          <a:prstGeom prst="rect">
            <a:avLst/>
          </a:prstGeom>
        </p:spPr>
      </p:pic>
    </p:spTree>
    <p:extLst>
      <p:ext uri="{BB962C8B-B14F-4D97-AF65-F5344CB8AC3E}">
        <p14:creationId xmlns:p14="http://schemas.microsoft.com/office/powerpoint/2010/main" val="34000649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AA9CD-A2C5-C7BF-5480-CAFA22B6E6C4}"/>
              </a:ext>
            </a:extLst>
          </p:cNvPr>
          <p:cNvSpPr>
            <a:spLocks noGrp="1"/>
          </p:cNvSpPr>
          <p:nvPr>
            <p:ph type="title"/>
          </p:nvPr>
        </p:nvSpPr>
        <p:spPr/>
        <p:txBody>
          <a:bodyPr/>
          <a:lstStyle/>
          <a:p>
            <a:r>
              <a:rPr lang="en-US" dirty="0"/>
              <a:t>Adrenal cancer - rare</a:t>
            </a:r>
          </a:p>
        </p:txBody>
      </p:sp>
      <p:sp>
        <p:nvSpPr>
          <p:cNvPr id="3" name="Content Placeholder 2">
            <a:extLst>
              <a:ext uri="{FF2B5EF4-FFF2-40B4-BE49-F238E27FC236}">
                <a16:creationId xmlns:a16="http://schemas.microsoft.com/office/drawing/2014/main" id="{4FCAF794-BE5A-0695-98D3-9DC24DEE84A9}"/>
              </a:ext>
            </a:extLst>
          </p:cNvPr>
          <p:cNvSpPr>
            <a:spLocks noGrp="1"/>
          </p:cNvSpPr>
          <p:nvPr>
            <p:ph idx="1"/>
          </p:nvPr>
        </p:nvSpPr>
        <p:spPr/>
        <p:txBody>
          <a:bodyPr vert="horz" lIns="91440" tIns="45720" rIns="91440" bIns="45720" rtlCol="0" anchor="t">
            <a:normAutofit/>
          </a:bodyPr>
          <a:lstStyle/>
          <a:p>
            <a:r>
              <a:rPr lang="en-US" dirty="0"/>
              <a:t>Usually present with symptoms of excess adrenal androgen precursors- virilization, voice changes, weight loss </a:t>
            </a:r>
            <a:r>
              <a:rPr lang="en-US" err="1"/>
              <a:t>etc</a:t>
            </a:r>
            <a:endParaRPr lang="en-US" dirty="0"/>
          </a:p>
          <a:p>
            <a:r>
              <a:rPr lang="en-US" dirty="0"/>
              <a:t>CT/ PET scan </a:t>
            </a:r>
            <a:r>
              <a:rPr lang="en-US" dirty="0" err="1"/>
              <a:t>etc</a:t>
            </a:r>
          </a:p>
          <a:p>
            <a:r>
              <a:rPr lang="en-US" dirty="0"/>
              <a:t>If adrenal biopsy needed – Rule out pheochromocytoma first (make sure catecholamines are negative) </a:t>
            </a:r>
          </a:p>
          <a:p>
            <a:r>
              <a:rPr lang="en-US" dirty="0"/>
              <a:t>Treatment- Chemotherapy, radiation</a:t>
            </a:r>
          </a:p>
          <a:p>
            <a:endParaRPr lang="en-US" dirty="0"/>
          </a:p>
        </p:txBody>
      </p:sp>
    </p:spTree>
    <p:extLst>
      <p:ext uri="{BB962C8B-B14F-4D97-AF65-F5344CB8AC3E}">
        <p14:creationId xmlns:p14="http://schemas.microsoft.com/office/powerpoint/2010/main" val="16468440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968D8-B6BC-E066-8F26-08A7DE9CF420}"/>
              </a:ext>
            </a:extLst>
          </p:cNvPr>
          <p:cNvSpPr>
            <a:spLocks noGrp="1"/>
          </p:cNvSpPr>
          <p:nvPr>
            <p:ph type="title"/>
          </p:nvPr>
        </p:nvSpPr>
        <p:spPr/>
        <p:txBody>
          <a:bodyPr/>
          <a:lstStyle/>
          <a:p>
            <a:r>
              <a:rPr lang="en-US" dirty="0"/>
              <a:t>Adrenal medulla - Pheochromocytoma</a:t>
            </a:r>
          </a:p>
        </p:txBody>
      </p:sp>
      <p:sp>
        <p:nvSpPr>
          <p:cNvPr id="5" name="Content Placeholder 4">
            <a:extLst>
              <a:ext uri="{FF2B5EF4-FFF2-40B4-BE49-F238E27FC236}">
                <a16:creationId xmlns:a16="http://schemas.microsoft.com/office/drawing/2014/main" id="{E488CC0B-9F49-81BF-3FA9-247D0F70C735}"/>
              </a:ext>
            </a:extLst>
          </p:cNvPr>
          <p:cNvSpPr>
            <a:spLocks noGrp="1"/>
          </p:cNvSpPr>
          <p:nvPr>
            <p:ph idx="1"/>
          </p:nvPr>
        </p:nvSpPr>
        <p:spPr/>
        <p:txBody>
          <a:bodyPr vert="horz" lIns="91440" tIns="45720" rIns="91440" bIns="45720" rtlCol="0" anchor="t">
            <a:normAutofit/>
          </a:bodyPr>
          <a:lstStyle/>
          <a:p>
            <a:r>
              <a:rPr lang="en-US" sz="1600" dirty="0">
                <a:solidFill>
                  <a:srgbClr val="232323"/>
                </a:solidFill>
                <a:latin typeface="PT Serif"/>
                <a:ea typeface="Noto Sans"/>
                <a:cs typeface="Noto Sans"/>
              </a:rPr>
              <a:t>A </a:t>
            </a:r>
            <a:r>
              <a:rPr lang="en-US" sz="1600" u="sng" dirty="0">
                <a:solidFill>
                  <a:srgbClr val="232323"/>
                </a:solidFill>
                <a:latin typeface="PT Serif"/>
                <a:ea typeface="Noto Sans"/>
                <a:cs typeface="Noto Sans"/>
              </a:rPr>
              <a:t>pheochromocytoma is a rare neuroendocrine tumor  of adrenal medulla.</a:t>
            </a:r>
            <a:endParaRPr lang="en-US" dirty="0">
              <a:solidFill>
                <a:srgbClr val="000000"/>
              </a:solidFill>
              <a:latin typeface="Aptos" panose="020B0004020202020204"/>
              <a:ea typeface="Noto Sans"/>
              <a:cs typeface="Noto Sans"/>
            </a:endParaRPr>
          </a:p>
          <a:p>
            <a:r>
              <a:rPr lang="en-US" sz="1600" dirty="0">
                <a:solidFill>
                  <a:srgbClr val="232323"/>
                </a:solidFill>
                <a:latin typeface="PT Serif"/>
                <a:ea typeface="Noto Sans"/>
                <a:cs typeface="Noto Sans"/>
              </a:rPr>
              <a:t>The tachycardia is caused by β</a:t>
            </a:r>
            <a:r>
              <a:rPr lang="en-US" sz="1600" baseline="-25000" dirty="0">
                <a:solidFill>
                  <a:srgbClr val="232323"/>
                </a:solidFill>
                <a:latin typeface="PT Serif"/>
                <a:ea typeface="Noto Sans"/>
                <a:cs typeface="Noto Sans"/>
              </a:rPr>
              <a:t>1</a:t>
            </a:r>
            <a:r>
              <a:rPr lang="en-US" sz="1600" dirty="0">
                <a:solidFill>
                  <a:srgbClr val="232323"/>
                </a:solidFill>
                <a:latin typeface="PT Serif"/>
                <a:ea typeface="Noto Sans"/>
                <a:cs typeface="Noto Sans"/>
              </a:rPr>
              <a:t>-adrenergic stimulation.</a:t>
            </a:r>
            <a:endParaRPr lang="en-US" sz="1600" u="sng" dirty="0">
              <a:solidFill>
                <a:srgbClr val="232323"/>
              </a:solidFill>
              <a:latin typeface="PT Serif"/>
              <a:ea typeface="Noto Sans"/>
              <a:cs typeface="Noto Sans"/>
            </a:endParaRPr>
          </a:p>
          <a:p>
            <a:r>
              <a:rPr lang="en-US" sz="1600" dirty="0">
                <a:solidFill>
                  <a:srgbClr val="232323"/>
                </a:solidFill>
                <a:latin typeface="PT Serif"/>
                <a:ea typeface="Noto Sans"/>
                <a:cs typeface="Noto Sans"/>
              </a:rPr>
              <a:t>α</a:t>
            </a:r>
            <a:r>
              <a:rPr lang="en-US" sz="1600" baseline="-25000" dirty="0">
                <a:solidFill>
                  <a:srgbClr val="232323"/>
                </a:solidFill>
                <a:latin typeface="PT Serif"/>
                <a:ea typeface="Noto Sans"/>
                <a:cs typeface="Noto Sans"/>
              </a:rPr>
              <a:t>1</a:t>
            </a:r>
            <a:r>
              <a:rPr lang="en-US" sz="1600" dirty="0">
                <a:solidFill>
                  <a:srgbClr val="232323"/>
                </a:solidFill>
                <a:latin typeface="PT Serif"/>
                <a:ea typeface="Noto Sans"/>
                <a:cs typeface="Noto Sans"/>
              </a:rPr>
              <a:t>-Adrenergic–mediated </a:t>
            </a:r>
            <a:r>
              <a:rPr lang="en-US" sz="1600" u="sng" dirty="0">
                <a:solidFill>
                  <a:srgbClr val="232323"/>
                </a:solidFill>
                <a:latin typeface="PT Serif"/>
                <a:ea typeface="Noto Sans"/>
                <a:cs typeface="Noto Sans"/>
              </a:rPr>
              <a:t>vasoconstriction can cause patients to appear pale (</a:t>
            </a:r>
            <a:r>
              <a:rPr lang="en-US" sz="1600" b="1" u="sng" dirty="0">
                <a:solidFill>
                  <a:srgbClr val="232323"/>
                </a:solidFill>
                <a:latin typeface="PT Serif"/>
                <a:ea typeface="Noto Sans"/>
                <a:cs typeface="Noto Sans"/>
              </a:rPr>
              <a:t>pallor).</a:t>
            </a:r>
            <a:endParaRPr lang="en-US" dirty="0"/>
          </a:p>
          <a:p>
            <a:r>
              <a:rPr lang="en-US" sz="1600" u="sng" dirty="0">
                <a:solidFill>
                  <a:srgbClr val="232323"/>
                </a:solidFill>
                <a:latin typeface="PT Serif"/>
                <a:ea typeface="Noto Sans"/>
                <a:cs typeface="Noto Sans"/>
              </a:rPr>
              <a:t>The </a:t>
            </a:r>
            <a:r>
              <a:rPr lang="en-US" sz="1600" b="1" u="sng" dirty="0">
                <a:solidFill>
                  <a:srgbClr val="232323"/>
                </a:solidFill>
                <a:latin typeface="PT Serif"/>
                <a:ea typeface="Noto Sans"/>
                <a:cs typeface="Noto Sans"/>
              </a:rPr>
              <a:t>sweating/ flushing</a:t>
            </a:r>
            <a:r>
              <a:rPr lang="en-US" sz="1600" u="sng" dirty="0">
                <a:solidFill>
                  <a:srgbClr val="232323"/>
                </a:solidFill>
                <a:latin typeface="PT Serif"/>
                <a:ea typeface="Noto Sans"/>
                <a:cs typeface="Noto Sans"/>
              </a:rPr>
              <a:t>  - is in response to the increased thermogenesis and vasoconstriction.</a:t>
            </a:r>
            <a:endParaRPr lang="en-US" dirty="0"/>
          </a:p>
          <a:p>
            <a:endParaRPr lang="en-US" sz="1600" u="sng" dirty="0">
              <a:solidFill>
                <a:srgbClr val="232323"/>
              </a:solidFill>
              <a:latin typeface="PT Serif"/>
              <a:ea typeface="Noto Sans"/>
              <a:cs typeface="Noto Sans"/>
            </a:endParaRPr>
          </a:p>
          <a:p>
            <a:r>
              <a:rPr lang="en-US" sz="1800" dirty="0">
                <a:solidFill>
                  <a:srgbClr val="232323"/>
                </a:solidFill>
                <a:latin typeface="Noto Sans"/>
                <a:ea typeface="Noto Sans"/>
                <a:cs typeface="Noto Sans"/>
              </a:rPr>
              <a:t>Symptoms – Paroxysmal HTN, Tachycardia, sweating, tachycardia, flushing</a:t>
            </a:r>
            <a:endParaRPr lang="en-US" dirty="0"/>
          </a:p>
          <a:p>
            <a:r>
              <a:rPr lang="en-US" sz="1800" dirty="0">
                <a:solidFill>
                  <a:srgbClr val="232323"/>
                </a:solidFill>
                <a:latin typeface="Noto Sans"/>
                <a:ea typeface="Noto Sans"/>
                <a:cs typeface="Noto Sans"/>
              </a:rPr>
              <a:t>90% Intra adrenal, 10 % bilateral, 10% metastatic , 10 % extra –adrenal</a:t>
            </a:r>
          </a:p>
          <a:p>
            <a:r>
              <a:rPr lang="en-US" sz="1800" dirty="0">
                <a:solidFill>
                  <a:srgbClr val="232323"/>
                </a:solidFill>
                <a:latin typeface="Noto Sans"/>
                <a:ea typeface="Noto Sans"/>
                <a:cs typeface="Noto Sans"/>
              </a:rPr>
              <a:t>Labs </a:t>
            </a:r>
          </a:p>
          <a:p>
            <a:r>
              <a:rPr lang="en-US" sz="1800" dirty="0">
                <a:solidFill>
                  <a:srgbClr val="232323"/>
                </a:solidFill>
                <a:latin typeface="Noto Sans"/>
                <a:ea typeface="Noto Sans"/>
                <a:cs typeface="Noto Sans"/>
              </a:rPr>
              <a:t>24 hour urine catecholamines and metabolites – normetanephrine and </a:t>
            </a:r>
            <a:r>
              <a:rPr lang="en-US" sz="1800" dirty="0" err="1">
                <a:solidFill>
                  <a:srgbClr val="232323"/>
                </a:solidFill>
                <a:latin typeface="Noto Sans"/>
                <a:ea typeface="Noto Sans"/>
                <a:cs typeface="Noto Sans"/>
              </a:rPr>
              <a:t>metanephrines</a:t>
            </a:r>
            <a:r>
              <a:rPr lang="en-US" sz="1800" dirty="0">
                <a:solidFill>
                  <a:srgbClr val="232323"/>
                </a:solidFill>
                <a:latin typeface="Noto Sans"/>
                <a:ea typeface="Noto Sans"/>
                <a:cs typeface="Noto Sans"/>
              </a:rPr>
              <a:t> are increased</a:t>
            </a:r>
          </a:p>
          <a:p>
            <a:r>
              <a:rPr lang="en-US" sz="1800" dirty="0">
                <a:solidFill>
                  <a:srgbClr val="232323"/>
                </a:solidFill>
                <a:latin typeface="Noto Sans"/>
                <a:ea typeface="Noto Sans"/>
                <a:cs typeface="Noto Sans"/>
              </a:rPr>
              <a:t>Plasma free </a:t>
            </a:r>
            <a:r>
              <a:rPr lang="en-US" sz="1800" dirty="0" err="1">
                <a:solidFill>
                  <a:srgbClr val="232323"/>
                </a:solidFill>
                <a:latin typeface="Noto Sans"/>
                <a:ea typeface="Noto Sans"/>
                <a:cs typeface="Noto Sans"/>
              </a:rPr>
              <a:t>metanephrines</a:t>
            </a:r>
            <a:r>
              <a:rPr lang="en-US" sz="1800" dirty="0">
                <a:solidFill>
                  <a:srgbClr val="232323"/>
                </a:solidFill>
                <a:latin typeface="Noto Sans"/>
                <a:ea typeface="Noto Sans"/>
                <a:cs typeface="Noto Sans"/>
              </a:rPr>
              <a:t> – sensitive test – usually used for screening </a:t>
            </a:r>
          </a:p>
          <a:p>
            <a:endParaRPr lang="en-US" sz="1800" dirty="0">
              <a:solidFill>
                <a:srgbClr val="232323"/>
              </a:solidFill>
              <a:latin typeface="Noto Sans"/>
              <a:ea typeface="Noto Sans"/>
              <a:cs typeface="Noto Sans"/>
            </a:endParaRPr>
          </a:p>
        </p:txBody>
      </p:sp>
    </p:spTree>
    <p:extLst>
      <p:ext uri="{BB962C8B-B14F-4D97-AF65-F5344CB8AC3E}">
        <p14:creationId xmlns:p14="http://schemas.microsoft.com/office/powerpoint/2010/main" val="13332517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56F8D-A713-F121-0E73-F14231E7C2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679171-B2D0-0C33-33DE-1DEEE17EB12B}"/>
              </a:ext>
            </a:extLst>
          </p:cNvPr>
          <p:cNvSpPr>
            <a:spLocks noGrp="1"/>
          </p:cNvSpPr>
          <p:nvPr>
            <p:ph idx="1"/>
          </p:nvPr>
        </p:nvSpPr>
        <p:spPr/>
        <p:txBody>
          <a:bodyPr vert="horz" lIns="91440" tIns="45720" rIns="91440" bIns="45720" rtlCol="0" anchor="t">
            <a:normAutofit/>
          </a:bodyPr>
          <a:lstStyle/>
          <a:p>
            <a:r>
              <a:rPr lang="en-US" sz="1700" b="1" dirty="0">
                <a:latin typeface="Lucida Sans"/>
              </a:rPr>
              <a:t>Genetics</a:t>
            </a:r>
            <a:endParaRPr lang="en-US" dirty="0"/>
          </a:p>
          <a:p>
            <a:r>
              <a:rPr lang="en-US" sz="1600" dirty="0">
                <a:latin typeface="PT Serif"/>
              </a:rPr>
              <a:t>About 30% to 40% of pheochromocytomas arise from an inherited gene mutation, and another 20% come from a somatic mutation that occurs after birth. Most of these mutations are random, but some happen as part of an inherited syndrome.</a:t>
            </a:r>
            <a:endParaRPr lang="en-US"/>
          </a:p>
          <a:p>
            <a:r>
              <a:rPr lang="en-US" sz="1600" u="sng" dirty="0">
                <a:latin typeface="PT Serif"/>
              </a:rPr>
              <a:t>The most common distinct inherited syndromes are the </a:t>
            </a:r>
            <a:r>
              <a:rPr lang="en-US" sz="1600" b="1" u="sng" dirty="0">
                <a:latin typeface="PT Serif"/>
              </a:rPr>
              <a:t>multiple endocrine neoplasia 2 (MEN2) syndrome with </a:t>
            </a:r>
            <a:r>
              <a:rPr lang="en-US" sz="1600" b="1" i="1" u="sng" dirty="0">
                <a:latin typeface="PT Serif"/>
              </a:rPr>
              <a:t>RET</a:t>
            </a:r>
            <a:r>
              <a:rPr lang="en-US" sz="1600" b="1" u="sng" dirty="0">
                <a:latin typeface="PT Serif"/>
              </a:rPr>
              <a:t> gene mutations, neurofibromatosis type 1 with </a:t>
            </a:r>
            <a:r>
              <a:rPr lang="en-US" sz="1600" b="1" i="1" u="sng" dirty="0">
                <a:latin typeface="PT Serif"/>
              </a:rPr>
              <a:t>NF1</a:t>
            </a:r>
            <a:r>
              <a:rPr lang="en-US" sz="1600" b="1" u="sng" dirty="0">
                <a:latin typeface="PT Serif"/>
              </a:rPr>
              <a:t> mutations, and the Von Hippel-Lindau disease with </a:t>
            </a:r>
            <a:r>
              <a:rPr lang="en-US" sz="1600" b="1" i="1" u="sng" dirty="0">
                <a:latin typeface="PT Serif"/>
              </a:rPr>
              <a:t>VHL</a:t>
            </a:r>
            <a:r>
              <a:rPr lang="en-US" sz="1600" b="1" u="sng" dirty="0">
                <a:latin typeface="PT Serif"/>
              </a:rPr>
              <a:t> mutations. Because of these, genetic testing is an important part of the evaluation of people with pheochromocytoma.</a:t>
            </a:r>
            <a:endParaRPr lang="en-US" dirty="0"/>
          </a:p>
        </p:txBody>
      </p:sp>
      <p:sp>
        <p:nvSpPr>
          <p:cNvPr id="4" name="Star: 5 Points 3">
            <a:extLst>
              <a:ext uri="{FF2B5EF4-FFF2-40B4-BE49-F238E27FC236}">
                <a16:creationId xmlns:a16="http://schemas.microsoft.com/office/drawing/2014/main" id="{2A1DAB48-E7AB-B1AA-D551-7505FB0322E2}"/>
              </a:ext>
            </a:extLst>
          </p:cNvPr>
          <p:cNvSpPr/>
          <p:nvPr/>
        </p:nvSpPr>
        <p:spPr>
          <a:xfrm>
            <a:off x="121934" y="2968307"/>
            <a:ext cx="604284" cy="46251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53110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636-8506-FBBD-C506-1DA325F14A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29FC7A-DE7E-FF1E-0293-267B59EA49E0}"/>
              </a:ext>
            </a:extLst>
          </p:cNvPr>
          <p:cNvSpPr>
            <a:spLocks noGrp="1"/>
          </p:cNvSpPr>
          <p:nvPr>
            <p:ph idx="1"/>
          </p:nvPr>
        </p:nvSpPr>
        <p:spPr/>
        <p:txBody>
          <a:bodyPr vert="horz" lIns="91440" tIns="45720" rIns="91440" bIns="45720" rtlCol="0" anchor="t">
            <a:normAutofit/>
          </a:bodyPr>
          <a:lstStyle/>
          <a:p>
            <a:r>
              <a:rPr lang="en-US" sz="1700" b="1" dirty="0">
                <a:latin typeface="Lucida Sans"/>
              </a:rPr>
              <a:t>Cellular Origins</a:t>
            </a:r>
            <a:endParaRPr lang="en-US" dirty="0"/>
          </a:p>
          <a:p>
            <a:r>
              <a:rPr lang="en-US" sz="1600" dirty="0">
                <a:latin typeface="PT Serif"/>
              </a:rPr>
              <a:t>These epithelial tumors arise from </a:t>
            </a:r>
            <a:r>
              <a:rPr lang="en-US" sz="1600" b="1" dirty="0">
                <a:latin typeface="PT Serif"/>
              </a:rPr>
              <a:t>neuroendocrine cells</a:t>
            </a:r>
            <a:r>
              <a:rPr lang="en-US" sz="1600" dirty="0">
                <a:latin typeface="PT Serif"/>
              </a:rPr>
              <a:t>, which are hormone-secreting cells with glandular and neural features. During normal fetal development, </a:t>
            </a:r>
            <a:r>
              <a:rPr lang="en-US" sz="1600" u="sng" dirty="0">
                <a:latin typeface="PT Serif"/>
              </a:rPr>
              <a:t>neural crest cells migrate to the adrenal medulla and sympathetic chain ganglia near the vertebral column. The adrenal </a:t>
            </a:r>
            <a:r>
              <a:rPr lang="en-US" sz="1600" b="1" u="sng" dirty="0">
                <a:latin typeface="PT Serif"/>
              </a:rPr>
              <a:t>chromaffin cells</a:t>
            </a:r>
            <a:r>
              <a:rPr lang="en-US" sz="1600" u="sng" dirty="0">
                <a:latin typeface="PT Serif"/>
              </a:rPr>
              <a:t> are derived from a neural crest and normally secrete catecholamines to support BP. Pheochromocytomas arise from these chromaffin cells.</a:t>
            </a:r>
            <a:endParaRPr lang="en-US" dirty="0"/>
          </a:p>
          <a:p>
            <a:r>
              <a:rPr lang="en-US" sz="1700" b="1">
                <a:latin typeface="Lucida Sans"/>
              </a:rPr>
              <a:t>Histology</a:t>
            </a:r>
            <a:endParaRPr lang="en-US" sz="1700">
              <a:latin typeface="Lucida Sans"/>
            </a:endParaRPr>
          </a:p>
          <a:p>
            <a:r>
              <a:rPr lang="en-US" sz="1600" u="sng" dirty="0">
                <a:latin typeface="PT Serif"/>
              </a:rPr>
              <a:t>This neoplasm is composed largely of polygonal/spindle cells arranged in nests within a rich vascular network The nuclei of the cells are oval to round and frequently contain prominent nucleoli. The cytoplasm is red-purple.</a:t>
            </a: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3736124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E5CCE-60C4-D3D3-7F43-97B6E1347AC4}"/>
              </a:ext>
            </a:extLst>
          </p:cNvPr>
          <p:cNvSpPr>
            <a:spLocks noGrp="1"/>
          </p:cNvSpPr>
          <p:nvPr>
            <p:ph type="title"/>
          </p:nvPr>
        </p:nvSpPr>
        <p:spPr/>
        <p:txBody>
          <a:bodyPr/>
          <a:lstStyle/>
          <a:p>
            <a:endParaRPr lang="en-US"/>
          </a:p>
        </p:txBody>
      </p:sp>
      <p:pic>
        <p:nvPicPr>
          <p:cNvPr id="4" name="Content Placeholder 3" descr="A screenshot of a medical scan&#10;&#10;AI-generated content may be incorrect.">
            <a:extLst>
              <a:ext uri="{FF2B5EF4-FFF2-40B4-BE49-F238E27FC236}">
                <a16:creationId xmlns:a16="http://schemas.microsoft.com/office/drawing/2014/main" id="{95AB4CB5-5EF3-4FE4-6E07-DB5C1B90835D}"/>
              </a:ext>
            </a:extLst>
          </p:cNvPr>
          <p:cNvPicPr>
            <a:picLocks noGrp="1" noChangeAspect="1"/>
          </p:cNvPicPr>
          <p:nvPr>
            <p:ph idx="1"/>
          </p:nvPr>
        </p:nvPicPr>
        <p:blipFill>
          <a:blip r:embed="rId2"/>
          <a:stretch>
            <a:fillRect/>
          </a:stretch>
        </p:blipFill>
        <p:spPr>
          <a:xfrm>
            <a:off x="840850" y="368300"/>
            <a:ext cx="4938174" cy="5761038"/>
          </a:xfrm>
        </p:spPr>
      </p:pic>
      <p:sp>
        <p:nvSpPr>
          <p:cNvPr id="3" name="TextBox 2">
            <a:extLst>
              <a:ext uri="{FF2B5EF4-FFF2-40B4-BE49-F238E27FC236}">
                <a16:creationId xmlns:a16="http://schemas.microsoft.com/office/drawing/2014/main" id="{111339DB-CEB9-1609-7007-317E1B16893C}"/>
              </a:ext>
            </a:extLst>
          </p:cNvPr>
          <p:cNvSpPr txBox="1"/>
          <p:nvPr/>
        </p:nvSpPr>
        <p:spPr>
          <a:xfrm>
            <a:off x="6563473" y="938826"/>
            <a:ext cx="4602739" cy="33681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Arial"/>
              <a:buChar char="•"/>
            </a:pPr>
            <a:r>
              <a:rPr lang="en-US">
                <a:solidFill>
                  <a:srgbClr val="232323"/>
                </a:solidFill>
                <a:latin typeface="Noto Sans"/>
                <a:ea typeface="Noto Sans"/>
                <a:cs typeface="Noto Sans"/>
              </a:rPr>
              <a:t>An alpha-adrenergic blocker like phenoxy benzamine , Doxazocin ( selective) followed by beta blocker or calcium channel blockers is given for at least seven days preoperatively to normalize blood pressure and expand the contracted intravascular space. </a:t>
            </a:r>
            <a:endParaRPr lang="en-US">
              <a:latin typeface="Noto Sans"/>
              <a:ea typeface="Noto Sans"/>
              <a:cs typeface="Noto Sans"/>
            </a:endParaRPr>
          </a:p>
          <a:p>
            <a:pPr>
              <a:lnSpc>
                <a:spcPct val="90000"/>
              </a:lnSpc>
              <a:spcBef>
                <a:spcPts val="1000"/>
              </a:spcBef>
            </a:pPr>
            <a:endParaRPr lang="en-US" dirty="0">
              <a:latin typeface="Noto Sans"/>
              <a:ea typeface="Noto Sans"/>
              <a:cs typeface="Noto Sans"/>
            </a:endParaRPr>
          </a:p>
          <a:p>
            <a:pPr marL="285750" indent="-285750">
              <a:lnSpc>
                <a:spcPct val="90000"/>
              </a:lnSpc>
              <a:spcBef>
                <a:spcPts val="1000"/>
              </a:spcBef>
              <a:buFont typeface="Arial"/>
              <a:buChar char="•"/>
            </a:pPr>
            <a:r>
              <a:rPr lang="en-US">
                <a:solidFill>
                  <a:srgbClr val="232323"/>
                </a:solidFill>
                <a:latin typeface="Noto Sans"/>
                <a:ea typeface="Noto Sans"/>
                <a:cs typeface="Noto Sans"/>
              </a:rPr>
              <a:t>A minimally invasive approach to the adrenal gland is the procedure of choice</a:t>
            </a:r>
            <a:endParaRPr lang="en-US">
              <a:latin typeface="Noto Sans"/>
              <a:ea typeface="Noto Sans"/>
              <a:cs typeface="Noto Sans"/>
            </a:endParaRPr>
          </a:p>
          <a:p>
            <a:pPr algn="l"/>
            <a:endParaRPr lang="en-US" dirty="0"/>
          </a:p>
        </p:txBody>
      </p:sp>
    </p:spTree>
    <p:extLst>
      <p:ext uri="{BB962C8B-B14F-4D97-AF65-F5344CB8AC3E}">
        <p14:creationId xmlns:p14="http://schemas.microsoft.com/office/powerpoint/2010/main" val="18777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C9F32-8B05-F75A-CE80-09F20FE62555}"/>
              </a:ext>
            </a:extLst>
          </p:cNvPr>
          <p:cNvSpPr>
            <a:spLocks noGrp="1"/>
          </p:cNvSpPr>
          <p:nvPr>
            <p:ph type="title"/>
          </p:nvPr>
        </p:nvSpPr>
        <p:spPr>
          <a:xfrm>
            <a:off x="660991" y="887892"/>
            <a:ext cx="10515600" cy="1325563"/>
          </a:xfrm>
        </p:spPr>
        <p:txBody>
          <a:bodyPr>
            <a:normAutofit fontScale="90000"/>
          </a:bodyPr>
          <a:lstStyle/>
          <a:p>
            <a:r>
              <a:rPr lang="en-US" dirty="0"/>
              <a:t>Questions—so far</a:t>
            </a:r>
            <a:br>
              <a:rPr lang="en-US" dirty="0"/>
            </a:br>
            <a:r>
              <a:rPr lang="en-US" sz="2900" dirty="0">
                <a:solidFill>
                  <a:srgbClr val="1A1A1A"/>
                </a:solidFill>
                <a:ea typeface="+mj-lt"/>
                <a:cs typeface="+mj-lt"/>
              </a:rPr>
              <a:t>Rabbits under full moon</a:t>
            </a:r>
            <a:endParaRPr lang="en-US" dirty="0"/>
          </a:p>
          <a:p>
            <a:r>
              <a:rPr lang="en-US" sz="800" dirty="0">
                <a:solidFill>
                  <a:srgbClr val="333333"/>
                </a:solidFill>
                <a:latin typeface="Helvetica"/>
                <a:cs typeface="Helvetica"/>
              </a:rPr>
              <a:t>Date:</a:t>
            </a:r>
            <a:endParaRPr lang="en-US" dirty="0"/>
          </a:p>
          <a:p>
            <a:r>
              <a:rPr lang="en-US" sz="1300" dirty="0">
                <a:solidFill>
                  <a:srgbClr val="767676"/>
                </a:solidFill>
                <a:ea typeface="+mj-lt"/>
                <a:cs typeface="+mj-lt"/>
              </a:rPr>
              <a:t>c. 1830s</a:t>
            </a:r>
            <a:endParaRPr lang="en-US" dirty="0"/>
          </a:p>
          <a:p>
            <a:r>
              <a:rPr lang="en-US" sz="800" dirty="0">
                <a:solidFill>
                  <a:srgbClr val="333333"/>
                </a:solidFill>
                <a:latin typeface="Helvetica"/>
                <a:cs typeface="Helvetica"/>
              </a:rPr>
              <a:t>Artist:</a:t>
            </a:r>
            <a:endParaRPr lang="en-US" dirty="0"/>
          </a:p>
          <a:p>
            <a:r>
              <a:rPr lang="en-US" sz="1300" dirty="0">
                <a:solidFill>
                  <a:srgbClr val="767676"/>
                </a:solidFill>
                <a:ea typeface="+mj-lt"/>
                <a:cs typeface="+mj-lt"/>
              </a:rPr>
              <a:t>Utagawa Hiroshige </a:t>
            </a:r>
            <a:r>
              <a:rPr lang="ja-JP" altLang="en-US" sz="1300">
                <a:solidFill>
                  <a:srgbClr val="767676"/>
                </a:solidFill>
                <a:ea typeface="+mj-lt"/>
                <a:cs typeface="+mj-lt"/>
              </a:rPr>
              <a:t>歌川</a:t>
            </a:r>
            <a:r>
              <a:rPr lang="en-US" sz="1300" dirty="0">
                <a:solidFill>
                  <a:srgbClr val="767676"/>
                </a:solidFill>
                <a:ea typeface="+mj-lt"/>
                <a:cs typeface="+mj-lt"/>
              </a:rPr>
              <a:t> </a:t>
            </a:r>
            <a:r>
              <a:rPr lang="ja-JP" altLang="en-US" sz="1300">
                <a:solidFill>
                  <a:srgbClr val="767676"/>
                </a:solidFill>
                <a:ea typeface="+mj-lt"/>
                <a:cs typeface="+mj-lt"/>
              </a:rPr>
              <a:t>広重</a:t>
            </a:r>
            <a:endParaRPr lang="en-US"/>
          </a:p>
          <a:p>
            <a:endParaRPr lang="en-US" dirty="0"/>
          </a:p>
        </p:txBody>
      </p:sp>
      <p:pic>
        <p:nvPicPr>
          <p:cNvPr id="4" name="Content Placeholder 3" descr="A rabbit sitting in grass&#10;&#10;AI-generated content may be incorrect.">
            <a:extLst>
              <a:ext uri="{FF2B5EF4-FFF2-40B4-BE49-F238E27FC236}">
                <a16:creationId xmlns:a16="http://schemas.microsoft.com/office/drawing/2014/main" id="{1ECB76CB-4684-CF5E-DE43-8432B7B4BBCA}"/>
              </a:ext>
            </a:extLst>
          </p:cNvPr>
          <p:cNvPicPr>
            <a:picLocks noGrp="1" noChangeAspect="1"/>
          </p:cNvPicPr>
          <p:nvPr>
            <p:ph idx="1"/>
          </p:nvPr>
        </p:nvPicPr>
        <p:blipFill>
          <a:blip r:embed="rId2"/>
          <a:stretch>
            <a:fillRect/>
          </a:stretch>
        </p:blipFill>
        <p:spPr>
          <a:xfrm>
            <a:off x="5335298" y="1825625"/>
            <a:ext cx="1521403" cy="4351338"/>
          </a:xfrm>
        </p:spPr>
      </p:pic>
    </p:spTree>
    <p:extLst>
      <p:ext uri="{BB962C8B-B14F-4D97-AF65-F5344CB8AC3E}">
        <p14:creationId xmlns:p14="http://schemas.microsoft.com/office/powerpoint/2010/main" val="4214404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067E-56AD-5B4B-FDAC-512825766BCB}"/>
              </a:ext>
            </a:extLst>
          </p:cNvPr>
          <p:cNvSpPr>
            <a:spLocks noGrp="1"/>
          </p:cNvSpPr>
          <p:nvPr>
            <p:ph type="title"/>
          </p:nvPr>
        </p:nvSpPr>
        <p:spPr/>
        <p:txBody>
          <a:bodyPr/>
          <a:lstStyle/>
          <a:p>
            <a:pPr marL="285750" indent="-285750">
              <a:spcBef>
                <a:spcPts val="1000"/>
              </a:spcBef>
              <a:buFont typeface="Arial"/>
              <a:buChar char="•"/>
            </a:pPr>
            <a:r>
              <a:rPr lang="en-US" sz="1800" dirty="0">
                <a:solidFill>
                  <a:srgbClr val="001D35"/>
                </a:solidFill>
                <a:latin typeface="Aptos"/>
              </a:rPr>
              <a:t>Congenital Adrenal Hyperplasia (CAH) is </a:t>
            </a:r>
            <a:r>
              <a:rPr lang="en-US" sz="1800" dirty="0">
                <a:latin typeface="Aptos"/>
              </a:rPr>
              <a:t>a group of </a:t>
            </a:r>
            <a:r>
              <a:rPr lang="en-US" sz="1800" dirty="0">
                <a:solidFill>
                  <a:srgbClr val="FF0000"/>
                </a:solidFill>
                <a:latin typeface="Aptos"/>
              </a:rPr>
              <a:t>autosomal recessive</a:t>
            </a:r>
            <a:r>
              <a:rPr lang="en-US" sz="1800" dirty="0">
                <a:latin typeface="Aptos"/>
              </a:rPr>
              <a:t> genetic disorders that affect the adrenal glands, leading to </a:t>
            </a:r>
            <a:r>
              <a:rPr lang="en-US" sz="1800" dirty="0">
                <a:solidFill>
                  <a:srgbClr val="FF0000"/>
                </a:solidFill>
                <a:latin typeface="Aptos"/>
              </a:rPr>
              <a:t>deficiencies in the production of cortisol</a:t>
            </a:r>
          </a:p>
          <a:p>
            <a:endParaRPr lang="en-US" dirty="0">
              <a:solidFill>
                <a:srgbClr val="FF0000"/>
              </a:solidFill>
            </a:endParaRPr>
          </a:p>
        </p:txBody>
      </p:sp>
      <p:pic>
        <p:nvPicPr>
          <p:cNvPr id="4" name="Content Placeholder 3" descr="A screenshot of a cell phone&#10;&#10;AI-generated content may be incorrect.">
            <a:extLst>
              <a:ext uri="{FF2B5EF4-FFF2-40B4-BE49-F238E27FC236}">
                <a16:creationId xmlns:a16="http://schemas.microsoft.com/office/drawing/2014/main" id="{FE6B05D5-3EC9-91A3-E81C-7A85F9A33F9D}"/>
              </a:ext>
            </a:extLst>
          </p:cNvPr>
          <p:cNvPicPr>
            <a:picLocks noGrp="1" noChangeAspect="1"/>
          </p:cNvPicPr>
          <p:nvPr>
            <p:ph idx="1"/>
          </p:nvPr>
        </p:nvPicPr>
        <p:blipFill>
          <a:blip r:embed="rId2"/>
          <a:stretch>
            <a:fillRect/>
          </a:stretch>
        </p:blipFill>
        <p:spPr>
          <a:xfrm>
            <a:off x="1604962" y="2867819"/>
            <a:ext cx="8982075" cy="2266950"/>
          </a:xfrm>
        </p:spPr>
      </p:pic>
    </p:spTree>
    <p:extLst>
      <p:ext uri="{BB962C8B-B14F-4D97-AF65-F5344CB8AC3E}">
        <p14:creationId xmlns:p14="http://schemas.microsoft.com/office/powerpoint/2010/main" val="345975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F5EBD-7889-085E-6EAE-5F6DF5A089DC}"/>
              </a:ext>
            </a:extLst>
          </p:cNvPr>
          <p:cNvSpPr>
            <a:spLocks noGrp="1"/>
          </p:cNvSpPr>
          <p:nvPr>
            <p:ph type="title"/>
          </p:nvPr>
        </p:nvSpPr>
        <p:spPr/>
        <p:txBody>
          <a:bodyPr/>
          <a:lstStyle/>
          <a:p>
            <a:r>
              <a:rPr lang="en-US" dirty="0"/>
              <a:t>CAH</a:t>
            </a:r>
          </a:p>
        </p:txBody>
      </p:sp>
      <p:sp>
        <p:nvSpPr>
          <p:cNvPr id="3" name="Content Placeholder 2">
            <a:extLst>
              <a:ext uri="{FF2B5EF4-FFF2-40B4-BE49-F238E27FC236}">
                <a16:creationId xmlns:a16="http://schemas.microsoft.com/office/drawing/2014/main" id="{32CABCFB-5ED0-3356-12F7-1BA76651026D}"/>
              </a:ext>
            </a:extLst>
          </p:cNvPr>
          <p:cNvSpPr>
            <a:spLocks noGrp="1"/>
          </p:cNvSpPr>
          <p:nvPr>
            <p:ph idx="1"/>
          </p:nvPr>
        </p:nvSpPr>
        <p:spPr/>
        <p:txBody>
          <a:bodyPr vert="horz" lIns="91440" tIns="45720" rIns="91440" bIns="45720" rtlCol="0" anchor="t">
            <a:normAutofit/>
          </a:bodyPr>
          <a:lstStyle/>
          <a:p>
            <a:r>
              <a:rPr lang="en-US" sz="1400" dirty="0">
                <a:solidFill>
                  <a:srgbClr val="2A2A2A"/>
                </a:solidFill>
                <a:latin typeface="Merriweather"/>
              </a:rPr>
              <a:t>Publication of Luigi De </a:t>
            </a:r>
            <a:r>
              <a:rPr lang="en-US" sz="1400" err="1">
                <a:solidFill>
                  <a:srgbClr val="2A2A2A"/>
                </a:solidFill>
                <a:latin typeface="Merriweather"/>
              </a:rPr>
              <a:t>Crecchio’s</a:t>
            </a:r>
            <a:r>
              <a:rPr lang="en-US" sz="1400" dirty="0">
                <a:solidFill>
                  <a:srgbClr val="2A2A2A"/>
                </a:solidFill>
                <a:latin typeface="Merriweather"/>
              </a:rPr>
              <a:t> classic, </a:t>
            </a:r>
            <a:r>
              <a:rPr lang="en-US" sz="1400" i="1" dirty="0">
                <a:solidFill>
                  <a:srgbClr val="2A2A2A"/>
                </a:solidFill>
                <a:latin typeface="Merriweather"/>
              </a:rPr>
              <a:t>Sopra un Caso di </a:t>
            </a:r>
            <a:r>
              <a:rPr lang="en-US" sz="1400" i="1" err="1">
                <a:solidFill>
                  <a:srgbClr val="2A2A2A"/>
                </a:solidFill>
                <a:latin typeface="Merriweather"/>
              </a:rPr>
              <a:t>Apparenze</a:t>
            </a:r>
            <a:r>
              <a:rPr lang="en-US" sz="1400" i="1" dirty="0">
                <a:solidFill>
                  <a:srgbClr val="2A2A2A"/>
                </a:solidFill>
                <a:latin typeface="Merriweather"/>
              </a:rPr>
              <a:t> </a:t>
            </a:r>
            <a:r>
              <a:rPr lang="en-US" sz="1400" i="1" err="1">
                <a:solidFill>
                  <a:srgbClr val="2A2A2A"/>
                </a:solidFill>
                <a:latin typeface="Merriweather"/>
              </a:rPr>
              <a:t>Virili</a:t>
            </a:r>
            <a:r>
              <a:rPr lang="en-US" sz="1400" i="1" dirty="0">
                <a:solidFill>
                  <a:srgbClr val="2A2A2A"/>
                </a:solidFill>
                <a:latin typeface="Merriweather"/>
              </a:rPr>
              <a:t> in </a:t>
            </a:r>
            <a:r>
              <a:rPr lang="en-US" sz="1400" i="1" err="1">
                <a:solidFill>
                  <a:srgbClr val="2A2A2A"/>
                </a:solidFill>
                <a:latin typeface="Merriweather"/>
              </a:rPr>
              <a:t>una</a:t>
            </a:r>
            <a:r>
              <a:rPr lang="en-US" sz="1400" i="1" dirty="0">
                <a:solidFill>
                  <a:srgbClr val="2A2A2A"/>
                </a:solidFill>
                <a:latin typeface="Merriweather"/>
              </a:rPr>
              <a:t> Donna</a:t>
            </a:r>
            <a:r>
              <a:rPr lang="en-US" sz="1400" dirty="0">
                <a:solidFill>
                  <a:srgbClr val="2A2A2A"/>
                </a:solidFill>
                <a:latin typeface="Merriweather"/>
              </a:rPr>
              <a:t> (</a:t>
            </a:r>
            <a:r>
              <a:rPr lang="en-US" sz="1400" i="1" dirty="0">
                <a:solidFill>
                  <a:srgbClr val="2A2A2A"/>
                </a:solidFill>
                <a:latin typeface="Merriweather"/>
              </a:rPr>
              <a:t>A Case Report of Masculine Appearance in a Woman</a:t>
            </a:r>
            <a:r>
              <a:rPr lang="en-US" sz="1400" dirty="0">
                <a:solidFill>
                  <a:srgbClr val="2A2A2A"/>
                </a:solidFill>
                <a:latin typeface="Merriweather"/>
              </a:rPr>
              <a:t>) in </a:t>
            </a:r>
            <a:r>
              <a:rPr lang="en-US" sz="1400" i="1" dirty="0">
                <a:solidFill>
                  <a:srgbClr val="2A2A2A"/>
                </a:solidFill>
                <a:latin typeface="Merriweather"/>
              </a:rPr>
              <a:t>Il Morgagni</a:t>
            </a:r>
            <a:r>
              <a:rPr lang="en-US" sz="1400" dirty="0">
                <a:solidFill>
                  <a:srgbClr val="2A2A2A"/>
                </a:solidFill>
                <a:latin typeface="Merriweather"/>
              </a:rPr>
              <a:t>. The paper is generally regarded as the first detailed report of congenital adrenal hyperplasia (CAH), describing the autopsy and life of Giuseppe Marzo, who lived as a man but had internal female anatomy and enlarged adrenals, and died in an apparent Addisonian crisis at the age of 44 years. </a:t>
            </a:r>
          </a:p>
          <a:p>
            <a:endParaRPr lang="en-US" sz="1100" dirty="0">
              <a:solidFill>
                <a:srgbClr val="2A2A2A"/>
              </a:solidFill>
              <a:latin typeface="Merriweather"/>
            </a:endParaRPr>
          </a:p>
        </p:txBody>
      </p:sp>
      <p:pic>
        <p:nvPicPr>
          <p:cNvPr id="4" name="Picture 3" descr="A drawing of a person&#10;&#10;AI-generated content may be incorrect.">
            <a:extLst>
              <a:ext uri="{FF2B5EF4-FFF2-40B4-BE49-F238E27FC236}">
                <a16:creationId xmlns:a16="http://schemas.microsoft.com/office/drawing/2014/main" id="{1CA32BA7-C704-DB2C-4B6A-D49F5D10A5E3}"/>
              </a:ext>
            </a:extLst>
          </p:cNvPr>
          <p:cNvPicPr>
            <a:picLocks noChangeAspect="1"/>
          </p:cNvPicPr>
          <p:nvPr/>
        </p:nvPicPr>
        <p:blipFill>
          <a:blip r:embed="rId2"/>
          <a:stretch>
            <a:fillRect/>
          </a:stretch>
        </p:blipFill>
        <p:spPr>
          <a:xfrm>
            <a:off x="5548313" y="2738438"/>
            <a:ext cx="2581275" cy="3267075"/>
          </a:xfrm>
          <a:prstGeom prst="rect">
            <a:avLst/>
          </a:prstGeom>
        </p:spPr>
      </p:pic>
      <p:sp>
        <p:nvSpPr>
          <p:cNvPr id="5" name="TextBox 4">
            <a:extLst>
              <a:ext uri="{FF2B5EF4-FFF2-40B4-BE49-F238E27FC236}">
                <a16:creationId xmlns:a16="http://schemas.microsoft.com/office/drawing/2014/main" id="{CEE3A62E-C646-E8F4-5F3E-E25DAFE2E8F5}"/>
              </a:ext>
            </a:extLst>
          </p:cNvPr>
          <p:cNvSpPr txBox="1"/>
          <p:nvPr/>
        </p:nvSpPr>
        <p:spPr>
          <a:xfrm>
            <a:off x="1163147" y="4145789"/>
            <a:ext cx="317373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ENDOCRINOLOGY VOL 156, Issue 4 , April 2015</a:t>
            </a:r>
          </a:p>
        </p:txBody>
      </p:sp>
    </p:spTree>
    <p:extLst>
      <p:ext uri="{BB962C8B-B14F-4D97-AF65-F5344CB8AC3E}">
        <p14:creationId xmlns:p14="http://schemas.microsoft.com/office/powerpoint/2010/main" val="5460330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5715A-82EA-ED4C-75C1-0D927C14FB0E}"/>
              </a:ext>
            </a:extLst>
          </p:cNvPr>
          <p:cNvSpPr>
            <a:spLocks noGrp="1"/>
          </p:cNvSpPr>
          <p:nvPr>
            <p:ph type="title"/>
          </p:nvPr>
        </p:nvSpPr>
        <p:spPr/>
        <p:txBody>
          <a:bodyPr/>
          <a:lstStyle/>
          <a:p>
            <a:endParaRPr lang="en-US"/>
          </a:p>
        </p:txBody>
      </p:sp>
      <p:pic>
        <p:nvPicPr>
          <p:cNvPr id="4" name="Content Placeholder 3" descr="Diagram of a diagram of a female reproductive system&#10;&#10;AI-generated content may be incorrect.">
            <a:extLst>
              <a:ext uri="{FF2B5EF4-FFF2-40B4-BE49-F238E27FC236}">
                <a16:creationId xmlns:a16="http://schemas.microsoft.com/office/drawing/2014/main" id="{AA140C7A-CFD5-4216-77AF-06FDDD8224F9}"/>
              </a:ext>
            </a:extLst>
          </p:cNvPr>
          <p:cNvPicPr>
            <a:picLocks noGrp="1" noChangeAspect="1"/>
          </p:cNvPicPr>
          <p:nvPr>
            <p:ph idx="1"/>
          </p:nvPr>
        </p:nvPicPr>
        <p:blipFill>
          <a:blip r:embed="rId2"/>
          <a:stretch>
            <a:fillRect/>
          </a:stretch>
        </p:blipFill>
        <p:spPr>
          <a:xfrm>
            <a:off x="836503" y="539750"/>
            <a:ext cx="5137368" cy="5580063"/>
          </a:xfrm>
          <a:prstGeom prst="rect">
            <a:avLst/>
          </a:prstGeom>
        </p:spPr>
      </p:pic>
      <p:sp>
        <p:nvSpPr>
          <p:cNvPr id="5" name="TextBox 4">
            <a:extLst>
              <a:ext uri="{FF2B5EF4-FFF2-40B4-BE49-F238E27FC236}">
                <a16:creationId xmlns:a16="http://schemas.microsoft.com/office/drawing/2014/main" id="{ECE73EF4-A821-50BB-A9D9-91F359D7FBBF}"/>
              </a:ext>
            </a:extLst>
          </p:cNvPr>
          <p:cNvSpPr txBox="1"/>
          <p:nvPr/>
        </p:nvSpPr>
        <p:spPr>
          <a:xfrm>
            <a:off x="6029325" y="5743575"/>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solidFill>
                  <a:srgbClr val="2A2A2A"/>
                </a:solidFill>
                <a:latin typeface="Source Sans Pro"/>
                <a:ea typeface="Source Sans Pro"/>
              </a:rPr>
              <a:t>Biology of Reproduction</a:t>
            </a:r>
            <a:r>
              <a:rPr lang="en-US">
                <a:solidFill>
                  <a:srgbClr val="2A2A2A"/>
                </a:solidFill>
                <a:latin typeface="Source Sans Pro"/>
                <a:ea typeface="Source Sans Pro"/>
              </a:rPr>
              <a:t>, Volume 101, Issue 3, September 2019</a:t>
            </a:r>
            <a:endParaRPr lang="en-US"/>
          </a:p>
        </p:txBody>
      </p:sp>
      <p:sp>
        <p:nvSpPr>
          <p:cNvPr id="6" name="TextBox 5">
            <a:extLst>
              <a:ext uri="{FF2B5EF4-FFF2-40B4-BE49-F238E27FC236}">
                <a16:creationId xmlns:a16="http://schemas.microsoft.com/office/drawing/2014/main" id="{75CABEF3-1028-6836-A057-3A2495DC53CC}"/>
              </a:ext>
            </a:extLst>
          </p:cNvPr>
          <p:cNvSpPr txBox="1"/>
          <p:nvPr/>
        </p:nvSpPr>
        <p:spPr>
          <a:xfrm>
            <a:off x="6478176" y="2124460"/>
            <a:ext cx="470620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Y chromosome</a:t>
            </a:r>
          </a:p>
          <a:p>
            <a:pPr marL="342900" indent="-342900">
              <a:buAutoNum type="arabicPeriod"/>
            </a:pPr>
            <a:r>
              <a:rPr lang="en-US" dirty="0"/>
              <a:t>Fetal testes- Testosterone</a:t>
            </a:r>
          </a:p>
          <a:p>
            <a:pPr marL="342900" indent="-342900">
              <a:buAutoNum type="arabicPeriod"/>
            </a:pPr>
            <a:r>
              <a:rPr lang="en-US" dirty="0"/>
              <a:t>Anti Mullerian Factor – regression of Mullerian duct</a:t>
            </a:r>
          </a:p>
        </p:txBody>
      </p:sp>
    </p:spTree>
    <p:extLst>
      <p:ext uri="{BB962C8B-B14F-4D97-AF65-F5344CB8AC3E}">
        <p14:creationId xmlns:p14="http://schemas.microsoft.com/office/powerpoint/2010/main" val="25468755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235DA-C405-7DE0-A811-3333522863F6}"/>
              </a:ext>
            </a:extLst>
          </p:cNvPr>
          <p:cNvSpPr>
            <a:spLocks noGrp="1"/>
          </p:cNvSpPr>
          <p:nvPr>
            <p:ph type="title"/>
          </p:nvPr>
        </p:nvSpPr>
        <p:spPr/>
        <p:txBody>
          <a:bodyPr/>
          <a:lstStyle/>
          <a:p>
            <a:r>
              <a:rPr lang="en-US" dirty="0"/>
              <a:t>In tandem...</a:t>
            </a:r>
          </a:p>
        </p:txBody>
      </p:sp>
      <p:pic>
        <p:nvPicPr>
          <p:cNvPr id="4" name="Content Placeholder 3">
            <a:extLst>
              <a:ext uri="{FF2B5EF4-FFF2-40B4-BE49-F238E27FC236}">
                <a16:creationId xmlns:a16="http://schemas.microsoft.com/office/drawing/2014/main" id="{F5C2DEDA-2A32-EFB4-F3DA-75CD3CA49B07}"/>
              </a:ext>
            </a:extLst>
          </p:cNvPr>
          <p:cNvPicPr>
            <a:picLocks noGrp="1" noChangeAspect="1"/>
          </p:cNvPicPr>
          <p:nvPr>
            <p:ph idx="1"/>
          </p:nvPr>
        </p:nvPicPr>
        <p:blipFill>
          <a:blip r:embed="rId2"/>
          <a:stretch>
            <a:fillRect/>
          </a:stretch>
        </p:blipFill>
        <p:spPr>
          <a:xfrm>
            <a:off x="3989094" y="1825625"/>
            <a:ext cx="4213812" cy="4351338"/>
          </a:xfrm>
          <a:prstGeom prst="rect">
            <a:avLst/>
          </a:prstGeom>
        </p:spPr>
      </p:pic>
      <p:sp>
        <p:nvSpPr>
          <p:cNvPr id="5" name="TextBox 4">
            <a:extLst>
              <a:ext uri="{FF2B5EF4-FFF2-40B4-BE49-F238E27FC236}">
                <a16:creationId xmlns:a16="http://schemas.microsoft.com/office/drawing/2014/main" id="{001B9ECF-AF5A-7D71-DC54-62CF1E098BB4}"/>
              </a:ext>
            </a:extLst>
          </p:cNvPr>
          <p:cNvSpPr txBox="1"/>
          <p:nvPr/>
        </p:nvSpPr>
        <p:spPr>
          <a:xfrm>
            <a:off x="8640523" y="5973591"/>
            <a:ext cx="2841402" cy="4735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6" name="Picture 5">
            <a:extLst>
              <a:ext uri="{FF2B5EF4-FFF2-40B4-BE49-F238E27FC236}">
                <a16:creationId xmlns:a16="http://schemas.microsoft.com/office/drawing/2014/main" id="{EA39AD54-F8E4-D732-B7AA-FABB4D8200A0}"/>
              </a:ext>
            </a:extLst>
          </p:cNvPr>
          <p:cNvPicPr>
            <a:picLocks noChangeAspect="1"/>
          </p:cNvPicPr>
          <p:nvPr/>
        </p:nvPicPr>
        <p:blipFill>
          <a:blip r:embed="rId2"/>
          <a:stretch>
            <a:fillRect/>
          </a:stretch>
        </p:blipFill>
        <p:spPr>
          <a:xfrm>
            <a:off x="3794550" y="57150"/>
            <a:ext cx="6641249" cy="6858000"/>
          </a:xfrm>
          <a:prstGeom prst="rect">
            <a:avLst/>
          </a:prstGeom>
        </p:spPr>
      </p:pic>
      <p:sp>
        <p:nvSpPr>
          <p:cNvPr id="7" name="TextBox 6">
            <a:extLst>
              <a:ext uri="{FF2B5EF4-FFF2-40B4-BE49-F238E27FC236}">
                <a16:creationId xmlns:a16="http://schemas.microsoft.com/office/drawing/2014/main" id="{CC25758D-00B6-5060-EC94-D949343EEBA1}"/>
              </a:ext>
            </a:extLst>
          </p:cNvPr>
          <p:cNvSpPr txBox="1"/>
          <p:nvPr/>
        </p:nvSpPr>
        <p:spPr>
          <a:xfrm>
            <a:off x="10061224" y="4203946"/>
            <a:ext cx="196073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Endocrine reviews Aug 2019 Vol40, issue 4</a:t>
            </a:r>
          </a:p>
        </p:txBody>
      </p:sp>
    </p:spTree>
    <p:extLst>
      <p:ext uri="{BB962C8B-B14F-4D97-AF65-F5344CB8AC3E}">
        <p14:creationId xmlns:p14="http://schemas.microsoft.com/office/powerpoint/2010/main" val="25787867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AC94B-0E7B-B006-722C-EC800364006A}"/>
              </a:ext>
            </a:extLst>
          </p:cNvPr>
          <p:cNvSpPr>
            <a:spLocks noGrp="1"/>
          </p:cNvSpPr>
          <p:nvPr>
            <p:ph type="title"/>
          </p:nvPr>
        </p:nvSpPr>
        <p:spPr/>
        <p:txBody>
          <a:bodyPr/>
          <a:lstStyle/>
          <a:p>
            <a:endParaRPr lang="en-US"/>
          </a:p>
        </p:txBody>
      </p:sp>
      <p:pic>
        <p:nvPicPr>
          <p:cNvPr id="4" name="Content Placeholder 3" descr="A diagram of a protein&#10;&#10;AI-generated content may be incorrect.">
            <a:extLst>
              <a:ext uri="{FF2B5EF4-FFF2-40B4-BE49-F238E27FC236}">
                <a16:creationId xmlns:a16="http://schemas.microsoft.com/office/drawing/2014/main" id="{644914F2-5191-CDBB-7A6D-9A648BD711AC}"/>
              </a:ext>
            </a:extLst>
          </p:cNvPr>
          <p:cNvPicPr>
            <a:picLocks noGrp="1" noChangeAspect="1"/>
          </p:cNvPicPr>
          <p:nvPr>
            <p:ph idx="1"/>
          </p:nvPr>
        </p:nvPicPr>
        <p:blipFill>
          <a:blip r:embed="rId2"/>
          <a:stretch>
            <a:fillRect/>
          </a:stretch>
        </p:blipFill>
        <p:spPr>
          <a:xfrm>
            <a:off x="2113517" y="1825625"/>
            <a:ext cx="7964966" cy="4351338"/>
          </a:xfrm>
        </p:spPr>
      </p:pic>
    </p:spTree>
    <p:extLst>
      <p:ext uri="{BB962C8B-B14F-4D97-AF65-F5344CB8AC3E}">
        <p14:creationId xmlns:p14="http://schemas.microsoft.com/office/powerpoint/2010/main" val="16184251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CAC71-04C6-CFCB-E1BE-0EC75A6A7EBD}"/>
              </a:ext>
            </a:extLst>
          </p:cNvPr>
          <p:cNvSpPr>
            <a:spLocks noGrp="1"/>
          </p:cNvSpPr>
          <p:nvPr>
            <p:ph type="title"/>
          </p:nvPr>
        </p:nvSpPr>
        <p:spPr/>
        <p:txBody>
          <a:bodyPr/>
          <a:lstStyle/>
          <a:p>
            <a:r>
              <a:rPr lang="en-US" dirty="0"/>
              <a:t>CAH</a:t>
            </a:r>
          </a:p>
        </p:txBody>
      </p:sp>
      <p:pic>
        <p:nvPicPr>
          <p:cNvPr id="4" name="Content Placeholder 3" descr="A diagram of a group of menstruation&#10;&#10;AI-generated content may be incorrect.">
            <a:extLst>
              <a:ext uri="{FF2B5EF4-FFF2-40B4-BE49-F238E27FC236}">
                <a16:creationId xmlns:a16="http://schemas.microsoft.com/office/drawing/2014/main" id="{22EAE838-E89B-1B7D-F354-39AB3DA0A2C2}"/>
              </a:ext>
            </a:extLst>
          </p:cNvPr>
          <p:cNvPicPr>
            <a:picLocks noGrp="1" noChangeAspect="1"/>
          </p:cNvPicPr>
          <p:nvPr>
            <p:ph idx="1"/>
          </p:nvPr>
        </p:nvPicPr>
        <p:blipFill>
          <a:blip r:embed="rId2"/>
          <a:stretch>
            <a:fillRect/>
          </a:stretch>
        </p:blipFill>
        <p:spPr>
          <a:xfrm>
            <a:off x="1067724" y="1701575"/>
            <a:ext cx="8221992" cy="4351788"/>
          </a:xfrm>
        </p:spPr>
      </p:pic>
      <p:sp>
        <p:nvSpPr>
          <p:cNvPr id="5" name="TextBox 4">
            <a:extLst>
              <a:ext uri="{FF2B5EF4-FFF2-40B4-BE49-F238E27FC236}">
                <a16:creationId xmlns:a16="http://schemas.microsoft.com/office/drawing/2014/main" id="{DFFF98AF-AA56-FB6E-F0B7-E380CFE3EA4D}"/>
              </a:ext>
            </a:extLst>
          </p:cNvPr>
          <p:cNvSpPr txBox="1"/>
          <p:nvPr/>
        </p:nvSpPr>
        <p:spPr>
          <a:xfrm>
            <a:off x="8705850" y="1143000"/>
            <a:ext cx="27432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PT Serif"/>
              </a:rPr>
              <a:t>ACTH stimulation is needed for adrenal steroidogenesis. </a:t>
            </a:r>
            <a:endParaRPr lang="en-US" dirty="0">
              <a:latin typeface="Aptos" panose="020B0004020202020204"/>
            </a:endParaRPr>
          </a:p>
          <a:p>
            <a:r>
              <a:rPr lang="en-US" dirty="0">
                <a:latin typeface="PT Serif"/>
              </a:rPr>
              <a:t>---Some of the intermediate precursors like 11-deoxycortisol and androstenedione are active hormones as well. They normally circulate at much lower levels. But in CAH, because of enzymatic blocks, the levels of these precursors can go up in the blood, causing hormonal effects.</a:t>
            </a:r>
            <a:endParaRPr lang="en-US" dirty="0"/>
          </a:p>
        </p:txBody>
      </p:sp>
      <p:sp>
        <p:nvSpPr>
          <p:cNvPr id="3" name="Star: 5 Points 2">
            <a:extLst>
              <a:ext uri="{FF2B5EF4-FFF2-40B4-BE49-F238E27FC236}">
                <a16:creationId xmlns:a16="http://schemas.microsoft.com/office/drawing/2014/main" id="{6ED8390B-6464-089F-EEA7-502A1BEF43A1}"/>
              </a:ext>
            </a:extLst>
          </p:cNvPr>
          <p:cNvSpPr/>
          <p:nvPr/>
        </p:nvSpPr>
        <p:spPr>
          <a:xfrm>
            <a:off x="345199" y="363592"/>
            <a:ext cx="391633" cy="577703"/>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59153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9748C-2825-4864-E182-5549B59A428E}"/>
              </a:ext>
            </a:extLst>
          </p:cNvPr>
          <p:cNvSpPr>
            <a:spLocks noGrp="1"/>
          </p:cNvSpPr>
          <p:nvPr>
            <p:ph type="title"/>
          </p:nvPr>
        </p:nvSpPr>
        <p:spPr/>
        <p:txBody>
          <a:bodyPr/>
          <a:lstStyle/>
          <a:p>
            <a:r>
              <a:rPr lang="en-US" dirty="0"/>
              <a:t>21 hydroxylase deficiency</a:t>
            </a:r>
          </a:p>
        </p:txBody>
      </p:sp>
      <p:sp>
        <p:nvSpPr>
          <p:cNvPr id="3" name="Content Placeholder 2">
            <a:extLst>
              <a:ext uri="{FF2B5EF4-FFF2-40B4-BE49-F238E27FC236}">
                <a16:creationId xmlns:a16="http://schemas.microsoft.com/office/drawing/2014/main" id="{01EA8700-2709-7036-9227-CBB535BF0B3F}"/>
              </a:ext>
            </a:extLst>
          </p:cNvPr>
          <p:cNvSpPr>
            <a:spLocks noGrp="1"/>
          </p:cNvSpPr>
          <p:nvPr>
            <p:ph idx="1"/>
          </p:nvPr>
        </p:nvSpPr>
        <p:spPr/>
        <p:txBody>
          <a:bodyPr vert="horz" lIns="91440" tIns="45720" rIns="91440" bIns="45720" rtlCol="0" anchor="t">
            <a:noAutofit/>
          </a:bodyPr>
          <a:lstStyle/>
          <a:p>
            <a:r>
              <a:rPr lang="en-US" sz="1600" b="1" dirty="0">
                <a:solidFill>
                  <a:srgbClr val="001D35"/>
                </a:solidFill>
                <a:ea typeface="+mn-lt"/>
                <a:cs typeface="+mn-lt"/>
              </a:rPr>
              <a:t>Genetic Basis:</a:t>
            </a:r>
            <a:endParaRPr lang="en-US" sz="1600" dirty="0"/>
          </a:p>
          <a:p>
            <a:r>
              <a:rPr lang="en-US" sz="1600" dirty="0">
                <a:solidFill>
                  <a:srgbClr val="545D7E"/>
                </a:solidFill>
                <a:ea typeface="+mn-lt"/>
                <a:cs typeface="+mn-lt"/>
              </a:rPr>
              <a:t>The CYP21A2 gene is located on the short arm of chromosome 6. The most common mechanisms leading to defects in this gene are large deletions and gene conversion, which are exchanges of genetic material between CYP21A2 and its pseudogene, CYP21A1P. </a:t>
            </a:r>
            <a:endParaRPr lang="en-US" sz="1600" dirty="0"/>
          </a:p>
          <a:p>
            <a:r>
              <a:rPr lang="en-US" sz="1600" b="1" dirty="0">
                <a:solidFill>
                  <a:srgbClr val="001D35"/>
                </a:solidFill>
                <a:ea typeface="+mn-lt"/>
                <a:cs typeface="+mn-lt"/>
              </a:rPr>
              <a:t>Inheritance Pattern:</a:t>
            </a:r>
            <a:endParaRPr lang="en-US" sz="1600" dirty="0"/>
          </a:p>
          <a:p>
            <a:r>
              <a:rPr lang="en-US" sz="1600" dirty="0">
                <a:solidFill>
                  <a:srgbClr val="545D7E"/>
                </a:solidFill>
                <a:ea typeface="+mn-lt"/>
                <a:cs typeface="+mn-lt"/>
              </a:rPr>
              <a:t>Because it's autosomal recessive, parents who are heterozygous (one normal and one mutated CYP21A2 copy) can be carriers and may not exhibit symptoms themselves. When two carriers have a child, there's a 25% chance of the child inheriting two mutated copies and being affected, a 50% chance of inheriting one normal and one mutated copy and being a carrier, and a 25% chance of inheriting two normal copies and being unaffected. </a:t>
            </a:r>
            <a:endParaRPr lang="en-US" sz="1600" dirty="0"/>
          </a:p>
          <a:p>
            <a:r>
              <a:rPr lang="en-US" sz="1600" b="1" dirty="0">
                <a:solidFill>
                  <a:srgbClr val="001D35"/>
                </a:solidFill>
                <a:ea typeface="+mn-lt"/>
                <a:cs typeface="+mn-lt"/>
              </a:rPr>
              <a:t>Clinical Significance:</a:t>
            </a:r>
            <a:endParaRPr lang="en-US" sz="1600" dirty="0"/>
          </a:p>
          <a:p>
            <a:r>
              <a:rPr lang="en-US" sz="1600" dirty="0">
                <a:solidFill>
                  <a:srgbClr val="545D7E"/>
                </a:solidFill>
                <a:ea typeface="+mn-lt"/>
                <a:cs typeface="+mn-lt"/>
              </a:rPr>
              <a:t>The amount of </a:t>
            </a:r>
            <a:r>
              <a:rPr lang="en-US" sz="1600" dirty="0">
                <a:solidFill>
                  <a:srgbClr val="FF0000"/>
                </a:solidFill>
                <a:ea typeface="+mn-lt"/>
                <a:cs typeface="+mn-lt"/>
              </a:rPr>
              <a:t>functional</a:t>
            </a:r>
            <a:r>
              <a:rPr lang="en-US" sz="1600" dirty="0">
                <a:solidFill>
                  <a:srgbClr val="545D7E"/>
                </a:solidFill>
                <a:ea typeface="+mn-lt"/>
                <a:cs typeface="+mn-lt"/>
              </a:rPr>
              <a:t> 21-hydroxylase enzyme determines the severity of the disorder. In salt-wasting CAH, the deficiency of aldosterone leads to sodium loss and dehydration, while in simple virilizing CAH, cortisol deficiency leads to androgen excess. </a:t>
            </a:r>
            <a:endParaRPr lang="en-US" sz="1600" dirty="0"/>
          </a:p>
          <a:p>
            <a:r>
              <a:rPr lang="en-US" sz="1600" b="1" dirty="0">
                <a:solidFill>
                  <a:srgbClr val="001D35"/>
                </a:solidFill>
                <a:ea typeface="+mn-lt"/>
                <a:cs typeface="+mn-lt"/>
              </a:rPr>
              <a:t>Diagnosis:</a:t>
            </a:r>
            <a:endParaRPr lang="en-US" sz="1600" dirty="0"/>
          </a:p>
          <a:p>
            <a:r>
              <a:rPr lang="en-US" sz="1600" dirty="0">
                <a:solidFill>
                  <a:srgbClr val="FF0000"/>
                </a:solidFill>
                <a:ea typeface="+mn-lt"/>
                <a:cs typeface="+mn-lt"/>
              </a:rPr>
              <a:t>Very high 17-OHP levels in the blood</a:t>
            </a:r>
            <a:r>
              <a:rPr lang="en-US" sz="1600" dirty="0">
                <a:solidFill>
                  <a:srgbClr val="545D7E"/>
                </a:solidFill>
                <a:ea typeface="+mn-lt"/>
                <a:cs typeface="+mn-lt"/>
              </a:rPr>
              <a:t> are a key diagnostic tool, with high levels indicating a potential diagnosis of 21-hydroxylase deficiency. However, comprehensive CYP21A2 genotyping remains the gold standard for confirmation. </a:t>
            </a:r>
            <a:endParaRPr lang="en-US" sz="1600" dirty="0"/>
          </a:p>
          <a:p>
            <a:endParaRPr lang="en-US" sz="1600" dirty="0"/>
          </a:p>
        </p:txBody>
      </p:sp>
    </p:spTree>
    <p:extLst>
      <p:ext uri="{BB962C8B-B14F-4D97-AF65-F5344CB8AC3E}">
        <p14:creationId xmlns:p14="http://schemas.microsoft.com/office/powerpoint/2010/main" val="39032937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EF42-EAB7-229E-4358-D530E23DC4AC}"/>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D9B88D82-F519-FC70-D145-D74E89339B67}"/>
              </a:ext>
            </a:extLst>
          </p:cNvPr>
          <p:cNvPicPr>
            <a:picLocks noGrp="1" noChangeAspect="1"/>
          </p:cNvPicPr>
          <p:nvPr>
            <p:ph idx="1"/>
          </p:nvPr>
        </p:nvPicPr>
        <p:blipFill>
          <a:blip r:embed="rId2"/>
          <a:stretch>
            <a:fillRect/>
          </a:stretch>
        </p:blipFill>
        <p:spPr>
          <a:xfrm>
            <a:off x="838200" y="758031"/>
            <a:ext cx="8486775" cy="3400425"/>
          </a:xfrm>
          <a:prstGeom prst="rect">
            <a:avLst/>
          </a:prstGeom>
        </p:spPr>
      </p:pic>
      <p:sp>
        <p:nvSpPr>
          <p:cNvPr id="5" name="TextBox 4">
            <a:extLst>
              <a:ext uri="{FF2B5EF4-FFF2-40B4-BE49-F238E27FC236}">
                <a16:creationId xmlns:a16="http://schemas.microsoft.com/office/drawing/2014/main" id="{3A126DEB-ABC8-9550-3DF9-49EE5D3C1E90}"/>
              </a:ext>
            </a:extLst>
          </p:cNvPr>
          <p:cNvSpPr txBox="1"/>
          <p:nvPr/>
        </p:nvSpPr>
        <p:spPr>
          <a:xfrm>
            <a:off x="5466792" y="5699422"/>
            <a:ext cx="407932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Endocrine reviews Aug 2019, Vol 40 issue 4</a:t>
            </a:r>
          </a:p>
        </p:txBody>
      </p:sp>
    </p:spTree>
    <p:extLst>
      <p:ext uri="{BB962C8B-B14F-4D97-AF65-F5344CB8AC3E}">
        <p14:creationId xmlns:p14="http://schemas.microsoft.com/office/powerpoint/2010/main" val="36931466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3D4C-E86B-D1E8-9244-A2DA297E2CD1}"/>
              </a:ext>
            </a:extLst>
          </p:cNvPr>
          <p:cNvSpPr>
            <a:spLocks noGrp="1"/>
          </p:cNvSpPr>
          <p:nvPr>
            <p:ph type="title"/>
          </p:nvPr>
        </p:nvSpPr>
        <p:spPr/>
        <p:txBody>
          <a:bodyPr/>
          <a:lstStyle/>
          <a:p>
            <a:r>
              <a:rPr lang="en-US" dirty="0"/>
              <a:t>21 hydroxylase deficiency</a:t>
            </a:r>
          </a:p>
        </p:txBody>
      </p:sp>
      <p:sp>
        <p:nvSpPr>
          <p:cNvPr id="3" name="Content Placeholder 2">
            <a:extLst>
              <a:ext uri="{FF2B5EF4-FFF2-40B4-BE49-F238E27FC236}">
                <a16:creationId xmlns:a16="http://schemas.microsoft.com/office/drawing/2014/main" id="{6EAD5496-EC19-D7CE-2E06-8B93AA4CD780}"/>
              </a:ext>
            </a:extLst>
          </p:cNvPr>
          <p:cNvSpPr>
            <a:spLocks noGrp="1"/>
          </p:cNvSpPr>
          <p:nvPr>
            <p:ph idx="1"/>
          </p:nvPr>
        </p:nvSpPr>
        <p:spPr/>
        <p:txBody>
          <a:bodyPr vert="horz" lIns="91440" tIns="45720" rIns="91440" bIns="45720" rtlCol="0" anchor="t">
            <a:normAutofit/>
          </a:bodyPr>
          <a:lstStyle/>
          <a:p>
            <a:endParaRPr lang="en-US" sz="1800" dirty="0"/>
          </a:p>
          <a:p>
            <a:r>
              <a:rPr lang="en-US" sz="1800" dirty="0">
                <a:solidFill>
                  <a:srgbClr val="545D7E"/>
                </a:solidFill>
                <a:ea typeface="+mn-lt"/>
                <a:cs typeface="+mn-lt"/>
              </a:rPr>
              <a:t> Newborn screening programs that test for 17-hydroxyprogesterone levels, which are elevated in CAH </a:t>
            </a:r>
            <a:endParaRPr lang="en-US" sz="1800" dirty="0">
              <a:solidFill>
                <a:srgbClr val="545D7E"/>
              </a:solidFill>
            </a:endParaRPr>
          </a:p>
          <a:p>
            <a:r>
              <a:rPr lang="en-US" sz="1800" dirty="0">
                <a:solidFill>
                  <a:srgbClr val="545D7E"/>
                </a:solidFill>
              </a:rPr>
              <a:t>Incidence of 21 hydroxylase def - Commonest</a:t>
            </a:r>
            <a:endParaRPr lang="en-US" sz="1200" dirty="0">
              <a:solidFill>
                <a:srgbClr val="232323"/>
              </a:solidFill>
              <a:latin typeface="Noto Sans"/>
              <a:ea typeface="Noto Sans"/>
              <a:cs typeface="Noto Sans"/>
            </a:endParaRPr>
          </a:p>
          <a:p>
            <a:r>
              <a:rPr lang="en-US" sz="1800" dirty="0">
                <a:solidFill>
                  <a:srgbClr val="545D7E"/>
                </a:solidFill>
                <a:latin typeface="Aptos"/>
                <a:ea typeface="Noto Sans"/>
                <a:cs typeface="Noto Sans"/>
              </a:rPr>
              <a:t>Classic (salt wasting) 1 in 15,000</a:t>
            </a:r>
          </a:p>
          <a:p>
            <a:r>
              <a:rPr lang="en-US" sz="1800" dirty="0">
                <a:solidFill>
                  <a:srgbClr val="545D7E"/>
                </a:solidFill>
                <a:latin typeface="Aptos"/>
                <a:ea typeface="Noto Sans"/>
                <a:cs typeface="Noto Sans"/>
              </a:rPr>
              <a:t>Non classic/ Simple virilizing 1 in 1000</a:t>
            </a:r>
          </a:p>
          <a:p>
            <a:r>
              <a:rPr lang="en-US" sz="1200" dirty="0">
                <a:solidFill>
                  <a:srgbClr val="232323"/>
                </a:solidFill>
                <a:latin typeface="Noto Sans"/>
                <a:ea typeface="Noto Sans"/>
                <a:cs typeface="Noto Sans"/>
              </a:rPr>
              <a:t>The "salt-wasting" form of the disorder (most severe) is most often associated with large deletions or mutations that result in</a:t>
            </a:r>
            <a:r>
              <a:rPr lang="en-US" sz="1200" b="1" dirty="0">
                <a:solidFill>
                  <a:srgbClr val="232323"/>
                </a:solidFill>
                <a:latin typeface="Noto Sans"/>
                <a:ea typeface="Noto Sans"/>
                <a:cs typeface="Noto Sans"/>
              </a:rPr>
              <a:t> no enzyme activity</a:t>
            </a:r>
            <a:r>
              <a:rPr lang="en-US" sz="1200" dirty="0">
                <a:solidFill>
                  <a:srgbClr val="232323"/>
                </a:solidFill>
                <a:latin typeface="Noto Sans"/>
                <a:ea typeface="Noto Sans"/>
                <a:cs typeface="Noto Sans"/>
              </a:rPr>
              <a:t>. Seventy-five percent of patients with classic 21OHD have this form. </a:t>
            </a:r>
            <a:endParaRPr lang="en-US" sz="1200" dirty="0">
              <a:solidFill>
                <a:srgbClr val="0074B9"/>
              </a:solidFill>
              <a:latin typeface="Noto Sans"/>
              <a:ea typeface="Noto Sans"/>
              <a:cs typeface="Noto Sans"/>
            </a:endParaRPr>
          </a:p>
          <a:p>
            <a:r>
              <a:rPr lang="en-US" sz="1200" dirty="0">
                <a:solidFill>
                  <a:srgbClr val="232323"/>
                </a:solidFill>
                <a:latin typeface="Noto Sans"/>
                <a:ea typeface="Noto Sans"/>
                <a:cs typeface="Noto Sans"/>
              </a:rPr>
              <a:t>●Twenty-five percent of patients with classic 21OHD have the "simple-virilizing" form (less severe) with low but detectable enzyme activity (</a:t>
            </a:r>
            <a:r>
              <a:rPr lang="en-US" sz="1200" b="1" dirty="0">
                <a:solidFill>
                  <a:srgbClr val="232323"/>
                </a:solidFill>
                <a:latin typeface="Noto Sans"/>
                <a:ea typeface="Noto Sans"/>
                <a:cs typeface="Noto Sans"/>
              </a:rPr>
              <a:t>1 to 2 percent</a:t>
            </a:r>
            <a:r>
              <a:rPr lang="en-US" sz="1200" dirty="0">
                <a:solidFill>
                  <a:srgbClr val="232323"/>
                </a:solidFill>
                <a:latin typeface="Noto Sans"/>
                <a:ea typeface="Noto Sans"/>
                <a:cs typeface="Noto Sans"/>
              </a:rPr>
              <a:t>) that supports some aldosterone production. This form most commonly results from point mutations leading to nonconservative amino acid substitutions such as Ile172Asp. A mutation in intron 2 that variably impairs splicing (</a:t>
            </a:r>
            <a:r>
              <a:rPr lang="en-US" sz="1200" dirty="0" err="1">
                <a:solidFill>
                  <a:srgbClr val="232323"/>
                </a:solidFill>
                <a:latin typeface="Noto Sans"/>
                <a:ea typeface="Noto Sans"/>
                <a:cs typeface="Noto Sans"/>
              </a:rPr>
              <a:t>g.A</a:t>
            </a:r>
            <a:r>
              <a:rPr lang="en-US" sz="1200" dirty="0">
                <a:solidFill>
                  <a:srgbClr val="232323"/>
                </a:solidFill>
                <a:latin typeface="Noto Sans"/>
                <a:ea typeface="Noto Sans"/>
                <a:cs typeface="Noto Sans"/>
              </a:rPr>
              <a:t>/C656G) manifests with a range of classic 21OHD phenotypes.</a:t>
            </a:r>
            <a:endParaRPr lang="en-US" dirty="0"/>
          </a:p>
          <a:p>
            <a:r>
              <a:rPr lang="en-US" sz="1200" dirty="0">
                <a:solidFill>
                  <a:srgbClr val="232323"/>
                </a:solidFill>
                <a:latin typeface="Noto Sans"/>
                <a:ea typeface="Noto Sans"/>
                <a:cs typeface="Noto Sans"/>
              </a:rPr>
              <a:t>●Individuals with the </a:t>
            </a:r>
            <a:r>
              <a:rPr lang="en-US" sz="1200" dirty="0" err="1">
                <a:solidFill>
                  <a:srgbClr val="232323"/>
                </a:solidFill>
                <a:latin typeface="Noto Sans"/>
                <a:ea typeface="Noto Sans"/>
                <a:cs typeface="Noto Sans"/>
              </a:rPr>
              <a:t>nonclassic</a:t>
            </a:r>
            <a:r>
              <a:rPr lang="en-US" sz="1200" dirty="0">
                <a:solidFill>
                  <a:srgbClr val="232323"/>
                </a:solidFill>
                <a:latin typeface="Noto Sans"/>
                <a:ea typeface="Noto Sans"/>
                <a:cs typeface="Noto Sans"/>
              </a:rPr>
              <a:t> form (least severe) retain 5 to 20 percent of normal enzymatic activity </a:t>
            </a:r>
            <a:endParaRPr lang="en-US" dirty="0"/>
          </a:p>
          <a:p>
            <a:r>
              <a:rPr lang="en-US" sz="1200" dirty="0" err="1">
                <a:solidFill>
                  <a:srgbClr val="232323"/>
                </a:solidFill>
                <a:latin typeface="Noto Sans"/>
                <a:ea typeface="Noto Sans"/>
                <a:cs typeface="Noto Sans"/>
              </a:rPr>
              <a:t>Nonclassic</a:t>
            </a:r>
            <a:r>
              <a:rPr lang="en-US" sz="1200" dirty="0">
                <a:solidFill>
                  <a:srgbClr val="232323"/>
                </a:solidFill>
                <a:latin typeface="Noto Sans"/>
                <a:ea typeface="Noto Sans"/>
                <a:cs typeface="Noto Sans"/>
              </a:rPr>
              <a:t> 21OHD may present as early pubarche or sexual precocity in school-age children, hirsutism and menstrual irregularity in young women, or there may be no symptoms. </a:t>
            </a:r>
          </a:p>
          <a:p>
            <a:endParaRPr lang="en-US" sz="1800" dirty="0">
              <a:solidFill>
                <a:srgbClr val="545D7E"/>
              </a:solidFill>
            </a:endParaRPr>
          </a:p>
          <a:p>
            <a:endParaRPr lang="en-US" sz="1400" dirty="0"/>
          </a:p>
          <a:p>
            <a:endParaRPr lang="en-US" sz="1400" dirty="0"/>
          </a:p>
          <a:p>
            <a:endParaRPr lang="en-US" dirty="0"/>
          </a:p>
        </p:txBody>
      </p:sp>
      <p:pic>
        <p:nvPicPr>
          <p:cNvPr id="4" name="Picture 3" descr="A map of the state of alaska&#10;&#10;AI-generated content may be incorrect.">
            <a:extLst>
              <a:ext uri="{FF2B5EF4-FFF2-40B4-BE49-F238E27FC236}">
                <a16:creationId xmlns:a16="http://schemas.microsoft.com/office/drawing/2014/main" id="{9DA14435-3EB5-66C1-C0A6-67F2C5735418}"/>
              </a:ext>
            </a:extLst>
          </p:cNvPr>
          <p:cNvPicPr>
            <a:picLocks noChangeAspect="1"/>
          </p:cNvPicPr>
          <p:nvPr/>
        </p:nvPicPr>
        <p:blipFill>
          <a:blip r:embed="rId2"/>
          <a:stretch>
            <a:fillRect/>
          </a:stretch>
        </p:blipFill>
        <p:spPr>
          <a:xfrm>
            <a:off x="8620125" y="119063"/>
            <a:ext cx="1514475" cy="2133600"/>
          </a:xfrm>
          <a:prstGeom prst="rect">
            <a:avLst/>
          </a:prstGeom>
        </p:spPr>
      </p:pic>
    </p:spTree>
    <p:extLst>
      <p:ext uri="{BB962C8B-B14F-4D97-AF65-F5344CB8AC3E}">
        <p14:creationId xmlns:p14="http://schemas.microsoft.com/office/powerpoint/2010/main" val="566773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6C76F-42DF-3AC6-F8AE-0B40E1FDF38B}"/>
              </a:ext>
            </a:extLst>
          </p:cNvPr>
          <p:cNvSpPr>
            <a:spLocks noGrp="1"/>
          </p:cNvSpPr>
          <p:nvPr>
            <p:ph type="title"/>
          </p:nvPr>
        </p:nvSpPr>
        <p:spPr/>
        <p:txBody>
          <a:bodyPr/>
          <a:lstStyle/>
          <a:p>
            <a:r>
              <a:rPr lang="en-US" dirty="0"/>
              <a:t>21 hydroxylase def </a:t>
            </a:r>
          </a:p>
        </p:txBody>
      </p:sp>
      <p:pic>
        <p:nvPicPr>
          <p:cNvPr id="4" name="Content Placeholder 3" descr="A close up of a person&amp;#39;s mouth&#10;&#10;AI-generated content may be incorrect.">
            <a:extLst>
              <a:ext uri="{FF2B5EF4-FFF2-40B4-BE49-F238E27FC236}">
                <a16:creationId xmlns:a16="http://schemas.microsoft.com/office/drawing/2014/main" id="{B198E684-EAC8-D477-C354-C364BD65B86B}"/>
              </a:ext>
            </a:extLst>
          </p:cNvPr>
          <p:cNvPicPr>
            <a:picLocks noGrp="1" noChangeAspect="1"/>
          </p:cNvPicPr>
          <p:nvPr>
            <p:ph idx="1"/>
          </p:nvPr>
        </p:nvPicPr>
        <p:blipFill>
          <a:blip r:embed="rId2"/>
          <a:stretch>
            <a:fillRect/>
          </a:stretch>
        </p:blipFill>
        <p:spPr>
          <a:xfrm>
            <a:off x="8486775" y="1186656"/>
            <a:ext cx="3009900" cy="3895725"/>
          </a:xfrm>
        </p:spPr>
      </p:pic>
      <p:pic>
        <p:nvPicPr>
          <p:cNvPr id="5" name="Picture 4" descr="A close up of a person&amp;#39;s mouth&#10;&#10;AI-generated content may be incorrect.">
            <a:extLst>
              <a:ext uri="{FF2B5EF4-FFF2-40B4-BE49-F238E27FC236}">
                <a16:creationId xmlns:a16="http://schemas.microsoft.com/office/drawing/2014/main" id="{0C887BEE-7308-5897-9545-45DA52E823F9}"/>
              </a:ext>
            </a:extLst>
          </p:cNvPr>
          <p:cNvPicPr>
            <a:picLocks noChangeAspect="1"/>
          </p:cNvPicPr>
          <p:nvPr/>
        </p:nvPicPr>
        <p:blipFill>
          <a:blip r:embed="rId2"/>
          <a:stretch>
            <a:fillRect/>
          </a:stretch>
        </p:blipFill>
        <p:spPr>
          <a:xfrm>
            <a:off x="8343900" y="1185863"/>
            <a:ext cx="3009900" cy="3895725"/>
          </a:xfrm>
          <a:prstGeom prst="rect">
            <a:avLst/>
          </a:prstGeom>
        </p:spPr>
      </p:pic>
      <p:pic>
        <p:nvPicPr>
          <p:cNvPr id="6" name="Picture 5">
            <a:extLst>
              <a:ext uri="{FF2B5EF4-FFF2-40B4-BE49-F238E27FC236}">
                <a16:creationId xmlns:a16="http://schemas.microsoft.com/office/drawing/2014/main" id="{B6E676C6-8903-7BCA-F16D-AC9BC90899F7}"/>
              </a:ext>
            </a:extLst>
          </p:cNvPr>
          <p:cNvPicPr>
            <a:picLocks noChangeAspect="1"/>
          </p:cNvPicPr>
          <p:nvPr/>
        </p:nvPicPr>
        <p:blipFill>
          <a:blip r:embed="rId3"/>
          <a:stretch>
            <a:fillRect/>
          </a:stretch>
        </p:blipFill>
        <p:spPr>
          <a:xfrm>
            <a:off x="695326" y="1918815"/>
            <a:ext cx="6848473" cy="3153720"/>
          </a:xfrm>
          <a:prstGeom prst="rect">
            <a:avLst/>
          </a:prstGeom>
        </p:spPr>
      </p:pic>
    </p:spTree>
    <p:extLst>
      <p:ext uri="{BB962C8B-B14F-4D97-AF65-F5344CB8AC3E}">
        <p14:creationId xmlns:p14="http://schemas.microsoft.com/office/powerpoint/2010/main" val="17511263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867B4-C6B8-EE55-A4D7-CF410B168D28}"/>
              </a:ext>
            </a:extLst>
          </p:cNvPr>
          <p:cNvSpPr>
            <a:spLocks noGrp="1"/>
          </p:cNvSpPr>
          <p:nvPr>
            <p:ph type="title"/>
          </p:nvPr>
        </p:nvSpPr>
        <p:spPr/>
        <p:txBody>
          <a:bodyPr/>
          <a:lstStyle/>
          <a:p>
            <a:endParaRPr lang="en-US"/>
          </a:p>
        </p:txBody>
      </p:sp>
      <p:pic>
        <p:nvPicPr>
          <p:cNvPr id="4" name="Content Placeholder 3" descr="A diagram of a protein&#10;&#10;AI-generated content may be incorrect.">
            <a:extLst>
              <a:ext uri="{FF2B5EF4-FFF2-40B4-BE49-F238E27FC236}">
                <a16:creationId xmlns:a16="http://schemas.microsoft.com/office/drawing/2014/main" id="{C27DD35C-796F-1B28-445E-98438AB49669}"/>
              </a:ext>
            </a:extLst>
          </p:cNvPr>
          <p:cNvPicPr>
            <a:picLocks noGrp="1" noChangeAspect="1"/>
          </p:cNvPicPr>
          <p:nvPr>
            <p:ph idx="1"/>
          </p:nvPr>
        </p:nvPicPr>
        <p:blipFill>
          <a:blip r:embed="rId2"/>
          <a:stretch>
            <a:fillRect/>
          </a:stretch>
        </p:blipFill>
        <p:spPr>
          <a:xfrm>
            <a:off x="620642" y="482600"/>
            <a:ext cx="7521715" cy="5599113"/>
          </a:xfrm>
          <a:prstGeom prst="rect">
            <a:avLst/>
          </a:prstGeom>
        </p:spPr>
      </p:pic>
      <p:sp>
        <p:nvSpPr>
          <p:cNvPr id="5" name="TextBox 4">
            <a:extLst>
              <a:ext uri="{FF2B5EF4-FFF2-40B4-BE49-F238E27FC236}">
                <a16:creationId xmlns:a16="http://schemas.microsoft.com/office/drawing/2014/main" id="{B6578BF9-74C2-89CA-20E8-00C78680E800}"/>
              </a:ext>
            </a:extLst>
          </p:cNvPr>
          <p:cNvSpPr txBox="1"/>
          <p:nvPr/>
        </p:nvSpPr>
        <p:spPr>
          <a:xfrm>
            <a:off x="8201025" y="3886200"/>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4D4D4D"/>
                </a:solidFill>
                <a:latin typeface="OTNEJMScalaSansLF"/>
              </a:rPr>
              <a:t> September 23, 2020</a:t>
            </a:r>
          </a:p>
          <a:p>
            <a:r>
              <a:rPr lang="en-US" b="1" dirty="0">
                <a:solidFill>
                  <a:srgbClr val="4D4D4D"/>
                </a:solidFill>
                <a:latin typeface="OTNEJMScalaSansLF"/>
              </a:rPr>
              <a:t>N Engl J Med 2020;383:1248-1261</a:t>
            </a:r>
          </a:p>
          <a:p>
            <a:endParaRPr lang="en-US"/>
          </a:p>
        </p:txBody>
      </p:sp>
    </p:spTree>
    <p:extLst>
      <p:ext uri="{BB962C8B-B14F-4D97-AF65-F5344CB8AC3E}">
        <p14:creationId xmlns:p14="http://schemas.microsoft.com/office/powerpoint/2010/main" val="39214117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8B5BB-5D09-9106-6673-DB6FA4B55227}"/>
              </a:ext>
            </a:extLst>
          </p:cNvPr>
          <p:cNvSpPr>
            <a:spLocks noGrp="1"/>
          </p:cNvSpPr>
          <p:nvPr>
            <p:ph type="title"/>
          </p:nvPr>
        </p:nvSpPr>
        <p:spPr/>
        <p:txBody>
          <a:bodyPr/>
          <a:lstStyle/>
          <a:p>
            <a:r>
              <a:rPr lang="en-US" dirty="0"/>
              <a:t>Clinical presentation</a:t>
            </a:r>
          </a:p>
        </p:txBody>
      </p:sp>
      <p:sp>
        <p:nvSpPr>
          <p:cNvPr id="3" name="Content Placeholder 2">
            <a:extLst>
              <a:ext uri="{FF2B5EF4-FFF2-40B4-BE49-F238E27FC236}">
                <a16:creationId xmlns:a16="http://schemas.microsoft.com/office/drawing/2014/main" id="{224DAE33-9C9B-7BF6-4D32-CB347AA7CA07}"/>
              </a:ext>
            </a:extLst>
          </p:cNvPr>
          <p:cNvSpPr>
            <a:spLocks noGrp="1"/>
          </p:cNvSpPr>
          <p:nvPr>
            <p:ph idx="1"/>
          </p:nvPr>
        </p:nvSpPr>
        <p:spPr/>
        <p:txBody>
          <a:bodyPr vert="horz" lIns="91440" tIns="45720" rIns="91440" bIns="45720" rtlCol="0" anchor="t">
            <a:normAutofit/>
          </a:bodyPr>
          <a:lstStyle/>
          <a:p>
            <a:r>
              <a:rPr lang="en-US" sz="1800" dirty="0">
                <a:solidFill>
                  <a:srgbClr val="232323"/>
                </a:solidFill>
                <a:latin typeface="Noto Sans"/>
                <a:ea typeface="Noto Sans"/>
                <a:cs typeface="Noto Sans"/>
              </a:rPr>
              <a:t>46,XX infants with classic 21OHD are typically born with atypical genitalia characterized by clitoral enlargement , labial fusion, and formation of a urogenital sinus </a:t>
            </a:r>
          </a:p>
          <a:p>
            <a:r>
              <a:rPr lang="en-US" sz="1800" b="1" dirty="0">
                <a:solidFill>
                  <a:srgbClr val="232323"/>
                </a:solidFill>
                <a:latin typeface="Noto Sans"/>
                <a:ea typeface="Noto Sans"/>
                <a:cs typeface="Noto Sans"/>
              </a:rPr>
              <a:t>Males</a:t>
            </a:r>
            <a:r>
              <a:rPr lang="en-US" sz="1800" dirty="0">
                <a:solidFill>
                  <a:srgbClr val="232323"/>
                </a:solidFill>
                <a:latin typeface="Noto Sans"/>
                <a:ea typeface="Noto Sans"/>
                <a:cs typeface="Noto Sans"/>
              </a:rPr>
              <a:t> – 46,XY infants with classic CAH have normal-appearing genitalia at birth but may have subtle findings such as hyperpigmentation of the scrotum or an enlarged phallus. </a:t>
            </a:r>
            <a:endParaRPr lang="en-US" sz="1800" dirty="0">
              <a:solidFill>
                <a:srgbClr val="000000"/>
              </a:solidFill>
              <a:latin typeface="Aptos" panose="020B0004020202020204"/>
              <a:ea typeface="Noto Sans"/>
              <a:cs typeface="Noto Sans"/>
            </a:endParaRPr>
          </a:p>
          <a:p>
            <a:r>
              <a:rPr lang="en-US" sz="1800" dirty="0">
                <a:solidFill>
                  <a:srgbClr val="232323"/>
                </a:solidFill>
                <a:latin typeface="Noto Sans"/>
                <a:ea typeface="Noto Sans"/>
                <a:cs typeface="Noto Sans"/>
              </a:rPr>
              <a:t>Males with the salt-wasting form who are not identified by neonatal screening may present with failure to thrive, dehydration, hyponatremia, hypoglycemia and hyperkalemia typically at 7 to 14 days of life (Adrenal crisis)</a:t>
            </a:r>
            <a:endParaRPr lang="en-US" sz="1800"/>
          </a:p>
          <a:p>
            <a:r>
              <a:rPr lang="en-US" sz="1800" dirty="0">
                <a:solidFill>
                  <a:srgbClr val="232323"/>
                </a:solidFill>
                <a:latin typeface="Noto Sans"/>
                <a:ea typeface="Noto Sans"/>
                <a:cs typeface="Noto Sans"/>
              </a:rPr>
              <a:t>Adults in both  – present with early puberty, short stature, fertility issues. Adult male can have testicular adrenal rest tumors</a:t>
            </a:r>
          </a:p>
          <a:p>
            <a:pPr marL="0" indent="0">
              <a:buNone/>
            </a:pPr>
            <a:endParaRPr lang="en-US" sz="1200" dirty="0">
              <a:solidFill>
                <a:srgbClr val="232323"/>
              </a:solidFill>
              <a:latin typeface="Noto Sans"/>
              <a:ea typeface="Noto Sans"/>
              <a:cs typeface="Noto Sans"/>
            </a:endParaRPr>
          </a:p>
        </p:txBody>
      </p:sp>
    </p:spTree>
    <p:extLst>
      <p:ext uri="{BB962C8B-B14F-4D97-AF65-F5344CB8AC3E}">
        <p14:creationId xmlns:p14="http://schemas.microsoft.com/office/powerpoint/2010/main" val="30760568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C5504-FB74-0B5D-C605-09AC6B2F22AE}"/>
              </a:ext>
            </a:extLst>
          </p:cNvPr>
          <p:cNvSpPr>
            <a:spLocks noGrp="1"/>
          </p:cNvSpPr>
          <p:nvPr>
            <p:ph type="title"/>
          </p:nvPr>
        </p:nvSpPr>
        <p:spPr/>
        <p:txBody>
          <a:bodyPr/>
          <a:lstStyle/>
          <a:p>
            <a:r>
              <a:rPr lang="en-US"/>
              <a:t>CAH treatment</a:t>
            </a:r>
          </a:p>
        </p:txBody>
      </p:sp>
      <p:sp>
        <p:nvSpPr>
          <p:cNvPr id="3" name="Content Placeholder 2">
            <a:extLst>
              <a:ext uri="{FF2B5EF4-FFF2-40B4-BE49-F238E27FC236}">
                <a16:creationId xmlns:a16="http://schemas.microsoft.com/office/drawing/2014/main" id="{B687E8A0-9D95-C23A-9316-BDA566F39091}"/>
              </a:ext>
            </a:extLst>
          </p:cNvPr>
          <p:cNvSpPr>
            <a:spLocks noGrp="1"/>
          </p:cNvSpPr>
          <p:nvPr>
            <p:ph idx="1"/>
          </p:nvPr>
        </p:nvSpPr>
        <p:spPr/>
        <p:txBody>
          <a:bodyPr vert="horz" lIns="91440" tIns="45720" rIns="91440" bIns="45720" rtlCol="0" anchor="t">
            <a:normAutofit/>
          </a:bodyPr>
          <a:lstStyle/>
          <a:p>
            <a:r>
              <a:rPr lang="en-US" sz="1800" b="1" dirty="0">
                <a:solidFill>
                  <a:srgbClr val="232323"/>
                </a:solidFill>
                <a:latin typeface="Noto Sans"/>
                <a:ea typeface="Noto Sans"/>
                <a:cs typeface="Noto Sans"/>
              </a:rPr>
              <a:t>Glucocorticoid therapy</a:t>
            </a:r>
            <a:r>
              <a:rPr lang="en-US" sz="1800" dirty="0">
                <a:solidFill>
                  <a:srgbClr val="232323"/>
                </a:solidFill>
                <a:latin typeface="Noto Sans"/>
                <a:ea typeface="Noto Sans"/>
                <a:cs typeface="Noto Sans"/>
              </a:rPr>
              <a:t> – In adults with classic 21OHD, glucocorticoid therapy is required to treat cortisol deficiency, optimize reproductive function and, in females, minimize hyperandrogenic symptoms. </a:t>
            </a:r>
            <a:r>
              <a:rPr lang="en-US" sz="1800" dirty="0">
                <a:solidFill>
                  <a:srgbClr val="0074B9"/>
                </a:solidFill>
                <a:latin typeface="Noto Sans"/>
                <a:ea typeface="Noto Sans"/>
                <a:cs typeface="Noto Sans"/>
                <a:hlinkClick r:id="rId2"/>
              </a:rPr>
              <a:t>Hydrocortisone</a:t>
            </a:r>
            <a:r>
              <a:rPr lang="en-US" sz="1800" dirty="0">
                <a:solidFill>
                  <a:srgbClr val="232323"/>
                </a:solidFill>
                <a:latin typeface="Noto Sans"/>
                <a:ea typeface="Noto Sans"/>
                <a:cs typeface="Noto Sans"/>
              </a:rPr>
              <a:t> therapy often achieves these goals and imparts lower risk of long-term complications than longer-acting glucocorticoids. </a:t>
            </a:r>
          </a:p>
          <a:p>
            <a:r>
              <a:rPr lang="en-US" sz="1800" dirty="0">
                <a:solidFill>
                  <a:srgbClr val="232323"/>
                </a:solidFill>
                <a:latin typeface="Noto Sans"/>
                <a:ea typeface="Noto Sans"/>
                <a:cs typeface="Noto Sans"/>
              </a:rPr>
              <a:t>•</a:t>
            </a:r>
            <a:r>
              <a:rPr lang="en-US" sz="1800" b="1" dirty="0">
                <a:solidFill>
                  <a:srgbClr val="232323"/>
                </a:solidFill>
                <a:latin typeface="Noto Sans"/>
                <a:ea typeface="Noto Sans"/>
                <a:cs typeface="Noto Sans"/>
              </a:rPr>
              <a:t>Mineralocorticoid therapy</a:t>
            </a:r>
            <a:r>
              <a:rPr lang="en-US" sz="1800" dirty="0">
                <a:solidFill>
                  <a:srgbClr val="232323"/>
                </a:solidFill>
                <a:latin typeface="Noto Sans"/>
                <a:ea typeface="Noto Sans"/>
                <a:cs typeface="Noto Sans"/>
              </a:rPr>
              <a:t> –   F</a:t>
            </a:r>
            <a:r>
              <a:rPr lang="en-US" sz="1800" dirty="0">
                <a:solidFill>
                  <a:srgbClr val="0074B9"/>
                </a:solidFill>
                <a:latin typeface="Noto Sans"/>
                <a:ea typeface="Noto Sans"/>
                <a:cs typeface="Noto Sans"/>
                <a:hlinkClick r:id="rId3"/>
              </a:rPr>
              <a:t>ludrocortisone</a:t>
            </a:r>
            <a:r>
              <a:rPr lang="en-US" sz="1800" dirty="0">
                <a:solidFill>
                  <a:srgbClr val="232323"/>
                </a:solidFill>
                <a:latin typeface="Noto Sans"/>
                <a:ea typeface="Noto Sans"/>
                <a:cs typeface="Noto Sans"/>
              </a:rPr>
              <a:t> therapy is needed to treat mineralocorticoid deficiency</a:t>
            </a:r>
            <a:endParaRPr lang="en-US" sz="1800" dirty="0"/>
          </a:p>
          <a:p>
            <a:r>
              <a:rPr lang="en-US" sz="1800" dirty="0">
                <a:solidFill>
                  <a:srgbClr val="232323"/>
                </a:solidFill>
                <a:latin typeface="Noto Sans"/>
                <a:ea typeface="Noto Sans"/>
                <a:cs typeface="Noto Sans"/>
              </a:rPr>
              <a:t>As with any form of adrenal insufficiency, patients with classic 21OHD should be provided with </a:t>
            </a:r>
            <a:r>
              <a:rPr lang="en-US" sz="1800" dirty="0">
                <a:solidFill>
                  <a:srgbClr val="FF0000"/>
                </a:solidFill>
                <a:latin typeface="Noto Sans"/>
                <a:ea typeface="Noto Sans"/>
                <a:cs typeface="Noto Sans"/>
              </a:rPr>
              <a:t>sick-day rules for stress dosing,</a:t>
            </a:r>
            <a:r>
              <a:rPr lang="en-US" sz="1800" dirty="0">
                <a:solidFill>
                  <a:srgbClr val="232323"/>
                </a:solidFill>
                <a:latin typeface="Noto Sans"/>
                <a:ea typeface="Noto Sans"/>
                <a:cs typeface="Noto Sans"/>
              </a:rPr>
              <a:t> medical alert identification, and injectable </a:t>
            </a:r>
            <a:r>
              <a:rPr lang="en-US" sz="1800" dirty="0">
                <a:solidFill>
                  <a:srgbClr val="000000"/>
                </a:solidFill>
                <a:latin typeface="Noto Sans"/>
                <a:ea typeface="Noto Sans"/>
                <a:cs typeface="Noto Sans"/>
                <a:hlinkClick r:id="rId2"/>
              </a:rPr>
              <a:t>hydrocortisone</a:t>
            </a:r>
            <a:r>
              <a:rPr lang="en-US" sz="1800" dirty="0">
                <a:solidFill>
                  <a:srgbClr val="232323"/>
                </a:solidFill>
                <a:latin typeface="Noto Sans"/>
                <a:ea typeface="Noto Sans"/>
                <a:cs typeface="Noto Sans"/>
              </a:rPr>
              <a:t> sodium succinate (or other injectable glucocorticoid) for emergencies . At each visit, we verify that patients always wear or carry a medical alert identifier and have an unexpired emergency glucocorticoid injection kit.</a:t>
            </a:r>
            <a:endParaRPr lang="en-US" sz="1800">
              <a:solidFill>
                <a:srgbClr val="000000"/>
              </a:solidFill>
              <a:latin typeface="Noto Sans"/>
              <a:ea typeface="Noto Sans"/>
              <a:cs typeface="Noto Sans"/>
            </a:endParaRPr>
          </a:p>
          <a:p>
            <a:r>
              <a:rPr lang="en-US" sz="1800" dirty="0">
                <a:solidFill>
                  <a:srgbClr val="232323"/>
                </a:solidFill>
                <a:latin typeface="Noto Sans"/>
                <a:ea typeface="Noto Sans"/>
                <a:cs typeface="Noto Sans"/>
              </a:rPr>
              <a:t>●</a:t>
            </a:r>
            <a:r>
              <a:rPr lang="en-US" sz="1800" b="1" dirty="0">
                <a:solidFill>
                  <a:srgbClr val="232323"/>
                </a:solidFill>
                <a:latin typeface="Noto Sans"/>
                <a:ea typeface="Noto Sans"/>
                <a:cs typeface="Noto Sans"/>
              </a:rPr>
              <a:t>Glucocorticoid dose adjustment during acute stress</a:t>
            </a:r>
            <a:r>
              <a:rPr lang="en-US" sz="1800" dirty="0">
                <a:solidFill>
                  <a:srgbClr val="232323"/>
                </a:solidFill>
                <a:latin typeface="Noto Sans"/>
                <a:ea typeface="Noto Sans"/>
                <a:cs typeface="Noto Sans"/>
              </a:rPr>
              <a:t> – An increase in glucocorticoid dose is critical during acute physiologic stress including illness or surgery.</a:t>
            </a:r>
            <a:endParaRPr lang="en-US" sz="1800" dirty="0">
              <a:solidFill>
                <a:srgbClr val="000000"/>
              </a:solidFill>
              <a:latin typeface="Noto Sans"/>
              <a:ea typeface="Noto Sans"/>
              <a:cs typeface="Noto Sans"/>
            </a:endParaRPr>
          </a:p>
          <a:p>
            <a:endParaRPr lang="en-US" dirty="0">
              <a:solidFill>
                <a:srgbClr val="000000"/>
              </a:solidFill>
              <a:latin typeface="Aptos"/>
              <a:ea typeface="Noto Sans"/>
              <a:cs typeface="Noto Sans"/>
            </a:endParaRPr>
          </a:p>
          <a:p>
            <a:endParaRPr lang="en-US" sz="1800" dirty="0">
              <a:solidFill>
                <a:srgbClr val="232323"/>
              </a:solidFill>
              <a:latin typeface="Noto Sans"/>
              <a:ea typeface="Noto Sans"/>
              <a:cs typeface="Noto Sans"/>
            </a:endParaRPr>
          </a:p>
          <a:p>
            <a:endParaRPr lang="en-US" sz="1800" dirty="0"/>
          </a:p>
        </p:txBody>
      </p:sp>
    </p:spTree>
    <p:extLst>
      <p:ext uri="{BB962C8B-B14F-4D97-AF65-F5344CB8AC3E}">
        <p14:creationId xmlns:p14="http://schemas.microsoft.com/office/powerpoint/2010/main" val="23633637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A1827-1AD9-6BA3-4291-16772E3C412C}"/>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D257A12-1F4B-EFD2-8BC7-09B6AF94910B}"/>
              </a:ext>
            </a:extLst>
          </p:cNvPr>
          <p:cNvPicPr>
            <a:picLocks noGrp="1" noChangeAspect="1"/>
          </p:cNvPicPr>
          <p:nvPr>
            <p:ph idx="1"/>
          </p:nvPr>
        </p:nvPicPr>
        <p:blipFill>
          <a:blip r:embed="rId2"/>
          <a:stretch>
            <a:fillRect/>
          </a:stretch>
        </p:blipFill>
        <p:spPr>
          <a:xfrm>
            <a:off x="4555481" y="1825625"/>
            <a:ext cx="3081037" cy="4351338"/>
          </a:xfrm>
          <a:prstGeom prst="rect">
            <a:avLst/>
          </a:prstGeom>
        </p:spPr>
      </p:pic>
      <p:sp>
        <p:nvSpPr>
          <p:cNvPr id="5" name="TextBox 4">
            <a:extLst>
              <a:ext uri="{FF2B5EF4-FFF2-40B4-BE49-F238E27FC236}">
                <a16:creationId xmlns:a16="http://schemas.microsoft.com/office/drawing/2014/main" id="{6E7BC9ED-EF9A-4E66-B1AF-6BD638051A34}"/>
              </a:ext>
            </a:extLst>
          </p:cNvPr>
          <p:cNvSpPr txBox="1"/>
          <p:nvPr/>
        </p:nvSpPr>
        <p:spPr>
          <a:xfrm>
            <a:off x="2110281" y="2176747"/>
            <a:ext cx="276662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Crinicerfont</a:t>
            </a:r>
            <a:r>
              <a:rPr lang="en-US" dirty="0"/>
              <a:t> – To suppress </a:t>
            </a:r>
            <a:r>
              <a:rPr lang="en-US"/>
              <a:t>CRF and  then ACTH. </a:t>
            </a:r>
            <a:endParaRPr lang="en-US" dirty="0"/>
          </a:p>
          <a:p>
            <a:endParaRPr lang="en-US" dirty="0"/>
          </a:p>
          <a:p>
            <a:r>
              <a:rPr lang="en-US" dirty="0"/>
              <a:t>Given with steroids</a:t>
            </a:r>
          </a:p>
        </p:txBody>
      </p:sp>
    </p:spTree>
    <p:extLst>
      <p:ext uri="{BB962C8B-B14F-4D97-AF65-F5344CB8AC3E}">
        <p14:creationId xmlns:p14="http://schemas.microsoft.com/office/powerpoint/2010/main" val="28048515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FCF3C-C1E6-0C51-F25B-CAE0C66928A6}"/>
              </a:ext>
            </a:extLst>
          </p:cNvPr>
          <p:cNvSpPr>
            <a:spLocks noGrp="1"/>
          </p:cNvSpPr>
          <p:nvPr>
            <p:ph type="title"/>
          </p:nvPr>
        </p:nvSpPr>
        <p:spPr/>
        <p:txBody>
          <a:bodyPr/>
          <a:lstStyle/>
          <a:p>
            <a:r>
              <a:rPr lang="en-US" dirty="0"/>
              <a:t>Other CAH </a:t>
            </a:r>
          </a:p>
        </p:txBody>
      </p:sp>
      <p:sp>
        <p:nvSpPr>
          <p:cNvPr id="3" name="Content Placeholder 2">
            <a:extLst>
              <a:ext uri="{FF2B5EF4-FFF2-40B4-BE49-F238E27FC236}">
                <a16:creationId xmlns:a16="http://schemas.microsoft.com/office/drawing/2014/main" id="{56C74B42-E291-4CF2-B13F-4DAA08A4EA07}"/>
              </a:ext>
            </a:extLst>
          </p:cNvPr>
          <p:cNvSpPr>
            <a:spLocks noGrp="1"/>
          </p:cNvSpPr>
          <p:nvPr>
            <p:ph idx="1"/>
          </p:nvPr>
        </p:nvSpPr>
        <p:spPr/>
        <p:txBody>
          <a:bodyPr vert="horz" lIns="91440" tIns="45720" rIns="91440" bIns="45720" rtlCol="0" anchor="t">
            <a:normAutofit/>
          </a:bodyPr>
          <a:lstStyle/>
          <a:p>
            <a:endParaRPr lang="en-US" sz="1200" dirty="0">
              <a:solidFill>
                <a:srgbClr val="232323"/>
              </a:solidFill>
              <a:latin typeface="Noto Sans"/>
              <a:ea typeface="Noto Sans"/>
              <a:cs typeface="Noto Sans"/>
            </a:endParaRPr>
          </a:p>
          <a:p>
            <a:endParaRPr lang="en-US" dirty="0"/>
          </a:p>
        </p:txBody>
      </p:sp>
      <p:sp>
        <p:nvSpPr>
          <p:cNvPr id="6" name="TextBox 5">
            <a:extLst>
              <a:ext uri="{FF2B5EF4-FFF2-40B4-BE49-F238E27FC236}">
                <a16:creationId xmlns:a16="http://schemas.microsoft.com/office/drawing/2014/main" id="{7011C6B4-ED6C-0900-3740-A84138BB8A3A}"/>
              </a:ext>
            </a:extLst>
          </p:cNvPr>
          <p:cNvSpPr txBox="1"/>
          <p:nvPr/>
        </p:nvSpPr>
        <p:spPr>
          <a:xfrm>
            <a:off x="7353300" y="114300"/>
            <a:ext cx="4686300"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232323"/>
                </a:solidFill>
                <a:latin typeface="Noto Sans"/>
                <a:ea typeface="Noto Sans"/>
                <a:cs typeface="Noto Sans"/>
              </a:rPr>
              <a:t>The hallmarks of 17OHD,  include hypertension and hypokalemia due to the accumulation of cortisol precursors with mineralocorticoid activity upstream of the block, plus </a:t>
            </a:r>
            <a:r>
              <a:rPr lang="en-US" dirty="0">
                <a:solidFill>
                  <a:srgbClr val="FF0000"/>
                </a:solidFill>
                <a:latin typeface="Noto Sans"/>
                <a:ea typeface="Noto Sans"/>
                <a:cs typeface="Noto Sans"/>
              </a:rPr>
              <a:t>sexual infantilism </a:t>
            </a:r>
            <a:r>
              <a:rPr lang="en-US" dirty="0">
                <a:solidFill>
                  <a:srgbClr val="232323"/>
                </a:solidFill>
                <a:latin typeface="Noto Sans"/>
                <a:ea typeface="Noto Sans"/>
                <a:cs typeface="Noto Sans"/>
              </a:rPr>
              <a:t>due to inability to synthesize androgens and estrogens.</a:t>
            </a:r>
            <a:endParaRPr lang="en-US" dirty="0">
              <a:solidFill>
                <a:srgbClr val="000000"/>
              </a:solidFill>
              <a:latin typeface="Aptos" panose="020B0004020202020204"/>
              <a:ea typeface="Noto Sans"/>
              <a:cs typeface="Noto Sans"/>
            </a:endParaRPr>
          </a:p>
          <a:p>
            <a:r>
              <a:rPr lang="en-US" b="1" dirty="0">
                <a:solidFill>
                  <a:srgbClr val="232323"/>
                </a:solidFill>
                <a:latin typeface="Noto Sans"/>
                <a:ea typeface="Noto Sans"/>
                <a:cs typeface="Noto Sans"/>
              </a:rPr>
              <a:t>Clinical presentation</a:t>
            </a:r>
            <a:r>
              <a:rPr lang="en-US" dirty="0">
                <a:solidFill>
                  <a:srgbClr val="232323"/>
                </a:solidFill>
                <a:latin typeface="Noto Sans"/>
                <a:ea typeface="Noto Sans"/>
                <a:cs typeface="Noto Sans"/>
              </a:rPr>
              <a:t> — The classic presentation of </a:t>
            </a:r>
            <a:r>
              <a:rPr lang="en-US" b="1" dirty="0">
                <a:solidFill>
                  <a:srgbClr val="232323"/>
                </a:solidFill>
                <a:latin typeface="Noto Sans"/>
                <a:ea typeface="Noto Sans"/>
                <a:cs typeface="Noto Sans"/>
              </a:rPr>
              <a:t>severe</a:t>
            </a:r>
            <a:r>
              <a:rPr lang="en-US" dirty="0">
                <a:solidFill>
                  <a:srgbClr val="232323"/>
                </a:solidFill>
                <a:latin typeface="Noto Sans"/>
                <a:ea typeface="Noto Sans"/>
                <a:cs typeface="Noto Sans"/>
              </a:rPr>
              <a:t> 17OHD in phenotypic females (who can have 46,XX or 46,XY karyotype) includes :</a:t>
            </a:r>
            <a:endParaRPr lang="en-US"/>
          </a:p>
          <a:p>
            <a:r>
              <a:rPr lang="en-US" dirty="0">
                <a:solidFill>
                  <a:srgbClr val="232323"/>
                </a:solidFill>
                <a:latin typeface="Times New Roman"/>
                <a:cs typeface="Times New Roman"/>
              </a:rPr>
              <a:t>●</a:t>
            </a:r>
            <a:r>
              <a:rPr lang="en-US" dirty="0">
                <a:solidFill>
                  <a:srgbClr val="FF0000"/>
                </a:solidFill>
                <a:latin typeface="Noto Sans"/>
                <a:ea typeface="Noto Sans"/>
                <a:cs typeface="Noto Sans"/>
              </a:rPr>
              <a:t>Hypertension</a:t>
            </a:r>
            <a:r>
              <a:rPr lang="en-US" dirty="0">
                <a:solidFill>
                  <a:srgbClr val="232323"/>
                </a:solidFill>
                <a:latin typeface="Noto Sans"/>
                <a:ea typeface="Noto Sans"/>
                <a:cs typeface="Noto Sans"/>
              </a:rPr>
              <a:t>- early adulthood, severe.</a:t>
            </a:r>
          </a:p>
          <a:p>
            <a:r>
              <a:rPr lang="en-US" dirty="0">
                <a:solidFill>
                  <a:srgbClr val="232323"/>
                </a:solidFill>
                <a:latin typeface="Times New Roman"/>
                <a:cs typeface="Times New Roman"/>
              </a:rPr>
              <a:t>●</a:t>
            </a:r>
            <a:r>
              <a:rPr lang="en-US" dirty="0">
                <a:solidFill>
                  <a:srgbClr val="232323"/>
                </a:solidFill>
                <a:latin typeface="Noto Sans"/>
                <a:ea typeface="Noto Sans"/>
                <a:cs typeface="Noto Sans"/>
              </a:rPr>
              <a:t>Primary amenorrhea</a:t>
            </a:r>
          </a:p>
          <a:p>
            <a:r>
              <a:rPr lang="en-US" dirty="0">
                <a:solidFill>
                  <a:srgbClr val="232323"/>
                </a:solidFill>
                <a:latin typeface="Times New Roman"/>
                <a:cs typeface="Times New Roman"/>
              </a:rPr>
              <a:t>●</a:t>
            </a:r>
            <a:r>
              <a:rPr lang="en-US" dirty="0">
                <a:solidFill>
                  <a:srgbClr val="232323"/>
                </a:solidFill>
                <a:latin typeface="Noto Sans"/>
                <a:ea typeface="Noto Sans"/>
                <a:cs typeface="Noto Sans"/>
              </a:rPr>
              <a:t>Absence of secondary sexual characteristics</a:t>
            </a:r>
          </a:p>
          <a:p>
            <a:r>
              <a:rPr lang="en-US" dirty="0">
                <a:solidFill>
                  <a:srgbClr val="232323"/>
                </a:solidFill>
                <a:latin typeface="Noto Sans"/>
                <a:ea typeface="Noto Sans"/>
                <a:cs typeface="Noto Sans"/>
              </a:rPr>
              <a:t>( XY Males – out 1/3 vaginal pouch, XX female –</a:t>
            </a:r>
            <a:r>
              <a:rPr lang="en-US" dirty="0" err="1">
                <a:solidFill>
                  <a:srgbClr val="232323"/>
                </a:solidFill>
                <a:latin typeface="Noto Sans"/>
                <a:ea typeface="Noto Sans"/>
                <a:cs typeface="Noto Sans"/>
              </a:rPr>
              <a:t>rudeimentary</a:t>
            </a:r>
            <a:r>
              <a:rPr lang="en-US" dirty="0">
                <a:solidFill>
                  <a:srgbClr val="232323"/>
                </a:solidFill>
                <a:latin typeface="Noto Sans"/>
                <a:ea typeface="Noto Sans"/>
                <a:cs typeface="Noto Sans"/>
              </a:rPr>
              <a:t> uterus, cervix and upper part vagina)</a:t>
            </a:r>
          </a:p>
          <a:p>
            <a:endParaRPr lang="en-US">
              <a:solidFill>
                <a:srgbClr val="000000"/>
              </a:solidFill>
              <a:latin typeface="Aptos" panose="020B0004020202020204"/>
              <a:ea typeface="Noto Sans"/>
              <a:cs typeface="Noto Sans"/>
            </a:endParaRPr>
          </a:p>
        </p:txBody>
      </p:sp>
      <p:pic>
        <p:nvPicPr>
          <p:cNvPr id="4" name="Picture 3" descr="A diagram of a group of menstrual cycle&#10;&#10;AI-generated content may be incorrect.">
            <a:extLst>
              <a:ext uri="{FF2B5EF4-FFF2-40B4-BE49-F238E27FC236}">
                <a16:creationId xmlns:a16="http://schemas.microsoft.com/office/drawing/2014/main" id="{8E1994CC-3156-8309-7AEB-B519536B14B6}"/>
              </a:ext>
            </a:extLst>
          </p:cNvPr>
          <p:cNvPicPr>
            <a:picLocks noChangeAspect="1"/>
          </p:cNvPicPr>
          <p:nvPr/>
        </p:nvPicPr>
        <p:blipFill>
          <a:blip r:embed="rId2"/>
          <a:stretch>
            <a:fillRect/>
          </a:stretch>
        </p:blipFill>
        <p:spPr>
          <a:xfrm>
            <a:off x="109538" y="1824038"/>
            <a:ext cx="7343775" cy="3143250"/>
          </a:xfrm>
          <a:prstGeom prst="rect">
            <a:avLst/>
          </a:prstGeom>
        </p:spPr>
      </p:pic>
      <p:sp>
        <p:nvSpPr>
          <p:cNvPr id="7" name="TextBox 6">
            <a:extLst>
              <a:ext uri="{FF2B5EF4-FFF2-40B4-BE49-F238E27FC236}">
                <a16:creationId xmlns:a16="http://schemas.microsoft.com/office/drawing/2014/main" id="{9E597DAE-C5DB-F1CE-5000-A89259EDB1B8}"/>
              </a:ext>
            </a:extLst>
          </p:cNvPr>
          <p:cNvSpPr txBox="1"/>
          <p:nvPr/>
        </p:nvSpPr>
        <p:spPr>
          <a:xfrm>
            <a:off x="664655" y="5092923"/>
            <a:ext cx="339805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CYP17A1 gene codes for both 17 a hydroxylase and 17,20 lyase</a:t>
            </a:r>
          </a:p>
        </p:txBody>
      </p:sp>
    </p:spTree>
    <p:extLst>
      <p:ext uri="{BB962C8B-B14F-4D97-AF65-F5344CB8AC3E}">
        <p14:creationId xmlns:p14="http://schemas.microsoft.com/office/powerpoint/2010/main" val="21729058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E1A51-F781-DA34-ABCE-7930473E64A0}"/>
            </a:ext>
          </a:extLst>
        </p:cNvPr>
        <p:cNvGrpSpPr/>
        <p:nvPr/>
      </p:nvGrpSpPr>
      <p:grpSpPr>
        <a:xfrm>
          <a:off x="0" y="0"/>
          <a:ext cx="0" cy="0"/>
          <a:chOff x="0" y="0"/>
          <a:chExt cx="0" cy="0"/>
        </a:xfrm>
      </p:grpSpPr>
      <p:pic>
        <p:nvPicPr>
          <p:cNvPr id="2" name="Picture 1" descr="A screenshot of a medical chart&#10;&#10;AI-generated content may be incorrect.">
            <a:extLst>
              <a:ext uri="{FF2B5EF4-FFF2-40B4-BE49-F238E27FC236}">
                <a16:creationId xmlns:a16="http://schemas.microsoft.com/office/drawing/2014/main" id="{AAB8B77D-78E5-9362-8EA8-28CA55808B2D}"/>
              </a:ext>
            </a:extLst>
          </p:cNvPr>
          <p:cNvPicPr>
            <a:picLocks noChangeAspect="1"/>
          </p:cNvPicPr>
          <p:nvPr/>
        </p:nvPicPr>
        <p:blipFill>
          <a:blip r:embed="rId2"/>
          <a:stretch>
            <a:fillRect/>
          </a:stretch>
        </p:blipFill>
        <p:spPr>
          <a:xfrm>
            <a:off x="1024451" y="132907"/>
            <a:ext cx="9165124" cy="6539024"/>
          </a:xfrm>
          <a:prstGeom prst="rect">
            <a:avLst/>
          </a:prstGeom>
        </p:spPr>
      </p:pic>
    </p:spTree>
    <p:extLst>
      <p:ext uri="{BB962C8B-B14F-4D97-AF65-F5344CB8AC3E}">
        <p14:creationId xmlns:p14="http://schemas.microsoft.com/office/powerpoint/2010/main" val="29776024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DC704-D797-6B56-610E-BBFFFDAE736B}"/>
              </a:ext>
            </a:extLst>
          </p:cNvPr>
          <p:cNvSpPr>
            <a:spLocks noGrp="1"/>
          </p:cNvSpPr>
          <p:nvPr>
            <p:ph type="title"/>
          </p:nvPr>
        </p:nvSpPr>
        <p:spPr/>
        <p:txBody>
          <a:bodyPr/>
          <a:lstStyle/>
          <a:p>
            <a:endParaRPr lang="en-US" dirty="0"/>
          </a:p>
        </p:txBody>
      </p:sp>
      <p:graphicFrame>
        <p:nvGraphicFramePr>
          <p:cNvPr id="5" name="Content Placeholder 4">
            <a:extLst>
              <a:ext uri="{FF2B5EF4-FFF2-40B4-BE49-F238E27FC236}">
                <a16:creationId xmlns:a16="http://schemas.microsoft.com/office/drawing/2014/main" id="{D696950D-56B5-38B3-962D-00D271EBAD4A}"/>
              </a:ext>
            </a:extLst>
          </p:cNvPr>
          <p:cNvGraphicFramePr>
            <a:graphicFrameLocks noGrp="1"/>
          </p:cNvGraphicFramePr>
          <p:nvPr>
            <p:ph idx="1"/>
            <p:extLst>
              <p:ext uri="{D42A27DB-BD31-4B8C-83A1-F6EECF244321}">
                <p14:modId xmlns:p14="http://schemas.microsoft.com/office/powerpoint/2010/main" val="1375203679"/>
              </p:ext>
            </p:extLst>
          </p:nvPr>
        </p:nvGraphicFramePr>
        <p:xfrm>
          <a:off x="838200" y="1825625"/>
          <a:ext cx="10515600" cy="3931920"/>
        </p:xfrm>
        <a:graphic>
          <a:graphicData uri="http://schemas.openxmlformats.org/drawingml/2006/table">
            <a:tbl>
              <a:tblPr bandRow="1">
                <a:tableStyleId>{5C22544A-7EE6-4342-B048-85BDC9FD1C3A}</a:tableStyleId>
              </a:tblPr>
              <a:tblGrid>
                <a:gridCol w="2628900">
                  <a:extLst>
                    <a:ext uri="{9D8B030D-6E8A-4147-A177-3AD203B41FA5}">
                      <a16:colId xmlns:a16="http://schemas.microsoft.com/office/drawing/2014/main" val="2053447074"/>
                    </a:ext>
                  </a:extLst>
                </a:gridCol>
                <a:gridCol w="2628900">
                  <a:extLst>
                    <a:ext uri="{9D8B030D-6E8A-4147-A177-3AD203B41FA5}">
                      <a16:colId xmlns:a16="http://schemas.microsoft.com/office/drawing/2014/main" val="2813614060"/>
                    </a:ext>
                  </a:extLst>
                </a:gridCol>
                <a:gridCol w="2628900">
                  <a:extLst>
                    <a:ext uri="{9D8B030D-6E8A-4147-A177-3AD203B41FA5}">
                      <a16:colId xmlns:a16="http://schemas.microsoft.com/office/drawing/2014/main" val="1288956288"/>
                    </a:ext>
                  </a:extLst>
                </a:gridCol>
                <a:gridCol w="2628900">
                  <a:extLst>
                    <a:ext uri="{9D8B030D-6E8A-4147-A177-3AD203B41FA5}">
                      <a16:colId xmlns:a16="http://schemas.microsoft.com/office/drawing/2014/main" val="3041314225"/>
                    </a:ext>
                  </a:extLst>
                </a:gridCol>
              </a:tblGrid>
              <a:tr h="0">
                <a:tc>
                  <a:txBody>
                    <a:bodyPr/>
                    <a:lstStyle/>
                    <a:p>
                      <a:pPr fontAlgn="t"/>
                      <a:r>
                        <a:rPr lang="en-US" dirty="0">
                          <a:effectLst/>
                        </a:rPr>
                        <a:t>17-hydroxylase deficiency</a:t>
                      </a: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fontAlgn="t">
                        <a:spcAft>
                          <a:spcPts val="600"/>
                        </a:spcAft>
                        <a:buNone/>
                      </a:pPr>
                      <a:r>
                        <a:rPr lang="en-US" dirty="0">
                          <a:effectLst/>
                          <a:latin typeface="Calibri"/>
                        </a:rPr>
                        <a:t>↑</a:t>
                      </a:r>
                      <a:r>
                        <a:rPr lang="en-US" dirty="0">
                          <a:effectLst/>
                        </a:rPr>
                        <a:t> DOC, corticosterone</a:t>
                      </a:r>
                    </a:p>
                    <a:p>
                      <a:pPr fontAlgn="t">
                        <a:spcAft>
                          <a:spcPts val="600"/>
                        </a:spcAft>
                        <a:buNone/>
                      </a:pPr>
                      <a:r>
                        <a:rPr lang="en-US" dirty="0">
                          <a:effectLst/>
                          <a:latin typeface="Calibri"/>
                        </a:rPr>
                        <a:t>↓</a:t>
                      </a:r>
                      <a:r>
                        <a:rPr lang="en-US" dirty="0">
                          <a:effectLst/>
                        </a:rPr>
                        <a:t> 17OH-steroids, cortisol</a:t>
                      </a:r>
                    </a:p>
                    <a:p>
                      <a:pPr fontAlgn="t">
                        <a:spcAft>
                          <a:spcPts val="600"/>
                        </a:spcAft>
                        <a:buNone/>
                      </a:pPr>
                      <a:r>
                        <a:rPr lang="en-US" dirty="0">
                          <a:effectLst/>
                          <a:latin typeface="Calibri"/>
                        </a:rPr>
                        <a:t>↓</a:t>
                      </a:r>
                      <a:r>
                        <a:rPr lang="en-US" dirty="0">
                          <a:effectLst/>
                        </a:rPr>
                        <a:t> aldosterone</a:t>
                      </a:r>
                    </a:p>
                    <a:p>
                      <a:pPr fontAlgn="t"/>
                      <a:r>
                        <a:rPr lang="en-US" dirty="0">
                          <a:effectLst/>
                          <a:latin typeface="Calibri"/>
                        </a:rPr>
                        <a:t>↓</a:t>
                      </a:r>
                      <a:r>
                        <a:rPr lang="en-US" dirty="0">
                          <a:effectLst/>
                        </a:rPr>
                        <a:t> androgens and estrogens</a:t>
                      </a: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fontAlgn="t">
                        <a:spcAft>
                          <a:spcPts val="600"/>
                        </a:spcAft>
                        <a:buNone/>
                      </a:pPr>
                      <a:r>
                        <a:rPr lang="en-US" dirty="0">
                          <a:effectLst/>
                        </a:rPr>
                        <a:t>Atypical genitalia or infantilism</a:t>
                      </a:r>
                    </a:p>
                    <a:p>
                      <a:pPr fontAlgn="t"/>
                      <a:r>
                        <a:rPr lang="en-US" dirty="0">
                          <a:effectLst/>
                        </a:rPr>
                        <a:t>Autosomal recessive</a:t>
                      </a: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fontAlgn="t"/>
                      <a:r>
                        <a:rPr lang="en-US" i="1" dirty="0">
                          <a:effectLst/>
                        </a:rPr>
                        <a:t>CYP17A1</a:t>
                      </a:r>
                      <a:endParaRPr lang="en-US" dirty="0">
                        <a:effectLst/>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4022504524"/>
                  </a:ext>
                </a:extLst>
              </a:tr>
              <a:tr h="0">
                <a:tc>
                  <a:txBody>
                    <a:bodyPr/>
                    <a:lstStyle/>
                    <a:p>
                      <a:pPr fontAlgn="t"/>
                      <a:r>
                        <a:rPr lang="en-US" dirty="0">
                          <a:effectLst/>
                        </a:rPr>
                        <a:t>11-beta-hydroxylase deficiency</a:t>
                      </a: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757575"/>
                      </a:solidFill>
                      <a:prstDash val="solid"/>
                      <a:round/>
                      <a:headEnd type="none" w="med" len="med"/>
                      <a:tailEnd type="none" w="med" len="med"/>
                    </a:lnB>
                    <a:solidFill>
                      <a:srgbClr val="FFFFFF"/>
                    </a:solidFill>
                  </a:tcPr>
                </a:tc>
                <a:tc>
                  <a:txBody>
                    <a:bodyPr/>
                    <a:lstStyle/>
                    <a:p>
                      <a:pPr fontAlgn="t">
                        <a:spcAft>
                          <a:spcPts val="600"/>
                        </a:spcAft>
                        <a:buNone/>
                      </a:pPr>
                      <a:r>
                        <a:rPr lang="en-US" dirty="0">
                          <a:effectLst/>
                          <a:latin typeface="Calibri"/>
                        </a:rPr>
                        <a:t>↑</a:t>
                      </a:r>
                      <a:r>
                        <a:rPr lang="en-US" dirty="0">
                          <a:effectLst/>
                        </a:rPr>
                        <a:t> DOC, 11-deoxycortisol</a:t>
                      </a:r>
                    </a:p>
                    <a:p>
                      <a:pPr fontAlgn="t">
                        <a:spcAft>
                          <a:spcPts val="600"/>
                        </a:spcAft>
                        <a:buNone/>
                      </a:pPr>
                      <a:r>
                        <a:rPr lang="en-US" dirty="0">
                          <a:effectLst/>
                          <a:latin typeface="Calibri"/>
                        </a:rPr>
                        <a:t>↓</a:t>
                      </a:r>
                      <a:r>
                        <a:rPr lang="en-US" dirty="0">
                          <a:effectLst/>
                        </a:rPr>
                        <a:t> corticosterone, cortisol</a:t>
                      </a:r>
                    </a:p>
                    <a:p>
                      <a:pPr fontAlgn="t">
                        <a:spcAft>
                          <a:spcPts val="600"/>
                        </a:spcAft>
                        <a:buNone/>
                      </a:pPr>
                      <a:r>
                        <a:rPr lang="en-US" dirty="0">
                          <a:effectLst/>
                          <a:latin typeface="Calibri"/>
                        </a:rPr>
                        <a:t>↓</a:t>
                      </a:r>
                      <a:r>
                        <a:rPr lang="en-US" dirty="0">
                          <a:effectLst/>
                        </a:rPr>
                        <a:t> aldosterone</a:t>
                      </a:r>
                    </a:p>
                    <a:p>
                      <a:pPr fontAlgn="t"/>
                      <a:r>
                        <a:rPr lang="en-US" dirty="0">
                          <a:effectLst/>
                          <a:latin typeface="Calibri"/>
                        </a:rPr>
                        <a:t>↑</a:t>
                      </a:r>
                      <a:r>
                        <a:rPr lang="en-US" dirty="0">
                          <a:effectLst/>
                        </a:rPr>
                        <a:t> androgens</a:t>
                      </a: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757575"/>
                      </a:solidFill>
                      <a:prstDash val="solid"/>
                      <a:round/>
                      <a:headEnd type="none" w="med" len="med"/>
                      <a:tailEnd type="none" w="med" len="med"/>
                    </a:lnB>
                    <a:solidFill>
                      <a:srgbClr val="FFFFFF"/>
                    </a:solidFill>
                  </a:tcPr>
                </a:tc>
                <a:tc>
                  <a:txBody>
                    <a:bodyPr/>
                    <a:lstStyle/>
                    <a:p>
                      <a:pPr fontAlgn="t">
                        <a:spcAft>
                          <a:spcPts val="600"/>
                        </a:spcAft>
                        <a:buNone/>
                      </a:pPr>
                      <a:r>
                        <a:rPr lang="en-US" dirty="0">
                          <a:effectLst/>
                        </a:rPr>
                        <a:t>HTN</a:t>
                      </a:r>
                      <a:endParaRPr lang="en-US" dirty="0"/>
                    </a:p>
                    <a:p>
                      <a:pPr lvl="0">
                        <a:spcAft>
                          <a:spcPts val="600"/>
                        </a:spcAft>
                        <a:buNone/>
                      </a:pPr>
                      <a:r>
                        <a:rPr lang="en-US" dirty="0">
                          <a:effectLst/>
                        </a:rPr>
                        <a:t>Androgen excess</a:t>
                      </a:r>
                    </a:p>
                    <a:p>
                      <a:pPr fontAlgn="t"/>
                      <a:r>
                        <a:rPr lang="en-US" dirty="0">
                          <a:effectLst/>
                        </a:rPr>
                        <a:t>Autosomal recessive</a:t>
                      </a: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757575"/>
                      </a:solidFill>
                      <a:prstDash val="solid"/>
                      <a:round/>
                      <a:headEnd type="none" w="med" len="med"/>
                      <a:tailEnd type="none" w="med" len="med"/>
                    </a:lnB>
                    <a:solidFill>
                      <a:srgbClr val="FFFFFF"/>
                    </a:solidFill>
                  </a:tcPr>
                </a:tc>
                <a:tc>
                  <a:txBody>
                    <a:bodyPr/>
                    <a:lstStyle/>
                    <a:p>
                      <a:pPr fontAlgn="t"/>
                      <a:r>
                        <a:rPr lang="en-US" i="1" dirty="0">
                          <a:effectLst/>
                        </a:rPr>
                        <a:t>CYP11B1</a:t>
                      </a:r>
                      <a:endParaRPr lang="en-US" dirty="0">
                        <a:effectLst/>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757575"/>
                      </a:solidFill>
                      <a:prstDash val="solid"/>
                      <a:round/>
                      <a:headEnd type="none" w="med" len="med"/>
                      <a:tailEnd type="none" w="med" len="med"/>
                    </a:lnB>
                    <a:solidFill>
                      <a:srgbClr val="FFFFFF"/>
                    </a:solidFill>
                  </a:tcPr>
                </a:tc>
                <a:extLst>
                  <a:ext uri="{0D108BD9-81ED-4DB2-BD59-A6C34878D82A}">
                    <a16:rowId xmlns:a16="http://schemas.microsoft.com/office/drawing/2014/main" val="3867194980"/>
                  </a:ext>
                </a:extLst>
              </a:tr>
            </a:tbl>
          </a:graphicData>
        </a:graphic>
      </p:graphicFrame>
    </p:spTree>
    <p:extLst>
      <p:ext uri="{BB962C8B-B14F-4D97-AF65-F5344CB8AC3E}">
        <p14:creationId xmlns:p14="http://schemas.microsoft.com/office/powerpoint/2010/main" val="7021812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F95CE-2CBF-C8C5-01B0-88E3DACD1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E80F30-7FDA-E84F-E2A3-9038A9ADDEF7}"/>
              </a:ext>
            </a:extLst>
          </p:cNvPr>
          <p:cNvSpPr>
            <a:spLocks noGrp="1"/>
          </p:cNvSpPr>
          <p:nvPr>
            <p:ph type="title"/>
          </p:nvPr>
        </p:nvSpPr>
        <p:spPr/>
        <p:txBody>
          <a:bodyPr/>
          <a:lstStyle/>
          <a:p>
            <a:r>
              <a:rPr lang="en-US" dirty="0"/>
              <a:t>CAH</a:t>
            </a:r>
          </a:p>
        </p:txBody>
      </p:sp>
      <p:pic>
        <p:nvPicPr>
          <p:cNvPr id="4" name="Content Placeholder 3" descr="A diagram of a group of menstruation&#10;&#10;AI-generated content may be incorrect.">
            <a:extLst>
              <a:ext uri="{FF2B5EF4-FFF2-40B4-BE49-F238E27FC236}">
                <a16:creationId xmlns:a16="http://schemas.microsoft.com/office/drawing/2014/main" id="{9C887255-0193-DBD2-3158-BF48EF808A74}"/>
              </a:ext>
            </a:extLst>
          </p:cNvPr>
          <p:cNvPicPr>
            <a:picLocks noGrp="1" noChangeAspect="1"/>
          </p:cNvPicPr>
          <p:nvPr>
            <p:ph idx="1"/>
          </p:nvPr>
        </p:nvPicPr>
        <p:blipFill>
          <a:blip r:embed="rId2"/>
          <a:stretch>
            <a:fillRect/>
          </a:stretch>
        </p:blipFill>
        <p:spPr>
          <a:xfrm>
            <a:off x="1067724" y="1701575"/>
            <a:ext cx="8221992" cy="4351788"/>
          </a:xfrm>
        </p:spPr>
      </p:pic>
      <p:sp>
        <p:nvSpPr>
          <p:cNvPr id="5" name="TextBox 4">
            <a:extLst>
              <a:ext uri="{FF2B5EF4-FFF2-40B4-BE49-F238E27FC236}">
                <a16:creationId xmlns:a16="http://schemas.microsoft.com/office/drawing/2014/main" id="{39DE4E70-0246-3B6B-3CE9-02A0AEB9B6A6}"/>
              </a:ext>
            </a:extLst>
          </p:cNvPr>
          <p:cNvSpPr txBox="1"/>
          <p:nvPr/>
        </p:nvSpPr>
        <p:spPr>
          <a:xfrm>
            <a:off x="8705850" y="1143000"/>
            <a:ext cx="27432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PT Serif"/>
              </a:rPr>
              <a:t>ACTH stimulation is needed for adrenal steroidogenesis. </a:t>
            </a:r>
            <a:endParaRPr lang="en-US" dirty="0">
              <a:latin typeface="Aptos" panose="020B0004020202020204"/>
            </a:endParaRPr>
          </a:p>
          <a:p>
            <a:r>
              <a:rPr lang="en-US" dirty="0">
                <a:latin typeface="PT Serif"/>
              </a:rPr>
              <a:t>---Some of the intermediate precursors like 11-deoxycortisol and androstenedione are active hormones as well. They normally circulate at much lower levels. But in CAH, because of enzymatic blocks, the levels of these precursors can go up in the blood, causing hormonal effects.</a:t>
            </a:r>
            <a:endParaRPr lang="en-US" dirty="0"/>
          </a:p>
        </p:txBody>
      </p:sp>
      <p:sp>
        <p:nvSpPr>
          <p:cNvPr id="3" name="Star: 5 Points 2">
            <a:extLst>
              <a:ext uri="{FF2B5EF4-FFF2-40B4-BE49-F238E27FC236}">
                <a16:creationId xmlns:a16="http://schemas.microsoft.com/office/drawing/2014/main" id="{1BE35CB1-1B04-58AE-163E-820E2373DDF0}"/>
              </a:ext>
            </a:extLst>
          </p:cNvPr>
          <p:cNvSpPr/>
          <p:nvPr/>
        </p:nvSpPr>
        <p:spPr>
          <a:xfrm>
            <a:off x="345199" y="363592"/>
            <a:ext cx="391633" cy="577703"/>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19864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74C2-7261-5883-E534-F3D804DA8C56}"/>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4F8EE6B4-3176-E569-CE18-8EFAF5106B03}"/>
              </a:ext>
            </a:extLst>
          </p:cNvPr>
          <p:cNvSpPr>
            <a:spLocks noGrp="1"/>
          </p:cNvSpPr>
          <p:nvPr>
            <p:ph idx="1"/>
          </p:nvPr>
        </p:nvSpPr>
        <p:spPr/>
        <p:txBody>
          <a:bodyPr vert="horz" lIns="91440" tIns="45720" rIns="91440" bIns="45720" rtlCol="0" anchor="t">
            <a:normAutofit/>
          </a:bodyPr>
          <a:lstStyle/>
          <a:p>
            <a:r>
              <a:rPr lang="en-US" dirty="0"/>
              <a:t>References</a:t>
            </a:r>
          </a:p>
          <a:p>
            <a:r>
              <a:rPr lang="en-US" dirty="0"/>
              <a:t>Scholar </a:t>
            </a:r>
            <a:r>
              <a:rPr lang="en-US" dirty="0" err="1"/>
              <a:t>rx</a:t>
            </a:r>
            <a:r>
              <a:rPr lang="en-US" dirty="0"/>
              <a:t>, </a:t>
            </a:r>
            <a:r>
              <a:rPr lang="en-US" dirty="0" err="1"/>
              <a:t>uptodate</a:t>
            </a:r>
            <a:r>
              <a:rPr lang="en-US" dirty="0"/>
              <a:t>, earlier lectures</a:t>
            </a:r>
          </a:p>
          <a:p>
            <a:endParaRPr lang="en-US" dirty="0"/>
          </a:p>
        </p:txBody>
      </p:sp>
      <p:pic>
        <p:nvPicPr>
          <p:cNvPr id="6" name="Picture 5" descr="A screen shot of a rabbit&#10;&#10;AI-generated content may be incorrect.">
            <a:extLst>
              <a:ext uri="{FF2B5EF4-FFF2-40B4-BE49-F238E27FC236}">
                <a16:creationId xmlns:a16="http://schemas.microsoft.com/office/drawing/2014/main" id="{49D85DE9-C392-5659-A1EC-5B578E56D233}"/>
              </a:ext>
            </a:extLst>
          </p:cNvPr>
          <p:cNvPicPr>
            <a:picLocks noChangeAspect="1"/>
          </p:cNvPicPr>
          <p:nvPr/>
        </p:nvPicPr>
        <p:blipFill>
          <a:blip r:embed="rId2"/>
          <a:stretch>
            <a:fillRect/>
          </a:stretch>
        </p:blipFill>
        <p:spPr>
          <a:xfrm>
            <a:off x="8007202" y="1883"/>
            <a:ext cx="1600200" cy="6677025"/>
          </a:xfrm>
          <a:prstGeom prst="rect">
            <a:avLst/>
          </a:prstGeom>
        </p:spPr>
      </p:pic>
      <p:sp>
        <p:nvSpPr>
          <p:cNvPr id="7" name="TextBox 6">
            <a:extLst>
              <a:ext uri="{FF2B5EF4-FFF2-40B4-BE49-F238E27FC236}">
                <a16:creationId xmlns:a16="http://schemas.microsoft.com/office/drawing/2014/main" id="{E23ED85F-CF5F-BB17-DDFE-0B26C71300C4}"/>
              </a:ext>
            </a:extLst>
          </p:cNvPr>
          <p:cNvSpPr txBox="1"/>
          <p:nvPr/>
        </p:nvSpPr>
        <p:spPr>
          <a:xfrm>
            <a:off x="4724400" y="3200400"/>
            <a:ext cx="2743200" cy="30097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3300"/>
              </a:lnSpc>
            </a:pPr>
            <a:r>
              <a:rPr lang="en-US" dirty="0">
                <a:solidFill>
                  <a:srgbClr val="1A1A1A"/>
                </a:solidFill>
                <a:latin typeface="Sabon"/>
              </a:rPr>
              <a:t>Morning-Glories, Rabbits, and Moon</a:t>
            </a:r>
            <a:endParaRPr lang="en-US" dirty="0"/>
          </a:p>
          <a:p>
            <a:pPr>
              <a:lnSpc>
                <a:spcPts val="3300"/>
              </a:lnSpc>
            </a:pPr>
            <a:r>
              <a:rPr lang="en-US" b="1" dirty="0">
                <a:solidFill>
                  <a:srgbClr val="333333"/>
                </a:solidFill>
                <a:latin typeface="Helvetica"/>
                <a:cs typeface="Helvetica"/>
              </a:rPr>
              <a:t>Date:</a:t>
            </a:r>
            <a:endParaRPr lang="en-US" dirty="0"/>
          </a:p>
          <a:p>
            <a:pPr>
              <a:lnSpc>
                <a:spcPts val="3300"/>
              </a:lnSpc>
            </a:pPr>
            <a:r>
              <a:rPr lang="en-US" dirty="0">
                <a:solidFill>
                  <a:srgbClr val="767676"/>
                </a:solidFill>
                <a:latin typeface="Ideal Sans A"/>
              </a:rPr>
              <a:t>c. 1920</a:t>
            </a:r>
          </a:p>
          <a:p>
            <a:pPr>
              <a:lnSpc>
                <a:spcPts val="3300"/>
              </a:lnSpc>
            </a:pPr>
            <a:r>
              <a:rPr lang="en-US" b="1" dirty="0">
                <a:solidFill>
                  <a:srgbClr val="333333"/>
                </a:solidFill>
                <a:latin typeface="Helvetica"/>
                <a:cs typeface="Helvetica"/>
              </a:rPr>
              <a:t>Artist:</a:t>
            </a:r>
          </a:p>
          <a:p>
            <a:pPr>
              <a:lnSpc>
                <a:spcPts val="3300"/>
              </a:lnSpc>
            </a:pPr>
            <a:r>
              <a:rPr lang="en-US" dirty="0">
                <a:solidFill>
                  <a:srgbClr val="767676"/>
                </a:solidFill>
                <a:latin typeface="Ideal Sans A"/>
              </a:rPr>
              <a:t>After Isoda </a:t>
            </a:r>
            <a:r>
              <a:rPr lang="en-US" dirty="0" err="1">
                <a:solidFill>
                  <a:srgbClr val="767676"/>
                </a:solidFill>
                <a:latin typeface="Ideal Sans A"/>
              </a:rPr>
              <a:t>Koryusai</a:t>
            </a:r>
            <a:br>
              <a:rPr lang="en-US" dirty="0">
                <a:latin typeface="Ideal Sans A"/>
              </a:rPr>
            </a:br>
            <a:r>
              <a:rPr lang="en-US" dirty="0">
                <a:solidFill>
                  <a:srgbClr val="767676"/>
                </a:solidFill>
                <a:latin typeface="Ideal Sans A"/>
              </a:rPr>
              <a:t>Japanese, 1735-1790</a:t>
            </a:r>
          </a:p>
        </p:txBody>
      </p:sp>
    </p:spTree>
    <p:extLst>
      <p:ext uri="{BB962C8B-B14F-4D97-AF65-F5344CB8AC3E}">
        <p14:creationId xmlns:p14="http://schemas.microsoft.com/office/powerpoint/2010/main" val="3363427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3938</Words>
  <Application>Microsoft Office PowerPoint</Application>
  <PresentationFormat>Widescreen</PresentationFormat>
  <Paragraphs>282</Paragraphs>
  <Slides>60</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60</vt:i4>
      </vt:variant>
    </vt:vector>
  </HeadingPairs>
  <TitlesOfParts>
    <vt:vector size="75" baseType="lpstr">
      <vt:lpstr>Aptos</vt:lpstr>
      <vt:lpstr>Aptos Display</vt:lpstr>
      <vt:lpstr>Arial</vt:lpstr>
      <vt:lpstr>Calibri</vt:lpstr>
      <vt:lpstr>Helvetica</vt:lpstr>
      <vt:lpstr>Ideal Sans A</vt:lpstr>
      <vt:lpstr>Lucida Sans</vt:lpstr>
      <vt:lpstr>Merriweather</vt:lpstr>
      <vt:lpstr>Noto Sans</vt:lpstr>
      <vt:lpstr>OTNEJMScalaSansLF</vt:lpstr>
      <vt:lpstr>PT Serif</vt:lpstr>
      <vt:lpstr>Sabon</vt:lpstr>
      <vt:lpstr>Source Sans Pro</vt:lpstr>
      <vt:lpstr>Times New Roman</vt:lpstr>
      <vt:lpstr>office theme</vt:lpstr>
      <vt:lpstr>Endocrine lectures – Adrenal </vt:lpstr>
      <vt:lpstr>Objectives </vt:lpstr>
      <vt:lpstr>PowerPoint Presentation</vt:lpstr>
      <vt:lpstr>Embryology</vt:lpstr>
      <vt:lpstr>PowerPoint Presentation</vt:lpstr>
      <vt:lpstr>Adrenal cortex</vt:lpstr>
      <vt:lpstr>PowerPoint Presentation</vt:lpstr>
      <vt:lpstr>Adrenal medulla</vt:lpstr>
      <vt:lpstr>PowerPoint Presentation</vt:lpstr>
      <vt:lpstr>Adrenal  medulla</vt:lpstr>
      <vt:lpstr>spinal cord's lateral horn from the T5–T8 spinal cord segments.</vt:lpstr>
      <vt:lpstr>PowerPoint Presentation</vt:lpstr>
      <vt:lpstr>Adrenal ( Adrenocortical) insufficiency- Addison's disease</vt:lpstr>
      <vt:lpstr>Causes </vt:lpstr>
      <vt:lpstr>PowerPoint Presentation</vt:lpstr>
      <vt:lpstr>PowerPoint Presentation</vt:lpstr>
      <vt:lpstr>PowerPoint Presentation</vt:lpstr>
      <vt:lpstr>PowerPoint Presentation</vt:lpstr>
      <vt:lpstr>PowerPoint Presentation</vt:lpstr>
      <vt:lpstr>PowerPoint Presentation</vt:lpstr>
      <vt:lpstr>Treatment </vt:lpstr>
      <vt:lpstr>Addison's crisis</vt:lpstr>
      <vt:lpstr>Secondary Adrenal insufficiency</vt:lpstr>
      <vt:lpstr>Do not abruptly stop long term steroids</vt:lpstr>
      <vt:lpstr>Cushing syndrome</vt:lpstr>
      <vt:lpstr>What is the difference between Cushing Syndrome and Cushing Disease?</vt:lpstr>
      <vt:lpstr>PowerPoint Presentation</vt:lpstr>
      <vt:lpstr>PowerPoint Presentation</vt:lpstr>
      <vt:lpstr>PowerPoint Presentation</vt:lpstr>
      <vt:lpstr>Causes of Cushing syndrome</vt:lpstr>
      <vt:lpstr>PowerPoint Presentation</vt:lpstr>
      <vt:lpstr>Testing - 3</vt:lpstr>
      <vt:lpstr>PowerPoint Presentation</vt:lpstr>
      <vt:lpstr>Treatment </vt:lpstr>
      <vt:lpstr>Aldosterone excess-  Primary hyperaldosteronism</vt:lpstr>
      <vt:lpstr>Adrenal cancer - rare</vt:lpstr>
      <vt:lpstr>Adrenal medulla - Pheochromocytoma</vt:lpstr>
      <vt:lpstr>PowerPoint Presentation</vt:lpstr>
      <vt:lpstr>PowerPoint Presentation</vt:lpstr>
      <vt:lpstr>PowerPoint Presentation</vt:lpstr>
      <vt:lpstr>Questions—so far Rabbits under full moon Date: c. 1830s Artist: Utagawa Hiroshige 歌川 広重 </vt:lpstr>
      <vt:lpstr>Congenital Adrenal Hyperplasia (CAH) is a group of autosomal recessive genetic disorders that affect the adrenal glands, leading to deficiencies in the production of cortisol </vt:lpstr>
      <vt:lpstr>CAH</vt:lpstr>
      <vt:lpstr>PowerPoint Presentation</vt:lpstr>
      <vt:lpstr>In tandem...</vt:lpstr>
      <vt:lpstr>PowerPoint Presentation</vt:lpstr>
      <vt:lpstr>CAH</vt:lpstr>
      <vt:lpstr>21 hydroxylase deficiency</vt:lpstr>
      <vt:lpstr>PowerPoint Presentation</vt:lpstr>
      <vt:lpstr>21 hydroxylase deficiency</vt:lpstr>
      <vt:lpstr>21 hydroxylase def </vt:lpstr>
      <vt:lpstr>PowerPoint Presentation</vt:lpstr>
      <vt:lpstr>Clinical presentation</vt:lpstr>
      <vt:lpstr>CAH treatment</vt:lpstr>
      <vt:lpstr>PowerPoint Presentation</vt:lpstr>
      <vt:lpstr>Other CAH </vt:lpstr>
      <vt:lpstr>PowerPoint Presentation</vt:lpstr>
      <vt:lpstr>PowerPoint Presentation</vt:lpstr>
      <vt:lpstr>CAH</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Buzicky, Stacey</cp:lastModifiedBy>
  <cp:revision>1724</cp:revision>
  <dcterms:created xsi:type="dcterms:W3CDTF">2025-05-25T00:16:59Z</dcterms:created>
  <dcterms:modified xsi:type="dcterms:W3CDTF">2026-06-30T19:39:10Z</dcterms:modified>
</cp:coreProperties>
</file>