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 id="2147483686" r:id="rId2"/>
  </p:sldMasterIdLst>
  <p:notesMasterIdLst>
    <p:notesMasterId r:id="rId16"/>
  </p:notesMasterIdLst>
  <p:sldIdLst>
    <p:sldId id="283" r:id="rId3"/>
    <p:sldId id="302" r:id="rId4"/>
    <p:sldId id="312" r:id="rId5"/>
    <p:sldId id="313" r:id="rId6"/>
    <p:sldId id="314" r:id="rId7"/>
    <p:sldId id="316" r:id="rId8"/>
    <p:sldId id="310" r:id="rId9"/>
    <p:sldId id="311" r:id="rId10"/>
    <p:sldId id="319" r:id="rId11"/>
    <p:sldId id="266" r:id="rId12"/>
    <p:sldId id="305" r:id="rId13"/>
    <p:sldId id="308" r:id="rId14"/>
    <p:sldId id="30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11136"/>
    <a:srgbClr val="1328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6" autoAdjust="0"/>
    <p:restoredTop sz="93947" autoAdjust="0"/>
  </p:normalViewPr>
  <p:slideViewPr>
    <p:cSldViewPr snapToGrid="0" snapToObjects="1">
      <p:cViewPr varScale="1">
        <p:scale>
          <a:sx n="104" d="100"/>
          <a:sy n="104" d="100"/>
        </p:scale>
        <p:origin x="150" y="10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9FE3E-3DAE-E846-B427-0C6FF2ADC3FA}" type="datetimeFigureOut">
              <a:rPr lang="en-US" smtClean="0"/>
              <a:t>9/16/2026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CDFED2-1420-0840-A62B-489AF258C319}" type="slidenum">
              <a:rPr lang="en-US" smtClean="0"/>
              <a:t>‹#›</a:t>
            </a:fld>
            <a:endParaRPr lang="en-US" dirty="0"/>
          </a:p>
        </p:txBody>
      </p:sp>
    </p:spTree>
    <p:extLst>
      <p:ext uri="{BB962C8B-B14F-4D97-AF65-F5344CB8AC3E}">
        <p14:creationId xmlns:p14="http://schemas.microsoft.com/office/powerpoint/2010/main" val="113220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C860-9D46-CE49-A462-6E0B969BA45D}"/>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592EC77-DDA9-C941-9CE4-09B68BEA58B9}"/>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79F07BC-9F2C-5740-A305-249412C3EB48}"/>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5" name="Footer Placeholder 4">
            <a:extLst>
              <a:ext uri="{FF2B5EF4-FFF2-40B4-BE49-F238E27FC236}">
                <a16:creationId xmlns:a16="http://schemas.microsoft.com/office/drawing/2014/main" id="{8169C20A-1AA8-474F-9EBB-3D13F1B4B305}"/>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B83C561-313A-C540-9FB7-5F3E293487B9}"/>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3683189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850A2-0333-4F48-8C80-7F9E7991882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D2A9F88-C25F-CE47-9E90-3873DCCF6BB1}"/>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5206E-458C-3B4E-AA29-E7703D3AC024}"/>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5" name="Footer Placeholder 4">
            <a:extLst>
              <a:ext uri="{FF2B5EF4-FFF2-40B4-BE49-F238E27FC236}">
                <a16:creationId xmlns:a16="http://schemas.microsoft.com/office/drawing/2014/main" id="{572AC6E1-B413-8A4E-8DA4-CEC68B2A35D6}"/>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CC4A72B-357E-AC46-A685-7C28DD1590BA}"/>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974781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A6A26-5D1B-5A42-A21D-51F91BFE1C64}"/>
              </a:ext>
            </a:extLst>
          </p:cNvPr>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C7D7840-F727-C342-BB73-DADAA4397F3C}"/>
              </a:ext>
            </a:extLst>
          </p:cNvPr>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5061D6-8DE6-0842-AA47-154187647E19}"/>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5" name="Footer Placeholder 4">
            <a:extLst>
              <a:ext uri="{FF2B5EF4-FFF2-40B4-BE49-F238E27FC236}">
                <a16:creationId xmlns:a16="http://schemas.microsoft.com/office/drawing/2014/main" id="{BA6112FA-4C01-144A-8BAC-833AA152D51D}"/>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236B7354-5CD3-064D-AC70-47E2EE0E2EAF}"/>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437464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A2F16-2EDD-1C4F-B6D4-1DCD78026AC1}"/>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8C05F492-6A10-5F48-A913-FFE10725D33A}"/>
              </a:ext>
            </a:extLst>
          </p:cNvPr>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F1DC50-54AA-B240-ACF1-E3C812038151}"/>
              </a:ext>
            </a:extLst>
          </p:cNvPr>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656337-3C20-E34C-97EC-81D7ED6B6B5D}"/>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6" name="Footer Placeholder 5">
            <a:extLst>
              <a:ext uri="{FF2B5EF4-FFF2-40B4-BE49-F238E27FC236}">
                <a16:creationId xmlns:a16="http://schemas.microsoft.com/office/drawing/2014/main" id="{7A619EDF-D74F-E949-8617-CDD6477F6E33}"/>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77285ED-83FE-0249-A524-132320253EB0}"/>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58256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C1DAA-2CD2-5F4F-9241-A0C11C60C1B4}"/>
              </a:ext>
            </a:extLst>
          </p:cNvPr>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B384657-9D11-B34A-8CF6-E8ECAAC3A97D}"/>
              </a:ext>
            </a:extLst>
          </p:cNvPr>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24F8C9C4-6D21-9E46-BB5C-FFC6D219EC10}"/>
              </a:ext>
            </a:extLst>
          </p:cNvPr>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BEFDFE-67E1-8747-B2B3-E0272D321BDC}"/>
              </a:ext>
            </a:extLst>
          </p:cNvPr>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B4CDCDC0-C030-6440-8E2E-B86007F8C44A}"/>
              </a:ext>
            </a:extLst>
          </p:cNvPr>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1B3F91-E48A-FF44-A798-15670425E0ED}"/>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8" name="Footer Placeholder 7">
            <a:extLst>
              <a:ext uri="{FF2B5EF4-FFF2-40B4-BE49-F238E27FC236}">
                <a16:creationId xmlns:a16="http://schemas.microsoft.com/office/drawing/2014/main" id="{13C8EE1B-D129-8F45-A852-40CBA8A97B41}"/>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22F0B99-7A45-C74D-BD3A-5FC92BD83F45}"/>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76704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123DD-D8E8-424A-B891-18CF5DC0505F}"/>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AE3A84B3-ABC4-C74F-A68C-B4E6187069B2}"/>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4" name="Footer Placeholder 3">
            <a:extLst>
              <a:ext uri="{FF2B5EF4-FFF2-40B4-BE49-F238E27FC236}">
                <a16:creationId xmlns:a16="http://schemas.microsoft.com/office/drawing/2014/main" id="{CEA30122-39CE-FE41-8DE7-1035E0FC6D82}"/>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27216F83-C7E1-F44E-9D92-66F730BF6821}"/>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30357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3C54CD-0395-2442-B28E-D950481048CB}"/>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3" name="Footer Placeholder 2">
            <a:extLst>
              <a:ext uri="{FF2B5EF4-FFF2-40B4-BE49-F238E27FC236}">
                <a16:creationId xmlns:a16="http://schemas.microsoft.com/office/drawing/2014/main" id="{E41CDDF9-4A91-B043-8361-1BFB3FBE0398}"/>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C38CCA3-A0EB-1D47-9D48-AB11A545335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43167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A0C6-20FA-AE41-9597-B2B589927D5F}"/>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1AEC23D-F858-F74D-B72B-D744AB09D54F}"/>
              </a:ext>
            </a:extLst>
          </p:cNvPr>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00CA90-0C53-B54A-99A5-1C9D24EDEFB0}"/>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1A7AFA-D618-C441-BCDF-56302A7EE7BC}"/>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6" name="Footer Placeholder 5">
            <a:extLst>
              <a:ext uri="{FF2B5EF4-FFF2-40B4-BE49-F238E27FC236}">
                <a16:creationId xmlns:a16="http://schemas.microsoft.com/office/drawing/2014/main" id="{DBB38D21-F074-4E46-BD67-F3C77B090BB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FEE9508-74BC-9949-9F85-9A66FE3ED505}"/>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486133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E7DD-ED92-AB4B-959A-60886D346947}"/>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D3CF4C7-E75C-C043-9057-D890754E49B5}"/>
              </a:ext>
            </a:extLst>
          </p:cNvPr>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a:extLst>
              <a:ext uri="{FF2B5EF4-FFF2-40B4-BE49-F238E27FC236}">
                <a16:creationId xmlns:a16="http://schemas.microsoft.com/office/drawing/2014/main" id="{AE3C0FA4-C76F-C54F-8EF2-F58E0C646AEF}"/>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1C06FFB-2452-F048-9DDB-D89F5AF81C2F}"/>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6" name="Footer Placeholder 5">
            <a:extLst>
              <a:ext uri="{FF2B5EF4-FFF2-40B4-BE49-F238E27FC236}">
                <a16:creationId xmlns:a16="http://schemas.microsoft.com/office/drawing/2014/main" id="{4298C228-3CB2-2A44-97F8-86CEB86D6AF1}"/>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BAF3494-ED72-0942-BFE5-79CE95C0B8F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507277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5F62-04B0-9A46-9674-559169D6C93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C2E6C2-7151-B043-A359-F9F22D0C92E2}"/>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DA1B0A-90C2-E44C-90D5-BA5DB320B520}"/>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5" name="Footer Placeholder 4">
            <a:extLst>
              <a:ext uri="{FF2B5EF4-FFF2-40B4-BE49-F238E27FC236}">
                <a16:creationId xmlns:a16="http://schemas.microsoft.com/office/drawing/2014/main" id="{7B30DA3B-4182-1247-AC5F-B785FAE40BA6}"/>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BD4CE28-DDDB-C644-BBD2-96C6127D4DE9}"/>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243586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FF3343-4BBD-3242-8226-3F4F09A61B58}"/>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6314B7-325B-494B-9EE1-A61B9030050E}"/>
              </a:ext>
            </a:extLst>
          </p:cNvPr>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158EA-37D7-E949-BF3E-4AD02BAC70A1}"/>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9/16/2026</a:t>
            </a:fld>
            <a:endParaRPr lang="en-US" dirty="0"/>
          </a:p>
        </p:txBody>
      </p:sp>
      <p:sp>
        <p:nvSpPr>
          <p:cNvPr id="5" name="Footer Placeholder 4">
            <a:extLst>
              <a:ext uri="{FF2B5EF4-FFF2-40B4-BE49-F238E27FC236}">
                <a16:creationId xmlns:a16="http://schemas.microsoft.com/office/drawing/2014/main" id="{6F8BFDEB-5EDA-C04E-BD4C-FB149467AC59}"/>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04E0750-45E7-4640-849C-7DE4BBDD7E2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312642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tistics 1">
    <p:spTree>
      <p:nvGrpSpPr>
        <p:cNvPr id="1" name=""/>
        <p:cNvGrpSpPr/>
        <p:nvPr/>
      </p:nvGrpSpPr>
      <p:grpSpPr>
        <a:xfrm>
          <a:off x="0" y="0"/>
          <a:ext cx="0" cy="0"/>
          <a:chOff x="0" y="0"/>
          <a:chExt cx="0" cy="0"/>
        </a:xfrm>
      </p:grpSpPr>
      <p:sp>
        <p:nvSpPr>
          <p:cNvPr id="5" name="Shape 82"/>
          <p:cNvSpPr/>
          <p:nvPr userDrawn="1"/>
        </p:nvSpPr>
        <p:spPr>
          <a:xfrm>
            <a:off x="0" y="-1"/>
            <a:ext cx="9144000" cy="3314267"/>
          </a:xfrm>
          <a:prstGeom prst="rect">
            <a:avLst/>
          </a:prstGeom>
          <a:solidFill>
            <a:srgbClr val="FFFFFF"/>
          </a:solidFill>
          <a:ln>
            <a:noFill/>
          </a:ln>
        </p:spPr>
        <p:txBody>
          <a:bodyPr wrap="square" lIns="68569" tIns="68569" rIns="68569" bIns="68569" anchor="ctr" anchorCtr="0">
            <a:noAutofit/>
          </a:bodyPr>
          <a:lstStyle/>
          <a:p>
            <a:pPr lvl="0">
              <a:spcBef>
                <a:spcPts val="0"/>
              </a:spcBef>
              <a:buNone/>
            </a:pPr>
            <a:endParaRPr sz="1350" dirty="0"/>
          </a:p>
        </p:txBody>
      </p:sp>
    </p:spTree>
    <p:extLst>
      <p:ext uri="{BB962C8B-B14F-4D97-AF65-F5344CB8AC3E}">
        <p14:creationId xmlns:p14="http://schemas.microsoft.com/office/powerpoint/2010/main" val="421958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150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Single image - no bullets">
    <p:spTree>
      <p:nvGrpSpPr>
        <p:cNvPr id="1" name=""/>
        <p:cNvGrpSpPr/>
        <p:nvPr/>
      </p:nvGrpSpPr>
      <p:grpSpPr>
        <a:xfrm>
          <a:off x="0" y="0"/>
          <a:ext cx="0" cy="0"/>
          <a:chOff x="0" y="0"/>
          <a:chExt cx="0" cy="0"/>
        </a:xfrm>
      </p:grpSpPr>
      <p:cxnSp>
        <p:nvCxnSpPr>
          <p:cNvPr id="8" name="Straight Connector 7"/>
          <p:cNvCxnSpPr/>
          <p:nvPr userDrawn="1"/>
        </p:nvCxnSpPr>
        <p:spPr>
          <a:xfrm>
            <a:off x="-792605" y="1560086"/>
            <a:ext cx="0" cy="4807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417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ICOM Model">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97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nly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96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nly 2">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665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ultiple Image and Text 1">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242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Images and Text 2">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36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0657B-4719-A74F-B648-38F863C54EFE}"/>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B3EA0B8-571D-4741-87E9-A325E69E08BA}"/>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BADD624-F446-8E4F-8325-E014A6B2EA71}"/>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5" name="Footer Placeholder 4">
            <a:extLst>
              <a:ext uri="{FF2B5EF4-FFF2-40B4-BE49-F238E27FC236}">
                <a16:creationId xmlns:a16="http://schemas.microsoft.com/office/drawing/2014/main" id="{7B4AA4AA-0C11-8940-9D08-AE6E6239E420}"/>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A9E369E-599F-494C-9DC3-9229AEBCA30C}"/>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791253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F599-B0D5-984E-A492-00ED395EA39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EE1B932-7C8A-4D49-A3FE-D416F3EA9FA8}"/>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393A45-9103-1A48-A8F3-895CF18C3D1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5" name="Footer Placeholder 4">
            <a:extLst>
              <a:ext uri="{FF2B5EF4-FFF2-40B4-BE49-F238E27FC236}">
                <a16:creationId xmlns:a16="http://schemas.microsoft.com/office/drawing/2014/main" id="{1BA32C3E-3627-AB4E-8AAC-E1FCEDF38C8B}"/>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1A73B51-1A8F-C44C-95B5-79164DFC8C74}"/>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1126320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7B620-C8D6-A44B-AF93-D9B61DAE809F}"/>
              </a:ext>
            </a:extLst>
          </p:cNvPr>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9384405-6A36-8846-A419-36DF8518B587}"/>
              </a:ext>
            </a:extLst>
          </p:cNvPr>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A08C0F-844C-1540-BA42-9B875940860C}"/>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5" name="Footer Placeholder 4">
            <a:extLst>
              <a:ext uri="{FF2B5EF4-FFF2-40B4-BE49-F238E27FC236}">
                <a16:creationId xmlns:a16="http://schemas.microsoft.com/office/drawing/2014/main" id="{BC2E5BC7-DA5D-8847-BCE6-68535B8F377E}"/>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F0AF86A-28D2-094A-89A1-7798525579F0}"/>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655337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0701-AE44-BD4E-A0B5-78A44B14A09C}"/>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AB30FDD-AE22-9146-B143-69CB6BBA6470}"/>
              </a:ext>
            </a:extLst>
          </p:cNvPr>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D4BF0D-DD38-364B-8190-1F1BE2B5C48E}"/>
              </a:ext>
            </a:extLst>
          </p:cNvPr>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17FC9E-B235-404D-9DC8-A9CC409777D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6" name="Footer Placeholder 5">
            <a:extLst>
              <a:ext uri="{FF2B5EF4-FFF2-40B4-BE49-F238E27FC236}">
                <a16:creationId xmlns:a16="http://schemas.microsoft.com/office/drawing/2014/main" id="{5D2BE16F-9DB7-5149-8184-98A6E77234F9}"/>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E3285864-2EDA-BD4F-960D-AB441A9ACBE4}"/>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1250395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CDC7-E005-A949-8331-ECA88DD214CE}"/>
              </a:ext>
            </a:extLst>
          </p:cNvPr>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49A8616-47E9-7B41-9670-90E36F01651C}"/>
              </a:ext>
            </a:extLst>
          </p:cNvPr>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E05F1CE8-B4CF-EE44-A689-BBBCBADDC5E0}"/>
              </a:ext>
            </a:extLst>
          </p:cNvPr>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D94CFE-F5D4-534C-A33D-E87A46A4BD84}"/>
              </a:ext>
            </a:extLst>
          </p:cNvPr>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4E91C505-1A7B-6B44-B27F-69521ABD8528}"/>
              </a:ext>
            </a:extLst>
          </p:cNvPr>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B8578F-5F58-284A-960E-03735A51DB63}"/>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8" name="Footer Placeholder 7">
            <a:extLst>
              <a:ext uri="{FF2B5EF4-FFF2-40B4-BE49-F238E27FC236}">
                <a16:creationId xmlns:a16="http://schemas.microsoft.com/office/drawing/2014/main" id="{A7A50961-DE11-2240-A97A-BC934E6F62D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3D12D114-28E9-4E48-84F6-E021466EF875}"/>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153326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00806-D7FD-4840-8367-F63106C35741}"/>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6B84EA4-2BD1-1D41-970A-4B3AC649337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4" name="Footer Placeholder 3">
            <a:extLst>
              <a:ext uri="{FF2B5EF4-FFF2-40B4-BE49-F238E27FC236}">
                <a16:creationId xmlns:a16="http://schemas.microsoft.com/office/drawing/2014/main" id="{851D9438-9C06-B74F-BD28-737E4528EA4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8F472F14-442C-FD48-9293-31242E99A0B9}"/>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36618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CFF7BF-BA53-F241-B8E0-19F87F9C6E31}"/>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3" name="Footer Placeholder 2">
            <a:extLst>
              <a:ext uri="{FF2B5EF4-FFF2-40B4-BE49-F238E27FC236}">
                <a16:creationId xmlns:a16="http://schemas.microsoft.com/office/drawing/2014/main" id="{C0B6394C-3B4B-9344-BDFF-7020DF1EC35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75EBB53-6266-FB4E-A101-E6EBDAAF9E9F}"/>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9360624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EE7E-C084-BC4F-99FF-6AA90A4A6492}"/>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DAEE4AB-550C-3440-880F-6A0B957D5F98}"/>
              </a:ext>
            </a:extLst>
          </p:cNvPr>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8A60FD-C853-F24D-B65F-54DD144DCC08}"/>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7F19D6F7-3A67-9D49-9F58-5D9E735F11EF}"/>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6" name="Footer Placeholder 5">
            <a:extLst>
              <a:ext uri="{FF2B5EF4-FFF2-40B4-BE49-F238E27FC236}">
                <a16:creationId xmlns:a16="http://schemas.microsoft.com/office/drawing/2014/main" id="{6764200C-8FAC-C946-AF60-B7CF72A5B41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9D15963A-2905-744B-A1CB-924E25AEF797}"/>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6985834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405E-EF49-4C43-9074-909A6AA819FF}"/>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0190071-035A-4B44-99A9-F840D1892B7B}"/>
              </a:ext>
            </a:extLst>
          </p:cNvPr>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a:extLst>
              <a:ext uri="{FF2B5EF4-FFF2-40B4-BE49-F238E27FC236}">
                <a16:creationId xmlns:a16="http://schemas.microsoft.com/office/drawing/2014/main" id="{FA0F6A45-5BE4-D44D-BBB6-85EE6C7CCCB3}"/>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DCC2EEC7-A25A-6142-85BF-BE6528550F99}"/>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6" name="Footer Placeholder 5">
            <a:extLst>
              <a:ext uri="{FF2B5EF4-FFF2-40B4-BE49-F238E27FC236}">
                <a16:creationId xmlns:a16="http://schemas.microsoft.com/office/drawing/2014/main" id="{5FD50E63-7011-A047-B8AF-00FC54769D8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0F54B68B-87E9-194E-84B4-232DD0166B2B}"/>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24062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9162F-F357-EA41-8E14-E2E96BC619F8}"/>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58E52B-F9B7-C641-B817-D01DDA63FCF8}"/>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B940B-7E4A-4E4C-AA21-8ED7064A1973}"/>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5" name="Footer Placeholder 4">
            <a:extLst>
              <a:ext uri="{FF2B5EF4-FFF2-40B4-BE49-F238E27FC236}">
                <a16:creationId xmlns:a16="http://schemas.microsoft.com/office/drawing/2014/main" id="{1943A704-0834-0A46-A531-AFE8B30454AB}"/>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D0B1DB4A-81AA-524F-8968-2F1F931B926E}"/>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41041097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532087-06F1-0E43-8458-793019D600C1}"/>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23B06C-2484-7944-B893-9AA6051ADCC7}"/>
              </a:ext>
            </a:extLst>
          </p:cNvPr>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6C461-BB65-144E-8CC3-EA9517551E0C}"/>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9/16/2026</a:t>
            </a:fld>
            <a:endParaRPr lang="en-US" dirty="0"/>
          </a:p>
        </p:txBody>
      </p:sp>
      <p:sp>
        <p:nvSpPr>
          <p:cNvPr id="5" name="Footer Placeholder 4">
            <a:extLst>
              <a:ext uri="{FF2B5EF4-FFF2-40B4-BE49-F238E27FC236}">
                <a16:creationId xmlns:a16="http://schemas.microsoft.com/office/drawing/2014/main" id="{3B7609BD-A584-6849-AC27-63D67D2E9A9E}"/>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DA9AC4F-E299-F542-999F-3AA00686F83A}"/>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0128687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Slide with Bullet points">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13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6" Type="http://schemas.openxmlformats.org/officeDocument/2006/relationships/image" Target="../media/image4.emf"/><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image" Target="../media/image2.emf"/><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D2098B-2466-0442-A16D-F8837046996A}"/>
              </a:ext>
            </a:extLst>
          </p:cNvPr>
          <p:cNvPicPr>
            <a:picLocks noChangeAspect="1"/>
          </p:cNvPicPr>
          <p:nvPr userDrawn="1"/>
        </p:nvPicPr>
        <p:blipFill rotWithShape="1">
          <a:blip r:embed="rId22"/>
          <a:srcRect t="49150" b="41700"/>
          <a:stretch/>
        </p:blipFill>
        <p:spPr>
          <a:xfrm>
            <a:off x="0" y="6371765"/>
            <a:ext cx="9144000" cy="486236"/>
          </a:xfrm>
          <a:prstGeom prst="rect">
            <a:avLst/>
          </a:prstGeom>
        </p:spPr>
      </p:pic>
      <p:pic>
        <p:nvPicPr>
          <p:cNvPr id="2" name="Picture 1">
            <a:extLst>
              <a:ext uri="{FF2B5EF4-FFF2-40B4-BE49-F238E27FC236}">
                <a16:creationId xmlns:a16="http://schemas.microsoft.com/office/drawing/2014/main" id="{3D2021AA-BEA6-F84B-8C8C-EBFA2BEC71F7}"/>
              </a:ext>
            </a:extLst>
          </p:cNvPr>
          <p:cNvPicPr>
            <a:picLocks noChangeAspect="1"/>
          </p:cNvPicPr>
          <p:nvPr userDrawn="1"/>
        </p:nvPicPr>
        <p:blipFill>
          <a:blip r:embed="rId23"/>
          <a:stretch>
            <a:fillRect/>
          </a:stretch>
        </p:blipFill>
        <p:spPr>
          <a:xfrm>
            <a:off x="3491753" y="6512675"/>
            <a:ext cx="2160494" cy="204416"/>
          </a:xfrm>
          <a:prstGeom prst="rect">
            <a:avLst/>
          </a:prstGeom>
        </p:spPr>
      </p:pic>
      <p:pic>
        <p:nvPicPr>
          <p:cNvPr id="3" name="Picture 2">
            <a:extLst>
              <a:ext uri="{FF2B5EF4-FFF2-40B4-BE49-F238E27FC236}">
                <a16:creationId xmlns:a16="http://schemas.microsoft.com/office/drawing/2014/main" id="{2B374FA8-4706-694B-8CFB-7CC9A6A893E5}"/>
              </a:ext>
            </a:extLst>
          </p:cNvPr>
          <p:cNvPicPr>
            <a:picLocks noChangeAspect="1"/>
          </p:cNvPicPr>
          <p:nvPr userDrawn="1"/>
        </p:nvPicPr>
        <p:blipFill>
          <a:blip r:embed="rId24"/>
          <a:stretch>
            <a:fillRect/>
          </a:stretch>
        </p:blipFill>
        <p:spPr>
          <a:xfrm>
            <a:off x="7909923" y="229285"/>
            <a:ext cx="1023478" cy="460998"/>
          </a:xfrm>
          <a:prstGeom prst="rect">
            <a:avLst/>
          </a:prstGeom>
        </p:spPr>
      </p:pic>
    </p:spTree>
    <p:extLst>
      <p:ext uri="{BB962C8B-B14F-4D97-AF65-F5344CB8AC3E}">
        <p14:creationId xmlns:p14="http://schemas.microsoft.com/office/powerpoint/2010/main" val="364019530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81" r:id="rId12"/>
    <p:sldLayoutId id="2147483682" r:id="rId13"/>
    <p:sldLayoutId id="2147483653" r:id="rId14"/>
    <p:sldLayoutId id="2147483654" r:id="rId15"/>
    <p:sldLayoutId id="2147483655" r:id="rId16"/>
    <p:sldLayoutId id="2147483656" r:id="rId17"/>
    <p:sldLayoutId id="2147483657" r:id="rId18"/>
    <p:sldLayoutId id="2147483658" r:id="rId19"/>
    <p:sldLayoutId id="2147483660" r:id="rId20"/>
  </p:sldLayoutIdLst>
  <p:txStyles>
    <p:titleStyle>
      <a:lvl1pPr algn="l" defTabSz="685800" rtl="0" eaLnBrk="1" latinLnBrk="0" hangingPunct="1">
        <a:lnSpc>
          <a:spcPct val="90000"/>
        </a:lnSpc>
        <a:spcBef>
          <a:spcPct val="0"/>
        </a:spcBef>
        <a:buNone/>
        <a:defRPr sz="3300" b="0" i="0" kern="1200">
          <a:solidFill>
            <a:schemeClr val="tx1"/>
          </a:solidFill>
          <a:latin typeface="Gotham Light"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Gotham Book" pitchFamily="2"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Gotham Book"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Gotham Book"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Gotham Book"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Gotham Book"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A22FA0-9C03-4349-AB08-7943D18406BC}"/>
              </a:ext>
            </a:extLst>
          </p:cNvPr>
          <p:cNvPicPr>
            <a:picLocks noChangeAspect="1"/>
          </p:cNvPicPr>
          <p:nvPr userDrawn="1"/>
        </p:nvPicPr>
        <p:blipFill rotWithShape="1">
          <a:blip r:embed="rId14"/>
          <a:srcRect t="49150" b="41700"/>
          <a:stretch/>
        </p:blipFill>
        <p:spPr>
          <a:xfrm>
            <a:off x="0" y="6371765"/>
            <a:ext cx="9144000" cy="486236"/>
          </a:xfrm>
          <a:prstGeom prst="rect">
            <a:avLst/>
          </a:prstGeom>
        </p:spPr>
      </p:pic>
      <p:pic>
        <p:nvPicPr>
          <p:cNvPr id="4" name="Picture 3">
            <a:extLst>
              <a:ext uri="{FF2B5EF4-FFF2-40B4-BE49-F238E27FC236}">
                <a16:creationId xmlns:a16="http://schemas.microsoft.com/office/drawing/2014/main" id="{C1C91800-E687-C54C-BC0A-25EE702E1A4B}"/>
              </a:ext>
            </a:extLst>
          </p:cNvPr>
          <p:cNvPicPr>
            <a:picLocks noChangeAspect="1"/>
          </p:cNvPicPr>
          <p:nvPr userDrawn="1"/>
        </p:nvPicPr>
        <p:blipFill>
          <a:blip r:embed="rId15"/>
          <a:stretch>
            <a:fillRect/>
          </a:stretch>
        </p:blipFill>
        <p:spPr>
          <a:xfrm>
            <a:off x="7512424" y="6553287"/>
            <a:ext cx="1367118" cy="129350"/>
          </a:xfrm>
          <a:prstGeom prst="rect">
            <a:avLst/>
          </a:prstGeom>
        </p:spPr>
      </p:pic>
      <p:pic>
        <p:nvPicPr>
          <p:cNvPr id="2" name="Picture 1">
            <a:extLst>
              <a:ext uri="{FF2B5EF4-FFF2-40B4-BE49-F238E27FC236}">
                <a16:creationId xmlns:a16="http://schemas.microsoft.com/office/drawing/2014/main" id="{7F6AB714-90C7-B64F-A7FC-DACF86995471}"/>
              </a:ext>
            </a:extLst>
          </p:cNvPr>
          <p:cNvPicPr>
            <a:picLocks noChangeAspect="1"/>
          </p:cNvPicPr>
          <p:nvPr userDrawn="1"/>
        </p:nvPicPr>
        <p:blipFill>
          <a:blip r:embed="rId16"/>
          <a:stretch>
            <a:fillRect/>
          </a:stretch>
        </p:blipFill>
        <p:spPr>
          <a:xfrm>
            <a:off x="242049" y="6496683"/>
            <a:ext cx="1541930" cy="240863"/>
          </a:xfrm>
          <a:prstGeom prst="rect">
            <a:avLst/>
          </a:prstGeom>
        </p:spPr>
      </p:pic>
    </p:spTree>
    <p:extLst>
      <p:ext uri="{BB962C8B-B14F-4D97-AF65-F5344CB8AC3E}">
        <p14:creationId xmlns:p14="http://schemas.microsoft.com/office/powerpoint/2010/main" val="163041680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29DC5D-7397-8C4B-BFE0-D118EF0415F0}"/>
              </a:ext>
            </a:extLst>
          </p:cNvPr>
          <p:cNvSpPr txBox="1">
            <a:spLocks noGrp="1"/>
          </p:cNvSpPr>
          <p:nvPr>
            <p:ph type="title" idx="4294967295"/>
          </p:nvPr>
        </p:nvSpPr>
        <p:spPr>
          <a:xfrm>
            <a:off x="1830497" y="1397800"/>
            <a:ext cx="517606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chemeClr val="bg1"/>
                </a:solidFill>
                <a:effectLst/>
                <a:uLnTx/>
                <a:uFillTx/>
                <a:latin typeface="Gotham Book"/>
                <a:ea typeface="+mn-ea"/>
                <a:cs typeface="Gotham Bold" pitchFamily="2" charset="0"/>
              </a:rPr>
              <a:t>Puberty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chemeClr val="bg1"/>
                </a:solidFill>
                <a:effectLst/>
                <a:uLnTx/>
                <a:uFillTx/>
                <a:latin typeface="Gotham Book" pitchFamily="2" charset="0"/>
                <a:ea typeface="+mn-ea"/>
                <a:cs typeface="Gotham Book" pitchFamily="2" charset="0"/>
              </a:rPr>
              <a:t>TBL </a:t>
            </a:r>
          </a:p>
        </p:txBody>
      </p:sp>
      <p:pic>
        <p:nvPicPr>
          <p:cNvPr id="8" name="Picture 7">
            <a:extLst>
              <a:ext uri="{FF2B5EF4-FFF2-40B4-BE49-F238E27FC236}">
                <a16:creationId xmlns:a16="http://schemas.microsoft.com/office/drawing/2014/main" id="{B5F9A3F1-8F04-9B40-A392-5C3AF851FE2F}"/>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9144000" cy="6858000"/>
          </a:xfrm>
          <a:prstGeom prst="rect">
            <a:avLst/>
          </a:prstGeom>
        </p:spPr>
      </p:pic>
      <p:sp>
        <p:nvSpPr>
          <p:cNvPr id="4" name="Rectangle 3">
            <a:extLst>
              <a:ext uri="{FF2B5EF4-FFF2-40B4-BE49-F238E27FC236}">
                <a16:creationId xmlns:a16="http://schemas.microsoft.com/office/drawing/2014/main" id="{DD9BDD69-E7AD-C74F-87CA-CA3545F7B089}"/>
              </a:ext>
              <a:ext uri="{C183D7F6-B498-43B3-948B-1728B52AA6E4}">
                <adec:decorative xmlns:adec="http://schemas.microsoft.com/office/drawing/2017/decorative" val="1"/>
              </a:ext>
            </a:extLst>
          </p:cNvPr>
          <p:cNvSpPr/>
          <p:nvPr/>
        </p:nvSpPr>
        <p:spPr>
          <a:xfrm>
            <a:off x="2" y="2"/>
            <a:ext cx="9144000" cy="6857998"/>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bg1"/>
              </a:solidFill>
            </a:endParaRPr>
          </a:p>
        </p:txBody>
      </p:sp>
      <p:pic>
        <p:nvPicPr>
          <p:cNvPr id="6" name="Picture 5">
            <a:extLst>
              <a:ext uri="{FF2B5EF4-FFF2-40B4-BE49-F238E27FC236}">
                <a16:creationId xmlns:a16="http://schemas.microsoft.com/office/drawing/2014/main" id="{7B5537B7-37D3-8441-B615-956A4378C3F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62899" y="6314174"/>
            <a:ext cx="2357252" cy="223032"/>
          </a:xfrm>
          <a:prstGeom prst="rect">
            <a:avLst/>
          </a:prstGeom>
        </p:spPr>
      </p:pic>
      <p:pic>
        <p:nvPicPr>
          <p:cNvPr id="7" name="Picture 6">
            <a:extLst>
              <a:ext uri="{FF2B5EF4-FFF2-40B4-BE49-F238E27FC236}">
                <a16:creationId xmlns:a16="http://schemas.microsoft.com/office/drawing/2014/main" id="{1F13C2BF-B38E-5B4B-BE35-5E676FB50F6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81051" y="5460200"/>
            <a:ext cx="2898891" cy="452834"/>
          </a:xfrm>
          <a:prstGeom prst="rect">
            <a:avLst/>
          </a:prstGeom>
        </p:spPr>
      </p:pic>
    </p:spTree>
    <p:extLst>
      <p:ext uri="{BB962C8B-B14F-4D97-AF65-F5344CB8AC3E}">
        <p14:creationId xmlns:p14="http://schemas.microsoft.com/office/powerpoint/2010/main" val="280986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FE25AE-CD5A-2047-B819-FE5D0CDC512D}"/>
              </a:ext>
            </a:extLst>
          </p:cNvPr>
          <p:cNvSpPr txBox="1">
            <a:spLocks noGrp="1"/>
          </p:cNvSpPr>
          <p:nvPr>
            <p:ph type="title" idx="4294967295"/>
          </p:nvPr>
        </p:nvSpPr>
        <p:spPr>
          <a:xfrm>
            <a:off x="2358099" y="2791257"/>
            <a:ext cx="5186084"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schemeClr val="bg2">
                    <a:lumMod val="25000"/>
                  </a:schemeClr>
                </a:solidFill>
                <a:effectLst/>
                <a:uLnTx/>
                <a:uFillTx/>
                <a:latin typeface="Gotham Bold" pitchFamily="2" charset="0"/>
                <a:ea typeface="+mn-ea"/>
                <a:cs typeface="Gotham Bold" pitchFamily="2" charset="0"/>
              </a:rPr>
              <a:t>APPLICATIONS</a:t>
            </a:r>
            <a:endParaRPr kumimoji="0" lang="en-US" sz="4500" b="0" i="0" u="none" strike="noStrike" kern="1200" cap="none" spc="0" normalizeH="0" baseline="0" noProof="0" dirty="0">
              <a:ln>
                <a:noFill/>
              </a:ln>
              <a:solidFill>
                <a:schemeClr val="bg2">
                  <a:lumMod val="25000"/>
                </a:schemeClr>
              </a:solidFill>
              <a:effectLst/>
              <a:uLnTx/>
              <a:uFillTx/>
              <a:latin typeface="Gotham Book" pitchFamily="2" charset="0"/>
              <a:ea typeface="+mn-ea"/>
              <a:cs typeface="Gotham Book" pitchFamily="2" charset="0"/>
            </a:endParaRPr>
          </a:p>
        </p:txBody>
      </p:sp>
      <p:pic>
        <p:nvPicPr>
          <p:cNvPr id="3" name="Picture 2">
            <a:extLst>
              <a:ext uri="{FF2B5EF4-FFF2-40B4-BE49-F238E27FC236}">
                <a16:creationId xmlns:a16="http://schemas.microsoft.com/office/drawing/2014/main" id="{347530CC-E909-D841-9D88-2BCF1630C83A}"/>
              </a:ext>
              <a:ext uri="{C183D7F6-B498-43B3-948B-1728B52AA6E4}">
                <adec:decorative xmlns:adec="http://schemas.microsoft.com/office/drawing/2017/decorative" val="1"/>
              </a:ext>
            </a:extLst>
          </p:cNvPr>
          <p:cNvPicPr>
            <a:picLocks noChangeAspect="1"/>
          </p:cNvPicPr>
          <p:nvPr/>
        </p:nvPicPr>
        <p:blipFill rotWithShape="1">
          <a:blip r:embed="rId2" cstate="email">
            <a:alphaModFix amt="25000"/>
            <a:extLst>
              <a:ext uri="{28A0092B-C50C-407E-A947-70E740481C1C}">
                <a14:useLocalDpi xmlns:a14="http://schemas.microsoft.com/office/drawing/2010/main"/>
              </a:ext>
            </a:extLst>
          </a:blip>
          <a:srcRect/>
          <a:stretch/>
        </p:blipFill>
        <p:spPr>
          <a:xfrm>
            <a:off x="0" y="0"/>
            <a:ext cx="9144000" cy="6367345"/>
          </a:xfrm>
          <a:prstGeom prst="rect">
            <a:avLst/>
          </a:prstGeom>
        </p:spPr>
      </p:pic>
    </p:spTree>
    <p:extLst>
      <p:ext uri="{BB962C8B-B14F-4D97-AF65-F5344CB8AC3E}">
        <p14:creationId xmlns:p14="http://schemas.microsoft.com/office/powerpoint/2010/main" val="1969218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16"/>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1(1)</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10" name="Shape 117">
            <a:extLst>
              <a:ext uri="{FF2B5EF4-FFF2-40B4-BE49-F238E27FC236}">
                <a16:creationId xmlns:a16="http://schemas.microsoft.com/office/drawing/2014/main" id="{D1408849-1B77-5549-9ABB-EEB3102B29BF}"/>
              </a:ext>
            </a:extLst>
          </p:cNvPr>
          <p:cNvSpPr txBox="1"/>
          <p:nvPr/>
        </p:nvSpPr>
        <p:spPr>
          <a:xfrm>
            <a:off x="1593850" y="2055876"/>
            <a:ext cx="5956300" cy="3504482"/>
          </a:xfrm>
          <a:prstGeom prst="rect">
            <a:avLst/>
          </a:prstGeom>
          <a:noFill/>
          <a:ln>
            <a:noFill/>
          </a:ln>
        </p:spPr>
        <p:txBody>
          <a:bodyPr wrap="square" lIns="68569" tIns="68569" rIns="68569" bIns="68569" anchor="t" anchorCtr="0">
            <a:noAutofit/>
          </a:bodyPr>
          <a:lstStyle/>
          <a:p>
            <a:r>
              <a:rPr lang="en-US" sz="1600" dirty="0"/>
              <a:t>A 15 year old boy is seen by a primary care physician for short stature and delayed sexual development. His PMH is remarkable only for asthma in early childhood, which has been well controlled. He uses no medications. </a:t>
            </a:r>
          </a:p>
          <a:p>
            <a:r>
              <a:rPr lang="en-US" sz="1600" dirty="0"/>
              <a:t>He is an average student in the 9</a:t>
            </a:r>
            <a:r>
              <a:rPr lang="en-US" sz="1600" baseline="30000" dirty="0"/>
              <a:t>th</a:t>
            </a:r>
            <a:r>
              <a:rPr lang="en-US" sz="1600" dirty="0"/>
              <a:t> grade and smallest in his class. His older classmates harass him about his size. His parents are concerned because he is becoming withdrawn and a “loner”.</a:t>
            </a:r>
          </a:p>
          <a:p>
            <a:r>
              <a:rPr lang="en-US" sz="1600" dirty="0"/>
              <a:t>Pregnancy and delivery were uncomplicated. H5 was born 8.5 lbs and 20 inches long. Head circumference was 35 cm. Immunizations are current.</a:t>
            </a:r>
          </a:p>
        </p:txBody>
      </p:sp>
      <p:sp>
        <p:nvSpPr>
          <p:cNvPr id="7" name="TextBox 6"/>
          <p:cNvSpPr txBox="1"/>
          <p:nvPr/>
        </p:nvSpPr>
        <p:spPr>
          <a:xfrm>
            <a:off x="4870794" y="5449782"/>
            <a:ext cx="3412594" cy="507831"/>
          </a:xfrm>
          <a:prstGeom prst="rect">
            <a:avLst/>
          </a:prstGeom>
          <a:noFill/>
        </p:spPr>
        <p:txBody>
          <a:bodyPr wrap="square" rtlCol="0">
            <a:spAutoFit/>
          </a:bodyPr>
          <a:lstStyle/>
          <a:p>
            <a:r>
              <a:rPr lang="en-US" sz="900" dirty="0"/>
              <a:t>Adapted from: Case Based Pediatrics for Medical Students and Residents, Department of Pediatrics, University of Hawaii John A. Burns School of Medicine, Sherrel L. Hammar, MD. March 2002</a:t>
            </a:r>
          </a:p>
        </p:txBody>
      </p:sp>
      <p:sp>
        <p:nvSpPr>
          <p:cNvPr id="8" name="Rectangle 7">
            <a:extLst>
              <a:ext uri="{FF2B5EF4-FFF2-40B4-BE49-F238E27FC236}">
                <a16:creationId xmlns:a16="http://schemas.microsoft.com/office/drawing/2014/main" id="{C585FCB7-89FF-F442-848F-3A5B4F4EADD3}"/>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Tree>
    <p:extLst>
      <p:ext uri="{BB962C8B-B14F-4D97-AF65-F5344CB8AC3E}">
        <p14:creationId xmlns:p14="http://schemas.microsoft.com/office/powerpoint/2010/main" val="765896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1 (2)</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10" name="Shape 117">
            <a:extLst>
              <a:ext uri="{FF2B5EF4-FFF2-40B4-BE49-F238E27FC236}">
                <a16:creationId xmlns:a16="http://schemas.microsoft.com/office/drawing/2014/main" id="{D1408849-1B77-5549-9ABB-EEB3102B29BF}"/>
              </a:ext>
            </a:extLst>
          </p:cNvPr>
          <p:cNvSpPr txBox="1"/>
          <p:nvPr/>
        </p:nvSpPr>
        <p:spPr>
          <a:xfrm>
            <a:off x="1600200" y="1733147"/>
            <a:ext cx="5956300" cy="3504482"/>
          </a:xfrm>
          <a:prstGeom prst="rect">
            <a:avLst/>
          </a:prstGeom>
          <a:noFill/>
          <a:ln>
            <a:noFill/>
          </a:ln>
        </p:spPr>
        <p:txBody>
          <a:bodyPr wrap="square" lIns="68569" tIns="68569" rIns="68569" bIns="68569" anchor="t" anchorCtr="0">
            <a:noAutofit/>
          </a:bodyPr>
          <a:lstStyle/>
          <a:p>
            <a:r>
              <a:rPr lang="en-US" sz="1600" dirty="0"/>
              <a:t>FH: Mother 48 yo, in good health. Ht is 167 cm (50</a:t>
            </a:r>
            <a:r>
              <a:rPr lang="en-US" sz="1600" baseline="30000" dirty="0"/>
              <a:t>th</a:t>
            </a:r>
            <a:r>
              <a:rPr lang="en-US" sz="1600" dirty="0"/>
              <a:t> %ile) and underwent menarche at age 13. Father 51 yo, in good health, Ht 184 cm (75</a:t>
            </a:r>
            <a:r>
              <a:rPr lang="en-US" sz="1600" baseline="30000" dirty="0"/>
              <a:t>th</a:t>
            </a:r>
            <a:r>
              <a:rPr lang="en-US" sz="1600" dirty="0"/>
              <a:t> %ile). He was shaving regularly by age 15. One older male sibling in good health began puberty at age 11. No FH of smoking, alcoholism, mental illness, drug abuse, or learning disabilities.</a:t>
            </a:r>
          </a:p>
          <a:p>
            <a:endParaRPr lang="en-US" sz="1600" dirty="0"/>
          </a:p>
          <a:p>
            <a:r>
              <a:rPr lang="en-US" sz="1600" dirty="0"/>
              <a:t>Exam: VS T 37.1, P 110, R 32, BP 100/60, HT 158 cm (3rd %tile) Wt. 42 kg (10</a:t>
            </a:r>
            <a:r>
              <a:rPr lang="en-US" sz="1600" baseline="30000" dirty="0"/>
              <a:t>th</a:t>
            </a:r>
            <a:r>
              <a:rPr lang="en-US" sz="1600" dirty="0"/>
              <a:t> %tile). He is pale and anxious but cooperative. HEENT, Chest, Heart, and pulse exams normal. No abdominal tenderness or mass. Genitalia: normal circumcised phallus, Tanner pubic hair stage 1, genital stage 2. Testes firm, 2.5 cm in length and 4 ml in volume. Scrotum reddened and stippled. Otherwise physical exam is normal.</a:t>
            </a:r>
          </a:p>
          <a:p>
            <a:r>
              <a:rPr lang="en-US" sz="1600" dirty="0"/>
              <a:t>Lab: CBC, Hb 13, WBC 9.5, normal differential, platelets 350,000, UA normal. </a:t>
            </a:r>
          </a:p>
        </p:txBody>
      </p:sp>
      <p:sp>
        <p:nvSpPr>
          <p:cNvPr id="7" name="TextBox 6"/>
          <p:cNvSpPr txBox="1"/>
          <p:nvPr/>
        </p:nvSpPr>
        <p:spPr>
          <a:xfrm>
            <a:off x="4870794" y="5449782"/>
            <a:ext cx="3412594" cy="507831"/>
          </a:xfrm>
          <a:prstGeom prst="rect">
            <a:avLst/>
          </a:prstGeom>
          <a:noFill/>
        </p:spPr>
        <p:txBody>
          <a:bodyPr wrap="square" rtlCol="0">
            <a:spAutoFit/>
          </a:bodyPr>
          <a:lstStyle/>
          <a:p>
            <a:r>
              <a:rPr lang="en-US" sz="900" dirty="0"/>
              <a:t>Adapted from: Case Based Pediatrics for Medical Students and Residents, Department of Pediatrics, University of Hawaii John A. Burns School of Medicine, Sherrel L. Hammar, MD. March 2002</a:t>
            </a:r>
          </a:p>
        </p:txBody>
      </p:sp>
    </p:spTree>
    <p:extLst>
      <p:ext uri="{BB962C8B-B14F-4D97-AF65-F5344CB8AC3E}">
        <p14:creationId xmlns:p14="http://schemas.microsoft.com/office/powerpoint/2010/main" val="200951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8894618" cy="6380042"/>
          </a:xfrm>
          <a:prstGeom prst="rect">
            <a:avLst/>
          </a:prstGeom>
        </p:spPr>
      </p:pic>
      <p:sp>
        <p:nvSpPr>
          <p:cNvPr id="4" name="Rectangle 3">
            <a:extLst>
              <a:ext uri="{FF2B5EF4-FFF2-40B4-BE49-F238E27FC236}">
                <a16:creationId xmlns:a16="http://schemas.microsoft.com/office/drawing/2014/main" id="{D4044FE3-CE6A-607F-C2B2-C726FBC231A6}"/>
              </a:ext>
              <a:ext uri="{C183D7F6-B498-43B3-948B-1728B52AA6E4}">
                <adec:decorative xmlns:adec="http://schemas.microsoft.com/office/drawing/2017/decorative" val="1"/>
              </a:ext>
            </a:extLst>
          </p:cNvPr>
          <p:cNvSpPr/>
          <p:nvPr/>
        </p:nvSpPr>
        <p:spPr>
          <a:xfrm>
            <a:off x="2292350" y="107849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6" name="Shape 116">
            <a:extLst>
              <a:ext uri="{FF2B5EF4-FFF2-40B4-BE49-F238E27FC236}">
                <a16:creationId xmlns:a16="http://schemas.microsoft.com/office/drawing/2014/main" id="{CA18B118-82A6-6F27-3BD0-D8238B5A6A08}"/>
              </a:ext>
            </a:extLst>
          </p:cNvPr>
          <p:cNvSpPr txBox="1">
            <a:spLocks noGrp="1"/>
          </p:cNvSpPr>
          <p:nvPr>
            <p:ph type="title" idx="4294967295"/>
          </p:nvPr>
        </p:nvSpPr>
        <p:spPr>
          <a:xfrm>
            <a:off x="3117050" y="1052876"/>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1 (3)</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2" name="Shape 116"/>
          <p:cNvSpPr txBox="1"/>
          <p:nvPr/>
        </p:nvSpPr>
        <p:spPr>
          <a:xfrm>
            <a:off x="477473" y="2607198"/>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978628" y="3022600"/>
            <a:ext cx="4392166" cy="215265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88925">
              <a:lnSpc>
                <a:spcPct val="150000"/>
              </a:lnSpc>
              <a:buClr>
                <a:schemeClr val="bg1"/>
              </a:buClr>
            </a:pPr>
            <a:r>
              <a:rPr lang="en-US" dirty="0">
                <a:solidFill>
                  <a:schemeClr val="bg1"/>
                </a:solidFill>
                <a:latin typeface="Gotham Light" charset="0"/>
                <a:ea typeface="Gotham Light" charset="0"/>
                <a:cs typeface="Gotham Light" charset="0"/>
                <a:sym typeface="Source Sans Pro"/>
              </a:rPr>
              <a:t>If you could only request one test, what would it be? You may list the tests you want and put an asterisk by the one you think will be most helpful.</a:t>
            </a:r>
            <a:endParaRPr lang="en-US" sz="9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1282812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4" name="Rectangle 3">
            <a:extLst>
              <a:ext uri="{FF2B5EF4-FFF2-40B4-BE49-F238E27FC236}">
                <a16:creationId xmlns:a16="http://schemas.microsoft.com/office/drawing/2014/main" id="{464CF3D1-FDDE-6EC5-E10D-1BCE0BF917F4}"/>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6" name="Shape 116">
            <a:extLst>
              <a:ext uri="{FF2B5EF4-FFF2-40B4-BE49-F238E27FC236}">
                <a16:creationId xmlns:a16="http://schemas.microsoft.com/office/drawing/2014/main" id="{9C344DB8-B790-47E6-CE40-4CBD2A8B4675}"/>
              </a:ext>
            </a:extLst>
          </p:cNvPr>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1 (4)</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2" name="Shape 116"/>
          <p:cNvSpPr txBox="1"/>
          <p:nvPr/>
        </p:nvSpPr>
        <p:spPr>
          <a:xfrm>
            <a:off x="691775" y="2306757"/>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4321528" y="3176574"/>
            <a:ext cx="4069437" cy="1962637"/>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28600">
              <a:lnSpc>
                <a:spcPct val="150000"/>
              </a:lnSpc>
              <a:buClr>
                <a:schemeClr val="bg1"/>
              </a:buClr>
            </a:pPr>
            <a:r>
              <a:rPr lang="en-US" sz="1600" dirty="0">
                <a:solidFill>
                  <a:schemeClr val="bg1"/>
                </a:solidFill>
                <a:latin typeface="Gotham Light" charset="0"/>
                <a:ea typeface="Gotham Light" charset="0"/>
                <a:cs typeface="Gotham Light" charset="0"/>
                <a:sym typeface="Source Sans Pro"/>
              </a:rPr>
              <a:t>Bone age (left hand and wrist) is 12.0 years. LH and FSH are decreased but normal for SMR stage 1-2. Given this information, what is the most likely diagnosis?</a:t>
            </a:r>
            <a:endParaRPr lang="en-US" sz="16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1628021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 uri="{C183D7F6-B498-43B3-948B-1728B52AA6E4}">
                <adec:decorative xmlns:adec="http://schemas.microsoft.com/office/drawing/2017/decorative" val="1"/>
              </a:ext>
            </a:extLst>
          </p:cNvPr>
          <p:cNvSpPr/>
          <p:nvPr/>
        </p:nvSpPr>
        <p:spPr>
          <a:xfrm>
            <a:off x="2292351" y="415764"/>
            <a:ext cx="457835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a:extLst>
              <a:ext uri="{C183D7F6-B498-43B3-948B-1728B52AA6E4}">
                <adec:decorative xmlns:adec="http://schemas.microsoft.com/office/drawing/2017/decorative" val="1"/>
              </a:ext>
            </a:extLst>
          </p:cNvPr>
          <p:cNvSpPr txBox="1"/>
          <p:nvPr/>
        </p:nvSpPr>
        <p:spPr>
          <a:xfrm>
            <a:off x="3184591" y="355573"/>
            <a:ext cx="2660518" cy="564949"/>
          </a:xfrm>
          <a:prstGeom prst="rect">
            <a:avLst/>
          </a:prstGeom>
          <a:noFill/>
          <a:ln>
            <a:noFill/>
          </a:ln>
        </p:spPr>
        <p:txBody>
          <a:bodyPr wrap="square" lIns="68569" tIns="68569" rIns="68569" bIns="68569" anchor="t" anchorCtr="0">
            <a:noAutofit/>
          </a:bodyPr>
          <a:lstStyle/>
          <a:p>
            <a:pPr algn="ctr"/>
            <a:endParaRPr lang="en-US" sz="3600" dirty="0">
              <a:solidFill>
                <a:schemeClr val="bg1"/>
              </a:solidFill>
              <a:latin typeface="Gotham Light" charset="0"/>
              <a:ea typeface="Gotham Light" charset="0"/>
              <a:cs typeface="Gotham Light" charset="0"/>
              <a:sym typeface="Source Sans Pro"/>
            </a:endParaRPr>
          </a:p>
        </p:txBody>
      </p:sp>
      <p:sp>
        <p:nvSpPr>
          <p:cNvPr id="6" name="Title 5">
            <a:extLst>
              <a:ext uri="{FF2B5EF4-FFF2-40B4-BE49-F238E27FC236}">
                <a16:creationId xmlns:a16="http://schemas.microsoft.com/office/drawing/2014/main" id="{0223DE14-7F7F-742B-9ECA-AE36079E86D6}"/>
              </a:ext>
            </a:extLst>
          </p:cNvPr>
          <p:cNvSpPr>
            <a:spLocks noGrp="1"/>
          </p:cNvSpPr>
          <p:nvPr>
            <p:ph type="title" idx="4294967295"/>
          </p:nvPr>
        </p:nvSpPr>
        <p:spPr>
          <a:xfrm>
            <a:off x="2292351" y="388824"/>
            <a:ext cx="4762919" cy="806619"/>
          </a:xfrm>
          <a:prstGeom prst="rect">
            <a:avLst/>
          </a:prstGeom>
        </p:spPr>
        <p:txBody>
          <a:bodyPr/>
          <a:lstStyle/>
          <a:p>
            <a:pPr algn="ctr"/>
            <a:r>
              <a:rPr lang="en-US" sz="3200" dirty="0">
                <a:solidFill>
                  <a:schemeClr val="bg1"/>
                </a:solidFill>
                <a:latin typeface="Gotham Light" charset="0"/>
                <a:ea typeface="Gotham Light" charset="0"/>
                <a:cs typeface="Gotham Light" charset="0"/>
                <a:sym typeface="Source Sans Pro"/>
              </a:rPr>
              <a:t>CASE 2 (1) </a:t>
            </a:r>
            <a:br>
              <a:rPr lang="en-US" sz="3200" dirty="0">
                <a:solidFill>
                  <a:schemeClr val="bg1"/>
                </a:solidFill>
                <a:latin typeface="Gotham Light" charset="0"/>
                <a:ea typeface="Gotham Light" charset="0"/>
                <a:cs typeface="Gotham Light" charset="0"/>
                <a:sym typeface="Source Sans Pro"/>
              </a:rPr>
            </a:br>
            <a:endParaRPr lang="en-US" dirty="0"/>
          </a:p>
        </p:txBody>
      </p:sp>
      <p:pic>
        <p:nvPicPr>
          <p:cNvPr id="3" name="Picture 2" descr="case medical photo">
            <a:extLst>
              <a:ext uri="{FF2B5EF4-FFF2-40B4-BE49-F238E27FC236}">
                <a16:creationId xmlns:a16="http://schemas.microsoft.com/office/drawing/2014/main" id="{C43F1ED4-53D1-4488-A6F5-6D6BAFB54178}"/>
              </a:ext>
            </a:extLst>
          </p:cNvPr>
          <p:cNvPicPr>
            <a:picLocks noChangeAspect="1"/>
          </p:cNvPicPr>
          <p:nvPr/>
        </p:nvPicPr>
        <p:blipFill>
          <a:blip r:embed="rId2"/>
          <a:stretch>
            <a:fillRect/>
          </a:stretch>
        </p:blipFill>
        <p:spPr>
          <a:xfrm>
            <a:off x="434395" y="1730537"/>
            <a:ext cx="2225233" cy="2505673"/>
          </a:xfrm>
          <a:prstGeom prst="rect">
            <a:avLst/>
          </a:prstGeom>
        </p:spPr>
      </p:pic>
      <p:pic>
        <p:nvPicPr>
          <p:cNvPr id="4" name="Picture 3" descr="case x-ray image">
            <a:extLst>
              <a:ext uri="{FF2B5EF4-FFF2-40B4-BE49-F238E27FC236}">
                <a16:creationId xmlns:a16="http://schemas.microsoft.com/office/drawing/2014/main" id="{0F39CF68-F279-4E92-B776-448C5B4211E7}"/>
              </a:ext>
            </a:extLst>
          </p:cNvPr>
          <p:cNvPicPr>
            <a:picLocks noChangeAspect="1"/>
          </p:cNvPicPr>
          <p:nvPr/>
        </p:nvPicPr>
        <p:blipFill>
          <a:blip r:embed="rId3"/>
          <a:stretch>
            <a:fillRect/>
          </a:stretch>
        </p:blipFill>
        <p:spPr>
          <a:xfrm>
            <a:off x="2801726" y="1730537"/>
            <a:ext cx="1713124" cy="2493480"/>
          </a:xfrm>
          <a:prstGeom prst="rect">
            <a:avLst/>
          </a:prstGeom>
        </p:spPr>
      </p:pic>
      <p:sp>
        <p:nvSpPr>
          <p:cNvPr id="10" name="Shape 117">
            <a:extLst>
              <a:ext uri="{FF2B5EF4-FFF2-40B4-BE49-F238E27FC236}">
                <a16:creationId xmlns:a16="http://schemas.microsoft.com/office/drawing/2014/main" id="{D1408849-1B77-5549-9ABB-EEB3102B29BF}"/>
              </a:ext>
            </a:extLst>
          </p:cNvPr>
          <p:cNvSpPr txBox="1">
            <a:spLocks/>
          </p:cNvSpPr>
          <p:nvPr/>
        </p:nvSpPr>
        <p:spPr>
          <a:xfrm>
            <a:off x="4825038" y="1425389"/>
            <a:ext cx="3712351" cy="2810821"/>
          </a:xfrm>
          <a:prstGeom prst="rect">
            <a:avLst/>
          </a:prstGeom>
          <a:noFill/>
          <a:ln>
            <a:noFill/>
          </a:ln>
        </p:spPr>
        <p:txBody>
          <a:bodyPr wrap="square" lIns="68569" tIns="68569" rIns="68569" bIns="68569"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A 6-year girl is brought for evaluation of breast enlargement. She weighs 25 kg (90</a:t>
            </a:r>
            <a:r>
              <a:rPr kumimoji="0" lang="en-US" sz="1600" b="0" i="0" u="none" strike="noStrike" kern="1200" cap="none" spc="0" normalizeH="0" baseline="30000" noProof="0" dirty="0">
                <a:ln>
                  <a:noFill/>
                </a:ln>
                <a:solidFill>
                  <a:schemeClr val="tx1"/>
                </a:solidFill>
                <a:effectLst/>
                <a:uLnTx/>
                <a:uFillTx/>
                <a:latin typeface="+mn-lt"/>
                <a:ea typeface="+mn-ea"/>
                <a:cs typeface="+mn-cs"/>
              </a:rPr>
              <a:t>th</a:t>
            </a:r>
            <a:r>
              <a:rPr kumimoji="0" lang="en-US" sz="1600" b="0" i="0" u="none" strike="noStrike" kern="1200" cap="none" spc="0" normalizeH="0" baseline="0" noProof="0" dirty="0">
                <a:ln>
                  <a:noFill/>
                </a:ln>
                <a:solidFill>
                  <a:schemeClr val="tx1"/>
                </a:solidFill>
                <a:effectLst/>
                <a:uLnTx/>
                <a:uFillTx/>
                <a:latin typeface="+mn-lt"/>
                <a:ea typeface="+mn-ea"/>
                <a:cs typeface="+mn-cs"/>
              </a:rPr>
              <a:t> percentile) and is 128 cm (&gt;95</a:t>
            </a:r>
            <a:r>
              <a:rPr kumimoji="0" lang="en-US" sz="1600" b="0" i="0" u="none" strike="noStrike" kern="1200" cap="none" spc="0" normalizeH="0" baseline="30000" noProof="0" dirty="0">
                <a:ln>
                  <a:noFill/>
                </a:ln>
                <a:solidFill>
                  <a:schemeClr val="tx1"/>
                </a:solidFill>
                <a:effectLst/>
                <a:uLnTx/>
                <a:uFillTx/>
                <a:latin typeface="+mn-lt"/>
                <a:ea typeface="+mn-ea"/>
                <a:cs typeface="+mn-cs"/>
              </a:rPr>
              <a:t>th</a:t>
            </a:r>
            <a:r>
              <a:rPr kumimoji="0" lang="en-US" sz="1600" b="0" i="0" u="none" strike="noStrike" kern="1200" cap="none" spc="0" normalizeH="0" baseline="0" noProof="0" dirty="0">
                <a:ln>
                  <a:noFill/>
                </a:ln>
                <a:solidFill>
                  <a:schemeClr val="tx1"/>
                </a:solidFill>
                <a:effectLst/>
                <a:uLnTx/>
                <a:uFillTx/>
                <a:latin typeface="+mn-lt"/>
                <a:ea typeface="+mn-ea"/>
                <a:cs typeface="+mn-cs"/>
              </a:rPr>
              <a:t> percentile). She has enlarged breasts, sexual maturity rating 2-3, with pigmentation of the areola and hyperpigmented macules.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A pelvic ultrasound reveals a left ovarian cyst 3.7 x 3.4 cm. The uterus is enlarged with a length of 4.6 cm (normal </a:t>
            </a:r>
            <a:r>
              <a:rPr kumimoji="0" lang="en-US" sz="1600" b="0" i="0" u="sng" strike="noStrike" kern="1200" cap="none" spc="0" normalizeH="0" baseline="0" noProof="0" dirty="0">
                <a:ln>
                  <a:noFill/>
                </a:ln>
                <a:solidFill>
                  <a:schemeClr val="tx1"/>
                </a:solidFill>
                <a:effectLst/>
                <a:uLnTx/>
                <a:uFillTx/>
                <a:latin typeface="+mn-lt"/>
                <a:ea typeface="+mn-ea"/>
                <a:cs typeface="+mn-cs"/>
              </a:rPr>
              <a:t>&lt;</a:t>
            </a:r>
            <a:r>
              <a:rPr kumimoji="0" lang="en-US" sz="1600" b="0" i="0" u="none" strike="noStrike" kern="1200" cap="none" spc="0" normalizeH="0" baseline="0" noProof="0" dirty="0">
                <a:ln>
                  <a:noFill/>
                </a:ln>
                <a:solidFill>
                  <a:schemeClr val="tx1"/>
                </a:solidFill>
                <a:effectLst/>
                <a:uLnTx/>
                <a:uFillTx/>
                <a:latin typeface="+mn-lt"/>
                <a:ea typeface="+mn-ea"/>
                <a:cs typeface="+mn-cs"/>
              </a:rPr>
              <a:t> 3 cm) with a prominent endometrium.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Bone age is consistent with age 8 years. Estradiol is elevated at 113 </a:t>
            </a:r>
            <a:r>
              <a:rPr kumimoji="0" lang="en-US" sz="1600" b="0" i="0" u="none" strike="noStrike" kern="1200" cap="none" spc="0" normalizeH="0" baseline="0" noProof="0" dirty="0" err="1">
                <a:ln>
                  <a:noFill/>
                </a:ln>
                <a:solidFill>
                  <a:schemeClr val="tx1"/>
                </a:solidFill>
                <a:effectLst/>
                <a:uLnTx/>
                <a:uFillTx/>
                <a:latin typeface="+mn-lt"/>
                <a:ea typeface="+mn-ea"/>
                <a:cs typeface="+mn-cs"/>
              </a:rPr>
              <a:t>pg</a:t>
            </a:r>
            <a:r>
              <a:rPr kumimoji="0" lang="en-US" sz="1600" b="0" i="0" u="none" strike="noStrike" kern="1200" cap="none" spc="0" normalizeH="0" baseline="0" noProof="0" dirty="0">
                <a:ln>
                  <a:noFill/>
                </a:ln>
                <a:solidFill>
                  <a:schemeClr val="tx1"/>
                </a:solidFill>
                <a:effectLst/>
                <a:uLnTx/>
                <a:uFillTx/>
                <a:latin typeface="+mn-lt"/>
                <a:ea typeface="+mn-ea"/>
                <a:cs typeface="+mn-cs"/>
              </a:rPr>
              <a:t>/ml (normal &lt;36 </a:t>
            </a:r>
            <a:r>
              <a:rPr kumimoji="0" lang="en-US" sz="1600" b="0" i="0" u="none" strike="noStrike" kern="1200" cap="none" spc="0" normalizeH="0" baseline="0" noProof="0" dirty="0" err="1">
                <a:ln>
                  <a:noFill/>
                </a:ln>
                <a:solidFill>
                  <a:schemeClr val="tx1"/>
                </a:solidFill>
                <a:effectLst/>
                <a:uLnTx/>
                <a:uFillTx/>
                <a:latin typeface="+mn-lt"/>
                <a:ea typeface="+mn-ea"/>
                <a:cs typeface="+mn-cs"/>
              </a:rPr>
              <a:t>pg</a:t>
            </a:r>
            <a:r>
              <a:rPr kumimoji="0" lang="en-US" sz="1600" b="0" i="0" u="none" strike="noStrike" kern="1200" cap="none" spc="0" normalizeH="0" baseline="0" noProof="0" dirty="0">
                <a:ln>
                  <a:noFill/>
                </a:ln>
                <a:solidFill>
                  <a:schemeClr val="tx1"/>
                </a:solidFill>
                <a:effectLst/>
                <a:uLnTx/>
                <a:uFillTx/>
                <a:latin typeface="+mn-lt"/>
                <a:ea typeface="+mn-ea"/>
                <a:cs typeface="+mn-cs"/>
              </a:rPr>
              <a:t>/ml), and LH 1.7 </a:t>
            </a:r>
            <a:r>
              <a:rPr kumimoji="0" lang="en-US" sz="1600" b="0" i="0" u="none" strike="noStrike" kern="1200" cap="none" spc="0" normalizeH="0" baseline="0" noProof="0" dirty="0" err="1">
                <a:ln>
                  <a:noFill/>
                </a:ln>
                <a:solidFill>
                  <a:schemeClr val="tx1"/>
                </a:solidFill>
                <a:effectLst/>
                <a:uLnTx/>
                <a:uFillTx/>
                <a:latin typeface="+mn-lt"/>
                <a:ea typeface="+mn-ea"/>
                <a:cs typeface="+mn-cs"/>
              </a:rPr>
              <a:t>mIU</a:t>
            </a:r>
            <a:r>
              <a:rPr kumimoji="0" lang="en-US" sz="1600" b="0" i="0" u="none" strike="noStrike" kern="1200" cap="none" spc="0" normalizeH="0" baseline="0" noProof="0" dirty="0">
                <a:ln>
                  <a:noFill/>
                </a:ln>
                <a:solidFill>
                  <a:schemeClr val="tx1"/>
                </a:solidFill>
                <a:effectLst/>
                <a:uLnTx/>
                <a:uFillTx/>
                <a:latin typeface="+mn-lt"/>
                <a:ea typeface="+mn-ea"/>
                <a:cs typeface="+mn-cs"/>
              </a:rPr>
              <a:t>/ml (normal &lt;1 </a:t>
            </a:r>
            <a:r>
              <a:rPr kumimoji="0" lang="en-US" sz="1600" b="0" i="0" u="none" strike="noStrike" kern="1200" cap="none" spc="0" normalizeH="0" baseline="0" noProof="0" dirty="0" err="1">
                <a:ln>
                  <a:noFill/>
                </a:ln>
                <a:solidFill>
                  <a:schemeClr val="tx1"/>
                </a:solidFill>
                <a:effectLst/>
                <a:uLnTx/>
                <a:uFillTx/>
                <a:latin typeface="+mn-lt"/>
                <a:ea typeface="+mn-ea"/>
                <a:cs typeface="+mn-cs"/>
              </a:rPr>
              <a:t>mIU</a:t>
            </a:r>
            <a:r>
              <a:rPr kumimoji="0" lang="en-US" sz="1600" b="0" i="0" u="none" strike="noStrike" kern="1200" cap="none" spc="0" normalizeH="0" baseline="0" noProof="0" dirty="0">
                <a:ln>
                  <a:noFill/>
                </a:ln>
                <a:solidFill>
                  <a:schemeClr val="tx1"/>
                </a:solidFill>
                <a:effectLst/>
                <a:uLnTx/>
                <a:uFillTx/>
                <a:latin typeface="+mn-lt"/>
                <a:ea typeface="+mn-ea"/>
                <a:cs typeface="+mn-cs"/>
              </a:rPr>
              <a:t>/ml). DHEAS and FSH are normal. The patient complains of pain in her lower limb. Area radiographs are shown.</a:t>
            </a:r>
          </a:p>
        </p:txBody>
      </p:sp>
      <p:sp>
        <p:nvSpPr>
          <p:cNvPr id="7" name="TextBox 6"/>
          <p:cNvSpPr txBox="1"/>
          <p:nvPr/>
        </p:nvSpPr>
        <p:spPr>
          <a:xfrm>
            <a:off x="286465" y="4786052"/>
            <a:ext cx="2315541" cy="507831"/>
          </a:xfrm>
          <a:prstGeom prst="rect">
            <a:avLst/>
          </a:prstGeom>
          <a:noFill/>
        </p:spPr>
        <p:txBody>
          <a:bodyPr wrap="square" rtlCol="0">
            <a:spAutoFit/>
          </a:bodyPr>
          <a:lstStyle/>
          <a:p>
            <a:r>
              <a:rPr lang="en-US" sz="900" dirty="0"/>
              <a:t>Adapted from: Moein Mobini; Rahim Vakili; Saba Vakili, International J Pediatr Volume 2, Issue 2.2, April 2014, pp 153-156</a:t>
            </a:r>
          </a:p>
        </p:txBody>
      </p:sp>
    </p:spTree>
    <p:extLst>
      <p:ext uri="{BB962C8B-B14F-4D97-AF65-F5344CB8AC3E}">
        <p14:creationId xmlns:p14="http://schemas.microsoft.com/office/powerpoint/2010/main" val="957919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1040" y="68544"/>
            <a:ext cx="8811491" cy="6380042"/>
          </a:xfrm>
          <a:prstGeom prst="rect">
            <a:avLst/>
          </a:prstGeom>
        </p:spPr>
      </p:pic>
      <p:sp>
        <p:nvSpPr>
          <p:cNvPr id="10" name="Rectangle 9">
            <a:extLst>
              <a:ext uri="{FF2B5EF4-FFF2-40B4-BE49-F238E27FC236}">
                <a16:creationId xmlns:a16="http://schemas.microsoft.com/office/drawing/2014/main" id="{8439F161-78B0-E846-D19D-2E33D18FAF70}"/>
              </a:ext>
              <a:ext uri="{C183D7F6-B498-43B3-948B-1728B52AA6E4}">
                <adec:decorative xmlns:adec="http://schemas.microsoft.com/office/drawing/2017/decorative" val="1"/>
              </a:ext>
            </a:extLst>
          </p:cNvPr>
          <p:cNvSpPr/>
          <p:nvPr/>
        </p:nvSpPr>
        <p:spPr>
          <a:xfrm>
            <a:off x="2292351" y="415764"/>
            <a:ext cx="457835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12" name="Shape 116">
            <a:extLst>
              <a:ext uri="{FF2B5EF4-FFF2-40B4-BE49-F238E27FC236}">
                <a16:creationId xmlns:a16="http://schemas.microsoft.com/office/drawing/2014/main" id="{706D52A9-75D0-01DB-EF7B-1005D5F82A6F}"/>
              </a:ext>
            </a:extLst>
          </p:cNvPr>
          <p:cNvSpPr txBox="1">
            <a:spLocks noGrp="1"/>
          </p:cNvSpPr>
          <p:nvPr>
            <p:ph type="title" idx="4294967295"/>
          </p:nvPr>
        </p:nvSpPr>
        <p:spPr>
          <a:xfrm>
            <a:off x="3110656" y="415764"/>
            <a:ext cx="2660518" cy="564949"/>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rPr>
              <a:t>CASE 2 (2) </a:t>
            </a:r>
          </a:p>
        </p:txBody>
      </p:sp>
      <p:sp>
        <p:nvSpPr>
          <p:cNvPr id="2" name="Shape 116"/>
          <p:cNvSpPr txBox="1"/>
          <p:nvPr/>
        </p:nvSpPr>
        <p:spPr>
          <a:xfrm>
            <a:off x="261469" y="2111140"/>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891222" y="3234017"/>
            <a:ext cx="4728830" cy="2319618"/>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57150">
              <a:lnSpc>
                <a:spcPct val="150000"/>
              </a:lnSpc>
              <a:buClr>
                <a:schemeClr val="bg1"/>
              </a:buClr>
            </a:pPr>
            <a:r>
              <a:rPr lang="en-US" dirty="0">
                <a:solidFill>
                  <a:schemeClr val="bg1"/>
                </a:solidFill>
                <a:latin typeface="Gotham Light" charset="0"/>
                <a:ea typeface="Gotham Light" charset="0"/>
                <a:cs typeface="Gotham Light" charset="0"/>
                <a:sym typeface="Source Sans Pro"/>
              </a:rPr>
              <a:t> What is the most likely diagnosis?</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Central nervous system tumor</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Kisspeptin gain-of-function mutation</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McCune-Albright Syndrome</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Tuberous sclerosis</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Turner Syndrome</a:t>
            </a:r>
          </a:p>
          <a:p>
            <a:pPr>
              <a:lnSpc>
                <a:spcPct val="150000"/>
              </a:lnSpc>
            </a:pPr>
            <a:endParaRPr lang="en-US" sz="9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62840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32" y="1"/>
            <a:ext cx="8779086" cy="6380042"/>
          </a:xfrm>
          <a:prstGeom prst="rect">
            <a:avLst/>
          </a:prstGeom>
        </p:spPr>
      </p:pic>
      <p:sp>
        <p:nvSpPr>
          <p:cNvPr id="4" name="Rectangle 3">
            <a:extLst>
              <a:ext uri="{FF2B5EF4-FFF2-40B4-BE49-F238E27FC236}">
                <a16:creationId xmlns:a16="http://schemas.microsoft.com/office/drawing/2014/main" id="{17B4CA97-7864-DD94-B1E6-0EAEA8CA07C8}"/>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6" name="Shape 116">
            <a:extLst>
              <a:ext uri="{FF2B5EF4-FFF2-40B4-BE49-F238E27FC236}">
                <a16:creationId xmlns:a16="http://schemas.microsoft.com/office/drawing/2014/main" id="{692AFE09-B213-61BD-716C-2EA5AE5D1EDB}"/>
              </a:ext>
            </a:extLst>
          </p:cNvPr>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2 (3)</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2" name="Shape 116"/>
          <p:cNvSpPr txBox="1"/>
          <p:nvPr/>
        </p:nvSpPr>
        <p:spPr>
          <a:xfrm>
            <a:off x="596726" y="2519407"/>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727450" y="2120900"/>
            <a:ext cx="4892602" cy="3432735"/>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28600"/>
            <a:r>
              <a:rPr lang="en-US" sz="1800" dirty="0"/>
              <a:t>Of the choices given for this case, which diagnosis/diagnoses may cause gonadotropin-dependent precocious puberty?</a:t>
            </a:r>
          </a:p>
          <a:p>
            <a:pPr marL="228600"/>
            <a:endParaRPr lang="en-US" sz="1800" dirty="0"/>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Central nervous system tumor</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Kisspeptin gain-of-function mutation</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McCune-Albright Syndrome</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Tuberous sclerosis</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Turner Syndrome</a:t>
            </a:r>
          </a:p>
          <a:p>
            <a:pPr>
              <a:lnSpc>
                <a:spcPct val="150000"/>
              </a:lnSpc>
            </a:pPr>
            <a:endParaRPr lang="en-US" sz="9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331198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 uri="{C183D7F6-B498-43B3-948B-1728B52AA6E4}">
                <adec:decorative xmlns:adec="http://schemas.microsoft.com/office/drawing/2017/decorative" val="1"/>
              </a:ext>
            </a:extLst>
          </p:cNvPr>
          <p:cNvSpPr/>
          <p:nvPr/>
        </p:nvSpPr>
        <p:spPr>
          <a:xfrm>
            <a:off x="2292351" y="415764"/>
            <a:ext cx="45974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p:cNvSpPr txBox="1">
            <a:spLocks noGrp="1"/>
          </p:cNvSpPr>
          <p:nvPr>
            <p:ph type="title" idx="4294967295"/>
          </p:nvPr>
        </p:nvSpPr>
        <p:spPr>
          <a:xfrm>
            <a:off x="3110656" y="415764"/>
            <a:ext cx="2660518" cy="564949"/>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3 (1)</a:t>
            </a:r>
            <a:endParaRPr kumimoji="0" lang="en-US" sz="3600" b="0" i="0" u="none" strike="noStrike" kern="1200" cap="none" spc="0" normalizeH="0" baseline="0" noProof="0" dirty="0">
              <a:ln>
                <a:noFill/>
              </a:ln>
              <a:solidFill>
                <a:schemeClr val="bg1"/>
              </a:solidFill>
              <a:effectLst/>
              <a:uLnTx/>
              <a:uFillTx/>
              <a:latin typeface="Gotham Light" charset="0"/>
              <a:ea typeface="Gotham Light" charset="0"/>
              <a:cs typeface="Gotham Light" charset="0"/>
              <a:sym typeface="Source Sans Pro"/>
            </a:endParaRPr>
          </a:p>
        </p:txBody>
      </p:sp>
      <p:sp>
        <p:nvSpPr>
          <p:cNvPr id="10" name="Shape 117">
            <a:extLst>
              <a:ext uri="{FF2B5EF4-FFF2-40B4-BE49-F238E27FC236}">
                <a16:creationId xmlns:a16="http://schemas.microsoft.com/office/drawing/2014/main" id="{D1408849-1B77-5549-9ABB-EEB3102B29BF}"/>
              </a:ext>
            </a:extLst>
          </p:cNvPr>
          <p:cNvSpPr txBox="1"/>
          <p:nvPr/>
        </p:nvSpPr>
        <p:spPr>
          <a:xfrm>
            <a:off x="692150" y="2003611"/>
            <a:ext cx="7966289" cy="3886201"/>
          </a:xfrm>
          <a:prstGeom prst="rect">
            <a:avLst/>
          </a:prstGeom>
          <a:noFill/>
          <a:ln>
            <a:noFill/>
          </a:ln>
        </p:spPr>
        <p:txBody>
          <a:bodyPr wrap="square" lIns="68569" tIns="68569" rIns="68569" bIns="68569" anchor="t" anchorCtr="0">
            <a:noAutofit/>
          </a:bodyPr>
          <a:lstStyle/>
          <a:p>
            <a:r>
              <a:rPr lang="en-US" sz="1600" dirty="0"/>
              <a:t>A 12-year-old boy is concerned about a lack of pubertal development during a recent annual physical exam. Although he is currently healthy, his medical history is notable for lack of midfacial fusion, including cleft lip and palate involving the nasal structure at birth, for which he underwent multiple surgeries. He was found to be anosmic postoperatively in early childhood.</a:t>
            </a:r>
          </a:p>
          <a:p>
            <a:r>
              <a:rPr lang="en-US" sz="1600" dirty="0"/>
              <a:t>His growth chart reveals he has been consistently along the 10</a:t>
            </a:r>
            <a:r>
              <a:rPr lang="en-US" sz="1600" baseline="30000" dirty="0"/>
              <a:t>th</a:t>
            </a:r>
            <a:r>
              <a:rPr lang="en-US" sz="1600" dirty="0"/>
              <a:t> percentile for height. As he approached the usual age of the pubertal growth spurt (12 years), he continue to grow 5 cm annually.</a:t>
            </a:r>
          </a:p>
          <a:p>
            <a:r>
              <a:rPr lang="en-US" sz="1600" dirty="0"/>
              <a:t>His current height and weight are at the 25</a:t>
            </a:r>
            <a:r>
              <a:rPr lang="en-US" sz="1600" baseline="30000" dirty="0"/>
              <a:t>th</a:t>
            </a:r>
            <a:r>
              <a:rPr lang="en-US" sz="1600" dirty="0"/>
              <a:t> and 10</a:t>
            </a:r>
            <a:r>
              <a:rPr lang="en-US" sz="1600" baseline="30000" dirty="0"/>
              <a:t>th</a:t>
            </a:r>
            <a:r>
              <a:rPr lang="en-US" sz="1600" dirty="0"/>
              <a:t> percentiles for age, respectively. Vital signs and physical exam are normal, demonstrating good results from his facial surgeries. He has small, firm testes, 1 cc in volume bilaterally, and &lt; 1 cm in length. His penis is prepubertal, and he has no sexual hair.</a:t>
            </a:r>
          </a:p>
        </p:txBody>
      </p:sp>
      <p:sp>
        <p:nvSpPr>
          <p:cNvPr id="7" name="TextBox 6"/>
          <p:cNvSpPr txBox="1"/>
          <p:nvPr/>
        </p:nvSpPr>
        <p:spPr>
          <a:xfrm>
            <a:off x="5144786" y="5658980"/>
            <a:ext cx="3307064" cy="230832"/>
          </a:xfrm>
          <a:prstGeom prst="rect">
            <a:avLst/>
          </a:prstGeom>
          <a:noFill/>
        </p:spPr>
        <p:txBody>
          <a:bodyPr wrap="square" rtlCol="0">
            <a:spAutoFit/>
          </a:bodyPr>
          <a:lstStyle/>
          <a:p>
            <a:r>
              <a:rPr lang="en-US" sz="900" dirty="0"/>
              <a:t>Adapted from: Medscape Pediatrics, authors PA Lee and CP Houk</a:t>
            </a:r>
          </a:p>
        </p:txBody>
      </p:sp>
    </p:spTree>
    <p:extLst>
      <p:ext uri="{BB962C8B-B14F-4D97-AF65-F5344CB8AC3E}">
        <p14:creationId xmlns:p14="http://schemas.microsoft.com/office/powerpoint/2010/main" val="140688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8842664" cy="6380042"/>
          </a:xfrm>
          <a:prstGeom prst="rect">
            <a:avLst/>
          </a:prstGeom>
        </p:spPr>
      </p:pic>
      <p:sp>
        <p:nvSpPr>
          <p:cNvPr id="4" name="Rectangle 3">
            <a:extLst>
              <a:ext uri="{FF2B5EF4-FFF2-40B4-BE49-F238E27FC236}">
                <a16:creationId xmlns:a16="http://schemas.microsoft.com/office/drawing/2014/main" id="{63C15744-A901-6289-B31F-487C57FA295B}"/>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6" name="Shape 116">
            <a:extLst>
              <a:ext uri="{FF2B5EF4-FFF2-40B4-BE49-F238E27FC236}">
                <a16:creationId xmlns:a16="http://schemas.microsoft.com/office/drawing/2014/main" id="{66224A88-9736-EC8C-ABF9-BEC3169B04B1}"/>
              </a:ext>
            </a:extLst>
          </p:cNvPr>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3 (2)</a:t>
            </a:r>
          </a:p>
        </p:txBody>
      </p:sp>
      <p:sp>
        <p:nvSpPr>
          <p:cNvPr id="2" name="Shape 116"/>
          <p:cNvSpPr txBox="1"/>
          <p:nvPr/>
        </p:nvSpPr>
        <p:spPr>
          <a:xfrm>
            <a:off x="98985" y="1506419"/>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827722" y="2165349"/>
            <a:ext cx="4728830" cy="3556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85750" indent="-2286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 What is the best approach to the care of this patient at this time?</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Acknowledge his concerns, reexamine in 6 months</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Obtain bone age films, ask additional family history</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Refer to Endocrinology for further workup</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Send a karyotype to rule out Klinefelter syndrome</a:t>
            </a:r>
          </a:p>
          <a:p>
            <a:pPr>
              <a:lnSpc>
                <a:spcPct val="150000"/>
              </a:lnSpc>
            </a:pPr>
            <a:endParaRPr lang="en-US" sz="9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3405905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9" name="Shape 116">
            <a:extLst>
              <a:ext uri="{C183D7F6-B498-43B3-948B-1728B52AA6E4}">
                <adec:decorative xmlns:adec="http://schemas.microsoft.com/office/drawing/2017/decorative" val="1"/>
              </a:ext>
            </a:extLst>
          </p:cNvPr>
          <p:cNvSpPr txBox="1"/>
          <p:nvPr/>
        </p:nvSpPr>
        <p:spPr>
          <a:xfrm>
            <a:off x="799778" y="7111609"/>
            <a:ext cx="1164414" cy="303517"/>
          </a:xfrm>
          <a:prstGeom prst="rect">
            <a:avLst/>
          </a:prstGeom>
          <a:noFill/>
          <a:ln>
            <a:noFill/>
          </a:ln>
        </p:spPr>
        <p:txBody>
          <a:bodyPr wrap="square" lIns="68569" tIns="68569" rIns="68569" bIns="68569" anchor="t" anchorCtr="0">
            <a:noAutofit/>
          </a:bodyPr>
          <a:lstStyle/>
          <a:p>
            <a:r>
              <a:rPr lang="en-US" sz="1200" i="1" dirty="0">
                <a:solidFill>
                  <a:srgbClr val="434343"/>
                </a:solidFill>
                <a:latin typeface="Gotham Book Italic" charset="0"/>
                <a:ea typeface="Gotham Book Italic" charset="0"/>
                <a:cs typeface="Gotham Book Italic" charset="0"/>
                <a:sym typeface="Source Sans Pro"/>
              </a:rPr>
              <a:t>Sources, date</a:t>
            </a:r>
          </a:p>
        </p:txBody>
      </p:sp>
      <p:sp>
        <p:nvSpPr>
          <p:cNvPr id="5" name="Shape 116"/>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3 (3)</a:t>
            </a:r>
          </a:p>
        </p:txBody>
      </p:sp>
      <p:sp>
        <p:nvSpPr>
          <p:cNvPr id="10" name="Shape 117">
            <a:extLst>
              <a:ext uri="{FF2B5EF4-FFF2-40B4-BE49-F238E27FC236}">
                <a16:creationId xmlns:a16="http://schemas.microsoft.com/office/drawing/2014/main" id="{D1408849-1B77-5549-9ABB-EEB3102B29BF}"/>
              </a:ext>
            </a:extLst>
          </p:cNvPr>
          <p:cNvSpPr txBox="1"/>
          <p:nvPr/>
        </p:nvSpPr>
        <p:spPr>
          <a:xfrm>
            <a:off x="1600200" y="2338264"/>
            <a:ext cx="5956300" cy="1819023"/>
          </a:xfrm>
          <a:prstGeom prst="rect">
            <a:avLst/>
          </a:prstGeom>
          <a:noFill/>
          <a:ln>
            <a:noFill/>
          </a:ln>
        </p:spPr>
        <p:txBody>
          <a:bodyPr wrap="square" lIns="68569" tIns="68569" rIns="68569" bIns="68569" anchor="t" anchorCtr="0">
            <a:noAutofit/>
          </a:bodyPr>
          <a:lstStyle/>
          <a:p>
            <a:r>
              <a:rPr lang="en-US" sz="1600" dirty="0"/>
              <a:t>Laboratory testing was notable for luteinizing hormone (LH), follicle stimulating hormone (FSH), and testosterone levels below detectable limits. CBC and complete metabolic panel were normal.</a:t>
            </a:r>
          </a:p>
        </p:txBody>
      </p:sp>
      <p:sp>
        <p:nvSpPr>
          <p:cNvPr id="7" name="TextBox 6"/>
          <p:cNvSpPr txBox="1"/>
          <p:nvPr/>
        </p:nvSpPr>
        <p:spPr>
          <a:xfrm>
            <a:off x="4319465" y="3787955"/>
            <a:ext cx="3237035" cy="369332"/>
          </a:xfrm>
          <a:prstGeom prst="rect">
            <a:avLst/>
          </a:prstGeom>
          <a:noFill/>
        </p:spPr>
        <p:txBody>
          <a:bodyPr wrap="square" rtlCol="0">
            <a:spAutoFit/>
          </a:bodyPr>
          <a:lstStyle/>
          <a:p>
            <a:r>
              <a:rPr lang="en-US" sz="900" dirty="0"/>
              <a:t>Adapted from: Medscape Pediatrics, authors PA Lee and CP Houk</a:t>
            </a:r>
          </a:p>
          <a:p>
            <a:endParaRPr lang="en-US" sz="900" dirty="0"/>
          </a:p>
        </p:txBody>
      </p:sp>
    </p:spTree>
    <p:extLst>
      <p:ext uri="{BB962C8B-B14F-4D97-AF65-F5344CB8AC3E}">
        <p14:creationId xmlns:p14="http://schemas.microsoft.com/office/powerpoint/2010/main" val="1840248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8832273" cy="6380042"/>
          </a:xfrm>
          <a:prstGeom prst="rect">
            <a:avLst/>
          </a:prstGeom>
        </p:spPr>
      </p:pic>
      <p:sp>
        <p:nvSpPr>
          <p:cNvPr id="4" name="Rectangle 3">
            <a:extLst>
              <a:ext uri="{FF2B5EF4-FFF2-40B4-BE49-F238E27FC236}">
                <a16:creationId xmlns:a16="http://schemas.microsoft.com/office/drawing/2014/main" id="{BA06F295-7352-9629-DA78-7CF979A532D3}"/>
              </a:ext>
              <a:ext uri="{C183D7F6-B498-43B3-948B-1728B52AA6E4}">
                <adec:decorative xmlns:adec="http://schemas.microsoft.com/office/drawing/2017/decorative" val="1"/>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6" name="Shape 116">
            <a:extLst>
              <a:ext uri="{FF2B5EF4-FFF2-40B4-BE49-F238E27FC236}">
                <a16:creationId xmlns:a16="http://schemas.microsoft.com/office/drawing/2014/main" id="{E9B0F72A-AA06-D26D-BB8F-711BFEDCEE71}"/>
              </a:ext>
            </a:extLst>
          </p:cNvPr>
          <p:cNvSpPr txBox="1">
            <a:spLocks noGrp="1"/>
          </p:cNvSpPr>
          <p:nvPr>
            <p:ph type="title" idx="4294967295"/>
          </p:nvPr>
        </p:nvSpPr>
        <p:spPr>
          <a:xfrm>
            <a:off x="3072556" y="409414"/>
            <a:ext cx="2660518" cy="764931"/>
          </a:xfrm>
          <a:prstGeom prst="rect">
            <a:avLst/>
          </a:prstGeom>
          <a:noFill/>
          <a:ln>
            <a:noFill/>
            <a:prstDash/>
          </a:ln>
          <a:effectLst/>
        </p:spPr>
        <p:txBody>
          <a:bodyPr rot="0" spcFirstLastPara="0" vertOverflow="overflow" horzOverflow="overflow" vert="horz" wrap="square" lIns="68569" tIns="68569" rIns="68569" bIns="68569"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Gotham Light"/>
                <a:ea typeface="Gotham Light" charset="0"/>
                <a:cs typeface="Gotham Light" charset="0"/>
                <a:sym typeface="Source Sans Pro"/>
              </a:rPr>
              <a:t>CASE 3(4)</a:t>
            </a:r>
          </a:p>
        </p:txBody>
      </p:sp>
      <p:sp>
        <p:nvSpPr>
          <p:cNvPr id="2" name="Shape 116"/>
          <p:cNvSpPr txBox="1"/>
          <p:nvPr/>
        </p:nvSpPr>
        <p:spPr>
          <a:xfrm>
            <a:off x="391529" y="2121506"/>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891222" y="2381723"/>
            <a:ext cx="4728830" cy="308219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285750" indent="-2286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 Given these results, what is the most likely diagnosis?</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Androgen Insensitivity Syndrome</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Autoimmune polyglandular syndrome</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Constitutional delay of puberty</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Hypergonadotropic hypogonadism</a:t>
            </a:r>
          </a:p>
          <a:p>
            <a:pPr marL="971550" lvl="1" indent="-342900">
              <a:lnSpc>
                <a:spcPct val="150000"/>
              </a:lnSpc>
              <a:buClr>
                <a:schemeClr val="dk2"/>
              </a:buClr>
              <a:buFont typeface="+mj-lt"/>
              <a:buAutoNum type="alphaUcPeriod"/>
            </a:pPr>
            <a:r>
              <a:rPr lang="en-US" sz="1400" dirty="0">
                <a:solidFill>
                  <a:schemeClr val="bg1"/>
                </a:solidFill>
                <a:latin typeface="Gotham Light" charset="0"/>
                <a:ea typeface="Gotham Light" charset="0"/>
                <a:cs typeface="Gotham Light" charset="0"/>
                <a:sym typeface="Source Sans Pro"/>
              </a:rPr>
              <a:t>Kallman’s Syndrome</a:t>
            </a:r>
          </a:p>
          <a:p>
            <a:pPr>
              <a:lnSpc>
                <a:spcPct val="150000"/>
              </a:lnSpc>
            </a:pPr>
            <a:endParaRPr lang="en-US" sz="900"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650071215"/>
      </p:ext>
    </p:extLst>
  </p:cSld>
  <p:clrMapOvr>
    <a:masterClrMapping/>
  </p:clrMapOvr>
</p:sld>
</file>

<file path=ppt/theme/theme1.xml><?xml version="1.0" encoding="utf-8"?>
<a:theme xmlns:a="http://schemas.openxmlformats.org/drawingml/2006/main" name="CI MED">
  <a:themeElements>
    <a:clrScheme name="CI MED">
      <a:dk1>
        <a:srgbClr val="767676"/>
      </a:dk1>
      <a:lt1>
        <a:srgbClr val="FFFFFF"/>
      </a:lt1>
      <a:dk2>
        <a:srgbClr val="13284A"/>
      </a:dk2>
      <a:lt2>
        <a:srgbClr val="E7E6E6"/>
      </a:lt2>
      <a:accent1>
        <a:srgbClr val="E54D24"/>
      </a:accent1>
      <a:accent2>
        <a:srgbClr val="B11136"/>
      </a:accent2>
      <a:accent3>
        <a:srgbClr val="A5A5A5"/>
      </a:accent3>
      <a:accent4>
        <a:srgbClr val="80061D"/>
      </a:accent4>
      <a:accent5>
        <a:srgbClr val="0E1E37"/>
      </a:accent5>
      <a:accent6>
        <a:srgbClr val="610316"/>
      </a:accent6>
      <a:hlink>
        <a:srgbClr val="E54D24"/>
      </a:hlink>
      <a:folHlink>
        <a:srgbClr val="B11136"/>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 MED" id="{28F869B3-CC09-2945-B0EF-ABE2EA36043A}" vid="{A5B8CDBD-34C4-E84A-AD31-BA9E42C06F70}"/>
    </a:ext>
  </a:extLst>
</a:theme>
</file>

<file path=ppt/theme/theme2.xml><?xml version="1.0" encoding="utf-8"?>
<a:theme xmlns:a="http://schemas.openxmlformats.org/drawingml/2006/main" name="Custom Design">
  <a:themeElements>
    <a:clrScheme name="CI MED">
      <a:dk1>
        <a:srgbClr val="767676"/>
      </a:dk1>
      <a:lt1>
        <a:srgbClr val="FFFFFF"/>
      </a:lt1>
      <a:dk2>
        <a:srgbClr val="13284A"/>
      </a:dk2>
      <a:lt2>
        <a:srgbClr val="E7E6E6"/>
      </a:lt2>
      <a:accent1>
        <a:srgbClr val="E54D24"/>
      </a:accent1>
      <a:accent2>
        <a:srgbClr val="B11136"/>
      </a:accent2>
      <a:accent3>
        <a:srgbClr val="A5A5A5"/>
      </a:accent3>
      <a:accent4>
        <a:srgbClr val="80061D"/>
      </a:accent4>
      <a:accent5>
        <a:srgbClr val="0E1E37"/>
      </a:accent5>
      <a:accent6>
        <a:srgbClr val="610316"/>
      </a:accent6>
      <a:hlink>
        <a:srgbClr val="E54D24"/>
      </a:hlink>
      <a:folHlink>
        <a:srgbClr val="B1113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CFBB7D-6790-4D42-A73C-2E8D8ED77AD3}">
  <we:reference id="2f2765e4-7c9d-4c24-b3c4-499470ddf277" version="1.0.0.7" store="EXCatalog" storeType="EXCatalog"/>
  <we:alternateReferences>
    <we:reference id="WA104382046" version="1.0.0.7"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11565</TotalTime>
  <Words>1033</Words>
  <Application>Microsoft Office PowerPoint</Application>
  <PresentationFormat>On-screen Show (4:3)</PresentationFormat>
  <Paragraphs>72</Paragraphs>
  <Slides>13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Arial</vt:lpstr>
      <vt:lpstr>Calibri</vt:lpstr>
      <vt:lpstr>Gotham</vt:lpstr>
      <vt:lpstr>Gotham Bold</vt:lpstr>
      <vt:lpstr>Gotham Book</vt:lpstr>
      <vt:lpstr>Gotham Book Italic</vt:lpstr>
      <vt:lpstr>Gotham Light</vt:lpstr>
      <vt:lpstr>CI MED</vt:lpstr>
      <vt:lpstr>Custom Design</vt:lpstr>
      <vt:lpstr>Puberty  TBL </vt:lpstr>
      <vt:lpstr>APPLICATIONS</vt:lpstr>
      <vt:lpstr>CASE 1(1)</vt:lpstr>
      <vt:lpstr>CASE 1 (2)</vt:lpstr>
      <vt:lpstr>CASE 1 (3)</vt:lpstr>
      <vt:lpstr>CASE 1 (4)</vt:lpstr>
      <vt:lpstr>CASE 2 (1)  </vt:lpstr>
      <vt:lpstr>CASE 2 (2) </vt:lpstr>
      <vt:lpstr>CASE 2 (3)</vt:lpstr>
      <vt:lpstr>CASE 3 (1)</vt:lpstr>
      <vt:lpstr>CASE 3 (2)</vt:lpstr>
      <vt:lpstr>CASE 3 (3)</vt:lpstr>
      <vt:lpstr>CASE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Annie Durling</dc:creator>
  <cp:lastModifiedBy>Hector.Lantigua</cp:lastModifiedBy>
  <cp:revision>194</cp:revision>
  <dcterms:created xsi:type="dcterms:W3CDTF">2017-09-13T18:59:31Z</dcterms:created>
  <dcterms:modified xsi:type="dcterms:W3CDTF">2026-09-16T22:58:10Z</dcterms:modified>
</cp:coreProperties>
</file>