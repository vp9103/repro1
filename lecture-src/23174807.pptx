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slideLayouts/slideLayout2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3" r:id="rId2"/>
    <p:sldMasterId id="2147483667" r:id="rId3"/>
    <p:sldMasterId id="2147483679" r:id="rId4"/>
  </p:sldMasterIdLst>
  <p:notesMasterIdLst>
    <p:notesMasterId r:id="rId33"/>
  </p:notesMasterIdLst>
  <p:sldIdLst>
    <p:sldId id="256" r:id="rId5"/>
    <p:sldId id="257" r:id="rId6"/>
    <p:sldId id="340" r:id="rId7"/>
    <p:sldId id="299" r:id="rId8"/>
    <p:sldId id="311" r:id="rId9"/>
    <p:sldId id="332" r:id="rId10"/>
    <p:sldId id="301" r:id="rId11"/>
    <p:sldId id="341" r:id="rId12"/>
    <p:sldId id="333" r:id="rId13"/>
    <p:sldId id="307" r:id="rId14"/>
    <p:sldId id="313" r:id="rId15"/>
    <p:sldId id="314" r:id="rId16"/>
    <p:sldId id="316" r:id="rId17"/>
    <p:sldId id="317" r:id="rId18"/>
    <p:sldId id="323" r:id="rId19"/>
    <p:sldId id="343" r:id="rId20"/>
    <p:sldId id="344" r:id="rId21"/>
    <p:sldId id="294" r:id="rId22"/>
    <p:sldId id="295" r:id="rId23"/>
    <p:sldId id="296" r:id="rId24"/>
    <p:sldId id="334" r:id="rId25"/>
    <p:sldId id="325" r:id="rId26"/>
    <p:sldId id="320" r:id="rId27"/>
    <p:sldId id="272" r:id="rId28"/>
    <p:sldId id="342" r:id="rId29"/>
    <p:sldId id="327" r:id="rId30"/>
    <p:sldId id="265" r:id="rId31"/>
    <p:sldId id="339" r:id="rId32"/>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0DEEF"/>
          </a:solidFill>
        </a:fill>
      </a:tcStyle>
    </a:wholeTbl>
    <a:band2H>
      <a:tcTxStyle/>
      <a:tcStyle>
        <a:tcBdr/>
        <a:fill>
          <a:solidFill>
            <a:srgbClr val="E9EFF7"/>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1647" autoAdjust="0"/>
  </p:normalViewPr>
  <p:slideViewPr>
    <p:cSldViewPr snapToGrid="0">
      <p:cViewPr varScale="1">
        <p:scale>
          <a:sx n="60" d="100"/>
          <a:sy n="60" d="100"/>
        </p:scale>
        <p:origin x="884" y="5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slideMaster" Target="slideMasters/slideMaster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thya subbiah" clId="Web-{9FA86A9F-1807-427A-B56E-F6090AE08A6A}"/>
    <pc:docChg chg="addSld delSld modSld sldOrd">
      <pc:chgData name="Sathya subbiah" userId="" providerId="" clId="Web-{9FA86A9F-1807-427A-B56E-F6090AE08A6A}" dt="2024-06-13T15:37:45.481" v="194" actId="20577"/>
      <pc:docMkLst>
        <pc:docMk/>
      </pc:docMkLst>
      <pc:sldChg chg="modSp">
        <pc:chgData name="Sathya subbiah" userId="" providerId="" clId="Web-{9FA86A9F-1807-427A-B56E-F6090AE08A6A}" dt="2024-06-13T15:37:45.481" v="194" actId="20577"/>
        <pc:sldMkLst>
          <pc:docMk/>
          <pc:sldMk cId="0" sldId="272"/>
        </pc:sldMkLst>
        <pc:spChg chg="mod">
          <ac:chgData name="Sathya subbiah" userId="" providerId="" clId="Web-{9FA86A9F-1807-427A-B56E-F6090AE08A6A}" dt="2024-06-13T15:37:45.481" v="194" actId="20577"/>
          <ac:spMkLst>
            <pc:docMk/>
            <pc:sldMk cId="0" sldId="272"/>
            <ac:spMk id="118" creationId="{00000000-0000-0000-0000-000000000000}"/>
          </ac:spMkLst>
        </pc:spChg>
      </pc:sldChg>
      <pc:sldChg chg="modSp">
        <pc:chgData name="Sathya subbiah" userId="" providerId="" clId="Web-{9FA86A9F-1807-427A-B56E-F6090AE08A6A}" dt="2024-06-13T15:26:39.632" v="128" actId="20577"/>
        <pc:sldMkLst>
          <pc:docMk/>
          <pc:sldMk cId="1513830351" sldId="314"/>
        </pc:sldMkLst>
        <pc:spChg chg="mod">
          <ac:chgData name="Sathya subbiah" userId="" providerId="" clId="Web-{9FA86A9F-1807-427A-B56E-F6090AE08A6A}" dt="2024-06-13T15:26:39.632" v="128" actId="20577"/>
          <ac:spMkLst>
            <pc:docMk/>
            <pc:sldMk cId="1513830351" sldId="314"/>
            <ac:spMk id="2" creationId="{31AD5268-5A9C-4E43-30FE-9C4FDC88A4F7}"/>
          </ac:spMkLst>
        </pc:spChg>
      </pc:sldChg>
      <pc:sldChg chg="modSp">
        <pc:chgData name="Sathya subbiah" userId="" providerId="" clId="Web-{9FA86A9F-1807-427A-B56E-F6090AE08A6A}" dt="2024-06-13T15:35:28.824" v="175" actId="20577"/>
        <pc:sldMkLst>
          <pc:docMk/>
          <pc:sldMk cId="479808213" sldId="316"/>
        </pc:sldMkLst>
        <pc:spChg chg="mod">
          <ac:chgData name="Sathya subbiah" userId="" providerId="" clId="Web-{9FA86A9F-1807-427A-B56E-F6090AE08A6A}" dt="2024-06-13T15:35:28.824" v="175" actId="20577"/>
          <ac:spMkLst>
            <pc:docMk/>
            <pc:sldMk cId="479808213" sldId="316"/>
            <ac:spMk id="3" creationId="{6FD33190-5593-A486-80E8-B640F550B0FE}"/>
          </ac:spMkLst>
        </pc:spChg>
      </pc:sldChg>
      <pc:sldChg chg="modSp">
        <pc:chgData name="Sathya subbiah" userId="" providerId="" clId="Web-{9FA86A9F-1807-427A-B56E-F6090AE08A6A}" dt="2024-06-13T15:37:18.591" v="191"/>
        <pc:sldMkLst>
          <pc:docMk/>
          <pc:sldMk cId="3213164647" sldId="325"/>
        </pc:sldMkLst>
        <pc:graphicFrameChg chg="mod modGraphic">
          <ac:chgData name="Sathya subbiah" userId="" providerId="" clId="Web-{9FA86A9F-1807-427A-B56E-F6090AE08A6A}" dt="2024-06-13T15:37:18.591" v="191"/>
          <ac:graphicFrameMkLst>
            <pc:docMk/>
            <pc:sldMk cId="3213164647" sldId="325"/>
            <ac:graphicFrameMk id="2" creationId="{19DE4C81-7A1C-128D-8031-ED6766D8CEDA}"/>
          </ac:graphicFrameMkLst>
        </pc:graphicFrameChg>
      </pc:sldChg>
      <pc:sldChg chg="modSp ord">
        <pc:chgData name="Sathya subbiah" userId="" providerId="" clId="Web-{9FA86A9F-1807-427A-B56E-F6090AE08A6A}" dt="2024-06-13T15:20:55.514" v="61" actId="20577"/>
        <pc:sldMkLst>
          <pc:docMk/>
          <pc:sldMk cId="3207001520" sldId="327"/>
        </pc:sldMkLst>
        <pc:spChg chg="mod">
          <ac:chgData name="Sathya subbiah" userId="" providerId="" clId="Web-{9FA86A9F-1807-427A-B56E-F6090AE08A6A}" dt="2024-06-13T15:20:41.405" v="59" actId="20577"/>
          <ac:spMkLst>
            <pc:docMk/>
            <pc:sldMk cId="3207001520" sldId="327"/>
            <ac:spMk id="2" creationId="{08D14EB3-2B3E-FD64-1F3E-E36EA9BFE4A9}"/>
          </ac:spMkLst>
        </pc:spChg>
        <pc:spChg chg="mod">
          <ac:chgData name="Sathya subbiah" userId="" providerId="" clId="Web-{9FA86A9F-1807-427A-B56E-F6090AE08A6A}" dt="2024-06-13T15:20:55.514" v="61" actId="20577"/>
          <ac:spMkLst>
            <pc:docMk/>
            <pc:sldMk cId="3207001520" sldId="327"/>
            <ac:spMk id="3" creationId="{F7D519B7-0EB3-69A9-4E7F-DBC7BA16028A}"/>
          </ac:spMkLst>
        </pc:spChg>
      </pc:sldChg>
      <pc:sldChg chg="del">
        <pc:chgData name="Sathya subbiah" userId="" providerId="" clId="Web-{9FA86A9F-1807-427A-B56E-F6090AE08A6A}" dt="2024-06-13T15:15:25.322" v="1"/>
        <pc:sldMkLst>
          <pc:docMk/>
          <pc:sldMk cId="3922173036" sldId="328"/>
        </pc:sldMkLst>
      </pc:sldChg>
      <pc:sldChg chg="modSp">
        <pc:chgData name="Sathya subbiah" userId="" providerId="" clId="Web-{9FA86A9F-1807-427A-B56E-F6090AE08A6A}" dt="2024-06-13T15:36:49.434" v="187" actId="20577"/>
        <pc:sldMkLst>
          <pc:docMk/>
          <pc:sldMk cId="268171948" sldId="334"/>
        </pc:sldMkLst>
        <pc:spChg chg="mod">
          <ac:chgData name="Sathya subbiah" userId="" providerId="" clId="Web-{9FA86A9F-1807-427A-B56E-F6090AE08A6A}" dt="2024-06-13T15:18:13.685" v="41" actId="20577"/>
          <ac:spMkLst>
            <pc:docMk/>
            <pc:sldMk cId="268171948" sldId="334"/>
            <ac:spMk id="2" creationId="{7D99FF75-95E1-3331-0DB3-FB51EF092079}"/>
          </ac:spMkLst>
        </pc:spChg>
        <pc:spChg chg="mod">
          <ac:chgData name="Sathya subbiah" userId="" providerId="" clId="Web-{9FA86A9F-1807-427A-B56E-F6090AE08A6A}" dt="2024-06-13T15:36:49.434" v="187" actId="20577"/>
          <ac:spMkLst>
            <pc:docMk/>
            <pc:sldMk cId="268171948" sldId="334"/>
            <ac:spMk id="3" creationId="{8F467891-E73C-47F0-5456-A1657E2B3853}"/>
          </ac:spMkLst>
        </pc:spChg>
      </pc:sldChg>
      <pc:sldChg chg="del">
        <pc:chgData name="Sathya subbiah" userId="" providerId="" clId="Web-{9FA86A9F-1807-427A-B56E-F6090AE08A6A}" dt="2024-06-13T15:19:19.123" v="45"/>
        <pc:sldMkLst>
          <pc:docMk/>
          <pc:sldMk cId="2414529506" sldId="335"/>
        </pc:sldMkLst>
      </pc:sldChg>
      <pc:sldChg chg="del">
        <pc:chgData name="Sathya subbiah" userId="" providerId="" clId="Web-{9FA86A9F-1807-427A-B56E-F6090AE08A6A}" dt="2024-06-13T15:19:16.779" v="44"/>
        <pc:sldMkLst>
          <pc:docMk/>
          <pc:sldMk cId="4224305993" sldId="336"/>
        </pc:sldMkLst>
      </pc:sldChg>
      <pc:sldChg chg="modSp">
        <pc:chgData name="Sathya subbiah" userId="" providerId="" clId="Web-{9FA86A9F-1807-427A-B56E-F6090AE08A6A}" dt="2024-06-13T15:17:26.747" v="26" actId="20577"/>
        <pc:sldMkLst>
          <pc:docMk/>
          <pc:sldMk cId="3509807226" sldId="339"/>
        </pc:sldMkLst>
        <pc:spChg chg="mod">
          <ac:chgData name="Sathya subbiah" userId="" providerId="" clId="Web-{9FA86A9F-1807-427A-B56E-F6090AE08A6A}" dt="2024-06-13T15:17:26.747" v="26" actId="20577"/>
          <ac:spMkLst>
            <pc:docMk/>
            <pc:sldMk cId="3509807226" sldId="339"/>
            <ac:spMk id="2" creationId="{04B1A0DB-7C83-D792-5CA9-CF4212E2E1AA}"/>
          </ac:spMkLst>
        </pc:spChg>
      </pc:sldChg>
      <pc:sldChg chg="modSp">
        <pc:chgData name="Sathya subbiah" userId="" providerId="" clId="Web-{9FA86A9F-1807-427A-B56E-F6090AE08A6A}" dt="2024-06-13T15:21:52.015" v="63" actId="1076"/>
        <pc:sldMkLst>
          <pc:docMk/>
          <pc:sldMk cId="18574802" sldId="340"/>
        </pc:sldMkLst>
        <pc:picChg chg="mod">
          <ac:chgData name="Sathya subbiah" userId="" providerId="" clId="Web-{9FA86A9F-1807-427A-B56E-F6090AE08A6A}" dt="2024-06-13T15:21:52.015" v="63" actId="1076"/>
          <ac:picMkLst>
            <pc:docMk/>
            <pc:sldMk cId="18574802" sldId="340"/>
            <ac:picMk id="27650" creationId="{AF76289D-B556-4CD3-93AB-A4C2A3493E16}"/>
          </ac:picMkLst>
        </pc:picChg>
      </pc:sldChg>
      <pc:sldChg chg="add replId">
        <pc:chgData name="Sathya subbiah" userId="" providerId="" clId="Web-{9FA86A9F-1807-427A-B56E-F6090AE08A6A}" dt="2024-06-13T15:15:08.400" v="0"/>
        <pc:sldMkLst>
          <pc:docMk/>
          <pc:sldMk cId="2368954572" sldId="342"/>
        </pc:sldMkLst>
      </pc:sldChg>
      <pc:sldChg chg="add replId">
        <pc:chgData name="Sathya subbiah" userId="" providerId="" clId="Web-{9FA86A9F-1807-427A-B56E-F6090AE08A6A}" dt="2024-06-13T15:18:57.482" v="42"/>
        <pc:sldMkLst>
          <pc:docMk/>
          <pc:sldMk cId="3853747416" sldId="343"/>
        </pc:sldMkLst>
      </pc:sldChg>
      <pc:sldChg chg="add replId">
        <pc:chgData name="Sathya subbiah" userId="" providerId="" clId="Web-{9FA86A9F-1807-427A-B56E-F6090AE08A6A}" dt="2024-06-13T15:19:11.998" v="43"/>
        <pc:sldMkLst>
          <pc:docMk/>
          <pc:sldMk cId="2224258526" sldId="344"/>
        </pc:sldMkLst>
      </pc:sldChg>
    </pc:docChg>
  </pc:docChgLst>
  <pc:docChgLst>
    <pc:chgData name="Sathya subbiah" clId="Web-{D1EE3F21-9F32-4C2B-BA0A-2418ABE67684}"/>
    <pc:docChg chg="addSld delSld modSld sldOrd">
      <pc:chgData name="Sathya subbiah" userId="" providerId="" clId="Web-{D1EE3F21-9F32-4C2B-BA0A-2418ABE67684}" dt="2024-06-12T07:21:37.750" v="137"/>
      <pc:docMkLst>
        <pc:docMk/>
      </pc:docMkLst>
      <pc:sldChg chg="modSp">
        <pc:chgData name="Sathya subbiah" userId="" providerId="" clId="Web-{D1EE3F21-9F32-4C2B-BA0A-2418ABE67684}" dt="2024-06-12T05:26:03.651" v="17" actId="20577"/>
        <pc:sldMkLst>
          <pc:docMk/>
          <pc:sldMk cId="0" sldId="256"/>
        </pc:sldMkLst>
        <pc:spChg chg="mod">
          <ac:chgData name="Sathya subbiah" userId="" providerId="" clId="Web-{D1EE3F21-9F32-4C2B-BA0A-2418ABE67684}" dt="2024-06-12T05:26:03.651" v="17" actId="20577"/>
          <ac:spMkLst>
            <pc:docMk/>
            <pc:sldMk cId="0" sldId="256"/>
            <ac:spMk id="41" creationId="{00000000-0000-0000-0000-000000000000}"/>
          </ac:spMkLst>
        </pc:spChg>
      </pc:sldChg>
      <pc:sldChg chg="ord">
        <pc:chgData name="Sathya subbiah" userId="" providerId="" clId="Web-{D1EE3F21-9F32-4C2B-BA0A-2418ABE67684}" dt="2024-06-12T07:10:35.117" v="75"/>
        <pc:sldMkLst>
          <pc:docMk/>
          <pc:sldMk cId="0" sldId="272"/>
        </pc:sldMkLst>
      </pc:sldChg>
      <pc:sldChg chg="addSp modSp">
        <pc:chgData name="Sathya subbiah" userId="" providerId="" clId="Web-{D1EE3F21-9F32-4C2B-BA0A-2418ABE67684}" dt="2024-06-12T05:50:42.161" v="57"/>
        <pc:sldMkLst>
          <pc:docMk/>
          <pc:sldMk cId="906207673" sldId="299"/>
        </pc:sldMkLst>
        <pc:spChg chg="add mod">
          <ac:chgData name="Sathya subbiah" userId="" providerId="" clId="Web-{D1EE3F21-9F32-4C2B-BA0A-2418ABE67684}" dt="2024-06-12T05:50:41.973" v="56" actId="20577"/>
          <ac:spMkLst>
            <pc:docMk/>
            <pc:sldMk cId="906207673" sldId="299"/>
            <ac:spMk id="2" creationId="{154E4FAA-4D93-292B-31A0-ECE0BEE8A798}"/>
          </ac:spMkLst>
        </pc:spChg>
        <pc:inkChg chg="add">
          <ac:chgData name="Sathya subbiah" userId="" providerId="" clId="Web-{D1EE3F21-9F32-4C2B-BA0A-2418ABE67684}" dt="2024-06-12T05:50:42.161" v="57"/>
          <ac:inkMkLst>
            <pc:docMk/>
            <pc:sldMk cId="906207673" sldId="299"/>
            <ac:inkMk id="4" creationId="{15E304D6-F00C-1055-3B32-1EE12817414A}"/>
          </ac:inkMkLst>
        </pc:inkChg>
      </pc:sldChg>
      <pc:sldChg chg="del ord">
        <pc:chgData name="Sathya subbiah" userId="" providerId="" clId="Web-{D1EE3F21-9F32-4C2B-BA0A-2418ABE67684}" dt="2024-06-12T07:21:19.156" v="135"/>
        <pc:sldMkLst>
          <pc:docMk/>
          <pc:sldMk cId="2055294642" sldId="300"/>
        </pc:sldMkLst>
      </pc:sldChg>
      <pc:sldChg chg="ord">
        <pc:chgData name="Sathya subbiah" userId="" providerId="" clId="Web-{D1EE3F21-9F32-4C2B-BA0A-2418ABE67684}" dt="2024-06-12T07:20:48.843" v="132"/>
        <pc:sldMkLst>
          <pc:docMk/>
          <pc:sldMk cId="4042272222" sldId="301"/>
        </pc:sldMkLst>
      </pc:sldChg>
      <pc:sldChg chg="del">
        <pc:chgData name="Sathya subbiah" userId="" providerId="" clId="Web-{D1EE3F21-9F32-4C2B-BA0A-2418ABE67684}" dt="2024-06-12T06:28:39.192" v="69"/>
        <pc:sldMkLst>
          <pc:docMk/>
          <pc:sldMk cId="3026497860" sldId="319"/>
        </pc:sldMkLst>
      </pc:sldChg>
      <pc:sldChg chg="del ord">
        <pc:chgData name="Sathya subbiah" userId="" providerId="" clId="Web-{D1EE3F21-9F32-4C2B-BA0A-2418ABE67684}" dt="2024-06-12T07:06:19.661" v="71"/>
        <pc:sldMkLst>
          <pc:docMk/>
          <pc:sldMk cId="3989589620" sldId="326"/>
        </pc:sldMkLst>
      </pc:sldChg>
      <pc:sldChg chg="add del">
        <pc:chgData name="Sathya subbiah" userId="" providerId="" clId="Web-{D1EE3F21-9F32-4C2B-BA0A-2418ABE67684}" dt="2024-06-12T06:28:09.020" v="68"/>
        <pc:sldMkLst>
          <pc:docMk/>
          <pc:sldMk cId="3207001520" sldId="327"/>
        </pc:sldMkLst>
      </pc:sldChg>
      <pc:sldChg chg="del">
        <pc:chgData name="Sathya subbiah" userId="" providerId="" clId="Web-{D1EE3F21-9F32-4C2B-BA0A-2418ABE67684}" dt="2024-06-12T06:19:13.380" v="59"/>
        <pc:sldMkLst>
          <pc:docMk/>
          <pc:sldMk cId="245865944" sldId="329"/>
        </pc:sldMkLst>
      </pc:sldChg>
      <pc:sldChg chg="add del">
        <pc:chgData name="Sathya subbiah" userId="" providerId="" clId="Web-{D1EE3F21-9F32-4C2B-BA0A-2418ABE67684}" dt="2024-06-12T06:23:16.465" v="63"/>
        <pc:sldMkLst>
          <pc:docMk/>
          <pc:sldMk cId="521527300" sldId="331"/>
        </pc:sldMkLst>
      </pc:sldChg>
      <pc:sldChg chg="delSp modSp">
        <pc:chgData name="Sathya subbiah" userId="" providerId="" clId="Web-{D1EE3F21-9F32-4C2B-BA0A-2418ABE67684}" dt="2024-06-12T06:24:05.794" v="66" actId="20577"/>
        <pc:sldMkLst>
          <pc:docMk/>
          <pc:sldMk cId="1731625813" sldId="332"/>
        </pc:sldMkLst>
        <pc:spChg chg="mod">
          <ac:chgData name="Sathya subbiah" userId="" providerId="" clId="Web-{D1EE3F21-9F32-4C2B-BA0A-2418ABE67684}" dt="2024-06-12T06:24:05.794" v="66" actId="20577"/>
          <ac:spMkLst>
            <pc:docMk/>
            <pc:sldMk cId="1731625813" sldId="332"/>
            <ac:spMk id="2" creationId="{93F6BF5B-064C-65C3-DE2F-D5E44B365D60}"/>
          </ac:spMkLst>
        </pc:spChg>
        <pc:spChg chg="del">
          <ac:chgData name="Sathya subbiah" userId="" providerId="" clId="Web-{D1EE3F21-9F32-4C2B-BA0A-2418ABE67684}" dt="2024-06-12T05:30:01.173" v="18"/>
          <ac:spMkLst>
            <pc:docMk/>
            <pc:sldMk cId="1731625813" sldId="332"/>
            <ac:spMk id="6" creationId="{6085C21D-4E9E-44B1-CA3C-17573C6930A7}"/>
          </ac:spMkLst>
        </pc:spChg>
        <pc:spChg chg="mod">
          <ac:chgData name="Sathya subbiah" userId="" providerId="" clId="Web-{D1EE3F21-9F32-4C2B-BA0A-2418ABE67684}" dt="2024-06-12T06:23:57.606" v="65" actId="20577"/>
          <ac:spMkLst>
            <pc:docMk/>
            <pc:sldMk cId="1731625813" sldId="332"/>
            <ac:spMk id="8" creationId="{1F969488-2AF0-37F1-19DF-910EF8A9B79D}"/>
          </ac:spMkLst>
        </pc:spChg>
      </pc:sldChg>
      <pc:sldChg chg="del">
        <pc:chgData name="Sathya subbiah" userId="" providerId="" clId="Web-{D1EE3F21-9F32-4C2B-BA0A-2418ABE67684}" dt="2024-06-12T07:10:10.382" v="73"/>
        <pc:sldMkLst>
          <pc:docMk/>
          <pc:sldMk cId="861117090" sldId="337"/>
        </pc:sldMkLst>
      </pc:sldChg>
      <pc:sldChg chg="del">
        <pc:chgData name="Sathya subbiah" userId="" providerId="" clId="Web-{D1EE3F21-9F32-4C2B-BA0A-2418ABE67684}" dt="2024-06-12T07:10:12.288" v="74"/>
        <pc:sldMkLst>
          <pc:docMk/>
          <pc:sldMk cId="421285336" sldId="338"/>
        </pc:sldMkLst>
      </pc:sldChg>
      <pc:sldChg chg="modSp">
        <pc:chgData name="Sathya subbiah" userId="" providerId="" clId="Web-{D1EE3F21-9F32-4C2B-BA0A-2418ABE67684}" dt="2024-06-12T07:10:49.617" v="90" actId="20577"/>
        <pc:sldMkLst>
          <pc:docMk/>
          <pc:sldMk cId="3509807226" sldId="339"/>
        </pc:sldMkLst>
        <pc:spChg chg="mod">
          <ac:chgData name="Sathya subbiah" userId="" providerId="" clId="Web-{D1EE3F21-9F32-4C2B-BA0A-2418ABE67684}" dt="2024-06-12T07:10:49.617" v="90" actId="20577"/>
          <ac:spMkLst>
            <pc:docMk/>
            <pc:sldMk cId="3509807226" sldId="339"/>
            <ac:spMk id="2" creationId="{04B1A0DB-7C83-D792-5CA9-CF4212E2E1AA}"/>
          </ac:spMkLst>
        </pc:spChg>
      </pc:sldChg>
      <pc:sldChg chg="modSp new">
        <pc:chgData name="Sathya subbiah" userId="" providerId="" clId="Web-{D1EE3F21-9F32-4C2B-BA0A-2418ABE67684}" dt="2024-06-12T07:21:09.609" v="134" actId="20577"/>
        <pc:sldMkLst>
          <pc:docMk/>
          <pc:sldMk cId="563681768" sldId="341"/>
        </pc:sldMkLst>
        <pc:spChg chg="mod">
          <ac:chgData name="Sathya subbiah" userId="" providerId="" clId="Web-{D1EE3F21-9F32-4C2B-BA0A-2418ABE67684}" dt="2024-06-12T07:21:09.609" v="134" actId="20577"/>
          <ac:spMkLst>
            <pc:docMk/>
            <pc:sldMk cId="563681768" sldId="341"/>
            <ac:spMk id="3" creationId="{5AC51C67-CFC9-190E-A9FF-11513D7A7CE5}"/>
          </ac:spMkLst>
        </pc:spChg>
      </pc:sldChg>
      <pc:sldChg chg="add del replId">
        <pc:chgData name="Sathya subbiah" userId="" providerId="" clId="Web-{D1EE3F21-9F32-4C2B-BA0A-2418ABE67684}" dt="2024-06-12T07:06:16.114" v="70"/>
        <pc:sldMkLst>
          <pc:docMk/>
          <pc:sldMk cId="3525737776" sldId="341"/>
        </pc:sldMkLst>
      </pc:sldChg>
      <pc:sldChg chg="add del replId">
        <pc:chgData name="Sathya subbiah" userId="" providerId="" clId="Web-{D1EE3F21-9F32-4C2B-BA0A-2418ABE67684}" dt="2024-06-12T07:21:37.750" v="137"/>
        <pc:sldMkLst>
          <pc:docMk/>
          <pc:sldMk cId="1162254223" sldId="342"/>
        </pc:sldMkLst>
      </pc:sldChg>
      <pc:sldChg chg="add del replId">
        <pc:chgData name="Sathya subbiah" userId="" providerId="" clId="Web-{D1EE3F21-9F32-4C2B-BA0A-2418ABE67684}" dt="2024-06-12T07:06:54.864" v="72"/>
        <pc:sldMkLst>
          <pc:docMk/>
          <pc:sldMk cId="3999537870" sldId="342"/>
        </pc:sldMkLst>
      </pc:sldChg>
    </pc:docChg>
  </pc:docChgLst>
  <pc:docChgLst>
    <pc:chgData name="Sathya subbiah" clId="Web-{ECCBFD9C-EFD4-4414-A575-6A45CA2AF01E}"/>
    <pc:docChg chg="addSld delSld modSld sldOrd">
      <pc:chgData name="Sathya subbiah" userId="" providerId="" clId="Web-{ECCBFD9C-EFD4-4414-A575-6A45CA2AF01E}" dt="2024-06-12T05:11:30.115" v="1127" actId="1076"/>
      <pc:docMkLst>
        <pc:docMk/>
      </pc:docMkLst>
      <pc:sldChg chg="del">
        <pc:chgData name="Sathya subbiah" userId="" providerId="" clId="Web-{ECCBFD9C-EFD4-4414-A575-6A45CA2AF01E}" dt="2024-06-12T03:36:13.389" v="64"/>
        <pc:sldMkLst>
          <pc:docMk/>
          <pc:sldMk cId="0" sldId="260"/>
        </pc:sldMkLst>
      </pc:sldChg>
      <pc:sldChg chg="modSp">
        <pc:chgData name="Sathya subbiah" userId="" providerId="" clId="Web-{ECCBFD9C-EFD4-4414-A575-6A45CA2AF01E}" dt="2024-06-12T04:23:49.362" v="832"/>
        <pc:sldMkLst>
          <pc:docMk/>
          <pc:sldMk cId="0" sldId="265"/>
        </pc:sldMkLst>
        <pc:graphicFrameChg chg="mod modGraphic">
          <ac:chgData name="Sathya subbiah" userId="" providerId="" clId="Web-{ECCBFD9C-EFD4-4414-A575-6A45CA2AF01E}" dt="2024-06-12T04:23:49.362" v="832"/>
          <ac:graphicFrameMkLst>
            <pc:docMk/>
            <pc:sldMk cId="0" sldId="265"/>
            <ac:graphicFrameMk id="73" creationId="{00000000-0000-0000-0000-000000000000}"/>
          </ac:graphicFrameMkLst>
        </pc:graphicFrameChg>
      </pc:sldChg>
      <pc:sldChg chg="modSp del">
        <pc:chgData name="Sathya subbiah" userId="" providerId="" clId="Web-{ECCBFD9C-EFD4-4414-A575-6A45CA2AF01E}" dt="2024-06-12T04:39:39.061" v="857"/>
        <pc:sldMkLst>
          <pc:docMk/>
          <pc:sldMk cId="0" sldId="270"/>
        </pc:sldMkLst>
        <pc:graphicFrameChg chg="mod modGraphic">
          <ac:chgData name="Sathya subbiah" userId="" providerId="" clId="Web-{ECCBFD9C-EFD4-4414-A575-6A45CA2AF01E}" dt="2024-06-12T04:23:11.782" v="792"/>
          <ac:graphicFrameMkLst>
            <pc:docMk/>
            <pc:sldMk cId="0" sldId="270"/>
            <ac:graphicFrameMk id="109" creationId="{00000000-0000-0000-0000-000000000000}"/>
          </ac:graphicFrameMkLst>
        </pc:graphicFrameChg>
      </pc:sldChg>
      <pc:sldChg chg="modSp">
        <pc:chgData name="Sathya subbiah" userId="" providerId="" clId="Web-{ECCBFD9C-EFD4-4414-A575-6A45CA2AF01E}" dt="2024-06-12T04:39:20.982" v="856" actId="20577"/>
        <pc:sldMkLst>
          <pc:docMk/>
          <pc:sldMk cId="0" sldId="272"/>
        </pc:sldMkLst>
        <pc:spChg chg="mod">
          <ac:chgData name="Sathya subbiah" userId="" providerId="" clId="Web-{ECCBFD9C-EFD4-4414-A575-6A45CA2AF01E}" dt="2024-06-12T04:39:20.982" v="856" actId="20577"/>
          <ac:spMkLst>
            <pc:docMk/>
            <pc:sldMk cId="0" sldId="272"/>
            <ac:spMk id="117" creationId="{00000000-0000-0000-0000-000000000000}"/>
          </ac:spMkLst>
        </pc:spChg>
        <pc:spChg chg="mod">
          <ac:chgData name="Sathya subbiah" userId="" providerId="" clId="Web-{ECCBFD9C-EFD4-4414-A575-6A45CA2AF01E}" dt="2024-06-12T04:39:11.029" v="853" actId="20577"/>
          <ac:spMkLst>
            <pc:docMk/>
            <pc:sldMk cId="0" sldId="272"/>
            <ac:spMk id="119" creationId="{00000000-0000-0000-0000-000000000000}"/>
          </ac:spMkLst>
        </pc:spChg>
      </pc:sldChg>
      <pc:sldChg chg="del">
        <pc:chgData name="Sathya subbiah" userId="" providerId="" clId="Web-{ECCBFD9C-EFD4-4414-A575-6A45CA2AF01E}" dt="2024-06-12T04:38:47.887" v="850"/>
        <pc:sldMkLst>
          <pc:docMk/>
          <pc:sldMk cId="1380747583" sldId="289"/>
        </pc:sldMkLst>
      </pc:sldChg>
      <pc:sldChg chg="addSp delSp modSp del">
        <pc:chgData name="Sathya subbiah" userId="" providerId="" clId="Web-{ECCBFD9C-EFD4-4414-A575-6A45CA2AF01E}" dt="2024-06-12T05:11:18.724" v="1126"/>
        <pc:sldMkLst>
          <pc:docMk/>
          <pc:sldMk cId="390609675" sldId="293"/>
        </pc:sldMkLst>
        <pc:picChg chg="add del mod">
          <ac:chgData name="Sathya subbiah" userId="" providerId="" clId="Web-{ECCBFD9C-EFD4-4414-A575-6A45CA2AF01E}" dt="2024-06-12T02:56:14.065" v="5"/>
          <ac:picMkLst>
            <pc:docMk/>
            <pc:sldMk cId="390609675" sldId="293"/>
            <ac:picMk id="2" creationId="{DD8752FD-AF37-BE6C-CE49-B7711D89A7C4}"/>
          </ac:picMkLst>
        </pc:picChg>
      </pc:sldChg>
      <pc:sldChg chg="addSp modSp new del">
        <pc:chgData name="Sathya subbiah" userId="" providerId="" clId="Web-{ECCBFD9C-EFD4-4414-A575-6A45CA2AF01E}" dt="2024-06-12T03:59:50.258" v="527"/>
        <pc:sldMkLst>
          <pc:docMk/>
          <pc:sldMk cId="2580697847" sldId="297"/>
        </pc:sldMkLst>
        <pc:picChg chg="add mod">
          <ac:chgData name="Sathya subbiah" userId="" providerId="" clId="Web-{ECCBFD9C-EFD4-4414-A575-6A45CA2AF01E}" dt="2024-06-12T03:53:32.935" v="328" actId="1076"/>
          <ac:picMkLst>
            <pc:docMk/>
            <pc:sldMk cId="2580697847" sldId="297"/>
            <ac:picMk id="2" creationId="{6EA2A09C-E4DB-23BF-9D27-3B3EB1E79A01}"/>
          </ac:picMkLst>
        </pc:picChg>
        <pc:inkChg chg="add">
          <ac:chgData name="Sathya subbiah" userId="" providerId="" clId="Web-{ECCBFD9C-EFD4-4414-A575-6A45CA2AF01E}" dt="2024-06-12T03:38:40.440" v="66"/>
          <ac:inkMkLst>
            <pc:docMk/>
            <pc:sldMk cId="2580697847" sldId="297"/>
            <ac:inkMk id="3" creationId="{C779F3D4-749B-C3F4-1A1D-7F2FECEB9D3A}"/>
          </ac:inkMkLst>
        </pc:inkChg>
        <pc:inkChg chg="add">
          <ac:chgData name="Sathya subbiah" userId="" providerId="" clId="Web-{ECCBFD9C-EFD4-4414-A575-6A45CA2AF01E}" dt="2024-06-12T03:38:41.878" v="67"/>
          <ac:inkMkLst>
            <pc:docMk/>
            <pc:sldMk cId="2580697847" sldId="297"/>
            <ac:inkMk id="4" creationId="{8448C445-A3C9-5321-A8FB-967FA33FEAFB}"/>
          </ac:inkMkLst>
        </pc:inkChg>
        <pc:inkChg chg="add">
          <ac:chgData name="Sathya subbiah" userId="" providerId="" clId="Web-{ECCBFD9C-EFD4-4414-A575-6A45CA2AF01E}" dt="2024-06-12T03:38:45.034" v="68"/>
          <ac:inkMkLst>
            <pc:docMk/>
            <pc:sldMk cId="2580697847" sldId="297"/>
            <ac:inkMk id="5" creationId="{F1CABD32-24CC-AF8C-2CA5-C3635DA79D5C}"/>
          </ac:inkMkLst>
        </pc:inkChg>
        <pc:inkChg chg="add">
          <ac:chgData name="Sathya subbiah" userId="" providerId="" clId="Web-{ECCBFD9C-EFD4-4414-A575-6A45CA2AF01E}" dt="2024-06-12T03:38:45.034" v="69"/>
          <ac:inkMkLst>
            <pc:docMk/>
            <pc:sldMk cId="2580697847" sldId="297"/>
            <ac:inkMk id="6" creationId="{CD6FEF8C-EC12-D32C-E9B4-3428C0E0AAE6}"/>
          </ac:inkMkLst>
        </pc:inkChg>
        <pc:inkChg chg="add">
          <ac:chgData name="Sathya subbiah" userId="" providerId="" clId="Web-{ECCBFD9C-EFD4-4414-A575-6A45CA2AF01E}" dt="2024-06-12T03:38:46.925" v="70"/>
          <ac:inkMkLst>
            <pc:docMk/>
            <pc:sldMk cId="2580697847" sldId="297"/>
            <ac:inkMk id="7" creationId="{8BCA5AB6-CDA8-32DB-5DD4-21D2F8DC25E6}"/>
          </ac:inkMkLst>
        </pc:inkChg>
        <pc:inkChg chg="add">
          <ac:chgData name="Sathya subbiah" userId="" providerId="" clId="Web-{ECCBFD9C-EFD4-4414-A575-6A45CA2AF01E}" dt="2024-06-12T03:38:48.487" v="71"/>
          <ac:inkMkLst>
            <pc:docMk/>
            <pc:sldMk cId="2580697847" sldId="297"/>
            <ac:inkMk id="8" creationId="{CC4E0E81-6E49-759D-1CB4-4E15DCE00BD3}"/>
          </ac:inkMkLst>
        </pc:inkChg>
        <pc:inkChg chg="add">
          <ac:chgData name="Sathya subbiah" userId="" providerId="" clId="Web-{ECCBFD9C-EFD4-4414-A575-6A45CA2AF01E}" dt="2024-06-12T03:38:48.487" v="72"/>
          <ac:inkMkLst>
            <pc:docMk/>
            <pc:sldMk cId="2580697847" sldId="297"/>
            <ac:inkMk id="9" creationId="{CCDA3269-E691-36D6-0D85-70DC02BBC860}"/>
          </ac:inkMkLst>
        </pc:inkChg>
        <pc:inkChg chg="add">
          <ac:chgData name="Sathya subbiah" userId="" providerId="" clId="Web-{ECCBFD9C-EFD4-4414-A575-6A45CA2AF01E}" dt="2024-06-12T03:39:19.270" v="76"/>
          <ac:inkMkLst>
            <pc:docMk/>
            <pc:sldMk cId="2580697847" sldId="297"/>
            <ac:inkMk id="10" creationId="{7F7595E2-1290-2D94-A8C8-F04B04A78E9B}"/>
          </ac:inkMkLst>
        </pc:inkChg>
        <pc:inkChg chg="add">
          <ac:chgData name="Sathya subbiah" userId="" providerId="" clId="Web-{ECCBFD9C-EFD4-4414-A575-6A45CA2AF01E}" dt="2024-06-12T03:39:19.285" v="77"/>
          <ac:inkMkLst>
            <pc:docMk/>
            <pc:sldMk cId="2580697847" sldId="297"/>
            <ac:inkMk id="11" creationId="{EE390C2A-0923-363C-DDA0-09607CA0B651}"/>
          </ac:inkMkLst>
        </pc:inkChg>
        <pc:inkChg chg="add">
          <ac:chgData name="Sathya subbiah" userId="" providerId="" clId="Web-{ECCBFD9C-EFD4-4414-A575-6A45CA2AF01E}" dt="2024-06-12T03:39:20.488" v="78"/>
          <ac:inkMkLst>
            <pc:docMk/>
            <pc:sldMk cId="2580697847" sldId="297"/>
            <ac:inkMk id="12" creationId="{A0147E5F-1291-F501-40E9-3E77ADD77635}"/>
          </ac:inkMkLst>
        </pc:inkChg>
        <pc:inkChg chg="add">
          <ac:chgData name="Sathya subbiah" userId="" providerId="" clId="Web-{ECCBFD9C-EFD4-4414-A575-6A45CA2AF01E}" dt="2024-06-12T03:39:20.488" v="79"/>
          <ac:inkMkLst>
            <pc:docMk/>
            <pc:sldMk cId="2580697847" sldId="297"/>
            <ac:inkMk id="13" creationId="{67AB5DFF-30C6-5D9D-C53F-F41CF8F8AABF}"/>
          </ac:inkMkLst>
        </pc:inkChg>
      </pc:sldChg>
      <pc:sldChg chg="addSp delSp modSp new del">
        <pc:chgData name="Sathya subbiah" userId="" providerId="" clId="Web-{ECCBFD9C-EFD4-4414-A575-6A45CA2AF01E}" dt="2024-06-12T04:24:05.237" v="834"/>
        <pc:sldMkLst>
          <pc:docMk/>
          <pc:sldMk cId="3317567090" sldId="298"/>
        </pc:sldMkLst>
        <pc:picChg chg="add del mod">
          <ac:chgData name="Sathya subbiah" userId="" providerId="" clId="Web-{ECCBFD9C-EFD4-4414-A575-6A45CA2AF01E}" dt="2024-06-12T04:01:44.902" v="541"/>
          <ac:picMkLst>
            <pc:docMk/>
            <pc:sldMk cId="3317567090" sldId="298"/>
            <ac:picMk id="2" creationId="{9C83205A-BEBB-4BA6-45C8-ACC123A281C4}"/>
          </ac:picMkLst>
        </pc:picChg>
        <pc:inkChg chg="add">
          <ac:chgData name="Sathya subbiah" userId="" providerId="" clId="Web-{ECCBFD9C-EFD4-4414-A575-6A45CA2AF01E}" dt="2024-06-12T03:38:56.472" v="73"/>
          <ac:inkMkLst>
            <pc:docMk/>
            <pc:sldMk cId="3317567090" sldId="298"/>
            <ac:inkMk id="3" creationId="{18B532D9-80CE-B8F1-1375-2F0B4F68F72B}"/>
          </ac:inkMkLst>
        </pc:inkChg>
        <pc:inkChg chg="add">
          <ac:chgData name="Sathya subbiah" userId="" providerId="" clId="Web-{ECCBFD9C-EFD4-4414-A575-6A45CA2AF01E}" dt="2024-06-12T03:38:56.472" v="74"/>
          <ac:inkMkLst>
            <pc:docMk/>
            <pc:sldMk cId="3317567090" sldId="298"/>
            <ac:inkMk id="4" creationId="{01178BE3-E59F-22DB-37D4-F569FA8E4DEC}"/>
          </ac:inkMkLst>
        </pc:inkChg>
        <pc:inkChg chg="add">
          <ac:chgData name="Sathya subbiah" userId="" providerId="" clId="Web-{ECCBFD9C-EFD4-4414-A575-6A45CA2AF01E}" dt="2024-06-12T03:39:06.441" v="75"/>
          <ac:inkMkLst>
            <pc:docMk/>
            <pc:sldMk cId="3317567090" sldId="298"/>
            <ac:inkMk id="5" creationId="{4DF1AF99-3C76-FA5F-46D9-1C4641044469}"/>
          </ac:inkMkLst>
        </pc:inkChg>
      </pc:sldChg>
      <pc:sldChg chg="addSp delSp modSp new ord">
        <pc:chgData name="Sathya subbiah" userId="" providerId="" clId="Web-{ECCBFD9C-EFD4-4414-A575-6A45CA2AF01E}" dt="2024-06-12T03:43:36.261" v="90"/>
        <pc:sldMkLst>
          <pc:docMk/>
          <pc:sldMk cId="906207673" sldId="299"/>
        </pc:sldMkLst>
        <pc:spChg chg="add del mod">
          <ac:chgData name="Sathya subbiah" userId="" providerId="" clId="Web-{ECCBFD9C-EFD4-4414-A575-6A45CA2AF01E}" dt="2024-06-12T03:01:30.672" v="19"/>
          <ac:spMkLst>
            <pc:docMk/>
            <pc:sldMk cId="906207673" sldId="299"/>
            <ac:spMk id="4" creationId="{2F010EF0-2C98-AF7D-4ECC-0F79FB08BB3E}"/>
          </ac:spMkLst>
        </pc:spChg>
        <pc:graphicFrameChg chg="add mod">
          <ac:chgData name="Sathya subbiah" userId="" providerId="" clId="Web-{ECCBFD9C-EFD4-4414-A575-6A45CA2AF01E}" dt="2024-06-12T03:01:15.437" v="15"/>
          <ac:graphicFrameMkLst>
            <pc:docMk/>
            <pc:sldMk cId="906207673" sldId="299"/>
            <ac:graphicFrameMk id="3" creationId="{6B0F664A-4AC8-D46D-D08F-A4BE04FED973}"/>
          </ac:graphicFrameMkLst>
        </pc:graphicFrameChg>
      </pc:sldChg>
      <pc:sldChg chg="add">
        <pc:chgData name="Sathya subbiah" userId="" providerId="" clId="Web-{ECCBFD9C-EFD4-4414-A575-6A45CA2AF01E}" dt="2024-06-12T03:02:16.580" v="22"/>
        <pc:sldMkLst>
          <pc:docMk/>
          <pc:sldMk cId="2055294642" sldId="300"/>
        </pc:sldMkLst>
      </pc:sldChg>
      <pc:sldChg chg="add">
        <pc:chgData name="Sathya subbiah" userId="" providerId="" clId="Web-{ECCBFD9C-EFD4-4414-A575-6A45CA2AF01E}" dt="2024-06-12T03:02:37.440" v="24"/>
        <pc:sldMkLst>
          <pc:docMk/>
          <pc:sldMk cId="4042272222" sldId="301"/>
        </pc:sldMkLst>
      </pc:sldChg>
      <pc:sldChg chg="add">
        <pc:chgData name="Sathya subbiah" userId="" providerId="" clId="Web-{ECCBFD9C-EFD4-4414-A575-6A45CA2AF01E}" dt="2024-06-12T03:02:58.847" v="26"/>
        <pc:sldMkLst>
          <pc:docMk/>
          <pc:sldMk cId="306439890" sldId="307"/>
        </pc:sldMkLst>
      </pc:sldChg>
      <pc:sldChg chg="addSp modSp add del">
        <pc:chgData name="Sathya subbiah" userId="" providerId="" clId="Web-{ECCBFD9C-EFD4-4414-A575-6A45CA2AF01E}" dt="2024-06-12T04:17:39.835" v="695"/>
        <pc:sldMkLst>
          <pc:docMk/>
          <pc:sldMk cId="2448270620" sldId="309"/>
        </pc:sldMkLst>
        <pc:spChg chg="mod">
          <ac:chgData name="Sathya subbiah" userId="" providerId="" clId="Web-{ECCBFD9C-EFD4-4414-A575-6A45CA2AF01E}" dt="2024-06-12T04:03:28.405" v="543" actId="20577"/>
          <ac:spMkLst>
            <pc:docMk/>
            <pc:sldMk cId="2448270620" sldId="309"/>
            <ac:spMk id="4" creationId="{6EC76BAF-E15C-1B4C-B4C0-AA1B6CB45961}"/>
          </ac:spMkLst>
        </pc:spChg>
        <pc:inkChg chg="add">
          <ac:chgData name="Sathya subbiah" userId="" providerId="" clId="Web-{ECCBFD9C-EFD4-4414-A575-6A45CA2AF01E}" dt="2024-06-12T04:08:59.914" v="634"/>
          <ac:inkMkLst>
            <pc:docMk/>
            <pc:sldMk cId="2448270620" sldId="309"/>
            <ac:inkMk id="7" creationId="{E6854857-94BC-99D9-CEB7-91EDBC03FC81}"/>
          </ac:inkMkLst>
        </pc:inkChg>
        <pc:inkChg chg="add">
          <ac:chgData name="Sathya subbiah" userId="" providerId="" clId="Web-{ECCBFD9C-EFD4-4414-A575-6A45CA2AF01E}" dt="2024-06-12T04:09:48.338" v="637"/>
          <ac:inkMkLst>
            <pc:docMk/>
            <pc:sldMk cId="2448270620" sldId="309"/>
            <ac:inkMk id="9" creationId="{845B63E3-0A1A-AF4E-F8A6-6EF1DE13783B}"/>
          </ac:inkMkLst>
        </pc:inkChg>
        <pc:inkChg chg="add">
          <ac:chgData name="Sathya subbiah" userId="" providerId="" clId="Web-{ECCBFD9C-EFD4-4414-A575-6A45CA2AF01E}" dt="2024-06-12T04:09:50.556" v="638"/>
          <ac:inkMkLst>
            <pc:docMk/>
            <pc:sldMk cId="2448270620" sldId="309"/>
            <ac:inkMk id="10" creationId="{352DE6B8-F353-A485-89BB-03F04E971A62}"/>
          </ac:inkMkLst>
        </pc:inkChg>
        <pc:inkChg chg="add">
          <ac:chgData name="Sathya subbiah" userId="" providerId="" clId="Web-{ECCBFD9C-EFD4-4414-A575-6A45CA2AF01E}" dt="2024-06-12T04:09:55.510" v="639"/>
          <ac:inkMkLst>
            <pc:docMk/>
            <pc:sldMk cId="2448270620" sldId="309"/>
            <ac:inkMk id="11" creationId="{684D2A1C-79D6-ED36-8D52-84498294B05C}"/>
          </ac:inkMkLst>
        </pc:inkChg>
      </pc:sldChg>
      <pc:sldChg chg="addSp modSp add">
        <pc:chgData name="Sathya subbiah" userId="" providerId="" clId="Web-{ECCBFD9C-EFD4-4414-A575-6A45CA2AF01E}" dt="2024-06-12T04:24:36.754" v="848" actId="14100"/>
        <pc:sldMkLst>
          <pc:docMk/>
          <pc:sldMk cId="1914824470" sldId="311"/>
        </pc:sldMkLst>
        <pc:spChg chg="mod">
          <ac:chgData name="Sathya subbiah" userId="" providerId="" clId="Web-{ECCBFD9C-EFD4-4414-A575-6A45CA2AF01E}" dt="2024-06-12T04:24:12.175" v="846" actId="20577"/>
          <ac:spMkLst>
            <pc:docMk/>
            <pc:sldMk cId="1914824470" sldId="311"/>
            <ac:spMk id="2" creationId="{D93E6ABB-73C3-C534-48FF-5340C39EBE70}"/>
          </ac:spMkLst>
        </pc:spChg>
        <pc:spChg chg="mod">
          <ac:chgData name="Sathya subbiah" userId="" providerId="" clId="Web-{ECCBFD9C-EFD4-4414-A575-6A45CA2AF01E}" dt="2024-06-12T04:24:36.754" v="848" actId="14100"/>
          <ac:spMkLst>
            <pc:docMk/>
            <pc:sldMk cId="1914824470" sldId="311"/>
            <ac:spMk id="3" creationId="{5B60A677-7C6F-C3DD-7869-02F0737FDC38}"/>
          </ac:spMkLst>
        </pc:spChg>
        <pc:inkChg chg="add">
          <ac:chgData name="Sathya subbiah" userId="" providerId="" clId="Web-{ECCBFD9C-EFD4-4414-A575-6A45CA2AF01E}" dt="2024-06-12T04:09:33.446" v="635"/>
          <ac:inkMkLst>
            <pc:docMk/>
            <pc:sldMk cId="1914824470" sldId="311"/>
            <ac:inkMk id="4" creationId="{B6097BD3-5CFF-4ECF-5F83-4C88E25AF066}"/>
          </ac:inkMkLst>
        </pc:inkChg>
        <pc:inkChg chg="add">
          <ac:chgData name="Sathya subbiah" userId="" providerId="" clId="Web-{ECCBFD9C-EFD4-4414-A575-6A45CA2AF01E}" dt="2024-06-12T04:09:38.119" v="636"/>
          <ac:inkMkLst>
            <pc:docMk/>
            <pc:sldMk cId="1914824470" sldId="311"/>
            <ac:inkMk id="5" creationId="{45E70993-D726-4592-D5CA-BE69B1B51684}"/>
          </ac:inkMkLst>
        </pc:inkChg>
      </pc:sldChg>
      <pc:sldChg chg="new del">
        <pc:chgData name="Sathya subbiah" userId="" providerId="" clId="Web-{ECCBFD9C-EFD4-4414-A575-6A45CA2AF01E}" dt="2024-06-12T03:01:58.970" v="21"/>
        <pc:sldMkLst>
          <pc:docMk/>
          <pc:sldMk cId="2413464972" sldId="312"/>
        </pc:sldMkLst>
      </pc:sldChg>
      <pc:sldChg chg="new del">
        <pc:chgData name="Sathya subbiah" userId="" providerId="" clId="Web-{ECCBFD9C-EFD4-4414-A575-6A45CA2AF01E}" dt="2024-06-12T03:02:19.970" v="23"/>
        <pc:sldMkLst>
          <pc:docMk/>
          <pc:sldMk cId="1800412905" sldId="313"/>
        </pc:sldMkLst>
      </pc:sldChg>
      <pc:sldChg chg="modSp add">
        <pc:chgData name="Sathya subbiah" userId="" providerId="" clId="Web-{ECCBFD9C-EFD4-4414-A575-6A45CA2AF01E}" dt="2024-06-12T04:19:16.776" v="696" actId="20577"/>
        <pc:sldMkLst>
          <pc:docMk/>
          <pc:sldMk cId="2243173998" sldId="313"/>
        </pc:sldMkLst>
        <pc:spChg chg="mod">
          <ac:chgData name="Sathya subbiah" userId="" providerId="" clId="Web-{ECCBFD9C-EFD4-4414-A575-6A45CA2AF01E}" dt="2024-06-12T04:19:16.776" v="696" actId="20577"/>
          <ac:spMkLst>
            <pc:docMk/>
            <pc:sldMk cId="2243173998" sldId="313"/>
            <ac:spMk id="4" creationId="{CF125D30-6265-C743-1047-ECE582FBDDC9}"/>
          </ac:spMkLst>
        </pc:spChg>
      </pc:sldChg>
      <pc:sldChg chg="add del">
        <pc:chgData name="Sathya subbiah" userId="" providerId="" clId="Web-{ECCBFD9C-EFD4-4414-A575-6A45CA2AF01E}" dt="2024-06-12T03:29:28.385" v="33"/>
        <pc:sldMkLst>
          <pc:docMk/>
          <pc:sldMk cId="1513830351" sldId="314"/>
        </pc:sldMkLst>
      </pc:sldChg>
      <pc:sldChg chg="new del">
        <pc:chgData name="Sathya subbiah" userId="" providerId="" clId="Web-{ECCBFD9C-EFD4-4414-A575-6A45CA2AF01E}" dt="2024-06-12T03:02:40.878" v="25"/>
        <pc:sldMkLst>
          <pc:docMk/>
          <pc:sldMk cId="2881098216" sldId="314"/>
        </pc:sldMkLst>
      </pc:sldChg>
      <pc:sldChg chg="add del">
        <pc:chgData name="Sathya subbiah" userId="" providerId="" clId="Web-{ECCBFD9C-EFD4-4414-A575-6A45CA2AF01E}" dt="2024-06-12T03:31:45.225" v="41"/>
        <pc:sldMkLst>
          <pc:docMk/>
          <pc:sldMk cId="783247021" sldId="315"/>
        </pc:sldMkLst>
      </pc:sldChg>
      <pc:sldChg chg="new del">
        <pc:chgData name="Sathya subbiah" userId="" providerId="" clId="Web-{ECCBFD9C-EFD4-4414-A575-6A45CA2AF01E}" dt="2024-06-12T03:03:01.628" v="27"/>
        <pc:sldMkLst>
          <pc:docMk/>
          <pc:sldMk cId="1073662826" sldId="315"/>
        </pc:sldMkLst>
      </pc:sldChg>
      <pc:sldChg chg="modSp add">
        <pc:chgData name="Sathya subbiah" userId="" providerId="" clId="Web-{ECCBFD9C-EFD4-4414-A575-6A45CA2AF01E}" dt="2024-06-12T04:19:51.730" v="698" actId="14100"/>
        <pc:sldMkLst>
          <pc:docMk/>
          <pc:sldMk cId="479808213" sldId="316"/>
        </pc:sldMkLst>
        <pc:picChg chg="mod">
          <ac:chgData name="Sathya subbiah" userId="" providerId="" clId="Web-{ECCBFD9C-EFD4-4414-A575-6A45CA2AF01E}" dt="2024-06-12T04:19:51.730" v="698" actId="14100"/>
          <ac:picMkLst>
            <pc:docMk/>
            <pc:sldMk cId="479808213" sldId="316"/>
            <ac:picMk id="2" creationId="{4592183C-EDCD-D9C0-35A9-D511AE080E49}"/>
          </ac:picMkLst>
        </pc:picChg>
      </pc:sldChg>
      <pc:sldChg chg="new del">
        <pc:chgData name="Sathya subbiah" userId="" providerId="" clId="Web-{ECCBFD9C-EFD4-4414-A575-6A45CA2AF01E}" dt="2024-06-12T03:03:19.082" v="29"/>
        <pc:sldMkLst>
          <pc:docMk/>
          <pc:sldMk cId="1298944175" sldId="316"/>
        </pc:sldMkLst>
      </pc:sldChg>
      <pc:sldChg chg="new del">
        <pc:chgData name="Sathya subbiah" userId="" providerId="" clId="Web-{ECCBFD9C-EFD4-4414-A575-6A45CA2AF01E}" dt="2024-06-12T03:29:31.776" v="34"/>
        <pc:sldMkLst>
          <pc:docMk/>
          <pc:sldMk cId="1678637339" sldId="317"/>
        </pc:sldMkLst>
      </pc:sldChg>
      <pc:sldChg chg="add">
        <pc:chgData name="Sathya subbiah" userId="" providerId="" clId="Web-{ECCBFD9C-EFD4-4414-A575-6A45CA2AF01E}" dt="2024-06-12T03:33:10.759" v="54"/>
        <pc:sldMkLst>
          <pc:docMk/>
          <pc:sldMk cId="2821389438" sldId="317"/>
        </pc:sldMkLst>
      </pc:sldChg>
      <pc:sldChg chg="addSp new del ord">
        <pc:chgData name="Sathya subbiah" userId="" providerId="" clId="Web-{ECCBFD9C-EFD4-4414-A575-6A45CA2AF01E}" dt="2024-06-12T03:34:41.777" v="61"/>
        <pc:sldMkLst>
          <pc:docMk/>
          <pc:sldMk cId="1561631650" sldId="318"/>
        </pc:sldMkLst>
        <pc:inkChg chg="add">
          <ac:chgData name="Sathya subbiah" userId="" providerId="" clId="Web-{ECCBFD9C-EFD4-4414-A575-6A45CA2AF01E}" dt="2024-06-12T03:32:05.726" v="42"/>
          <ac:inkMkLst>
            <pc:docMk/>
            <pc:sldMk cId="1561631650" sldId="318"/>
            <ac:inkMk id="4" creationId="{9307B865-6F10-8095-F6E3-7BC68B7BB98B}"/>
          </ac:inkMkLst>
        </pc:inkChg>
        <pc:inkChg chg="add">
          <ac:chgData name="Sathya subbiah" userId="" providerId="" clId="Web-{ECCBFD9C-EFD4-4414-A575-6A45CA2AF01E}" dt="2024-06-12T03:32:26.961" v="45"/>
          <ac:inkMkLst>
            <pc:docMk/>
            <pc:sldMk cId="1561631650" sldId="318"/>
            <ac:inkMk id="5" creationId="{2867BC1C-0B39-F9B3-0758-1B8352B4F453}"/>
          </ac:inkMkLst>
        </pc:inkChg>
      </pc:sldChg>
      <pc:sldChg chg="addSp modSp new">
        <pc:chgData name="Sathya subbiah" userId="" providerId="" clId="Web-{ECCBFD9C-EFD4-4414-A575-6A45CA2AF01E}" dt="2024-06-12T04:08:47.492" v="633"/>
        <pc:sldMkLst>
          <pc:docMk/>
          <pc:sldMk cId="3026497860" sldId="319"/>
        </pc:sldMkLst>
        <pc:picChg chg="add mod">
          <ac:chgData name="Sathya subbiah" userId="" providerId="" clId="Web-{ECCBFD9C-EFD4-4414-A575-6A45CA2AF01E}" dt="2024-06-12T04:07:55.725" v="630" actId="14100"/>
          <ac:picMkLst>
            <pc:docMk/>
            <pc:sldMk cId="3026497860" sldId="319"/>
            <ac:picMk id="5" creationId="{2D971995-6467-EE83-7951-026229AC489A}"/>
          </ac:picMkLst>
        </pc:picChg>
        <pc:inkChg chg="add">
          <ac:chgData name="Sathya subbiah" userId="" providerId="" clId="Web-{ECCBFD9C-EFD4-4414-A575-6A45CA2AF01E}" dt="2024-06-12T03:31:29.834" v="40"/>
          <ac:inkMkLst>
            <pc:docMk/>
            <pc:sldMk cId="3026497860" sldId="319"/>
            <ac:inkMk id="6" creationId="{62E263B0-135C-91B8-3EE9-BD8A33EF60EB}"/>
          </ac:inkMkLst>
        </pc:inkChg>
        <pc:inkChg chg="add">
          <ac:chgData name="Sathya subbiah" userId="" providerId="" clId="Web-{ECCBFD9C-EFD4-4414-A575-6A45CA2AF01E}" dt="2024-06-12T04:08:37.789" v="631"/>
          <ac:inkMkLst>
            <pc:docMk/>
            <pc:sldMk cId="3026497860" sldId="319"/>
            <ac:inkMk id="7" creationId="{F9BE8D90-B488-6D25-7602-311D3F882CC2}"/>
          </ac:inkMkLst>
        </pc:inkChg>
        <pc:inkChg chg="add">
          <ac:chgData name="Sathya subbiah" userId="" providerId="" clId="Web-{ECCBFD9C-EFD4-4414-A575-6A45CA2AF01E}" dt="2024-06-12T04:08:39.617" v="632"/>
          <ac:inkMkLst>
            <pc:docMk/>
            <pc:sldMk cId="3026497860" sldId="319"/>
            <ac:inkMk id="8" creationId="{D087CF3B-CA9C-C295-A76D-63F573B84E91}"/>
          </ac:inkMkLst>
        </pc:inkChg>
        <pc:inkChg chg="add">
          <ac:chgData name="Sathya subbiah" userId="" providerId="" clId="Web-{ECCBFD9C-EFD4-4414-A575-6A45CA2AF01E}" dt="2024-06-12T04:08:47.492" v="633"/>
          <ac:inkMkLst>
            <pc:docMk/>
            <pc:sldMk cId="3026497860" sldId="319"/>
            <ac:inkMk id="9" creationId="{DC1AD4C6-6FB0-8EE7-849E-142965E9C26B}"/>
          </ac:inkMkLst>
        </pc:inkChg>
      </pc:sldChg>
      <pc:sldChg chg="new del">
        <pc:chgData name="Sathya subbiah" userId="" providerId="" clId="Web-{ECCBFD9C-EFD4-4414-A575-6A45CA2AF01E}" dt="2024-06-12T03:29:46.261" v="36"/>
        <pc:sldMkLst>
          <pc:docMk/>
          <pc:sldMk cId="3127162855" sldId="319"/>
        </pc:sldMkLst>
      </pc:sldChg>
      <pc:sldChg chg="add">
        <pc:chgData name="Sathya subbiah" userId="" providerId="" clId="Web-{ECCBFD9C-EFD4-4414-A575-6A45CA2AF01E}" dt="2024-06-12T03:35:58.498" v="63"/>
        <pc:sldMkLst>
          <pc:docMk/>
          <pc:sldMk cId="481167443" sldId="320"/>
        </pc:sldMkLst>
      </pc:sldChg>
      <pc:sldChg chg="add del">
        <pc:chgData name="Sathya subbiah" userId="" providerId="" clId="Web-{ECCBFD9C-EFD4-4414-A575-6A45CA2AF01E}" dt="2024-06-12T03:32:42.133" v="49"/>
        <pc:sldMkLst>
          <pc:docMk/>
          <pc:sldMk cId="764645994" sldId="320"/>
        </pc:sldMkLst>
      </pc:sldChg>
      <pc:sldChg chg="addSp new del">
        <pc:chgData name="Sathya subbiah" userId="" providerId="" clId="Web-{ECCBFD9C-EFD4-4414-A575-6A45CA2AF01E}" dt="2024-06-12T03:33:14.947" v="55"/>
        <pc:sldMkLst>
          <pc:docMk/>
          <pc:sldMk cId="1648945142" sldId="320"/>
        </pc:sldMkLst>
        <pc:inkChg chg="add">
          <ac:chgData name="Sathya subbiah" userId="" providerId="" clId="Web-{ECCBFD9C-EFD4-4414-A575-6A45CA2AF01E}" dt="2024-06-12T03:33:07.915" v="53"/>
          <ac:inkMkLst>
            <pc:docMk/>
            <pc:sldMk cId="1648945142" sldId="320"/>
            <ac:inkMk id="2" creationId="{6B637569-9158-6314-9917-4EE34AA2A78E}"/>
          </ac:inkMkLst>
        </pc:inkChg>
      </pc:sldChg>
      <pc:sldChg chg="addSp new del">
        <pc:chgData name="Sathya subbiah" userId="" providerId="" clId="Web-{ECCBFD9C-EFD4-4414-A575-6A45CA2AF01E}" dt="2024-06-12T03:33:34.822" v="58"/>
        <pc:sldMkLst>
          <pc:docMk/>
          <pc:sldMk cId="1526944707" sldId="321"/>
        </pc:sldMkLst>
        <pc:inkChg chg="add">
          <ac:chgData name="Sathya subbiah" userId="" providerId="" clId="Web-{ECCBFD9C-EFD4-4414-A575-6A45CA2AF01E}" dt="2024-06-12T03:33:28.338" v="56"/>
          <ac:inkMkLst>
            <pc:docMk/>
            <pc:sldMk cId="1526944707" sldId="321"/>
            <ac:inkMk id="2" creationId="{7A45D6EE-AB2F-2274-AAD7-6A794FB32DE2}"/>
          </ac:inkMkLst>
        </pc:inkChg>
      </pc:sldChg>
      <pc:sldChg chg="new del">
        <pc:chgData name="Sathya subbiah" userId="" providerId="" clId="Web-{ECCBFD9C-EFD4-4414-A575-6A45CA2AF01E}" dt="2024-06-12T03:34:08.979" v="60"/>
        <pc:sldMkLst>
          <pc:docMk/>
          <pc:sldMk cId="1583352620" sldId="322"/>
        </pc:sldMkLst>
      </pc:sldChg>
      <pc:sldChg chg="add">
        <pc:chgData name="Sathya subbiah" userId="" providerId="" clId="Web-{ECCBFD9C-EFD4-4414-A575-6A45CA2AF01E}" dt="2024-06-12T03:33:31.150" v="57"/>
        <pc:sldMkLst>
          <pc:docMk/>
          <pc:sldMk cId="1356202624" sldId="323"/>
        </pc:sldMkLst>
      </pc:sldChg>
      <pc:sldChg chg="add del">
        <pc:chgData name="Sathya subbiah" userId="" providerId="" clId="Web-{ECCBFD9C-EFD4-4414-A575-6A45CA2AF01E}" dt="2024-06-12T03:38:09.064" v="65"/>
        <pc:sldMkLst>
          <pc:docMk/>
          <pc:sldMk cId="4058191885" sldId="324"/>
        </pc:sldMkLst>
      </pc:sldChg>
      <pc:sldChg chg="add replId">
        <pc:chgData name="Sathya subbiah" userId="" providerId="" clId="Web-{ECCBFD9C-EFD4-4414-A575-6A45CA2AF01E}" dt="2024-06-12T03:35:41.623" v="62"/>
        <pc:sldMkLst>
          <pc:docMk/>
          <pc:sldMk cId="3213164647" sldId="325"/>
        </pc:sldMkLst>
      </pc:sldChg>
      <pc:sldChg chg="addSp modSp new">
        <pc:chgData name="Sathya subbiah" userId="" providerId="" clId="Web-{ECCBFD9C-EFD4-4414-A575-6A45CA2AF01E}" dt="2024-06-12T03:43:59.981" v="95" actId="14100"/>
        <pc:sldMkLst>
          <pc:docMk/>
          <pc:sldMk cId="3989589620" sldId="326"/>
        </pc:sldMkLst>
        <pc:picChg chg="add mod">
          <ac:chgData name="Sathya subbiah" userId="" providerId="" clId="Web-{ECCBFD9C-EFD4-4414-A575-6A45CA2AF01E}" dt="2024-06-12T03:43:59.981" v="95" actId="14100"/>
          <ac:picMkLst>
            <pc:docMk/>
            <pc:sldMk cId="3989589620" sldId="326"/>
            <ac:picMk id="2" creationId="{9141506E-C7BF-82C3-06D2-30C7393108C4}"/>
          </ac:picMkLst>
        </pc:picChg>
      </pc:sldChg>
      <pc:sldChg chg="modSp new">
        <pc:chgData name="Sathya subbiah" userId="" providerId="" clId="Web-{ECCBFD9C-EFD4-4414-A575-6A45CA2AF01E}" dt="2024-06-12T03:51:08.774" v="311" actId="20577"/>
        <pc:sldMkLst>
          <pc:docMk/>
          <pc:sldMk cId="3207001520" sldId="327"/>
        </pc:sldMkLst>
        <pc:spChg chg="mod">
          <ac:chgData name="Sathya subbiah" userId="" providerId="" clId="Web-{ECCBFD9C-EFD4-4414-A575-6A45CA2AF01E}" dt="2024-06-12T03:45:35.843" v="131" actId="20577"/>
          <ac:spMkLst>
            <pc:docMk/>
            <pc:sldMk cId="3207001520" sldId="327"/>
            <ac:spMk id="2" creationId="{08D14EB3-2B3E-FD64-1F3E-E36EA9BFE4A9}"/>
          </ac:spMkLst>
        </pc:spChg>
        <pc:spChg chg="mod">
          <ac:chgData name="Sathya subbiah" userId="" providerId="" clId="Web-{ECCBFD9C-EFD4-4414-A575-6A45CA2AF01E}" dt="2024-06-12T03:51:08.774" v="311" actId="20577"/>
          <ac:spMkLst>
            <pc:docMk/>
            <pc:sldMk cId="3207001520" sldId="327"/>
            <ac:spMk id="3" creationId="{F7D519B7-0EB3-69A9-4E7F-DBC7BA16028A}"/>
          </ac:spMkLst>
        </pc:spChg>
      </pc:sldChg>
      <pc:sldChg chg="modSp new">
        <pc:chgData name="Sathya subbiah" userId="" providerId="" clId="Web-{ECCBFD9C-EFD4-4414-A575-6A45CA2AF01E}" dt="2024-06-12T04:07:25.833" v="628" actId="20577"/>
        <pc:sldMkLst>
          <pc:docMk/>
          <pc:sldMk cId="3922173036" sldId="328"/>
        </pc:sldMkLst>
        <pc:spChg chg="mod">
          <ac:chgData name="Sathya subbiah" userId="" providerId="" clId="Web-{ECCBFD9C-EFD4-4414-A575-6A45CA2AF01E}" dt="2024-06-12T04:00:56.260" v="539" actId="20577"/>
          <ac:spMkLst>
            <pc:docMk/>
            <pc:sldMk cId="3922173036" sldId="328"/>
            <ac:spMk id="2" creationId="{CD7DD610-0690-FB22-5239-D81E04848F3F}"/>
          </ac:spMkLst>
        </pc:spChg>
        <pc:spChg chg="mod">
          <ac:chgData name="Sathya subbiah" userId="" providerId="" clId="Web-{ECCBFD9C-EFD4-4414-A575-6A45CA2AF01E}" dt="2024-06-12T04:07:25.833" v="628" actId="20577"/>
          <ac:spMkLst>
            <pc:docMk/>
            <pc:sldMk cId="3922173036" sldId="328"/>
            <ac:spMk id="3" creationId="{EC88BBC6-820B-E428-C60D-3DFCA2166FD6}"/>
          </ac:spMkLst>
        </pc:spChg>
      </pc:sldChg>
      <pc:sldChg chg="add replId">
        <pc:chgData name="Sathya subbiah" userId="" providerId="" clId="Web-{ECCBFD9C-EFD4-4414-A575-6A45CA2AF01E}" dt="2024-06-12T04:00:57.526" v="540"/>
        <pc:sldMkLst>
          <pc:docMk/>
          <pc:sldMk cId="245865944" sldId="329"/>
        </pc:sldMkLst>
      </pc:sldChg>
      <pc:sldChg chg="new del">
        <pc:chgData name="Sathya subbiah" userId="" providerId="" clId="Web-{ECCBFD9C-EFD4-4414-A575-6A45CA2AF01E}" dt="2024-06-12T04:11:14.746" v="644"/>
        <pc:sldMkLst>
          <pc:docMk/>
          <pc:sldMk cId="411959446" sldId="330"/>
        </pc:sldMkLst>
      </pc:sldChg>
      <pc:sldChg chg="addSp delSp modSp new">
        <pc:chgData name="Sathya subbiah" userId="" providerId="" clId="Web-{ECCBFD9C-EFD4-4414-A575-6A45CA2AF01E}" dt="2024-06-12T04:12:32.967" v="650" actId="14100"/>
        <pc:sldMkLst>
          <pc:docMk/>
          <pc:sldMk cId="521527300" sldId="331"/>
        </pc:sldMkLst>
        <pc:spChg chg="del">
          <ac:chgData name="Sathya subbiah" userId="" providerId="" clId="Web-{ECCBFD9C-EFD4-4414-A575-6A45CA2AF01E}" dt="2024-06-12T04:11:12.184" v="643"/>
          <ac:spMkLst>
            <pc:docMk/>
            <pc:sldMk cId="521527300" sldId="331"/>
            <ac:spMk id="3" creationId="{0DB06AFD-5E8C-1708-A120-21157F41D712}"/>
          </ac:spMkLst>
        </pc:spChg>
        <pc:picChg chg="add mod ord">
          <ac:chgData name="Sathya subbiah" userId="" providerId="" clId="Web-{ECCBFD9C-EFD4-4414-A575-6A45CA2AF01E}" dt="2024-06-12T04:12:32.967" v="650" actId="14100"/>
          <ac:picMkLst>
            <pc:docMk/>
            <pc:sldMk cId="521527300" sldId="331"/>
            <ac:picMk id="5" creationId="{78A7A62C-5A79-A76A-E868-013B7A8E7035}"/>
          </ac:picMkLst>
        </pc:picChg>
        <pc:inkChg chg="add">
          <ac:chgData name="Sathya subbiah" userId="" providerId="" clId="Web-{ECCBFD9C-EFD4-4414-A575-6A45CA2AF01E}" dt="2024-06-12T04:11:10.809" v="642"/>
          <ac:inkMkLst>
            <pc:docMk/>
            <pc:sldMk cId="521527300" sldId="331"/>
            <ac:inkMk id="4" creationId="{F2CAF6F2-9B08-F6EC-0A84-84CCE1B73959}"/>
          </ac:inkMkLst>
        </pc:inkChg>
        <pc:inkChg chg="add">
          <ac:chgData name="Sathya subbiah" userId="" providerId="" clId="Web-{ECCBFD9C-EFD4-4414-A575-6A45CA2AF01E}" dt="2024-06-12T04:11:17.106" v="645"/>
          <ac:inkMkLst>
            <pc:docMk/>
            <pc:sldMk cId="521527300" sldId="331"/>
            <ac:inkMk id="6" creationId="{6CA25C45-8770-E4DF-BA2E-6990C8513D9D}"/>
          </ac:inkMkLst>
        </pc:inkChg>
        <pc:inkChg chg="add">
          <ac:chgData name="Sathya subbiah" userId="" providerId="" clId="Web-{ECCBFD9C-EFD4-4414-A575-6A45CA2AF01E}" dt="2024-06-12T04:11:18.778" v="646"/>
          <ac:inkMkLst>
            <pc:docMk/>
            <pc:sldMk cId="521527300" sldId="331"/>
            <ac:inkMk id="7" creationId="{A7BB3803-37AB-0EA6-FC3C-D6CB381C870B}"/>
          </ac:inkMkLst>
        </pc:inkChg>
      </pc:sldChg>
      <pc:sldChg chg="new del">
        <pc:chgData name="Sathya subbiah" userId="" providerId="" clId="Web-{ECCBFD9C-EFD4-4414-A575-6A45CA2AF01E}" dt="2024-06-12T04:15:29.519" v="652"/>
        <pc:sldMkLst>
          <pc:docMk/>
          <pc:sldMk cId="1701999088" sldId="332"/>
        </pc:sldMkLst>
      </pc:sldChg>
      <pc:sldChg chg="addSp delSp modSp new">
        <pc:chgData name="Sathya subbiah" userId="" providerId="" clId="Web-{ECCBFD9C-EFD4-4414-A575-6A45CA2AF01E}" dt="2024-06-12T04:17:31.741" v="694" actId="14100"/>
        <pc:sldMkLst>
          <pc:docMk/>
          <pc:sldMk cId="1731625813" sldId="332"/>
        </pc:sldMkLst>
        <pc:spChg chg="mod">
          <ac:chgData name="Sathya subbiah" userId="" providerId="" clId="Web-{ECCBFD9C-EFD4-4414-A575-6A45CA2AF01E}" dt="2024-06-12T04:16:13.349" v="680" actId="20577"/>
          <ac:spMkLst>
            <pc:docMk/>
            <pc:sldMk cId="1731625813" sldId="332"/>
            <ac:spMk id="2" creationId="{93F6BF5B-064C-65C3-DE2F-D5E44B365D60}"/>
          </ac:spMkLst>
        </pc:spChg>
        <pc:spChg chg="del">
          <ac:chgData name="Sathya subbiah" userId="" providerId="" clId="Web-{ECCBFD9C-EFD4-4414-A575-6A45CA2AF01E}" dt="2024-06-12T04:15:41.363" v="654"/>
          <ac:spMkLst>
            <pc:docMk/>
            <pc:sldMk cId="1731625813" sldId="332"/>
            <ac:spMk id="3" creationId="{CFD7330B-702C-BBC6-7A11-52C4EC462AC7}"/>
          </ac:spMkLst>
        </pc:spChg>
        <pc:spChg chg="add mod">
          <ac:chgData name="Sathya subbiah" userId="" providerId="" clId="Web-{ECCBFD9C-EFD4-4414-A575-6A45CA2AF01E}" dt="2024-06-12T04:15:44.676" v="655"/>
          <ac:spMkLst>
            <pc:docMk/>
            <pc:sldMk cId="1731625813" sldId="332"/>
            <ac:spMk id="6" creationId="{6085C21D-4E9E-44B1-CA3C-17573C6930A7}"/>
          </ac:spMkLst>
        </pc:spChg>
        <pc:spChg chg="add mod">
          <ac:chgData name="Sathya subbiah" userId="" providerId="" clId="Web-{ECCBFD9C-EFD4-4414-A575-6A45CA2AF01E}" dt="2024-06-12T04:17:31.741" v="694" actId="14100"/>
          <ac:spMkLst>
            <pc:docMk/>
            <pc:sldMk cId="1731625813" sldId="332"/>
            <ac:spMk id="8" creationId="{1F969488-2AF0-37F1-19DF-910EF8A9B79D}"/>
          </ac:spMkLst>
        </pc:spChg>
        <pc:picChg chg="add del mod ord">
          <ac:chgData name="Sathya subbiah" userId="" providerId="" clId="Web-{ECCBFD9C-EFD4-4414-A575-6A45CA2AF01E}" dt="2024-06-12T04:15:44.676" v="655"/>
          <ac:picMkLst>
            <pc:docMk/>
            <pc:sldMk cId="1731625813" sldId="332"/>
            <ac:picMk id="4" creationId="{DEE1FAB8-D6BA-49AF-A68E-23B257612C02}"/>
          </ac:picMkLst>
        </pc:picChg>
      </pc:sldChg>
      <pc:sldChg chg="add replId">
        <pc:chgData name="Sathya subbiah" userId="" providerId="" clId="Web-{ECCBFD9C-EFD4-4414-A575-6A45CA2AF01E}" dt="2024-06-12T04:26:17.850" v="849"/>
        <pc:sldMkLst>
          <pc:docMk/>
          <pc:sldMk cId="2189751110" sldId="333"/>
        </pc:sldMkLst>
      </pc:sldChg>
      <pc:sldChg chg="modSp new del">
        <pc:chgData name="Sathya subbiah" userId="" providerId="" clId="Web-{ECCBFD9C-EFD4-4414-A575-6A45CA2AF01E}" dt="2024-06-12T04:23:59.331" v="833"/>
        <pc:sldMkLst>
          <pc:docMk/>
          <pc:sldMk cId="3957684235" sldId="333"/>
        </pc:sldMkLst>
        <pc:spChg chg="mod">
          <ac:chgData name="Sathya subbiah" userId="" providerId="" clId="Web-{ECCBFD9C-EFD4-4414-A575-6A45CA2AF01E}" dt="2024-06-12T04:21:05.263" v="720" actId="20577"/>
          <ac:spMkLst>
            <pc:docMk/>
            <pc:sldMk cId="3957684235" sldId="333"/>
            <ac:spMk id="2" creationId="{C9052C61-431C-609A-3F6A-E1F46066A943}"/>
          </ac:spMkLst>
        </pc:spChg>
      </pc:sldChg>
      <pc:sldChg chg="modSp new">
        <pc:chgData name="Sathya subbiah" userId="" providerId="" clId="Web-{ECCBFD9C-EFD4-4414-A575-6A45CA2AF01E}" dt="2024-06-12T04:41:31.908" v="904" actId="20577"/>
        <pc:sldMkLst>
          <pc:docMk/>
          <pc:sldMk cId="268171948" sldId="334"/>
        </pc:sldMkLst>
        <pc:spChg chg="mod">
          <ac:chgData name="Sathya subbiah" userId="" providerId="" clId="Web-{ECCBFD9C-EFD4-4414-A575-6A45CA2AF01E}" dt="2024-06-12T04:41:31.908" v="904" actId="20577"/>
          <ac:spMkLst>
            <pc:docMk/>
            <pc:sldMk cId="268171948" sldId="334"/>
            <ac:spMk id="2" creationId="{7D99FF75-95E1-3331-0DB3-FB51EF092079}"/>
          </ac:spMkLst>
        </pc:spChg>
      </pc:sldChg>
      <pc:sldChg chg="modSp new">
        <pc:chgData name="Sathya subbiah" userId="" providerId="" clId="Web-{ECCBFD9C-EFD4-4414-A575-6A45CA2AF01E}" dt="2024-06-12T04:53:52.147" v="994" actId="20577"/>
        <pc:sldMkLst>
          <pc:docMk/>
          <pc:sldMk cId="2414529506" sldId="335"/>
        </pc:sldMkLst>
        <pc:spChg chg="mod">
          <ac:chgData name="Sathya subbiah" userId="" providerId="" clId="Web-{ECCBFD9C-EFD4-4414-A575-6A45CA2AF01E}" dt="2024-06-12T04:50:18.360" v="955" actId="20577"/>
          <ac:spMkLst>
            <pc:docMk/>
            <pc:sldMk cId="2414529506" sldId="335"/>
            <ac:spMk id="2" creationId="{EC25F935-6439-00BF-B1F6-68DD8C254760}"/>
          </ac:spMkLst>
        </pc:spChg>
        <pc:spChg chg="mod">
          <ac:chgData name="Sathya subbiah" userId="" providerId="" clId="Web-{ECCBFD9C-EFD4-4414-A575-6A45CA2AF01E}" dt="2024-06-12T04:53:52.147" v="994" actId="20577"/>
          <ac:spMkLst>
            <pc:docMk/>
            <pc:sldMk cId="2414529506" sldId="335"/>
            <ac:spMk id="3" creationId="{5F5C6DE1-1274-FCE8-7C62-EFB0CFA52057}"/>
          </ac:spMkLst>
        </pc:spChg>
      </pc:sldChg>
      <pc:sldChg chg="modSp new ord">
        <pc:chgData name="Sathya subbiah" userId="" providerId="" clId="Web-{ECCBFD9C-EFD4-4414-A575-6A45CA2AF01E}" dt="2024-06-12T04:57:17.997" v="1031" actId="20577"/>
        <pc:sldMkLst>
          <pc:docMk/>
          <pc:sldMk cId="4224305993" sldId="336"/>
        </pc:sldMkLst>
        <pc:spChg chg="mod">
          <ac:chgData name="Sathya subbiah" userId="" providerId="" clId="Web-{ECCBFD9C-EFD4-4414-A575-6A45CA2AF01E}" dt="2024-06-12T04:54:37.680" v="1001" actId="20577"/>
          <ac:spMkLst>
            <pc:docMk/>
            <pc:sldMk cId="4224305993" sldId="336"/>
            <ac:spMk id="2" creationId="{DD38961E-596F-CE4C-4594-2F21C8DE1202}"/>
          </ac:spMkLst>
        </pc:spChg>
        <pc:spChg chg="mod">
          <ac:chgData name="Sathya subbiah" userId="" providerId="" clId="Web-{ECCBFD9C-EFD4-4414-A575-6A45CA2AF01E}" dt="2024-06-12T04:57:17.997" v="1031" actId="20577"/>
          <ac:spMkLst>
            <pc:docMk/>
            <pc:sldMk cId="4224305993" sldId="336"/>
            <ac:spMk id="3" creationId="{3A531547-793B-B555-5674-9794B08EF055}"/>
          </ac:spMkLst>
        </pc:spChg>
      </pc:sldChg>
      <pc:sldChg chg="modSp new">
        <pc:chgData name="Sathya subbiah" userId="" providerId="" clId="Web-{ECCBFD9C-EFD4-4414-A575-6A45CA2AF01E}" dt="2024-06-12T05:10:32.582" v="1116" actId="20577"/>
        <pc:sldMkLst>
          <pc:docMk/>
          <pc:sldMk cId="861117090" sldId="337"/>
        </pc:sldMkLst>
        <pc:spChg chg="mod">
          <ac:chgData name="Sathya subbiah" userId="" providerId="" clId="Web-{ECCBFD9C-EFD4-4414-A575-6A45CA2AF01E}" dt="2024-06-12T05:10:32.582" v="1116" actId="20577"/>
          <ac:spMkLst>
            <pc:docMk/>
            <pc:sldMk cId="861117090" sldId="337"/>
            <ac:spMk id="2" creationId="{5AC6434D-7A47-92DF-93DB-8523BF4F53CA}"/>
          </ac:spMkLst>
        </pc:spChg>
        <pc:spChg chg="mod">
          <ac:chgData name="Sathya subbiah" userId="" providerId="" clId="Web-{ECCBFD9C-EFD4-4414-A575-6A45CA2AF01E}" dt="2024-06-12T05:05:46.996" v="1092" actId="20577"/>
          <ac:spMkLst>
            <pc:docMk/>
            <pc:sldMk cId="861117090" sldId="337"/>
            <ac:spMk id="3" creationId="{1D1D7B17-79D8-4011-9F45-BB13ACF3271F}"/>
          </ac:spMkLst>
        </pc:spChg>
      </pc:sldChg>
      <pc:sldChg chg="addSp delSp modSp new">
        <pc:chgData name="Sathya subbiah" userId="" providerId="" clId="Web-{ECCBFD9C-EFD4-4414-A575-6A45CA2AF01E}" dt="2024-06-12T05:06:01.121" v="1095" actId="1076"/>
        <pc:sldMkLst>
          <pc:docMk/>
          <pc:sldMk cId="421285336" sldId="338"/>
        </pc:sldMkLst>
        <pc:spChg chg="del">
          <ac:chgData name="Sathya subbiah" userId="" providerId="" clId="Web-{ECCBFD9C-EFD4-4414-A575-6A45CA2AF01E}" dt="2024-06-12T05:05:57.074" v="1094"/>
          <ac:spMkLst>
            <pc:docMk/>
            <pc:sldMk cId="421285336" sldId="338"/>
            <ac:spMk id="3" creationId="{7BB8DAA6-F7C6-9A4A-9C6C-7579BC6E437B}"/>
          </ac:spMkLst>
        </pc:spChg>
        <pc:graphicFrameChg chg="add mod ord modGraphic">
          <ac:chgData name="Sathya subbiah" userId="" providerId="" clId="Web-{ECCBFD9C-EFD4-4414-A575-6A45CA2AF01E}" dt="2024-06-12T05:06:01.121" v="1095" actId="1076"/>
          <ac:graphicFrameMkLst>
            <pc:docMk/>
            <pc:sldMk cId="421285336" sldId="338"/>
            <ac:graphicFrameMk id="5" creationId="{CF0A7F15-FE3F-7387-DF2D-F86BDA62A35A}"/>
          </ac:graphicFrameMkLst>
        </pc:graphicFrameChg>
      </pc:sldChg>
      <pc:sldChg chg="addSp delSp modSp new">
        <pc:chgData name="Sathya subbiah" userId="" providerId="" clId="Web-{ECCBFD9C-EFD4-4414-A575-6A45CA2AF01E}" dt="2024-06-12T05:10:45.301" v="1124" actId="20577"/>
        <pc:sldMkLst>
          <pc:docMk/>
          <pc:sldMk cId="3509807226" sldId="339"/>
        </pc:sldMkLst>
        <pc:spChg chg="mod">
          <ac:chgData name="Sathya subbiah" userId="" providerId="" clId="Web-{ECCBFD9C-EFD4-4414-A575-6A45CA2AF01E}" dt="2024-06-12T05:10:45.301" v="1124" actId="20577"/>
          <ac:spMkLst>
            <pc:docMk/>
            <pc:sldMk cId="3509807226" sldId="339"/>
            <ac:spMk id="2" creationId="{04B1A0DB-7C83-D792-5CA9-CF4212E2E1AA}"/>
          </ac:spMkLst>
        </pc:spChg>
        <pc:spChg chg="del">
          <ac:chgData name="Sathya subbiah" userId="" providerId="" clId="Web-{ECCBFD9C-EFD4-4414-A575-6A45CA2AF01E}" dt="2024-06-12T05:08:27.735" v="1097"/>
          <ac:spMkLst>
            <pc:docMk/>
            <pc:sldMk cId="3509807226" sldId="339"/>
            <ac:spMk id="3" creationId="{BC2CFA49-E84D-E729-EA2A-95349A95F613}"/>
          </ac:spMkLst>
        </pc:spChg>
        <pc:graphicFrameChg chg="add mod ord modGraphic">
          <ac:chgData name="Sathya subbiah" userId="" providerId="" clId="Web-{ECCBFD9C-EFD4-4414-A575-6A45CA2AF01E}" dt="2024-06-12T05:09:34.393" v="1115"/>
          <ac:graphicFrameMkLst>
            <pc:docMk/>
            <pc:sldMk cId="3509807226" sldId="339"/>
            <ac:graphicFrameMk id="5" creationId="{C463D837-92F3-B62B-1D16-1AEEFB1EFF2F}"/>
          </ac:graphicFrameMkLst>
        </pc:graphicFrameChg>
      </pc:sldChg>
      <pc:sldChg chg="modSp add replId">
        <pc:chgData name="Sathya subbiah" userId="" providerId="" clId="Web-{ECCBFD9C-EFD4-4414-A575-6A45CA2AF01E}" dt="2024-06-12T05:11:30.115" v="1127" actId="1076"/>
        <pc:sldMkLst>
          <pc:docMk/>
          <pc:sldMk cId="18574802" sldId="340"/>
        </pc:sldMkLst>
        <pc:picChg chg="mod">
          <ac:chgData name="Sathya subbiah" userId="" providerId="" clId="Web-{ECCBFD9C-EFD4-4414-A575-6A45CA2AF01E}" dt="2024-06-12T05:11:30.115" v="1127" actId="1076"/>
          <ac:picMkLst>
            <pc:docMk/>
            <pc:sldMk cId="18574802" sldId="340"/>
            <ac:picMk id="27650" creationId="{AF76289D-B556-4CD3-93AB-A4C2A3493E16}"/>
          </ac:picMkLst>
        </pc:pic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6-12T07:05:11.707"/>
    </inkml:context>
    <inkml:brush xml:id="br0">
      <inkml:brushProperty name="width" value="0.1" units="cm"/>
      <inkml:brushProperty name="height" value="0.1" units="cm"/>
    </inkml:brush>
  </inkml:definitions>
  <inkml:trace contextRef="#ctx0" brushRef="#br0">10687 5932 16383 0 0,'0'5'0'0'0,"0"6"0"0"0,-5 10 0 0 0,-5 7 0 0 0,-3 7 0 0 0,-2-1 0 0 0,1-3 0 0 0,2-1 0 0 0,4 3 0 0 0,3 1 0 0 0,-2-1 0 0 0,-5-1 0 0 0,0-2 0 0 0,2 0 0 0 0,2-2 0 0 0,-1-5 0 0 0,0-2 0 0 0,2 0 0 0 0,-3-3 0 0 0,1 0 0 0 0,1 1 0 0 0,3 3 0 0 0,1 1 0 0 0,3 2 0 0 0,0 2 0 0 0,1 0 0 0 0,0 1 0 0 0,1 0 0 0 0,-1 0 0 0 0,-4-5 0 0 0,-2-1 0 0 0,0-1 0 0 0,1 2 0 0 0,2 1 0 0 0,1 2 0 0 0,1 0 0 0 0,0 1 0 0 0,1 5 0 0 0,0 2 0 0 0,0 0 0 0 0,1-2 0 0 0,-1-1 0 0 0,0-1 0 0 0,0-1 0 0 0,0-1 0 0 0,0-1 0 0 0,0 1 0 0 0,0 4 0 0 0,0 1 0 0 0,0 0 0 0 0,0-1 0 0 0,5-1 0 0 0,1-1 0 0 0,5-6 0 0 0,0-3 0 0 0,-2 1 0 0 0,3 0 0 0 0,-2 2 0 0 0,3-3 0 0 0,0-1 0 0 0,1 1 0 0 0,3 1 0 0 0,4 2 0 0 0,3-3 0 0 0,-3 0 0 0 0,-5 0 0 0 0,-5 2 0 0 0,-4 1 0 0 0,0-3 0 0 0,1 0 0 0 0,2-5 0 0 0,0 1 0 0 0,3 2 0 0 0,-1 1 0 0 0,3-1 0 0 0,-2-5 0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6-12T05:25:15.744"/>
    </inkml:context>
    <inkml:brush xml:id="br0">
      <inkml:brushProperty name="width" value="0.1" units="cm"/>
      <inkml:brushProperty name="height" value="0.1" units="cm"/>
      <inkml:brushProperty name="color" value="#FFFFFF"/>
    </inkml:brush>
  </inkml:definitions>
  <inkml:trace contextRef="#ctx0" brushRef="#br0">7927 7858 16383 0 0,'0'0'0'0'0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6-12T05:25:15.745"/>
    </inkml:context>
    <inkml:brush xml:id="br0">
      <inkml:brushProperty name="width" value="0.1" units="cm"/>
      <inkml:brushProperty name="height" value="0.1" units="cm"/>
      <inkml:brushProperty name="color" value="#FFFFFF"/>
    </inkml:brush>
  </inkml:definitions>
  <inkml:trace contextRef="#ctx0" brushRef="#br0">8329 3625 16383 0 0,'0'0'0'0'0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7" name="Shape 37"/>
          <p:cNvSpPr>
            <a:spLocks noGrp="1" noRot="1" noChangeAspect="1"/>
          </p:cNvSpPr>
          <p:nvPr>
            <p:ph type="sldImg"/>
          </p:nvPr>
        </p:nvSpPr>
        <p:spPr>
          <a:xfrm>
            <a:off x="381000" y="685800"/>
            <a:ext cx="6096000" cy="3429000"/>
          </a:xfrm>
          <a:prstGeom prst="rect">
            <a:avLst/>
          </a:prstGeom>
        </p:spPr>
        <p:txBody>
          <a:bodyPr/>
          <a:lstStyle/>
          <a:p>
            <a:endParaRPr/>
          </a:p>
        </p:txBody>
      </p:sp>
      <p:sp>
        <p:nvSpPr>
          <p:cNvPr id="38" name="Shape 38"/>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2135298379"/>
      </p:ext>
    </p:extLst>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8" Type="http://schemas.openxmlformats.org/officeDocument/2006/relationships/hyperlink" Target="https://en.wikipedia.org/wiki/International_Standard_Serial_Number" TargetMode="External"/><Relationship Id="rId3" Type="http://schemas.openxmlformats.org/officeDocument/2006/relationships/hyperlink" Target="https://en.wikipedia.org/wiki/en:Creative_Commons" TargetMode="External"/><Relationship Id="rId7" Type="http://schemas.openxmlformats.org/officeDocument/2006/relationships/hyperlink" Target="http://dx.doi.org/10.15347/wjm/2014.010" TargetMode="External"/><Relationship Id="rId2" Type="http://schemas.openxmlformats.org/officeDocument/2006/relationships/slide" Target="../slides/slide9.xml"/><Relationship Id="rId1" Type="http://schemas.openxmlformats.org/officeDocument/2006/relationships/notesMaster" Target="../notesMasters/notesMaster1.xml"/><Relationship Id="rId6" Type="http://schemas.openxmlformats.org/officeDocument/2006/relationships/hyperlink" Target="https://en.wikipedia.org/wiki/Digital_object_identifier" TargetMode="External"/><Relationship Id="rId5" Type="http://schemas.openxmlformats.org/officeDocument/2006/relationships/hyperlink" Target="https://en.wikiversity.org/wiki/Blausen_gallery_2014" TargetMode="External"/><Relationship Id="rId10" Type="http://schemas.openxmlformats.org/officeDocument/2006/relationships/hyperlink" Target="https://creativecommons.org/licenses/by/3.0/deed.en" TargetMode="External"/><Relationship Id="rId4" Type="http://schemas.openxmlformats.org/officeDocument/2006/relationships/hyperlink" Target="https://creativecommons.org/licenses/by-sa/4.0/deed.en" TargetMode="External"/><Relationship Id="rId9" Type="http://schemas.openxmlformats.org/officeDocument/2006/relationships/hyperlink" Target="http://www.worldcat.org/issn/20018762" TargetMode="Externa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B65B9311-BEDA-411E-A71F-610E045D6F2D}"/>
              </a:ext>
            </a:extLst>
          </p:cNvPr>
          <p:cNvSpPr>
            <a:spLocks noGrp="1" noChangeArrowheads="1"/>
          </p:cNvSpPr>
          <p:nvPr>
            <p:ph type="sldNum" sz="quarter" idx="5"/>
          </p:nvPr>
        </p:nvSpPr>
        <p:spPr bwMode="auto">
          <a:xfrm>
            <a:off x="3884613" y="8685213"/>
            <a:ext cx="29718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DE579CE5-F0AA-4528-BF9D-A82BDC7ACBEE}" type="slidenum">
              <a:rPr lang="en-US" altLang="en-US" sz="2400" smtClean="0">
                <a:solidFill>
                  <a:srgbClr val="000000"/>
                </a:solidFill>
                <a:latin typeface="Arial" panose="020B0604020202020204" pitchFamily="34" charset="0"/>
              </a:rPr>
              <a:pPr>
                <a:spcBef>
                  <a:spcPct val="0"/>
                </a:spcBef>
              </a:pPr>
              <a:t>3</a:t>
            </a:fld>
            <a:endParaRPr lang="en-US" altLang="en-US" sz="2400">
              <a:solidFill>
                <a:srgbClr val="000000"/>
              </a:solidFill>
              <a:latin typeface="Arial" panose="020B0604020202020204" pitchFamily="34" charset="0"/>
            </a:endParaRPr>
          </a:p>
        </p:txBody>
      </p:sp>
      <p:sp>
        <p:nvSpPr>
          <p:cNvPr id="28675" name="Rectangle 2">
            <a:extLst>
              <a:ext uri="{FF2B5EF4-FFF2-40B4-BE49-F238E27FC236}">
                <a16:creationId xmlns:a16="http://schemas.microsoft.com/office/drawing/2014/main" id="{F0C4C86C-69E7-47E2-916F-9ACC8E4A4C96}"/>
              </a:ext>
            </a:extLst>
          </p:cNvPr>
          <p:cNvSpPr>
            <a:spLocks noGrp="1" noRot="1" noChangeAspect="1" noChangeArrowheads="1" noTextEdit="1"/>
          </p:cNvSpPr>
          <p:nvPr>
            <p:ph type="sldImg"/>
          </p:nvPr>
        </p:nvSpPr>
        <p:spPr bwMode="auto">
          <a:xfrm>
            <a:off x="381000" y="687388"/>
            <a:ext cx="6096000" cy="3430587"/>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6" name="Rectangle 3">
            <a:extLst>
              <a:ext uri="{FF2B5EF4-FFF2-40B4-BE49-F238E27FC236}">
                <a16:creationId xmlns:a16="http://schemas.microsoft.com/office/drawing/2014/main" id="{30DDCAC5-B708-45AA-96D5-4231B4F84A55}"/>
              </a:ext>
            </a:extLst>
          </p:cNvPr>
          <p:cNvSpPr>
            <a:spLocks noGrp="1" noChangeArrowheads="1"/>
          </p:cNvSpPr>
          <p:nvPr>
            <p:ph type="body" idx="1"/>
          </p:nvPr>
        </p:nvSpPr>
        <p:spPr bwMode="auto">
          <a:xfrm>
            <a:off x="698500" y="4321175"/>
            <a:ext cx="5473700" cy="47910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85" tIns="46041" rIns="92085" bIns="46041" numCol="1" anchor="t" anchorCtr="0" compatLnSpc="1">
            <a:prstTxWarp prst="textNoShape">
              <a:avLst/>
            </a:prstTxWarp>
          </a:bodyPr>
          <a:lstStyle/>
          <a:p>
            <a:pPr defTabSz="457200" eaLnBrk="1" hangingPunct="1">
              <a:spcBef>
                <a:spcPct val="0"/>
              </a:spcBef>
            </a:pPr>
            <a:endParaRPr lang="en-US" altLang="en-US" sz="700" dirty="0"/>
          </a:p>
        </p:txBody>
      </p:sp>
      <p:sp>
        <p:nvSpPr>
          <p:cNvPr id="80901" name="Slide Number Placeholder 3">
            <a:extLst>
              <a:ext uri="{FF2B5EF4-FFF2-40B4-BE49-F238E27FC236}">
                <a16:creationId xmlns:a16="http://schemas.microsoft.com/office/drawing/2014/main" id="{9933E473-CA54-4274-801F-9C5D6DEBC9E8}"/>
              </a:ext>
            </a:extLst>
          </p:cNvPr>
          <p:cNvSpPr txBox="1">
            <a:spLocks noGrp="1"/>
          </p:cNvSpPr>
          <p:nvPr/>
        </p:nvSpPr>
        <p:spPr bwMode="auto">
          <a:xfrm>
            <a:off x="6400800" y="8685213"/>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85" tIns="46041" rIns="92085" bIns="46041" anchor="b"/>
          <a:lstStyle>
            <a:lvl1pPr defTabSz="446088">
              <a:defRPr sz="2400">
                <a:solidFill>
                  <a:schemeClr val="tx1"/>
                </a:solidFill>
                <a:latin typeface="Times New Roman" pitchFamily="18" charset="0"/>
              </a:defRPr>
            </a:lvl1pPr>
            <a:lvl2pPr marL="742950" indent="-285750" defTabSz="446088">
              <a:defRPr sz="2400">
                <a:solidFill>
                  <a:schemeClr val="tx1"/>
                </a:solidFill>
                <a:latin typeface="Times New Roman" pitchFamily="18" charset="0"/>
              </a:defRPr>
            </a:lvl2pPr>
            <a:lvl3pPr marL="1143000" indent="-228600" defTabSz="446088">
              <a:defRPr sz="2400">
                <a:solidFill>
                  <a:schemeClr val="tx1"/>
                </a:solidFill>
                <a:latin typeface="Times New Roman" pitchFamily="18" charset="0"/>
              </a:defRPr>
            </a:lvl3pPr>
            <a:lvl4pPr marL="1600200" indent="-228600" defTabSz="446088">
              <a:defRPr sz="2400">
                <a:solidFill>
                  <a:schemeClr val="tx1"/>
                </a:solidFill>
                <a:latin typeface="Times New Roman" pitchFamily="18" charset="0"/>
              </a:defRPr>
            </a:lvl4pPr>
            <a:lvl5pPr marL="2057400" indent="-228600" defTabSz="446088">
              <a:defRPr sz="2400">
                <a:solidFill>
                  <a:schemeClr val="tx1"/>
                </a:solidFill>
                <a:latin typeface="Times New Roman" pitchFamily="18" charset="0"/>
              </a:defRPr>
            </a:lvl5pPr>
            <a:lvl6pPr marL="2514600" indent="-228600" defTabSz="446088" eaLnBrk="0" fontAlgn="base" hangingPunct="0">
              <a:spcBef>
                <a:spcPct val="0"/>
              </a:spcBef>
              <a:spcAft>
                <a:spcPct val="0"/>
              </a:spcAft>
              <a:defRPr sz="2400">
                <a:solidFill>
                  <a:schemeClr val="tx1"/>
                </a:solidFill>
                <a:latin typeface="Times New Roman" pitchFamily="18" charset="0"/>
              </a:defRPr>
            </a:lvl6pPr>
            <a:lvl7pPr marL="2971800" indent="-228600" defTabSz="446088" eaLnBrk="0" fontAlgn="base" hangingPunct="0">
              <a:spcBef>
                <a:spcPct val="0"/>
              </a:spcBef>
              <a:spcAft>
                <a:spcPct val="0"/>
              </a:spcAft>
              <a:defRPr sz="2400">
                <a:solidFill>
                  <a:schemeClr val="tx1"/>
                </a:solidFill>
                <a:latin typeface="Times New Roman" pitchFamily="18" charset="0"/>
              </a:defRPr>
            </a:lvl7pPr>
            <a:lvl8pPr marL="3429000" indent="-228600" defTabSz="446088" eaLnBrk="0" fontAlgn="base" hangingPunct="0">
              <a:spcBef>
                <a:spcPct val="0"/>
              </a:spcBef>
              <a:spcAft>
                <a:spcPct val="0"/>
              </a:spcAft>
              <a:defRPr sz="2400">
                <a:solidFill>
                  <a:schemeClr val="tx1"/>
                </a:solidFill>
                <a:latin typeface="Times New Roman" pitchFamily="18" charset="0"/>
              </a:defRPr>
            </a:lvl8pPr>
            <a:lvl9pPr marL="3886200" indent="-228600" defTabSz="446088" eaLnBrk="0" fontAlgn="base" hangingPunct="0">
              <a:spcBef>
                <a:spcPct val="0"/>
              </a:spcBef>
              <a:spcAft>
                <a:spcPct val="0"/>
              </a:spcAft>
              <a:defRPr sz="2400">
                <a:solidFill>
                  <a:schemeClr val="tx1"/>
                </a:solidFill>
                <a:latin typeface="Times New Roman" pitchFamily="18" charset="0"/>
              </a:defRPr>
            </a:lvl9pPr>
          </a:lstStyle>
          <a:p>
            <a:pPr algn="r" fontAlgn="base" hangingPunct="1">
              <a:spcBef>
                <a:spcPct val="0"/>
              </a:spcBef>
              <a:spcAft>
                <a:spcPct val="0"/>
              </a:spcAft>
              <a:defRPr/>
            </a:pPr>
            <a:r>
              <a:rPr lang="en-US" sz="1200" kern="1200">
                <a:solidFill>
                  <a:srgbClr val="000000"/>
                </a:solidFill>
                <a:latin typeface="Calibri" pitchFamily="34" charset="0"/>
              </a:rPr>
              <a:t>6</a:t>
            </a:r>
          </a:p>
        </p:txBody>
      </p:sp>
    </p:spTree>
    <p:extLst>
      <p:ext uri="{BB962C8B-B14F-4D97-AF65-F5344CB8AC3E}">
        <p14:creationId xmlns:p14="http://schemas.microsoft.com/office/powerpoint/2010/main" val="6969628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6625826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200" b="1" i="0" u="sng" dirty="0">
                <a:effectLst/>
                <a:latin typeface="+mn-lt"/>
                <a:ea typeface="+mn-ea"/>
                <a:cs typeface="+mn-cs"/>
                <a:sym typeface="Calibri"/>
              </a:rPr>
              <a:t>Image</a:t>
            </a:r>
            <a:r>
              <a:rPr lang="en-US" sz="1200" b="1" i="0" u="sng" baseline="0" dirty="0">
                <a:effectLst/>
                <a:latin typeface="+mn-lt"/>
                <a:ea typeface="+mn-ea"/>
                <a:cs typeface="+mn-cs"/>
                <a:sym typeface="Calibri"/>
              </a:rPr>
              <a:t> credits:</a:t>
            </a:r>
            <a:endParaRPr lang="en-US" sz="1200" b="1" i="0" u="sng" dirty="0">
              <a:effectLst/>
              <a:latin typeface="+mn-lt"/>
              <a:ea typeface="+mn-ea"/>
              <a:cs typeface="+mn-cs"/>
              <a:sym typeface="Calibri"/>
            </a:endParaRPr>
          </a:p>
          <a:p>
            <a:r>
              <a:rPr lang="en-US" sz="1200" i="1" dirty="0">
                <a:effectLst/>
                <a:latin typeface="+mn-lt"/>
                <a:ea typeface="+mn-ea"/>
                <a:cs typeface="+mn-cs"/>
                <a:sym typeface="Calibri"/>
              </a:rPr>
              <a:t>Liver</a:t>
            </a:r>
            <a:r>
              <a:rPr lang="en-US" sz="1200" dirty="0">
                <a:effectLst/>
                <a:latin typeface="+mn-lt"/>
                <a:ea typeface="+mn-ea"/>
                <a:cs typeface="+mn-cs"/>
                <a:sym typeface="Calibri"/>
              </a:rPr>
              <a:t>:</a:t>
            </a:r>
          </a:p>
          <a:p>
            <a:r>
              <a:rPr lang="en-US" sz="1200" dirty="0">
                <a:effectLst/>
                <a:latin typeface="+mn-lt"/>
                <a:ea typeface="+mn-ea"/>
                <a:cs typeface="+mn-cs"/>
                <a:sym typeface="Calibri"/>
              </a:rPr>
              <a:t>Author: </a:t>
            </a:r>
            <a:r>
              <a:rPr lang="en-US" sz="1200" dirty="0" err="1">
                <a:effectLst/>
                <a:latin typeface="+mn-lt"/>
                <a:ea typeface="+mn-ea"/>
                <a:cs typeface="+mn-cs"/>
                <a:sym typeface="Calibri"/>
              </a:rPr>
              <a:t>BurceBlaus</a:t>
            </a:r>
            <a:endParaRPr lang="en-US" sz="1200" dirty="0">
              <a:effectLst/>
              <a:latin typeface="+mn-lt"/>
              <a:ea typeface="+mn-ea"/>
              <a:cs typeface="+mn-cs"/>
              <a:sym typeface="Calibri"/>
            </a:endParaRPr>
          </a:p>
          <a:p>
            <a:r>
              <a:rPr lang="en-US" sz="1200" dirty="0">
                <a:effectLst/>
                <a:latin typeface="+mn-lt"/>
                <a:ea typeface="+mn-ea"/>
                <a:cs typeface="+mn-cs"/>
                <a:sym typeface="Calibri"/>
              </a:rPr>
              <a:t>Accessed December 9, 2015: https://commons.wikimedia.org/wiki/File:Liver_(organ).png</a:t>
            </a:r>
          </a:p>
          <a:p>
            <a:r>
              <a:rPr lang="en-US" sz="1200" dirty="0">
                <a:effectLst/>
                <a:latin typeface="+mn-lt"/>
                <a:ea typeface="+mn-ea"/>
                <a:cs typeface="+mn-cs"/>
                <a:sym typeface="Calibri"/>
              </a:rPr>
              <a:t>License: </a:t>
            </a:r>
            <a:r>
              <a:rPr lang="en-US" sz="1200" u="none" strike="noStrike" dirty="0">
                <a:effectLst/>
                <a:latin typeface="+mn-lt"/>
                <a:ea typeface="+mn-ea"/>
                <a:cs typeface="+mn-cs"/>
                <a:sym typeface="Calibri"/>
                <a:hlinkClick r:id="rId3"/>
              </a:rPr>
              <a:t>Creative Commons</a:t>
            </a:r>
            <a:r>
              <a:rPr lang="en-US" sz="1200" dirty="0">
                <a:effectLst/>
                <a:latin typeface="+mn-lt"/>
                <a:ea typeface="+mn-ea"/>
                <a:cs typeface="+mn-cs"/>
                <a:sym typeface="Calibri"/>
              </a:rPr>
              <a:t> </a:t>
            </a:r>
            <a:r>
              <a:rPr lang="en-US" sz="1200" u="none" strike="noStrike" dirty="0">
                <a:effectLst/>
                <a:latin typeface="+mn-lt"/>
                <a:ea typeface="+mn-ea"/>
                <a:cs typeface="+mn-cs"/>
                <a:sym typeface="Calibri"/>
                <a:hlinkClick r:id="rId4"/>
              </a:rPr>
              <a:t>Attribution-Share Alike 4.0 International</a:t>
            </a:r>
            <a:endParaRPr lang="en-US" sz="1200" dirty="0">
              <a:effectLst/>
              <a:latin typeface="+mn-lt"/>
              <a:ea typeface="+mn-ea"/>
              <a:cs typeface="+mn-cs"/>
              <a:sym typeface="Calibri"/>
            </a:endParaRPr>
          </a:p>
          <a:p>
            <a:r>
              <a:rPr lang="en-US" sz="1200" dirty="0">
                <a:effectLst/>
                <a:latin typeface="+mn-lt"/>
                <a:ea typeface="+mn-ea"/>
                <a:cs typeface="+mn-cs"/>
                <a:sym typeface="Calibri"/>
              </a:rPr>
              <a:t> </a:t>
            </a:r>
          </a:p>
          <a:p>
            <a:r>
              <a:rPr lang="en-US" sz="1200" i="1" dirty="0">
                <a:effectLst/>
                <a:latin typeface="+mn-lt"/>
                <a:ea typeface="+mn-ea"/>
                <a:cs typeface="+mn-cs"/>
                <a:sym typeface="Calibri"/>
              </a:rPr>
              <a:t>Erythrocytes</a:t>
            </a:r>
            <a:r>
              <a:rPr lang="en-US" sz="1200" dirty="0">
                <a:effectLst/>
                <a:latin typeface="+mn-lt"/>
                <a:ea typeface="+mn-ea"/>
                <a:cs typeface="+mn-cs"/>
                <a:sym typeface="Calibri"/>
              </a:rPr>
              <a:t>:</a:t>
            </a:r>
          </a:p>
          <a:p>
            <a:r>
              <a:rPr lang="en-US" sz="1200" dirty="0">
                <a:effectLst/>
                <a:latin typeface="+mn-lt"/>
                <a:ea typeface="+mn-ea"/>
                <a:cs typeface="+mn-cs"/>
                <a:sym typeface="Calibri"/>
              </a:rPr>
              <a:t>Blausen.com staff. "</a:t>
            </a:r>
            <a:r>
              <a:rPr lang="en-US" sz="1200" u="none" strike="noStrike" dirty="0" err="1">
                <a:effectLst/>
                <a:latin typeface="+mn-lt"/>
                <a:ea typeface="+mn-ea"/>
                <a:cs typeface="+mn-cs"/>
                <a:sym typeface="Calibri"/>
                <a:hlinkClick r:id="rId5"/>
              </a:rPr>
              <a:t>Blausen</a:t>
            </a:r>
            <a:r>
              <a:rPr lang="en-US" sz="1200" u="none" strike="noStrike" dirty="0">
                <a:effectLst/>
                <a:latin typeface="+mn-lt"/>
                <a:ea typeface="+mn-ea"/>
                <a:cs typeface="+mn-cs"/>
                <a:sym typeface="Calibri"/>
                <a:hlinkClick r:id="rId5"/>
              </a:rPr>
              <a:t> gallery 2014</a:t>
            </a:r>
            <a:r>
              <a:rPr lang="en-US" sz="1200" dirty="0">
                <a:effectLst/>
                <a:latin typeface="+mn-lt"/>
                <a:ea typeface="+mn-ea"/>
                <a:cs typeface="+mn-cs"/>
                <a:sym typeface="Calibri"/>
              </a:rPr>
              <a:t>". </a:t>
            </a:r>
            <a:r>
              <a:rPr lang="en-US" sz="1200" i="1" dirty="0" err="1">
                <a:effectLst/>
                <a:latin typeface="+mn-lt"/>
                <a:ea typeface="+mn-ea"/>
                <a:cs typeface="+mn-cs"/>
                <a:sym typeface="Calibri"/>
              </a:rPr>
              <a:t>Wikiversity</a:t>
            </a:r>
            <a:r>
              <a:rPr lang="en-US" sz="1200" i="1" dirty="0">
                <a:effectLst/>
                <a:latin typeface="+mn-lt"/>
                <a:ea typeface="+mn-ea"/>
                <a:cs typeface="+mn-cs"/>
                <a:sym typeface="Calibri"/>
              </a:rPr>
              <a:t> Journal of Medicine</a:t>
            </a:r>
            <a:r>
              <a:rPr lang="en-US" sz="1200" dirty="0">
                <a:effectLst/>
                <a:latin typeface="+mn-lt"/>
                <a:ea typeface="+mn-ea"/>
                <a:cs typeface="+mn-cs"/>
                <a:sym typeface="Calibri"/>
              </a:rPr>
              <a:t>. </a:t>
            </a:r>
            <a:r>
              <a:rPr lang="en-US" sz="1200" u="none" strike="noStrike" dirty="0">
                <a:effectLst/>
                <a:latin typeface="+mn-lt"/>
                <a:ea typeface="+mn-ea"/>
                <a:cs typeface="+mn-cs"/>
                <a:sym typeface="Calibri"/>
                <a:hlinkClick r:id="rId6"/>
              </a:rPr>
              <a:t>DOI</a:t>
            </a:r>
            <a:r>
              <a:rPr lang="en-US" sz="1200" dirty="0">
                <a:effectLst/>
                <a:latin typeface="+mn-lt"/>
                <a:ea typeface="+mn-ea"/>
                <a:cs typeface="+mn-cs"/>
                <a:sym typeface="Calibri"/>
              </a:rPr>
              <a:t>:</a:t>
            </a:r>
            <a:r>
              <a:rPr lang="en-US" sz="1200" u="none" strike="noStrike" dirty="0">
                <a:effectLst/>
                <a:latin typeface="+mn-lt"/>
                <a:ea typeface="+mn-ea"/>
                <a:cs typeface="+mn-cs"/>
                <a:sym typeface="Calibri"/>
                <a:hlinkClick r:id="rId7"/>
              </a:rPr>
              <a:t>10.15347/</a:t>
            </a:r>
            <a:r>
              <a:rPr lang="en-US" sz="1200" u="none" strike="noStrike" dirty="0" err="1">
                <a:effectLst/>
                <a:latin typeface="+mn-lt"/>
                <a:ea typeface="+mn-ea"/>
                <a:cs typeface="+mn-cs"/>
                <a:sym typeface="Calibri"/>
                <a:hlinkClick r:id="rId7"/>
              </a:rPr>
              <a:t>wjm</a:t>
            </a:r>
            <a:r>
              <a:rPr lang="en-US" sz="1200" u="none" strike="noStrike" dirty="0">
                <a:effectLst/>
                <a:latin typeface="+mn-lt"/>
                <a:ea typeface="+mn-ea"/>
                <a:cs typeface="+mn-cs"/>
                <a:sym typeface="Calibri"/>
                <a:hlinkClick r:id="rId7"/>
              </a:rPr>
              <a:t>/2014.010</a:t>
            </a:r>
            <a:r>
              <a:rPr lang="en-US" sz="1200" dirty="0">
                <a:effectLst/>
                <a:latin typeface="+mn-lt"/>
                <a:ea typeface="+mn-ea"/>
                <a:cs typeface="+mn-cs"/>
                <a:sym typeface="Calibri"/>
              </a:rPr>
              <a:t>. </a:t>
            </a:r>
            <a:r>
              <a:rPr lang="en-US" sz="1200" u="none" strike="noStrike" dirty="0">
                <a:effectLst/>
                <a:latin typeface="+mn-lt"/>
                <a:ea typeface="+mn-ea"/>
                <a:cs typeface="+mn-cs"/>
                <a:sym typeface="Calibri"/>
                <a:hlinkClick r:id="rId8"/>
              </a:rPr>
              <a:t>ISSN</a:t>
            </a:r>
            <a:r>
              <a:rPr lang="en-US" sz="1200" dirty="0">
                <a:effectLst/>
                <a:latin typeface="+mn-lt"/>
                <a:ea typeface="+mn-ea"/>
                <a:cs typeface="+mn-cs"/>
                <a:sym typeface="Calibri"/>
              </a:rPr>
              <a:t> </a:t>
            </a:r>
            <a:r>
              <a:rPr lang="en-US" sz="1200" u="none" strike="noStrike" dirty="0">
                <a:effectLst/>
                <a:latin typeface="+mn-lt"/>
                <a:ea typeface="+mn-ea"/>
                <a:cs typeface="+mn-cs"/>
                <a:sym typeface="Calibri"/>
                <a:hlinkClick r:id="rId9"/>
              </a:rPr>
              <a:t>20018762</a:t>
            </a:r>
            <a:endParaRPr lang="en-US" sz="1200" dirty="0">
              <a:effectLst/>
              <a:latin typeface="+mn-lt"/>
              <a:ea typeface="+mn-ea"/>
              <a:cs typeface="+mn-cs"/>
              <a:sym typeface="Calibri"/>
            </a:endParaRPr>
          </a:p>
          <a:p>
            <a:r>
              <a:rPr lang="en-US" sz="1200" dirty="0">
                <a:effectLst/>
                <a:latin typeface="+mn-lt"/>
                <a:ea typeface="+mn-ea"/>
                <a:cs typeface="+mn-cs"/>
                <a:sym typeface="Calibri"/>
              </a:rPr>
              <a:t>License: </a:t>
            </a:r>
            <a:r>
              <a:rPr lang="en-US" sz="1200" u="none" strike="noStrike" dirty="0">
                <a:effectLst/>
                <a:latin typeface="+mn-lt"/>
                <a:ea typeface="+mn-ea"/>
                <a:cs typeface="+mn-cs"/>
                <a:sym typeface="Calibri"/>
                <a:hlinkClick r:id="rId3"/>
              </a:rPr>
              <a:t>Creative Commons</a:t>
            </a:r>
            <a:r>
              <a:rPr lang="en-US" sz="1200" dirty="0">
                <a:effectLst/>
                <a:latin typeface="+mn-lt"/>
                <a:ea typeface="+mn-ea"/>
                <a:cs typeface="+mn-cs"/>
                <a:sym typeface="Calibri"/>
              </a:rPr>
              <a:t> </a:t>
            </a:r>
            <a:r>
              <a:rPr lang="en-US" sz="1200" u="none" strike="noStrike" dirty="0">
                <a:effectLst/>
                <a:latin typeface="+mn-lt"/>
                <a:ea typeface="+mn-ea"/>
                <a:cs typeface="+mn-cs"/>
                <a:sym typeface="Calibri"/>
                <a:hlinkClick r:id="rId10"/>
              </a:rPr>
              <a:t>Attribution 3.0 </a:t>
            </a:r>
            <a:r>
              <a:rPr lang="en-US" sz="1200" u="none" strike="noStrike" dirty="0" err="1">
                <a:effectLst/>
                <a:latin typeface="+mn-lt"/>
                <a:ea typeface="+mn-ea"/>
                <a:cs typeface="+mn-cs"/>
                <a:sym typeface="Calibri"/>
                <a:hlinkClick r:id="rId10"/>
              </a:rPr>
              <a:t>Unported</a:t>
            </a:r>
            <a:endParaRPr lang="en-US" sz="1200" dirty="0">
              <a:effectLst/>
              <a:latin typeface="+mn-lt"/>
              <a:ea typeface="+mn-ea"/>
              <a:cs typeface="+mn-cs"/>
              <a:sym typeface="Calibri"/>
            </a:endParaRPr>
          </a:p>
          <a:p>
            <a:r>
              <a:rPr lang="en-US" sz="1200" dirty="0">
                <a:effectLst/>
                <a:latin typeface="+mn-lt"/>
                <a:ea typeface="+mn-ea"/>
                <a:cs typeface="+mn-cs"/>
                <a:sym typeface="Calibri"/>
              </a:rPr>
              <a:t> </a:t>
            </a:r>
            <a:endParaRPr lang="en-US" dirty="0"/>
          </a:p>
        </p:txBody>
      </p:sp>
    </p:spTree>
    <p:extLst>
      <p:ext uri="{BB962C8B-B14F-4D97-AF65-F5344CB8AC3E}">
        <p14:creationId xmlns:p14="http://schemas.microsoft.com/office/powerpoint/2010/main" val="27790347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93700" y="692150"/>
            <a:ext cx="6070600" cy="3416300"/>
          </a:xfrm>
        </p:spPr>
      </p:sp>
      <p:sp>
        <p:nvSpPr>
          <p:cNvPr id="3" name="Notes Placeholder 2"/>
          <p:cNvSpPr>
            <a:spLocks noGrp="1"/>
          </p:cNvSpPr>
          <p:nvPr>
            <p:ph type="body" idx="1"/>
          </p:nvPr>
        </p:nvSpPr>
        <p:spPr/>
        <p:txBody>
          <a:bodyPr/>
          <a:lstStyle/>
          <a:p>
            <a:r>
              <a:rPr lang="en-US" dirty="0"/>
              <a:t>Here are some of the older oral drug classes used in T2DM. The</a:t>
            </a:r>
            <a:r>
              <a:rPr lang="en-US" baseline="0" dirty="0"/>
              <a:t> table describes the mechanism of action of each class, its advantages, disadvantages and cost. Less commonly used classes are denoted in grey font.</a:t>
            </a:r>
            <a:endParaRPr lang="en-US" dirty="0"/>
          </a:p>
        </p:txBody>
      </p:sp>
      <p:sp>
        <p:nvSpPr>
          <p:cNvPr id="4" name="Slide Number Placeholder 3"/>
          <p:cNvSpPr>
            <a:spLocks noGrp="1"/>
          </p:cNvSpPr>
          <p:nvPr>
            <p:ph type="sldNum" sz="quarter" idx="10"/>
          </p:nvPr>
        </p:nvSpPr>
        <p:spPr>
          <a:xfrm>
            <a:off x="3884613" y="8685213"/>
            <a:ext cx="2971800" cy="457200"/>
          </a:xfrm>
          <a:prstGeom prst="rect">
            <a:avLst/>
          </a:prstGeom>
        </p:spPr>
        <p:txBody>
          <a:bodyPr/>
          <a:lstStyle/>
          <a:p>
            <a:pPr defTabSz="457200" eaLnBrk="1" fontAlgn="auto" hangingPunct="1">
              <a:spcBef>
                <a:spcPts val="0"/>
              </a:spcBef>
              <a:spcAft>
                <a:spcPts val="0"/>
              </a:spcAft>
              <a:defRPr/>
            </a:pPr>
            <a:fld id="{6908E522-90D2-7F42-B56B-7A012DF25694}" type="slidenum">
              <a:rPr lang="en-US" smtClean="0">
                <a:solidFill>
                  <a:prstClr val="black"/>
                </a:solidFill>
                <a:latin typeface="Calibri"/>
              </a:rPr>
              <a:pPr defTabSz="457200" eaLnBrk="1" fontAlgn="auto" hangingPunct="1">
                <a:spcBef>
                  <a:spcPts val="0"/>
                </a:spcBef>
                <a:spcAft>
                  <a:spcPts val="0"/>
                </a:spcAft>
                <a:defRPr/>
              </a:pPr>
              <a:t>18</a:t>
            </a:fld>
            <a:endParaRPr lang="en-US">
              <a:solidFill>
                <a:prstClr val="black"/>
              </a:solidFill>
              <a:latin typeface="Calibri"/>
            </a:endParaRPr>
          </a:p>
        </p:txBody>
      </p:sp>
    </p:spTree>
    <p:extLst>
      <p:ext uri="{BB962C8B-B14F-4D97-AF65-F5344CB8AC3E}">
        <p14:creationId xmlns:p14="http://schemas.microsoft.com/office/powerpoint/2010/main" val="12497743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93700" y="692150"/>
            <a:ext cx="6070600" cy="3416300"/>
          </a:xfrm>
        </p:spPr>
      </p:sp>
      <p:sp>
        <p:nvSpPr>
          <p:cNvPr id="3" name="Notes Placeholder 2"/>
          <p:cNvSpPr>
            <a:spLocks noGrp="1"/>
          </p:cNvSpPr>
          <p:nvPr>
            <p:ph type="body" idx="1"/>
          </p:nvPr>
        </p:nvSpPr>
        <p:spPr/>
        <p:txBody>
          <a:bodyPr/>
          <a:lstStyle/>
          <a:p>
            <a:r>
              <a:rPr lang="en-US" dirty="0"/>
              <a:t>Additional oral agent classes used in T2DM are included on this slide. The</a:t>
            </a:r>
            <a:r>
              <a:rPr lang="en-US" baseline="0" dirty="0"/>
              <a:t> table describes the mechanism of action of each class, its advantages, disadvantages and cost. Less commonly used classes are denoted in grey font.</a:t>
            </a:r>
            <a:endParaRPr lang="en-US" dirty="0"/>
          </a:p>
        </p:txBody>
      </p:sp>
      <p:sp>
        <p:nvSpPr>
          <p:cNvPr id="4" name="Slide Number Placeholder 3"/>
          <p:cNvSpPr>
            <a:spLocks noGrp="1"/>
          </p:cNvSpPr>
          <p:nvPr>
            <p:ph type="sldNum" sz="quarter" idx="10"/>
          </p:nvPr>
        </p:nvSpPr>
        <p:spPr>
          <a:xfrm>
            <a:off x="3884613" y="8685213"/>
            <a:ext cx="2971800" cy="457200"/>
          </a:xfrm>
          <a:prstGeom prst="rect">
            <a:avLst/>
          </a:prstGeom>
        </p:spPr>
        <p:txBody>
          <a:bodyPr/>
          <a:lstStyle/>
          <a:p>
            <a:pPr defTabSz="457200" eaLnBrk="1" fontAlgn="auto" hangingPunct="1">
              <a:spcBef>
                <a:spcPts val="0"/>
              </a:spcBef>
              <a:spcAft>
                <a:spcPts val="0"/>
              </a:spcAft>
              <a:defRPr/>
            </a:pPr>
            <a:fld id="{6908E522-90D2-7F42-B56B-7A012DF25694}" type="slidenum">
              <a:rPr lang="en-US" smtClean="0">
                <a:solidFill>
                  <a:prstClr val="black"/>
                </a:solidFill>
                <a:latin typeface="Calibri"/>
              </a:rPr>
              <a:pPr defTabSz="457200" eaLnBrk="1" fontAlgn="auto" hangingPunct="1">
                <a:spcBef>
                  <a:spcPts val="0"/>
                </a:spcBef>
                <a:spcAft>
                  <a:spcPts val="0"/>
                </a:spcAft>
                <a:defRPr/>
              </a:pPr>
              <a:t>19</a:t>
            </a:fld>
            <a:endParaRPr lang="en-US">
              <a:solidFill>
                <a:prstClr val="black"/>
              </a:solidFill>
              <a:latin typeface="Calibri"/>
            </a:endParaRPr>
          </a:p>
        </p:txBody>
      </p:sp>
    </p:spTree>
    <p:extLst>
      <p:ext uri="{BB962C8B-B14F-4D97-AF65-F5344CB8AC3E}">
        <p14:creationId xmlns:p14="http://schemas.microsoft.com/office/powerpoint/2010/main" val="42849457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93700" y="692150"/>
            <a:ext cx="6070600" cy="3416300"/>
          </a:xfrm>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b="0" dirty="0"/>
              <a:t>Here now are the injectable drugs used in T2DM. The</a:t>
            </a:r>
            <a:r>
              <a:rPr lang="en-US" sz="1600" b="0" baseline="0" dirty="0"/>
              <a:t> table describes the mechanism of action of each class, its advantages, disadvantages and cost. Less commonly used classes are denoted in grey font.</a:t>
            </a:r>
            <a:endParaRPr lang="en-US" sz="1600" b="0" dirty="0"/>
          </a:p>
          <a:p>
            <a:endParaRPr lang="en-US" dirty="0"/>
          </a:p>
        </p:txBody>
      </p:sp>
      <p:sp>
        <p:nvSpPr>
          <p:cNvPr id="4" name="Slide Number Placeholder 3"/>
          <p:cNvSpPr>
            <a:spLocks noGrp="1"/>
          </p:cNvSpPr>
          <p:nvPr>
            <p:ph type="sldNum" sz="quarter" idx="10"/>
          </p:nvPr>
        </p:nvSpPr>
        <p:spPr>
          <a:xfrm>
            <a:off x="3884613" y="8685213"/>
            <a:ext cx="2971800" cy="457200"/>
          </a:xfrm>
          <a:prstGeom prst="rect">
            <a:avLst/>
          </a:prstGeom>
        </p:spPr>
        <p:txBody>
          <a:bodyPr/>
          <a:lstStyle/>
          <a:p>
            <a:pPr defTabSz="457200" eaLnBrk="1" fontAlgn="auto" hangingPunct="1">
              <a:spcBef>
                <a:spcPts val="0"/>
              </a:spcBef>
              <a:spcAft>
                <a:spcPts val="0"/>
              </a:spcAft>
              <a:defRPr/>
            </a:pPr>
            <a:fld id="{6908E522-90D2-7F42-B56B-7A012DF25694}" type="slidenum">
              <a:rPr lang="en-US" smtClean="0">
                <a:solidFill>
                  <a:prstClr val="black"/>
                </a:solidFill>
                <a:latin typeface="Calibri"/>
              </a:rPr>
              <a:pPr defTabSz="457200" eaLnBrk="1" fontAlgn="auto" hangingPunct="1">
                <a:spcBef>
                  <a:spcPts val="0"/>
                </a:spcBef>
                <a:spcAft>
                  <a:spcPts val="0"/>
                </a:spcAft>
                <a:defRPr/>
              </a:pPr>
              <a:t>20</a:t>
            </a:fld>
            <a:endParaRPr lang="en-US">
              <a:solidFill>
                <a:prstClr val="black"/>
              </a:solidFill>
              <a:latin typeface="Calibri"/>
            </a:endParaRPr>
          </a:p>
        </p:txBody>
      </p:sp>
    </p:spTree>
    <p:extLst>
      <p:ext uri="{BB962C8B-B14F-4D97-AF65-F5344CB8AC3E}">
        <p14:creationId xmlns:p14="http://schemas.microsoft.com/office/powerpoint/2010/main" val="799497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11" name="Shape 11"/>
          <p:cNvSpPr>
            <a:spLocks noGrp="1"/>
          </p:cNvSpPr>
          <p:nvPr>
            <p:ph type="title"/>
          </p:nvPr>
        </p:nvSpPr>
        <p:spPr>
          <a:xfrm>
            <a:off x="1524000" y="1122368"/>
            <a:ext cx="9144000" cy="2387601"/>
          </a:xfrm>
          <a:prstGeom prst="rect">
            <a:avLst/>
          </a:prstGeom>
        </p:spPr>
        <p:txBody>
          <a:bodyPr anchor="b"/>
          <a:lstStyle>
            <a:lvl1pPr>
              <a:defRPr sz="4800"/>
            </a:lvl1pPr>
          </a:lstStyle>
          <a:p>
            <a:r>
              <a:t>Title Text</a:t>
            </a:r>
          </a:p>
        </p:txBody>
      </p:sp>
      <p:sp>
        <p:nvSpPr>
          <p:cNvPr id="12" name="Shape 12"/>
          <p:cNvSpPr>
            <a:spLocks noGrp="1"/>
          </p:cNvSpPr>
          <p:nvPr>
            <p:ph type="body" sz="quarter" idx="1"/>
          </p:nvPr>
        </p:nvSpPr>
        <p:spPr>
          <a:xfrm>
            <a:off x="1524000" y="4138245"/>
            <a:ext cx="9144000" cy="1131278"/>
          </a:xfrm>
          <a:prstGeom prst="rect">
            <a:avLst/>
          </a:prstGeom>
        </p:spPr>
        <p:txBody>
          <a:bodyPr/>
          <a:lstStyle>
            <a:lvl1pPr marL="0" indent="0" algn="ctr">
              <a:buSzTx/>
              <a:buFontTx/>
              <a:buNone/>
              <a:defRPr sz="2400">
                <a:solidFill>
                  <a:srgbClr val="808080"/>
                </a:solidFill>
              </a:defRPr>
            </a:lvl1pPr>
            <a:lvl2pPr marL="0" indent="457200" algn="ctr">
              <a:buSzTx/>
              <a:buFontTx/>
              <a:buNone/>
              <a:defRPr sz="2400">
                <a:solidFill>
                  <a:srgbClr val="808080"/>
                </a:solidFill>
              </a:defRPr>
            </a:lvl2pPr>
            <a:lvl3pPr marL="0" indent="914400" algn="ctr">
              <a:buSzTx/>
              <a:buFontTx/>
              <a:buNone/>
              <a:defRPr sz="2400">
                <a:solidFill>
                  <a:srgbClr val="808080"/>
                </a:solidFill>
              </a:defRPr>
            </a:lvl3pPr>
            <a:lvl4pPr marL="0" indent="1371600" algn="ctr">
              <a:buSzTx/>
              <a:buFontTx/>
              <a:buNone/>
              <a:defRPr sz="2400">
                <a:solidFill>
                  <a:srgbClr val="808080"/>
                </a:solidFill>
              </a:defRPr>
            </a:lvl4pPr>
            <a:lvl5pPr marL="0" indent="1828800" algn="ctr">
              <a:buSzTx/>
              <a:buFontTx/>
              <a:buNone/>
              <a:defRPr sz="2400">
                <a:solidFill>
                  <a:srgbClr val="808080"/>
                </a:solidFill>
              </a:defRPr>
            </a:lvl5pPr>
          </a:lstStyle>
          <a:p>
            <a:r>
              <a:t>Body Level One</a:t>
            </a:r>
          </a:p>
          <a:p>
            <a:pPr lvl="1"/>
            <a:r>
              <a:t>Body Level Two</a:t>
            </a:r>
          </a:p>
          <a:p>
            <a:pPr lvl="2"/>
            <a:r>
              <a:t>Body Level Three</a:t>
            </a:r>
          </a:p>
          <a:p>
            <a:pPr lvl="3"/>
            <a:r>
              <a:t>Body Level Four</a:t>
            </a:r>
          </a:p>
          <a:p>
            <a:pPr lvl="4"/>
            <a:r>
              <a:t>Body Level Five</a:t>
            </a:r>
          </a:p>
        </p:txBody>
      </p:sp>
      <p:sp>
        <p:nvSpPr>
          <p:cNvPr id="13" name="Shape 13"/>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20" name="Shape 20"/>
          <p:cNvSpPr>
            <a:spLocks noGrp="1"/>
          </p:cNvSpPr>
          <p:nvPr>
            <p:ph type="title"/>
          </p:nvPr>
        </p:nvSpPr>
        <p:spPr>
          <a:prstGeom prst="rect">
            <a:avLst/>
          </a:prstGeom>
        </p:spPr>
        <p:txBody>
          <a:bodyPr/>
          <a:lstStyle/>
          <a:p>
            <a:r>
              <a:t>Title Text</a:t>
            </a:r>
          </a:p>
        </p:txBody>
      </p:sp>
      <p:sp>
        <p:nvSpPr>
          <p:cNvPr id="21" name="Shape 21"/>
          <p:cNvSpPr>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2" name="Shape 22"/>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32"/>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16134412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826105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7"/>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8942997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9144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802669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72"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72"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31525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2495600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0532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3" y="273050"/>
            <a:ext cx="4011084"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7"/>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3"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5896252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3956843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33369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6800" y="457200"/>
            <a:ext cx="2590800" cy="5638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914400" y="457200"/>
            <a:ext cx="75692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443478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914400" y="457200"/>
            <a:ext cx="10363200" cy="1143000"/>
          </a:xfrm>
        </p:spPr>
        <p:txBody>
          <a:bodyPr/>
          <a:lstStyle/>
          <a:p>
            <a:r>
              <a:rPr lang="en-US"/>
              <a:t>Click to edit Master title style</a:t>
            </a:r>
          </a:p>
        </p:txBody>
      </p:sp>
      <p:sp>
        <p:nvSpPr>
          <p:cNvPr id="3" name="Table Placeholder 2"/>
          <p:cNvSpPr>
            <a:spLocks noGrp="1"/>
          </p:cNvSpPr>
          <p:nvPr>
            <p:ph type="tbl" idx="1"/>
          </p:nvPr>
        </p:nvSpPr>
        <p:spPr>
          <a:xfrm>
            <a:off x="914400" y="1981200"/>
            <a:ext cx="10363200" cy="4114800"/>
          </a:xfrm>
        </p:spPr>
        <p:txBody>
          <a:bodyPr/>
          <a:lstStyle/>
          <a:p>
            <a:pPr lvl="0"/>
            <a:endParaRPr lang="en-US" noProof="0"/>
          </a:p>
        </p:txBody>
      </p:sp>
    </p:spTree>
    <p:extLst>
      <p:ext uri="{BB962C8B-B14F-4D97-AF65-F5344CB8AC3E}">
        <p14:creationId xmlns:p14="http://schemas.microsoft.com/office/powerpoint/2010/main" val="22326465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chart" preserve="1">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914400" y="457200"/>
            <a:ext cx="10363200" cy="1143000"/>
          </a:xfrm>
        </p:spPr>
        <p:txBody>
          <a:bodyPr/>
          <a:lstStyle/>
          <a:p>
            <a:r>
              <a:rPr lang="en-US"/>
              <a:t>Click to edit Master title style</a:t>
            </a:r>
          </a:p>
        </p:txBody>
      </p:sp>
      <p:sp>
        <p:nvSpPr>
          <p:cNvPr id="3" name="Chart Placeholder 2"/>
          <p:cNvSpPr>
            <a:spLocks noGrp="1"/>
          </p:cNvSpPr>
          <p:nvPr>
            <p:ph type="chart" idx="1"/>
          </p:nvPr>
        </p:nvSpPr>
        <p:spPr>
          <a:xfrm>
            <a:off x="914400" y="1981200"/>
            <a:ext cx="10363200" cy="4114800"/>
          </a:xfrm>
        </p:spPr>
        <p:txBody>
          <a:bodyPr/>
          <a:lstStyle/>
          <a:p>
            <a:pPr lvl="0"/>
            <a:endParaRPr lang="en-US" noProof="0"/>
          </a:p>
        </p:txBody>
      </p:sp>
    </p:spTree>
    <p:extLst>
      <p:ext uri="{BB962C8B-B14F-4D97-AF65-F5344CB8AC3E}">
        <p14:creationId xmlns:p14="http://schemas.microsoft.com/office/powerpoint/2010/main" val="21649233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504"/>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E94D3F5D-19EC-1D46-977C-878996F52F52}" type="datetimeFigureOut">
              <a:rPr lang="en-US" smtClean="0">
                <a:solidFill>
                  <a:prstClr val="black">
                    <a:tint val="75000"/>
                  </a:prstClr>
                </a:solidFill>
              </a:rPr>
              <a:pPr/>
              <a:t>5/31/2025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84741F4-67CF-3D4B-9BDF-82584D5FF24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637908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94D3F5D-19EC-1D46-977C-878996F52F52}" type="datetimeFigureOut">
              <a:rPr lang="en-US" smtClean="0">
                <a:solidFill>
                  <a:prstClr val="black">
                    <a:tint val="75000"/>
                  </a:prstClr>
                </a:solidFill>
              </a:rPr>
              <a:pPr/>
              <a:t>5/31/2025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84741F4-67CF-3D4B-9BDF-82584D5FF24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25602316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79"/>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94D3F5D-19EC-1D46-977C-878996F52F52}" type="datetimeFigureOut">
              <a:rPr lang="en-US" smtClean="0">
                <a:solidFill>
                  <a:prstClr val="black">
                    <a:tint val="75000"/>
                  </a:prstClr>
                </a:solidFill>
              </a:rPr>
              <a:pPr/>
              <a:t>5/31/2025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84741F4-67CF-3D4B-9BDF-82584D5FF24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5341289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6"/>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6"/>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94D3F5D-19EC-1D46-977C-878996F52F52}" type="datetimeFigureOut">
              <a:rPr lang="en-US" smtClean="0">
                <a:solidFill>
                  <a:prstClr val="black">
                    <a:tint val="75000"/>
                  </a:prstClr>
                </a:solidFill>
              </a:rPr>
              <a:pPr/>
              <a:t>5/31/2025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84741F4-67CF-3D4B-9BDF-82584D5FF24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75009692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76"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76"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94D3F5D-19EC-1D46-977C-878996F52F52}" type="datetimeFigureOut">
              <a:rPr lang="en-US" smtClean="0">
                <a:solidFill>
                  <a:prstClr val="black">
                    <a:tint val="75000"/>
                  </a:prstClr>
                </a:solidFill>
              </a:rPr>
              <a:pPr/>
              <a:t>5/31/2025</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F84741F4-67CF-3D4B-9BDF-82584D5FF24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89440718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94D3F5D-19EC-1D46-977C-878996F52F52}" type="datetimeFigureOut">
              <a:rPr lang="en-US" smtClean="0">
                <a:solidFill>
                  <a:prstClr val="black">
                    <a:tint val="75000"/>
                  </a:prstClr>
                </a:solidFill>
              </a:rPr>
              <a:pPr/>
              <a:t>5/31/2025</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F84741F4-67CF-3D4B-9BDF-82584D5FF24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76128280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94D3F5D-19EC-1D46-977C-878996F52F52}" type="datetimeFigureOut">
              <a:rPr lang="en-US" smtClean="0">
                <a:solidFill>
                  <a:prstClr val="black">
                    <a:tint val="75000"/>
                  </a:prstClr>
                </a:solidFill>
              </a:rPr>
              <a:pPr/>
              <a:t>5/31/2025</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F84741F4-67CF-3D4B-9BDF-82584D5FF24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52898274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3"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7" y="273129"/>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3"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94D3F5D-19EC-1D46-977C-878996F52F52}" type="datetimeFigureOut">
              <a:rPr lang="en-US" smtClean="0">
                <a:solidFill>
                  <a:prstClr val="black">
                    <a:tint val="75000"/>
                  </a:prstClr>
                </a:solidFill>
              </a:rPr>
              <a:pPr/>
              <a:t>5/31/2025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84741F4-67CF-3D4B-9BDF-82584D5FF24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80576085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94D3F5D-19EC-1D46-977C-878996F52F52}" type="datetimeFigureOut">
              <a:rPr lang="en-US" smtClean="0">
                <a:solidFill>
                  <a:prstClr val="black">
                    <a:tint val="75000"/>
                  </a:prstClr>
                </a:solidFill>
              </a:rPr>
              <a:pPr/>
              <a:t>5/31/2025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84741F4-67CF-3D4B-9BDF-82584D5FF24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61800672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94D3F5D-19EC-1D46-977C-878996F52F52}" type="datetimeFigureOut">
              <a:rPr lang="en-US" smtClean="0">
                <a:solidFill>
                  <a:prstClr val="black">
                    <a:tint val="75000"/>
                  </a:prstClr>
                </a:solidFill>
              </a:rPr>
              <a:pPr/>
              <a:t>5/31/2025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84741F4-67CF-3D4B-9BDF-82584D5FF24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598515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717"/>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717"/>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94D3F5D-19EC-1D46-977C-878996F52F52}" type="datetimeFigureOut">
              <a:rPr lang="en-US" smtClean="0">
                <a:solidFill>
                  <a:prstClr val="black">
                    <a:tint val="75000"/>
                  </a:prstClr>
                </a:solidFill>
              </a:rPr>
              <a:pPr/>
              <a:t>5/31/2025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84741F4-67CF-3D4B-9BDF-82584D5FF24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71175251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500"/>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E94D3F5D-19EC-1D46-977C-878996F52F52}" type="datetimeFigureOut">
              <a:rPr lang="en-US" smtClean="0"/>
              <a:pPr/>
              <a:t>5/31/2025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4741F4-67CF-3D4B-9BDF-82584D5FF240}" type="slidenum">
              <a:rPr lang="en-US" smtClean="0"/>
              <a:pPr/>
              <a:t>‹#›</a:t>
            </a:fld>
            <a:endParaRPr lang="en-US"/>
          </a:p>
        </p:txBody>
      </p:sp>
    </p:spTree>
    <p:extLst>
      <p:ext uri="{BB962C8B-B14F-4D97-AF65-F5344CB8AC3E}">
        <p14:creationId xmlns:p14="http://schemas.microsoft.com/office/powerpoint/2010/main" val="159275218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slideLayout" Target="../slideLayouts/slideLayout15.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theme" Target="../theme/theme3.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a:spLocks noGrp="1"/>
          </p:cNvSpPr>
          <p:nvPr>
            <p:ph type="title"/>
          </p:nvPr>
        </p:nvSpPr>
        <p:spPr>
          <a:xfrm>
            <a:off x="838200" y="365129"/>
            <a:ext cx="10515600" cy="1325563"/>
          </a:xfrm>
          <a:prstGeom prst="rect">
            <a:avLst/>
          </a:prstGeom>
          <a:ln w="12700">
            <a:miter lim="400000"/>
          </a:ln>
          <a:extLst>
            <a:ext uri="{C572A759-6A51-4108-AA02-DFA0A04FC94B}">
              <ma14:wrappingTextBoxFlag xmlns:ma14="http://schemas.microsoft.com/office/mac/drawingml/2011/main" xmlns="" val="1"/>
            </a:ext>
          </a:extLst>
        </p:spPr>
        <p:txBody>
          <a:bodyPr lIns="45719" rIns="45719" anchor="ctr">
            <a:normAutofit/>
          </a:bodyPr>
          <a:lstStyle/>
          <a:p>
            <a:r>
              <a:t>Title Text</a:t>
            </a:r>
          </a:p>
        </p:txBody>
      </p:sp>
      <p:sp>
        <p:nvSpPr>
          <p:cNvPr id="3" name="Shape 3"/>
          <p:cNvSpPr>
            <a:spLocks noGrp="1"/>
          </p:cNvSpPr>
          <p:nvPr>
            <p:ph type="body" idx="1"/>
          </p:nvPr>
        </p:nvSpPr>
        <p:spPr>
          <a:xfrm>
            <a:off x="838200" y="1825625"/>
            <a:ext cx="10515600" cy="4351338"/>
          </a:xfrm>
          <a:prstGeom prst="rect">
            <a:avLst/>
          </a:prstGeom>
          <a:ln w="12700">
            <a:miter lim="400000"/>
          </a:ln>
          <a:extLst>
            <a:ext uri="{C572A759-6A51-4108-AA02-DFA0A04FC94B}">
              <ma14:wrappingTextBoxFlag xmlns:ma14="http://schemas.microsoft.com/office/mac/drawingml/2011/main" xmlns=""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4" name="Shape 4"/>
          <p:cNvSpPr>
            <a:spLocks noGrp="1"/>
          </p:cNvSpPr>
          <p:nvPr>
            <p:ph type="sldNum" sz="quarter" idx="2"/>
          </p:nvPr>
        </p:nvSpPr>
        <p:spPr>
          <a:xfrm>
            <a:off x="11073923" y="6400419"/>
            <a:ext cx="279882" cy="276999"/>
          </a:xfrm>
          <a:prstGeom prst="rect">
            <a:avLst/>
          </a:prstGeom>
          <a:ln w="12700">
            <a:miter lim="400000"/>
          </a:ln>
        </p:spPr>
        <p:txBody>
          <a:bodyPr wrap="none" lIns="45719" rIns="45719" anchor="ctr">
            <a:spAutoFit/>
          </a:bodyPr>
          <a:lstStyle>
            <a:lvl1pPr algn="r">
              <a:defRPr sz="1200">
                <a:solidFill>
                  <a:srgbClr val="888888"/>
                </a:solidFill>
                <a:latin typeface="Arial"/>
                <a:ea typeface="Arial"/>
                <a:cs typeface="Arial"/>
                <a:sym typeface="Aria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ransition spd="med"/>
  <p:txStyles>
    <p:titleStyle>
      <a:lvl1pPr marL="0" marR="0" indent="0" algn="ctr" defTabSz="914400" rtl="0" latinLnBrk="0">
        <a:lnSpc>
          <a:spcPct val="90000"/>
        </a:lnSpc>
        <a:spcBef>
          <a:spcPts val="0"/>
        </a:spcBef>
        <a:spcAft>
          <a:spcPts val="0"/>
        </a:spcAft>
        <a:buClrTx/>
        <a:buSzTx/>
        <a:buFontTx/>
        <a:buNone/>
        <a:tabLst/>
        <a:defRPr sz="4000" b="0" i="0" u="none" strike="noStrike" cap="none" spc="0" baseline="0">
          <a:ln>
            <a:noFill/>
          </a:ln>
          <a:solidFill>
            <a:srgbClr val="000000"/>
          </a:solidFill>
          <a:uFillTx/>
          <a:latin typeface="Arial"/>
          <a:ea typeface="Arial"/>
          <a:cs typeface="Arial"/>
          <a:sym typeface="Arial"/>
        </a:defRPr>
      </a:lvl1pPr>
      <a:lvl2pPr marL="0" marR="0" indent="0" algn="ctr" defTabSz="914400" rtl="0" latinLnBrk="0">
        <a:lnSpc>
          <a:spcPct val="90000"/>
        </a:lnSpc>
        <a:spcBef>
          <a:spcPts val="0"/>
        </a:spcBef>
        <a:spcAft>
          <a:spcPts val="0"/>
        </a:spcAft>
        <a:buClrTx/>
        <a:buSzTx/>
        <a:buFontTx/>
        <a:buNone/>
        <a:tabLst/>
        <a:defRPr sz="4000" b="0" i="0" u="none" strike="noStrike" cap="none" spc="0" baseline="0">
          <a:ln>
            <a:noFill/>
          </a:ln>
          <a:solidFill>
            <a:srgbClr val="000000"/>
          </a:solidFill>
          <a:uFillTx/>
          <a:latin typeface="Arial"/>
          <a:ea typeface="Arial"/>
          <a:cs typeface="Arial"/>
          <a:sym typeface="Arial"/>
        </a:defRPr>
      </a:lvl2pPr>
      <a:lvl3pPr marL="0" marR="0" indent="0" algn="ctr" defTabSz="914400" rtl="0" latinLnBrk="0">
        <a:lnSpc>
          <a:spcPct val="90000"/>
        </a:lnSpc>
        <a:spcBef>
          <a:spcPts val="0"/>
        </a:spcBef>
        <a:spcAft>
          <a:spcPts val="0"/>
        </a:spcAft>
        <a:buClrTx/>
        <a:buSzTx/>
        <a:buFontTx/>
        <a:buNone/>
        <a:tabLst/>
        <a:defRPr sz="4000" b="0" i="0" u="none" strike="noStrike" cap="none" spc="0" baseline="0">
          <a:ln>
            <a:noFill/>
          </a:ln>
          <a:solidFill>
            <a:srgbClr val="000000"/>
          </a:solidFill>
          <a:uFillTx/>
          <a:latin typeface="Arial"/>
          <a:ea typeface="Arial"/>
          <a:cs typeface="Arial"/>
          <a:sym typeface="Arial"/>
        </a:defRPr>
      </a:lvl3pPr>
      <a:lvl4pPr marL="0" marR="0" indent="0" algn="ctr" defTabSz="914400" rtl="0" latinLnBrk="0">
        <a:lnSpc>
          <a:spcPct val="90000"/>
        </a:lnSpc>
        <a:spcBef>
          <a:spcPts val="0"/>
        </a:spcBef>
        <a:spcAft>
          <a:spcPts val="0"/>
        </a:spcAft>
        <a:buClrTx/>
        <a:buSzTx/>
        <a:buFontTx/>
        <a:buNone/>
        <a:tabLst/>
        <a:defRPr sz="4000" b="0" i="0" u="none" strike="noStrike" cap="none" spc="0" baseline="0">
          <a:ln>
            <a:noFill/>
          </a:ln>
          <a:solidFill>
            <a:srgbClr val="000000"/>
          </a:solidFill>
          <a:uFillTx/>
          <a:latin typeface="Arial"/>
          <a:ea typeface="Arial"/>
          <a:cs typeface="Arial"/>
          <a:sym typeface="Arial"/>
        </a:defRPr>
      </a:lvl4pPr>
      <a:lvl5pPr marL="0" marR="0" indent="0" algn="ctr" defTabSz="914400" rtl="0" latinLnBrk="0">
        <a:lnSpc>
          <a:spcPct val="90000"/>
        </a:lnSpc>
        <a:spcBef>
          <a:spcPts val="0"/>
        </a:spcBef>
        <a:spcAft>
          <a:spcPts val="0"/>
        </a:spcAft>
        <a:buClrTx/>
        <a:buSzTx/>
        <a:buFontTx/>
        <a:buNone/>
        <a:tabLst/>
        <a:defRPr sz="4000" b="0" i="0" u="none" strike="noStrike" cap="none" spc="0" baseline="0">
          <a:ln>
            <a:noFill/>
          </a:ln>
          <a:solidFill>
            <a:srgbClr val="000000"/>
          </a:solidFill>
          <a:uFillTx/>
          <a:latin typeface="Arial"/>
          <a:ea typeface="Arial"/>
          <a:cs typeface="Arial"/>
          <a:sym typeface="Arial"/>
        </a:defRPr>
      </a:lvl5pPr>
      <a:lvl6pPr marL="0" marR="0" indent="0" algn="ctr" defTabSz="914400" rtl="0" latinLnBrk="0">
        <a:lnSpc>
          <a:spcPct val="90000"/>
        </a:lnSpc>
        <a:spcBef>
          <a:spcPts val="0"/>
        </a:spcBef>
        <a:spcAft>
          <a:spcPts val="0"/>
        </a:spcAft>
        <a:buClrTx/>
        <a:buSzTx/>
        <a:buFontTx/>
        <a:buNone/>
        <a:tabLst/>
        <a:defRPr sz="4000" b="0" i="0" u="none" strike="noStrike" cap="none" spc="0" baseline="0">
          <a:ln>
            <a:noFill/>
          </a:ln>
          <a:solidFill>
            <a:srgbClr val="000000"/>
          </a:solidFill>
          <a:uFillTx/>
          <a:latin typeface="Arial"/>
          <a:ea typeface="Arial"/>
          <a:cs typeface="Arial"/>
          <a:sym typeface="Arial"/>
        </a:defRPr>
      </a:lvl6pPr>
      <a:lvl7pPr marL="0" marR="0" indent="0" algn="ctr" defTabSz="914400" rtl="0" latinLnBrk="0">
        <a:lnSpc>
          <a:spcPct val="90000"/>
        </a:lnSpc>
        <a:spcBef>
          <a:spcPts val="0"/>
        </a:spcBef>
        <a:spcAft>
          <a:spcPts val="0"/>
        </a:spcAft>
        <a:buClrTx/>
        <a:buSzTx/>
        <a:buFontTx/>
        <a:buNone/>
        <a:tabLst/>
        <a:defRPr sz="4000" b="0" i="0" u="none" strike="noStrike" cap="none" spc="0" baseline="0">
          <a:ln>
            <a:noFill/>
          </a:ln>
          <a:solidFill>
            <a:srgbClr val="000000"/>
          </a:solidFill>
          <a:uFillTx/>
          <a:latin typeface="Arial"/>
          <a:ea typeface="Arial"/>
          <a:cs typeface="Arial"/>
          <a:sym typeface="Arial"/>
        </a:defRPr>
      </a:lvl7pPr>
      <a:lvl8pPr marL="0" marR="0" indent="0" algn="ctr" defTabSz="914400" rtl="0" latinLnBrk="0">
        <a:lnSpc>
          <a:spcPct val="90000"/>
        </a:lnSpc>
        <a:spcBef>
          <a:spcPts val="0"/>
        </a:spcBef>
        <a:spcAft>
          <a:spcPts val="0"/>
        </a:spcAft>
        <a:buClrTx/>
        <a:buSzTx/>
        <a:buFontTx/>
        <a:buNone/>
        <a:tabLst/>
        <a:defRPr sz="4000" b="0" i="0" u="none" strike="noStrike" cap="none" spc="0" baseline="0">
          <a:ln>
            <a:noFill/>
          </a:ln>
          <a:solidFill>
            <a:srgbClr val="000000"/>
          </a:solidFill>
          <a:uFillTx/>
          <a:latin typeface="Arial"/>
          <a:ea typeface="Arial"/>
          <a:cs typeface="Arial"/>
          <a:sym typeface="Arial"/>
        </a:defRPr>
      </a:lvl8pPr>
      <a:lvl9pPr marL="0" marR="0" indent="0" algn="ctr" defTabSz="914400" rtl="0" latinLnBrk="0">
        <a:lnSpc>
          <a:spcPct val="90000"/>
        </a:lnSpc>
        <a:spcBef>
          <a:spcPts val="0"/>
        </a:spcBef>
        <a:spcAft>
          <a:spcPts val="0"/>
        </a:spcAft>
        <a:buClrTx/>
        <a:buSzTx/>
        <a:buFontTx/>
        <a:buNone/>
        <a:tabLst/>
        <a:defRPr sz="4000" b="0" i="0" u="none" strike="noStrike" cap="none" spc="0" baseline="0">
          <a:ln>
            <a:noFill/>
          </a:ln>
          <a:solidFill>
            <a:srgbClr val="000000"/>
          </a:solidFill>
          <a:uFillTx/>
          <a:latin typeface="Arial"/>
          <a:ea typeface="Arial"/>
          <a:cs typeface="Arial"/>
          <a:sym typeface="Arial"/>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ln>
            <a:noFill/>
          </a:ln>
          <a:solidFill>
            <a:srgbClr val="000000"/>
          </a:solidFill>
          <a:uFillTx/>
          <a:latin typeface="Arial"/>
          <a:ea typeface="Arial"/>
          <a:cs typeface="Arial"/>
          <a:sym typeface="Arial"/>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ln>
            <a:noFill/>
          </a:ln>
          <a:solidFill>
            <a:srgbClr val="000000"/>
          </a:solidFill>
          <a:uFillTx/>
          <a:latin typeface="Arial"/>
          <a:ea typeface="Arial"/>
          <a:cs typeface="Arial"/>
          <a:sym typeface="Arial"/>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ln>
            <a:noFill/>
          </a:ln>
          <a:solidFill>
            <a:srgbClr val="000000"/>
          </a:solidFill>
          <a:uFillTx/>
          <a:latin typeface="Arial"/>
          <a:ea typeface="Arial"/>
          <a:cs typeface="Arial"/>
          <a:sym typeface="Arial"/>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ln>
            <a:noFill/>
          </a:ln>
          <a:solidFill>
            <a:srgbClr val="000000"/>
          </a:solidFill>
          <a:uFillTx/>
          <a:latin typeface="Arial"/>
          <a:ea typeface="Arial"/>
          <a:cs typeface="Arial"/>
          <a:sym typeface="Arial"/>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ln>
            <a:noFill/>
          </a:ln>
          <a:solidFill>
            <a:srgbClr val="000000"/>
          </a:solidFill>
          <a:uFillTx/>
          <a:latin typeface="Arial"/>
          <a:ea typeface="Arial"/>
          <a:cs typeface="Arial"/>
          <a:sym typeface="Arial"/>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ln>
            <a:noFill/>
          </a:ln>
          <a:solidFill>
            <a:srgbClr val="000000"/>
          </a:solidFill>
          <a:uFillTx/>
          <a:latin typeface="Arial"/>
          <a:ea typeface="Arial"/>
          <a:cs typeface="Arial"/>
          <a:sym typeface="Arial"/>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ln>
            <a:noFill/>
          </a:ln>
          <a:solidFill>
            <a:srgbClr val="000000"/>
          </a:solidFill>
          <a:uFillTx/>
          <a:latin typeface="Arial"/>
          <a:ea typeface="Arial"/>
          <a:cs typeface="Arial"/>
          <a:sym typeface="Arial"/>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ln>
            <a:noFill/>
          </a:ln>
          <a:solidFill>
            <a:srgbClr val="000000"/>
          </a:solidFill>
          <a:uFillTx/>
          <a:latin typeface="Arial"/>
          <a:ea typeface="Arial"/>
          <a:cs typeface="Arial"/>
          <a:sym typeface="Arial"/>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ln>
            <a:noFill/>
          </a:ln>
          <a:solidFill>
            <a:srgbClr val="000000"/>
          </a:solidFill>
          <a:uFillTx/>
          <a:latin typeface="Arial"/>
          <a:ea typeface="Arial"/>
          <a:cs typeface="Arial"/>
          <a:sym typeface="Arial"/>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Arial"/>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Arial"/>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Arial"/>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Arial"/>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Arial"/>
        </a:defRPr>
      </a:lvl5pPr>
      <a:lvl6pPr marL="0" marR="0" indent="228600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Arial"/>
        </a:defRPr>
      </a:lvl6pPr>
      <a:lvl7pPr marL="0" marR="0" indent="274320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Arial"/>
        </a:defRPr>
      </a:lvl7pPr>
      <a:lvl8pPr marL="0" marR="0" indent="320040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Arial"/>
        </a:defRPr>
      </a:lvl8pPr>
      <a:lvl9pPr marL="0" marR="0" indent="365760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14400" y="457200"/>
            <a:ext cx="103632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b"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914400" y="1981200"/>
            <a:ext cx="10363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85016502"/>
      </p:ext>
    </p:extLst>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 id="2147483664" r:id="rId11"/>
    <p:sldLayoutId id="2147483665" r:id="rId12"/>
    <p:sldLayoutId id="2147483666" r:id="rId13"/>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imes New Roman" pitchFamily="18" charset="0"/>
        </a:defRPr>
      </a:lvl2pPr>
      <a:lvl3pPr algn="l" rtl="0" eaLnBrk="0" fontAlgn="base" hangingPunct="0">
        <a:spcBef>
          <a:spcPct val="0"/>
        </a:spcBef>
        <a:spcAft>
          <a:spcPct val="0"/>
        </a:spcAft>
        <a:defRPr sz="4400">
          <a:solidFill>
            <a:schemeClr val="tx2"/>
          </a:solidFill>
          <a:latin typeface="Times New Roman" pitchFamily="18" charset="0"/>
        </a:defRPr>
      </a:lvl3pPr>
      <a:lvl4pPr algn="l" rtl="0" eaLnBrk="0" fontAlgn="base" hangingPunct="0">
        <a:spcBef>
          <a:spcPct val="0"/>
        </a:spcBef>
        <a:spcAft>
          <a:spcPct val="0"/>
        </a:spcAft>
        <a:defRPr sz="4400">
          <a:solidFill>
            <a:schemeClr val="tx2"/>
          </a:solidFill>
          <a:latin typeface="Times New Roman" pitchFamily="18" charset="0"/>
        </a:defRPr>
      </a:lvl4pPr>
      <a:lvl5pPr algn="l" rtl="0" eaLnBrk="0" fontAlgn="base" hangingPunct="0">
        <a:spcBef>
          <a:spcPct val="0"/>
        </a:spcBef>
        <a:spcAft>
          <a:spcPct val="0"/>
        </a:spcAft>
        <a:defRPr sz="4400">
          <a:solidFill>
            <a:schemeClr val="tx2"/>
          </a:solidFill>
          <a:latin typeface="Times New Roman" pitchFamily="18" charset="0"/>
        </a:defRPr>
      </a:lvl5pPr>
      <a:lvl6pPr marL="457200" algn="l" rtl="0" eaLnBrk="0" fontAlgn="base" hangingPunct="0">
        <a:spcBef>
          <a:spcPct val="0"/>
        </a:spcBef>
        <a:spcAft>
          <a:spcPct val="0"/>
        </a:spcAft>
        <a:defRPr sz="4400">
          <a:solidFill>
            <a:schemeClr val="tx2"/>
          </a:solidFill>
          <a:latin typeface="Times New Roman" pitchFamily="18" charset="0"/>
        </a:defRPr>
      </a:lvl6pPr>
      <a:lvl7pPr marL="914400" algn="l" rtl="0" eaLnBrk="0" fontAlgn="base" hangingPunct="0">
        <a:spcBef>
          <a:spcPct val="0"/>
        </a:spcBef>
        <a:spcAft>
          <a:spcPct val="0"/>
        </a:spcAft>
        <a:defRPr sz="4400">
          <a:solidFill>
            <a:schemeClr val="tx2"/>
          </a:solidFill>
          <a:latin typeface="Times New Roman" pitchFamily="18" charset="0"/>
        </a:defRPr>
      </a:lvl7pPr>
      <a:lvl8pPr marL="1371600" algn="l" rtl="0" eaLnBrk="0" fontAlgn="base" hangingPunct="0">
        <a:spcBef>
          <a:spcPct val="0"/>
        </a:spcBef>
        <a:spcAft>
          <a:spcPct val="0"/>
        </a:spcAft>
        <a:defRPr sz="4400">
          <a:solidFill>
            <a:schemeClr val="tx2"/>
          </a:solidFill>
          <a:latin typeface="Times New Roman" pitchFamily="18" charset="0"/>
        </a:defRPr>
      </a:lvl8pPr>
      <a:lvl9pPr marL="1828800" algn="l" rtl="0" eaLnBrk="0" fontAlgn="base" hangingPunct="0">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lr>
          <a:schemeClr val="bg2"/>
        </a:buClr>
        <a:buSzPct val="100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defRPr>
      </a:lvl2pPr>
      <a:lvl3pPr marL="1143000" indent="-228600" algn="l" rtl="0" eaLnBrk="0" fontAlgn="base" hangingPunct="0">
        <a:spcBef>
          <a:spcPct val="20000"/>
        </a:spcBef>
        <a:spcAft>
          <a:spcPct val="0"/>
        </a:spcAft>
        <a:buSzPct val="100000"/>
        <a:buChar char="•"/>
        <a:defRPr sz="2400">
          <a:solidFill>
            <a:schemeClr val="tx1"/>
          </a:solidFill>
          <a:latin typeface="+mn-lt"/>
        </a:defRPr>
      </a:lvl3pPr>
      <a:lvl4pPr marL="1600200" indent="-228600" algn="l" rtl="0" eaLnBrk="0" fontAlgn="base" hangingPunct="0">
        <a:spcBef>
          <a:spcPct val="20000"/>
        </a:spcBef>
        <a:spcAft>
          <a:spcPct val="0"/>
        </a:spcAft>
        <a:buSzPct val="100000"/>
        <a:buChar char="–"/>
        <a:defRPr sz="2000">
          <a:solidFill>
            <a:schemeClr val="tx1"/>
          </a:solidFill>
          <a:latin typeface="+mn-lt"/>
        </a:defRPr>
      </a:lvl4pPr>
      <a:lvl5pPr marL="2057400" indent="-228600" algn="l" rtl="0" eaLnBrk="0" fontAlgn="base" hangingPunct="0">
        <a:spcBef>
          <a:spcPct val="20000"/>
        </a:spcBef>
        <a:spcAft>
          <a:spcPct val="0"/>
        </a:spcAft>
        <a:buSzPct val="100000"/>
        <a:buChar char="»"/>
        <a:defRPr sz="2000">
          <a:solidFill>
            <a:schemeClr val="tx1"/>
          </a:solidFill>
          <a:latin typeface="+mn-lt"/>
        </a:defRPr>
      </a:lvl5pPr>
      <a:lvl6pPr marL="2514600" indent="-228600" algn="l" rtl="0" eaLnBrk="0" fontAlgn="base" hangingPunct="0">
        <a:spcBef>
          <a:spcPct val="20000"/>
        </a:spcBef>
        <a:spcAft>
          <a:spcPct val="0"/>
        </a:spcAft>
        <a:buSzPct val="100000"/>
        <a:buChar char="»"/>
        <a:defRPr sz="2000">
          <a:solidFill>
            <a:schemeClr val="tx1"/>
          </a:solidFill>
          <a:latin typeface="+mn-lt"/>
        </a:defRPr>
      </a:lvl6pPr>
      <a:lvl7pPr marL="2971800" indent="-228600" algn="l" rtl="0" eaLnBrk="0" fontAlgn="base" hangingPunct="0">
        <a:spcBef>
          <a:spcPct val="20000"/>
        </a:spcBef>
        <a:spcAft>
          <a:spcPct val="0"/>
        </a:spcAft>
        <a:buSzPct val="100000"/>
        <a:buChar char="»"/>
        <a:defRPr sz="2000">
          <a:solidFill>
            <a:schemeClr val="tx1"/>
          </a:solidFill>
          <a:latin typeface="+mn-lt"/>
        </a:defRPr>
      </a:lvl7pPr>
      <a:lvl8pPr marL="3429000" indent="-228600" algn="l" rtl="0" eaLnBrk="0" fontAlgn="base" hangingPunct="0">
        <a:spcBef>
          <a:spcPct val="20000"/>
        </a:spcBef>
        <a:spcAft>
          <a:spcPct val="0"/>
        </a:spcAft>
        <a:buSzPct val="100000"/>
        <a:buChar char="»"/>
        <a:defRPr sz="2000">
          <a:solidFill>
            <a:schemeClr val="tx1"/>
          </a:solidFill>
          <a:latin typeface="+mn-lt"/>
        </a:defRPr>
      </a:lvl8pPr>
      <a:lvl9pPr marL="3886200" indent="-228600" algn="l" rtl="0" eaLnBrk="0" fontAlgn="base" hangingPunct="0">
        <a:spcBef>
          <a:spcPct val="20000"/>
        </a:spcBef>
        <a:spcAft>
          <a:spcPct val="0"/>
        </a:spcAft>
        <a:buSzPct val="100000"/>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6"/>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429"/>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eaLnBrk="0" fontAlgn="base">
              <a:spcBef>
                <a:spcPct val="0"/>
              </a:spcBef>
              <a:spcAft>
                <a:spcPct val="0"/>
              </a:spcAft>
            </a:pPr>
            <a:fld id="{E94D3F5D-19EC-1D46-977C-878996F52F52}" type="datetimeFigureOut">
              <a:rPr lang="en-US" kern="1200" smtClean="0">
                <a:solidFill>
                  <a:prstClr val="black">
                    <a:tint val="75000"/>
                  </a:prstClr>
                </a:solidFill>
                <a:latin typeface="Times New Roman" pitchFamily="18" charset="0"/>
              </a:rPr>
              <a:pPr eaLnBrk="0" fontAlgn="base">
                <a:spcBef>
                  <a:spcPct val="0"/>
                </a:spcBef>
                <a:spcAft>
                  <a:spcPct val="0"/>
                </a:spcAft>
              </a:pPr>
              <a:t>5/31/2025</a:t>
            </a:fld>
            <a:endParaRPr lang="en-US" kern="1200">
              <a:solidFill>
                <a:prstClr val="black">
                  <a:tint val="75000"/>
                </a:prstClr>
              </a:solidFill>
              <a:latin typeface="Times New Roman" pitchFamily="18" charset="0"/>
            </a:endParaRPr>
          </a:p>
        </p:txBody>
      </p:sp>
      <p:sp>
        <p:nvSpPr>
          <p:cNvPr id="5" name="Footer Placeholder 4"/>
          <p:cNvSpPr>
            <a:spLocks noGrp="1"/>
          </p:cNvSpPr>
          <p:nvPr>
            <p:ph type="ftr" sz="quarter" idx="3"/>
          </p:nvPr>
        </p:nvSpPr>
        <p:spPr>
          <a:xfrm>
            <a:off x="4165600" y="6356429"/>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eaLnBrk="0" fontAlgn="base">
              <a:spcBef>
                <a:spcPct val="0"/>
              </a:spcBef>
              <a:spcAft>
                <a:spcPct val="0"/>
              </a:spcAft>
            </a:pPr>
            <a:endParaRPr lang="en-US" kern="1200">
              <a:solidFill>
                <a:prstClr val="black">
                  <a:tint val="75000"/>
                </a:prstClr>
              </a:solidFill>
              <a:latin typeface="Times New Roman" pitchFamily="18" charset="0"/>
            </a:endParaRPr>
          </a:p>
        </p:txBody>
      </p:sp>
      <p:sp>
        <p:nvSpPr>
          <p:cNvPr id="6" name="Slide Number Placeholder 5"/>
          <p:cNvSpPr>
            <a:spLocks noGrp="1"/>
          </p:cNvSpPr>
          <p:nvPr>
            <p:ph type="sldNum" sz="quarter" idx="4"/>
          </p:nvPr>
        </p:nvSpPr>
        <p:spPr>
          <a:xfrm>
            <a:off x="8737600" y="6356429"/>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eaLnBrk="0" fontAlgn="base">
              <a:spcBef>
                <a:spcPct val="0"/>
              </a:spcBef>
              <a:spcAft>
                <a:spcPct val="0"/>
              </a:spcAft>
            </a:pPr>
            <a:fld id="{F84741F4-67CF-3D4B-9BDF-82584D5FF240}" type="slidenum">
              <a:rPr lang="en-US" kern="1200" smtClean="0">
                <a:solidFill>
                  <a:prstClr val="black">
                    <a:tint val="75000"/>
                  </a:prstClr>
                </a:solidFill>
                <a:latin typeface="Times New Roman" pitchFamily="18" charset="0"/>
              </a:rPr>
              <a:pPr eaLnBrk="0" fontAlgn="base">
                <a:spcBef>
                  <a:spcPct val="0"/>
                </a:spcBef>
                <a:spcAft>
                  <a:spcPct val="0"/>
                </a:spcAft>
              </a:pPr>
              <a:t>‹#›</a:t>
            </a:fld>
            <a:endParaRPr lang="en-US" kern="1200">
              <a:solidFill>
                <a:prstClr val="black">
                  <a:tint val="75000"/>
                </a:prstClr>
              </a:solidFill>
              <a:latin typeface="Times New Roman" pitchFamily="18" charset="0"/>
            </a:endParaRPr>
          </a:p>
        </p:txBody>
      </p:sp>
    </p:spTree>
    <p:extLst>
      <p:ext uri="{BB962C8B-B14F-4D97-AF65-F5344CB8AC3E}">
        <p14:creationId xmlns:p14="http://schemas.microsoft.com/office/powerpoint/2010/main" val="1885137397"/>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218" name="Title Placeholder 1"/>
          <p:cNvSpPr>
            <a:spLocks noGrp="1"/>
          </p:cNvSpPr>
          <p:nvPr>
            <p:ph type="title"/>
          </p:nvPr>
        </p:nvSpPr>
        <p:spPr bwMode="auto">
          <a:xfrm>
            <a:off x="609600" y="274638"/>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9219" name="Text Placeholder 2"/>
          <p:cNvSpPr>
            <a:spLocks noGrp="1"/>
          </p:cNvSpPr>
          <p:nvPr>
            <p:ph type="body" idx="1"/>
          </p:nvPr>
        </p:nvSpPr>
        <p:spPr bwMode="auto">
          <a:xfrm>
            <a:off x="609600" y="1600206"/>
            <a:ext cx="109728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88"/>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Calibri" charset="0"/>
              </a:defRPr>
            </a:lvl1pPr>
          </a:lstStyle>
          <a:p>
            <a:pPr eaLnBrk="0" fontAlgn="base">
              <a:spcBef>
                <a:spcPct val="0"/>
              </a:spcBef>
              <a:spcAft>
                <a:spcPct val="0"/>
              </a:spcAft>
              <a:defRPr/>
            </a:pPr>
            <a:fld id="{DECF7A3A-30E4-DA40-9F68-0D8B4073998A}" type="datetime1">
              <a:rPr lang="en-US" kern="1200">
                <a:ea typeface="ＭＳ Ｐゴシック" charset="-128"/>
                <a:cs typeface="ＭＳ Ｐゴシック" charset="-128"/>
              </a:rPr>
              <a:pPr eaLnBrk="0" fontAlgn="base">
                <a:spcBef>
                  <a:spcPct val="0"/>
                </a:spcBef>
                <a:spcAft>
                  <a:spcPct val="0"/>
                </a:spcAft>
                <a:defRPr/>
              </a:pPr>
              <a:t>5/31/2025</a:t>
            </a:fld>
            <a:endParaRPr lang="en-US" kern="1200">
              <a:ea typeface="ＭＳ Ｐゴシック" charset="-128"/>
              <a:cs typeface="ＭＳ Ｐゴシック" charset="-128"/>
            </a:endParaRPr>
          </a:p>
        </p:txBody>
      </p:sp>
      <p:sp>
        <p:nvSpPr>
          <p:cNvPr id="5" name="Footer Placeholder 4"/>
          <p:cNvSpPr>
            <a:spLocks noGrp="1"/>
          </p:cNvSpPr>
          <p:nvPr>
            <p:ph type="ftr" sz="quarter" idx="3"/>
          </p:nvPr>
        </p:nvSpPr>
        <p:spPr>
          <a:xfrm>
            <a:off x="4165600" y="6356388"/>
            <a:ext cx="3860800" cy="365125"/>
          </a:xfrm>
          <a:prstGeom prst="rect">
            <a:avLst/>
          </a:prstGeom>
        </p:spPr>
        <p:txBody>
          <a:bodyPr vert="horz" wrap="square" lIns="91440" tIns="45720" rIns="91440" bIns="45720" numCol="1" anchor="ctr" anchorCtr="0" compatLnSpc="1">
            <a:prstTxWarp prst="textNoShape">
              <a:avLst/>
            </a:prstTxWarp>
          </a:bodyPr>
          <a:lstStyle>
            <a:lvl1pPr algn="ctr">
              <a:defRPr sz="1200">
                <a:solidFill>
                  <a:srgbClr val="898989"/>
                </a:solidFill>
                <a:latin typeface="Calibri" charset="0"/>
              </a:defRPr>
            </a:lvl1pPr>
          </a:lstStyle>
          <a:p>
            <a:pPr eaLnBrk="0" fontAlgn="base">
              <a:spcBef>
                <a:spcPct val="0"/>
              </a:spcBef>
              <a:spcAft>
                <a:spcPct val="0"/>
              </a:spcAft>
              <a:defRPr/>
            </a:pPr>
            <a:endParaRPr lang="en-US" kern="1200">
              <a:ea typeface="ＭＳ Ｐゴシック" charset="-128"/>
              <a:cs typeface="ＭＳ Ｐゴシック" charset="-128"/>
            </a:endParaRPr>
          </a:p>
        </p:txBody>
      </p:sp>
      <p:sp>
        <p:nvSpPr>
          <p:cNvPr id="6" name="Slide Number Placeholder 5"/>
          <p:cNvSpPr>
            <a:spLocks noGrp="1"/>
          </p:cNvSpPr>
          <p:nvPr>
            <p:ph type="sldNum" sz="quarter" idx="4"/>
          </p:nvPr>
        </p:nvSpPr>
        <p:spPr>
          <a:xfrm>
            <a:off x="8737600" y="6356388"/>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charset="0"/>
              </a:defRPr>
            </a:lvl1pPr>
          </a:lstStyle>
          <a:p>
            <a:pPr eaLnBrk="0" fontAlgn="base">
              <a:spcBef>
                <a:spcPct val="0"/>
              </a:spcBef>
              <a:spcAft>
                <a:spcPct val="0"/>
              </a:spcAft>
              <a:defRPr/>
            </a:pPr>
            <a:fld id="{45F77E36-54E3-414A-A184-ED4D8DC299F6}" type="slidenum">
              <a:rPr lang="en-US" kern="1200">
                <a:ea typeface="ＭＳ Ｐゴシック" charset="-128"/>
                <a:cs typeface="ＭＳ Ｐゴシック" charset="-128"/>
              </a:rPr>
              <a:pPr eaLnBrk="0" fontAlgn="base">
                <a:spcBef>
                  <a:spcPct val="0"/>
                </a:spcBef>
                <a:spcAft>
                  <a:spcPct val="0"/>
                </a:spcAft>
                <a:defRPr/>
              </a:pPr>
              <a:t>‹#›</a:t>
            </a:fld>
            <a:endParaRPr lang="en-US" kern="1200">
              <a:ea typeface="ＭＳ Ｐゴシック" charset="-128"/>
              <a:cs typeface="ＭＳ Ｐゴシック" charset="-128"/>
            </a:endParaRPr>
          </a:p>
        </p:txBody>
      </p:sp>
    </p:spTree>
    <p:extLst>
      <p:ext uri="{BB962C8B-B14F-4D97-AF65-F5344CB8AC3E}">
        <p14:creationId xmlns:p14="http://schemas.microsoft.com/office/powerpoint/2010/main" val="823340863"/>
      </p:ext>
    </p:extLst>
  </p:cSld>
  <p:clrMap bg1="lt1" tx1="dk1" bg2="lt2" tx2="dk2" accent1="accent1" accent2="accent2" accent3="accent3" accent4="accent4" accent5="accent5" accent6="accent6" hlink="hlink" folHlink="folHlink"/>
  <p:sldLayoutIdLst>
    <p:sldLayoutId id="2147483680" r:id="rId1"/>
  </p:sldLayoutIdLst>
  <p:txStyles>
    <p:titleStyle>
      <a:lvl1pPr algn="ctr" defTabSz="457200" rtl="0" eaLnBrk="0" fontAlgn="base" hangingPunct="0">
        <a:spcBef>
          <a:spcPct val="0"/>
        </a:spcBef>
        <a:spcAft>
          <a:spcPct val="0"/>
        </a:spcAft>
        <a:defRPr sz="4400" kern="1200">
          <a:solidFill>
            <a:schemeClr val="tx1"/>
          </a:solidFill>
          <a:latin typeface="+mj-lt"/>
          <a:ea typeface="ＭＳ Ｐゴシック" charset="-128"/>
          <a:cs typeface="ＭＳ Ｐゴシック" charset="-128"/>
        </a:defRPr>
      </a:lvl1pPr>
      <a:lvl2pPr algn="ctr" defTabSz="457200" rtl="0" eaLnBrk="0" fontAlgn="base" hangingPunct="0">
        <a:spcBef>
          <a:spcPct val="0"/>
        </a:spcBef>
        <a:spcAft>
          <a:spcPct val="0"/>
        </a:spcAft>
        <a:defRPr sz="4400">
          <a:solidFill>
            <a:schemeClr val="tx1"/>
          </a:solidFill>
          <a:latin typeface="Calibri" charset="0"/>
          <a:ea typeface="ＭＳ Ｐゴシック" charset="-128"/>
          <a:cs typeface="ＭＳ Ｐゴシック" charset="-128"/>
        </a:defRPr>
      </a:lvl2pPr>
      <a:lvl3pPr algn="ctr" defTabSz="457200" rtl="0" eaLnBrk="0" fontAlgn="base" hangingPunct="0">
        <a:spcBef>
          <a:spcPct val="0"/>
        </a:spcBef>
        <a:spcAft>
          <a:spcPct val="0"/>
        </a:spcAft>
        <a:defRPr sz="4400">
          <a:solidFill>
            <a:schemeClr val="tx1"/>
          </a:solidFill>
          <a:latin typeface="Calibri" charset="0"/>
          <a:ea typeface="ＭＳ Ｐゴシック" charset="-128"/>
          <a:cs typeface="ＭＳ Ｐゴシック" charset="-128"/>
        </a:defRPr>
      </a:lvl3pPr>
      <a:lvl4pPr algn="ctr" defTabSz="457200" rtl="0" eaLnBrk="0" fontAlgn="base" hangingPunct="0">
        <a:spcBef>
          <a:spcPct val="0"/>
        </a:spcBef>
        <a:spcAft>
          <a:spcPct val="0"/>
        </a:spcAft>
        <a:defRPr sz="4400">
          <a:solidFill>
            <a:schemeClr val="tx1"/>
          </a:solidFill>
          <a:latin typeface="Calibri" charset="0"/>
          <a:ea typeface="ＭＳ Ｐゴシック" charset="-128"/>
          <a:cs typeface="ＭＳ Ｐゴシック" charset="-128"/>
        </a:defRPr>
      </a:lvl4pPr>
      <a:lvl5pPr algn="ctr" defTabSz="457200" rtl="0" eaLnBrk="0" fontAlgn="base" hangingPunct="0">
        <a:spcBef>
          <a:spcPct val="0"/>
        </a:spcBef>
        <a:spcAft>
          <a:spcPct val="0"/>
        </a:spcAft>
        <a:defRPr sz="4400">
          <a:solidFill>
            <a:schemeClr val="tx1"/>
          </a:solidFill>
          <a:latin typeface="Calibri" charset="0"/>
          <a:ea typeface="ＭＳ Ｐゴシック" charset="-128"/>
          <a:cs typeface="ＭＳ Ｐゴシック" charset="-128"/>
        </a:defRPr>
      </a:lvl5pPr>
      <a:lvl6pPr marL="457200" algn="ctr" defTabSz="457200" rtl="0" fontAlgn="base">
        <a:spcBef>
          <a:spcPct val="0"/>
        </a:spcBef>
        <a:spcAft>
          <a:spcPct val="0"/>
        </a:spcAft>
        <a:defRPr sz="4400">
          <a:solidFill>
            <a:schemeClr val="tx1"/>
          </a:solidFill>
          <a:latin typeface="Calibri" charset="0"/>
          <a:ea typeface="ＭＳ Ｐゴシック" charset="-128"/>
          <a:cs typeface="ＭＳ Ｐゴシック" charset="-128"/>
        </a:defRPr>
      </a:lvl6pPr>
      <a:lvl7pPr marL="914400" algn="ctr" defTabSz="457200" rtl="0" fontAlgn="base">
        <a:spcBef>
          <a:spcPct val="0"/>
        </a:spcBef>
        <a:spcAft>
          <a:spcPct val="0"/>
        </a:spcAft>
        <a:defRPr sz="4400">
          <a:solidFill>
            <a:schemeClr val="tx1"/>
          </a:solidFill>
          <a:latin typeface="Calibri" charset="0"/>
          <a:ea typeface="ＭＳ Ｐゴシック" charset="-128"/>
          <a:cs typeface="ＭＳ Ｐゴシック" charset="-128"/>
        </a:defRPr>
      </a:lvl7pPr>
      <a:lvl8pPr marL="1371600" algn="ctr" defTabSz="457200" rtl="0" fontAlgn="base">
        <a:spcBef>
          <a:spcPct val="0"/>
        </a:spcBef>
        <a:spcAft>
          <a:spcPct val="0"/>
        </a:spcAft>
        <a:defRPr sz="4400">
          <a:solidFill>
            <a:schemeClr val="tx1"/>
          </a:solidFill>
          <a:latin typeface="Calibri" charset="0"/>
          <a:ea typeface="ＭＳ Ｐゴシック" charset="-128"/>
          <a:cs typeface="ＭＳ Ｐゴシック" charset="-128"/>
        </a:defRPr>
      </a:lvl8pPr>
      <a:lvl9pPr marL="1828800" algn="ctr" defTabSz="457200" rtl="0" fontAlgn="base">
        <a:spcBef>
          <a:spcPct val="0"/>
        </a:spcBef>
        <a:spcAft>
          <a:spcPct val="0"/>
        </a:spcAft>
        <a:defRPr sz="4400">
          <a:solidFill>
            <a:schemeClr val="tx1"/>
          </a:solidFill>
          <a:latin typeface="Calibri" charset="0"/>
          <a:ea typeface="ＭＳ Ｐゴシック" charset="-128"/>
          <a:cs typeface="ＭＳ Ｐゴシック" charset="-128"/>
        </a:defRPr>
      </a:lvl9pPr>
    </p:titleStyle>
    <p:body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0" fontAlgn="base" hangingPunct="0">
        <a:spcBef>
          <a:spcPct val="20000"/>
        </a:spcBef>
        <a:spcAft>
          <a:spcPct val="0"/>
        </a:spcAft>
        <a:buFont typeface="Arial" charset="0"/>
        <a:buChar char="–"/>
        <a:defRPr sz="2800" kern="1200">
          <a:solidFill>
            <a:schemeClr val="tx1"/>
          </a:solidFill>
          <a:latin typeface="+mn-lt"/>
          <a:ea typeface="ＭＳ Ｐゴシック" charset="-128"/>
          <a:cs typeface="+mn-cs"/>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9.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customXml" Target="../ink/ink1.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customXml" Target="../ink/ink2.xml"/><Relationship Id="rId1" Type="http://schemas.openxmlformats.org/officeDocument/2006/relationships/slideLayout" Target="../slideLayouts/slideLayout4.xml"/><Relationship Id="rId4" Type="http://schemas.openxmlformats.org/officeDocument/2006/relationships/customXml" Target="../ink/ink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Shape 40"/>
          <p:cNvSpPr>
            <a:spLocks noGrp="1"/>
          </p:cNvSpPr>
          <p:nvPr>
            <p:ph type="ctrTitle"/>
          </p:nvPr>
        </p:nvSpPr>
        <p:spPr>
          <a:prstGeom prst="rect">
            <a:avLst/>
          </a:prstGeom>
        </p:spPr>
        <p:txBody>
          <a:bodyPr/>
          <a:lstStyle/>
          <a:p>
            <a:r>
              <a:rPr dirty="0"/>
              <a:t>Pharmacotherapy of</a:t>
            </a:r>
            <a:br>
              <a:rPr dirty="0"/>
            </a:br>
            <a:r>
              <a:rPr lang="en-US" dirty="0"/>
              <a:t>T</a:t>
            </a:r>
            <a:r>
              <a:rPr dirty="0"/>
              <a:t>ype 2 </a:t>
            </a:r>
            <a:r>
              <a:rPr lang="en-US" dirty="0"/>
              <a:t>D</a:t>
            </a:r>
            <a:r>
              <a:rPr dirty="0"/>
              <a:t>iabetes</a:t>
            </a:r>
          </a:p>
        </p:txBody>
      </p:sp>
      <p:sp>
        <p:nvSpPr>
          <p:cNvPr id="41" name="Shape 41"/>
          <p:cNvSpPr>
            <a:spLocks noGrp="1"/>
          </p:cNvSpPr>
          <p:nvPr>
            <p:ph type="subTitle" sz="quarter" idx="1"/>
          </p:nvPr>
        </p:nvSpPr>
        <p:spPr>
          <a:xfrm>
            <a:off x="1524000" y="4196862"/>
            <a:ext cx="9144000" cy="1857574"/>
          </a:xfrm>
          <a:prstGeom prst="rect">
            <a:avLst/>
          </a:prstGeom>
        </p:spPr>
        <p:txBody>
          <a:bodyPr lIns="45719" tIns="45720" rIns="45719" bIns="45720" anchor="t">
            <a:normAutofit/>
          </a:bodyPr>
          <a:lstStyle/>
          <a:p>
            <a:r>
              <a:rPr lang="en-US" dirty="0">
                <a:solidFill>
                  <a:schemeClr val="tx1"/>
                </a:solidFill>
              </a:rPr>
              <a:t>Sathya Subbiah, MD</a:t>
            </a:r>
          </a:p>
          <a:p>
            <a:pPr>
              <a:lnSpc>
                <a:spcPct val="80000"/>
              </a:lnSpc>
            </a:pPr>
            <a:r>
              <a:rPr lang="en-US" dirty="0">
                <a:solidFill>
                  <a:schemeClr val="tx1"/>
                </a:solidFill>
              </a:rPr>
              <a:t>Carle-Illinois College of Medicine</a:t>
            </a:r>
          </a:p>
          <a:p>
            <a:endParaRPr dirty="0"/>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Shape 43"/>
          <p:cNvSpPr>
            <a:spLocks noGrp="1"/>
          </p:cNvSpPr>
          <p:nvPr>
            <p:ph type="title"/>
          </p:nvPr>
        </p:nvSpPr>
        <p:spPr>
          <a:prstGeom prst="rect">
            <a:avLst/>
          </a:prstGeom>
        </p:spPr>
        <p:txBody>
          <a:bodyPr/>
          <a:lstStyle/>
          <a:p>
            <a:r>
              <a:rPr dirty="0"/>
              <a:t>Learning </a:t>
            </a:r>
            <a:r>
              <a:rPr lang="en-US" dirty="0"/>
              <a:t>O</a:t>
            </a:r>
            <a:r>
              <a:rPr dirty="0"/>
              <a:t>bjectives</a:t>
            </a:r>
          </a:p>
        </p:txBody>
      </p:sp>
      <p:sp>
        <p:nvSpPr>
          <p:cNvPr id="44" name="Shape 44"/>
          <p:cNvSpPr>
            <a:spLocks noGrp="1"/>
          </p:cNvSpPr>
          <p:nvPr>
            <p:ph type="body" idx="1"/>
          </p:nvPr>
        </p:nvSpPr>
        <p:spPr>
          <a:xfrm>
            <a:off x="879763" y="1465407"/>
            <a:ext cx="10515600" cy="4800463"/>
          </a:xfrm>
          <a:prstGeom prst="rect">
            <a:avLst/>
          </a:prstGeom>
        </p:spPr>
        <p:txBody>
          <a:bodyPr>
            <a:normAutofit lnSpcReduction="10000"/>
          </a:bodyPr>
          <a:lstStyle/>
          <a:p>
            <a:pPr lvl="0" fontAlgn="base"/>
            <a:r>
              <a:rPr lang="en-US" dirty="0"/>
              <a:t>Describe the indications, mechanisms of action, distinctive and adverse effects of medications used to treat type 2 diabetes</a:t>
            </a:r>
          </a:p>
          <a:p>
            <a:pPr marL="0" lvl="0" indent="0" fontAlgn="base">
              <a:buNone/>
            </a:pPr>
            <a:endParaRPr lang="en-US" dirty="0"/>
          </a:p>
          <a:p>
            <a:pPr lvl="0" fontAlgn="base"/>
            <a:r>
              <a:rPr lang="en-US" dirty="0"/>
              <a:t>Identify appropriate initial and add-on therapy for a patient with type 2 diabetes</a:t>
            </a:r>
          </a:p>
          <a:p>
            <a:pPr marL="0" lvl="0" indent="0" fontAlgn="base">
              <a:buNone/>
            </a:pPr>
            <a:endParaRPr lang="en-US" dirty="0"/>
          </a:p>
          <a:p>
            <a:pPr lvl="0" fontAlgn="base"/>
            <a:r>
              <a:rPr lang="en-US" dirty="0"/>
              <a:t>Identify clinically-important interactions involving anti-hyperglycemic medications</a:t>
            </a:r>
          </a:p>
          <a:p>
            <a:pPr marL="0" lvl="0" indent="0" fontAlgn="base">
              <a:buNone/>
            </a:pPr>
            <a:endParaRPr lang="en-US" dirty="0"/>
          </a:p>
          <a:p>
            <a:pPr lvl="0" fontAlgn="base"/>
            <a:r>
              <a:rPr lang="en-US" dirty="0"/>
              <a:t>Discuss general issues to consider when choosing a specific medication</a:t>
            </a: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29" descr="Octet_Product_042011.png">
            <a:extLst>
              <a:ext uri="{FF2B5EF4-FFF2-40B4-BE49-F238E27FC236}">
                <a16:creationId xmlns:a16="http://schemas.microsoft.com/office/drawing/2014/main" id="{AF76289D-B556-4CD3-93AB-A4C2A3493E1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19727" y="1272623"/>
            <a:ext cx="9144000" cy="459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1" name="Text Box 4">
            <a:extLst>
              <a:ext uri="{FF2B5EF4-FFF2-40B4-BE49-F238E27FC236}">
                <a16:creationId xmlns:a16="http://schemas.microsoft.com/office/drawing/2014/main" id="{720B00DC-FA4E-4C5F-AF6F-ECEA9EDEE198}"/>
              </a:ext>
            </a:extLst>
          </p:cNvPr>
          <p:cNvSpPr txBox="1">
            <a:spLocks noChangeArrowheads="1"/>
          </p:cNvSpPr>
          <p:nvPr/>
        </p:nvSpPr>
        <p:spPr bwMode="auto">
          <a:xfrm>
            <a:off x="4804808" y="1531937"/>
            <a:ext cx="3458633"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rIns="0">
            <a:spAutoFit/>
          </a:bodyPr>
          <a:lstStyle>
            <a:lvl1pPr defTabSz="457200">
              <a:spcBef>
                <a:spcPct val="20000"/>
              </a:spcBef>
              <a:buClr>
                <a:schemeClr val="bg2"/>
              </a:buClr>
              <a:buSzPct val="100000"/>
              <a:buChar char="§"/>
              <a:defRPr sz="3200">
                <a:solidFill>
                  <a:schemeClr val="tx1"/>
                </a:solidFill>
                <a:latin typeface="Times New Roman" panose="02020603050405020304" pitchFamily="18" charset="0"/>
              </a:defRPr>
            </a:lvl1pPr>
            <a:lvl2pPr marL="742950" indent="-285750" defTabSz="457200">
              <a:spcBef>
                <a:spcPct val="20000"/>
              </a:spcBef>
              <a:buClr>
                <a:schemeClr val="bg2"/>
              </a:buClr>
              <a:buSzPct val="50000"/>
              <a:buFont typeface="Monotype Sorts" pitchFamily="2" charset="2"/>
              <a:buChar char="l"/>
              <a:defRPr sz="2800">
                <a:solidFill>
                  <a:schemeClr val="tx1"/>
                </a:solidFill>
                <a:latin typeface="Times New Roman" panose="02020603050405020304" pitchFamily="18" charset="0"/>
              </a:defRPr>
            </a:lvl2pPr>
            <a:lvl3pPr marL="1143000" indent="-228600" defTabSz="457200">
              <a:spcBef>
                <a:spcPct val="20000"/>
              </a:spcBef>
              <a:buSzPct val="100000"/>
              <a:buChar char="•"/>
              <a:defRPr sz="2400">
                <a:solidFill>
                  <a:schemeClr val="tx1"/>
                </a:solidFill>
                <a:latin typeface="Times New Roman" panose="02020603050405020304" pitchFamily="18" charset="0"/>
              </a:defRPr>
            </a:lvl3pPr>
            <a:lvl4pPr marL="1600200" indent="-228600" defTabSz="457200">
              <a:spcBef>
                <a:spcPct val="20000"/>
              </a:spcBef>
              <a:buSzPct val="100000"/>
              <a:buChar char="–"/>
              <a:defRPr sz="2000">
                <a:solidFill>
                  <a:schemeClr val="tx1"/>
                </a:solidFill>
                <a:latin typeface="Times New Roman" panose="02020603050405020304" pitchFamily="18" charset="0"/>
              </a:defRPr>
            </a:lvl4pPr>
            <a:lvl5pPr marL="2057400" indent="-228600" defTabSz="457200">
              <a:spcBef>
                <a:spcPct val="20000"/>
              </a:spcBef>
              <a:buSzPct val="100000"/>
              <a:buChar char="»"/>
              <a:defRPr sz="2000">
                <a:solidFill>
                  <a:schemeClr val="tx1"/>
                </a:solidFill>
                <a:latin typeface="Times New Roman" panose="02020603050405020304" pitchFamily="18" charset="0"/>
              </a:defRPr>
            </a:lvl5pPr>
            <a:lvl6pPr marL="2514600" indent="-228600" defTabSz="4572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defTabSz="4572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defTabSz="4572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defTabSz="4572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eaLnBrk="0" fontAlgn="base">
              <a:spcBef>
                <a:spcPct val="50000"/>
              </a:spcBef>
              <a:spcAft>
                <a:spcPct val="0"/>
              </a:spcAft>
              <a:buClrTx/>
              <a:buSzTx/>
              <a:buFontTx/>
              <a:buNone/>
            </a:pPr>
            <a:r>
              <a:rPr lang="en-US" altLang="en-US" sz="1400" b="1" kern="1200" dirty="0">
                <a:solidFill>
                  <a:srgbClr val="2A2A2A"/>
                </a:solidFill>
              </a:rPr>
              <a:t>Islet cells</a:t>
            </a:r>
          </a:p>
        </p:txBody>
      </p:sp>
      <p:sp>
        <p:nvSpPr>
          <p:cNvPr id="27652" name="Text Box 23">
            <a:extLst>
              <a:ext uri="{FF2B5EF4-FFF2-40B4-BE49-F238E27FC236}">
                <a16:creationId xmlns:a16="http://schemas.microsoft.com/office/drawing/2014/main" id="{D17ED1DA-05D6-4D66-9015-2EB88591EF97}"/>
              </a:ext>
            </a:extLst>
          </p:cNvPr>
          <p:cNvSpPr txBox="1">
            <a:spLocks noChangeArrowheads="1"/>
          </p:cNvSpPr>
          <p:nvPr/>
        </p:nvSpPr>
        <p:spPr bwMode="auto">
          <a:xfrm>
            <a:off x="6232239" y="2314584"/>
            <a:ext cx="377671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rIns="0">
            <a:spAutoFit/>
          </a:bodyPr>
          <a:lstStyle>
            <a:lvl1pPr defTabSz="457200">
              <a:spcBef>
                <a:spcPct val="20000"/>
              </a:spcBef>
              <a:buClr>
                <a:schemeClr val="bg2"/>
              </a:buClr>
              <a:buSzPct val="100000"/>
              <a:buChar char="§"/>
              <a:defRPr sz="3200">
                <a:solidFill>
                  <a:schemeClr val="tx1"/>
                </a:solidFill>
                <a:latin typeface="Times New Roman" panose="02020603050405020304" pitchFamily="18" charset="0"/>
              </a:defRPr>
            </a:lvl1pPr>
            <a:lvl2pPr marL="742950" indent="-285750" defTabSz="457200">
              <a:spcBef>
                <a:spcPct val="20000"/>
              </a:spcBef>
              <a:buClr>
                <a:schemeClr val="bg2"/>
              </a:buClr>
              <a:buSzPct val="50000"/>
              <a:buFont typeface="Monotype Sorts" pitchFamily="2" charset="2"/>
              <a:buChar char="l"/>
              <a:defRPr sz="2800">
                <a:solidFill>
                  <a:schemeClr val="tx1"/>
                </a:solidFill>
                <a:latin typeface="Times New Roman" panose="02020603050405020304" pitchFamily="18" charset="0"/>
              </a:defRPr>
            </a:lvl2pPr>
            <a:lvl3pPr marL="1143000" indent="-228600" defTabSz="457200">
              <a:spcBef>
                <a:spcPct val="20000"/>
              </a:spcBef>
              <a:buSzPct val="100000"/>
              <a:buChar char="•"/>
              <a:defRPr sz="2400">
                <a:solidFill>
                  <a:schemeClr val="tx1"/>
                </a:solidFill>
                <a:latin typeface="Times New Roman" panose="02020603050405020304" pitchFamily="18" charset="0"/>
              </a:defRPr>
            </a:lvl3pPr>
            <a:lvl4pPr marL="1600200" indent="-228600" defTabSz="457200">
              <a:spcBef>
                <a:spcPct val="20000"/>
              </a:spcBef>
              <a:buSzPct val="100000"/>
              <a:buChar char="–"/>
              <a:defRPr sz="2000">
                <a:solidFill>
                  <a:schemeClr val="tx1"/>
                </a:solidFill>
                <a:latin typeface="Times New Roman" panose="02020603050405020304" pitchFamily="18" charset="0"/>
              </a:defRPr>
            </a:lvl4pPr>
            <a:lvl5pPr marL="2057400" indent="-228600" defTabSz="457200">
              <a:spcBef>
                <a:spcPct val="20000"/>
              </a:spcBef>
              <a:buSzPct val="100000"/>
              <a:buChar char="»"/>
              <a:defRPr sz="2000">
                <a:solidFill>
                  <a:schemeClr val="tx1"/>
                </a:solidFill>
                <a:latin typeface="Times New Roman" panose="02020603050405020304" pitchFamily="18" charset="0"/>
              </a:defRPr>
            </a:lvl5pPr>
            <a:lvl6pPr marL="2514600" indent="-228600" defTabSz="4572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defTabSz="4572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defTabSz="4572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defTabSz="4572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eaLnBrk="0" fontAlgn="base">
              <a:spcBef>
                <a:spcPct val="50000"/>
              </a:spcBef>
              <a:spcAft>
                <a:spcPct val="0"/>
              </a:spcAft>
              <a:buClrTx/>
              <a:buSzTx/>
              <a:buFontTx/>
              <a:buNone/>
            </a:pPr>
            <a:r>
              <a:rPr lang="en-US" altLang="en-US" sz="1400" b="1" kern="1200" dirty="0">
                <a:solidFill>
                  <a:srgbClr val="2A2A2A"/>
                </a:solidFill>
              </a:rPr>
              <a:t>Liver – Metformin, GLP 1 RA, </a:t>
            </a:r>
            <a:r>
              <a:rPr lang="en-US" altLang="en-US" sz="1400" b="1" kern="1200" dirty="0" err="1">
                <a:solidFill>
                  <a:srgbClr val="2A2A2A"/>
                </a:solidFill>
              </a:rPr>
              <a:t>Glitazones</a:t>
            </a:r>
            <a:r>
              <a:rPr lang="en-US" altLang="en-US" sz="1400" b="1" kern="1200" dirty="0">
                <a:solidFill>
                  <a:srgbClr val="2A2A2A"/>
                </a:solidFill>
              </a:rPr>
              <a:t>, Insulins</a:t>
            </a:r>
          </a:p>
        </p:txBody>
      </p:sp>
      <p:sp>
        <p:nvSpPr>
          <p:cNvPr id="27653" name="Text Box 23">
            <a:extLst>
              <a:ext uri="{FF2B5EF4-FFF2-40B4-BE49-F238E27FC236}">
                <a16:creationId xmlns:a16="http://schemas.microsoft.com/office/drawing/2014/main" id="{C61F5CA2-C1D5-427B-924E-766AEC0576F0}"/>
              </a:ext>
            </a:extLst>
          </p:cNvPr>
          <p:cNvSpPr txBox="1">
            <a:spLocks noChangeArrowheads="1"/>
          </p:cNvSpPr>
          <p:nvPr/>
        </p:nvSpPr>
        <p:spPr bwMode="auto">
          <a:xfrm>
            <a:off x="6432936" y="2960139"/>
            <a:ext cx="30480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defTabSz="457200">
              <a:spcBef>
                <a:spcPct val="20000"/>
              </a:spcBef>
              <a:buClr>
                <a:schemeClr val="bg2"/>
              </a:buClr>
              <a:buSzPct val="100000"/>
              <a:buChar char="§"/>
              <a:defRPr sz="3200">
                <a:solidFill>
                  <a:schemeClr val="tx1"/>
                </a:solidFill>
                <a:latin typeface="Times New Roman" panose="02020603050405020304" pitchFamily="18" charset="0"/>
              </a:defRPr>
            </a:lvl1pPr>
            <a:lvl2pPr marL="742950" indent="-285750" defTabSz="457200">
              <a:spcBef>
                <a:spcPct val="20000"/>
              </a:spcBef>
              <a:buClr>
                <a:schemeClr val="bg2"/>
              </a:buClr>
              <a:buSzPct val="50000"/>
              <a:buFont typeface="Monotype Sorts" pitchFamily="2" charset="2"/>
              <a:buChar char="l"/>
              <a:defRPr sz="2800">
                <a:solidFill>
                  <a:schemeClr val="tx1"/>
                </a:solidFill>
                <a:latin typeface="Times New Roman" panose="02020603050405020304" pitchFamily="18" charset="0"/>
              </a:defRPr>
            </a:lvl2pPr>
            <a:lvl3pPr marL="1143000" indent="-228600" defTabSz="457200">
              <a:spcBef>
                <a:spcPct val="20000"/>
              </a:spcBef>
              <a:buSzPct val="100000"/>
              <a:buChar char="•"/>
              <a:defRPr sz="2400">
                <a:solidFill>
                  <a:schemeClr val="tx1"/>
                </a:solidFill>
                <a:latin typeface="Times New Roman" panose="02020603050405020304" pitchFamily="18" charset="0"/>
              </a:defRPr>
            </a:lvl3pPr>
            <a:lvl4pPr marL="1600200" indent="-228600" defTabSz="457200">
              <a:spcBef>
                <a:spcPct val="20000"/>
              </a:spcBef>
              <a:buSzPct val="100000"/>
              <a:buChar char="–"/>
              <a:defRPr sz="2000">
                <a:solidFill>
                  <a:schemeClr val="tx1"/>
                </a:solidFill>
                <a:latin typeface="Times New Roman" panose="02020603050405020304" pitchFamily="18" charset="0"/>
              </a:defRPr>
            </a:lvl4pPr>
            <a:lvl5pPr marL="2057400" indent="-228600" defTabSz="457200">
              <a:spcBef>
                <a:spcPct val="20000"/>
              </a:spcBef>
              <a:buSzPct val="100000"/>
              <a:buChar char="»"/>
              <a:defRPr sz="2000">
                <a:solidFill>
                  <a:schemeClr val="tx1"/>
                </a:solidFill>
                <a:latin typeface="Times New Roman" panose="02020603050405020304" pitchFamily="18" charset="0"/>
              </a:defRPr>
            </a:lvl5pPr>
            <a:lvl6pPr marL="2514600" indent="-228600" defTabSz="4572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defTabSz="4572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defTabSz="4572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defTabSz="4572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eaLnBrk="0" fontAlgn="base">
              <a:spcBef>
                <a:spcPct val="50000"/>
              </a:spcBef>
              <a:spcAft>
                <a:spcPct val="0"/>
              </a:spcAft>
              <a:buClrTx/>
              <a:buSzTx/>
              <a:buFontTx/>
              <a:buNone/>
            </a:pPr>
            <a:r>
              <a:rPr lang="en-US" altLang="en-US" sz="1400" b="1" kern="1200" dirty="0">
                <a:solidFill>
                  <a:srgbClr val="2A2A2A"/>
                </a:solidFill>
              </a:rPr>
              <a:t>Gut - GLP-1 RA, DPP IV-</a:t>
            </a:r>
            <a:r>
              <a:rPr lang="en-US" altLang="en-US" sz="1400" b="1" kern="1200" dirty="0" err="1">
                <a:solidFill>
                  <a:srgbClr val="2A2A2A"/>
                </a:solidFill>
              </a:rPr>
              <a:t>i</a:t>
            </a:r>
            <a:r>
              <a:rPr lang="en-US" altLang="en-US" sz="1400" b="1" kern="1200" dirty="0">
                <a:solidFill>
                  <a:srgbClr val="2A2A2A"/>
                </a:solidFill>
              </a:rPr>
              <a:t>, </a:t>
            </a:r>
            <a:r>
              <a:rPr lang="en-US" altLang="en-US" sz="1400" b="1" kern="1200" dirty="0" err="1">
                <a:solidFill>
                  <a:srgbClr val="2A2A2A"/>
                </a:solidFill>
              </a:rPr>
              <a:t>Glitazones</a:t>
            </a:r>
            <a:endParaRPr lang="en-US" altLang="en-US" sz="1400" b="1" kern="1200" dirty="0">
              <a:solidFill>
                <a:srgbClr val="2A2A2A"/>
              </a:solidFill>
            </a:endParaRPr>
          </a:p>
        </p:txBody>
      </p:sp>
      <p:sp>
        <p:nvSpPr>
          <p:cNvPr id="27654" name="Title 1">
            <a:extLst>
              <a:ext uri="{FF2B5EF4-FFF2-40B4-BE49-F238E27FC236}">
                <a16:creationId xmlns:a16="http://schemas.microsoft.com/office/drawing/2014/main" id="{B2348768-D066-4901-9DCE-05E6BD0E1D39}"/>
              </a:ext>
            </a:extLst>
          </p:cNvPr>
          <p:cNvSpPr>
            <a:spLocks noGrp="1" noChangeArrowheads="1"/>
          </p:cNvSpPr>
          <p:nvPr>
            <p:ph type="title" idx="4294967295"/>
          </p:nvPr>
        </p:nvSpPr>
        <p:spPr>
          <a:xfrm>
            <a:off x="179917" y="-90487"/>
            <a:ext cx="11912600" cy="1109663"/>
          </a:xfrm>
        </p:spPr>
        <p:txBody>
          <a:bodyPr/>
          <a:lstStyle/>
          <a:p>
            <a:pPr eaLnBrk="1" hangingPunct="1"/>
            <a:br>
              <a:rPr lang="en-US" altLang="en-US" sz="4000" dirty="0"/>
            </a:br>
            <a:br>
              <a:rPr lang="en-US" altLang="en-US" sz="4000" dirty="0"/>
            </a:br>
            <a:br>
              <a:rPr lang="en-US" altLang="en-US" sz="4000" dirty="0"/>
            </a:br>
            <a:br>
              <a:rPr lang="en-US" altLang="en-US" sz="4000" dirty="0"/>
            </a:br>
            <a:br>
              <a:rPr lang="en-US" altLang="en-US" sz="4000" dirty="0"/>
            </a:br>
            <a:r>
              <a:rPr lang="en-US" altLang="en-US" sz="3200" dirty="0"/>
              <a:t>Type 2 DM Medications:</a:t>
            </a:r>
            <a:br>
              <a:rPr lang="en-US" altLang="en-US" sz="3200" dirty="0"/>
            </a:br>
            <a:r>
              <a:rPr lang="en-US" altLang="en-US" sz="3200" dirty="0"/>
              <a:t>Sites of Action of Therapeutic agents</a:t>
            </a:r>
          </a:p>
        </p:txBody>
      </p:sp>
      <p:sp>
        <p:nvSpPr>
          <p:cNvPr id="27655" name="Text Box 5">
            <a:extLst>
              <a:ext uri="{FF2B5EF4-FFF2-40B4-BE49-F238E27FC236}">
                <a16:creationId xmlns:a16="http://schemas.microsoft.com/office/drawing/2014/main" id="{1ECE6CBA-36EA-413D-8E3E-921097FFABFE}"/>
              </a:ext>
            </a:extLst>
          </p:cNvPr>
          <p:cNvSpPr txBox="1">
            <a:spLocks noChangeArrowheads="1"/>
          </p:cNvSpPr>
          <p:nvPr/>
        </p:nvSpPr>
        <p:spPr bwMode="auto">
          <a:xfrm>
            <a:off x="6136220" y="4503747"/>
            <a:ext cx="3968749"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rIns="0">
            <a:spAutoFit/>
          </a:bodyPr>
          <a:lstStyle>
            <a:lvl1pPr defTabSz="457200">
              <a:spcBef>
                <a:spcPct val="20000"/>
              </a:spcBef>
              <a:buClr>
                <a:schemeClr val="bg2"/>
              </a:buClr>
              <a:buSzPct val="100000"/>
              <a:buChar char="§"/>
              <a:defRPr sz="3200">
                <a:solidFill>
                  <a:schemeClr val="tx1"/>
                </a:solidFill>
                <a:latin typeface="Times New Roman" panose="02020603050405020304" pitchFamily="18" charset="0"/>
              </a:defRPr>
            </a:lvl1pPr>
            <a:lvl2pPr marL="742950" indent="-285750" defTabSz="457200">
              <a:spcBef>
                <a:spcPct val="20000"/>
              </a:spcBef>
              <a:buClr>
                <a:schemeClr val="bg2"/>
              </a:buClr>
              <a:buSzPct val="50000"/>
              <a:buFont typeface="Monotype Sorts" pitchFamily="2" charset="2"/>
              <a:buChar char="l"/>
              <a:defRPr sz="2800">
                <a:solidFill>
                  <a:schemeClr val="tx1"/>
                </a:solidFill>
                <a:latin typeface="Times New Roman" panose="02020603050405020304" pitchFamily="18" charset="0"/>
              </a:defRPr>
            </a:lvl2pPr>
            <a:lvl3pPr marL="1143000" indent="-228600" defTabSz="457200">
              <a:spcBef>
                <a:spcPct val="20000"/>
              </a:spcBef>
              <a:buSzPct val="100000"/>
              <a:buChar char="•"/>
              <a:defRPr sz="2400">
                <a:solidFill>
                  <a:schemeClr val="tx1"/>
                </a:solidFill>
                <a:latin typeface="Times New Roman" panose="02020603050405020304" pitchFamily="18" charset="0"/>
              </a:defRPr>
            </a:lvl3pPr>
            <a:lvl4pPr marL="1600200" indent="-228600" defTabSz="457200">
              <a:spcBef>
                <a:spcPct val="20000"/>
              </a:spcBef>
              <a:buSzPct val="100000"/>
              <a:buChar char="–"/>
              <a:defRPr sz="2000">
                <a:solidFill>
                  <a:schemeClr val="tx1"/>
                </a:solidFill>
                <a:latin typeface="Times New Roman" panose="02020603050405020304" pitchFamily="18" charset="0"/>
              </a:defRPr>
            </a:lvl4pPr>
            <a:lvl5pPr marL="2057400" indent="-228600" defTabSz="457200">
              <a:spcBef>
                <a:spcPct val="20000"/>
              </a:spcBef>
              <a:buSzPct val="100000"/>
              <a:buChar char="»"/>
              <a:defRPr sz="2000">
                <a:solidFill>
                  <a:schemeClr val="tx1"/>
                </a:solidFill>
                <a:latin typeface="Times New Roman" panose="02020603050405020304" pitchFamily="18" charset="0"/>
              </a:defRPr>
            </a:lvl5pPr>
            <a:lvl6pPr marL="2514600" indent="-228600" defTabSz="4572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defTabSz="4572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defTabSz="4572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defTabSz="4572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eaLnBrk="0" fontAlgn="base">
              <a:spcBef>
                <a:spcPct val="50000"/>
              </a:spcBef>
              <a:spcAft>
                <a:spcPct val="0"/>
              </a:spcAft>
              <a:buClrTx/>
              <a:buSzTx/>
              <a:buFontTx/>
              <a:buNone/>
            </a:pPr>
            <a:r>
              <a:rPr lang="en-US" altLang="en-US" sz="1400" b="1" kern="1200" dirty="0">
                <a:solidFill>
                  <a:srgbClr val="2A2A2A"/>
                </a:solidFill>
              </a:rPr>
              <a:t>Adipose tissue- Metformin, </a:t>
            </a:r>
            <a:r>
              <a:rPr lang="en-US" altLang="en-US" sz="1400" b="1" kern="1200" dirty="0" err="1">
                <a:solidFill>
                  <a:srgbClr val="2A2A2A"/>
                </a:solidFill>
              </a:rPr>
              <a:t>Glitazones</a:t>
            </a:r>
            <a:r>
              <a:rPr lang="en-US" altLang="en-US" sz="1400" b="1" kern="1200" dirty="0">
                <a:solidFill>
                  <a:srgbClr val="2A2A2A"/>
                </a:solidFill>
              </a:rPr>
              <a:t>, DPP IV-</a:t>
            </a:r>
            <a:r>
              <a:rPr lang="en-US" altLang="en-US" sz="1400" b="1" kern="1200" dirty="0" err="1">
                <a:solidFill>
                  <a:srgbClr val="2A2A2A"/>
                </a:solidFill>
              </a:rPr>
              <a:t>i</a:t>
            </a:r>
            <a:r>
              <a:rPr lang="en-US" altLang="en-US" sz="1400" b="1" kern="1200" dirty="0">
                <a:solidFill>
                  <a:srgbClr val="2A2A2A"/>
                </a:solidFill>
              </a:rPr>
              <a:t>, Insulins</a:t>
            </a:r>
          </a:p>
        </p:txBody>
      </p:sp>
      <p:sp>
        <p:nvSpPr>
          <p:cNvPr id="27656" name="Text Box 23">
            <a:extLst>
              <a:ext uri="{FF2B5EF4-FFF2-40B4-BE49-F238E27FC236}">
                <a16:creationId xmlns:a16="http://schemas.microsoft.com/office/drawing/2014/main" id="{DCF6181D-E96F-494F-8AC1-209B77AEF918}"/>
              </a:ext>
            </a:extLst>
          </p:cNvPr>
          <p:cNvSpPr txBox="1">
            <a:spLocks noChangeArrowheads="1"/>
          </p:cNvSpPr>
          <p:nvPr/>
        </p:nvSpPr>
        <p:spPr bwMode="auto">
          <a:xfrm>
            <a:off x="5708651" y="1922467"/>
            <a:ext cx="5492749"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defTabSz="457200">
              <a:spcBef>
                <a:spcPct val="20000"/>
              </a:spcBef>
              <a:buClr>
                <a:schemeClr val="bg2"/>
              </a:buClr>
              <a:buSzPct val="100000"/>
              <a:buChar char="§"/>
              <a:defRPr sz="3200">
                <a:solidFill>
                  <a:schemeClr val="tx1"/>
                </a:solidFill>
                <a:latin typeface="Times New Roman" panose="02020603050405020304" pitchFamily="18" charset="0"/>
              </a:defRPr>
            </a:lvl1pPr>
            <a:lvl2pPr marL="742950" indent="-285750" defTabSz="457200">
              <a:spcBef>
                <a:spcPct val="20000"/>
              </a:spcBef>
              <a:buClr>
                <a:schemeClr val="bg2"/>
              </a:buClr>
              <a:buSzPct val="50000"/>
              <a:buFont typeface="Monotype Sorts" pitchFamily="2" charset="2"/>
              <a:buChar char="l"/>
              <a:defRPr sz="2800">
                <a:solidFill>
                  <a:schemeClr val="tx1"/>
                </a:solidFill>
                <a:latin typeface="Times New Roman" panose="02020603050405020304" pitchFamily="18" charset="0"/>
              </a:defRPr>
            </a:lvl2pPr>
            <a:lvl3pPr marL="1143000" indent="-228600" defTabSz="457200">
              <a:spcBef>
                <a:spcPct val="20000"/>
              </a:spcBef>
              <a:buSzPct val="100000"/>
              <a:buChar char="•"/>
              <a:defRPr sz="2400">
                <a:solidFill>
                  <a:schemeClr val="tx1"/>
                </a:solidFill>
                <a:latin typeface="Times New Roman" panose="02020603050405020304" pitchFamily="18" charset="0"/>
              </a:defRPr>
            </a:lvl3pPr>
            <a:lvl4pPr marL="1600200" indent="-228600" defTabSz="457200">
              <a:spcBef>
                <a:spcPct val="20000"/>
              </a:spcBef>
              <a:buSzPct val="100000"/>
              <a:buChar char="–"/>
              <a:defRPr sz="2000">
                <a:solidFill>
                  <a:schemeClr val="tx1"/>
                </a:solidFill>
                <a:latin typeface="Times New Roman" panose="02020603050405020304" pitchFamily="18" charset="0"/>
              </a:defRPr>
            </a:lvl4pPr>
            <a:lvl5pPr marL="2057400" indent="-228600" defTabSz="457200">
              <a:spcBef>
                <a:spcPct val="20000"/>
              </a:spcBef>
              <a:buSzPct val="100000"/>
              <a:buChar char="»"/>
              <a:defRPr sz="2000">
                <a:solidFill>
                  <a:schemeClr val="tx1"/>
                </a:solidFill>
                <a:latin typeface="Times New Roman" panose="02020603050405020304" pitchFamily="18" charset="0"/>
              </a:defRPr>
            </a:lvl5pPr>
            <a:lvl6pPr marL="2514600" indent="-228600" defTabSz="4572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defTabSz="4572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defTabSz="4572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defTabSz="4572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eaLnBrk="0" fontAlgn="base">
              <a:spcBef>
                <a:spcPct val="50000"/>
              </a:spcBef>
              <a:spcAft>
                <a:spcPct val="0"/>
              </a:spcAft>
              <a:buClrTx/>
              <a:buSzTx/>
              <a:buFontTx/>
              <a:buNone/>
            </a:pPr>
            <a:r>
              <a:rPr lang="en-US" altLang="en-US" sz="1400" b="1" kern="1200" dirty="0">
                <a:solidFill>
                  <a:srgbClr val="2A2A2A"/>
                </a:solidFill>
              </a:rPr>
              <a:t> Skeletal muscle – Metformin, </a:t>
            </a:r>
            <a:r>
              <a:rPr lang="en-US" altLang="en-US" sz="1400" b="1" kern="1200" dirty="0" err="1">
                <a:solidFill>
                  <a:srgbClr val="2A2A2A"/>
                </a:solidFill>
              </a:rPr>
              <a:t>Glitazones</a:t>
            </a:r>
            <a:r>
              <a:rPr lang="en-US" altLang="en-US" sz="1400" b="1" kern="1200" dirty="0">
                <a:solidFill>
                  <a:srgbClr val="2A2A2A"/>
                </a:solidFill>
              </a:rPr>
              <a:t>, Insulins</a:t>
            </a:r>
          </a:p>
        </p:txBody>
      </p:sp>
      <p:sp>
        <p:nvSpPr>
          <p:cNvPr id="27657" name="Text Box 23">
            <a:extLst>
              <a:ext uri="{FF2B5EF4-FFF2-40B4-BE49-F238E27FC236}">
                <a16:creationId xmlns:a16="http://schemas.microsoft.com/office/drawing/2014/main" id="{175489A9-E4D6-489D-A2E5-B124FB5E2215}"/>
              </a:ext>
            </a:extLst>
          </p:cNvPr>
          <p:cNvSpPr txBox="1">
            <a:spLocks noChangeArrowheads="1"/>
          </p:cNvSpPr>
          <p:nvPr/>
        </p:nvSpPr>
        <p:spPr bwMode="auto">
          <a:xfrm>
            <a:off x="4605867" y="5562600"/>
            <a:ext cx="3896784"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defTabSz="457200">
              <a:spcBef>
                <a:spcPct val="20000"/>
              </a:spcBef>
              <a:buClr>
                <a:schemeClr val="bg2"/>
              </a:buClr>
              <a:buSzPct val="100000"/>
              <a:buChar char="§"/>
              <a:defRPr sz="3200">
                <a:solidFill>
                  <a:schemeClr val="tx1"/>
                </a:solidFill>
                <a:latin typeface="Times New Roman" panose="02020603050405020304" pitchFamily="18" charset="0"/>
              </a:defRPr>
            </a:lvl1pPr>
            <a:lvl2pPr marL="742950" indent="-285750" defTabSz="457200">
              <a:spcBef>
                <a:spcPct val="20000"/>
              </a:spcBef>
              <a:buClr>
                <a:schemeClr val="bg2"/>
              </a:buClr>
              <a:buSzPct val="50000"/>
              <a:buFont typeface="Monotype Sorts" pitchFamily="2" charset="2"/>
              <a:buChar char="l"/>
              <a:defRPr sz="2800">
                <a:solidFill>
                  <a:schemeClr val="tx1"/>
                </a:solidFill>
                <a:latin typeface="Times New Roman" panose="02020603050405020304" pitchFamily="18" charset="0"/>
              </a:defRPr>
            </a:lvl2pPr>
            <a:lvl3pPr marL="1143000" indent="-228600" defTabSz="457200">
              <a:spcBef>
                <a:spcPct val="20000"/>
              </a:spcBef>
              <a:buSzPct val="100000"/>
              <a:buChar char="•"/>
              <a:defRPr sz="2400">
                <a:solidFill>
                  <a:schemeClr val="tx1"/>
                </a:solidFill>
                <a:latin typeface="Times New Roman" panose="02020603050405020304" pitchFamily="18" charset="0"/>
              </a:defRPr>
            </a:lvl3pPr>
            <a:lvl4pPr marL="1600200" indent="-228600" defTabSz="457200">
              <a:spcBef>
                <a:spcPct val="20000"/>
              </a:spcBef>
              <a:buSzPct val="100000"/>
              <a:buChar char="–"/>
              <a:defRPr sz="2000">
                <a:solidFill>
                  <a:schemeClr val="tx1"/>
                </a:solidFill>
                <a:latin typeface="Times New Roman" panose="02020603050405020304" pitchFamily="18" charset="0"/>
              </a:defRPr>
            </a:lvl4pPr>
            <a:lvl5pPr marL="2057400" indent="-228600" defTabSz="457200">
              <a:spcBef>
                <a:spcPct val="20000"/>
              </a:spcBef>
              <a:buSzPct val="100000"/>
              <a:buChar char="»"/>
              <a:defRPr sz="2000">
                <a:solidFill>
                  <a:schemeClr val="tx1"/>
                </a:solidFill>
                <a:latin typeface="Times New Roman" panose="02020603050405020304" pitchFamily="18" charset="0"/>
              </a:defRPr>
            </a:lvl5pPr>
            <a:lvl6pPr marL="2514600" indent="-228600" defTabSz="4572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defTabSz="4572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defTabSz="4572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defTabSz="4572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eaLnBrk="0" fontAlgn="base">
              <a:spcBef>
                <a:spcPct val="50000"/>
              </a:spcBef>
              <a:spcAft>
                <a:spcPct val="0"/>
              </a:spcAft>
              <a:buClrTx/>
              <a:buSzTx/>
              <a:buFontTx/>
              <a:buNone/>
            </a:pPr>
            <a:r>
              <a:rPr lang="en-US" altLang="en-US" sz="1400" b="1" kern="1200">
                <a:solidFill>
                  <a:srgbClr val="2A2A2A"/>
                </a:solidFill>
              </a:rPr>
              <a:t>SGLT2-i</a:t>
            </a:r>
          </a:p>
        </p:txBody>
      </p:sp>
      <p:sp>
        <p:nvSpPr>
          <p:cNvPr id="27658" name="Text Box 23">
            <a:extLst>
              <a:ext uri="{FF2B5EF4-FFF2-40B4-BE49-F238E27FC236}">
                <a16:creationId xmlns:a16="http://schemas.microsoft.com/office/drawing/2014/main" id="{AC1A9963-E81D-4AD0-88D3-1F444ED6EBAC}"/>
              </a:ext>
            </a:extLst>
          </p:cNvPr>
          <p:cNvSpPr txBox="1">
            <a:spLocks noChangeArrowheads="1"/>
          </p:cNvSpPr>
          <p:nvPr/>
        </p:nvSpPr>
        <p:spPr bwMode="auto">
          <a:xfrm>
            <a:off x="6608233" y="3760789"/>
            <a:ext cx="36068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defTabSz="457200">
              <a:spcBef>
                <a:spcPct val="20000"/>
              </a:spcBef>
              <a:buClr>
                <a:schemeClr val="bg2"/>
              </a:buClr>
              <a:buSzPct val="100000"/>
              <a:buChar char="§"/>
              <a:defRPr sz="3200">
                <a:solidFill>
                  <a:schemeClr val="tx1"/>
                </a:solidFill>
                <a:latin typeface="Times New Roman" panose="02020603050405020304" pitchFamily="18" charset="0"/>
              </a:defRPr>
            </a:lvl1pPr>
            <a:lvl2pPr marL="742950" indent="-285750" defTabSz="457200">
              <a:spcBef>
                <a:spcPct val="20000"/>
              </a:spcBef>
              <a:buClr>
                <a:schemeClr val="bg2"/>
              </a:buClr>
              <a:buSzPct val="50000"/>
              <a:buFont typeface="Monotype Sorts" pitchFamily="2" charset="2"/>
              <a:buChar char="l"/>
              <a:defRPr sz="2800">
                <a:solidFill>
                  <a:schemeClr val="tx1"/>
                </a:solidFill>
                <a:latin typeface="Times New Roman" panose="02020603050405020304" pitchFamily="18" charset="0"/>
              </a:defRPr>
            </a:lvl2pPr>
            <a:lvl3pPr marL="1143000" indent="-228600" defTabSz="457200">
              <a:spcBef>
                <a:spcPct val="20000"/>
              </a:spcBef>
              <a:buSzPct val="100000"/>
              <a:buChar char="•"/>
              <a:defRPr sz="2400">
                <a:solidFill>
                  <a:schemeClr val="tx1"/>
                </a:solidFill>
                <a:latin typeface="Times New Roman" panose="02020603050405020304" pitchFamily="18" charset="0"/>
              </a:defRPr>
            </a:lvl3pPr>
            <a:lvl4pPr marL="1600200" indent="-228600" defTabSz="457200">
              <a:spcBef>
                <a:spcPct val="20000"/>
              </a:spcBef>
              <a:buSzPct val="100000"/>
              <a:buChar char="–"/>
              <a:defRPr sz="2000">
                <a:solidFill>
                  <a:schemeClr val="tx1"/>
                </a:solidFill>
                <a:latin typeface="Times New Roman" panose="02020603050405020304" pitchFamily="18" charset="0"/>
              </a:defRPr>
            </a:lvl4pPr>
            <a:lvl5pPr marL="2057400" indent="-228600" defTabSz="457200">
              <a:spcBef>
                <a:spcPct val="20000"/>
              </a:spcBef>
              <a:buSzPct val="100000"/>
              <a:buChar char="»"/>
              <a:defRPr sz="2000">
                <a:solidFill>
                  <a:schemeClr val="tx1"/>
                </a:solidFill>
                <a:latin typeface="Times New Roman" panose="02020603050405020304" pitchFamily="18" charset="0"/>
              </a:defRPr>
            </a:lvl5pPr>
            <a:lvl6pPr marL="2514600" indent="-228600" defTabSz="4572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defTabSz="4572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defTabSz="4572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defTabSz="4572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eaLnBrk="0" fontAlgn="base">
              <a:spcBef>
                <a:spcPct val="50000"/>
              </a:spcBef>
              <a:spcAft>
                <a:spcPct val="0"/>
              </a:spcAft>
              <a:buClrTx/>
              <a:buSzTx/>
              <a:buFontTx/>
              <a:buNone/>
            </a:pPr>
            <a:r>
              <a:rPr lang="en-US" altLang="en-US" sz="1400" b="1" kern="1200" dirty="0">
                <a:solidFill>
                  <a:srgbClr val="2A2A2A"/>
                </a:solidFill>
              </a:rPr>
              <a:t>Islet cells – GLP-1 RA, DPP IV-</a:t>
            </a:r>
            <a:r>
              <a:rPr lang="en-US" altLang="en-US" sz="1400" b="1" kern="1200" dirty="0" err="1">
                <a:solidFill>
                  <a:srgbClr val="2A2A2A"/>
                </a:solidFill>
              </a:rPr>
              <a:t>i</a:t>
            </a:r>
            <a:r>
              <a:rPr lang="en-US" altLang="en-US" sz="1400" b="1" kern="1200" dirty="0">
                <a:solidFill>
                  <a:srgbClr val="2A2A2A"/>
                </a:solidFill>
              </a:rPr>
              <a:t>, Sulfonylureas </a:t>
            </a:r>
          </a:p>
        </p:txBody>
      </p:sp>
      <p:sp>
        <p:nvSpPr>
          <p:cNvPr id="27659" name="Text Box 23">
            <a:extLst>
              <a:ext uri="{FF2B5EF4-FFF2-40B4-BE49-F238E27FC236}">
                <a16:creationId xmlns:a16="http://schemas.microsoft.com/office/drawing/2014/main" id="{7FE648EF-B7DF-4DE3-8BC5-81D6B90A5DF2}"/>
              </a:ext>
            </a:extLst>
          </p:cNvPr>
          <p:cNvSpPr txBox="1">
            <a:spLocks noChangeArrowheads="1"/>
          </p:cNvSpPr>
          <p:nvPr/>
        </p:nvSpPr>
        <p:spPr bwMode="auto">
          <a:xfrm>
            <a:off x="5577424" y="5114934"/>
            <a:ext cx="4591049"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defTabSz="457200">
              <a:spcBef>
                <a:spcPct val="20000"/>
              </a:spcBef>
              <a:buClr>
                <a:schemeClr val="bg2"/>
              </a:buClr>
              <a:buSzPct val="100000"/>
              <a:buChar char="§"/>
              <a:defRPr sz="3200">
                <a:solidFill>
                  <a:schemeClr val="tx1"/>
                </a:solidFill>
                <a:latin typeface="Times New Roman" panose="02020603050405020304" pitchFamily="18" charset="0"/>
              </a:defRPr>
            </a:lvl1pPr>
            <a:lvl2pPr marL="742950" indent="-285750" defTabSz="457200">
              <a:spcBef>
                <a:spcPct val="20000"/>
              </a:spcBef>
              <a:buClr>
                <a:schemeClr val="bg2"/>
              </a:buClr>
              <a:buSzPct val="50000"/>
              <a:buFont typeface="Monotype Sorts" pitchFamily="2" charset="2"/>
              <a:buChar char="l"/>
              <a:defRPr sz="2800">
                <a:solidFill>
                  <a:schemeClr val="tx1"/>
                </a:solidFill>
                <a:latin typeface="Times New Roman" panose="02020603050405020304" pitchFamily="18" charset="0"/>
              </a:defRPr>
            </a:lvl2pPr>
            <a:lvl3pPr marL="1143000" indent="-228600" defTabSz="457200">
              <a:spcBef>
                <a:spcPct val="20000"/>
              </a:spcBef>
              <a:buSzPct val="100000"/>
              <a:buChar char="•"/>
              <a:defRPr sz="2400">
                <a:solidFill>
                  <a:schemeClr val="tx1"/>
                </a:solidFill>
                <a:latin typeface="Times New Roman" panose="02020603050405020304" pitchFamily="18" charset="0"/>
              </a:defRPr>
            </a:lvl3pPr>
            <a:lvl4pPr marL="1600200" indent="-228600" defTabSz="457200">
              <a:spcBef>
                <a:spcPct val="20000"/>
              </a:spcBef>
              <a:buSzPct val="100000"/>
              <a:buChar char="–"/>
              <a:defRPr sz="2000">
                <a:solidFill>
                  <a:schemeClr val="tx1"/>
                </a:solidFill>
                <a:latin typeface="Times New Roman" panose="02020603050405020304" pitchFamily="18" charset="0"/>
              </a:defRPr>
            </a:lvl4pPr>
            <a:lvl5pPr marL="2057400" indent="-228600" defTabSz="457200">
              <a:spcBef>
                <a:spcPct val="20000"/>
              </a:spcBef>
              <a:buSzPct val="100000"/>
              <a:buChar char="»"/>
              <a:defRPr sz="2000">
                <a:solidFill>
                  <a:schemeClr val="tx1"/>
                </a:solidFill>
                <a:latin typeface="Times New Roman" panose="02020603050405020304" pitchFamily="18" charset="0"/>
              </a:defRPr>
            </a:lvl5pPr>
            <a:lvl6pPr marL="2514600" indent="-228600" defTabSz="4572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defTabSz="4572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defTabSz="4572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defTabSz="4572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eaLnBrk="0" fontAlgn="base">
              <a:spcBef>
                <a:spcPct val="50000"/>
              </a:spcBef>
              <a:spcAft>
                <a:spcPct val="0"/>
              </a:spcAft>
              <a:buClrTx/>
              <a:buSzTx/>
              <a:buFontTx/>
              <a:buNone/>
            </a:pPr>
            <a:r>
              <a:rPr lang="en-US" altLang="en-US" sz="1400" b="1" kern="1200" dirty="0">
                <a:solidFill>
                  <a:srgbClr val="2A2A2A"/>
                </a:solidFill>
              </a:rPr>
              <a:t>GLP-1 RA, DPP IV-</a:t>
            </a:r>
            <a:r>
              <a:rPr lang="en-US" altLang="en-US" sz="1400" b="1" kern="1200" dirty="0" err="1">
                <a:solidFill>
                  <a:srgbClr val="2A2A2A"/>
                </a:solidFill>
              </a:rPr>
              <a:t>i</a:t>
            </a:r>
            <a:endParaRPr lang="en-US" altLang="en-US" sz="1400" b="1" kern="1200" dirty="0">
              <a:solidFill>
                <a:srgbClr val="2A2A2A"/>
              </a:solidFill>
            </a:endParaRPr>
          </a:p>
        </p:txBody>
      </p:sp>
      <p:pic>
        <p:nvPicPr>
          <p:cNvPr id="27660" name="Picture 15" descr="slide6">
            <a:extLst>
              <a:ext uri="{FF2B5EF4-FFF2-40B4-BE49-F238E27FC236}">
                <a16:creationId xmlns:a16="http://schemas.microsoft.com/office/drawing/2014/main" id="{43B94349-0650-4EEC-9BDB-3AA8F9B86B8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10403" y="6848475"/>
            <a:ext cx="12460817" cy="701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574802"/>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6B0F664A-4AC8-D46D-D08F-A4BE04FED973}"/>
              </a:ext>
            </a:extLst>
          </p:cNvPr>
          <p:cNvGraphicFramePr>
            <a:graphicFrameLocks noGrp="1"/>
          </p:cNvGraphicFramePr>
          <p:nvPr/>
        </p:nvGraphicFramePr>
        <p:xfrm>
          <a:off x="3135630" y="1783080"/>
          <a:ext cx="5920740" cy="3291840"/>
        </p:xfrm>
        <a:graphic>
          <a:graphicData uri="http://schemas.openxmlformats.org/drawingml/2006/table">
            <a:tbl>
              <a:tblPr bandRow="1">
                <a:tableStyleId>{5940675A-B579-460E-94D1-54222C63F5DA}</a:tableStyleId>
              </a:tblPr>
              <a:tblGrid>
                <a:gridCol w="1973580">
                  <a:extLst>
                    <a:ext uri="{9D8B030D-6E8A-4147-A177-3AD203B41FA5}">
                      <a16:colId xmlns:a16="http://schemas.microsoft.com/office/drawing/2014/main" val="736364649"/>
                    </a:ext>
                  </a:extLst>
                </a:gridCol>
                <a:gridCol w="1973580">
                  <a:extLst>
                    <a:ext uri="{9D8B030D-6E8A-4147-A177-3AD203B41FA5}">
                      <a16:colId xmlns:a16="http://schemas.microsoft.com/office/drawing/2014/main" val="1971620019"/>
                    </a:ext>
                  </a:extLst>
                </a:gridCol>
                <a:gridCol w="1973580">
                  <a:extLst>
                    <a:ext uri="{9D8B030D-6E8A-4147-A177-3AD203B41FA5}">
                      <a16:colId xmlns:a16="http://schemas.microsoft.com/office/drawing/2014/main" val="2450160942"/>
                    </a:ext>
                  </a:extLst>
                </a:gridCol>
              </a:tblGrid>
              <a:tr h="0">
                <a:tc>
                  <a:txBody>
                    <a:bodyPr/>
                    <a:lstStyle/>
                    <a:p>
                      <a:pPr algn="l" fontAlgn="t"/>
                      <a:r>
                        <a:rPr lang="en-US">
                          <a:effectLst/>
                          <a:highlight>
                            <a:srgbClr val="FAFAFA"/>
                          </a:highlight>
                        </a:rPr>
                        <a:t>A1C (%)</a:t>
                      </a: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AFAFA"/>
                    </a:solidFill>
                  </a:tcPr>
                </a:tc>
                <a:tc>
                  <a:txBody>
                    <a:bodyPr/>
                    <a:lstStyle/>
                    <a:p>
                      <a:pPr algn="l" fontAlgn="t"/>
                      <a:r>
                        <a:rPr lang="en-US">
                          <a:effectLst/>
                          <a:highlight>
                            <a:srgbClr val="FAFAFA"/>
                          </a:highlight>
                        </a:rPr>
                        <a:t>mg/dL</a:t>
                      </a:r>
                      <a:r>
                        <a:rPr lang="en-US">
                          <a:solidFill>
                            <a:srgbClr val="0F5DB9"/>
                          </a:solidFill>
                          <a:effectLst/>
                          <a:highlight>
                            <a:srgbClr val="FAFAFA"/>
                          </a:highlight>
                        </a:rPr>
                        <a:t>*</a:t>
                      </a:r>
                      <a:endParaRPr lang="en-US">
                        <a:effectLst/>
                        <a:highlight>
                          <a:srgbClr val="FAFAFA"/>
                        </a:highlight>
                      </a:endParaRP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AFAFA"/>
                    </a:solidFill>
                  </a:tcPr>
                </a:tc>
                <a:tc>
                  <a:txBody>
                    <a:bodyPr/>
                    <a:lstStyle/>
                    <a:p>
                      <a:pPr algn="l" fontAlgn="t"/>
                      <a:r>
                        <a:rPr lang="en-US">
                          <a:effectLst/>
                          <a:highlight>
                            <a:srgbClr val="FAFAFA"/>
                          </a:highlight>
                        </a:rPr>
                        <a:t>mmol/L</a:t>
                      </a: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AFAFA"/>
                    </a:solidFill>
                  </a:tcPr>
                </a:tc>
                <a:extLst>
                  <a:ext uri="{0D108BD9-81ED-4DB2-BD59-A6C34878D82A}">
                    <a16:rowId xmlns:a16="http://schemas.microsoft.com/office/drawing/2014/main" val="969468267"/>
                  </a:ext>
                </a:extLst>
              </a:tr>
              <a:tr h="0">
                <a:tc>
                  <a:txBody>
                    <a:bodyPr/>
                    <a:lstStyle/>
                    <a:p>
                      <a:pPr fontAlgn="t"/>
                      <a:r>
                        <a:rPr lang="en-US">
                          <a:effectLst/>
                        </a:rPr>
                        <a:t>5 </a:t>
                      </a: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noFill/>
                  </a:tcPr>
                </a:tc>
                <a:tc>
                  <a:txBody>
                    <a:bodyPr/>
                    <a:lstStyle/>
                    <a:p>
                      <a:pPr fontAlgn="t"/>
                      <a:r>
                        <a:rPr lang="en-US">
                          <a:effectLst/>
                        </a:rPr>
                        <a:t>97 (76–120) </a:t>
                      </a: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noFill/>
                  </a:tcPr>
                </a:tc>
                <a:tc>
                  <a:txBody>
                    <a:bodyPr/>
                    <a:lstStyle/>
                    <a:p>
                      <a:pPr fontAlgn="t"/>
                      <a:r>
                        <a:rPr lang="en-US">
                          <a:effectLst/>
                        </a:rPr>
                        <a:t>5.4 (4.2–6.7) </a:t>
                      </a: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noFill/>
                  </a:tcPr>
                </a:tc>
                <a:extLst>
                  <a:ext uri="{0D108BD9-81ED-4DB2-BD59-A6C34878D82A}">
                    <a16:rowId xmlns:a16="http://schemas.microsoft.com/office/drawing/2014/main" val="1306056917"/>
                  </a:ext>
                </a:extLst>
              </a:tr>
              <a:tr h="0">
                <a:tc>
                  <a:txBody>
                    <a:bodyPr/>
                    <a:lstStyle/>
                    <a:p>
                      <a:pPr fontAlgn="t"/>
                      <a:r>
                        <a:rPr lang="en-US">
                          <a:effectLst/>
                        </a:rPr>
                        <a:t>6 </a:t>
                      </a: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noFill/>
                  </a:tcPr>
                </a:tc>
                <a:tc>
                  <a:txBody>
                    <a:bodyPr/>
                    <a:lstStyle/>
                    <a:p>
                      <a:pPr fontAlgn="t"/>
                      <a:r>
                        <a:rPr lang="en-US">
                          <a:effectLst/>
                        </a:rPr>
                        <a:t>126 (100–152) </a:t>
                      </a: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noFill/>
                  </a:tcPr>
                </a:tc>
                <a:tc>
                  <a:txBody>
                    <a:bodyPr/>
                    <a:lstStyle/>
                    <a:p>
                      <a:pPr fontAlgn="t"/>
                      <a:r>
                        <a:rPr lang="en-US">
                          <a:effectLst/>
                        </a:rPr>
                        <a:t>7.0 (5.5–8.5) </a:t>
                      </a: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noFill/>
                  </a:tcPr>
                </a:tc>
                <a:extLst>
                  <a:ext uri="{0D108BD9-81ED-4DB2-BD59-A6C34878D82A}">
                    <a16:rowId xmlns:a16="http://schemas.microsoft.com/office/drawing/2014/main" val="3822897966"/>
                  </a:ext>
                </a:extLst>
              </a:tr>
              <a:tr h="0">
                <a:tc>
                  <a:txBody>
                    <a:bodyPr/>
                    <a:lstStyle/>
                    <a:p>
                      <a:pPr fontAlgn="t"/>
                      <a:r>
                        <a:rPr lang="en-US">
                          <a:effectLst/>
                        </a:rPr>
                        <a:t>7 </a:t>
                      </a: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noFill/>
                  </a:tcPr>
                </a:tc>
                <a:tc>
                  <a:txBody>
                    <a:bodyPr/>
                    <a:lstStyle/>
                    <a:p>
                      <a:pPr fontAlgn="t"/>
                      <a:r>
                        <a:rPr lang="en-US">
                          <a:effectLst/>
                        </a:rPr>
                        <a:t>154 (123–185) </a:t>
                      </a: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noFill/>
                  </a:tcPr>
                </a:tc>
                <a:tc>
                  <a:txBody>
                    <a:bodyPr/>
                    <a:lstStyle/>
                    <a:p>
                      <a:pPr fontAlgn="t"/>
                      <a:r>
                        <a:rPr lang="en-US">
                          <a:effectLst/>
                        </a:rPr>
                        <a:t>8.6 (6.8–10.3) </a:t>
                      </a: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noFill/>
                  </a:tcPr>
                </a:tc>
                <a:extLst>
                  <a:ext uri="{0D108BD9-81ED-4DB2-BD59-A6C34878D82A}">
                    <a16:rowId xmlns:a16="http://schemas.microsoft.com/office/drawing/2014/main" val="1319113332"/>
                  </a:ext>
                </a:extLst>
              </a:tr>
              <a:tr h="0">
                <a:tc>
                  <a:txBody>
                    <a:bodyPr/>
                    <a:lstStyle/>
                    <a:p>
                      <a:pPr fontAlgn="t"/>
                      <a:r>
                        <a:rPr lang="en-US">
                          <a:effectLst/>
                        </a:rPr>
                        <a:t>8 </a:t>
                      </a: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noFill/>
                  </a:tcPr>
                </a:tc>
                <a:tc>
                  <a:txBody>
                    <a:bodyPr/>
                    <a:lstStyle/>
                    <a:p>
                      <a:pPr fontAlgn="t"/>
                      <a:r>
                        <a:rPr lang="en-US">
                          <a:effectLst/>
                        </a:rPr>
                        <a:t>183 (147–217) </a:t>
                      </a: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noFill/>
                  </a:tcPr>
                </a:tc>
                <a:tc>
                  <a:txBody>
                    <a:bodyPr/>
                    <a:lstStyle/>
                    <a:p>
                      <a:pPr fontAlgn="t"/>
                      <a:r>
                        <a:rPr lang="en-US">
                          <a:effectLst/>
                        </a:rPr>
                        <a:t>10.2 (8.1–12.1) </a:t>
                      </a: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noFill/>
                  </a:tcPr>
                </a:tc>
                <a:extLst>
                  <a:ext uri="{0D108BD9-81ED-4DB2-BD59-A6C34878D82A}">
                    <a16:rowId xmlns:a16="http://schemas.microsoft.com/office/drawing/2014/main" val="3204185292"/>
                  </a:ext>
                </a:extLst>
              </a:tr>
              <a:tr h="0">
                <a:tc>
                  <a:txBody>
                    <a:bodyPr/>
                    <a:lstStyle/>
                    <a:p>
                      <a:pPr fontAlgn="t"/>
                      <a:r>
                        <a:rPr lang="en-US">
                          <a:effectLst/>
                        </a:rPr>
                        <a:t>9 </a:t>
                      </a: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noFill/>
                  </a:tcPr>
                </a:tc>
                <a:tc>
                  <a:txBody>
                    <a:bodyPr/>
                    <a:lstStyle/>
                    <a:p>
                      <a:pPr fontAlgn="t"/>
                      <a:r>
                        <a:rPr lang="en-US">
                          <a:effectLst/>
                        </a:rPr>
                        <a:t>212 (170–249) </a:t>
                      </a: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noFill/>
                  </a:tcPr>
                </a:tc>
                <a:tc>
                  <a:txBody>
                    <a:bodyPr/>
                    <a:lstStyle/>
                    <a:p>
                      <a:pPr fontAlgn="t"/>
                      <a:r>
                        <a:rPr lang="en-US">
                          <a:effectLst/>
                        </a:rPr>
                        <a:t>11.8 (9.4–13.9) </a:t>
                      </a: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noFill/>
                  </a:tcPr>
                </a:tc>
                <a:extLst>
                  <a:ext uri="{0D108BD9-81ED-4DB2-BD59-A6C34878D82A}">
                    <a16:rowId xmlns:a16="http://schemas.microsoft.com/office/drawing/2014/main" val="256425165"/>
                  </a:ext>
                </a:extLst>
              </a:tr>
              <a:tr h="0">
                <a:tc>
                  <a:txBody>
                    <a:bodyPr/>
                    <a:lstStyle/>
                    <a:p>
                      <a:pPr fontAlgn="t"/>
                      <a:r>
                        <a:rPr lang="en-US">
                          <a:effectLst/>
                        </a:rPr>
                        <a:t>10 </a:t>
                      </a: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noFill/>
                  </a:tcPr>
                </a:tc>
                <a:tc>
                  <a:txBody>
                    <a:bodyPr/>
                    <a:lstStyle/>
                    <a:p>
                      <a:pPr fontAlgn="t"/>
                      <a:r>
                        <a:rPr lang="en-US">
                          <a:effectLst/>
                        </a:rPr>
                        <a:t>240 (193–282) </a:t>
                      </a: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noFill/>
                  </a:tcPr>
                </a:tc>
                <a:tc>
                  <a:txBody>
                    <a:bodyPr/>
                    <a:lstStyle/>
                    <a:p>
                      <a:pPr fontAlgn="t"/>
                      <a:r>
                        <a:rPr lang="en-US">
                          <a:effectLst/>
                        </a:rPr>
                        <a:t>13.4 (10.7–15.7) </a:t>
                      </a: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noFill/>
                  </a:tcPr>
                </a:tc>
                <a:extLst>
                  <a:ext uri="{0D108BD9-81ED-4DB2-BD59-A6C34878D82A}">
                    <a16:rowId xmlns:a16="http://schemas.microsoft.com/office/drawing/2014/main" val="484937783"/>
                  </a:ext>
                </a:extLst>
              </a:tr>
              <a:tr h="0">
                <a:tc>
                  <a:txBody>
                    <a:bodyPr/>
                    <a:lstStyle/>
                    <a:p>
                      <a:pPr fontAlgn="t"/>
                      <a:r>
                        <a:rPr lang="en-US">
                          <a:effectLst/>
                        </a:rPr>
                        <a:t>11 </a:t>
                      </a: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noFill/>
                  </a:tcPr>
                </a:tc>
                <a:tc>
                  <a:txBody>
                    <a:bodyPr/>
                    <a:lstStyle/>
                    <a:p>
                      <a:pPr fontAlgn="t"/>
                      <a:r>
                        <a:rPr lang="en-US">
                          <a:effectLst/>
                        </a:rPr>
                        <a:t>269 (217–314) </a:t>
                      </a: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noFill/>
                  </a:tcPr>
                </a:tc>
                <a:tc>
                  <a:txBody>
                    <a:bodyPr/>
                    <a:lstStyle/>
                    <a:p>
                      <a:pPr fontAlgn="t"/>
                      <a:r>
                        <a:rPr lang="en-US">
                          <a:effectLst/>
                        </a:rPr>
                        <a:t>14.9 (12.0–17.5) </a:t>
                      </a: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noFill/>
                  </a:tcPr>
                </a:tc>
                <a:extLst>
                  <a:ext uri="{0D108BD9-81ED-4DB2-BD59-A6C34878D82A}">
                    <a16:rowId xmlns:a16="http://schemas.microsoft.com/office/drawing/2014/main" val="3311289382"/>
                  </a:ext>
                </a:extLst>
              </a:tr>
              <a:tr h="0">
                <a:tc>
                  <a:txBody>
                    <a:bodyPr/>
                    <a:lstStyle/>
                    <a:p>
                      <a:pPr fontAlgn="t"/>
                      <a:r>
                        <a:rPr lang="en-US">
                          <a:effectLst/>
                        </a:rPr>
                        <a:t>12 </a:t>
                      </a: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noFill/>
                  </a:tcPr>
                </a:tc>
                <a:tc>
                  <a:txBody>
                    <a:bodyPr/>
                    <a:lstStyle/>
                    <a:p>
                      <a:pPr fontAlgn="t"/>
                      <a:r>
                        <a:rPr lang="en-US">
                          <a:effectLst/>
                        </a:rPr>
                        <a:t>298 (240–347) </a:t>
                      </a: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noFill/>
                  </a:tcPr>
                </a:tc>
                <a:tc>
                  <a:txBody>
                    <a:bodyPr/>
                    <a:lstStyle/>
                    <a:p>
                      <a:pPr fontAlgn="t"/>
                      <a:r>
                        <a:rPr lang="en-US">
                          <a:effectLst/>
                        </a:rPr>
                        <a:t>16.5 (13.3–19.3) </a:t>
                      </a: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noFill/>
                  </a:tcPr>
                </a:tc>
                <a:extLst>
                  <a:ext uri="{0D108BD9-81ED-4DB2-BD59-A6C34878D82A}">
                    <a16:rowId xmlns:a16="http://schemas.microsoft.com/office/drawing/2014/main" val="1938894174"/>
                  </a:ext>
                </a:extLst>
              </a:tr>
            </a:tbl>
          </a:graphicData>
        </a:graphic>
      </p:graphicFrame>
      <p:sp>
        <p:nvSpPr>
          <p:cNvPr id="2" name="TextBox 1">
            <a:extLst>
              <a:ext uri="{FF2B5EF4-FFF2-40B4-BE49-F238E27FC236}">
                <a16:creationId xmlns:a16="http://schemas.microsoft.com/office/drawing/2014/main" id="{154E4FAA-4D93-292B-31A0-ECE0BEE8A798}"/>
              </a:ext>
            </a:extLst>
          </p:cNvPr>
          <p:cNvSpPr txBox="1"/>
          <p:nvPr/>
        </p:nvSpPr>
        <p:spPr>
          <a:xfrm>
            <a:off x="2944711" y="655754"/>
            <a:ext cx="591416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Times New Roman"/>
              </a:rPr>
              <a:t>Goal A1c and corresponding average glucose</a:t>
            </a:r>
            <a:endParaRPr lang="en-US"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15E304D6-F00C-1055-3B32-1EE12817414A}"/>
                  </a:ext>
                </a:extLst>
              </p14:cNvPr>
              <p14:cNvContentPartPr/>
              <p14:nvPr/>
            </p14:nvContentPartPr>
            <p14:xfrm>
              <a:off x="2963464" y="2615045"/>
              <a:ext cx="111464" cy="687344"/>
            </p14:xfrm>
          </p:contentPart>
        </mc:Choice>
        <mc:Fallback xmlns="">
          <p:pic>
            <p:nvPicPr>
              <p:cNvPr id="4" name="Ink 3">
                <a:extLst>
                  <a:ext uri="{FF2B5EF4-FFF2-40B4-BE49-F238E27FC236}">
                    <a16:creationId xmlns:a16="http://schemas.microsoft.com/office/drawing/2014/main" id="{15E304D6-F00C-1055-3B32-1EE12817414A}"/>
                  </a:ext>
                </a:extLst>
              </p:cNvPr>
              <p:cNvPicPr/>
              <p:nvPr/>
            </p:nvPicPr>
            <p:blipFill>
              <a:blip r:embed="rId3"/>
              <a:stretch>
                <a:fillRect/>
              </a:stretch>
            </p:blipFill>
            <p:spPr>
              <a:xfrm>
                <a:off x="2945544" y="2597412"/>
                <a:ext cx="146946" cy="722971"/>
              </a:xfrm>
              <a:prstGeom prst="rect">
                <a:avLst/>
              </a:prstGeom>
            </p:spPr>
          </p:pic>
        </mc:Fallback>
      </mc:AlternateContent>
    </p:spTree>
    <p:extLst>
      <p:ext uri="{BB962C8B-B14F-4D97-AF65-F5344CB8AC3E}">
        <p14:creationId xmlns:p14="http://schemas.microsoft.com/office/powerpoint/2010/main" val="9062076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E6ABB-73C3-C534-48FF-5340C39EBE70}"/>
              </a:ext>
            </a:extLst>
          </p:cNvPr>
          <p:cNvSpPr>
            <a:spLocks noGrp="1"/>
          </p:cNvSpPr>
          <p:nvPr>
            <p:ph type="title"/>
          </p:nvPr>
        </p:nvSpPr>
        <p:spPr/>
        <p:txBody>
          <a:bodyPr lIns="45719" tIns="45720" rIns="45719" bIns="45720" anchor="ctr">
            <a:normAutofit/>
          </a:bodyPr>
          <a:lstStyle/>
          <a:p>
            <a:endParaRPr lang="en-US" sz="1100" dirty="0">
              <a:solidFill>
                <a:srgbClr val="2A2A2A"/>
              </a:solidFill>
            </a:endParaRPr>
          </a:p>
        </p:txBody>
      </p:sp>
      <p:sp>
        <p:nvSpPr>
          <p:cNvPr id="3" name="Text Placeholder 2">
            <a:extLst>
              <a:ext uri="{FF2B5EF4-FFF2-40B4-BE49-F238E27FC236}">
                <a16:creationId xmlns:a16="http://schemas.microsoft.com/office/drawing/2014/main" id="{5B60A677-7C6F-C3DD-7869-02F0737FDC38}"/>
              </a:ext>
            </a:extLst>
          </p:cNvPr>
          <p:cNvSpPr>
            <a:spLocks noGrp="1"/>
          </p:cNvSpPr>
          <p:nvPr>
            <p:ph type="body" idx="1"/>
          </p:nvPr>
        </p:nvSpPr>
        <p:spPr>
          <a:xfrm>
            <a:off x="572053" y="468245"/>
            <a:ext cx="10705547" cy="5627755"/>
          </a:xfrm>
        </p:spPr>
        <p:txBody>
          <a:bodyPr lIns="45719" tIns="45720" rIns="45719" bIns="45720" anchor="t">
            <a:normAutofit/>
          </a:bodyPr>
          <a:lstStyle/>
          <a:p>
            <a:r>
              <a:rPr lang="en-US" sz="1800" dirty="0">
                <a:solidFill>
                  <a:srgbClr val="2A2A2A"/>
                </a:solidFill>
              </a:rPr>
              <a:t>Metformin (1,1-dimethylbiguanide) originates from </a:t>
            </a:r>
            <a:r>
              <a:rPr lang="en-US" sz="1800" i="1" dirty="0" err="1">
                <a:solidFill>
                  <a:srgbClr val="2A2A2A"/>
                </a:solidFill>
              </a:rPr>
              <a:t>Galega</a:t>
            </a:r>
            <a:r>
              <a:rPr lang="en-US" sz="1800" i="1" dirty="0">
                <a:solidFill>
                  <a:srgbClr val="2A2A2A"/>
                </a:solidFill>
              </a:rPr>
              <a:t> officinalis</a:t>
            </a:r>
            <a:r>
              <a:rPr lang="en-US" sz="1800" dirty="0">
                <a:solidFill>
                  <a:srgbClr val="2A2A2A"/>
                </a:solidFill>
              </a:rPr>
              <a:t>, also known as the French lilac.</a:t>
            </a:r>
          </a:p>
          <a:p>
            <a:r>
              <a:rPr lang="en-US" sz="1800" dirty="0">
                <a:solidFill>
                  <a:srgbClr val="2A2A2A"/>
                </a:solidFill>
              </a:rPr>
              <a:t>1997, the results of the UK Prospective Diabetes Study (UKPDS) -more than 5000 patients with T2D were assigned to glucose-lowering treatment groups including dietary intervention, metformin, sulfonylurea, or insulin. The results clearly highlighted the beneficial outcomes of metformin, with patients randomized to this treatment group having reduced diabetes-related death and fewer hypoglycemic attacks than other pharmaceutical interventions . Metformin was subsequently recommended as a first-line therapy for the treatment of T2D.</a:t>
            </a:r>
          </a:p>
          <a:p>
            <a:r>
              <a:rPr lang="en-US" sz="1800" dirty="0">
                <a:solidFill>
                  <a:srgbClr val="2A2A2A"/>
                </a:solidFill>
              </a:rPr>
              <a:t>Hepatic glucose production (HGP) reflects the net contributions of hepatic gluconeogenesis, glycogenolysis, glycogen synthesis, and glycolysis. That approximately 85% to 90% of endogenous glucose production following an overnight fast is attributed to HGP highlights the importance of HGP to whole-body glucose metabolism and glycemic control . Furthermore, in the overnight fasted state, about 50% of HGP can be attributed to hepatic gluconeogenesis and, in patients with poorly controlled T2D, an increased rate of hepatic gluconeogenesis is the primary driver of fasting hyperglycemia </a:t>
            </a:r>
          </a:p>
          <a:p>
            <a:r>
              <a:rPr lang="en-US" sz="1800" dirty="0">
                <a:solidFill>
                  <a:srgbClr val="2A2A2A"/>
                </a:solidFill>
              </a:rPr>
              <a:t>In patients with poorly controlled T2D, </a:t>
            </a:r>
            <a:r>
              <a:rPr lang="en-US" sz="1800" dirty="0">
                <a:solidFill>
                  <a:srgbClr val="FF0000"/>
                </a:solidFill>
              </a:rPr>
              <a:t>increased gluconeogenesis</a:t>
            </a:r>
            <a:r>
              <a:rPr lang="en-US" sz="1800" dirty="0">
                <a:solidFill>
                  <a:srgbClr val="2A2A2A"/>
                </a:solidFill>
              </a:rPr>
              <a:t> is the major factor contributing to increased rates of liver glucose production and</a:t>
            </a:r>
            <a:r>
              <a:rPr lang="en-US" sz="1800" dirty="0">
                <a:solidFill>
                  <a:srgbClr val="FF0000"/>
                </a:solidFill>
              </a:rPr>
              <a:t> fasting hyperglycemia.</a:t>
            </a:r>
            <a:r>
              <a:rPr lang="en-US" sz="1800" dirty="0">
                <a:solidFill>
                  <a:srgbClr val="2A2A2A"/>
                </a:solidFill>
              </a:rPr>
              <a:t> </a:t>
            </a:r>
          </a:p>
          <a:p>
            <a:r>
              <a:rPr lang="en-US" sz="1800" dirty="0">
                <a:solidFill>
                  <a:srgbClr val="2A2A2A"/>
                </a:solidFill>
              </a:rPr>
              <a:t>The primary mechanism of action is inhibition of liver glucose production</a:t>
            </a:r>
            <a:endParaRPr lang="en-US" dirty="0"/>
          </a:p>
          <a:p>
            <a:r>
              <a:rPr lang="en-US" sz="1800" dirty="0">
                <a:solidFill>
                  <a:srgbClr val="2A2A2A"/>
                </a:solidFill>
              </a:rPr>
              <a:t>Increased glucose uptake by skeletal muscle</a:t>
            </a:r>
          </a:p>
          <a:p>
            <a:r>
              <a:rPr lang="en-US" sz="1800" dirty="0">
                <a:solidFill>
                  <a:srgbClr val="2A2A2A"/>
                </a:solidFill>
              </a:rPr>
              <a:t> Increased intestinal glucose uptake, changes in gut microbiome </a:t>
            </a:r>
            <a:endParaRPr lang="en-US" dirty="0"/>
          </a:p>
          <a:p>
            <a:endParaRPr lang="en-US" sz="1800" dirty="0">
              <a:solidFill>
                <a:srgbClr val="2A2A2A"/>
              </a:solidFill>
            </a:endParaRP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B6097BD3-5CFF-4ECF-5F83-4C88E25AF066}"/>
                  </a:ext>
                </a:extLst>
              </p14:cNvPr>
              <p14:cNvContentPartPr/>
              <p14:nvPr/>
            </p14:nvContentPartPr>
            <p14:xfrm>
              <a:off x="1278283" y="3423478"/>
              <a:ext cx="13804" cy="13804"/>
            </p14:xfrm>
          </p:contentPart>
        </mc:Choice>
        <mc:Fallback xmlns="">
          <p:pic>
            <p:nvPicPr>
              <p:cNvPr id="4" name="Ink 3">
                <a:extLst>
                  <a:ext uri="{FF2B5EF4-FFF2-40B4-BE49-F238E27FC236}">
                    <a16:creationId xmlns:a16="http://schemas.microsoft.com/office/drawing/2014/main" id="{B6097BD3-5CFF-4ECF-5F83-4C88E25AF066}"/>
                  </a:ext>
                </a:extLst>
              </p:cNvPr>
              <p:cNvPicPr/>
              <p:nvPr/>
            </p:nvPicPr>
            <p:blipFill>
              <a:blip r:embed="rId3"/>
              <a:stretch>
                <a:fillRect/>
              </a:stretch>
            </p:blipFill>
            <p:spPr>
              <a:xfrm>
                <a:off x="601887" y="2733278"/>
                <a:ext cx="1380400" cy="13804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45E70993-D726-4592-D5CA-BE69B1B51684}"/>
                  </a:ext>
                </a:extLst>
              </p14:cNvPr>
              <p14:cNvContentPartPr/>
              <p14:nvPr/>
            </p14:nvContentPartPr>
            <p14:xfrm>
              <a:off x="1488109" y="1214782"/>
              <a:ext cx="13804" cy="13804"/>
            </p14:xfrm>
          </p:contentPart>
        </mc:Choice>
        <mc:Fallback xmlns="">
          <p:pic>
            <p:nvPicPr>
              <p:cNvPr id="5" name="Ink 4">
                <a:extLst>
                  <a:ext uri="{FF2B5EF4-FFF2-40B4-BE49-F238E27FC236}">
                    <a16:creationId xmlns:a16="http://schemas.microsoft.com/office/drawing/2014/main" id="{45E70993-D726-4592-D5CA-BE69B1B51684}"/>
                  </a:ext>
                </a:extLst>
              </p:cNvPr>
              <p:cNvPicPr/>
              <p:nvPr/>
            </p:nvPicPr>
            <p:blipFill>
              <a:blip r:embed="rId3"/>
              <a:stretch>
                <a:fillRect/>
              </a:stretch>
            </p:blipFill>
            <p:spPr>
              <a:xfrm>
                <a:off x="797909" y="538386"/>
                <a:ext cx="1380400" cy="1380400"/>
              </a:xfrm>
              <a:prstGeom prst="rect">
                <a:avLst/>
              </a:prstGeom>
            </p:spPr>
          </p:pic>
        </mc:Fallback>
      </mc:AlternateContent>
    </p:spTree>
    <p:extLst>
      <p:ext uri="{BB962C8B-B14F-4D97-AF65-F5344CB8AC3E}">
        <p14:creationId xmlns:p14="http://schemas.microsoft.com/office/powerpoint/2010/main" val="1914824470"/>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F6BF5B-064C-65C3-DE2F-D5E44B365D60}"/>
              </a:ext>
            </a:extLst>
          </p:cNvPr>
          <p:cNvSpPr>
            <a:spLocks noGrp="1"/>
          </p:cNvSpPr>
          <p:nvPr>
            <p:ph type="title"/>
          </p:nvPr>
        </p:nvSpPr>
        <p:spPr/>
        <p:txBody>
          <a:bodyPr/>
          <a:lstStyle/>
          <a:p>
            <a:r>
              <a:rPr lang="en-US" dirty="0">
                <a:ea typeface="Calibri"/>
                <a:cs typeface="Calibri"/>
              </a:rPr>
              <a:t>Proposed mechanisms of action</a:t>
            </a:r>
          </a:p>
        </p:txBody>
      </p:sp>
      <p:sp>
        <p:nvSpPr>
          <p:cNvPr id="8" name="Content Placeholder 3">
            <a:extLst>
              <a:ext uri="{FF2B5EF4-FFF2-40B4-BE49-F238E27FC236}">
                <a16:creationId xmlns:a16="http://schemas.microsoft.com/office/drawing/2014/main" id="{1F969488-2AF0-37F1-19DF-910EF8A9B79D}"/>
              </a:ext>
            </a:extLst>
          </p:cNvPr>
          <p:cNvSpPr txBox="1">
            <a:spLocks/>
          </p:cNvSpPr>
          <p:nvPr/>
        </p:nvSpPr>
        <p:spPr>
          <a:xfrm>
            <a:off x="866775" y="1717675"/>
            <a:ext cx="9673167" cy="4122738"/>
          </a:xfrm>
          <a:prstGeom prst="rect">
            <a:avLst/>
          </a:prstGeom>
        </p:spPr>
        <p:txBody>
          <a:bodyPr vert="horz" lIns="91440" tIns="45720" rIns="91440" bIns="45720" rtlCol="0" anchor="t">
            <a:normAutofit/>
          </a:bodyPr>
          <a:lstStyle>
            <a:lvl1pPr marL="342900" indent="-342900" algn="l" rtl="0" eaLnBrk="0" fontAlgn="base" hangingPunct="0">
              <a:spcBef>
                <a:spcPct val="20000"/>
              </a:spcBef>
              <a:spcAft>
                <a:spcPct val="0"/>
              </a:spcAft>
              <a:buClr>
                <a:schemeClr val="bg2"/>
              </a:buClr>
              <a:buSzPct val="100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defRPr>
            </a:lvl2pPr>
            <a:lvl3pPr marL="1143000" indent="-228600" algn="l" rtl="0" eaLnBrk="0" fontAlgn="base" hangingPunct="0">
              <a:spcBef>
                <a:spcPct val="20000"/>
              </a:spcBef>
              <a:spcAft>
                <a:spcPct val="0"/>
              </a:spcAft>
              <a:buSzPct val="100000"/>
              <a:buChar char="•"/>
              <a:defRPr sz="2400">
                <a:solidFill>
                  <a:schemeClr val="tx1"/>
                </a:solidFill>
                <a:latin typeface="+mn-lt"/>
              </a:defRPr>
            </a:lvl3pPr>
            <a:lvl4pPr marL="1600200" indent="-228600" algn="l" rtl="0" eaLnBrk="0" fontAlgn="base" hangingPunct="0">
              <a:spcBef>
                <a:spcPct val="20000"/>
              </a:spcBef>
              <a:spcAft>
                <a:spcPct val="0"/>
              </a:spcAft>
              <a:buSzPct val="100000"/>
              <a:buChar char="–"/>
              <a:defRPr sz="2000">
                <a:solidFill>
                  <a:schemeClr val="tx1"/>
                </a:solidFill>
                <a:latin typeface="+mn-lt"/>
              </a:defRPr>
            </a:lvl4pPr>
            <a:lvl5pPr marL="2057400" indent="-228600" algn="l" rtl="0" eaLnBrk="0" fontAlgn="base" hangingPunct="0">
              <a:spcBef>
                <a:spcPct val="20000"/>
              </a:spcBef>
              <a:spcAft>
                <a:spcPct val="0"/>
              </a:spcAft>
              <a:buSzPct val="100000"/>
              <a:buChar char="»"/>
              <a:defRPr sz="2000">
                <a:solidFill>
                  <a:schemeClr val="tx1"/>
                </a:solidFill>
                <a:latin typeface="+mn-lt"/>
              </a:defRPr>
            </a:lvl5pPr>
            <a:lvl6pPr marL="2514600" indent="-228600" algn="l" rtl="0" eaLnBrk="0" fontAlgn="base" hangingPunct="0">
              <a:spcBef>
                <a:spcPct val="20000"/>
              </a:spcBef>
              <a:spcAft>
                <a:spcPct val="0"/>
              </a:spcAft>
              <a:buSzPct val="100000"/>
              <a:buChar char="»"/>
              <a:defRPr sz="2000">
                <a:solidFill>
                  <a:schemeClr val="tx1"/>
                </a:solidFill>
                <a:latin typeface="+mn-lt"/>
              </a:defRPr>
            </a:lvl6pPr>
            <a:lvl7pPr marL="2971800" indent="-228600" algn="l" rtl="0" eaLnBrk="0" fontAlgn="base" hangingPunct="0">
              <a:spcBef>
                <a:spcPct val="20000"/>
              </a:spcBef>
              <a:spcAft>
                <a:spcPct val="0"/>
              </a:spcAft>
              <a:buSzPct val="100000"/>
              <a:buChar char="»"/>
              <a:defRPr sz="2000">
                <a:solidFill>
                  <a:schemeClr val="tx1"/>
                </a:solidFill>
                <a:latin typeface="+mn-lt"/>
              </a:defRPr>
            </a:lvl7pPr>
            <a:lvl8pPr marL="3429000" indent="-228600" algn="l" rtl="0" eaLnBrk="0" fontAlgn="base" hangingPunct="0">
              <a:spcBef>
                <a:spcPct val="20000"/>
              </a:spcBef>
              <a:spcAft>
                <a:spcPct val="0"/>
              </a:spcAft>
              <a:buSzPct val="100000"/>
              <a:buChar char="»"/>
              <a:defRPr sz="2000">
                <a:solidFill>
                  <a:schemeClr val="tx1"/>
                </a:solidFill>
                <a:latin typeface="+mn-lt"/>
              </a:defRPr>
            </a:lvl8pPr>
            <a:lvl9pPr marL="3886200" indent="-228600" algn="l" rtl="0" eaLnBrk="0" fontAlgn="base" hangingPunct="0">
              <a:spcBef>
                <a:spcPct val="20000"/>
              </a:spcBef>
              <a:spcAft>
                <a:spcPct val="0"/>
              </a:spcAft>
              <a:buSzPct val="100000"/>
              <a:buChar char="»"/>
              <a:defRPr sz="2000">
                <a:solidFill>
                  <a:schemeClr val="tx1"/>
                </a:solidFill>
                <a:latin typeface="+mn-lt"/>
              </a:defRPr>
            </a:lvl9pPr>
          </a:lstStyle>
          <a:p>
            <a:r>
              <a:rPr lang="en-US" sz="1800" dirty="0">
                <a:solidFill>
                  <a:srgbClr val="2A2A2A"/>
                </a:solidFill>
                <a:ea typeface="+mn-lt"/>
                <a:cs typeface="+mn-lt"/>
              </a:rPr>
              <a:t>It has been suggested that metformin antagonizes hepatic glucagon signaling by decreasing cyclic AMP accumulation, thus preventing transcription of gluconeogenic genes. </a:t>
            </a:r>
            <a:endParaRPr lang="en-US" sz="1800" dirty="0">
              <a:solidFill>
                <a:srgbClr val="000000"/>
              </a:solidFill>
              <a:ea typeface="+mn-lt"/>
              <a:cs typeface="+mn-lt"/>
            </a:endParaRPr>
          </a:p>
          <a:p>
            <a:pPr marL="0" indent="0">
              <a:buFontTx/>
              <a:buNone/>
            </a:pPr>
            <a:endParaRPr lang="en-US" sz="1800" dirty="0">
              <a:solidFill>
                <a:srgbClr val="000000"/>
              </a:solidFill>
              <a:ea typeface="+mn-lt"/>
              <a:cs typeface="+mn-lt"/>
            </a:endParaRPr>
          </a:p>
          <a:p>
            <a:r>
              <a:rPr lang="en-US" sz="1800" dirty="0">
                <a:solidFill>
                  <a:srgbClr val="2A2A2A"/>
                </a:solidFill>
                <a:ea typeface="+mn-lt"/>
                <a:cs typeface="+mn-lt"/>
              </a:rPr>
              <a:t> Mitochondrial complex I inhibition leads to suppression of gluconeogenesis, including altered hepatic energy charge and AMPK activation leading to downregulation of gluconeogenic gene expression.</a:t>
            </a:r>
            <a:endParaRPr lang="en-US" sz="1800">
              <a:solidFill>
                <a:srgbClr val="000000"/>
              </a:solidFill>
              <a:latin typeface="Calibri"/>
              <a:ea typeface="Calibri"/>
              <a:cs typeface="Calibri"/>
            </a:endParaRPr>
          </a:p>
          <a:p>
            <a:endParaRPr lang="en-US" sz="1800" dirty="0">
              <a:solidFill>
                <a:srgbClr val="2A2A2A"/>
              </a:solidFill>
              <a:latin typeface="Calibri"/>
              <a:ea typeface="Calibri"/>
              <a:cs typeface="Calibri"/>
            </a:endParaRPr>
          </a:p>
          <a:p>
            <a:endParaRPr lang="en-US" sz="1800" dirty="0">
              <a:solidFill>
                <a:srgbClr val="2A2A2A"/>
              </a:solidFill>
              <a:latin typeface="Arial"/>
              <a:ea typeface="Calibri"/>
              <a:cs typeface="Arial"/>
            </a:endParaRPr>
          </a:p>
        </p:txBody>
      </p:sp>
    </p:spTree>
    <p:extLst>
      <p:ext uri="{BB962C8B-B14F-4D97-AF65-F5344CB8AC3E}">
        <p14:creationId xmlns:p14="http://schemas.microsoft.com/office/powerpoint/2010/main" val="17316258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A0B039-E926-E090-1D2F-DBD1FC2709DE}"/>
              </a:ext>
            </a:extLst>
          </p:cNvPr>
          <p:cNvSpPr>
            <a:spLocks noGrp="1"/>
          </p:cNvSpPr>
          <p:nvPr>
            <p:ph idx="1"/>
          </p:nvPr>
        </p:nvSpPr>
        <p:spPr/>
        <p:txBody>
          <a:bodyPr/>
          <a:lstStyle/>
          <a:p>
            <a:pPr marL="457200" indent="-457200" algn="l" hangingPunct="1">
              <a:buFont typeface="Arial" panose="020B0604020202020204" pitchFamily="34" charset="0"/>
              <a:buChar char="•"/>
            </a:pPr>
            <a:r>
              <a:rPr lang="en-US" sz="3000" dirty="0">
                <a:solidFill>
                  <a:srgbClr val="505050"/>
                </a:solidFill>
                <a:latin typeface="Helvetica" panose="020B0604020202020204" pitchFamily="34" charset="0"/>
              </a:rPr>
              <a:t>Extremely rare (</a:t>
            </a:r>
            <a:r>
              <a:rPr lang="en-US" sz="3000" b="0" i="0" dirty="0">
                <a:solidFill>
                  <a:srgbClr val="505050"/>
                </a:solidFill>
                <a:effectLst/>
                <a:latin typeface="Helvetica" panose="020B0604020202020204" pitchFamily="34" charset="0"/>
              </a:rPr>
              <a:t>incidence 0.03 to 0.06/ 1000 patient-</a:t>
            </a:r>
            <a:r>
              <a:rPr lang="en-US" sz="3000" b="0" i="0" dirty="0" err="1">
                <a:solidFill>
                  <a:srgbClr val="505050"/>
                </a:solidFill>
                <a:effectLst/>
                <a:latin typeface="Helvetica" panose="020B0604020202020204" pitchFamily="34" charset="0"/>
              </a:rPr>
              <a:t>yrs</a:t>
            </a:r>
            <a:r>
              <a:rPr lang="en-US" sz="3000" dirty="0">
                <a:solidFill>
                  <a:srgbClr val="505050"/>
                </a:solidFill>
                <a:latin typeface="Helvetica" panose="020B0604020202020204" pitchFamily="34" charset="0"/>
              </a:rPr>
              <a:t>)</a:t>
            </a:r>
          </a:p>
          <a:p>
            <a:pPr marL="857250" lvl="1" indent="-457200">
              <a:buFont typeface="Arial" panose="020B0604020202020204" pitchFamily="34" charset="0"/>
              <a:buChar char="•"/>
            </a:pPr>
            <a:r>
              <a:rPr lang="en-US" sz="2600" dirty="0">
                <a:solidFill>
                  <a:srgbClr val="505050"/>
                </a:solidFill>
                <a:latin typeface="Helvetica" panose="020B0604020202020204" pitchFamily="34" charset="0"/>
              </a:rPr>
              <a:t>High mortality rates - 30 to 50%</a:t>
            </a:r>
          </a:p>
          <a:p>
            <a:pPr marL="457200" indent="-457200" algn="l">
              <a:buFont typeface="Arial" panose="020B0604020202020204" pitchFamily="34" charset="0"/>
              <a:buChar char="•"/>
            </a:pPr>
            <a:r>
              <a:rPr lang="en-US" sz="3000" dirty="0">
                <a:solidFill>
                  <a:srgbClr val="505050"/>
                </a:solidFill>
                <a:latin typeface="Helvetica" panose="020B0604020202020204" pitchFamily="34" charset="0"/>
              </a:rPr>
              <a:t>Risk factors</a:t>
            </a:r>
          </a:p>
          <a:p>
            <a:pPr marL="857250" lvl="1" indent="-457200">
              <a:buFont typeface="Arial" panose="020B0604020202020204" pitchFamily="34" charset="0"/>
              <a:buChar char="•"/>
            </a:pPr>
            <a:r>
              <a:rPr lang="en-US" b="0" i="0" dirty="0">
                <a:solidFill>
                  <a:srgbClr val="505050"/>
                </a:solidFill>
                <a:effectLst/>
                <a:latin typeface="Helvetica" panose="020B0604020202020204" pitchFamily="34" charset="0"/>
              </a:rPr>
              <a:t>Poor renal function (reduced metformin clearance)</a:t>
            </a:r>
          </a:p>
          <a:p>
            <a:pPr marL="914400" lvl="8" indent="-457200">
              <a:buFont typeface="Arial" panose="020B0604020202020204" pitchFamily="34" charset="0"/>
              <a:buChar char="•"/>
            </a:pPr>
            <a:r>
              <a:rPr lang="en-US" sz="2800" b="0" i="0" dirty="0">
                <a:solidFill>
                  <a:srgbClr val="505050"/>
                </a:solidFill>
                <a:effectLst/>
                <a:latin typeface="Helvetica" panose="020B0604020202020204" pitchFamily="34" charset="0"/>
              </a:rPr>
              <a:t>Impaired hepatic metabolism (reduced lactate clearance)</a:t>
            </a:r>
          </a:p>
          <a:p>
            <a:pPr marL="914400" lvl="8" indent="-457200">
              <a:buFont typeface="Arial" panose="020B0604020202020204" pitchFamily="34" charset="0"/>
              <a:buChar char="•"/>
            </a:pPr>
            <a:r>
              <a:rPr lang="en-US" sz="2800" b="0" i="0" dirty="0">
                <a:solidFill>
                  <a:srgbClr val="505050"/>
                </a:solidFill>
                <a:effectLst/>
                <a:latin typeface="Helvetica" panose="020B0604020202020204" pitchFamily="34" charset="0"/>
              </a:rPr>
              <a:t>Increased production (sepsis, CHF, reduced tissue perfusion, or anoxia)</a:t>
            </a:r>
            <a:endParaRPr lang="en-US" sz="2800" dirty="0"/>
          </a:p>
          <a:p>
            <a:endParaRPr lang="en-US" dirty="0"/>
          </a:p>
        </p:txBody>
      </p:sp>
      <p:sp>
        <p:nvSpPr>
          <p:cNvPr id="4" name="Shape 112">
            <a:extLst>
              <a:ext uri="{FF2B5EF4-FFF2-40B4-BE49-F238E27FC236}">
                <a16:creationId xmlns:a16="http://schemas.microsoft.com/office/drawing/2014/main" id="{B66EA6E9-B693-6BD0-FDA5-5B30C69462CC}"/>
              </a:ext>
            </a:extLst>
          </p:cNvPr>
          <p:cNvSpPr txBox="1">
            <a:spLocks/>
          </p:cNvSpPr>
          <p:nvPr/>
        </p:nvSpPr>
        <p:spPr>
          <a:xfrm>
            <a:off x="458380" y="449609"/>
            <a:ext cx="10515600" cy="1325563"/>
          </a:xfrm>
          <a:prstGeom prst="rect">
            <a:avLst/>
          </a:prstGeom>
          <a:ln w="12700">
            <a:miter lim="400000"/>
          </a:ln>
          <a:extLst>
            <a:ext uri="{C572A759-6A51-4108-AA02-DFA0A04FC94B}">
              <ma14:wrappingTextBoxFlag xmlns="" xmlns:ma14="http://schemas.microsoft.com/office/mac/drawingml/2011/main" val="1"/>
            </a:ext>
          </a:extLst>
        </p:spPr>
        <p:txBody>
          <a:bodyPr lIns="45719" rIns="45719" anchor="ctr">
            <a:normAutofit/>
          </a:bodyPr>
          <a:lstStyle>
            <a:lvl1pPr marL="0" marR="0" indent="0" algn="ctr" defTabSz="914400" rtl="0" latinLnBrk="0">
              <a:lnSpc>
                <a:spcPct val="90000"/>
              </a:lnSpc>
              <a:spcBef>
                <a:spcPts val="0"/>
              </a:spcBef>
              <a:spcAft>
                <a:spcPts val="0"/>
              </a:spcAft>
              <a:buClrTx/>
              <a:buSzTx/>
              <a:buFontTx/>
              <a:buNone/>
              <a:tabLst/>
              <a:defRPr sz="4000" b="0" i="0" u="none" strike="noStrike" cap="none" spc="0" baseline="0">
                <a:ln>
                  <a:noFill/>
                </a:ln>
                <a:solidFill>
                  <a:srgbClr val="000000"/>
                </a:solidFill>
                <a:uFillTx/>
                <a:latin typeface="Arial"/>
                <a:ea typeface="Arial"/>
                <a:cs typeface="Arial"/>
                <a:sym typeface="Arial"/>
              </a:defRPr>
            </a:lvl1pPr>
            <a:lvl2pPr marL="0" marR="0" indent="0" algn="ctr" defTabSz="914400" rtl="0" latinLnBrk="0">
              <a:lnSpc>
                <a:spcPct val="90000"/>
              </a:lnSpc>
              <a:spcBef>
                <a:spcPts val="0"/>
              </a:spcBef>
              <a:spcAft>
                <a:spcPts val="0"/>
              </a:spcAft>
              <a:buClrTx/>
              <a:buSzTx/>
              <a:buFontTx/>
              <a:buNone/>
              <a:tabLst/>
              <a:defRPr sz="4000" b="0" i="0" u="none" strike="noStrike" cap="none" spc="0" baseline="0">
                <a:ln>
                  <a:noFill/>
                </a:ln>
                <a:solidFill>
                  <a:srgbClr val="000000"/>
                </a:solidFill>
                <a:uFillTx/>
                <a:latin typeface="Arial"/>
                <a:ea typeface="Arial"/>
                <a:cs typeface="Arial"/>
                <a:sym typeface="Arial"/>
              </a:defRPr>
            </a:lvl2pPr>
            <a:lvl3pPr marL="0" marR="0" indent="0" algn="ctr" defTabSz="914400" rtl="0" latinLnBrk="0">
              <a:lnSpc>
                <a:spcPct val="90000"/>
              </a:lnSpc>
              <a:spcBef>
                <a:spcPts val="0"/>
              </a:spcBef>
              <a:spcAft>
                <a:spcPts val="0"/>
              </a:spcAft>
              <a:buClrTx/>
              <a:buSzTx/>
              <a:buFontTx/>
              <a:buNone/>
              <a:tabLst/>
              <a:defRPr sz="4000" b="0" i="0" u="none" strike="noStrike" cap="none" spc="0" baseline="0">
                <a:ln>
                  <a:noFill/>
                </a:ln>
                <a:solidFill>
                  <a:srgbClr val="000000"/>
                </a:solidFill>
                <a:uFillTx/>
                <a:latin typeface="Arial"/>
                <a:ea typeface="Arial"/>
                <a:cs typeface="Arial"/>
                <a:sym typeface="Arial"/>
              </a:defRPr>
            </a:lvl3pPr>
            <a:lvl4pPr marL="0" marR="0" indent="0" algn="ctr" defTabSz="914400" rtl="0" latinLnBrk="0">
              <a:lnSpc>
                <a:spcPct val="90000"/>
              </a:lnSpc>
              <a:spcBef>
                <a:spcPts val="0"/>
              </a:spcBef>
              <a:spcAft>
                <a:spcPts val="0"/>
              </a:spcAft>
              <a:buClrTx/>
              <a:buSzTx/>
              <a:buFontTx/>
              <a:buNone/>
              <a:tabLst/>
              <a:defRPr sz="4000" b="0" i="0" u="none" strike="noStrike" cap="none" spc="0" baseline="0">
                <a:ln>
                  <a:noFill/>
                </a:ln>
                <a:solidFill>
                  <a:srgbClr val="000000"/>
                </a:solidFill>
                <a:uFillTx/>
                <a:latin typeface="Arial"/>
                <a:ea typeface="Arial"/>
                <a:cs typeface="Arial"/>
                <a:sym typeface="Arial"/>
              </a:defRPr>
            </a:lvl4pPr>
            <a:lvl5pPr marL="0" marR="0" indent="0" algn="ctr" defTabSz="914400" rtl="0" latinLnBrk="0">
              <a:lnSpc>
                <a:spcPct val="90000"/>
              </a:lnSpc>
              <a:spcBef>
                <a:spcPts val="0"/>
              </a:spcBef>
              <a:spcAft>
                <a:spcPts val="0"/>
              </a:spcAft>
              <a:buClrTx/>
              <a:buSzTx/>
              <a:buFontTx/>
              <a:buNone/>
              <a:tabLst/>
              <a:defRPr sz="4000" b="0" i="0" u="none" strike="noStrike" cap="none" spc="0" baseline="0">
                <a:ln>
                  <a:noFill/>
                </a:ln>
                <a:solidFill>
                  <a:srgbClr val="000000"/>
                </a:solidFill>
                <a:uFillTx/>
                <a:latin typeface="Arial"/>
                <a:ea typeface="Arial"/>
                <a:cs typeface="Arial"/>
                <a:sym typeface="Arial"/>
              </a:defRPr>
            </a:lvl5pPr>
            <a:lvl6pPr marL="0" marR="0" indent="0" algn="ctr" defTabSz="914400" rtl="0" latinLnBrk="0">
              <a:lnSpc>
                <a:spcPct val="90000"/>
              </a:lnSpc>
              <a:spcBef>
                <a:spcPts val="0"/>
              </a:spcBef>
              <a:spcAft>
                <a:spcPts val="0"/>
              </a:spcAft>
              <a:buClrTx/>
              <a:buSzTx/>
              <a:buFontTx/>
              <a:buNone/>
              <a:tabLst/>
              <a:defRPr sz="4000" b="0" i="0" u="none" strike="noStrike" cap="none" spc="0" baseline="0">
                <a:ln>
                  <a:noFill/>
                </a:ln>
                <a:solidFill>
                  <a:srgbClr val="000000"/>
                </a:solidFill>
                <a:uFillTx/>
                <a:latin typeface="Arial"/>
                <a:ea typeface="Arial"/>
                <a:cs typeface="Arial"/>
                <a:sym typeface="Arial"/>
              </a:defRPr>
            </a:lvl6pPr>
            <a:lvl7pPr marL="0" marR="0" indent="0" algn="ctr" defTabSz="914400" rtl="0" latinLnBrk="0">
              <a:lnSpc>
                <a:spcPct val="90000"/>
              </a:lnSpc>
              <a:spcBef>
                <a:spcPts val="0"/>
              </a:spcBef>
              <a:spcAft>
                <a:spcPts val="0"/>
              </a:spcAft>
              <a:buClrTx/>
              <a:buSzTx/>
              <a:buFontTx/>
              <a:buNone/>
              <a:tabLst/>
              <a:defRPr sz="4000" b="0" i="0" u="none" strike="noStrike" cap="none" spc="0" baseline="0">
                <a:ln>
                  <a:noFill/>
                </a:ln>
                <a:solidFill>
                  <a:srgbClr val="000000"/>
                </a:solidFill>
                <a:uFillTx/>
                <a:latin typeface="Arial"/>
                <a:ea typeface="Arial"/>
                <a:cs typeface="Arial"/>
                <a:sym typeface="Arial"/>
              </a:defRPr>
            </a:lvl7pPr>
            <a:lvl8pPr marL="0" marR="0" indent="0" algn="ctr" defTabSz="914400" rtl="0" latinLnBrk="0">
              <a:lnSpc>
                <a:spcPct val="90000"/>
              </a:lnSpc>
              <a:spcBef>
                <a:spcPts val="0"/>
              </a:spcBef>
              <a:spcAft>
                <a:spcPts val="0"/>
              </a:spcAft>
              <a:buClrTx/>
              <a:buSzTx/>
              <a:buFontTx/>
              <a:buNone/>
              <a:tabLst/>
              <a:defRPr sz="4000" b="0" i="0" u="none" strike="noStrike" cap="none" spc="0" baseline="0">
                <a:ln>
                  <a:noFill/>
                </a:ln>
                <a:solidFill>
                  <a:srgbClr val="000000"/>
                </a:solidFill>
                <a:uFillTx/>
                <a:latin typeface="Arial"/>
                <a:ea typeface="Arial"/>
                <a:cs typeface="Arial"/>
                <a:sym typeface="Arial"/>
              </a:defRPr>
            </a:lvl8pPr>
            <a:lvl9pPr marL="0" marR="0" indent="0" algn="ctr" defTabSz="914400" rtl="0" latinLnBrk="0">
              <a:lnSpc>
                <a:spcPct val="90000"/>
              </a:lnSpc>
              <a:spcBef>
                <a:spcPts val="0"/>
              </a:spcBef>
              <a:spcAft>
                <a:spcPts val="0"/>
              </a:spcAft>
              <a:buClrTx/>
              <a:buSzTx/>
              <a:buFontTx/>
              <a:buNone/>
              <a:tabLst/>
              <a:defRPr sz="4000" b="0" i="0" u="none" strike="noStrike" cap="none" spc="0" baseline="0">
                <a:ln>
                  <a:noFill/>
                </a:ln>
                <a:solidFill>
                  <a:srgbClr val="000000"/>
                </a:solidFill>
                <a:uFillTx/>
                <a:latin typeface="Arial"/>
                <a:ea typeface="Arial"/>
                <a:cs typeface="Arial"/>
                <a:sym typeface="Arial"/>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4400" b="0" i="0" u="none" strike="noStrike" kern="0" cap="none" spc="0" normalizeH="0" baseline="0" noProof="0" dirty="0">
                <a:ln>
                  <a:noFill/>
                </a:ln>
                <a:solidFill>
                  <a:srgbClr val="000000"/>
                </a:solidFill>
                <a:effectLst/>
                <a:uLnTx/>
                <a:uFillTx/>
                <a:latin typeface="Arial"/>
                <a:cs typeface="Arial"/>
                <a:sym typeface="Arial"/>
              </a:rPr>
              <a:t>Metformin Associated Lactic Acidosis</a:t>
            </a:r>
          </a:p>
        </p:txBody>
      </p:sp>
    </p:spTree>
    <p:extLst>
      <p:ext uri="{BB962C8B-B14F-4D97-AF65-F5344CB8AC3E}">
        <p14:creationId xmlns:p14="http://schemas.microsoft.com/office/powerpoint/2010/main" val="40422722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319F9-7EC6-D832-5111-7954E88FF6C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AC51C67-CFC9-190E-A9FF-11513D7A7CE5}"/>
              </a:ext>
            </a:extLst>
          </p:cNvPr>
          <p:cNvSpPr>
            <a:spLocks noGrp="1"/>
          </p:cNvSpPr>
          <p:nvPr>
            <p:ph idx="1"/>
          </p:nvPr>
        </p:nvSpPr>
        <p:spPr/>
        <p:txBody>
          <a:bodyPr vert="horz" lIns="91440" tIns="45720" rIns="91440" bIns="45720" rtlCol="0" anchor="t">
            <a:normAutofit/>
          </a:bodyPr>
          <a:lstStyle/>
          <a:p>
            <a:r>
              <a:rPr lang="en-US" sz="1800" dirty="0">
                <a:solidFill>
                  <a:srgbClr val="212121"/>
                </a:solidFill>
                <a:latin typeface="Cambria"/>
                <a:ea typeface="Cambria"/>
              </a:rPr>
              <a:t>Current contraindications for metformin use include  advanced chronic kidney disease , liver disease, heart failure, age &gt;65, pulmonary disease, use of intravenous contrast agents within 48 hours, or any condition with relative tissue hypoxia </a:t>
            </a:r>
            <a:endParaRPr lang="en-US" sz="1800" u="sng">
              <a:solidFill>
                <a:srgbClr val="376FAA"/>
              </a:solidFill>
              <a:latin typeface="Cambria"/>
              <a:ea typeface="Cambria"/>
              <a:cs typeface="Calibri"/>
            </a:endParaRPr>
          </a:p>
          <a:p>
            <a:r>
              <a:rPr lang="en-US" sz="1800" dirty="0">
                <a:solidFill>
                  <a:srgbClr val="212121"/>
                </a:solidFill>
                <a:latin typeface="Cambria"/>
                <a:ea typeface="Cambria"/>
              </a:rPr>
              <a:t>The presence of metformin-associated hyperlactatemia in critical care patients has been associated with a mortality &gt;30% </a:t>
            </a:r>
          </a:p>
          <a:p>
            <a:r>
              <a:rPr lang="en-US" sz="1800" dirty="0">
                <a:solidFill>
                  <a:srgbClr val="212121"/>
                </a:solidFill>
                <a:latin typeface="Cambria"/>
                <a:ea typeface="Cambria"/>
              </a:rPr>
              <a:t>Metformin inhibits mitochondrial cellular respiration, which increases anaerobic metabolism and lactate levels .  The pathophysiology of lactic acidosis from metformin is likely due to inhibition of gluconeogenesis by blocking pyruvate carboxylase, the first step of gluconeogenesis, which converts pyruvate to oxaloacetate. Blocking this enzyme leads to accumulation of lactic acid. Biguanides also decrease hepatic metabolism of lactate and have a negative ionotropic effect on the heart, both of which elevate lactate levels .</a:t>
            </a:r>
            <a:endParaRPr lang="en-US" sz="1800" dirty="0">
              <a:solidFill>
                <a:srgbClr val="000000"/>
              </a:solidFill>
              <a:latin typeface="Calibri"/>
              <a:ea typeface="Calibri"/>
              <a:cs typeface="Calibri"/>
            </a:endParaRPr>
          </a:p>
          <a:p>
            <a:r>
              <a:rPr lang="en-US" sz="1800" dirty="0">
                <a:solidFill>
                  <a:srgbClr val="212121"/>
                </a:solidFill>
                <a:latin typeface="Cambria"/>
                <a:ea typeface="Cambria"/>
              </a:rPr>
              <a:t> Metformin dose, along with the duration of exposure from accumulation in patients with decreased renal clearance, can cause lactic acidosis</a:t>
            </a:r>
            <a:endParaRPr lang="en-US" sz="1800">
              <a:ea typeface="Calibri"/>
              <a:cs typeface="Calibri"/>
            </a:endParaRPr>
          </a:p>
          <a:p>
            <a:endParaRPr lang="en-US" dirty="0">
              <a:ea typeface="Calibri"/>
              <a:cs typeface="Calibri"/>
            </a:endParaRPr>
          </a:p>
        </p:txBody>
      </p:sp>
    </p:spTree>
    <p:extLst>
      <p:ext uri="{BB962C8B-B14F-4D97-AF65-F5344CB8AC3E}">
        <p14:creationId xmlns:p14="http://schemas.microsoft.com/office/powerpoint/2010/main" val="5636817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1" name="liver.png"/>
          <p:cNvPicPr>
            <a:picLocks noChangeAspect="1"/>
          </p:cNvPicPr>
          <p:nvPr/>
        </p:nvPicPr>
        <p:blipFill>
          <a:blip r:embed="rId3"/>
          <a:stretch>
            <a:fillRect/>
          </a:stretch>
        </p:blipFill>
        <p:spPr>
          <a:xfrm>
            <a:off x="1677901" y="3514774"/>
            <a:ext cx="2459728" cy="2175038"/>
          </a:xfrm>
          <a:prstGeom prst="rect">
            <a:avLst/>
          </a:prstGeom>
          <a:ln w="12700">
            <a:miter lim="400000"/>
          </a:ln>
        </p:spPr>
      </p:pic>
      <p:sp>
        <p:nvSpPr>
          <p:cNvPr id="112" name="Shape 112"/>
          <p:cNvSpPr>
            <a:spLocks noGrp="1"/>
          </p:cNvSpPr>
          <p:nvPr>
            <p:ph type="title"/>
          </p:nvPr>
        </p:nvSpPr>
        <p:spPr>
          <a:prstGeom prst="rect">
            <a:avLst/>
          </a:prstGeom>
        </p:spPr>
        <p:txBody>
          <a:bodyPr/>
          <a:lstStyle/>
          <a:p>
            <a:r>
              <a:t>Lactic acidosis</a:t>
            </a:r>
          </a:p>
        </p:txBody>
      </p:sp>
      <p:sp>
        <p:nvSpPr>
          <p:cNvPr id="113" name="Shape 113"/>
          <p:cNvSpPr/>
          <p:nvPr/>
        </p:nvSpPr>
        <p:spPr>
          <a:xfrm>
            <a:off x="5623149" y="4160908"/>
            <a:ext cx="1151916" cy="523220"/>
          </a:xfrm>
          <a:prstGeom prst="rect">
            <a:avLst/>
          </a:prstGeom>
          <a:ln w="12700">
            <a:miter lim="400000"/>
          </a:ln>
          <a:extLst>
            <a:ext uri="{C572A759-6A51-4108-AA02-DFA0A04FC94B}">
              <ma14:wrappingTextBoxFlag xmlns="" xmlns:ma14="http://schemas.microsoft.com/office/mac/drawingml/2011/main" val="1"/>
            </a:ext>
          </a:extLst>
        </p:spPr>
        <p:txBody>
          <a:bodyPr wrap="none" lIns="45719" rIns="45719">
            <a:spAutoFit/>
          </a:bodyPr>
          <a:lstStyle>
            <a:lvl1pPr>
              <a:defRPr sz="2800">
                <a:latin typeface="Arial"/>
                <a:ea typeface="Arial"/>
                <a:cs typeface="Arial"/>
                <a:sym typeface="Arial"/>
              </a:defRPr>
            </a:lvl1pPr>
          </a:lstStyle>
          <a:p>
            <a:r>
              <a:rPr dirty="0"/>
              <a:t>lactate</a:t>
            </a:r>
          </a:p>
        </p:txBody>
      </p:sp>
      <p:sp>
        <p:nvSpPr>
          <p:cNvPr id="114" name="Shape 114"/>
          <p:cNvSpPr/>
          <p:nvPr/>
        </p:nvSpPr>
        <p:spPr>
          <a:xfrm flipH="1">
            <a:off x="6791743" y="3654640"/>
            <a:ext cx="855692" cy="457201"/>
          </a:xfrm>
          <a:prstGeom prst="line">
            <a:avLst/>
          </a:prstGeom>
          <a:ln w="101600">
            <a:solidFill>
              <a:schemeClr val="accent1"/>
            </a:solidFill>
            <a:miter/>
            <a:tailEnd type="triangle"/>
          </a:ln>
        </p:spPr>
        <p:txBody>
          <a:bodyPr lIns="45719" rIns="45719"/>
          <a:lstStyle/>
          <a:p>
            <a:endParaRPr/>
          </a:p>
        </p:txBody>
      </p:sp>
      <p:sp>
        <p:nvSpPr>
          <p:cNvPr id="115" name="Shape 115"/>
          <p:cNvSpPr/>
          <p:nvPr/>
        </p:nvSpPr>
        <p:spPr>
          <a:xfrm flipH="1" flipV="1">
            <a:off x="6791739" y="4661332"/>
            <a:ext cx="855692" cy="648494"/>
          </a:xfrm>
          <a:prstGeom prst="line">
            <a:avLst/>
          </a:prstGeom>
          <a:ln w="101600">
            <a:solidFill>
              <a:schemeClr val="accent1"/>
            </a:solidFill>
            <a:miter/>
            <a:tailEnd type="triangle"/>
          </a:ln>
        </p:spPr>
        <p:txBody>
          <a:bodyPr lIns="45719" rIns="45719"/>
          <a:lstStyle/>
          <a:p>
            <a:endParaRPr/>
          </a:p>
        </p:txBody>
      </p:sp>
      <p:grpSp>
        <p:nvGrpSpPr>
          <p:cNvPr id="118" name="Group 118"/>
          <p:cNvGrpSpPr/>
          <p:nvPr/>
        </p:nvGrpSpPr>
        <p:grpSpPr>
          <a:xfrm>
            <a:off x="3591342" y="2797667"/>
            <a:ext cx="1066801" cy="1085568"/>
            <a:chOff x="0" y="0"/>
            <a:chExt cx="1066800" cy="1085566"/>
          </a:xfrm>
        </p:grpSpPr>
        <p:sp>
          <p:nvSpPr>
            <p:cNvPr id="116" name="Shape 116"/>
            <p:cNvSpPr/>
            <p:nvPr/>
          </p:nvSpPr>
          <p:spPr>
            <a:xfrm flipV="1">
              <a:off x="-1" y="-1"/>
              <a:ext cx="1" cy="1085568"/>
            </a:xfrm>
            <a:prstGeom prst="line">
              <a:avLst/>
            </a:prstGeom>
            <a:noFill/>
            <a:ln w="50800" cap="flat">
              <a:solidFill>
                <a:schemeClr val="accent1"/>
              </a:solidFill>
              <a:prstDash val="solid"/>
              <a:miter lim="800000"/>
            </a:ln>
            <a:effectLst/>
          </p:spPr>
          <p:txBody>
            <a:bodyPr wrap="square" lIns="45719" tIns="45719" rIns="45719" bIns="45719" numCol="1" anchor="t">
              <a:noAutofit/>
            </a:bodyPr>
            <a:lstStyle/>
            <a:p>
              <a:endParaRPr/>
            </a:p>
          </p:txBody>
        </p:sp>
        <p:sp>
          <p:nvSpPr>
            <p:cNvPr id="117" name="Shape 117"/>
            <p:cNvSpPr/>
            <p:nvPr/>
          </p:nvSpPr>
          <p:spPr>
            <a:xfrm>
              <a:off x="0" y="4301"/>
              <a:ext cx="1066800" cy="1"/>
            </a:xfrm>
            <a:prstGeom prst="line">
              <a:avLst/>
            </a:prstGeom>
            <a:noFill/>
            <a:ln w="50800" cap="flat">
              <a:solidFill>
                <a:schemeClr val="accent1"/>
              </a:solidFill>
              <a:prstDash val="solid"/>
              <a:miter lim="800000"/>
              <a:tailEnd type="triangle" w="med" len="med"/>
            </a:ln>
            <a:effectLst/>
          </p:spPr>
          <p:txBody>
            <a:bodyPr wrap="square" lIns="45719" tIns="45719" rIns="45719" bIns="45719" numCol="1" anchor="t">
              <a:noAutofit/>
            </a:bodyPr>
            <a:lstStyle/>
            <a:p>
              <a:endParaRPr/>
            </a:p>
          </p:txBody>
        </p:sp>
      </p:grpSp>
      <p:sp>
        <p:nvSpPr>
          <p:cNvPr id="119" name="Shape 119"/>
          <p:cNvSpPr/>
          <p:nvPr/>
        </p:nvSpPr>
        <p:spPr>
          <a:xfrm flipH="1">
            <a:off x="4429542" y="4386899"/>
            <a:ext cx="1066801" cy="1"/>
          </a:xfrm>
          <a:prstGeom prst="line">
            <a:avLst/>
          </a:prstGeom>
          <a:ln w="101600">
            <a:solidFill>
              <a:schemeClr val="accent1"/>
            </a:solidFill>
            <a:miter/>
            <a:tailEnd type="triangle"/>
          </a:ln>
        </p:spPr>
        <p:txBody>
          <a:bodyPr lIns="45719" rIns="45719"/>
          <a:lstStyle/>
          <a:p>
            <a:endParaRPr/>
          </a:p>
        </p:txBody>
      </p:sp>
      <p:sp>
        <p:nvSpPr>
          <p:cNvPr id="120" name="Shape 120"/>
          <p:cNvSpPr/>
          <p:nvPr/>
        </p:nvSpPr>
        <p:spPr>
          <a:xfrm>
            <a:off x="4703863" y="2494721"/>
            <a:ext cx="1333055" cy="523220"/>
          </a:xfrm>
          <a:prstGeom prst="rect">
            <a:avLst/>
          </a:prstGeom>
          <a:ln w="12700">
            <a:miter lim="400000"/>
          </a:ln>
          <a:extLst>
            <a:ext uri="{C572A759-6A51-4108-AA02-DFA0A04FC94B}">
              <ma14:wrappingTextBoxFlag xmlns="" xmlns:ma14="http://schemas.microsoft.com/office/mac/drawingml/2011/main" val="1"/>
            </a:ext>
          </a:extLst>
        </p:spPr>
        <p:txBody>
          <a:bodyPr wrap="none" lIns="45719" rIns="45719">
            <a:spAutoFit/>
          </a:bodyPr>
          <a:lstStyle>
            <a:lvl1pPr>
              <a:defRPr sz="2800">
                <a:latin typeface="Arial"/>
                <a:ea typeface="Arial"/>
                <a:cs typeface="Arial"/>
                <a:sym typeface="Arial"/>
              </a:defRPr>
            </a:lvl1pPr>
          </a:lstStyle>
          <a:p>
            <a:r>
              <a:t>glucose</a:t>
            </a:r>
          </a:p>
        </p:txBody>
      </p:sp>
      <p:grpSp>
        <p:nvGrpSpPr>
          <p:cNvPr id="123" name="Group 123"/>
          <p:cNvGrpSpPr/>
          <p:nvPr/>
        </p:nvGrpSpPr>
        <p:grpSpPr>
          <a:xfrm>
            <a:off x="3591342" y="2797666"/>
            <a:ext cx="1066801" cy="1116086"/>
            <a:chOff x="0" y="0"/>
            <a:chExt cx="1066800" cy="1116084"/>
          </a:xfrm>
        </p:grpSpPr>
        <p:sp>
          <p:nvSpPr>
            <p:cNvPr id="121" name="Shape 121"/>
            <p:cNvSpPr/>
            <p:nvPr/>
          </p:nvSpPr>
          <p:spPr>
            <a:xfrm>
              <a:off x="0" y="34901"/>
              <a:ext cx="1066800" cy="1"/>
            </a:xfrm>
            <a:prstGeom prst="line">
              <a:avLst/>
            </a:prstGeom>
            <a:noFill/>
            <a:ln w="101600" cap="flat">
              <a:solidFill>
                <a:schemeClr val="accent1"/>
              </a:solidFill>
              <a:prstDash val="solid"/>
              <a:miter lim="800000"/>
              <a:tailEnd type="triangle" w="med" len="med"/>
            </a:ln>
            <a:effectLst/>
          </p:spPr>
          <p:txBody>
            <a:bodyPr wrap="square" lIns="45719" tIns="45719" rIns="45719" bIns="45719" numCol="1" anchor="t">
              <a:noAutofit/>
            </a:bodyPr>
            <a:lstStyle/>
            <a:p>
              <a:endParaRPr/>
            </a:p>
          </p:txBody>
        </p:sp>
        <p:sp>
          <p:nvSpPr>
            <p:cNvPr id="122" name="Shape 122"/>
            <p:cNvSpPr/>
            <p:nvPr/>
          </p:nvSpPr>
          <p:spPr>
            <a:xfrm flipV="1">
              <a:off x="-1" y="-1"/>
              <a:ext cx="1" cy="1116086"/>
            </a:xfrm>
            <a:prstGeom prst="line">
              <a:avLst/>
            </a:prstGeom>
            <a:noFill/>
            <a:ln w="88900" cap="flat">
              <a:solidFill>
                <a:schemeClr val="accent1"/>
              </a:solidFill>
              <a:prstDash val="solid"/>
              <a:miter lim="800000"/>
            </a:ln>
            <a:effectLst/>
          </p:spPr>
          <p:txBody>
            <a:bodyPr wrap="square" lIns="45719" tIns="45719" rIns="45719" bIns="45719" numCol="1" anchor="t">
              <a:noAutofit/>
            </a:bodyPr>
            <a:lstStyle/>
            <a:p>
              <a:endParaRPr/>
            </a:p>
          </p:txBody>
        </p:sp>
      </p:grpSp>
      <p:sp>
        <p:nvSpPr>
          <p:cNvPr id="124" name="Shape 124"/>
          <p:cNvSpPr/>
          <p:nvPr/>
        </p:nvSpPr>
        <p:spPr>
          <a:xfrm flipH="1">
            <a:off x="4460022" y="4395305"/>
            <a:ext cx="1066801" cy="1"/>
          </a:xfrm>
          <a:prstGeom prst="line">
            <a:avLst/>
          </a:prstGeom>
          <a:ln w="50800">
            <a:solidFill>
              <a:schemeClr val="accent1"/>
            </a:solidFill>
            <a:miter/>
            <a:tailEnd type="triangle"/>
          </a:ln>
        </p:spPr>
        <p:txBody>
          <a:bodyPr lIns="45719" rIns="45719"/>
          <a:lstStyle/>
          <a:p>
            <a:endParaRPr/>
          </a:p>
        </p:txBody>
      </p:sp>
      <p:sp>
        <p:nvSpPr>
          <p:cNvPr id="125" name="Shape 125"/>
          <p:cNvSpPr/>
          <p:nvPr/>
        </p:nvSpPr>
        <p:spPr>
          <a:xfrm flipH="1">
            <a:off x="6767993" y="3585277"/>
            <a:ext cx="964183" cy="550227"/>
          </a:xfrm>
          <a:prstGeom prst="line">
            <a:avLst/>
          </a:prstGeom>
          <a:ln w="228600">
            <a:solidFill>
              <a:srgbClr val="2E75B6"/>
            </a:solidFill>
            <a:miter/>
            <a:tailEnd type="triangle"/>
          </a:ln>
        </p:spPr>
        <p:txBody>
          <a:bodyPr lIns="45719" rIns="45719"/>
          <a:lstStyle/>
          <a:p>
            <a:endParaRPr/>
          </a:p>
        </p:txBody>
      </p:sp>
      <p:sp>
        <p:nvSpPr>
          <p:cNvPr id="126" name="Shape 126"/>
          <p:cNvSpPr/>
          <p:nvPr/>
        </p:nvSpPr>
        <p:spPr>
          <a:xfrm>
            <a:off x="3718560" y="3323661"/>
            <a:ext cx="2209999" cy="523220"/>
          </a:xfrm>
          <a:prstGeom prst="rect">
            <a:avLst/>
          </a:prstGeom>
          <a:ln w="12700">
            <a:miter lim="400000"/>
          </a:ln>
          <a:extLst>
            <a:ext uri="{C572A759-6A51-4108-AA02-DFA0A04FC94B}">
              <ma14:wrappingTextBoxFlag xmlns="" xmlns:ma14="http://schemas.microsoft.com/office/mac/drawingml/2011/main" val="1"/>
            </a:ext>
          </a:extLst>
        </p:spPr>
        <p:txBody>
          <a:bodyPr wrap="square" lIns="45719" rIns="45719">
            <a:spAutoFit/>
          </a:bodyPr>
          <a:lstStyle>
            <a:lvl1pPr>
              <a:defRPr sz="2800">
                <a:solidFill>
                  <a:srgbClr val="8497B0"/>
                </a:solidFill>
                <a:latin typeface="Arial"/>
                <a:ea typeface="Arial"/>
                <a:cs typeface="Arial"/>
                <a:sym typeface="Arial"/>
              </a:defRPr>
            </a:lvl1pPr>
          </a:lstStyle>
          <a:p>
            <a:r>
              <a:rPr lang="en-US" dirty="0"/>
              <a:t> M</a:t>
            </a:r>
            <a:r>
              <a:rPr dirty="0"/>
              <a:t>etformin</a:t>
            </a:r>
          </a:p>
        </p:txBody>
      </p:sp>
      <p:sp>
        <p:nvSpPr>
          <p:cNvPr id="127" name="Shape 127"/>
          <p:cNvSpPr/>
          <p:nvPr/>
        </p:nvSpPr>
        <p:spPr>
          <a:xfrm>
            <a:off x="7245807" y="4297875"/>
            <a:ext cx="2249973" cy="523220"/>
          </a:xfrm>
          <a:prstGeom prst="rect">
            <a:avLst/>
          </a:prstGeom>
          <a:ln w="12700">
            <a:miter lim="400000"/>
          </a:ln>
          <a:extLst>
            <a:ext uri="{C572A759-6A51-4108-AA02-DFA0A04FC94B}">
              <ma14:wrappingTextBoxFlag xmlns="" xmlns:ma14="http://schemas.microsoft.com/office/mac/drawingml/2011/main" val="1"/>
            </a:ext>
          </a:extLst>
        </p:spPr>
        <p:txBody>
          <a:bodyPr wrap="none" lIns="45719" rIns="45719">
            <a:spAutoFit/>
          </a:bodyPr>
          <a:lstStyle>
            <a:lvl1pPr>
              <a:defRPr sz="2800">
                <a:solidFill>
                  <a:srgbClr val="C55A11"/>
                </a:solidFill>
                <a:latin typeface="Arial"/>
                <a:ea typeface="Arial"/>
                <a:cs typeface="Arial"/>
                <a:sym typeface="Arial"/>
              </a:defRPr>
            </a:lvl1pPr>
          </a:lstStyle>
          <a:p>
            <a:r>
              <a:rPr lang="en-US" dirty="0"/>
              <a:t>H</a:t>
            </a:r>
            <a:r>
              <a:rPr dirty="0"/>
              <a:t>ypoxi</a:t>
            </a:r>
            <a:r>
              <a:rPr lang="en-US" dirty="0"/>
              <a:t>c state</a:t>
            </a:r>
            <a:endParaRPr dirty="0"/>
          </a:p>
        </p:txBody>
      </p:sp>
      <p:pic>
        <p:nvPicPr>
          <p:cNvPr id="128" name="rbc.png"/>
          <p:cNvPicPr>
            <a:picLocks noChangeAspect="1"/>
          </p:cNvPicPr>
          <p:nvPr/>
        </p:nvPicPr>
        <p:blipFill>
          <a:blip r:embed="rId4"/>
          <a:stretch>
            <a:fillRect/>
          </a:stretch>
        </p:blipFill>
        <p:spPr>
          <a:xfrm>
            <a:off x="7810885" y="4827091"/>
            <a:ext cx="1684895" cy="1617498"/>
          </a:xfrm>
          <a:prstGeom prst="rect">
            <a:avLst/>
          </a:prstGeom>
          <a:ln w="12700">
            <a:miter lim="400000"/>
          </a:ln>
        </p:spPr>
      </p:pic>
      <p:pic>
        <p:nvPicPr>
          <p:cNvPr id="129" name="pasted-image.png"/>
          <p:cNvPicPr>
            <a:picLocks/>
          </p:cNvPicPr>
          <p:nvPr/>
        </p:nvPicPr>
        <p:blipFill>
          <a:blip r:embed="rId5"/>
          <a:stretch>
            <a:fillRect/>
          </a:stretch>
        </p:blipFill>
        <p:spPr>
          <a:xfrm rot="20982708">
            <a:off x="7774621" y="2093679"/>
            <a:ext cx="1911307" cy="1626193"/>
          </a:xfrm>
          <a:prstGeom prst="rect">
            <a:avLst/>
          </a:prstGeom>
          <a:ln w="12700">
            <a:miter lim="400000"/>
          </a:ln>
        </p:spPr>
      </p:pic>
      <p:sp>
        <p:nvSpPr>
          <p:cNvPr id="21" name="Shape 311"/>
          <p:cNvSpPr/>
          <p:nvPr/>
        </p:nvSpPr>
        <p:spPr>
          <a:xfrm flipV="1">
            <a:off x="3408461" y="3654640"/>
            <a:ext cx="365760" cy="0"/>
          </a:xfrm>
          <a:prstGeom prst="line">
            <a:avLst/>
          </a:prstGeom>
          <a:ln w="63500">
            <a:solidFill>
              <a:srgbClr val="FF0000">
                <a:alpha val="50195"/>
              </a:srgbClr>
            </a:solidFill>
            <a:miter/>
          </a:ln>
        </p:spPr>
        <p:txBody>
          <a:bodyPr lIns="45719" rIns="45719"/>
          <a:lstStyle/>
          <a:p>
            <a:endParaRPr/>
          </a:p>
        </p:txBody>
      </p:sp>
      <p:cxnSp>
        <p:nvCxnSpPr>
          <p:cNvPr id="4" name="Curved Connector 3"/>
          <p:cNvCxnSpPr/>
          <p:nvPr/>
        </p:nvCxnSpPr>
        <p:spPr>
          <a:xfrm rot="16200000" flipH="1">
            <a:off x="5187894" y="3226921"/>
            <a:ext cx="1296058" cy="845850"/>
          </a:xfrm>
          <a:prstGeom prst="curvedConnector3">
            <a:avLst>
              <a:gd name="adj1" fmla="val 44513"/>
            </a:avLst>
          </a:prstGeom>
          <a:noFill/>
          <a:ln w="12700" cap="flat">
            <a:solidFill>
              <a:schemeClr val="accent1"/>
            </a:solidFill>
            <a:prstDash val="solid"/>
            <a:miter lim="800000"/>
            <a:tailEnd type="triangle"/>
          </a:ln>
          <a:effectLst/>
          <a:sp3d/>
        </p:spPr>
        <p:style>
          <a:lnRef idx="0">
            <a:scrgbClr r="0" g="0" b="0"/>
          </a:lnRef>
          <a:fillRef idx="0">
            <a:scrgbClr r="0" g="0" b="0"/>
          </a:fillRef>
          <a:effectRef idx="0">
            <a:scrgbClr r="0" g="0" b="0"/>
          </a:effectRef>
          <a:fontRef idx="none"/>
        </p:style>
      </p:cxnSp>
      <p:sp>
        <p:nvSpPr>
          <p:cNvPr id="7" name="Plus 6"/>
          <p:cNvSpPr/>
          <p:nvPr/>
        </p:nvSpPr>
        <p:spPr>
          <a:xfrm>
            <a:off x="5496343" y="3509034"/>
            <a:ext cx="191318" cy="145606"/>
          </a:xfrm>
          <a:prstGeom prst="mathPlus">
            <a:avLst/>
          </a:prstGeom>
          <a:solidFill>
            <a:schemeClr val="accent2">
              <a:lumMod val="60000"/>
              <a:lumOff val="40000"/>
            </a:schemeClr>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FF0000"/>
              </a:solidFill>
              <a:effectLst/>
              <a:uFillTx/>
              <a:latin typeface="+mn-lt"/>
              <a:ea typeface="+mn-ea"/>
              <a:cs typeface="+mn-cs"/>
              <a:sym typeface="Calibri"/>
            </a:endParaRPr>
          </a:p>
        </p:txBody>
      </p:sp>
    </p:spTree>
    <p:extLst>
      <p:ext uri="{BB962C8B-B14F-4D97-AF65-F5344CB8AC3E}">
        <p14:creationId xmlns:p14="http://schemas.microsoft.com/office/powerpoint/2010/main" val="2189751110"/>
      </p:ext>
    </p:extLst>
  </p:cSld>
  <p:clrMapOvr>
    <a:masterClrMapping/>
  </p:clrMapOvr>
  <p:transition spd="slow"/>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iterate>
                                    <p:tmAbs val="0"/>
                                  </p:iterate>
                                  <p:childTnLst>
                                    <p:set>
                                      <p:cBhvr>
                                        <p:cTn id="6" fill="hold">
                                          <p:stCondLst>
                                            <p:cond delay="0"/>
                                          </p:stCondLst>
                                        </p:cTn>
                                        <p:tgtEl>
                                          <p:spTgt spid="119"/>
                                        </p:tgtEl>
                                        <p:attrNameLst>
                                          <p:attrName>style.visibility</p:attrName>
                                        </p:attrNameLst>
                                      </p:cBhvr>
                                      <p:to>
                                        <p:strVal val="hidden"/>
                                      </p:to>
                                    </p:set>
                                  </p:childTnLst>
                                </p:cTn>
                              </p:par>
                            </p:childTnLst>
                          </p:cTn>
                        </p:par>
                        <p:par>
                          <p:cTn id="7" fill="hold">
                            <p:stCondLst>
                              <p:cond delay="0"/>
                            </p:stCondLst>
                            <p:childTnLst>
                              <p:par>
                                <p:cTn id="8" presetID="1" presetClass="exit" presetSubtype="0" fill="hold" grpId="0" nodeType="afterEffect">
                                  <p:stCondLst>
                                    <p:cond delay="0"/>
                                  </p:stCondLst>
                                  <p:iterate>
                                    <p:tmAbs val="0"/>
                                  </p:iterate>
                                  <p:childTnLst>
                                    <p:set>
                                      <p:cBhvr>
                                        <p:cTn id="9" fill="hold">
                                          <p:stCondLst>
                                            <p:cond delay="0"/>
                                          </p:stCondLst>
                                        </p:cTn>
                                        <p:tgtEl>
                                          <p:spTgt spid="123"/>
                                        </p:tgtEl>
                                        <p:attrNameLst>
                                          <p:attrName>style.visibility</p:attrName>
                                        </p:attrNameLst>
                                      </p:cBhvr>
                                      <p:to>
                                        <p:strVal val="hidden"/>
                                      </p:to>
                                    </p:set>
                                  </p:childTnLst>
                                </p:cTn>
                              </p:par>
                            </p:childTnLst>
                          </p:cTn>
                        </p:par>
                        <p:par>
                          <p:cTn id="10" fill="hold">
                            <p:stCondLst>
                              <p:cond delay="0"/>
                            </p:stCondLst>
                            <p:childTnLst>
                              <p:par>
                                <p:cTn id="11" presetID="1" presetClass="entr" presetSubtype="0" fill="hold" grpId="0" nodeType="afterEffect">
                                  <p:stCondLst>
                                    <p:cond delay="0"/>
                                  </p:stCondLst>
                                  <p:iterate>
                                    <p:tmAbs val="0"/>
                                  </p:iterate>
                                  <p:childTnLst>
                                    <p:set>
                                      <p:cBhvr>
                                        <p:cTn id="12" fill="hold"/>
                                        <p:tgtEl>
                                          <p:spTgt spid="12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125"/>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grpId="0" nodeType="afterEffect">
                                  <p:stCondLst>
                                    <p:cond delay="0"/>
                                  </p:stCondLst>
                                  <p:iterate>
                                    <p:tmAbs val="0"/>
                                  </p:iterate>
                                  <p:childTnLst>
                                    <p:set>
                                      <p:cBhvr>
                                        <p:cTn id="19" fill="hold"/>
                                        <p:tgtEl>
                                          <p:spTgt spid="127"/>
                                        </p:tgtEl>
                                        <p:attrNameLst>
                                          <p:attrName>style.visibility</p:attrName>
                                        </p:attrNameLst>
                                      </p:cBhvr>
                                      <p:to>
                                        <p:strVal val="visible"/>
                                      </p:to>
                                    </p:set>
                                  </p:childTnLst>
                                </p:cTn>
                              </p:par>
                            </p:childTnLst>
                          </p:cTn>
                        </p:par>
                        <p:par>
                          <p:cTn id="20" fill="hold">
                            <p:stCondLst>
                              <p:cond delay="0"/>
                            </p:stCondLst>
                            <p:childTnLst>
                              <p:par>
                                <p:cTn id="21" presetID="1" presetClass="entr" presetSubtype="0" fill="hold" grpId="0" nodeType="afterEffect">
                                  <p:stCondLst>
                                    <p:cond delay="0"/>
                                  </p:stCondLst>
                                  <p:iterate>
                                    <p:tmAbs val="0"/>
                                  </p:iterate>
                                  <p:childTnLst>
                                    <p:set>
                                      <p:cBhvr>
                                        <p:cTn id="22" fill="hold"/>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 grpId="0" animBg="1" advAuto="0"/>
      <p:bldP spid="123" grpId="0" animBg="1" advAuto="0"/>
      <p:bldP spid="125" grpId="0" animBg="1" advAuto="0"/>
      <p:bldP spid="126" grpId="0" animBg="1" advAuto="0"/>
      <p:bldP spid="127" grpId="0" animBg="1" advAuto="0"/>
      <p:bldP spid="21" grpId="0" animBg="1" advAuto="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97EEF-1D3E-9093-5874-536E9A3A3668}"/>
              </a:ext>
            </a:extLst>
          </p:cNvPr>
          <p:cNvSpPr>
            <a:spLocks noGrp="1"/>
          </p:cNvSpPr>
          <p:nvPr>
            <p:ph type="title"/>
          </p:nvPr>
        </p:nvSpPr>
        <p:spPr/>
        <p:txBody>
          <a:bodyPr lIns="45719" tIns="45720" rIns="45719" bIns="45720" anchor="ctr">
            <a:normAutofit/>
          </a:bodyPr>
          <a:lstStyle/>
          <a:p>
            <a:r>
              <a:rPr lang="en-US" dirty="0"/>
              <a:t>Sulfonylureas- Glipizide, </a:t>
            </a:r>
            <a:r>
              <a:rPr lang="en-US" dirty="0" err="1"/>
              <a:t>Glimepiride,Glyburide</a:t>
            </a:r>
          </a:p>
        </p:txBody>
      </p:sp>
      <p:sp>
        <p:nvSpPr>
          <p:cNvPr id="3" name="Text Placeholder 2">
            <a:extLst>
              <a:ext uri="{FF2B5EF4-FFF2-40B4-BE49-F238E27FC236}">
                <a16:creationId xmlns:a16="http://schemas.microsoft.com/office/drawing/2014/main" id="{B7170453-2974-8CDA-CD08-0C0AB9E6961B}"/>
              </a:ext>
            </a:extLst>
          </p:cNvPr>
          <p:cNvSpPr>
            <a:spLocks noGrp="1"/>
          </p:cNvSpPr>
          <p:nvPr>
            <p:ph type="body" idx="1"/>
          </p:nvPr>
        </p:nvSpPr>
        <p:spPr/>
        <p:txBody>
          <a:bodyPr lIns="45719" tIns="45720" rIns="45719" bIns="45720" anchor="t">
            <a:normAutofit/>
          </a:bodyPr>
          <a:lstStyle/>
          <a:p>
            <a:r>
              <a:rPr lang="en-US" sz="1800" dirty="0"/>
              <a:t>Stimulate insulin secretion from pancreatic beta cells</a:t>
            </a:r>
          </a:p>
          <a:p>
            <a:r>
              <a:rPr lang="en-US" sz="1800" dirty="0"/>
              <a:t> Their primary mechanism of action is to bind to and close ATP-sensitive potassium (KATP) channels in the beta cell plasma membrane, They stop the flow of potassium, which depolarizes the cell membrane and opens calcium channels. The increased calcium flow causes actomyosin filaments to contract, which leads to insulin exocytosis. </a:t>
            </a:r>
          </a:p>
          <a:p>
            <a:endParaRPr lang="en-US" sz="1800" dirty="0"/>
          </a:p>
          <a:p>
            <a:endParaRPr lang="en-US" sz="900" dirty="0">
              <a:solidFill>
                <a:srgbClr val="1F1F1F"/>
              </a:solidFill>
            </a:endParaRPr>
          </a:p>
        </p:txBody>
      </p:sp>
      <p:pic>
        <p:nvPicPr>
          <p:cNvPr id="4" name="Picture 3" descr="IJMS | Free Full-Text | An Update on the Molecular and Cellular Basis of  Pharmacotherapy in Type 2 Diabetes Mellitus">
            <a:extLst>
              <a:ext uri="{FF2B5EF4-FFF2-40B4-BE49-F238E27FC236}">
                <a16:creationId xmlns:a16="http://schemas.microsoft.com/office/drawing/2014/main" id="{864D9B90-C94E-D14F-5A9D-53AD138D8137}"/>
              </a:ext>
            </a:extLst>
          </p:cNvPr>
          <p:cNvPicPr>
            <a:picLocks noChangeAspect="1"/>
          </p:cNvPicPr>
          <p:nvPr/>
        </p:nvPicPr>
        <p:blipFill>
          <a:blip r:embed="rId2"/>
          <a:stretch>
            <a:fillRect/>
          </a:stretch>
        </p:blipFill>
        <p:spPr>
          <a:xfrm>
            <a:off x="6248400" y="3430860"/>
            <a:ext cx="4020063" cy="2920711"/>
          </a:xfrm>
          <a:prstGeom prst="rect">
            <a:avLst/>
          </a:prstGeom>
        </p:spPr>
      </p:pic>
    </p:spTree>
    <p:extLst>
      <p:ext uri="{BB962C8B-B14F-4D97-AF65-F5344CB8AC3E}">
        <p14:creationId xmlns:p14="http://schemas.microsoft.com/office/powerpoint/2010/main" val="306439890"/>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0C611-AB9A-B8E6-F399-7FF615C5581F}"/>
              </a:ext>
            </a:extLst>
          </p:cNvPr>
          <p:cNvSpPr>
            <a:spLocks noGrp="1"/>
          </p:cNvSpPr>
          <p:nvPr>
            <p:ph type="title"/>
          </p:nvPr>
        </p:nvSpPr>
        <p:spPr/>
        <p:txBody>
          <a:bodyPr/>
          <a:lstStyle/>
          <a:p>
            <a:r>
              <a:rPr lang="en-US" dirty="0">
                <a:cs typeface="Calibri"/>
              </a:rPr>
              <a:t>Thiazolidinediones- Pioglitazone </a:t>
            </a:r>
            <a:endParaRPr lang="en-US" dirty="0"/>
          </a:p>
        </p:txBody>
      </p:sp>
      <p:sp>
        <p:nvSpPr>
          <p:cNvPr id="3" name="Text Placeholder 2">
            <a:extLst>
              <a:ext uri="{FF2B5EF4-FFF2-40B4-BE49-F238E27FC236}">
                <a16:creationId xmlns:a16="http://schemas.microsoft.com/office/drawing/2014/main" id="{D1160413-E3B3-6961-EC96-B9EFDA3E4413}"/>
              </a:ext>
            </a:extLst>
          </p:cNvPr>
          <p:cNvSpPr>
            <a:spLocks noGrp="1"/>
          </p:cNvSpPr>
          <p:nvPr>
            <p:ph type="body" idx="1"/>
          </p:nvPr>
        </p:nvSpPr>
        <p:spPr/>
        <p:txBody>
          <a:bodyPr/>
          <a:lstStyle/>
          <a:p>
            <a:endParaRPr lang="en-US"/>
          </a:p>
        </p:txBody>
      </p:sp>
      <p:sp>
        <p:nvSpPr>
          <p:cNvPr id="4" name="Content Placeholder 3">
            <a:extLst>
              <a:ext uri="{FF2B5EF4-FFF2-40B4-BE49-F238E27FC236}">
                <a16:creationId xmlns:a16="http://schemas.microsoft.com/office/drawing/2014/main" id="{CF125D30-6265-C743-1047-ECE582FBDDC9}"/>
              </a:ext>
            </a:extLst>
          </p:cNvPr>
          <p:cNvSpPr>
            <a:spLocks noGrp="1"/>
          </p:cNvSpPr>
          <p:nvPr>
            <p:ph sz="half" idx="2"/>
          </p:nvPr>
        </p:nvSpPr>
        <p:spPr/>
        <p:txBody>
          <a:bodyPr vert="horz" lIns="91440" tIns="45720" rIns="91440" bIns="45720" rtlCol="0" anchor="t">
            <a:noAutofit/>
          </a:bodyPr>
          <a:lstStyle/>
          <a:p>
            <a:r>
              <a:rPr lang="en-US" sz="1800" dirty="0">
                <a:solidFill>
                  <a:srgbClr val="212121"/>
                </a:solidFill>
                <a:ea typeface="+mn-lt"/>
                <a:cs typeface="+mn-lt"/>
              </a:rPr>
              <a:t>Thiazolidinediones, such as pioglitazone, bind to peroxisome proliferator-activated receptors (PPARs). They alter the transcription of genes influencing carbohydrate and lipid metabolism. Pioglitazone improves glycemic control in people with Type 2 diabetes by improving insulin sensitivity through its action at </a:t>
            </a:r>
            <a:r>
              <a:rPr lang="en-US" sz="1800" dirty="0">
                <a:solidFill>
                  <a:srgbClr val="FF0000"/>
                </a:solidFill>
                <a:ea typeface="+mn-lt"/>
                <a:cs typeface="+mn-lt"/>
              </a:rPr>
              <a:t>PPAR gamma</a:t>
            </a:r>
            <a:r>
              <a:rPr lang="en-US" sz="1800" dirty="0">
                <a:solidFill>
                  <a:srgbClr val="212121"/>
                </a:solidFill>
                <a:ea typeface="+mn-lt"/>
                <a:cs typeface="+mn-lt"/>
              </a:rPr>
              <a:t> 1 and PPAR gamma 2, and affects lipid metabolism through action at PPAR alpha. The results of these interactions include increases in glucose transporters 1 and 4, lowered free fatty acids,  reduced (TNF alpha) and remodeling of</a:t>
            </a:r>
            <a:r>
              <a:rPr lang="en-US" sz="1800" dirty="0">
                <a:solidFill>
                  <a:srgbClr val="FF0000"/>
                </a:solidFill>
                <a:ea typeface="+mn-lt"/>
                <a:cs typeface="+mn-lt"/>
              </a:rPr>
              <a:t> adipose tissue. </a:t>
            </a:r>
            <a:r>
              <a:rPr lang="en-US" sz="1800" dirty="0">
                <a:solidFill>
                  <a:srgbClr val="212121"/>
                </a:solidFill>
                <a:ea typeface="+mn-lt"/>
                <a:cs typeface="+mn-lt"/>
              </a:rPr>
              <a:t>Together, these can increase glucose uptake and utilization in the peripheral organs and decrease gluconeogenesis in the liver, thereby reducing insulin resistance.</a:t>
            </a:r>
            <a:endParaRPr lang="en-US" sz="1800" dirty="0"/>
          </a:p>
        </p:txBody>
      </p:sp>
      <p:sp>
        <p:nvSpPr>
          <p:cNvPr id="5" name="Text Placeholder 4">
            <a:extLst>
              <a:ext uri="{FF2B5EF4-FFF2-40B4-BE49-F238E27FC236}">
                <a16:creationId xmlns:a16="http://schemas.microsoft.com/office/drawing/2014/main" id="{2B00E151-F9B9-2F2C-E013-1CF9EF82231C}"/>
              </a:ext>
            </a:extLst>
          </p:cNvPr>
          <p:cNvSpPr>
            <a:spLocks noGrp="1"/>
          </p:cNvSpPr>
          <p:nvPr>
            <p:ph type="body" sz="quarter" idx="3"/>
          </p:nvPr>
        </p:nvSpPr>
        <p:spPr/>
        <p:txBody>
          <a:bodyPr/>
          <a:lstStyle/>
          <a:p>
            <a:endParaRPr lang="en-US"/>
          </a:p>
        </p:txBody>
      </p:sp>
      <p:pic>
        <p:nvPicPr>
          <p:cNvPr id="7" name="Content Placeholder 6" descr="Oral antihyperglycemic therapy for type 2 diabetes mellitus | CMAJ">
            <a:extLst>
              <a:ext uri="{FF2B5EF4-FFF2-40B4-BE49-F238E27FC236}">
                <a16:creationId xmlns:a16="http://schemas.microsoft.com/office/drawing/2014/main" id="{820932F8-F7C8-E41C-BAEB-BD525A5ECE0D}"/>
              </a:ext>
            </a:extLst>
          </p:cNvPr>
          <p:cNvPicPr>
            <a:picLocks noGrp="1" noChangeAspect="1"/>
          </p:cNvPicPr>
          <p:nvPr>
            <p:ph sz="quarter" idx="4"/>
          </p:nvPr>
        </p:nvPicPr>
        <p:blipFill>
          <a:blip r:embed="rId2"/>
          <a:stretch>
            <a:fillRect/>
          </a:stretch>
        </p:blipFill>
        <p:spPr>
          <a:xfrm>
            <a:off x="6452694" y="2032751"/>
            <a:ext cx="4859551" cy="4225238"/>
          </a:xfrm>
        </p:spPr>
      </p:pic>
    </p:spTree>
    <p:extLst>
      <p:ext uri="{BB962C8B-B14F-4D97-AF65-F5344CB8AC3E}">
        <p14:creationId xmlns:p14="http://schemas.microsoft.com/office/powerpoint/2010/main" val="22431739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AD5268-5A9C-4E43-30FE-9C4FDC88A4F7}"/>
              </a:ext>
            </a:extLst>
          </p:cNvPr>
          <p:cNvSpPr>
            <a:spLocks noGrp="1"/>
          </p:cNvSpPr>
          <p:nvPr>
            <p:ph type="title"/>
          </p:nvPr>
        </p:nvSpPr>
        <p:spPr/>
        <p:txBody>
          <a:bodyPr/>
          <a:lstStyle/>
          <a:p>
            <a:r>
              <a:rPr lang="en-US" dirty="0">
                <a:cs typeface="Calibri"/>
              </a:rPr>
              <a:t>SGLT-2 inhibitors-</a:t>
            </a:r>
            <a:r>
              <a:rPr lang="en-US" sz="2000" dirty="0">
                <a:solidFill>
                  <a:srgbClr val="383636"/>
                </a:solidFill>
                <a:cs typeface="Calibri"/>
              </a:rPr>
              <a:t> </a:t>
            </a:r>
            <a:r>
              <a:rPr lang="en-US" sz="1800" dirty="0">
                <a:solidFill>
                  <a:srgbClr val="383636"/>
                </a:solidFill>
                <a:cs typeface="Calibri"/>
              </a:rPr>
              <a:t>glucose excretion can be induced by blocking the activity of the renal sodium-glucose cotransporter 2 (SGLT-2). This causes reabsorption of glucose at proximal renal tubule. This causes glucosuria and corrects hyperglycemia without stimulating release of insulin.</a:t>
            </a:r>
            <a:endParaRPr lang="en-US" dirty="0"/>
          </a:p>
        </p:txBody>
      </p:sp>
      <p:sp>
        <p:nvSpPr>
          <p:cNvPr id="3" name="Text Placeholder 2">
            <a:extLst>
              <a:ext uri="{FF2B5EF4-FFF2-40B4-BE49-F238E27FC236}">
                <a16:creationId xmlns:a16="http://schemas.microsoft.com/office/drawing/2014/main" id="{CE8C0C76-2983-E600-731A-FEEC9CF725BD}"/>
              </a:ext>
            </a:extLst>
          </p:cNvPr>
          <p:cNvSpPr>
            <a:spLocks noGrp="1"/>
          </p:cNvSpPr>
          <p:nvPr>
            <p:ph type="body" idx="1"/>
          </p:nvPr>
        </p:nvSpPr>
        <p:spPr/>
        <p:txBody>
          <a:bodyPr>
            <a:noAutofit/>
          </a:bodyPr>
          <a:lstStyle/>
          <a:p>
            <a:endParaRPr lang="en-US" sz="2000" b="0" dirty="0">
              <a:solidFill>
                <a:srgbClr val="383636"/>
              </a:solidFill>
              <a:ea typeface="+mn-lt"/>
              <a:cs typeface="+mn-lt"/>
            </a:endParaRPr>
          </a:p>
          <a:p>
            <a:endParaRPr lang="en-US" sz="2000" b="0" dirty="0">
              <a:solidFill>
                <a:srgbClr val="383636"/>
              </a:solidFill>
              <a:ea typeface="+mn-lt"/>
              <a:cs typeface="+mn-lt"/>
            </a:endParaRPr>
          </a:p>
          <a:p>
            <a:endParaRPr lang="en-US" sz="2000" b="0" dirty="0">
              <a:solidFill>
                <a:srgbClr val="383636"/>
              </a:solidFill>
              <a:ea typeface="+mn-lt"/>
              <a:cs typeface="+mn-lt"/>
            </a:endParaRPr>
          </a:p>
          <a:p>
            <a:endParaRPr lang="en-US" sz="2000" b="0" dirty="0">
              <a:solidFill>
                <a:srgbClr val="383636"/>
              </a:solidFill>
              <a:ea typeface="+mn-lt"/>
              <a:cs typeface="+mn-lt"/>
            </a:endParaRPr>
          </a:p>
          <a:p>
            <a:endParaRPr lang="en-US" sz="1800" b="0" dirty="0">
              <a:solidFill>
                <a:srgbClr val="383636"/>
              </a:solidFill>
              <a:cs typeface="Calibri"/>
            </a:endParaRPr>
          </a:p>
        </p:txBody>
      </p:sp>
      <p:sp>
        <p:nvSpPr>
          <p:cNvPr id="5" name="Text Placeholder 4">
            <a:extLst>
              <a:ext uri="{FF2B5EF4-FFF2-40B4-BE49-F238E27FC236}">
                <a16:creationId xmlns:a16="http://schemas.microsoft.com/office/drawing/2014/main" id="{C5A49A59-38C0-DAD5-9186-B0D148B7580B}"/>
              </a:ext>
            </a:extLst>
          </p:cNvPr>
          <p:cNvSpPr>
            <a:spLocks noGrp="1"/>
          </p:cNvSpPr>
          <p:nvPr>
            <p:ph type="body" sz="quarter" idx="3"/>
          </p:nvPr>
        </p:nvSpPr>
        <p:spPr/>
        <p:txBody>
          <a:bodyPr>
            <a:normAutofit fontScale="92500"/>
          </a:bodyPr>
          <a:lstStyle/>
          <a:p>
            <a:r>
              <a:rPr lang="en-US" dirty="0">
                <a:cs typeface="Calibri"/>
              </a:rPr>
              <a:t>Empagliflozin, Dapagliflozin, Canagliflozin,</a:t>
            </a:r>
            <a:endParaRPr lang="en-US" dirty="0"/>
          </a:p>
        </p:txBody>
      </p:sp>
      <p:pic>
        <p:nvPicPr>
          <p:cNvPr id="8" name="Content Placeholder 7" descr="Figure 2. SGLT-2 mediates glucose reabsorption in the kidney. SGLT-2 catalyzes the active transport of glucose (against a concentration gradient) across the luminal membrane by coupling it with the downhill transport of Na+. The inward Na+ gradient across the luminal epithelium is maintained by active extrusion of Na+ across the basolateral surface into the intracellular fluid. Glucose diffuses out of the cell down a concentration gradient via the basolateral facilitative transporter GLUT2.20 Adapted from Ref. 20.">
            <a:extLst>
              <a:ext uri="{FF2B5EF4-FFF2-40B4-BE49-F238E27FC236}">
                <a16:creationId xmlns:a16="http://schemas.microsoft.com/office/drawing/2014/main" id="{A935CC6E-F95D-52FF-2B79-E6EED3DAED30}"/>
              </a:ext>
            </a:extLst>
          </p:cNvPr>
          <p:cNvPicPr>
            <a:picLocks noGrp="1" noChangeAspect="1"/>
          </p:cNvPicPr>
          <p:nvPr>
            <p:ph sz="quarter" idx="4"/>
          </p:nvPr>
        </p:nvPicPr>
        <p:blipFill>
          <a:blip r:embed="rId2"/>
          <a:stretch>
            <a:fillRect/>
          </a:stretch>
        </p:blipFill>
        <p:spPr>
          <a:xfrm>
            <a:off x="6200437" y="2743538"/>
            <a:ext cx="5755365" cy="2360881"/>
          </a:xfrm>
        </p:spPr>
      </p:pic>
      <p:pic>
        <p:nvPicPr>
          <p:cNvPr id="9" name="Picture 8" descr="Figure 1. Renal glucose handling. In healthy individuals, the vast majority of the glucose filtered by the kidney is reabsorbed by SGLT-2 in the S1 and S2 segments of the proximal convoluted tubule, and the remaining glucose is reabsorbed by SGLT-1 in the S3 segment.20">
            <a:extLst>
              <a:ext uri="{FF2B5EF4-FFF2-40B4-BE49-F238E27FC236}">
                <a16:creationId xmlns:a16="http://schemas.microsoft.com/office/drawing/2014/main" id="{311DE639-4A5F-871C-F1C2-61C3CEC549DD}"/>
              </a:ext>
            </a:extLst>
          </p:cNvPr>
          <p:cNvPicPr>
            <a:picLocks noChangeAspect="1"/>
          </p:cNvPicPr>
          <p:nvPr/>
        </p:nvPicPr>
        <p:blipFill>
          <a:blip r:embed="rId3"/>
          <a:stretch>
            <a:fillRect/>
          </a:stretch>
        </p:blipFill>
        <p:spPr>
          <a:xfrm>
            <a:off x="2368790" y="3924876"/>
            <a:ext cx="1584960" cy="923544"/>
          </a:xfrm>
          <a:prstGeom prst="rect">
            <a:avLst/>
          </a:prstGeom>
        </p:spPr>
      </p:pic>
      <p:pic>
        <p:nvPicPr>
          <p:cNvPr id="12" name="Content Placeholder 11" descr="Figure 1. Renal glucose handling. In healthy individuals, the vast majority of the glucose filtered by the kidney is reabsorbed by SGLT-2 in the S1 and S2 segments of the proximal convoluted tubule, and the remaining glucose is reabsorbed by SGLT-1 in the S3 segment.20">
            <a:extLst>
              <a:ext uri="{FF2B5EF4-FFF2-40B4-BE49-F238E27FC236}">
                <a16:creationId xmlns:a16="http://schemas.microsoft.com/office/drawing/2014/main" id="{706353B5-B546-231A-83E5-2442CE27B872}"/>
              </a:ext>
            </a:extLst>
          </p:cNvPr>
          <p:cNvPicPr>
            <a:picLocks noGrp="1" noChangeAspect="1"/>
          </p:cNvPicPr>
          <p:nvPr>
            <p:ph sz="half" idx="2"/>
          </p:nvPr>
        </p:nvPicPr>
        <p:blipFill>
          <a:blip r:embed="rId3"/>
          <a:stretch>
            <a:fillRect/>
          </a:stretch>
        </p:blipFill>
        <p:spPr>
          <a:xfrm>
            <a:off x="605315" y="2556045"/>
            <a:ext cx="5590607" cy="3291921"/>
          </a:xfrm>
        </p:spPr>
      </p:pic>
    </p:spTree>
    <p:extLst>
      <p:ext uri="{BB962C8B-B14F-4D97-AF65-F5344CB8AC3E}">
        <p14:creationId xmlns:p14="http://schemas.microsoft.com/office/powerpoint/2010/main" val="15138303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GLP-1 mechanism of action. Glucagon-like peptide target organs -  HealthPopuli.com">
            <a:extLst>
              <a:ext uri="{FF2B5EF4-FFF2-40B4-BE49-F238E27FC236}">
                <a16:creationId xmlns:a16="http://schemas.microsoft.com/office/drawing/2014/main" id="{4592183C-EDCD-D9C0-35A9-D511AE080E49}"/>
              </a:ext>
            </a:extLst>
          </p:cNvPr>
          <p:cNvPicPr>
            <a:picLocks noChangeAspect="1"/>
          </p:cNvPicPr>
          <p:nvPr/>
        </p:nvPicPr>
        <p:blipFill>
          <a:blip r:embed="rId2"/>
          <a:stretch>
            <a:fillRect/>
          </a:stretch>
        </p:blipFill>
        <p:spPr>
          <a:xfrm>
            <a:off x="7084025" y="1579218"/>
            <a:ext cx="5009891" cy="3093567"/>
          </a:xfrm>
          <a:prstGeom prst="rect">
            <a:avLst/>
          </a:prstGeom>
        </p:spPr>
      </p:pic>
      <p:sp>
        <p:nvSpPr>
          <p:cNvPr id="3" name="TextBox 2">
            <a:extLst>
              <a:ext uri="{FF2B5EF4-FFF2-40B4-BE49-F238E27FC236}">
                <a16:creationId xmlns:a16="http://schemas.microsoft.com/office/drawing/2014/main" id="{6FD33190-5593-A486-80E8-B640F550B0FE}"/>
              </a:ext>
            </a:extLst>
          </p:cNvPr>
          <p:cNvSpPr txBox="1"/>
          <p:nvPr/>
        </p:nvSpPr>
        <p:spPr>
          <a:xfrm>
            <a:off x="765604" y="3861"/>
            <a:ext cx="5008605" cy="618630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Arial"/>
                <a:cs typeface="Arial"/>
              </a:rPr>
              <a:t>Incretins </a:t>
            </a:r>
            <a:r>
              <a:rPr lang="en-US" dirty="0">
                <a:latin typeface="Arial"/>
                <a:ea typeface="+mn-lt"/>
                <a:cs typeface="Arial"/>
              </a:rPr>
              <a:t>are </a:t>
            </a:r>
            <a:r>
              <a:rPr lang="en-US" dirty="0">
                <a:solidFill>
                  <a:srgbClr val="202124"/>
                </a:solidFill>
                <a:latin typeface="Arial"/>
                <a:ea typeface="+mn-lt"/>
                <a:cs typeface="+mn-lt"/>
              </a:rPr>
              <a:t>hormones secreted from the intestine upon ingestion of glucose to stimulate insulin secretion from pancreatic β cells.</a:t>
            </a:r>
            <a:endParaRPr lang="en-US">
              <a:latin typeface="Arial"/>
              <a:ea typeface="Calibri"/>
              <a:cs typeface="Calibri"/>
            </a:endParaRPr>
          </a:p>
          <a:p>
            <a:r>
              <a:rPr lang="en-US" dirty="0">
                <a:solidFill>
                  <a:srgbClr val="FF0000"/>
                </a:solidFill>
                <a:latin typeface="Arial"/>
                <a:ea typeface="Calibri"/>
                <a:cs typeface="Arial"/>
              </a:rPr>
              <a:t>GLP1-</a:t>
            </a:r>
            <a:endParaRPr lang="en-US" dirty="0"/>
          </a:p>
          <a:p>
            <a:r>
              <a:rPr lang="en-US" dirty="0">
                <a:latin typeface="Arial"/>
                <a:cs typeface="Arial"/>
              </a:rPr>
              <a:t>Intestinal L cells in distal ileum and colon produces a peptide from proglucagon molecule called Glucagon like peptides, GLP 1.They are stimulated by a meal and inactivated by protease, Dipeptidyl peptidase 4 ( DPP-4)</a:t>
            </a:r>
            <a:endParaRPr lang="en-US">
              <a:latin typeface="Calibri"/>
              <a:ea typeface="Calibri"/>
              <a:cs typeface="Calibri"/>
            </a:endParaRPr>
          </a:p>
          <a:p>
            <a:endParaRPr lang="en-US" dirty="0"/>
          </a:p>
          <a:p>
            <a:r>
              <a:rPr lang="en-US" dirty="0">
                <a:latin typeface="Arial"/>
                <a:cs typeface="Arial"/>
              </a:rPr>
              <a:t>Pancreas- stimulates insulin secretion, inhibits glucagon secretion</a:t>
            </a:r>
            <a:endParaRPr lang="en-US" dirty="0">
              <a:latin typeface="Calibri"/>
              <a:cs typeface="Calibri"/>
            </a:endParaRPr>
          </a:p>
          <a:p>
            <a:r>
              <a:rPr lang="en-US" dirty="0">
                <a:latin typeface="Arial"/>
                <a:cs typeface="Arial"/>
              </a:rPr>
              <a:t>Stomach -Inhibits Gastric emptying</a:t>
            </a:r>
            <a:endParaRPr lang="en-US" dirty="0">
              <a:latin typeface="Calibri"/>
              <a:cs typeface="Calibri"/>
            </a:endParaRPr>
          </a:p>
          <a:p>
            <a:r>
              <a:rPr lang="en-US" dirty="0">
                <a:latin typeface="Arial"/>
                <a:cs typeface="Arial"/>
              </a:rPr>
              <a:t>Brain-Inhibits appetite</a:t>
            </a:r>
            <a:endParaRPr lang="en-US" dirty="0">
              <a:latin typeface="Calibri"/>
              <a:cs typeface="Calibri"/>
            </a:endParaRPr>
          </a:p>
          <a:p>
            <a:endParaRPr lang="en-US" dirty="0">
              <a:latin typeface="Arial"/>
              <a:cs typeface="Arial"/>
            </a:endParaRPr>
          </a:p>
          <a:p>
            <a:r>
              <a:rPr lang="en-US" dirty="0">
                <a:solidFill>
                  <a:srgbClr val="FF0000"/>
                </a:solidFill>
                <a:latin typeface="Arial"/>
                <a:cs typeface="Arial"/>
              </a:rPr>
              <a:t>GIP-</a:t>
            </a:r>
            <a:r>
              <a:rPr lang="en-US" dirty="0">
                <a:latin typeface="Arial"/>
                <a:cs typeface="Arial"/>
              </a:rPr>
              <a:t>-Produced by K cells in duodenum and jejunum, in response to glucose.</a:t>
            </a:r>
            <a:endParaRPr lang="en-US">
              <a:latin typeface="Calibri"/>
              <a:ea typeface="Calibri"/>
              <a:cs typeface="Calibri"/>
            </a:endParaRPr>
          </a:p>
          <a:p>
            <a:endParaRPr lang="en-US" dirty="0">
              <a:latin typeface="Arial"/>
              <a:cs typeface="Arial"/>
            </a:endParaRPr>
          </a:p>
          <a:p>
            <a:r>
              <a:rPr lang="en-US" dirty="0">
                <a:latin typeface="Arial"/>
                <a:cs typeface="Arial"/>
              </a:rPr>
              <a:t>Pancreas -Stimulates Insulin, glucagon and somatostatin secretion.</a:t>
            </a:r>
            <a:endParaRPr lang="en-US" dirty="0">
              <a:latin typeface="Calibri"/>
              <a:cs typeface="Calibri"/>
            </a:endParaRPr>
          </a:p>
          <a:p>
            <a:r>
              <a:rPr lang="en-US" dirty="0">
                <a:latin typeface="Arial"/>
                <a:cs typeface="Arial"/>
              </a:rPr>
              <a:t>Stomach-Inhibits gastric emptying. </a:t>
            </a:r>
            <a:endParaRPr lang="en-US" dirty="0">
              <a:latin typeface="Calibri"/>
              <a:cs typeface="Calibri"/>
            </a:endParaRPr>
          </a:p>
          <a:p>
            <a:r>
              <a:rPr lang="en-US" dirty="0">
                <a:latin typeface="Arial"/>
                <a:cs typeface="Arial"/>
              </a:rPr>
              <a:t>Fat-Stimulates adipogenesis</a:t>
            </a:r>
            <a:endParaRPr lang="en-US" dirty="0">
              <a:cs typeface="Calibri"/>
            </a:endParaRPr>
          </a:p>
        </p:txBody>
      </p:sp>
      <p:sp>
        <p:nvSpPr>
          <p:cNvPr id="4" name="TextBox 3">
            <a:extLst>
              <a:ext uri="{FF2B5EF4-FFF2-40B4-BE49-F238E27FC236}">
                <a16:creationId xmlns:a16="http://schemas.microsoft.com/office/drawing/2014/main" id="{FC2BCE3D-A7DF-6D98-261E-AAF6D8422F17}"/>
              </a:ext>
            </a:extLst>
          </p:cNvPr>
          <p:cNvSpPr txBox="1"/>
          <p:nvPr/>
        </p:nvSpPr>
        <p:spPr>
          <a:xfrm>
            <a:off x="7079391" y="682195"/>
            <a:ext cx="2743199"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Calibri"/>
              </a:rPr>
              <a:t>GLP –1 agonist</a:t>
            </a:r>
            <a:endParaRPr lang="en-US" dirty="0"/>
          </a:p>
        </p:txBody>
      </p:sp>
    </p:spTree>
    <p:extLst>
      <p:ext uri="{BB962C8B-B14F-4D97-AF65-F5344CB8AC3E}">
        <p14:creationId xmlns:p14="http://schemas.microsoft.com/office/powerpoint/2010/main" val="4798082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B3AE7-BC28-B003-7F29-2E9DAA050453}"/>
              </a:ext>
            </a:extLst>
          </p:cNvPr>
          <p:cNvSpPr>
            <a:spLocks noGrp="1"/>
          </p:cNvSpPr>
          <p:nvPr>
            <p:ph type="title"/>
          </p:nvPr>
        </p:nvSpPr>
        <p:spPr/>
        <p:txBody>
          <a:bodyPr/>
          <a:lstStyle/>
          <a:p>
            <a:r>
              <a:rPr lang="en-US" sz="2000" dirty="0">
                <a:cs typeface="Calibri"/>
              </a:rPr>
              <a:t>GLP 1 agonist- Dulaglutide, </a:t>
            </a:r>
            <a:r>
              <a:rPr lang="en-US" sz="2000" dirty="0" err="1">
                <a:cs typeface="Calibri"/>
              </a:rPr>
              <a:t>Semaglutide</a:t>
            </a:r>
            <a:r>
              <a:rPr lang="en-US" sz="2000" dirty="0">
                <a:cs typeface="Calibri"/>
              </a:rPr>
              <a:t>, Liraglutide</a:t>
            </a:r>
            <a:br>
              <a:rPr lang="en-US" sz="2000" dirty="0">
                <a:cs typeface="Calibri"/>
              </a:rPr>
            </a:br>
            <a:r>
              <a:rPr lang="en-US" sz="2000" dirty="0">
                <a:cs typeface="Calibri"/>
              </a:rPr>
              <a:t>GLP1+ GIP agonist - </a:t>
            </a:r>
            <a:r>
              <a:rPr lang="en-US" sz="2000" dirty="0" err="1">
                <a:cs typeface="Calibri"/>
              </a:rPr>
              <a:t>Tirzepatide</a:t>
            </a:r>
            <a:endParaRPr lang="en-US" dirty="0" err="1"/>
          </a:p>
        </p:txBody>
      </p:sp>
      <p:sp>
        <p:nvSpPr>
          <p:cNvPr id="3" name="Content Placeholder 2">
            <a:extLst>
              <a:ext uri="{FF2B5EF4-FFF2-40B4-BE49-F238E27FC236}">
                <a16:creationId xmlns:a16="http://schemas.microsoft.com/office/drawing/2014/main" id="{1965633D-7E73-B2CA-DD16-488D9F6B7F87}"/>
              </a:ext>
            </a:extLst>
          </p:cNvPr>
          <p:cNvSpPr>
            <a:spLocks noGrp="1"/>
          </p:cNvSpPr>
          <p:nvPr>
            <p:ph sz="half" idx="1"/>
          </p:nvPr>
        </p:nvSpPr>
        <p:spPr/>
        <p:txBody>
          <a:bodyPr vert="horz" lIns="91440" tIns="45720" rIns="91440" bIns="45720" rtlCol="0" anchor="t">
            <a:normAutofit/>
          </a:bodyPr>
          <a:lstStyle/>
          <a:p>
            <a:r>
              <a:rPr lang="en-US" sz="1800" b="1" dirty="0">
                <a:ea typeface="+mn-lt"/>
                <a:cs typeface="+mn-lt"/>
              </a:rPr>
              <a:t>GLP-1 RAs stimulate the body’s own insulin secretion</a:t>
            </a:r>
            <a:endParaRPr lang="en-US" sz="1800">
              <a:cs typeface="Calibri"/>
            </a:endParaRPr>
          </a:p>
          <a:p>
            <a:r>
              <a:rPr lang="en-US" sz="1800" dirty="0">
                <a:ea typeface="+mn-lt"/>
                <a:cs typeface="+mn-lt"/>
              </a:rPr>
              <a:t>Glucagon-like peptide-1 (GLP-1) is a physiological hormone that has multiple actions on glucose, mediated by the GLP-1 receptors.  GLP-1 receptor agonists selectively binds to and activate the GLP-1 receptor.</a:t>
            </a:r>
            <a:endParaRPr lang="en-US" sz="1800" baseline="30000" dirty="0">
              <a:cs typeface="Calibri"/>
            </a:endParaRPr>
          </a:p>
          <a:p>
            <a:endParaRPr lang="en-US" sz="1800" dirty="0">
              <a:cs typeface="Calibri"/>
            </a:endParaRPr>
          </a:p>
          <a:p>
            <a:endParaRPr lang="en-US" sz="1800" dirty="0">
              <a:cs typeface="Calibri"/>
            </a:endParaRPr>
          </a:p>
          <a:p>
            <a:endParaRPr lang="en-US" dirty="0">
              <a:cs typeface="Calibri"/>
            </a:endParaRPr>
          </a:p>
        </p:txBody>
      </p:sp>
      <p:sp>
        <p:nvSpPr>
          <p:cNvPr id="4" name="Content Placeholder 3">
            <a:extLst>
              <a:ext uri="{FF2B5EF4-FFF2-40B4-BE49-F238E27FC236}">
                <a16:creationId xmlns:a16="http://schemas.microsoft.com/office/drawing/2014/main" id="{EC69651C-3AD4-18E4-87E0-ABE4EF02BE2B}"/>
              </a:ext>
            </a:extLst>
          </p:cNvPr>
          <p:cNvSpPr>
            <a:spLocks noGrp="1"/>
          </p:cNvSpPr>
          <p:nvPr>
            <p:ph sz="half" idx="2"/>
          </p:nvPr>
        </p:nvSpPr>
        <p:spPr/>
        <p:txBody>
          <a:bodyPr vert="horz" lIns="91440" tIns="45720" rIns="91440" bIns="45720" rtlCol="0" anchor="t">
            <a:normAutofit/>
          </a:bodyPr>
          <a:lstStyle/>
          <a:p>
            <a:r>
              <a:rPr lang="en-US" sz="1800" dirty="0">
                <a:ea typeface="+mn-lt"/>
                <a:cs typeface="+mn-lt"/>
              </a:rPr>
              <a:t>Enhanced appropriate pancreatic β-cell (insulin and amylin) secretion</a:t>
            </a:r>
            <a:endParaRPr lang="en-US" sz="1800" dirty="0">
              <a:cs typeface="Calibri"/>
            </a:endParaRPr>
          </a:p>
          <a:p>
            <a:r>
              <a:rPr lang="en-US" sz="1800">
                <a:ea typeface="+mn-lt"/>
                <a:cs typeface="+mn-lt"/>
              </a:rPr>
              <a:t>Pancreatic α-cell (glucagon) suppression</a:t>
            </a:r>
            <a:endParaRPr lang="en-US" sz="1800">
              <a:cs typeface="Calibri"/>
            </a:endParaRPr>
          </a:p>
          <a:p>
            <a:r>
              <a:rPr lang="en-US" sz="1800">
                <a:ea typeface="+mn-lt"/>
                <a:cs typeface="+mn-lt"/>
              </a:rPr>
              <a:t>Decreased liver glucose production</a:t>
            </a:r>
            <a:endParaRPr lang="en-US" sz="1800">
              <a:cs typeface="Calibri"/>
            </a:endParaRPr>
          </a:p>
          <a:p>
            <a:r>
              <a:rPr lang="en-US" sz="1800">
                <a:ea typeface="+mn-lt"/>
                <a:cs typeface="+mn-lt"/>
              </a:rPr>
              <a:t>Increased satiety through central nervous system</a:t>
            </a:r>
            <a:endParaRPr lang="en-US" sz="1800">
              <a:cs typeface="Calibri"/>
            </a:endParaRPr>
          </a:p>
          <a:p>
            <a:r>
              <a:rPr lang="en-US" sz="1800">
                <a:ea typeface="+mn-lt"/>
                <a:cs typeface="+mn-lt"/>
              </a:rPr>
              <a:t>Slowed gastric emptying time</a:t>
            </a:r>
            <a:endParaRPr lang="en-US" sz="1800">
              <a:cs typeface="Calibri"/>
            </a:endParaRPr>
          </a:p>
          <a:p>
            <a:r>
              <a:rPr lang="en-US" sz="1800" dirty="0">
                <a:ea typeface="+mn-lt"/>
                <a:cs typeface="+mn-lt"/>
              </a:rPr>
              <a:t>Increased insulin uptake in peripheral tissue via weight loss</a:t>
            </a:r>
            <a:endParaRPr lang="en-US" sz="1800" dirty="0">
              <a:cs typeface="Calibri"/>
            </a:endParaRPr>
          </a:p>
          <a:p>
            <a:endParaRPr lang="en-US" sz="1800" dirty="0">
              <a:cs typeface="Calibri"/>
            </a:endParaRPr>
          </a:p>
        </p:txBody>
      </p:sp>
    </p:spTree>
    <p:extLst>
      <p:ext uri="{BB962C8B-B14F-4D97-AF65-F5344CB8AC3E}">
        <p14:creationId xmlns:p14="http://schemas.microsoft.com/office/powerpoint/2010/main" val="28213894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73F48-11BD-B577-FED2-B3E0D26047ED}"/>
              </a:ext>
            </a:extLst>
          </p:cNvPr>
          <p:cNvSpPr>
            <a:spLocks noGrp="1"/>
          </p:cNvSpPr>
          <p:nvPr>
            <p:ph type="title"/>
          </p:nvPr>
        </p:nvSpPr>
        <p:spPr/>
        <p:txBody>
          <a:bodyPr/>
          <a:lstStyle/>
          <a:p>
            <a:r>
              <a:rPr lang="en-US" sz="3600" dirty="0">
                <a:cs typeface="Calibri"/>
              </a:rPr>
              <a:t>DPP 4 inhibitor-</a:t>
            </a:r>
            <a:r>
              <a:rPr lang="en-US" sz="3600" dirty="0" err="1">
                <a:cs typeface="Calibri"/>
              </a:rPr>
              <a:t>Sitagliptin,Linagliptin</a:t>
            </a:r>
            <a:endParaRPr lang="en-US" sz="3600" dirty="0" err="1"/>
          </a:p>
        </p:txBody>
      </p:sp>
      <p:sp>
        <p:nvSpPr>
          <p:cNvPr id="3" name="Content Placeholder 2">
            <a:extLst>
              <a:ext uri="{FF2B5EF4-FFF2-40B4-BE49-F238E27FC236}">
                <a16:creationId xmlns:a16="http://schemas.microsoft.com/office/drawing/2014/main" id="{24DDE914-3806-562F-F65B-52E4AC70FD79}"/>
              </a:ext>
            </a:extLst>
          </p:cNvPr>
          <p:cNvSpPr>
            <a:spLocks noGrp="1"/>
          </p:cNvSpPr>
          <p:nvPr>
            <p:ph sz="half" idx="1"/>
          </p:nvPr>
        </p:nvSpPr>
        <p:spPr/>
        <p:txBody>
          <a:bodyPr vert="horz" lIns="91440" tIns="45720" rIns="91440" bIns="45720" rtlCol="0" anchor="t">
            <a:normAutofit/>
          </a:bodyPr>
          <a:lstStyle/>
          <a:p>
            <a:r>
              <a:rPr lang="en-US" dirty="0">
                <a:cs typeface="Calibri"/>
              </a:rPr>
              <a:t>Inhibit the enzyme Dipeptidyl peptidase 4 , which cleaves the GLP 1 agonist –thereby the prolonging the action and life of GLP1 agonist</a:t>
            </a:r>
            <a:endParaRPr lang="en-US" dirty="0"/>
          </a:p>
        </p:txBody>
      </p:sp>
      <p:pic>
        <p:nvPicPr>
          <p:cNvPr id="5" name="Content Placeholder 4" descr="DPP-4 Inhibitors – Diabetes Daily">
            <a:extLst>
              <a:ext uri="{FF2B5EF4-FFF2-40B4-BE49-F238E27FC236}">
                <a16:creationId xmlns:a16="http://schemas.microsoft.com/office/drawing/2014/main" id="{683F296B-3356-A3F5-88FA-DCA1F60699E9}"/>
              </a:ext>
            </a:extLst>
          </p:cNvPr>
          <p:cNvPicPr>
            <a:picLocks noGrp="1" noChangeAspect="1"/>
          </p:cNvPicPr>
          <p:nvPr>
            <p:ph sz="half" idx="2"/>
          </p:nvPr>
        </p:nvPicPr>
        <p:blipFill>
          <a:blip r:embed="rId2"/>
          <a:stretch>
            <a:fillRect/>
          </a:stretch>
        </p:blipFill>
        <p:spPr>
          <a:xfrm>
            <a:off x="6318250" y="1934369"/>
            <a:ext cx="5143500" cy="3857625"/>
          </a:xfrm>
        </p:spPr>
      </p:pic>
    </p:spTree>
    <p:extLst>
      <p:ext uri="{BB962C8B-B14F-4D97-AF65-F5344CB8AC3E}">
        <p14:creationId xmlns:p14="http://schemas.microsoft.com/office/powerpoint/2010/main" val="13562026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8961E-596F-CE4C-4594-2F21C8DE1202}"/>
              </a:ext>
            </a:extLst>
          </p:cNvPr>
          <p:cNvSpPr>
            <a:spLocks noGrp="1"/>
          </p:cNvSpPr>
          <p:nvPr>
            <p:ph type="title"/>
          </p:nvPr>
        </p:nvSpPr>
        <p:spPr/>
        <p:txBody>
          <a:bodyPr lIns="45719" tIns="45720" rIns="45719" bIns="45720" anchor="ctr">
            <a:normAutofit/>
          </a:bodyPr>
          <a:lstStyle/>
          <a:p>
            <a:r>
              <a:rPr lang="en-US" dirty="0"/>
              <a:t>Insulin </a:t>
            </a:r>
          </a:p>
        </p:txBody>
      </p:sp>
      <p:sp>
        <p:nvSpPr>
          <p:cNvPr id="3" name="Text Placeholder 2">
            <a:extLst>
              <a:ext uri="{FF2B5EF4-FFF2-40B4-BE49-F238E27FC236}">
                <a16:creationId xmlns:a16="http://schemas.microsoft.com/office/drawing/2014/main" id="{3A531547-793B-B555-5674-9794B08EF055}"/>
              </a:ext>
            </a:extLst>
          </p:cNvPr>
          <p:cNvSpPr>
            <a:spLocks noGrp="1"/>
          </p:cNvSpPr>
          <p:nvPr>
            <p:ph type="body" idx="1"/>
          </p:nvPr>
        </p:nvSpPr>
        <p:spPr/>
        <p:txBody>
          <a:bodyPr lIns="45719" tIns="45720" rIns="45719" bIns="45720" anchor="t">
            <a:noAutofit/>
          </a:bodyPr>
          <a:lstStyle/>
          <a:p>
            <a:r>
              <a:rPr lang="en-US" sz="1800" dirty="0">
                <a:latin typeface="Times New Roman"/>
                <a:cs typeface="Times New Roman"/>
              </a:rPr>
              <a:t>Insulin acts by directly binding to its receptors on the plasma membranes of the cells. These receptors are present on all the cells, but their density depends on the type of cells, with the maximum density being on the hepatic cells and adipocytes.</a:t>
            </a:r>
            <a:endParaRPr lang="en-US" sz="1800"/>
          </a:p>
          <a:p>
            <a:r>
              <a:rPr lang="en-US" sz="1800" dirty="0">
                <a:latin typeface="Times New Roman"/>
                <a:cs typeface="Times New Roman"/>
              </a:rPr>
              <a:t>The insulin receptor is a  glycoprotein consisting of two subunits, the alpha and the beta subunits. The extracellular alpha subunits have insulin binding sites. The beta subunits, which are </a:t>
            </a:r>
            <a:r>
              <a:rPr lang="en-US" sz="1800" dirty="0" err="1">
                <a:latin typeface="Times New Roman"/>
                <a:cs typeface="Times New Roman"/>
              </a:rPr>
              <a:t>transmembranous</a:t>
            </a:r>
            <a:r>
              <a:rPr lang="en-US" sz="1800" dirty="0">
                <a:latin typeface="Times New Roman"/>
                <a:cs typeface="Times New Roman"/>
              </a:rPr>
              <a:t>, have tyrosine kinase activity. When insulin binds to the alpha subunits, it activates the tyrosine kinase activity in the beta subunit, which causes the translocation of glucose transporters GLUT4 from the cytoplasm to the cell's </a:t>
            </a:r>
            <a:r>
              <a:rPr lang="en-US" sz="1800" dirty="0" err="1">
                <a:latin typeface="Times New Roman"/>
                <a:cs typeface="Times New Roman"/>
              </a:rPr>
              <a:t>surface.These</a:t>
            </a:r>
            <a:r>
              <a:rPr lang="en-US" sz="1800" dirty="0">
                <a:latin typeface="Times New Roman"/>
                <a:cs typeface="Times New Roman"/>
              </a:rPr>
              <a:t> glucose transporters allow the influx of glucose from the blood into the cell, thus reducing the blood glucose levels.</a:t>
            </a:r>
            <a:endParaRPr lang="en-US" sz="1800" dirty="0">
              <a:solidFill>
                <a:srgbClr val="2F4A8B"/>
              </a:solidFill>
              <a:latin typeface="Times New Roman"/>
              <a:cs typeface="Times New Roman"/>
            </a:endParaRPr>
          </a:p>
          <a:p>
            <a:r>
              <a:rPr lang="en-US" sz="1800" dirty="0">
                <a:latin typeface="Times New Roman"/>
                <a:cs typeface="Times New Roman"/>
              </a:rPr>
              <a:t>Insulin causes the following effects in the cells:</a:t>
            </a:r>
            <a:endParaRPr lang="en-US" sz="1800" dirty="0"/>
          </a:p>
          <a:p>
            <a:r>
              <a:rPr lang="en-US" sz="1800" dirty="0">
                <a:latin typeface="Times New Roman"/>
                <a:cs typeface="Times New Roman"/>
              </a:rPr>
              <a:t>Hepatic cells: Promotes glycogenesis, inhibits gluconeogenesis</a:t>
            </a:r>
            <a:endParaRPr lang="en-US" sz="1800"/>
          </a:p>
          <a:p>
            <a:r>
              <a:rPr lang="en-US" sz="1800" dirty="0">
                <a:latin typeface="Times New Roman"/>
                <a:cs typeface="Times New Roman"/>
              </a:rPr>
              <a:t>Adipocytes: Promotes lipogenesis, inhibits lipolysis</a:t>
            </a:r>
            <a:endParaRPr lang="en-US" sz="1800"/>
          </a:p>
          <a:p>
            <a:r>
              <a:rPr lang="en-US" sz="1800" dirty="0">
                <a:latin typeface="Times New Roman"/>
                <a:cs typeface="Times New Roman"/>
              </a:rPr>
              <a:t>Muscle cells: Promotes glycogenesis and protein synthesis. Inhibits protein catabolism</a:t>
            </a:r>
            <a:endParaRPr lang="en-US" sz="1800"/>
          </a:p>
          <a:p>
            <a:r>
              <a:rPr lang="en-US" sz="1800" dirty="0">
                <a:latin typeface="Times New Roman"/>
                <a:cs typeface="Times New Roman"/>
              </a:rPr>
              <a:t>Pancreatic beta cells: Inhibits glucagon release</a:t>
            </a:r>
            <a:endParaRPr lang="en-US" sz="1800"/>
          </a:p>
          <a:p>
            <a:r>
              <a:rPr lang="en-US" sz="1800" dirty="0">
                <a:latin typeface="Times New Roman"/>
                <a:cs typeface="Times New Roman"/>
              </a:rPr>
              <a:t>Brain cells: Involved in appetite regulation</a:t>
            </a:r>
            <a:endParaRPr lang="en-US" sz="1800"/>
          </a:p>
          <a:p>
            <a:endParaRPr lang="en-US" dirty="0"/>
          </a:p>
        </p:txBody>
      </p:sp>
    </p:spTree>
    <p:extLst>
      <p:ext uri="{BB962C8B-B14F-4D97-AF65-F5344CB8AC3E}">
        <p14:creationId xmlns:p14="http://schemas.microsoft.com/office/powerpoint/2010/main" val="3853747416"/>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5F935-6439-00BF-B1F6-68DD8C254760}"/>
              </a:ext>
            </a:extLst>
          </p:cNvPr>
          <p:cNvSpPr>
            <a:spLocks noGrp="1"/>
          </p:cNvSpPr>
          <p:nvPr>
            <p:ph type="title"/>
          </p:nvPr>
        </p:nvSpPr>
        <p:spPr/>
        <p:txBody>
          <a:bodyPr lIns="45719" tIns="45720" rIns="45719" bIns="45720" anchor="ctr">
            <a:normAutofit/>
          </a:bodyPr>
          <a:lstStyle/>
          <a:p>
            <a:r>
              <a:rPr lang="en-US" dirty="0"/>
              <a:t>Insulin </a:t>
            </a:r>
          </a:p>
        </p:txBody>
      </p:sp>
      <p:sp>
        <p:nvSpPr>
          <p:cNvPr id="3" name="Text Placeholder 2">
            <a:extLst>
              <a:ext uri="{FF2B5EF4-FFF2-40B4-BE49-F238E27FC236}">
                <a16:creationId xmlns:a16="http://schemas.microsoft.com/office/drawing/2014/main" id="{5F5C6DE1-1274-FCE8-7C62-EFB0CFA52057}"/>
              </a:ext>
            </a:extLst>
          </p:cNvPr>
          <p:cNvSpPr>
            <a:spLocks noGrp="1"/>
          </p:cNvSpPr>
          <p:nvPr>
            <p:ph type="body" idx="1"/>
          </p:nvPr>
        </p:nvSpPr>
        <p:spPr/>
        <p:txBody>
          <a:bodyPr lIns="45719" tIns="45720" rIns="45719" bIns="45720" anchor="t">
            <a:normAutofit/>
          </a:bodyPr>
          <a:lstStyle/>
          <a:p>
            <a:endParaRPr lang="en-US" sz="1600" dirty="0"/>
          </a:p>
          <a:p>
            <a:r>
              <a:rPr lang="en-US" sz="1600" dirty="0">
                <a:latin typeface="Times New Roman"/>
                <a:cs typeface="Times New Roman"/>
              </a:rPr>
              <a:t>Depending on the duration of action, insulin categorizes as short-acting, intermediate-acting, and long-acting.</a:t>
            </a:r>
          </a:p>
          <a:p>
            <a:r>
              <a:rPr lang="en-US" sz="1600" dirty="0">
                <a:latin typeface="Times New Roman"/>
                <a:cs typeface="Times New Roman"/>
              </a:rPr>
              <a:t>Rapid-acting insulins (lispro, </a:t>
            </a:r>
            <a:r>
              <a:rPr lang="en-US" sz="1600" dirty="0" err="1">
                <a:latin typeface="Times New Roman"/>
                <a:cs typeface="Times New Roman"/>
              </a:rPr>
              <a:t>Glulisine</a:t>
            </a:r>
            <a:r>
              <a:rPr lang="en-US" sz="1600" dirty="0">
                <a:latin typeface="Times New Roman"/>
                <a:cs typeface="Times New Roman"/>
              </a:rPr>
              <a:t>, </a:t>
            </a:r>
            <a:r>
              <a:rPr lang="en-US" sz="1600" dirty="0" err="1">
                <a:latin typeface="Times New Roman"/>
                <a:cs typeface="Times New Roman"/>
              </a:rPr>
              <a:t>aspart</a:t>
            </a:r>
            <a:r>
              <a:rPr lang="en-US" sz="1600" dirty="0">
                <a:latin typeface="Times New Roman"/>
                <a:cs typeface="Times New Roman"/>
              </a:rPr>
              <a:t>) start their action in 5 to 15 minutes and peak in 30 minutes. The duration of action is 3 to 5 hours. They are generally used before meals and always used along with short-acting or long-acting insulins to control sugar levels throughout the day.</a:t>
            </a:r>
          </a:p>
          <a:p>
            <a:r>
              <a:rPr lang="en-US" sz="1600" dirty="0">
                <a:latin typeface="Times New Roman"/>
                <a:cs typeface="Times New Roman"/>
              </a:rPr>
              <a:t>Short-acting (regular insulin) starts the action in 30 to 40 minutes and peaks in 90 to 120 minutes. The duration of action is 6 to 8 hours. Patients take these agents before meals, and food is necessary within 30 minutes after its administration to avoid hypoglycemia.</a:t>
            </a:r>
          </a:p>
          <a:p>
            <a:r>
              <a:rPr lang="en-US" sz="1600" dirty="0">
                <a:latin typeface="Times New Roman"/>
                <a:cs typeface="Times New Roman"/>
              </a:rPr>
              <a:t>Intermediate-acting insulins (NPH) start the action in 1 to 4 hours and peak in 4 to 8 hours. Dosing is usually twice a day and helps maintain the blood sugar levels throughout the day.</a:t>
            </a:r>
          </a:p>
          <a:p>
            <a:r>
              <a:rPr lang="en-US" sz="1600" dirty="0">
                <a:latin typeface="Times New Roman"/>
                <a:cs typeface="Times New Roman"/>
              </a:rPr>
              <a:t>Long-acting insulins, such as Detemir, glargine, </a:t>
            </a:r>
            <a:r>
              <a:rPr lang="en-US" sz="1600" dirty="0" err="1">
                <a:latin typeface="Times New Roman"/>
                <a:cs typeface="Times New Roman"/>
              </a:rPr>
              <a:t>Degludec</a:t>
            </a:r>
            <a:r>
              <a:rPr lang="en-US" sz="1600" dirty="0">
                <a:latin typeface="Times New Roman"/>
                <a:cs typeface="Times New Roman"/>
              </a:rPr>
              <a:t>, start action in 1 to 2 hours. They provide a plateau effect over 12 to 24 hours. Dosing is usually during the night time after meals. Their long duration of action helps in reducing the frequency of dosing throughout the day</a:t>
            </a:r>
            <a:r>
              <a:rPr lang="en-US" sz="1100" dirty="0">
                <a:latin typeface="Times New Roman"/>
                <a:cs typeface="Times New Roman"/>
              </a:rPr>
              <a:t>.</a:t>
            </a:r>
          </a:p>
          <a:p>
            <a:endParaRPr lang="en-US" dirty="0"/>
          </a:p>
          <a:p>
            <a:endParaRPr lang="en-US" dirty="0"/>
          </a:p>
        </p:txBody>
      </p:sp>
    </p:spTree>
    <p:extLst>
      <p:ext uri="{BB962C8B-B14F-4D97-AF65-F5344CB8AC3E}">
        <p14:creationId xmlns:p14="http://schemas.microsoft.com/office/powerpoint/2010/main" val="2224258526"/>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991465328"/>
              </p:ext>
            </p:extLst>
          </p:nvPr>
        </p:nvGraphicFramePr>
        <p:xfrm>
          <a:off x="278937" y="199939"/>
          <a:ext cx="11637820" cy="6581242"/>
        </p:xfrm>
        <a:graphic>
          <a:graphicData uri="http://schemas.openxmlformats.org/drawingml/2006/table">
            <a:tbl>
              <a:tblPr firstRow="1" bandRow="1">
                <a:tableStyleId>{5C22544A-7EE6-4342-B048-85BDC9FD1C3A}</a:tableStyleId>
              </a:tblPr>
              <a:tblGrid>
                <a:gridCol w="1993389">
                  <a:extLst>
                    <a:ext uri="{9D8B030D-6E8A-4147-A177-3AD203B41FA5}">
                      <a16:colId xmlns:a16="http://schemas.microsoft.com/office/drawing/2014/main" val="20000"/>
                    </a:ext>
                  </a:extLst>
                </a:gridCol>
                <a:gridCol w="3018237">
                  <a:extLst>
                    <a:ext uri="{9D8B030D-6E8A-4147-A177-3AD203B41FA5}">
                      <a16:colId xmlns:a16="http://schemas.microsoft.com/office/drawing/2014/main" val="20001"/>
                    </a:ext>
                  </a:extLst>
                </a:gridCol>
                <a:gridCol w="3266001">
                  <a:extLst>
                    <a:ext uri="{9D8B030D-6E8A-4147-A177-3AD203B41FA5}">
                      <a16:colId xmlns:a16="http://schemas.microsoft.com/office/drawing/2014/main" val="20002"/>
                    </a:ext>
                  </a:extLst>
                </a:gridCol>
                <a:gridCol w="3360193">
                  <a:extLst>
                    <a:ext uri="{9D8B030D-6E8A-4147-A177-3AD203B41FA5}">
                      <a16:colId xmlns:a16="http://schemas.microsoft.com/office/drawing/2014/main" val="20003"/>
                    </a:ext>
                  </a:extLst>
                </a:gridCol>
              </a:tblGrid>
              <a:tr h="651165">
                <a:tc gridSpan="4">
                  <a:txBody>
                    <a:bodyPr/>
                    <a:lstStyle/>
                    <a:p>
                      <a:pPr marL="0" marR="0" algn="ctr" eaLnBrk="0" fontAlgn="base" hangingPunct="0">
                        <a:spcBef>
                          <a:spcPts val="0"/>
                        </a:spcBef>
                        <a:spcAft>
                          <a:spcPts val="0"/>
                        </a:spcAft>
                      </a:pPr>
                      <a:endParaRPr lang="en-US" sz="2200" dirty="0">
                        <a:solidFill>
                          <a:srgbClr val="FFFFFF"/>
                        </a:solidFill>
                        <a:effectLst>
                          <a:outerShdw blurRad="38100" dist="38100" dir="2700000" algn="tl">
                            <a:srgbClr val="000000">
                              <a:alpha val="43137"/>
                            </a:srgbClr>
                          </a:outerShdw>
                        </a:effectLst>
                        <a:latin typeface="+mj-lt"/>
                        <a:ea typeface="Cambria"/>
                        <a:cs typeface="Times New Roman"/>
                      </a:endParaRPr>
                    </a:p>
                  </a:txBody>
                  <a:tcPr marL="0" marR="0" marT="0" marB="0">
                    <a:solidFill>
                      <a:schemeClr val="accent1">
                        <a:lumMod val="20000"/>
                        <a:lumOff val="80000"/>
                      </a:schemeClr>
                    </a:solidFill>
                  </a:tcPr>
                </a:tc>
                <a:tc hMerge="1">
                  <a:txBody>
                    <a:bodyPr/>
                    <a:lstStyle/>
                    <a:p>
                      <a:pPr marL="0" marR="0" algn="ctr" fontAlgn="base">
                        <a:spcBef>
                          <a:spcPts val="0"/>
                        </a:spcBef>
                        <a:spcAft>
                          <a:spcPts val="0"/>
                        </a:spcAft>
                      </a:pPr>
                      <a:endParaRPr lang="en-US" sz="2200" dirty="0">
                        <a:solidFill>
                          <a:srgbClr val="FFFFFF"/>
                        </a:solidFill>
                        <a:effectLst>
                          <a:outerShdw blurRad="38100" dist="38100" dir="2700000" algn="tl">
                            <a:srgbClr val="000000">
                              <a:alpha val="43137"/>
                            </a:srgbClr>
                          </a:outerShdw>
                        </a:effectLst>
                        <a:latin typeface="+mj-lt"/>
                        <a:ea typeface="Cambria"/>
                        <a:cs typeface="Times New Roman"/>
                      </a:endParaRPr>
                    </a:p>
                  </a:txBody>
                  <a:tcPr marL="0" marR="0" marT="0" marB="0">
                    <a:solidFill>
                      <a:srgbClr val="00005C"/>
                    </a:solidFill>
                  </a:tcPr>
                </a:tc>
                <a:tc hMerge="1">
                  <a:txBody>
                    <a:bodyPr/>
                    <a:lstStyle/>
                    <a:p>
                      <a:pPr marL="0" marR="0" algn="ctr" fontAlgn="base">
                        <a:spcBef>
                          <a:spcPts val="0"/>
                        </a:spcBef>
                        <a:spcAft>
                          <a:spcPts val="0"/>
                        </a:spcAft>
                      </a:pPr>
                      <a:endParaRPr lang="en-US" sz="2200" dirty="0">
                        <a:solidFill>
                          <a:srgbClr val="FFFFFF"/>
                        </a:solidFill>
                        <a:effectLst>
                          <a:outerShdw blurRad="38100" dist="38100" dir="2700000" algn="tl">
                            <a:srgbClr val="000000">
                              <a:alpha val="43137"/>
                            </a:srgbClr>
                          </a:outerShdw>
                        </a:effectLst>
                        <a:latin typeface="+mj-lt"/>
                        <a:ea typeface="Cambria"/>
                        <a:cs typeface="Times New Roman"/>
                      </a:endParaRPr>
                    </a:p>
                  </a:txBody>
                  <a:tcPr marL="0" marR="0" marT="0" marB="0">
                    <a:solidFill>
                      <a:srgbClr val="00005C"/>
                    </a:solidFill>
                  </a:tcPr>
                </a:tc>
                <a:tc hMerge="1">
                  <a:txBody>
                    <a:bodyPr/>
                    <a:lstStyle/>
                    <a:p>
                      <a:pPr marL="0" marR="0" algn="ctr" fontAlgn="base">
                        <a:spcBef>
                          <a:spcPts val="0"/>
                        </a:spcBef>
                        <a:spcAft>
                          <a:spcPts val="0"/>
                        </a:spcAft>
                      </a:pPr>
                      <a:endParaRPr lang="en-US" sz="2200" dirty="0">
                        <a:solidFill>
                          <a:srgbClr val="FFFFFF"/>
                        </a:solidFill>
                        <a:effectLst>
                          <a:outerShdw blurRad="38100" dist="38100" dir="2700000" algn="tl">
                            <a:srgbClr val="000000">
                              <a:alpha val="43137"/>
                            </a:srgbClr>
                          </a:outerShdw>
                        </a:effectLst>
                        <a:latin typeface="+mj-lt"/>
                        <a:ea typeface="Cambria"/>
                        <a:cs typeface="Times New Roman"/>
                      </a:endParaRPr>
                    </a:p>
                  </a:txBody>
                  <a:tcPr marL="0" marR="0" marT="0" marB="0">
                    <a:solidFill>
                      <a:srgbClr val="00005C"/>
                    </a:solidFill>
                  </a:tcPr>
                </a:tc>
                <a:extLst>
                  <a:ext uri="{0D108BD9-81ED-4DB2-BD59-A6C34878D82A}">
                    <a16:rowId xmlns:a16="http://schemas.microsoft.com/office/drawing/2014/main" val="10005"/>
                  </a:ext>
                </a:extLst>
              </a:tr>
              <a:tr h="651165">
                <a:tc>
                  <a:txBody>
                    <a:bodyPr/>
                    <a:lstStyle/>
                    <a:p>
                      <a:pPr marL="0" marR="0" algn="ctr" eaLnBrk="0" fontAlgn="base" hangingPunct="0">
                        <a:spcBef>
                          <a:spcPts val="0"/>
                        </a:spcBef>
                        <a:spcAft>
                          <a:spcPts val="0"/>
                        </a:spcAft>
                      </a:pPr>
                      <a:r>
                        <a:rPr lang="en-US" sz="2200" b="1" kern="1200" dirty="0">
                          <a:solidFill>
                            <a:srgbClr val="FFFFFF"/>
                          </a:solidFill>
                          <a:effectLst>
                            <a:outerShdw blurRad="38100" dist="38100" dir="2700000" algn="tl">
                              <a:srgbClr val="000000">
                                <a:alpha val="43137"/>
                              </a:srgbClr>
                            </a:outerShdw>
                          </a:effectLst>
                          <a:latin typeface="+mj-lt"/>
                          <a:ea typeface="MS PGothic"/>
                          <a:cs typeface="Arial"/>
                        </a:rPr>
                        <a:t>Oral Class</a:t>
                      </a:r>
                      <a:endParaRPr lang="en-US" sz="2200" dirty="0">
                        <a:solidFill>
                          <a:srgbClr val="FFFFFF"/>
                        </a:solidFill>
                        <a:effectLst>
                          <a:outerShdw blurRad="38100" dist="38100" dir="2700000" algn="tl">
                            <a:srgbClr val="000000">
                              <a:alpha val="43137"/>
                            </a:srgbClr>
                          </a:outerShdw>
                        </a:effectLst>
                        <a:latin typeface="+mj-lt"/>
                        <a:ea typeface="Cambria"/>
                        <a:cs typeface="Times New Roman"/>
                      </a:endParaRPr>
                    </a:p>
                  </a:txBody>
                  <a:tcPr marL="0" marR="0" marT="0" marB="0">
                    <a:solidFill>
                      <a:srgbClr val="00005C"/>
                    </a:solidFill>
                  </a:tcPr>
                </a:tc>
                <a:tc>
                  <a:txBody>
                    <a:bodyPr/>
                    <a:lstStyle/>
                    <a:p>
                      <a:pPr marL="0" marR="0" algn="ctr" fontAlgn="base">
                        <a:spcBef>
                          <a:spcPts val="0"/>
                        </a:spcBef>
                        <a:spcAft>
                          <a:spcPts val="0"/>
                        </a:spcAft>
                      </a:pPr>
                      <a:r>
                        <a:rPr lang="en-US" sz="2200" dirty="0">
                          <a:solidFill>
                            <a:srgbClr val="FFFFFF"/>
                          </a:solidFill>
                          <a:effectLst>
                            <a:outerShdw blurRad="38100" dist="38100" dir="2700000" algn="tl">
                              <a:srgbClr val="000000">
                                <a:alpha val="43137"/>
                              </a:srgbClr>
                            </a:outerShdw>
                          </a:effectLst>
                          <a:latin typeface="+mj-lt"/>
                          <a:ea typeface="Cambria"/>
                          <a:cs typeface="Times New Roman"/>
                        </a:rPr>
                        <a:t>Mechanism</a:t>
                      </a:r>
                    </a:p>
                  </a:txBody>
                  <a:tcPr marL="0" marR="0" marT="0" marB="0">
                    <a:solidFill>
                      <a:srgbClr val="00005C"/>
                    </a:solidFill>
                  </a:tcPr>
                </a:tc>
                <a:tc>
                  <a:txBody>
                    <a:bodyPr/>
                    <a:lstStyle/>
                    <a:p>
                      <a:pPr marL="0" marR="0" algn="ctr" fontAlgn="base">
                        <a:spcBef>
                          <a:spcPts val="0"/>
                        </a:spcBef>
                        <a:spcAft>
                          <a:spcPts val="0"/>
                        </a:spcAft>
                      </a:pPr>
                      <a:r>
                        <a:rPr lang="en-US" sz="2200" dirty="0">
                          <a:solidFill>
                            <a:srgbClr val="FFFFFF"/>
                          </a:solidFill>
                          <a:effectLst>
                            <a:outerShdw blurRad="38100" dist="38100" dir="2700000" algn="tl">
                              <a:srgbClr val="000000">
                                <a:alpha val="43137"/>
                              </a:srgbClr>
                            </a:outerShdw>
                          </a:effectLst>
                          <a:latin typeface="+mj-lt"/>
                          <a:ea typeface="Cambria"/>
                          <a:cs typeface="Times New Roman"/>
                        </a:rPr>
                        <a:t>Advantages</a:t>
                      </a:r>
                    </a:p>
                  </a:txBody>
                  <a:tcPr marL="0" marR="0" marT="0" marB="0">
                    <a:solidFill>
                      <a:srgbClr val="00005C"/>
                    </a:solidFill>
                  </a:tcPr>
                </a:tc>
                <a:tc>
                  <a:txBody>
                    <a:bodyPr/>
                    <a:lstStyle/>
                    <a:p>
                      <a:pPr marL="0" marR="0" algn="ctr" fontAlgn="base">
                        <a:spcBef>
                          <a:spcPts val="0"/>
                        </a:spcBef>
                        <a:spcAft>
                          <a:spcPts val="0"/>
                        </a:spcAft>
                      </a:pPr>
                      <a:r>
                        <a:rPr lang="en-US" sz="2200" dirty="0">
                          <a:solidFill>
                            <a:srgbClr val="FFFFFF"/>
                          </a:solidFill>
                          <a:effectLst>
                            <a:outerShdw blurRad="38100" dist="38100" dir="2700000" algn="tl">
                              <a:srgbClr val="000000">
                                <a:alpha val="43137"/>
                              </a:srgbClr>
                            </a:outerShdw>
                          </a:effectLst>
                          <a:latin typeface="+mj-lt"/>
                          <a:ea typeface="Cambria"/>
                          <a:cs typeface="Times New Roman"/>
                        </a:rPr>
                        <a:t>Disadvantages</a:t>
                      </a:r>
                    </a:p>
                  </a:txBody>
                  <a:tcPr marL="0" marR="0" marT="0" marB="0">
                    <a:solidFill>
                      <a:srgbClr val="00005C"/>
                    </a:solidFill>
                  </a:tcPr>
                </a:tc>
                <a:extLst>
                  <a:ext uri="{0D108BD9-81ED-4DB2-BD59-A6C34878D82A}">
                    <a16:rowId xmlns:a16="http://schemas.microsoft.com/office/drawing/2014/main" val="10000"/>
                  </a:ext>
                </a:extLst>
              </a:tr>
              <a:tr h="1306060">
                <a:tc>
                  <a:txBody>
                    <a:bodyPr/>
                    <a:lstStyle/>
                    <a:p>
                      <a:r>
                        <a:rPr lang="en-US" b="1" dirty="0" err="1"/>
                        <a:t>Biguanides</a:t>
                      </a:r>
                      <a:endParaRPr lang="en-US" b="1" dirty="0"/>
                    </a:p>
                  </a:txBody>
                  <a:tcPr marL="121920" marR="121920"/>
                </a:tc>
                <a:tc>
                  <a:txBody>
                    <a:bodyPr/>
                    <a:lstStyle/>
                    <a:p>
                      <a:pPr>
                        <a:buFont typeface="Arial"/>
                        <a:buChar char="•"/>
                      </a:pPr>
                      <a:r>
                        <a:rPr lang="en-US" dirty="0"/>
                        <a:t> Activates AMP-kinase (?other)</a:t>
                      </a:r>
                    </a:p>
                    <a:p>
                      <a:pPr>
                        <a:buFont typeface="Arial"/>
                        <a:buChar char="•"/>
                      </a:pPr>
                      <a:r>
                        <a:rPr lang="en-US" baseline="0" dirty="0"/>
                        <a:t> </a:t>
                      </a:r>
                      <a:r>
                        <a:rPr lang="en-US" sz="1800" b="1" kern="1200" dirty="0" err="1">
                          <a:solidFill>
                            <a:schemeClr val="dk1"/>
                          </a:solidFill>
                          <a:latin typeface="+mn-lt"/>
                          <a:ea typeface="+mn-ea"/>
                          <a:cs typeface="+mn-cs"/>
                          <a:sym typeface="Symbol"/>
                        </a:rPr>
                        <a:t></a:t>
                      </a:r>
                      <a:r>
                        <a:rPr lang="en-US" b="1" dirty="0"/>
                        <a:t> </a:t>
                      </a:r>
                      <a:r>
                        <a:rPr lang="en-US" baseline="0" dirty="0"/>
                        <a:t>Hepatic glucose production</a:t>
                      </a:r>
                      <a:endParaRPr lang="en-US" dirty="0"/>
                    </a:p>
                  </a:txBody>
                  <a:tcPr marL="121920" marR="121920"/>
                </a:tc>
                <a:tc>
                  <a:txBody>
                    <a:bodyPr/>
                    <a:lstStyle/>
                    <a:p>
                      <a:pPr marL="0" marR="0" indent="0" algn="l" defTabSz="457200" rtl="0" eaLnBrk="1" fontAlgn="auto" latinLnBrk="0" hangingPunct="1">
                        <a:lnSpc>
                          <a:spcPct val="100000"/>
                        </a:lnSpc>
                        <a:spcBef>
                          <a:spcPts val="0"/>
                        </a:spcBef>
                        <a:spcAft>
                          <a:spcPts val="0"/>
                        </a:spcAft>
                        <a:buClrTx/>
                        <a:buSzTx/>
                        <a:buFont typeface="Arial"/>
                        <a:buChar char="•"/>
                        <a:tabLst/>
                        <a:defRPr/>
                      </a:pPr>
                      <a:r>
                        <a:rPr lang="en-US" dirty="0"/>
                        <a:t>  Extensive experience</a:t>
                      </a:r>
                    </a:p>
                    <a:p>
                      <a:pPr>
                        <a:buFont typeface="Arial"/>
                        <a:buChar char="•"/>
                      </a:pPr>
                      <a:r>
                        <a:rPr lang="en-US" dirty="0"/>
                        <a:t> No hypoglycemia</a:t>
                      </a:r>
                    </a:p>
                    <a:p>
                      <a:pPr>
                        <a:buFont typeface="Arial"/>
                        <a:buChar char="•"/>
                      </a:pPr>
                      <a:r>
                        <a:rPr lang="en-US" dirty="0"/>
                        <a:t> Weight neutral</a:t>
                      </a:r>
                    </a:p>
                    <a:p>
                      <a:pPr>
                        <a:buFont typeface="Arial"/>
                        <a:buChar char="•"/>
                      </a:pPr>
                      <a:r>
                        <a:rPr lang="en-US" dirty="0"/>
                        <a:t> ? </a:t>
                      </a:r>
                      <a:r>
                        <a:rPr lang="en-US" sz="1800" b="1" kern="1200" dirty="0" err="1">
                          <a:solidFill>
                            <a:schemeClr val="dk1"/>
                          </a:solidFill>
                          <a:latin typeface="+mn-lt"/>
                          <a:ea typeface="+mn-ea"/>
                          <a:cs typeface="+mn-cs"/>
                          <a:sym typeface="Symbol"/>
                        </a:rPr>
                        <a:t></a:t>
                      </a:r>
                      <a:r>
                        <a:rPr lang="en-US" b="1" dirty="0"/>
                        <a:t> </a:t>
                      </a:r>
                      <a:r>
                        <a:rPr lang="en-US" dirty="0"/>
                        <a:t>CVD</a:t>
                      </a:r>
                    </a:p>
                  </a:txBody>
                  <a:tcPr marL="121920" marR="121920"/>
                </a:tc>
                <a:tc>
                  <a:txBody>
                    <a:bodyPr/>
                    <a:lstStyle/>
                    <a:p>
                      <a:pPr>
                        <a:buFont typeface="Arial"/>
                        <a:buChar char="•"/>
                      </a:pPr>
                      <a:r>
                        <a:rPr lang="en-US" dirty="0"/>
                        <a:t> Gastrointestinal</a:t>
                      </a:r>
                    </a:p>
                    <a:p>
                      <a:pPr>
                        <a:buFont typeface="Arial"/>
                        <a:buChar char="•"/>
                      </a:pPr>
                      <a:r>
                        <a:rPr lang="en-US" dirty="0"/>
                        <a:t> Lactic acidosis (rare)</a:t>
                      </a:r>
                    </a:p>
                    <a:p>
                      <a:pPr>
                        <a:buFont typeface="Arial"/>
                        <a:buChar char="•"/>
                      </a:pPr>
                      <a:r>
                        <a:rPr lang="en-US" dirty="0"/>
                        <a:t> B-12 deficiency</a:t>
                      </a:r>
                    </a:p>
                    <a:p>
                      <a:pPr>
                        <a:buFont typeface="Arial"/>
                        <a:buChar char="•"/>
                      </a:pPr>
                      <a:r>
                        <a:rPr lang="en-US" baseline="0" dirty="0"/>
                        <a:t> Contraindications</a:t>
                      </a:r>
                      <a:endParaRPr lang="en-US" dirty="0"/>
                    </a:p>
                  </a:txBody>
                  <a:tcPr marL="121920" marR="121920"/>
                </a:tc>
                <a:extLst>
                  <a:ext uri="{0D108BD9-81ED-4DB2-BD59-A6C34878D82A}">
                    <a16:rowId xmlns:a16="http://schemas.microsoft.com/office/drawing/2014/main" val="10001"/>
                  </a:ext>
                </a:extLst>
              </a:tr>
              <a:tr h="1423285">
                <a:tc>
                  <a:txBody>
                    <a:bodyPr/>
                    <a:lstStyle/>
                    <a:p>
                      <a:r>
                        <a:rPr lang="en-US" b="1" dirty="0"/>
                        <a:t>Sulfonylureas</a:t>
                      </a:r>
                    </a:p>
                    <a:p>
                      <a:endParaRPr lang="en-US" b="1" baseline="0" dirty="0"/>
                    </a:p>
                  </a:txBody>
                  <a:tcPr marL="121920" marR="121920"/>
                </a:tc>
                <a:tc>
                  <a:txBody>
                    <a:bodyPr/>
                    <a:lstStyle/>
                    <a:p>
                      <a:pPr>
                        <a:buFont typeface="Arial"/>
                        <a:buChar char="•"/>
                      </a:pPr>
                      <a:r>
                        <a:rPr lang="en-US" dirty="0"/>
                        <a:t> Closes K</a:t>
                      </a:r>
                      <a:r>
                        <a:rPr lang="en-US" sz="2400" b="0" baseline="-25000" dirty="0"/>
                        <a:t>ATP</a:t>
                      </a:r>
                      <a:r>
                        <a:rPr lang="en-US" dirty="0"/>
                        <a:t> channels</a:t>
                      </a:r>
                    </a:p>
                    <a:p>
                      <a:pPr>
                        <a:buFont typeface="Arial"/>
                        <a:buChar char="•"/>
                      </a:pPr>
                      <a:r>
                        <a:rPr lang="en-US" dirty="0"/>
                        <a:t> </a:t>
                      </a:r>
                      <a:r>
                        <a:rPr lang="en-US" sz="1800" b="1" kern="1200" dirty="0" err="1">
                          <a:solidFill>
                            <a:schemeClr val="dk1"/>
                          </a:solidFill>
                          <a:latin typeface="+mn-lt"/>
                          <a:ea typeface="+mn-ea"/>
                          <a:cs typeface="+mn-cs"/>
                          <a:sym typeface="Symbol"/>
                        </a:rPr>
                        <a:t></a:t>
                      </a:r>
                      <a:r>
                        <a:rPr lang="en-US" b="1" dirty="0"/>
                        <a:t> </a:t>
                      </a:r>
                      <a:r>
                        <a:rPr lang="en-US" dirty="0"/>
                        <a:t>Insulin secretion</a:t>
                      </a:r>
                    </a:p>
                  </a:txBody>
                  <a:tcPr marL="121920" marR="121920"/>
                </a:tc>
                <a:tc>
                  <a:txBody>
                    <a:bodyPr/>
                    <a:lstStyle/>
                    <a:p>
                      <a:pPr>
                        <a:buFont typeface="Arial"/>
                        <a:buChar char="•"/>
                      </a:pPr>
                      <a:r>
                        <a:rPr lang="en-US" dirty="0"/>
                        <a:t> Extensive experience</a:t>
                      </a:r>
                    </a:p>
                    <a:p>
                      <a:pPr>
                        <a:buFont typeface="Arial"/>
                        <a:buChar char="•"/>
                      </a:pPr>
                      <a:r>
                        <a:rPr lang="en-US" dirty="0"/>
                        <a:t> </a:t>
                      </a:r>
                      <a:r>
                        <a:rPr lang="en-US" sz="1800" b="1" kern="1200" dirty="0">
                          <a:solidFill>
                            <a:schemeClr val="dk1"/>
                          </a:solidFill>
                          <a:latin typeface="+mn-lt"/>
                          <a:ea typeface="+mn-ea"/>
                          <a:cs typeface="+mn-cs"/>
                          <a:sym typeface="Symbol"/>
                        </a:rPr>
                        <a:t> </a:t>
                      </a:r>
                      <a:r>
                        <a:rPr lang="en-US" dirty="0" err="1"/>
                        <a:t>Microvascular</a:t>
                      </a:r>
                      <a:r>
                        <a:rPr lang="en-US" dirty="0"/>
                        <a:t> risk</a:t>
                      </a:r>
                    </a:p>
                  </a:txBody>
                  <a:tcPr marL="121920" marR="121920"/>
                </a:tc>
                <a:tc>
                  <a:txBody>
                    <a:bodyPr/>
                    <a:lstStyle/>
                    <a:p>
                      <a:pPr>
                        <a:buFont typeface="Arial"/>
                        <a:buChar char="•"/>
                      </a:pPr>
                      <a:r>
                        <a:rPr lang="en-US" dirty="0"/>
                        <a:t> Hypoglycemia</a:t>
                      </a:r>
                    </a:p>
                    <a:p>
                      <a:pPr>
                        <a:buFont typeface="Arial"/>
                        <a:buChar char="•"/>
                      </a:pPr>
                      <a:r>
                        <a:rPr lang="en-US" dirty="0"/>
                        <a:t> </a:t>
                      </a:r>
                      <a:r>
                        <a:rPr lang="en-US" sz="1800" b="0" kern="1200" dirty="0">
                          <a:solidFill>
                            <a:schemeClr val="dk1"/>
                          </a:solidFill>
                          <a:latin typeface="+mn-lt"/>
                          <a:ea typeface="+mn-ea"/>
                          <a:cs typeface="+mn-cs"/>
                          <a:sym typeface="Symbol"/>
                        </a:rPr>
                        <a:t> </a:t>
                      </a:r>
                      <a:r>
                        <a:rPr lang="en-US" dirty="0"/>
                        <a:t>Weight</a:t>
                      </a:r>
                      <a:r>
                        <a:rPr lang="en-US" baseline="0" dirty="0"/>
                        <a:t> </a:t>
                      </a:r>
                    </a:p>
                    <a:p>
                      <a:pPr>
                        <a:buFont typeface="Arial"/>
                        <a:buChar char="•"/>
                      </a:pPr>
                      <a:r>
                        <a:rPr lang="en-US" baseline="0" dirty="0"/>
                        <a:t> Low durability</a:t>
                      </a:r>
                    </a:p>
                    <a:p>
                      <a:pPr>
                        <a:buFont typeface="Arial"/>
                        <a:buChar char="•"/>
                      </a:pPr>
                      <a:r>
                        <a:rPr lang="en-US" baseline="0" dirty="0"/>
                        <a:t>Caution in renal insufficiency</a:t>
                      </a:r>
                    </a:p>
                  </a:txBody>
                  <a:tcPr marL="121920" marR="121920"/>
                </a:tc>
                <a:extLst>
                  <a:ext uri="{0D108BD9-81ED-4DB2-BD59-A6C34878D82A}">
                    <a16:rowId xmlns:a16="http://schemas.microsoft.com/office/drawing/2014/main" val="10002"/>
                  </a:ext>
                </a:extLst>
              </a:tr>
              <a:tr h="942108">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b="1" baseline="0" dirty="0" err="1">
                          <a:solidFill>
                            <a:srgbClr val="7F7F7F"/>
                          </a:solidFill>
                        </a:rPr>
                        <a:t>Meglitinides</a:t>
                      </a:r>
                      <a:endParaRPr lang="en-US" b="1" dirty="0">
                        <a:solidFill>
                          <a:srgbClr val="7F7F7F"/>
                        </a:solidFill>
                      </a:endParaRPr>
                    </a:p>
                    <a:p>
                      <a:endParaRPr lang="en-US" b="1" dirty="0">
                        <a:solidFill>
                          <a:srgbClr val="7F7F7F"/>
                        </a:solidFill>
                      </a:endParaRPr>
                    </a:p>
                  </a:txBody>
                  <a:tcPr marL="121920" marR="121920"/>
                </a:tc>
                <a:tc>
                  <a:txBody>
                    <a:bodyPr/>
                    <a:lstStyle/>
                    <a:p>
                      <a:pPr>
                        <a:buFont typeface="Arial"/>
                        <a:buChar char="•"/>
                      </a:pPr>
                      <a:r>
                        <a:rPr lang="en-US" dirty="0">
                          <a:solidFill>
                            <a:srgbClr val="7F7F7F"/>
                          </a:solidFill>
                        </a:rPr>
                        <a:t> Closes K</a:t>
                      </a:r>
                      <a:r>
                        <a:rPr lang="en-US" sz="2400" b="0" baseline="-25000" dirty="0">
                          <a:solidFill>
                            <a:srgbClr val="7F7F7F"/>
                          </a:solidFill>
                        </a:rPr>
                        <a:t>ATP</a:t>
                      </a:r>
                      <a:r>
                        <a:rPr lang="en-US" dirty="0">
                          <a:solidFill>
                            <a:srgbClr val="7F7F7F"/>
                          </a:solidFill>
                        </a:rPr>
                        <a:t> channels</a:t>
                      </a:r>
                    </a:p>
                    <a:p>
                      <a:pPr>
                        <a:buFont typeface="Arial"/>
                        <a:buChar char="•"/>
                      </a:pPr>
                      <a:r>
                        <a:rPr lang="en-US" dirty="0">
                          <a:solidFill>
                            <a:srgbClr val="7F7F7F"/>
                          </a:solidFill>
                        </a:rPr>
                        <a:t> </a:t>
                      </a:r>
                      <a:r>
                        <a:rPr lang="en-US" sz="1800" b="1" kern="1200" dirty="0">
                          <a:solidFill>
                            <a:srgbClr val="7F7F7F"/>
                          </a:solidFill>
                          <a:latin typeface="+mn-lt"/>
                          <a:ea typeface="+mn-ea"/>
                          <a:cs typeface="+mn-cs"/>
                          <a:sym typeface="Symbol"/>
                        </a:rPr>
                        <a:t></a:t>
                      </a:r>
                      <a:r>
                        <a:rPr lang="en-US" b="1" dirty="0">
                          <a:solidFill>
                            <a:srgbClr val="7F7F7F"/>
                          </a:solidFill>
                        </a:rPr>
                        <a:t> </a:t>
                      </a:r>
                      <a:r>
                        <a:rPr lang="en-US" dirty="0">
                          <a:solidFill>
                            <a:srgbClr val="7F7F7F"/>
                          </a:solidFill>
                        </a:rPr>
                        <a:t>Insulin secretion</a:t>
                      </a:r>
                    </a:p>
                    <a:p>
                      <a:pPr>
                        <a:buFont typeface="Arial"/>
                        <a:buNone/>
                      </a:pPr>
                      <a:endParaRPr lang="en-US" dirty="0">
                        <a:solidFill>
                          <a:srgbClr val="7F7F7F"/>
                        </a:solidFill>
                      </a:endParaRPr>
                    </a:p>
                  </a:txBody>
                  <a:tcPr marL="121920" marR="121920"/>
                </a:tc>
                <a:tc>
                  <a:txBody>
                    <a:bodyPr/>
                    <a:lstStyle/>
                    <a:p>
                      <a:pPr>
                        <a:buFont typeface="Arial"/>
                        <a:buChar char="•"/>
                      </a:pPr>
                      <a:r>
                        <a:rPr lang="en-US" sz="1800" b="1" kern="1200" baseline="0" dirty="0">
                          <a:solidFill>
                            <a:schemeClr val="tx1">
                              <a:lumMod val="50000"/>
                              <a:lumOff val="50000"/>
                            </a:schemeClr>
                          </a:solidFill>
                          <a:latin typeface="+mn-lt"/>
                          <a:ea typeface="+mn-ea"/>
                          <a:cs typeface="+mn-cs"/>
                          <a:sym typeface="Symbol"/>
                        </a:rPr>
                        <a:t> </a:t>
                      </a:r>
                      <a:r>
                        <a:rPr lang="en-US" sz="1800" b="1" kern="1200" dirty="0">
                          <a:solidFill>
                            <a:schemeClr val="tx1">
                              <a:lumMod val="50000"/>
                              <a:lumOff val="50000"/>
                            </a:schemeClr>
                          </a:solidFill>
                          <a:latin typeface="+mn-lt"/>
                          <a:ea typeface="+mn-ea"/>
                          <a:cs typeface="+mn-cs"/>
                          <a:sym typeface="Symbol"/>
                        </a:rPr>
                        <a:t></a:t>
                      </a:r>
                      <a:r>
                        <a:rPr lang="en-US" sz="1800" b="0" kern="1200" dirty="0">
                          <a:solidFill>
                            <a:schemeClr val="tx1">
                              <a:lumMod val="50000"/>
                              <a:lumOff val="50000"/>
                            </a:schemeClr>
                          </a:solidFill>
                          <a:latin typeface="+mn-lt"/>
                          <a:ea typeface="+mn-ea"/>
                          <a:cs typeface="+mn-cs"/>
                          <a:sym typeface="Symbol"/>
                        </a:rPr>
                        <a:t> Postprandial glucose</a:t>
                      </a:r>
                    </a:p>
                    <a:p>
                      <a:pPr>
                        <a:buFont typeface="Arial"/>
                        <a:buChar char="•"/>
                      </a:pPr>
                      <a:r>
                        <a:rPr lang="en-US" dirty="0">
                          <a:solidFill>
                            <a:schemeClr val="tx1">
                              <a:lumMod val="50000"/>
                              <a:lumOff val="50000"/>
                            </a:schemeClr>
                          </a:solidFill>
                        </a:rPr>
                        <a:t> Dosing flexibility</a:t>
                      </a:r>
                    </a:p>
                  </a:txBody>
                  <a:tcPr marL="121920" marR="121920"/>
                </a:tc>
                <a:tc>
                  <a:txBody>
                    <a:bodyPr/>
                    <a:lstStyle/>
                    <a:p>
                      <a:pPr>
                        <a:buFont typeface="Arial"/>
                        <a:buChar char="•"/>
                      </a:pPr>
                      <a:r>
                        <a:rPr lang="en-US" dirty="0">
                          <a:solidFill>
                            <a:srgbClr val="7F7F7F"/>
                          </a:solidFill>
                        </a:rPr>
                        <a:t> Hypoglycemia</a:t>
                      </a:r>
                    </a:p>
                    <a:p>
                      <a:pPr>
                        <a:buFont typeface="Arial"/>
                        <a:buChar char="•"/>
                      </a:pPr>
                      <a:r>
                        <a:rPr lang="en-US" dirty="0">
                          <a:solidFill>
                            <a:srgbClr val="7F7F7F"/>
                          </a:solidFill>
                        </a:rPr>
                        <a:t> </a:t>
                      </a:r>
                      <a:r>
                        <a:rPr lang="en-US" sz="1800" b="0" kern="1200" dirty="0">
                          <a:solidFill>
                            <a:srgbClr val="7F7F7F"/>
                          </a:solidFill>
                          <a:latin typeface="+mn-lt"/>
                          <a:ea typeface="+mn-ea"/>
                          <a:cs typeface="+mn-cs"/>
                          <a:sym typeface="Symbol"/>
                        </a:rPr>
                        <a:t> </a:t>
                      </a:r>
                      <a:r>
                        <a:rPr lang="en-US" dirty="0">
                          <a:solidFill>
                            <a:srgbClr val="7F7F7F"/>
                          </a:solidFill>
                        </a:rPr>
                        <a:t>Weight</a:t>
                      </a:r>
                      <a:r>
                        <a:rPr lang="en-US" baseline="0" dirty="0">
                          <a:solidFill>
                            <a:srgbClr val="7F7F7F"/>
                          </a:solidFill>
                        </a:rPr>
                        <a:t> </a:t>
                      </a:r>
                    </a:p>
                    <a:p>
                      <a:pPr>
                        <a:buFont typeface="Arial"/>
                        <a:buChar char="•"/>
                      </a:pPr>
                      <a:r>
                        <a:rPr lang="en-US" baseline="0" dirty="0">
                          <a:solidFill>
                            <a:srgbClr val="7F7F7F"/>
                          </a:solidFill>
                        </a:rPr>
                        <a:t> Dosing frequency</a:t>
                      </a:r>
                      <a:endParaRPr lang="en-US" dirty="0">
                        <a:solidFill>
                          <a:srgbClr val="7F7F7F"/>
                        </a:solidFill>
                      </a:endParaRPr>
                    </a:p>
                  </a:txBody>
                  <a:tcPr marL="121920" marR="121920"/>
                </a:tc>
                <a:extLst>
                  <a:ext uri="{0D108BD9-81ED-4DB2-BD59-A6C34878D82A}">
                    <a16:rowId xmlns:a16="http://schemas.microsoft.com/office/drawing/2014/main" val="10003"/>
                  </a:ext>
                </a:extLst>
              </a:tr>
              <a:tr h="1607459">
                <a:tc>
                  <a:txBody>
                    <a:bodyPr/>
                    <a:lstStyle/>
                    <a:p>
                      <a:r>
                        <a:rPr lang="en-US" b="1" dirty="0"/>
                        <a:t>TZDs</a:t>
                      </a:r>
                    </a:p>
                  </a:txBody>
                  <a:tcPr marL="121920" marR="121920"/>
                </a:tc>
                <a:tc>
                  <a:txBody>
                    <a:bodyPr/>
                    <a:lstStyle/>
                    <a:p>
                      <a:pPr>
                        <a:buFont typeface="Arial"/>
                        <a:buChar char="•"/>
                      </a:pPr>
                      <a:r>
                        <a:rPr lang="en-US" dirty="0"/>
                        <a:t> PPAR-</a:t>
                      </a:r>
                      <a:r>
                        <a:rPr lang="en-US" dirty="0" err="1">
                          <a:latin typeface="Symbol" charset="2"/>
                          <a:cs typeface="Symbol" charset="2"/>
                        </a:rPr>
                        <a:t>g</a:t>
                      </a:r>
                      <a:r>
                        <a:rPr lang="en-US" dirty="0"/>
                        <a:t> activator</a:t>
                      </a:r>
                    </a:p>
                    <a:p>
                      <a:pPr>
                        <a:buFont typeface="Arial"/>
                        <a:buChar char="•"/>
                      </a:pPr>
                      <a:r>
                        <a:rPr lang="en-US" dirty="0"/>
                        <a:t> </a:t>
                      </a:r>
                      <a:r>
                        <a:rPr lang="en-US" sz="1800" b="1" kern="1200" dirty="0">
                          <a:solidFill>
                            <a:schemeClr val="dk1"/>
                          </a:solidFill>
                          <a:latin typeface="+mn-lt"/>
                          <a:ea typeface="+mn-ea"/>
                          <a:cs typeface="+mn-cs"/>
                          <a:sym typeface="Symbol"/>
                        </a:rPr>
                        <a:t></a:t>
                      </a:r>
                      <a:r>
                        <a:rPr lang="en-US" b="1" dirty="0"/>
                        <a:t> </a:t>
                      </a:r>
                      <a:r>
                        <a:rPr lang="en-US" b="0" dirty="0"/>
                        <a:t>I</a:t>
                      </a:r>
                      <a:r>
                        <a:rPr lang="en-US" dirty="0"/>
                        <a:t>nsulin sensitivity</a:t>
                      </a:r>
                    </a:p>
                  </a:txBody>
                  <a:tcPr marL="121920" marR="121920"/>
                </a:tc>
                <a:tc>
                  <a:txBody>
                    <a:bodyPr/>
                    <a:lstStyle/>
                    <a:p>
                      <a:pPr>
                        <a:buFont typeface="Arial"/>
                        <a:buChar char="•"/>
                      </a:pPr>
                      <a:r>
                        <a:rPr lang="en-US" dirty="0"/>
                        <a:t> No hypoglycemia</a:t>
                      </a:r>
                    </a:p>
                    <a:p>
                      <a:pPr>
                        <a:buFont typeface="Arial"/>
                        <a:buChar char="•"/>
                      </a:pPr>
                      <a:r>
                        <a:rPr lang="en-US" dirty="0"/>
                        <a:t> Durability</a:t>
                      </a:r>
                    </a:p>
                    <a:p>
                      <a:pPr>
                        <a:buFont typeface="Arial"/>
                        <a:buChar char="•"/>
                      </a:pPr>
                      <a:r>
                        <a:rPr lang="en-US" dirty="0"/>
                        <a:t> </a:t>
                      </a:r>
                      <a:r>
                        <a:rPr lang="en-US" sz="1800" b="0" kern="1200" dirty="0">
                          <a:solidFill>
                            <a:schemeClr val="dk1"/>
                          </a:solidFill>
                          <a:latin typeface="+mn-lt"/>
                          <a:ea typeface="+mn-ea"/>
                          <a:cs typeface="+mn-cs"/>
                          <a:sym typeface="Symbol"/>
                        </a:rPr>
                        <a:t> TGs (</a:t>
                      </a:r>
                      <a:r>
                        <a:rPr lang="en-US" sz="1800" b="0" kern="1200" dirty="0" err="1">
                          <a:solidFill>
                            <a:schemeClr val="dk1"/>
                          </a:solidFill>
                          <a:latin typeface="+mn-lt"/>
                          <a:ea typeface="+mn-ea"/>
                          <a:cs typeface="+mn-cs"/>
                          <a:sym typeface="Symbol"/>
                        </a:rPr>
                        <a:t>pio</a:t>
                      </a:r>
                      <a:r>
                        <a:rPr lang="en-US" sz="1800" b="0" kern="1200" dirty="0">
                          <a:solidFill>
                            <a:schemeClr val="dk1"/>
                          </a:solidFill>
                          <a:latin typeface="+mn-lt"/>
                          <a:ea typeface="+mn-ea"/>
                          <a:cs typeface="+mn-cs"/>
                          <a:sym typeface="Symbol"/>
                        </a:rPr>
                        <a:t>)</a:t>
                      </a:r>
                    </a:p>
                    <a:p>
                      <a:pPr>
                        <a:buFont typeface="Arial"/>
                        <a:buChar char="•"/>
                      </a:pPr>
                      <a:r>
                        <a:rPr lang="en-US" sz="1800" b="0" kern="1200" baseline="0" dirty="0">
                          <a:solidFill>
                            <a:schemeClr val="dk1"/>
                          </a:solidFill>
                          <a:latin typeface="+mn-lt"/>
                          <a:ea typeface="+mn-ea"/>
                          <a:cs typeface="+mn-cs"/>
                          <a:sym typeface="Symbol"/>
                        </a:rPr>
                        <a:t> </a:t>
                      </a:r>
                      <a:r>
                        <a:rPr lang="en-US" sz="1800" b="0" kern="1200" dirty="0">
                          <a:solidFill>
                            <a:schemeClr val="dk1"/>
                          </a:solidFill>
                          <a:latin typeface="+mn-lt"/>
                          <a:ea typeface="+mn-ea"/>
                          <a:cs typeface="+mn-cs"/>
                          <a:sym typeface="Symbol"/>
                        </a:rPr>
                        <a:t> HDL-C </a:t>
                      </a:r>
                    </a:p>
                    <a:p>
                      <a:pPr>
                        <a:buFont typeface="Arial"/>
                        <a:buChar char="•"/>
                      </a:pPr>
                      <a:r>
                        <a:rPr lang="en-US" dirty="0"/>
                        <a:t> ? </a:t>
                      </a:r>
                      <a:r>
                        <a:rPr lang="en-US" sz="1800" b="1" kern="1200" dirty="0">
                          <a:solidFill>
                            <a:schemeClr val="dk1"/>
                          </a:solidFill>
                          <a:latin typeface="+mn-lt"/>
                          <a:ea typeface="+mn-ea"/>
                          <a:cs typeface="+mn-cs"/>
                          <a:sym typeface="Symbol"/>
                        </a:rPr>
                        <a:t></a:t>
                      </a:r>
                      <a:r>
                        <a:rPr lang="en-US" b="1" dirty="0"/>
                        <a:t> </a:t>
                      </a:r>
                      <a:r>
                        <a:rPr lang="en-US" dirty="0"/>
                        <a:t>CVD events</a:t>
                      </a:r>
                      <a:r>
                        <a:rPr lang="en-US" baseline="0" dirty="0"/>
                        <a:t> (</a:t>
                      </a:r>
                      <a:r>
                        <a:rPr lang="en-US" baseline="0" dirty="0" err="1"/>
                        <a:t>pio</a:t>
                      </a:r>
                      <a:r>
                        <a:rPr lang="en-US" baseline="0" dirty="0"/>
                        <a:t>)</a:t>
                      </a:r>
                      <a:endParaRPr lang="en-US" b="0" dirty="0"/>
                    </a:p>
                  </a:txBody>
                  <a:tcPr marL="121920" marR="121920"/>
                </a:tc>
                <a:tc>
                  <a:txBody>
                    <a:bodyPr/>
                    <a:lstStyle/>
                    <a:p>
                      <a:pPr>
                        <a:buFont typeface="Arial"/>
                        <a:buChar char="•"/>
                      </a:pPr>
                      <a:r>
                        <a:rPr lang="en-US" dirty="0"/>
                        <a:t> </a:t>
                      </a:r>
                      <a:r>
                        <a:rPr lang="en-US" sz="1800" b="0" kern="1200" dirty="0">
                          <a:solidFill>
                            <a:schemeClr val="dk1"/>
                          </a:solidFill>
                          <a:latin typeface="+mn-lt"/>
                          <a:ea typeface="+mn-ea"/>
                          <a:cs typeface="+mn-cs"/>
                          <a:sym typeface="Symbol"/>
                        </a:rPr>
                        <a:t> </a:t>
                      </a:r>
                      <a:r>
                        <a:rPr lang="en-US" dirty="0"/>
                        <a:t>Weight </a:t>
                      </a:r>
                    </a:p>
                    <a:p>
                      <a:pPr>
                        <a:buFont typeface="Arial"/>
                        <a:buChar char="•"/>
                      </a:pPr>
                      <a:r>
                        <a:rPr lang="en-US" baseline="0" dirty="0"/>
                        <a:t> </a:t>
                      </a:r>
                      <a:r>
                        <a:rPr lang="en-US" dirty="0"/>
                        <a:t>Edema/heart</a:t>
                      </a:r>
                      <a:r>
                        <a:rPr lang="en-US" baseline="0" dirty="0"/>
                        <a:t> failure</a:t>
                      </a:r>
                    </a:p>
                    <a:p>
                      <a:pPr>
                        <a:buFont typeface="Arial"/>
                        <a:buChar char="•"/>
                      </a:pPr>
                      <a:r>
                        <a:rPr lang="en-US" baseline="0" dirty="0"/>
                        <a:t> Bone fractures</a:t>
                      </a:r>
                    </a:p>
                    <a:p>
                      <a:pPr marL="0" marR="0" indent="0" algn="l" defTabSz="457200" rtl="0" eaLnBrk="1" fontAlgn="auto" latinLnBrk="0" hangingPunct="1">
                        <a:lnSpc>
                          <a:spcPct val="100000"/>
                        </a:lnSpc>
                        <a:spcBef>
                          <a:spcPts val="0"/>
                        </a:spcBef>
                        <a:spcAft>
                          <a:spcPts val="0"/>
                        </a:spcAft>
                        <a:buClrTx/>
                        <a:buSzTx/>
                        <a:buFont typeface="Arial"/>
                        <a:buChar char="•"/>
                        <a:tabLst/>
                        <a:defRPr/>
                      </a:pPr>
                      <a:r>
                        <a:rPr lang="en-US" baseline="0" dirty="0"/>
                        <a:t> </a:t>
                      </a:r>
                      <a:r>
                        <a:rPr lang="en-US" sz="1800" b="0" kern="1200" dirty="0">
                          <a:solidFill>
                            <a:schemeClr val="dk1"/>
                          </a:solidFill>
                          <a:latin typeface="+mn-lt"/>
                          <a:ea typeface="+mn-ea"/>
                          <a:cs typeface="+mn-cs"/>
                          <a:sym typeface="Symbol"/>
                        </a:rPr>
                        <a:t> </a:t>
                      </a:r>
                      <a:r>
                        <a:rPr lang="en-US" baseline="0" dirty="0"/>
                        <a:t>LDL-C (</a:t>
                      </a:r>
                      <a:r>
                        <a:rPr lang="en-US" baseline="0" dirty="0" err="1"/>
                        <a:t>rosi</a:t>
                      </a:r>
                      <a:r>
                        <a:rPr lang="en-US" baseline="0" dirty="0"/>
                        <a:t>)</a:t>
                      </a:r>
                    </a:p>
                  </a:txBody>
                  <a:tcPr marL="121920" marR="121920"/>
                </a:tc>
                <a:extLst>
                  <a:ext uri="{0D108BD9-81ED-4DB2-BD59-A6C34878D82A}">
                    <a16:rowId xmlns:a16="http://schemas.microsoft.com/office/drawing/2014/main" val="10004"/>
                  </a:ext>
                </a:extLst>
              </a:tr>
            </a:tbl>
          </a:graphicData>
        </a:graphic>
      </p:graphicFrame>
      <p:sp>
        <p:nvSpPr>
          <p:cNvPr id="6" name="TextBox 21"/>
          <p:cNvSpPr txBox="1">
            <a:spLocks noChangeArrowheads="1"/>
          </p:cNvSpPr>
          <p:nvPr/>
        </p:nvSpPr>
        <p:spPr bwMode="auto">
          <a:xfrm>
            <a:off x="8451273" y="6334788"/>
            <a:ext cx="3577828" cy="523212"/>
          </a:xfrm>
          <a:prstGeom prst="rect">
            <a:avLst/>
          </a:prstGeom>
          <a:noFill/>
          <a:ln w="9525">
            <a:noFill/>
            <a:miter lim="800000"/>
            <a:headEnd/>
            <a:tailEnd/>
          </a:ln>
        </p:spPr>
        <p:txBody>
          <a:bodyPr wrap="square" lIns="91431" tIns="45716" rIns="91431" bIns="45716">
            <a:prstTxWarp prst="textNoShape">
              <a:avLst/>
            </a:prstTxWarp>
            <a:spAutoFit/>
          </a:bodyPr>
          <a:lstStyle/>
          <a:p>
            <a:pPr algn="r" fontAlgn="base" hangingPunct="1">
              <a:spcBef>
                <a:spcPct val="0"/>
              </a:spcBef>
              <a:spcAft>
                <a:spcPct val="0"/>
              </a:spcAft>
              <a:defRPr/>
            </a:pPr>
            <a:r>
              <a:rPr lang="en-US" sz="1400" i="1" kern="1200" dirty="0">
                <a:latin typeface="Times"/>
                <a:ea typeface="Times New Roman" charset="0"/>
                <a:cs typeface="Times"/>
              </a:rPr>
              <a:t>Diabetes Care</a:t>
            </a:r>
            <a:r>
              <a:rPr lang="en-US" sz="1400" kern="1200" dirty="0">
                <a:latin typeface="Times"/>
                <a:ea typeface="Times New Roman" charset="0"/>
                <a:cs typeface="Times"/>
              </a:rPr>
              <a:t> 2015;38:140-149; </a:t>
            </a:r>
          </a:p>
          <a:p>
            <a:pPr algn="r" fontAlgn="base" hangingPunct="1">
              <a:spcBef>
                <a:spcPct val="0"/>
              </a:spcBef>
              <a:spcAft>
                <a:spcPct val="0"/>
              </a:spcAft>
              <a:defRPr/>
            </a:pPr>
            <a:r>
              <a:rPr lang="en-US" sz="1400" i="1" kern="1200" dirty="0" err="1">
                <a:latin typeface="Times"/>
                <a:ea typeface="Times New Roman" charset="0"/>
                <a:cs typeface="Times"/>
              </a:rPr>
              <a:t>Diabetologia</a:t>
            </a:r>
            <a:r>
              <a:rPr lang="en-US" sz="1400" kern="1200" dirty="0">
                <a:latin typeface="Times"/>
                <a:ea typeface="Times New Roman" charset="0"/>
                <a:cs typeface="Times"/>
              </a:rPr>
              <a:t> </a:t>
            </a:r>
            <a:r>
              <a:rPr lang="en-US" sz="1400" kern="1200" dirty="0">
                <a:latin typeface="Times New Roman" charset="0"/>
                <a:ea typeface="Times New Roman" charset="0"/>
                <a:cs typeface="Times New Roman" charset="0"/>
              </a:rPr>
              <a:t>2015;58:429-442</a:t>
            </a:r>
          </a:p>
        </p:txBody>
      </p:sp>
      <p:sp>
        <p:nvSpPr>
          <p:cNvPr id="5" name="TextBox 12"/>
          <p:cNvSpPr txBox="1">
            <a:spLocks noChangeArrowheads="1"/>
          </p:cNvSpPr>
          <p:nvPr/>
        </p:nvSpPr>
        <p:spPr bwMode="auto">
          <a:xfrm>
            <a:off x="803564" y="0"/>
            <a:ext cx="9864436" cy="646331"/>
          </a:xfrm>
          <a:prstGeom prst="rect">
            <a:avLst/>
          </a:prstGeom>
          <a:noFill/>
          <a:ln w="9525">
            <a:noFill/>
            <a:miter lim="800000"/>
            <a:headEnd/>
            <a:tailEnd/>
          </a:ln>
        </p:spPr>
        <p:txBody>
          <a:bodyPr wrap="square">
            <a:prstTxWarp prst="textNoShape">
              <a:avLst/>
            </a:prstTxWarp>
            <a:spAutoFit/>
          </a:bodyPr>
          <a:lstStyle/>
          <a:p>
            <a:pPr algn="ctr" defTabSz="457200" fontAlgn="base" hangingPunct="1">
              <a:spcBef>
                <a:spcPct val="0"/>
              </a:spcBef>
              <a:spcAft>
                <a:spcPct val="0"/>
              </a:spcAft>
              <a:defRPr/>
            </a:pPr>
            <a:r>
              <a:rPr lang="en-US" sz="3600" b="1" kern="1200" dirty="0">
                <a:solidFill>
                  <a:srgbClr val="000090"/>
                </a:solidFill>
                <a:ea typeface="Times" charset="0"/>
                <a:cs typeface="Calibri"/>
              </a:rPr>
              <a:t>Properties of anti-hyperglycemic agents</a:t>
            </a:r>
          </a:p>
        </p:txBody>
      </p:sp>
    </p:spTree>
    <p:extLst>
      <p:ext uri="{BB962C8B-B14F-4D97-AF65-F5344CB8AC3E}">
        <p14:creationId xmlns:p14="http://schemas.microsoft.com/office/powerpoint/2010/main" val="7036733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2771675755"/>
              </p:ext>
            </p:extLst>
          </p:nvPr>
        </p:nvGraphicFramePr>
        <p:xfrm>
          <a:off x="-1" y="44627"/>
          <a:ext cx="12011891" cy="6857453"/>
        </p:xfrm>
        <a:graphic>
          <a:graphicData uri="http://schemas.openxmlformats.org/drawingml/2006/table">
            <a:tbl>
              <a:tblPr firstRow="1" bandRow="1">
                <a:tableStyleId>{5C22544A-7EE6-4342-B048-85BDC9FD1C3A}</a:tableStyleId>
              </a:tblPr>
              <a:tblGrid>
                <a:gridCol w="2209223">
                  <a:extLst>
                    <a:ext uri="{9D8B030D-6E8A-4147-A177-3AD203B41FA5}">
                      <a16:colId xmlns:a16="http://schemas.microsoft.com/office/drawing/2014/main" val="20000"/>
                    </a:ext>
                  </a:extLst>
                </a:gridCol>
                <a:gridCol w="3428519">
                  <a:extLst>
                    <a:ext uri="{9D8B030D-6E8A-4147-A177-3AD203B41FA5}">
                      <a16:colId xmlns:a16="http://schemas.microsoft.com/office/drawing/2014/main" val="20001"/>
                    </a:ext>
                  </a:extLst>
                </a:gridCol>
                <a:gridCol w="3049059">
                  <a:extLst>
                    <a:ext uri="{9D8B030D-6E8A-4147-A177-3AD203B41FA5}">
                      <a16:colId xmlns:a16="http://schemas.microsoft.com/office/drawing/2014/main" val="20002"/>
                    </a:ext>
                  </a:extLst>
                </a:gridCol>
                <a:gridCol w="3325090">
                  <a:extLst>
                    <a:ext uri="{9D8B030D-6E8A-4147-A177-3AD203B41FA5}">
                      <a16:colId xmlns:a16="http://schemas.microsoft.com/office/drawing/2014/main" val="20003"/>
                    </a:ext>
                  </a:extLst>
                </a:gridCol>
              </a:tblGrid>
              <a:tr h="365213">
                <a:tc>
                  <a:txBody>
                    <a:bodyPr/>
                    <a:lstStyle/>
                    <a:p>
                      <a:pPr marL="0" marR="0" algn="ctr" eaLnBrk="0" fontAlgn="base" hangingPunct="0">
                        <a:spcBef>
                          <a:spcPts val="0"/>
                        </a:spcBef>
                        <a:spcAft>
                          <a:spcPts val="0"/>
                        </a:spcAft>
                      </a:pPr>
                      <a:r>
                        <a:rPr lang="en-US" sz="2200" b="1" kern="1200" dirty="0">
                          <a:solidFill>
                            <a:schemeClr val="bg1"/>
                          </a:solidFill>
                          <a:effectLst>
                            <a:outerShdw blurRad="38100" dist="38100" dir="2700000" algn="tl">
                              <a:srgbClr val="000000">
                                <a:alpha val="43137"/>
                              </a:srgbClr>
                            </a:outerShdw>
                          </a:effectLst>
                          <a:latin typeface="+mj-lt"/>
                          <a:ea typeface="MS PGothic"/>
                          <a:cs typeface="Arial"/>
                        </a:rPr>
                        <a:t>Oral Class</a:t>
                      </a:r>
                      <a:endParaRPr lang="en-US" sz="2200" dirty="0">
                        <a:solidFill>
                          <a:schemeClr val="bg1"/>
                        </a:solidFill>
                        <a:effectLst>
                          <a:outerShdw blurRad="38100" dist="38100" dir="2700000" algn="tl">
                            <a:srgbClr val="000000">
                              <a:alpha val="43137"/>
                            </a:srgbClr>
                          </a:outerShdw>
                        </a:effectLst>
                        <a:latin typeface="+mj-lt"/>
                        <a:ea typeface="Cambria"/>
                        <a:cs typeface="Times New Roman"/>
                      </a:endParaRPr>
                    </a:p>
                  </a:txBody>
                  <a:tcPr marL="0" marR="0" marT="0" marB="0">
                    <a:solidFill>
                      <a:srgbClr val="00005C"/>
                    </a:solidFill>
                  </a:tcPr>
                </a:tc>
                <a:tc>
                  <a:txBody>
                    <a:bodyPr/>
                    <a:lstStyle/>
                    <a:p>
                      <a:pPr marL="0" marR="0" algn="ctr" fontAlgn="base">
                        <a:spcBef>
                          <a:spcPts val="0"/>
                        </a:spcBef>
                        <a:spcAft>
                          <a:spcPts val="0"/>
                        </a:spcAft>
                      </a:pPr>
                      <a:r>
                        <a:rPr lang="en-US" sz="2200" dirty="0">
                          <a:solidFill>
                            <a:schemeClr val="bg1"/>
                          </a:solidFill>
                          <a:effectLst>
                            <a:outerShdw blurRad="38100" dist="38100" dir="2700000" algn="tl">
                              <a:srgbClr val="000000">
                                <a:alpha val="43137"/>
                              </a:srgbClr>
                            </a:outerShdw>
                          </a:effectLst>
                          <a:latin typeface="+mj-lt"/>
                          <a:ea typeface="Cambria"/>
                          <a:cs typeface="Times New Roman"/>
                        </a:rPr>
                        <a:t>Mechanism</a:t>
                      </a:r>
                    </a:p>
                  </a:txBody>
                  <a:tcPr marL="0" marR="0" marT="0" marB="0">
                    <a:solidFill>
                      <a:srgbClr val="00005C"/>
                    </a:solidFill>
                  </a:tcPr>
                </a:tc>
                <a:tc>
                  <a:txBody>
                    <a:bodyPr/>
                    <a:lstStyle/>
                    <a:p>
                      <a:pPr marL="0" marR="0" algn="ctr" fontAlgn="base">
                        <a:spcBef>
                          <a:spcPts val="0"/>
                        </a:spcBef>
                        <a:spcAft>
                          <a:spcPts val="0"/>
                        </a:spcAft>
                      </a:pPr>
                      <a:r>
                        <a:rPr lang="en-US" sz="2200" dirty="0">
                          <a:solidFill>
                            <a:schemeClr val="bg1"/>
                          </a:solidFill>
                          <a:effectLst>
                            <a:outerShdw blurRad="38100" dist="38100" dir="2700000" algn="tl">
                              <a:srgbClr val="000000">
                                <a:alpha val="43137"/>
                              </a:srgbClr>
                            </a:outerShdw>
                          </a:effectLst>
                          <a:latin typeface="+mj-lt"/>
                          <a:ea typeface="Cambria"/>
                          <a:cs typeface="Times New Roman"/>
                        </a:rPr>
                        <a:t>Advantages</a:t>
                      </a:r>
                    </a:p>
                  </a:txBody>
                  <a:tcPr marL="0" marR="0" marT="0" marB="0">
                    <a:solidFill>
                      <a:srgbClr val="00005C"/>
                    </a:solidFill>
                  </a:tcPr>
                </a:tc>
                <a:tc>
                  <a:txBody>
                    <a:bodyPr/>
                    <a:lstStyle/>
                    <a:p>
                      <a:pPr marL="0" marR="0" algn="ctr" fontAlgn="base">
                        <a:spcBef>
                          <a:spcPts val="0"/>
                        </a:spcBef>
                        <a:spcAft>
                          <a:spcPts val="0"/>
                        </a:spcAft>
                      </a:pPr>
                      <a:r>
                        <a:rPr lang="en-US" sz="2200" dirty="0">
                          <a:solidFill>
                            <a:schemeClr val="bg1"/>
                          </a:solidFill>
                          <a:effectLst>
                            <a:outerShdw blurRad="38100" dist="38100" dir="2700000" algn="tl">
                              <a:srgbClr val="000000">
                                <a:alpha val="43137"/>
                              </a:srgbClr>
                            </a:outerShdw>
                          </a:effectLst>
                          <a:latin typeface="+mj-lt"/>
                          <a:ea typeface="Cambria"/>
                          <a:cs typeface="Times New Roman"/>
                        </a:rPr>
                        <a:t>Disadvantages</a:t>
                      </a:r>
                    </a:p>
                  </a:txBody>
                  <a:tcPr marL="0" marR="0" marT="0" marB="0">
                    <a:solidFill>
                      <a:srgbClr val="00005C"/>
                    </a:solidFill>
                  </a:tcPr>
                </a:tc>
                <a:extLst>
                  <a:ext uri="{0D108BD9-81ED-4DB2-BD59-A6C34878D82A}">
                    <a16:rowId xmlns:a16="http://schemas.microsoft.com/office/drawing/2014/main" val="10000"/>
                  </a:ext>
                </a:extLst>
              </a:tr>
              <a:tr h="1122630">
                <a:tc>
                  <a:txBody>
                    <a:bodyPr/>
                    <a:lstStyle/>
                    <a:p>
                      <a:r>
                        <a:rPr lang="en-US" b="1" dirty="0">
                          <a:solidFill>
                            <a:srgbClr val="7F7F7F"/>
                          </a:solidFill>
                          <a:latin typeface="Symbol" charset="2"/>
                          <a:cs typeface="Symbol" charset="2"/>
                        </a:rPr>
                        <a:t>a</a:t>
                      </a:r>
                      <a:r>
                        <a:rPr lang="en-US" b="1" dirty="0">
                          <a:solidFill>
                            <a:srgbClr val="7F7F7F"/>
                          </a:solidFill>
                        </a:rPr>
                        <a:t>-</a:t>
                      </a:r>
                      <a:r>
                        <a:rPr lang="en-US" b="1" dirty="0" err="1">
                          <a:solidFill>
                            <a:srgbClr val="7F7F7F"/>
                          </a:solidFill>
                        </a:rPr>
                        <a:t>Glucosidase</a:t>
                      </a:r>
                      <a:r>
                        <a:rPr lang="en-US" b="1" baseline="0" dirty="0">
                          <a:solidFill>
                            <a:srgbClr val="7F7F7F"/>
                          </a:solidFill>
                        </a:rPr>
                        <a:t> inhibitors</a:t>
                      </a:r>
                      <a:endParaRPr lang="en-US" b="1" dirty="0">
                        <a:solidFill>
                          <a:srgbClr val="7F7F7F"/>
                        </a:solidFill>
                      </a:endParaRPr>
                    </a:p>
                  </a:txBody>
                  <a:tcPr marL="121920" marR="121920"/>
                </a:tc>
                <a:tc>
                  <a:txBody>
                    <a:bodyPr/>
                    <a:lstStyle/>
                    <a:p>
                      <a:pPr marL="0" marR="0" indent="0" algn="l" defTabSz="457200" rtl="0" eaLnBrk="1" fontAlgn="auto" latinLnBrk="0" hangingPunct="1">
                        <a:lnSpc>
                          <a:spcPct val="100000"/>
                        </a:lnSpc>
                        <a:spcBef>
                          <a:spcPts val="0"/>
                        </a:spcBef>
                        <a:spcAft>
                          <a:spcPts val="0"/>
                        </a:spcAft>
                        <a:buClrTx/>
                        <a:buSzTx/>
                        <a:buFont typeface="Arial"/>
                        <a:buChar char="•"/>
                        <a:tabLst/>
                        <a:defRPr/>
                      </a:pPr>
                      <a:r>
                        <a:rPr lang="en-US" dirty="0">
                          <a:solidFill>
                            <a:schemeClr val="tx1">
                              <a:lumMod val="50000"/>
                              <a:lumOff val="50000"/>
                            </a:schemeClr>
                          </a:solidFill>
                        </a:rPr>
                        <a:t> Inhibits </a:t>
                      </a:r>
                      <a:r>
                        <a:rPr lang="en-US" dirty="0">
                          <a:solidFill>
                            <a:schemeClr val="tx1">
                              <a:lumMod val="50000"/>
                              <a:lumOff val="50000"/>
                            </a:schemeClr>
                          </a:solidFill>
                          <a:latin typeface="Symbol" charset="2"/>
                          <a:cs typeface="Symbol" charset="2"/>
                        </a:rPr>
                        <a:t>a</a:t>
                      </a:r>
                      <a:r>
                        <a:rPr lang="en-US" dirty="0">
                          <a:solidFill>
                            <a:schemeClr val="tx1">
                              <a:lumMod val="50000"/>
                              <a:lumOff val="50000"/>
                            </a:schemeClr>
                          </a:solidFill>
                        </a:rPr>
                        <a:t>-</a:t>
                      </a:r>
                      <a:r>
                        <a:rPr lang="en-US" dirty="0" err="1">
                          <a:solidFill>
                            <a:schemeClr val="tx1">
                              <a:lumMod val="50000"/>
                              <a:lumOff val="50000"/>
                            </a:schemeClr>
                          </a:solidFill>
                        </a:rPr>
                        <a:t>glucosidase</a:t>
                      </a:r>
                      <a:endParaRPr lang="en-US" dirty="0">
                        <a:solidFill>
                          <a:schemeClr val="tx1">
                            <a:lumMod val="50000"/>
                            <a:lumOff val="50000"/>
                          </a:schemeClr>
                        </a:solidFill>
                      </a:endParaRPr>
                    </a:p>
                    <a:p>
                      <a:pPr marL="0" marR="0" indent="0" algn="l" defTabSz="457200" rtl="0" eaLnBrk="1" fontAlgn="auto" latinLnBrk="0" hangingPunct="1">
                        <a:lnSpc>
                          <a:spcPct val="100000"/>
                        </a:lnSpc>
                        <a:spcBef>
                          <a:spcPts val="0"/>
                        </a:spcBef>
                        <a:spcAft>
                          <a:spcPts val="0"/>
                        </a:spcAft>
                        <a:buClrTx/>
                        <a:buSzTx/>
                        <a:buFont typeface="Arial"/>
                        <a:buChar char="•"/>
                        <a:tabLst/>
                        <a:defRPr/>
                      </a:pPr>
                      <a:r>
                        <a:rPr lang="en-US" baseline="0" dirty="0">
                          <a:solidFill>
                            <a:schemeClr val="tx1">
                              <a:lumMod val="50000"/>
                              <a:lumOff val="50000"/>
                            </a:schemeClr>
                          </a:solidFill>
                        </a:rPr>
                        <a:t> Slows carbohydrate digestion / absorption</a:t>
                      </a:r>
                    </a:p>
                  </a:txBody>
                  <a:tcPr marL="121920" marR="121920"/>
                </a:tc>
                <a:tc>
                  <a:txBody>
                    <a:bodyPr/>
                    <a:lstStyle/>
                    <a:p>
                      <a:pPr>
                        <a:buFont typeface="Arial"/>
                        <a:buChar char="•"/>
                      </a:pPr>
                      <a:r>
                        <a:rPr lang="en-US" dirty="0">
                          <a:solidFill>
                            <a:schemeClr val="tx1">
                              <a:lumMod val="50000"/>
                              <a:lumOff val="50000"/>
                            </a:schemeClr>
                          </a:solidFill>
                        </a:rPr>
                        <a:t> No hypoglycemia</a:t>
                      </a:r>
                    </a:p>
                    <a:p>
                      <a:pPr>
                        <a:buFont typeface="Arial"/>
                        <a:buChar char="•"/>
                      </a:pPr>
                      <a:r>
                        <a:rPr lang="en-US" dirty="0">
                          <a:solidFill>
                            <a:schemeClr val="tx1">
                              <a:lumMod val="50000"/>
                              <a:lumOff val="50000"/>
                            </a:schemeClr>
                          </a:solidFill>
                        </a:rPr>
                        <a:t> </a:t>
                      </a:r>
                      <a:r>
                        <a:rPr lang="en-US" dirty="0" err="1">
                          <a:solidFill>
                            <a:schemeClr val="tx1">
                              <a:lumMod val="50000"/>
                              <a:lumOff val="50000"/>
                            </a:schemeClr>
                          </a:solidFill>
                        </a:rPr>
                        <a:t>Nonsystemic</a:t>
                      </a:r>
                      <a:endParaRPr lang="en-US" dirty="0">
                        <a:solidFill>
                          <a:schemeClr val="tx1">
                            <a:lumMod val="50000"/>
                            <a:lumOff val="50000"/>
                          </a:schemeClr>
                        </a:solidFill>
                      </a:endParaRPr>
                    </a:p>
                    <a:p>
                      <a:pPr>
                        <a:buFont typeface="Arial"/>
                        <a:buChar char="•"/>
                      </a:pPr>
                      <a:r>
                        <a:rPr lang="en-US" dirty="0">
                          <a:solidFill>
                            <a:schemeClr val="tx1">
                              <a:lumMod val="50000"/>
                              <a:lumOff val="50000"/>
                            </a:schemeClr>
                          </a:solidFill>
                        </a:rPr>
                        <a:t> </a:t>
                      </a:r>
                      <a:r>
                        <a:rPr lang="en-US" sz="1800" b="1" kern="1200" dirty="0">
                          <a:solidFill>
                            <a:srgbClr val="7F7F7F"/>
                          </a:solidFill>
                          <a:latin typeface="+mn-lt"/>
                          <a:ea typeface="+mn-ea"/>
                          <a:cs typeface="+mn-cs"/>
                          <a:sym typeface="Symbol"/>
                        </a:rPr>
                        <a:t></a:t>
                      </a:r>
                      <a:r>
                        <a:rPr lang="en-US" sz="1800" b="0" kern="1200" dirty="0">
                          <a:solidFill>
                            <a:srgbClr val="7F7F7F"/>
                          </a:solidFill>
                          <a:latin typeface="+mn-lt"/>
                          <a:ea typeface="+mn-ea"/>
                          <a:cs typeface="+mn-cs"/>
                          <a:sym typeface="Symbol"/>
                        </a:rPr>
                        <a:t> Postprandial glucose</a:t>
                      </a:r>
                    </a:p>
                    <a:p>
                      <a:pPr>
                        <a:buFont typeface="Arial"/>
                        <a:buChar char="•"/>
                      </a:pPr>
                      <a:r>
                        <a:rPr lang="en-US" dirty="0">
                          <a:solidFill>
                            <a:srgbClr val="7F7F7F"/>
                          </a:solidFill>
                        </a:rPr>
                        <a:t> ? </a:t>
                      </a:r>
                      <a:r>
                        <a:rPr lang="en-US" sz="1800" b="1" kern="1200" dirty="0" err="1">
                          <a:solidFill>
                            <a:srgbClr val="7F7F7F"/>
                          </a:solidFill>
                          <a:latin typeface="+mn-lt"/>
                          <a:ea typeface="+mn-ea"/>
                          <a:cs typeface="+mn-cs"/>
                          <a:sym typeface="Symbol"/>
                        </a:rPr>
                        <a:t></a:t>
                      </a:r>
                      <a:r>
                        <a:rPr lang="en-US" b="1" dirty="0">
                          <a:solidFill>
                            <a:srgbClr val="7F7F7F"/>
                          </a:solidFill>
                        </a:rPr>
                        <a:t> </a:t>
                      </a:r>
                      <a:r>
                        <a:rPr lang="en-US" dirty="0">
                          <a:solidFill>
                            <a:srgbClr val="7F7F7F"/>
                          </a:solidFill>
                        </a:rPr>
                        <a:t>CVD events</a:t>
                      </a:r>
                    </a:p>
                  </a:txBody>
                  <a:tcPr marL="121920" marR="121920"/>
                </a:tc>
                <a:tc>
                  <a:txBody>
                    <a:bodyPr/>
                    <a:lstStyle/>
                    <a:p>
                      <a:pPr marL="0" marR="0" indent="0" algn="l" defTabSz="457200" rtl="0" eaLnBrk="1" fontAlgn="auto" latinLnBrk="0" hangingPunct="1">
                        <a:lnSpc>
                          <a:spcPct val="100000"/>
                        </a:lnSpc>
                        <a:spcBef>
                          <a:spcPts val="0"/>
                        </a:spcBef>
                        <a:spcAft>
                          <a:spcPts val="0"/>
                        </a:spcAft>
                        <a:buClrTx/>
                        <a:buSzTx/>
                        <a:buFont typeface="Arial"/>
                        <a:buChar char="•"/>
                        <a:tabLst/>
                        <a:defRPr/>
                      </a:pPr>
                      <a:r>
                        <a:rPr lang="en-US" dirty="0">
                          <a:solidFill>
                            <a:schemeClr val="tx1">
                              <a:lumMod val="50000"/>
                              <a:lumOff val="50000"/>
                            </a:schemeClr>
                          </a:solidFill>
                        </a:rPr>
                        <a:t> Gastrointestinal</a:t>
                      </a:r>
                    </a:p>
                    <a:p>
                      <a:pPr marL="0" marR="0" indent="0" algn="l" defTabSz="457200" rtl="0" eaLnBrk="1" fontAlgn="auto" latinLnBrk="0" hangingPunct="1">
                        <a:lnSpc>
                          <a:spcPct val="100000"/>
                        </a:lnSpc>
                        <a:spcBef>
                          <a:spcPts val="0"/>
                        </a:spcBef>
                        <a:spcAft>
                          <a:spcPts val="0"/>
                        </a:spcAft>
                        <a:buClrTx/>
                        <a:buSzTx/>
                        <a:buFont typeface="Arial"/>
                        <a:buChar char="•"/>
                        <a:tabLst/>
                        <a:defRPr/>
                      </a:pPr>
                      <a:r>
                        <a:rPr lang="en-US" dirty="0">
                          <a:solidFill>
                            <a:schemeClr val="tx1">
                              <a:lumMod val="50000"/>
                              <a:lumOff val="50000"/>
                            </a:schemeClr>
                          </a:solidFill>
                        </a:rPr>
                        <a:t> Dosing frequency</a:t>
                      </a:r>
                    </a:p>
                    <a:p>
                      <a:pPr marL="0" marR="0" indent="0" algn="l" defTabSz="457200" rtl="0" eaLnBrk="1" fontAlgn="auto" latinLnBrk="0" hangingPunct="1">
                        <a:lnSpc>
                          <a:spcPct val="100000"/>
                        </a:lnSpc>
                        <a:spcBef>
                          <a:spcPts val="0"/>
                        </a:spcBef>
                        <a:spcAft>
                          <a:spcPts val="0"/>
                        </a:spcAft>
                        <a:buClrTx/>
                        <a:buSzTx/>
                        <a:buFont typeface="Arial"/>
                        <a:buChar char="•"/>
                        <a:tabLst/>
                        <a:defRPr/>
                      </a:pPr>
                      <a:r>
                        <a:rPr lang="en-US" dirty="0">
                          <a:solidFill>
                            <a:schemeClr val="tx1">
                              <a:lumMod val="50000"/>
                              <a:lumOff val="50000"/>
                            </a:schemeClr>
                          </a:solidFill>
                        </a:rPr>
                        <a:t> Modest</a:t>
                      </a:r>
                      <a:r>
                        <a:rPr lang="en-US" baseline="0" dirty="0">
                          <a:solidFill>
                            <a:schemeClr val="tx1">
                              <a:lumMod val="50000"/>
                              <a:lumOff val="50000"/>
                            </a:schemeClr>
                          </a:solidFill>
                        </a:rPr>
                        <a:t> </a:t>
                      </a:r>
                      <a:r>
                        <a:rPr lang="en-US" sz="1800" b="1" kern="1200" dirty="0" err="1">
                          <a:solidFill>
                            <a:schemeClr val="tx1">
                              <a:lumMod val="50000"/>
                              <a:lumOff val="50000"/>
                            </a:schemeClr>
                          </a:solidFill>
                          <a:latin typeface="+mn-lt"/>
                          <a:ea typeface="+mn-ea"/>
                          <a:cs typeface="+mn-cs"/>
                          <a:sym typeface="Symbol"/>
                        </a:rPr>
                        <a:t></a:t>
                      </a:r>
                      <a:r>
                        <a:rPr lang="en-US" sz="1800" b="1" kern="1200" dirty="0">
                          <a:solidFill>
                            <a:schemeClr val="tx1">
                              <a:lumMod val="50000"/>
                              <a:lumOff val="50000"/>
                            </a:schemeClr>
                          </a:solidFill>
                          <a:latin typeface="+mn-lt"/>
                          <a:ea typeface="+mn-ea"/>
                          <a:cs typeface="+mn-cs"/>
                          <a:sym typeface="Symbol"/>
                        </a:rPr>
                        <a:t> </a:t>
                      </a:r>
                      <a:r>
                        <a:rPr lang="en-US" baseline="0" dirty="0">
                          <a:solidFill>
                            <a:schemeClr val="tx1">
                              <a:lumMod val="50000"/>
                              <a:lumOff val="50000"/>
                            </a:schemeClr>
                          </a:solidFill>
                        </a:rPr>
                        <a:t>A1c</a:t>
                      </a:r>
                      <a:endParaRPr lang="en-US" dirty="0">
                        <a:solidFill>
                          <a:schemeClr val="tx1">
                            <a:lumMod val="50000"/>
                            <a:lumOff val="50000"/>
                          </a:schemeClr>
                        </a:solidFill>
                      </a:endParaRPr>
                    </a:p>
                  </a:txBody>
                  <a:tcPr marL="121920" marR="121920"/>
                </a:tc>
                <a:extLst>
                  <a:ext uri="{0D108BD9-81ED-4DB2-BD59-A6C34878D82A}">
                    <a16:rowId xmlns:a16="http://schemas.microsoft.com/office/drawing/2014/main" val="10001"/>
                  </a:ext>
                </a:extLst>
              </a:tr>
              <a:tr h="900525">
                <a:tc>
                  <a:txBody>
                    <a:bodyPr/>
                    <a:lstStyle/>
                    <a:p>
                      <a:r>
                        <a:rPr lang="en-US" b="1" dirty="0">
                          <a:solidFill>
                            <a:srgbClr val="000000"/>
                          </a:solidFill>
                        </a:rPr>
                        <a:t>DPP-4</a:t>
                      </a:r>
                    </a:p>
                    <a:p>
                      <a:r>
                        <a:rPr lang="en-US" b="1" dirty="0">
                          <a:solidFill>
                            <a:srgbClr val="000000"/>
                          </a:solidFill>
                        </a:rPr>
                        <a:t>inhibitors</a:t>
                      </a:r>
                    </a:p>
                  </a:txBody>
                  <a:tcPr marL="121920" marR="121920"/>
                </a:tc>
                <a:tc>
                  <a:txBody>
                    <a:bodyPr/>
                    <a:lstStyle/>
                    <a:p>
                      <a:pPr>
                        <a:buFont typeface="Arial"/>
                        <a:buChar char="•"/>
                      </a:pPr>
                      <a:r>
                        <a:rPr lang="en-US" dirty="0">
                          <a:solidFill>
                            <a:srgbClr val="000000"/>
                          </a:solidFill>
                        </a:rPr>
                        <a:t> Inhibits DPP-4</a:t>
                      </a:r>
                    </a:p>
                    <a:p>
                      <a:pPr>
                        <a:buFont typeface="Arial"/>
                        <a:buChar char="•"/>
                      </a:pPr>
                      <a:r>
                        <a:rPr lang="en-US" dirty="0">
                          <a:solidFill>
                            <a:srgbClr val="000000"/>
                          </a:solidFill>
                        </a:rPr>
                        <a:t> Increases </a:t>
                      </a:r>
                      <a:r>
                        <a:rPr lang="en-US" dirty="0" err="1">
                          <a:solidFill>
                            <a:srgbClr val="000000"/>
                          </a:solidFill>
                        </a:rPr>
                        <a:t>incretin</a:t>
                      </a:r>
                      <a:r>
                        <a:rPr lang="en-US" dirty="0">
                          <a:solidFill>
                            <a:srgbClr val="000000"/>
                          </a:solidFill>
                        </a:rPr>
                        <a:t> (GLP-1, GIP) levels</a:t>
                      </a:r>
                    </a:p>
                  </a:txBody>
                  <a:tcPr marL="121920" marR="121920"/>
                </a:tc>
                <a:tc>
                  <a:txBody>
                    <a:bodyPr/>
                    <a:lstStyle/>
                    <a:p>
                      <a:pPr marL="0" marR="0" indent="0" algn="l" defTabSz="457200" rtl="0" eaLnBrk="1" fontAlgn="auto" latinLnBrk="0" hangingPunct="1">
                        <a:lnSpc>
                          <a:spcPct val="100000"/>
                        </a:lnSpc>
                        <a:spcBef>
                          <a:spcPts val="0"/>
                        </a:spcBef>
                        <a:spcAft>
                          <a:spcPts val="0"/>
                        </a:spcAft>
                        <a:buClrTx/>
                        <a:buSzTx/>
                        <a:buFont typeface="Arial"/>
                        <a:buChar char="•"/>
                        <a:tabLst/>
                        <a:defRPr/>
                      </a:pPr>
                      <a:r>
                        <a:rPr lang="en-US" dirty="0">
                          <a:solidFill>
                            <a:srgbClr val="000000"/>
                          </a:solidFill>
                        </a:rPr>
                        <a:t> No hypoglycemia</a:t>
                      </a:r>
                    </a:p>
                    <a:p>
                      <a:pPr>
                        <a:buFont typeface="Arial"/>
                        <a:buChar char="•"/>
                      </a:pPr>
                      <a:r>
                        <a:rPr lang="en-US" dirty="0">
                          <a:solidFill>
                            <a:srgbClr val="000000"/>
                          </a:solidFill>
                        </a:rPr>
                        <a:t> Well tolerated</a:t>
                      </a:r>
                    </a:p>
                  </a:txBody>
                  <a:tcPr marL="121920" marR="121920"/>
                </a:tc>
                <a:tc>
                  <a:txBody>
                    <a:bodyPr/>
                    <a:lstStyle/>
                    <a:p>
                      <a:pPr marL="0" marR="0" indent="0" algn="l" defTabSz="457200" rtl="0" eaLnBrk="1" fontAlgn="auto" latinLnBrk="0" hangingPunct="1">
                        <a:lnSpc>
                          <a:spcPct val="100000"/>
                        </a:lnSpc>
                        <a:spcBef>
                          <a:spcPts val="0"/>
                        </a:spcBef>
                        <a:spcAft>
                          <a:spcPts val="0"/>
                        </a:spcAft>
                        <a:buClrTx/>
                        <a:buSzTx/>
                        <a:buFont typeface="Arial"/>
                        <a:buChar char="•"/>
                        <a:tabLst/>
                        <a:defRPr/>
                      </a:pPr>
                      <a:r>
                        <a:rPr lang="en-US" dirty="0">
                          <a:solidFill>
                            <a:srgbClr val="000000"/>
                          </a:solidFill>
                        </a:rPr>
                        <a:t> Angioedema / </a:t>
                      </a:r>
                      <a:r>
                        <a:rPr lang="en-US" dirty="0" err="1">
                          <a:solidFill>
                            <a:srgbClr val="000000"/>
                          </a:solidFill>
                        </a:rPr>
                        <a:t>urticaria</a:t>
                      </a:r>
                      <a:endParaRPr lang="en-US" dirty="0">
                        <a:solidFill>
                          <a:srgbClr val="000000"/>
                        </a:solidFill>
                      </a:endParaRPr>
                    </a:p>
                    <a:p>
                      <a:pPr marL="0" marR="0" indent="0" algn="l" defTabSz="457200" rtl="0" eaLnBrk="1" fontAlgn="auto" latinLnBrk="0" hangingPunct="1">
                        <a:lnSpc>
                          <a:spcPct val="100000"/>
                        </a:lnSpc>
                        <a:spcBef>
                          <a:spcPts val="0"/>
                        </a:spcBef>
                        <a:spcAft>
                          <a:spcPts val="0"/>
                        </a:spcAft>
                        <a:buClrTx/>
                        <a:buSzTx/>
                        <a:buFont typeface="Arial"/>
                        <a:buChar char="•"/>
                        <a:tabLst/>
                        <a:defRPr/>
                      </a:pPr>
                      <a:r>
                        <a:rPr lang="en-US" dirty="0">
                          <a:solidFill>
                            <a:srgbClr val="000000"/>
                          </a:solidFill>
                        </a:rPr>
                        <a:t> ? Pancreatitis</a:t>
                      </a:r>
                    </a:p>
                    <a:p>
                      <a:pPr marL="0" marR="0" indent="0" algn="l" defTabSz="457200" rtl="0" eaLnBrk="1" fontAlgn="auto" latinLnBrk="0" hangingPunct="1">
                        <a:lnSpc>
                          <a:spcPct val="100000"/>
                        </a:lnSpc>
                        <a:spcBef>
                          <a:spcPts val="0"/>
                        </a:spcBef>
                        <a:spcAft>
                          <a:spcPts val="0"/>
                        </a:spcAft>
                        <a:buClrTx/>
                        <a:buSzTx/>
                        <a:buFont typeface="Arial"/>
                        <a:buChar char="•"/>
                        <a:tabLst/>
                        <a:defRPr/>
                      </a:pPr>
                      <a:r>
                        <a:rPr lang="en-US" dirty="0">
                          <a:solidFill>
                            <a:srgbClr val="000000"/>
                          </a:solidFill>
                        </a:rPr>
                        <a:t> ? </a:t>
                      </a:r>
                      <a:r>
                        <a:rPr lang="en-US" sz="1800" b="1" kern="1200" dirty="0">
                          <a:solidFill>
                            <a:srgbClr val="000000"/>
                          </a:solidFill>
                          <a:latin typeface="+mn-lt"/>
                          <a:ea typeface="+mn-ea"/>
                          <a:cs typeface="+mn-cs"/>
                          <a:sym typeface="Symbol"/>
                        </a:rPr>
                        <a:t> </a:t>
                      </a:r>
                      <a:r>
                        <a:rPr lang="en-US" dirty="0">
                          <a:solidFill>
                            <a:srgbClr val="000000"/>
                          </a:solidFill>
                        </a:rPr>
                        <a:t>Heart</a:t>
                      </a:r>
                      <a:r>
                        <a:rPr lang="en-US" baseline="0" dirty="0">
                          <a:solidFill>
                            <a:srgbClr val="000000"/>
                          </a:solidFill>
                        </a:rPr>
                        <a:t> failure</a:t>
                      </a:r>
                    </a:p>
                    <a:p>
                      <a:pPr marL="0" marR="0" indent="0" algn="l" defTabSz="457200" rtl="0" eaLnBrk="1" fontAlgn="auto" latinLnBrk="0" hangingPunct="1">
                        <a:lnSpc>
                          <a:spcPct val="100000"/>
                        </a:lnSpc>
                        <a:spcBef>
                          <a:spcPts val="0"/>
                        </a:spcBef>
                        <a:spcAft>
                          <a:spcPts val="0"/>
                        </a:spcAft>
                        <a:buClrTx/>
                        <a:buSzTx/>
                        <a:buFont typeface="Arial"/>
                        <a:buChar char="•"/>
                        <a:tabLst/>
                        <a:defRPr/>
                      </a:pPr>
                      <a:r>
                        <a:rPr lang="en-US" dirty="0">
                          <a:solidFill>
                            <a:srgbClr val="000000"/>
                          </a:solidFill>
                        </a:rPr>
                        <a:t>Cost</a:t>
                      </a:r>
                    </a:p>
                  </a:txBody>
                  <a:tcPr marL="121920" marR="121920"/>
                </a:tc>
                <a:extLst>
                  <a:ext uri="{0D108BD9-81ED-4DB2-BD59-A6C34878D82A}">
                    <a16:rowId xmlns:a16="http://schemas.microsoft.com/office/drawing/2014/main" val="10002"/>
                  </a:ext>
                </a:extLst>
              </a:tr>
              <a:tr h="929590">
                <a:tc>
                  <a:txBody>
                    <a:bodyPr/>
                    <a:lstStyle/>
                    <a:p>
                      <a:r>
                        <a:rPr lang="en-US" b="1" dirty="0">
                          <a:solidFill>
                            <a:schemeClr val="tx1">
                              <a:lumMod val="50000"/>
                              <a:lumOff val="50000"/>
                            </a:schemeClr>
                          </a:solidFill>
                        </a:rPr>
                        <a:t>Bile acid</a:t>
                      </a:r>
                      <a:r>
                        <a:rPr lang="en-US" b="1" baseline="0" dirty="0">
                          <a:solidFill>
                            <a:schemeClr val="tx1">
                              <a:lumMod val="50000"/>
                              <a:lumOff val="50000"/>
                            </a:schemeClr>
                          </a:solidFill>
                        </a:rPr>
                        <a:t> </a:t>
                      </a:r>
                      <a:r>
                        <a:rPr lang="en-US" b="1" baseline="0" dirty="0" err="1">
                          <a:solidFill>
                            <a:schemeClr val="tx1">
                              <a:lumMod val="50000"/>
                              <a:lumOff val="50000"/>
                            </a:schemeClr>
                          </a:solidFill>
                        </a:rPr>
                        <a:t>sequestrants</a:t>
                      </a:r>
                      <a:endParaRPr lang="en-US" b="1" dirty="0">
                        <a:solidFill>
                          <a:schemeClr val="tx1">
                            <a:lumMod val="50000"/>
                            <a:lumOff val="50000"/>
                          </a:schemeClr>
                        </a:solidFill>
                      </a:endParaRPr>
                    </a:p>
                  </a:txBody>
                  <a:tcPr marL="121920" marR="121920"/>
                </a:tc>
                <a:tc>
                  <a:txBody>
                    <a:bodyPr/>
                    <a:lstStyle/>
                    <a:p>
                      <a:pPr marL="0" marR="0" indent="0" algn="l" defTabSz="457200" rtl="0" eaLnBrk="1" fontAlgn="auto" latinLnBrk="0" hangingPunct="1">
                        <a:lnSpc>
                          <a:spcPct val="100000"/>
                        </a:lnSpc>
                        <a:spcBef>
                          <a:spcPts val="0"/>
                        </a:spcBef>
                        <a:spcAft>
                          <a:spcPts val="0"/>
                        </a:spcAft>
                        <a:buClrTx/>
                        <a:buSzTx/>
                        <a:buFont typeface="Arial"/>
                        <a:buChar char="•"/>
                        <a:tabLst/>
                        <a:defRPr/>
                      </a:pPr>
                      <a:r>
                        <a:rPr lang="en-US" dirty="0">
                          <a:solidFill>
                            <a:schemeClr val="tx1">
                              <a:lumMod val="50000"/>
                              <a:lumOff val="50000"/>
                            </a:schemeClr>
                          </a:solidFill>
                        </a:rPr>
                        <a:t> Bind bile acids</a:t>
                      </a:r>
                    </a:p>
                    <a:p>
                      <a:pPr marL="0" marR="0" indent="0" algn="l" defTabSz="457200" rtl="0" eaLnBrk="1" fontAlgn="auto" latinLnBrk="0" hangingPunct="1">
                        <a:lnSpc>
                          <a:spcPct val="100000"/>
                        </a:lnSpc>
                        <a:spcBef>
                          <a:spcPts val="0"/>
                        </a:spcBef>
                        <a:spcAft>
                          <a:spcPts val="0"/>
                        </a:spcAft>
                        <a:buClrTx/>
                        <a:buSzTx/>
                        <a:buFont typeface="Arial"/>
                        <a:buChar char="•"/>
                        <a:tabLst/>
                        <a:defRPr/>
                      </a:pPr>
                      <a:r>
                        <a:rPr lang="en-US" sz="1800" b="1" kern="1200" baseline="0" dirty="0">
                          <a:solidFill>
                            <a:schemeClr val="tx1">
                              <a:lumMod val="50000"/>
                              <a:lumOff val="50000"/>
                            </a:schemeClr>
                          </a:solidFill>
                          <a:latin typeface="+mn-lt"/>
                          <a:ea typeface="+mn-ea"/>
                          <a:cs typeface="+mn-cs"/>
                          <a:sym typeface="Symbol"/>
                        </a:rPr>
                        <a:t> </a:t>
                      </a:r>
                      <a:r>
                        <a:rPr lang="en-US" baseline="0" dirty="0">
                          <a:solidFill>
                            <a:schemeClr val="tx1">
                              <a:lumMod val="50000"/>
                              <a:lumOff val="50000"/>
                            </a:schemeClr>
                          </a:solidFill>
                        </a:rPr>
                        <a:t>? </a:t>
                      </a:r>
                      <a:r>
                        <a:rPr lang="en-US" sz="1800" b="1" kern="1200" dirty="0">
                          <a:solidFill>
                            <a:schemeClr val="tx1">
                              <a:lumMod val="50000"/>
                              <a:lumOff val="50000"/>
                            </a:schemeClr>
                          </a:solidFill>
                          <a:latin typeface="+mn-lt"/>
                          <a:ea typeface="+mn-ea"/>
                          <a:cs typeface="+mn-cs"/>
                          <a:sym typeface="Symbol"/>
                        </a:rPr>
                        <a:t></a:t>
                      </a:r>
                      <a:r>
                        <a:rPr lang="en-US" b="1" dirty="0">
                          <a:solidFill>
                            <a:schemeClr val="tx1">
                              <a:lumMod val="50000"/>
                              <a:lumOff val="50000"/>
                            </a:schemeClr>
                          </a:solidFill>
                        </a:rPr>
                        <a:t> </a:t>
                      </a:r>
                      <a:r>
                        <a:rPr lang="en-US" baseline="0" dirty="0">
                          <a:solidFill>
                            <a:schemeClr val="tx1">
                              <a:lumMod val="50000"/>
                              <a:lumOff val="50000"/>
                            </a:schemeClr>
                          </a:solidFill>
                        </a:rPr>
                        <a:t>Hepatic glucose production</a:t>
                      </a:r>
                    </a:p>
                  </a:txBody>
                  <a:tcPr marL="121920" marR="121920"/>
                </a:tc>
                <a:tc>
                  <a:txBody>
                    <a:bodyPr/>
                    <a:lstStyle/>
                    <a:p>
                      <a:pPr>
                        <a:buFont typeface="Arial"/>
                        <a:buChar char="•"/>
                      </a:pPr>
                      <a:r>
                        <a:rPr lang="en-US" dirty="0">
                          <a:solidFill>
                            <a:schemeClr val="tx1">
                              <a:lumMod val="50000"/>
                              <a:lumOff val="50000"/>
                            </a:schemeClr>
                          </a:solidFill>
                        </a:rPr>
                        <a:t> No hypoglycemia</a:t>
                      </a:r>
                    </a:p>
                    <a:p>
                      <a:pPr>
                        <a:buFont typeface="Arial"/>
                        <a:buChar char="•"/>
                      </a:pPr>
                      <a:r>
                        <a:rPr lang="en-US" dirty="0">
                          <a:solidFill>
                            <a:schemeClr val="tx1">
                              <a:lumMod val="50000"/>
                              <a:lumOff val="50000"/>
                            </a:schemeClr>
                          </a:solidFill>
                        </a:rPr>
                        <a:t> </a:t>
                      </a:r>
                      <a:r>
                        <a:rPr lang="en-US" sz="1800" b="0" kern="1200" dirty="0">
                          <a:solidFill>
                            <a:schemeClr val="tx1">
                              <a:lumMod val="50000"/>
                              <a:lumOff val="50000"/>
                            </a:schemeClr>
                          </a:solidFill>
                          <a:latin typeface="+mn-lt"/>
                          <a:ea typeface="+mn-ea"/>
                          <a:cs typeface="+mn-cs"/>
                          <a:sym typeface="Symbol"/>
                        </a:rPr>
                        <a:t> LDL-C</a:t>
                      </a:r>
                      <a:endParaRPr lang="en-US" dirty="0">
                        <a:solidFill>
                          <a:schemeClr val="tx1">
                            <a:lumMod val="50000"/>
                            <a:lumOff val="50000"/>
                          </a:schemeClr>
                        </a:solidFill>
                      </a:endParaRPr>
                    </a:p>
                  </a:txBody>
                  <a:tcPr marL="121920" marR="121920"/>
                </a:tc>
                <a:tc>
                  <a:txBody>
                    <a:bodyPr/>
                    <a:lstStyle/>
                    <a:p>
                      <a:pPr marL="0" marR="0" indent="0" algn="l" defTabSz="457200" rtl="0" eaLnBrk="1" fontAlgn="auto" latinLnBrk="0" hangingPunct="1">
                        <a:lnSpc>
                          <a:spcPct val="100000"/>
                        </a:lnSpc>
                        <a:spcBef>
                          <a:spcPts val="0"/>
                        </a:spcBef>
                        <a:spcAft>
                          <a:spcPts val="0"/>
                        </a:spcAft>
                        <a:buClrTx/>
                        <a:buSzTx/>
                        <a:buFont typeface="Arial"/>
                        <a:buChar char="•"/>
                        <a:tabLst/>
                        <a:defRPr/>
                      </a:pPr>
                      <a:r>
                        <a:rPr lang="en-US" dirty="0">
                          <a:solidFill>
                            <a:schemeClr val="tx1">
                              <a:lumMod val="50000"/>
                              <a:lumOff val="50000"/>
                            </a:schemeClr>
                          </a:solidFill>
                        </a:rPr>
                        <a:t> Gastrointestinal</a:t>
                      </a:r>
                    </a:p>
                    <a:p>
                      <a:pPr marL="0" marR="0" indent="0" algn="l" defTabSz="457200" rtl="0" eaLnBrk="1" fontAlgn="auto" latinLnBrk="0" hangingPunct="1">
                        <a:lnSpc>
                          <a:spcPct val="100000"/>
                        </a:lnSpc>
                        <a:spcBef>
                          <a:spcPts val="0"/>
                        </a:spcBef>
                        <a:spcAft>
                          <a:spcPts val="0"/>
                        </a:spcAft>
                        <a:buClrTx/>
                        <a:buSzTx/>
                        <a:buFont typeface="Arial"/>
                        <a:buChar char="•"/>
                        <a:tabLst/>
                        <a:defRPr/>
                      </a:pPr>
                      <a:r>
                        <a:rPr lang="en-US" dirty="0">
                          <a:solidFill>
                            <a:schemeClr val="tx1">
                              <a:lumMod val="50000"/>
                              <a:lumOff val="50000"/>
                            </a:schemeClr>
                          </a:solidFill>
                        </a:rPr>
                        <a:t> Modest</a:t>
                      </a:r>
                      <a:r>
                        <a:rPr lang="en-US" baseline="0" dirty="0">
                          <a:solidFill>
                            <a:schemeClr val="tx1">
                              <a:lumMod val="50000"/>
                              <a:lumOff val="50000"/>
                            </a:schemeClr>
                          </a:solidFill>
                        </a:rPr>
                        <a:t> </a:t>
                      </a:r>
                      <a:r>
                        <a:rPr lang="en-US" sz="1800" b="1" kern="1200" dirty="0" err="1">
                          <a:solidFill>
                            <a:schemeClr val="tx1">
                              <a:lumMod val="50000"/>
                              <a:lumOff val="50000"/>
                            </a:schemeClr>
                          </a:solidFill>
                          <a:latin typeface="+mn-lt"/>
                          <a:ea typeface="+mn-ea"/>
                          <a:cs typeface="+mn-cs"/>
                          <a:sym typeface="Symbol"/>
                        </a:rPr>
                        <a:t></a:t>
                      </a:r>
                      <a:r>
                        <a:rPr lang="en-US" sz="1800" b="1" kern="1200" dirty="0">
                          <a:solidFill>
                            <a:schemeClr val="tx1">
                              <a:lumMod val="50000"/>
                              <a:lumOff val="50000"/>
                            </a:schemeClr>
                          </a:solidFill>
                          <a:latin typeface="+mn-lt"/>
                          <a:ea typeface="+mn-ea"/>
                          <a:cs typeface="+mn-cs"/>
                          <a:sym typeface="Symbol"/>
                        </a:rPr>
                        <a:t> </a:t>
                      </a:r>
                      <a:r>
                        <a:rPr lang="en-US" baseline="0" dirty="0">
                          <a:solidFill>
                            <a:schemeClr val="tx1">
                              <a:lumMod val="50000"/>
                              <a:lumOff val="50000"/>
                            </a:schemeClr>
                          </a:solidFill>
                        </a:rPr>
                        <a:t>A1c</a:t>
                      </a:r>
                    </a:p>
                    <a:p>
                      <a:pPr marL="0" marR="0" indent="0" algn="l" defTabSz="457200" rtl="0" eaLnBrk="1" fontAlgn="auto" latinLnBrk="0" hangingPunct="1">
                        <a:lnSpc>
                          <a:spcPct val="100000"/>
                        </a:lnSpc>
                        <a:spcBef>
                          <a:spcPts val="0"/>
                        </a:spcBef>
                        <a:spcAft>
                          <a:spcPts val="0"/>
                        </a:spcAft>
                        <a:buClrTx/>
                        <a:buSzTx/>
                        <a:buFont typeface="Arial"/>
                        <a:buChar char="•"/>
                        <a:tabLst/>
                        <a:defRPr/>
                      </a:pPr>
                      <a:r>
                        <a:rPr lang="en-US" baseline="0" dirty="0">
                          <a:solidFill>
                            <a:schemeClr val="tx1">
                              <a:lumMod val="50000"/>
                              <a:lumOff val="50000"/>
                            </a:schemeClr>
                          </a:solidFill>
                        </a:rPr>
                        <a:t> </a:t>
                      </a:r>
                      <a:r>
                        <a:rPr lang="en-US" dirty="0">
                          <a:solidFill>
                            <a:schemeClr val="tx1">
                              <a:lumMod val="50000"/>
                              <a:lumOff val="50000"/>
                            </a:schemeClr>
                          </a:solidFill>
                        </a:rPr>
                        <a:t>Dosing frequency</a:t>
                      </a:r>
                    </a:p>
                    <a:p>
                      <a:pPr marL="0" marR="0" indent="0" algn="l" defTabSz="457200" rtl="0" eaLnBrk="1" fontAlgn="auto" latinLnBrk="0" hangingPunct="1">
                        <a:lnSpc>
                          <a:spcPct val="100000"/>
                        </a:lnSpc>
                        <a:spcBef>
                          <a:spcPts val="0"/>
                        </a:spcBef>
                        <a:spcAft>
                          <a:spcPts val="0"/>
                        </a:spcAft>
                        <a:buClrTx/>
                        <a:buSzTx/>
                        <a:buFont typeface="Arial"/>
                        <a:buChar char="•"/>
                        <a:tabLst/>
                        <a:defRPr/>
                      </a:pPr>
                      <a:r>
                        <a:rPr lang="en-US" dirty="0">
                          <a:solidFill>
                            <a:schemeClr val="tx1">
                              <a:lumMod val="50000"/>
                              <a:lumOff val="50000"/>
                            </a:schemeClr>
                          </a:solidFill>
                        </a:rPr>
                        <a:t>Cost</a:t>
                      </a:r>
                    </a:p>
                  </a:txBody>
                  <a:tcPr marL="121920" marR="121920"/>
                </a:tc>
                <a:extLst>
                  <a:ext uri="{0D108BD9-81ED-4DB2-BD59-A6C34878D82A}">
                    <a16:rowId xmlns:a16="http://schemas.microsoft.com/office/drawing/2014/main" val="10003"/>
                  </a:ext>
                </a:extLst>
              </a:tr>
              <a:tr h="1129403">
                <a:tc>
                  <a:txBody>
                    <a:bodyPr/>
                    <a:lstStyle/>
                    <a:p>
                      <a:r>
                        <a:rPr lang="en-US" b="1" dirty="0">
                          <a:solidFill>
                            <a:schemeClr val="tx1">
                              <a:lumMod val="50000"/>
                              <a:lumOff val="50000"/>
                            </a:schemeClr>
                          </a:solidFill>
                        </a:rPr>
                        <a:t>Dopamine-2</a:t>
                      </a:r>
                    </a:p>
                    <a:p>
                      <a:r>
                        <a:rPr lang="en-US" b="1" dirty="0">
                          <a:solidFill>
                            <a:schemeClr val="tx1">
                              <a:lumMod val="50000"/>
                              <a:lumOff val="50000"/>
                            </a:schemeClr>
                          </a:solidFill>
                        </a:rPr>
                        <a:t>agonists</a:t>
                      </a:r>
                    </a:p>
                  </a:txBody>
                  <a:tcPr marL="121920" marR="121920"/>
                </a:tc>
                <a:tc>
                  <a:txBody>
                    <a:bodyPr/>
                    <a:lstStyle/>
                    <a:p>
                      <a:pPr marL="0" marR="0" indent="0" algn="l" defTabSz="457200" rtl="0" eaLnBrk="1" fontAlgn="auto" latinLnBrk="0" hangingPunct="1">
                        <a:lnSpc>
                          <a:spcPct val="100000"/>
                        </a:lnSpc>
                        <a:spcBef>
                          <a:spcPts val="0"/>
                        </a:spcBef>
                        <a:spcAft>
                          <a:spcPts val="0"/>
                        </a:spcAft>
                        <a:buClrTx/>
                        <a:buSzTx/>
                        <a:buFont typeface="Arial"/>
                        <a:buChar char="•"/>
                        <a:tabLst/>
                        <a:defRPr/>
                      </a:pPr>
                      <a:r>
                        <a:rPr lang="en-US" dirty="0">
                          <a:solidFill>
                            <a:schemeClr val="tx1">
                              <a:lumMod val="50000"/>
                              <a:lumOff val="50000"/>
                            </a:schemeClr>
                          </a:solidFill>
                        </a:rPr>
                        <a:t> Activates DA</a:t>
                      </a:r>
                      <a:r>
                        <a:rPr lang="en-US" baseline="0" dirty="0">
                          <a:solidFill>
                            <a:schemeClr val="tx1">
                              <a:lumMod val="50000"/>
                              <a:lumOff val="50000"/>
                            </a:schemeClr>
                          </a:solidFill>
                        </a:rPr>
                        <a:t> receptor</a:t>
                      </a:r>
                    </a:p>
                    <a:p>
                      <a:pPr marL="0" marR="0" indent="0" algn="l" defTabSz="457200" rtl="0" eaLnBrk="1" fontAlgn="auto" latinLnBrk="0" hangingPunct="1">
                        <a:lnSpc>
                          <a:spcPct val="100000"/>
                        </a:lnSpc>
                        <a:spcBef>
                          <a:spcPts val="0"/>
                        </a:spcBef>
                        <a:spcAft>
                          <a:spcPts val="0"/>
                        </a:spcAft>
                        <a:buClrTx/>
                        <a:buSzTx/>
                        <a:buFont typeface="Arial"/>
                        <a:buChar char="•"/>
                        <a:tabLst/>
                        <a:defRPr/>
                      </a:pPr>
                      <a:r>
                        <a:rPr lang="en-US" baseline="0" dirty="0">
                          <a:solidFill>
                            <a:schemeClr val="tx1">
                              <a:lumMod val="50000"/>
                              <a:lumOff val="50000"/>
                            </a:schemeClr>
                          </a:solidFill>
                        </a:rPr>
                        <a:t> Alters hypothalamic control of metabolism</a:t>
                      </a:r>
                    </a:p>
                    <a:p>
                      <a:pPr marL="0" marR="0" indent="0" algn="l" defTabSz="457200" rtl="0" eaLnBrk="1" fontAlgn="auto" latinLnBrk="0" hangingPunct="1">
                        <a:lnSpc>
                          <a:spcPct val="100000"/>
                        </a:lnSpc>
                        <a:spcBef>
                          <a:spcPts val="0"/>
                        </a:spcBef>
                        <a:spcAft>
                          <a:spcPts val="0"/>
                        </a:spcAft>
                        <a:buClrTx/>
                        <a:buSzTx/>
                        <a:buFont typeface="Arial"/>
                        <a:buChar char="•"/>
                        <a:tabLst/>
                        <a:defRPr/>
                      </a:pPr>
                      <a:r>
                        <a:rPr lang="en-US" baseline="0" dirty="0">
                          <a:solidFill>
                            <a:schemeClr val="tx1">
                              <a:lumMod val="50000"/>
                              <a:lumOff val="50000"/>
                            </a:schemeClr>
                          </a:solidFill>
                        </a:rPr>
                        <a:t> </a:t>
                      </a:r>
                      <a:r>
                        <a:rPr lang="en-US" sz="1800" b="1" kern="1200" dirty="0" err="1">
                          <a:solidFill>
                            <a:schemeClr val="tx1">
                              <a:lumMod val="50000"/>
                              <a:lumOff val="50000"/>
                            </a:schemeClr>
                          </a:solidFill>
                          <a:latin typeface="+mn-lt"/>
                          <a:ea typeface="+mn-ea"/>
                          <a:cs typeface="+mn-cs"/>
                          <a:sym typeface="Symbol"/>
                        </a:rPr>
                        <a:t></a:t>
                      </a:r>
                      <a:r>
                        <a:rPr lang="en-US" b="1" dirty="0">
                          <a:solidFill>
                            <a:schemeClr val="tx1">
                              <a:lumMod val="50000"/>
                              <a:lumOff val="50000"/>
                            </a:schemeClr>
                          </a:solidFill>
                        </a:rPr>
                        <a:t> </a:t>
                      </a:r>
                      <a:r>
                        <a:rPr lang="en-US" baseline="0" dirty="0">
                          <a:solidFill>
                            <a:schemeClr val="tx1">
                              <a:lumMod val="50000"/>
                              <a:lumOff val="50000"/>
                            </a:schemeClr>
                          </a:solidFill>
                        </a:rPr>
                        <a:t>insulin sensitivity</a:t>
                      </a:r>
                      <a:endParaRPr lang="en-US" dirty="0">
                        <a:solidFill>
                          <a:schemeClr val="tx1">
                            <a:lumMod val="50000"/>
                            <a:lumOff val="50000"/>
                          </a:schemeClr>
                        </a:solidFill>
                      </a:endParaRPr>
                    </a:p>
                  </a:txBody>
                  <a:tcPr marL="121920" marR="121920"/>
                </a:tc>
                <a:tc>
                  <a:txBody>
                    <a:bodyPr/>
                    <a:lstStyle/>
                    <a:p>
                      <a:pPr>
                        <a:buFont typeface="Arial"/>
                        <a:buChar char="•"/>
                      </a:pPr>
                      <a:r>
                        <a:rPr lang="en-US" dirty="0">
                          <a:solidFill>
                            <a:schemeClr val="tx1">
                              <a:lumMod val="50000"/>
                              <a:lumOff val="50000"/>
                            </a:schemeClr>
                          </a:solidFill>
                        </a:rPr>
                        <a:t> No </a:t>
                      </a:r>
                      <a:r>
                        <a:rPr lang="en-US" dirty="0" err="1">
                          <a:solidFill>
                            <a:schemeClr val="tx1">
                              <a:lumMod val="50000"/>
                              <a:lumOff val="50000"/>
                            </a:schemeClr>
                          </a:solidFill>
                        </a:rPr>
                        <a:t>hypoglyemia</a:t>
                      </a:r>
                      <a:endParaRPr lang="en-US" dirty="0">
                        <a:solidFill>
                          <a:schemeClr val="tx1">
                            <a:lumMod val="50000"/>
                            <a:lumOff val="50000"/>
                          </a:schemeClr>
                        </a:solidFill>
                      </a:endParaRPr>
                    </a:p>
                    <a:p>
                      <a:pPr>
                        <a:buFont typeface="Arial"/>
                        <a:buChar char="•"/>
                      </a:pPr>
                      <a:r>
                        <a:rPr lang="en-US" sz="1800" b="1" kern="1200" dirty="0">
                          <a:solidFill>
                            <a:schemeClr val="tx1">
                              <a:lumMod val="50000"/>
                              <a:lumOff val="50000"/>
                            </a:schemeClr>
                          </a:solidFill>
                          <a:latin typeface="+mn-lt"/>
                          <a:ea typeface="+mn-ea"/>
                          <a:cs typeface="+mn-cs"/>
                          <a:sym typeface="Symbol"/>
                        </a:rPr>
                        <a:t> ? </a:t>
                      </a:r>
                      <a:r>
                        <a:rPr lang="en-US" sz="1800" b="1" kern="1200" dirty="0" err="1">
                          <a:solidFill>
                            <a:schemeClr val="tx1">
                              <a:lumMod val="50000"/>
                              <a:lumOff val="50000"/>
                            </a:schemeClr>
                          </a:solidFill>
                          <a:latin typeface="+mn-lt"/>
                          <a:ea typeface="+mn-ea"/>
                          <a:cs typeface="+mn-cs"/>
                          <a:sym typeface="Symbol"/>
                        </a:rPr>
                        <a:t></a:t>
                      </a:r>
                      <a:r>
                        <a:rPr lang="en-US" b="1" dirty="0">
                          <a:solidFill>
                            <a:schemeClr val="tx1">
                              <a:lumMod val="50000"/>
                              <a:lumOff val="50000"/>
                            </a:schemeClr>
                          </a:solidFill>
                        </a:rPr>
                        <a:t> </a:t>
                      </a:r>
                      <a:r>
                        <a:rPr lang="en-US" dirty="0">
                          <a:solidFill>
                            <a:schemeClr val="tx1">
                              <a:lumMod val="50000"/>
                              <a:lumOff val="50000"/>
                            </a:schemeClr>
                          </a:solidFill>
                        </a:rPr>
                        <a:t>CVD events</a:t>
                      </a:r>
                    </a:p>
                  </a:txBody>
                  <a:tcPr marL="121920" marR="121920"/>
                </a:tc>
                <a:tc>
                  <a:txBody>
                    <a:bodyPr/>
                    <a:lstStyle/>
                    <a:p>
                      <a:pPr marL="0" marR="0" indent="0" algn="l" defTabSz="457200" rtl="0" eaLnBrk="1" fontAlgn="auto" latinLnBrk="0" hangingPunct="1">
                        <a:lnSpc>
                          <a:spcPct val="100000"/>
                        </a:lnSpc>
                        <a:spcBef>
                          <a:spcPts val="0"/>
                        </a:spcBef>
                        <a:spcAft>
                          <a:spcPts val="0"/>
                        </a:spcAft>
                        <a:buClrTx/>
                        <a:buSzTx/>
                        <a:buFont typeface="Arial"/>
                        <a:buChar char="•"/>
                        <a:tabLst/>
                        <a:defRPr/>
                      </a:pPr>
                      <a:r>
                        <a:rPr lang="en-US" dirty="0">
                          <a:solidFill>
                            <a:schemeClr val="tx1">
                              <a:lumMod val="50000"/>
                              <a:lumOff val="50000"/>
                            </a:schemeClr>
                          </a:solidFill>
                        </a:rPr>
                        <a:t> Modest</a:t>
                      </a:r>
                      <a:r>
                        <a:rPr lang="en-US" baseline="0" dirty="0">
                          <a:solidFill>
                            <a:schemeClr val="tx1">
                              <a:lumMod val="50000"/>
                              <a:lumOff val="50000"/>
                            </a:schemeClr>
                          </a:solidFill>
                        </a:rPr>
                        <a:t> </a:t>
                      </a:r>
                      <a:r>
                        <a:rPr lang="en-US" sz="1800" b="1" kern="1200" dirty="0" err="1">
                          <a:solidFill>
                            <a:schemeClr val="tx1">
                              <a:lumMod val="50000"/>
                              <a:lumOff val="50000"/>
                            </a:schemeClr>
                          </a:solidFill>
                          <a:latin typeface="+mn-lt"/>
                          <a:ea typeface="+mn-ea"/>
                          <a:cs typeface="+mn-cs"/>
                          <a:sym typeface="Symbol"/>
                        </a:rPr>
                        <a:t></a:t>
                      </a:r>
                      <a:r>
                        <a:rPr lang="en-US" sz="1800" b="1" kern="1200" dirty="0">
                          <a:solidFill>
                            <a:schemeClr val="tx1">
                              <a:lumMod val="50000"/>
                              <a:lumOff val="50000"/>
                            </a:schemeClr>
                          </a:solidFill>
                          <a:latin typeface="+mn-lt"/>
                          <a:ea typeface="+mn-ea"/>
                          <a:cs typeface="+mn-cs"/>
                          <a:sym typeface="Symbol"/>
                        </a:rPr>
                        <a:t> </a:t>
                      </a:r>
                      <a:r>
                        <a:rPr lang="en-US" baseline="0" dirty="0">
                          <a:solidFill>
                            <a:schemeClr val="tx1">
                              <a:lumMod val="50000"/>
                              <a:lumOff val="50000"/>
                            </a:schemeClr>
                          </a:solidFill>
                        </a:rPr>
                        <a:t>A1c</a:t>
                      </a:r>
                    </a:p>
                    <a:p>
                      <a:pPr marL="0" marR="0" indent="0" algn="l" defTabSz="457200" rtl="0" eaLnBrk="1" fontAlgn="auto" latinLnBrk="0" hangingPunct="1">
                        <a:lnSpc>
                          <a:spcPct val="100000"/>
                        </a:lnSpc>
                        <a:spcBef>
                          <a:spcPts val="0"/>
                        </a:spcBef>
                        <a:spcAft>
                          <a:spcPts val="0"/>
                        </a:spcAft>
                        <a:buClrTx/>
                        <a:buSzTx/>
                        <a:buFont typeface="Arial"/>
                        <a:buChar char="•"/>
                        <a:tabLst/>
                        <a:defRPr/>
                      </a:pPr>
                      <a:r>
                        <a:rPr lang="en-US" baseline="0" dirty="0">
                          <a:solidFill>
                            <a:schemeClr val="tx1">
                              <a:lumMod val="50000"/>
                              <a:lumOff val="50000"/>
                            </a:schemeClr>
                          </a:solidFill>
                        </a:rPr>
                        <a:t> </a:t>
                      </a:r>
                      <a:r>
                        <a:rPr lang="en-US" dirty="0">
                          <a:solidFill>
                            <a:schemeClr val="tx1">
                              <a:lumMod val="50000"/>
                              <a:lumOff val="50000"/>
                            </a:schemeClr>
                          </a:solidFill>
                        </a:rPr>
                        <a:t>Dizziness, fatigue</a:t>
                      </a:r>
                    </a:p>
                    <a:p>
                      <a:pPr marL="0" marR="0" indent="0" algn="l" defTabSz="457200" rtl="0" eaLnBrk="1" fontAlgn="auto" latinLnBrk="0" hangingPunct="1">
                        <a:lnSpc>
                          <a:spcPct val="100000"/>
                        </a:lnSpc>
                        <a:spcBef>
                          <a:spcPts val="0"/>
                        </a:spcBef>
                        <a:spcAft>
                          <a:spcPts val="0"/>
                        </a:spcAft>
                        <a:buClrTx/>
                        <a:buSzTx/>
                        <a:buFont typeface="Arial"/>
                        <a:buChar char="•"/>
                        <a:tabLst/>
                        <a:defRPr/>
                      </a:pPr>
                      <a:r>
                        <a:rPr lang="en-US" dirty="0">
                          <a:solidFill>
                            <a:schemeClr val="tx1">
                              <a:lumMod val="50000"/>
                              <a:lumOff val="50000"/>
                            </a:schemeClr>
                          </a:solidFill>
                        </a:rPr>
                        <a:t> Nausea</a:t>
                      </a:r>
                    </a:p>
                    <a:p>
                      <a:pPr marL="0" marR="0" indent="0" algn="l" defTabSz="457200" rtl="0" eaLnBrk="1" fontAlgn="auto" latinLnBrk="0" hangingPunct="1">
                        <a:lnSpc>
                          <a:spcPct val="100000"/>
                        </a:lnSpc>
                        <a:spcBef>
                          <a:spcPts val="0"/>
                        </a:spcBef>
                        <a:spcAft>
                          <a:spcPts val="0"/>
                        </a:spcAft>
                        <a:buClrTx/>
                        <a:buSzTx/>
                        <a:buFont typeface="Arial"/>
                        <a:buChar char="•"/>
                        <a:tabLst/>
                        <a:defRPr/>
                      </a:pPr>
                      <a:r>
                        <a:rPr lang="en-US" baseline="0" dirty="0">
                          <a:solidFill>
                            <a:schemeClr val="tx1">
                              <a:lumMod val="50000"/>
                              <a:lumOff val="50000"/>
                            </a:schemeClr>
                          </a:solidFill>
                        </a:rPr>
                        <a:t> </a:t>
                      </a:r>
                      <a:r>
                        <a:rPr lang="en-US" dirty="0">
                          <a:solidFill>
                            <a:schemeClr val="tx1">
                              <a:lumMod val="50000"/>
                              <a:lumOff val="50000"/>
                            </a:schemeClr>
                          </a:solidFill>
                        </a:rPr>
                        <a:t>Rhinitis</a:t>
                      </a:r>
                    </a:p>
                    <a:p>
                      <a:pPr marL="0" marR="0" indent="0" algn="l" defTabSz="457200" rtl="0" eaLnBrk="1" fontAlgn="auto" latinLnBrk="0" hangingPunct="1">
                        <a:lnSpc>
                          <a:spcPct val="100000"/>
                        </a:lnSpc>
                        <a:spcBef>
                          <a:spcPts val="0"/>
                        </a:spcBef>
                        <a:spcAft>
                          <a:spcPts val="0"/>
                        </a:spcAft>
                        <a:buClrTx/>
                        <a:buSzTx/>
                        <a:buFont typeface="Arial"/>
                        <a:buChar char="•"/>
                        <a:tabLst/>
                        <a:defRPr/>
                      </a:pPr>
                      <a:r>
                        <a:rPr lang="en-US" dirty="0">
                          <a:solidFill>
                            <a:schemeClr val="tx1">
                              <a:lumMod val="50000"/>
                              <a:lumOff val="50000"/>
                            </a:schemeClr>
                          </a:solidFill>
                        </a:rPr>
                        <a:t>Cost</a:t>
                      </a:r>
                    </a:p>
                  </a:txBody>
                  <a:tcPr marL="121920" marR="121920"/>
                </a:tc>
                <a:extLst>
                  <a:ext uri="{0D108BD9-81ED-4DB2-BD59-A6C34878D82A}">
                    <a16:rowId xmlns:a16="http://schemas.microsoft.com/office/drawing/2014/main" val="10004"/>
                  </a:ext>
                </a:extLst>
              </a:tr>
              <a:tr h="1170682">
                <a:tc>
                  <a:txBody>
                    <a:bodyPr/>
                    <a:lstStyle/>
                    <a:p>
                      <a:r>
                        <a:rPr lang="en-US" b="1" dirty="0">
                          <a:solidFill>
                            <a:schemeClr val="tx1"/>
                          </a:solidFill>
                        </a:rPr>
                        <a:t>SGLT2</a:t>
                      </a:r>
                      <a:r>
                        <a:rPr lang="en-US" b="1" baseline="0" dirty="0">
                          <a:solidFill>
                            <a:schemeClr val="tx1"/>
                          </a:solidFill>
                        </a:rPr>
                        <a:t> inhibitors</a:t>
                      </a:r>
                      <a:endParaRPr lang="en-US" b="1" dirty="0">
                        <a:solidFill>
                          <a:schemeClr val="tx1"/>
                        </a:solidFill>
                      </a:endParaRPr>
                    </a:p>
                  </a:txBody>
                  <a:tcPr marL="121920" marR="121920"/>
                </a:tc>
                <a:tc>
                  <a:txBody>
                    <a:bodyPr/>
                    <a:lstStyle/>
                    <a:p>
                      <a:pPr marL="0" marR="0" indent="0" algn="l" defTabSz="457200" rtl="0" eaLnBrk="1" fontAlgn="auto" latinLnBrk="0" hangingPunct="1">
                        <a:lnSpc>
                          <a:spcPct val="100000"/>
                        </a:lnSpc>
                        <a:spcBef>
                          <a:spcPts val="0"/>
                        </a:spcBef>
                        <a:spcAft>
                          <a:spcPts val="0"/>
                        </a:spcAft>
                        <a:buClrTx/>
                        <a:buSzTx/>
                        <a:buFont typeface="Arial"/>
                        <a:buChar char="•"/>
                        <a:tabLst/>
                        <a:defRPr/>
                      </a:pPr>
                      <a:r>
                        <a:rPr lang="en-US" dirty="0">
                          <a:solidFill>
                            <a:schemeClr val="tx1"/>
                          </a:solidFill>
                        </a:rPr>
                        <a:t> Inhibits</a:t>
                      </a:r>
                      <a:r>
                        <a:rPr lang="en-US" baseline="0" dirty="0">
                          <a:solidFill>
                            <a:schemeClr val="tx1"/>
                          </a:solidFill>
                        </a:rPr>
                        <a:t> SGLT2 in proximal nephron</a:t>
                      </a:r>
                    </a:p>
                    <a:p>
                      <a:pPr marL="0" marR="0" indent="0" algn="l" defTabSz="457200" rtl="0" eaLnBrk="1" fontAlgn="auto" latinLnBrk="0" hangingPunct="1">
                        <a:lnSpc>
                          <a:spcPct val="100000"/>
                        </a:lnSpc>
                        <a:spcBef>
                          <a:spcPts val="0"/>
                        </a:spcBef>
                        <a:spcAft>
                          <a:spcPts val="0"/>
                        </a:spcAft>
                        <a:buClrTx/>
                        <a:buSzTx/>
                        <a:buFont typeface="Arial"/>
                        <a:buChar char="•"/>
                        <a:tabLst/>
                        <a:defRPr/>
                      </a:pPr>
                      <a:r>
                        <a:rPr lang="en-US" baseline="0" dirty="0">
                          <a:solidFill>
                            <a:schemeClr val="tx1"/>
                          </a:solidFill>
                        </a:rPr>
                        <a:t> Increases </a:t>
                      </a:r>
                      <a:r>
                        <a:rPr lang="en-US" baseline="0" dirty="0" err="1">
                          <a:solidFill>
                            <a:schemeClr val="tx1"/>
                          </a:solidFill>
                        </a:rPr>
                        <a:t>glucosuria</a:t>
                      </a:r>
                      <a:endParaRPr lang="en-US" dirty="0">
                        <a:solidFill>
                          <a:schemeClr val="tx1"/>
                        </a:solidFill>
                      </a:endParaRPr>
                    </a:p>
                  </a:txBody>
                  <a:tcPr marL="121920" marR="121920"/>
                </a:tc>
                <a:tc>
                  <a:txBody>
                    <a:bodyPr/>
                    <a:lstStyle/>
                    <a:p>
                      <a:pPr>
                        <a:buFont typeface="Arial"/>
                        <a:buChar char="•"/>
                      </a:pPr>
                      <a:r>
                        <a:rPr lang="en-US" sz="1800" b="0" kern="1200" dirty="0">
                          <a:solidFill>
                            <a:schemeClr val="dk1"/>
                          </a:solidFill>
                          <a:latin typeface="+mn-lt"/>
                          <a:ea typeface="+mn-ea"/>
                          <a:cs typeface="+mn-cs"/>
                          <a:sym typeface="Symbol"/>
                        </a:rPr>
                        <a:t></a:t>
                      </a:r>
                      <a:r>
                        <a:rPr lang="en-US" sz="1800" b="1" kern="1200" dirty="0">
                          <a:solidFill>
                            <a:schemeClr val="dk1"/>
                          </a:solidFill>
                          <a:latin typeface="+mn-lt"/>
                          <a:ea typeface="+mn-ea"/>
                          <a:cs typeface="+mn-cs"/>
                          <a:sym typeface="Symbol"/>
                        </a:rPr>
                        <a:t> </a:t>
                      </a:r>
                      <a:r>
                        <a:rPr lang="en-US" dirty="0"/>
                        <a:t>Weight</a:t>
                      </a:r>
                    </a:p>
                    <a:p>
                      <a:pPr>
                        <a:buFont typeface="Arial"/>
                        <a:buChar char="•"/>
                      </a:pPr>
                      <a:r>
                        <a:rPr lang="en-US" dirty="0"/>
                        <a:t> No hypoglycemia</a:t>
                      </a:r>
                    </a:p>
                    <a:p>
                      <a:pPr>
                        <a:buFont typeface="Arial"/>
                        <a:buChar char="•"/>
                      </a:pPr>
                      <a:r>
                        <a:rPr lang="en-US" dirty="0"/>
                        <a:t> </a:t>
                      </a:r>
                      <a:r>
                        <a:rPr lang="en-US" sz="1800" b="0" kern="1200" dirty="0">
                          <a:solidFill>
                            <a:schemeClr val="dk1"/>
                          </a:solidFill>
                          <a:latin typeface="+mn-lt"/>
                          <a:ea typeface="+mn-ea"/>
                          <a:cs typeface="+mn-cs"/>
                          <a:sym typeface="Symbol"/>
                        </a:rPr>
                        <a:t></a:t>
                      </a:r>
                      <a:r>
                        <a:rPr lang="en-US" dirty="0"/>
                        <a:t> BP</a:t>
                      </a:r>
                    </a:p>
                    <a:p>
                      <a:pPr>
                        <a:buFont typeface="Arial"/>
                        <a:buChar char="•"/>
                      </a:pPr>
                      <a:r>
                        <a:rPr lang="en-US" dirty="0"/>
                        <a:t> Effective</a:t>
                      </a:r>
                      <a:r>
                        <a:rPr lang="en-US" baseline="0" dirty="0"/>
                        <a:t> at all stages</a:t>
                      </a:r>
                      <a:endParaRPr lang="en-US" dirty="0"/>
                    </a:p>
                    <a:p>
                      <a:pPr>
                        <a:buFont typeface="Arial"/>
                        <a:buChar char="•"/>
                      </a:pPr>
                      <a:endParaRPr lang="en-US" dirty="0">
                        <a:solidFill>
                          <a:schemeClr val="tx1"/>
                        </a:solidFill>
                      </a:endParaRPr>
                    </a:p>
                  </a:txBody>
                  <a:tcPr marL="121920" marR="121920"/>
                </a:tc>
                <a:tc>
                  <a:txBody>
                    <a:bodyPr/>
                    <a:lstStyle/>
                    <a:p>
                      <a:pPr marL="0" marR="0" indent="0" algn="l" defTabSz="457200" rtl="0" eaLnBrk="1" fontAlgn="auto" latinLnBrk="0" hangingPunct="1">
                        <a:lnSpc>
                          <a:spcPct val="100000"/>
                        </a:lnSpc>
                        <a:spcBef>
                          <a:spcPts val="0"/>
                        </a:spcBef>
                        <a:spcAft>
                          <a:spcPts val="0"/>
                        </a:spcAft>
                        <a:buClrTx/>
                        <a:buSzTx/>
                        <a:buFont typeface="Arial"/>
                        <a:buChar char="•"/>
                        <a:tabLst/>
                        <a:defRPr/>
                      </a:pPr>
                      <a:r>
                        <a:rPr lang="en-US" dirty="0">
                          <a:solidFill>
                            <a:srgbClr val="000000"/>
                          </a:solidFill>
                        </a:rPr>
                        <a:t> GU</a:t>
                      </a:r>
                      <a:r>
                        <a:rPr lang="en-US" baseline="0" dirty="0">
                          <a:solidFill>
                            <a:srgbClr val="000000"/>
                          </a:solidFill>
                        </a:rPr>
                        <a:t> infections</a:t>
                      </a:r>
                      <a:endParaRPr lang="en-US" dirty="0">
                        <a:solidFill>
                          <a:srgbClr val="000000"/>
                        </a:solidFill>
                      </a:endParaRPr>
                    </a:p>
                    <a:p>
                      <a:pPr marL="0" marR="0" indent="0" algn="l" defTabSz="457200" rtl="0" eaLnBrk="1" fontAlgn="auto" latinLnBrk="0" hangingPunct="1">
                        <a:lnSpc>
                          <a:spcPct val="100000"/>
                        </a:lnSpc>
                        <a:spcBef>
                          <a:spcPts val="0"/>
                        </a:spcBef>
                        <a:spcAft>
                          <a:spcPts val="0"/>
                        </a:spcAft>
                        <a:buClrTx/>
                        <a:buSzTx/>
                        <a:buFont typeface="Arial"/>
                        <a:buChar char="•"/>
                        <a:tabLst/>
                        <a:defRPr/>
                      </a:pPr>
                      <a:r>
                        <a:rPr lang="en-US" dirty="0">
                          <a:solidFill>
                            <a:srgbClr val="000000"/>
                          </a:solidFill>
                        </a:rPr>
                        <a:t>Volume depletion</a:t>
                      </a:r>
                    </a:p>
                    <a:p>
                      <a:pPr marL="0" marR="0" indent="0" algn="l" defTabSz="457200" rtl="0" eaLnBrk="1" fontAlgn="auto" latinLnBrk="0" hangingPunct="1">
                        <a:lnSpc>
                          <a:spcPct val="100000"/>
                        </a:lnSpc>
                        <a:spcBef>
                          <a:spcPts val="0"/>
                        </a:spcBef>
                        <a:spcAft>
                          <a:spcPts val="0"/>
                        </a:spcAft>
                        <a:buClrTx/>
                        <a:buSzTx/>
                        <a:buFont typeface="Arial"/>
                        <a:buChar char="•"/>
                        <a:tabLst/>
                        <a:defRPr/>
                      </a:pPr>
                      <a:r>
                        <a:rPr lang="en-US" dirty="0">
                          <a:solidFill>
                            <a:srgbClr val="000000"/>
                          </a:solidFill>
                        </a:rPr>
                        <a:t> </a:t>
                      </a:r>
                      <a:r>
                        <a:rPr lang="en-US" sz="1800" b="1" kern="1200" dirty="0">
                          <a:solidFill>
                            <a:srgbClr val="000000"/>
                          </a:solidFill>
                          <a:latin typeface="+mn-lt"/>
                          <a:ea typeface="+mn-ea"/>
                          <a:cs typeface="+mn-cs"/>
                          <a:sym typeface="Symbol"/>
                        </a:rPr>
                        <a:t> </a:t>
                      </a:r>
                      <a:r>
                        <a:rPr lang="en-US" dirty="0">
                          <a:solidFill>
                            <a:srgbClr val="000000"/>
                          </a:solidFill>
                        </a:rPr>
                        <a:t>LDL-C</a:t>
                      </a:r>
                    </a:p>
                    <a:p>
                      <a:pPr marL="0" marR="0" indent="0" algn="l" defTabSz="457200" rtl="0" eaLnBrk="1" fontAlgn="auto" latinLnBrk="0" hangingPunct="1">
                        <a:lnSpc>
                          <a:spcPct val="100000"/>
                        </a:lnSpc>
                        <a:spcBef>
                          <a:spcPts val="0"/>
                        </a:spcBef>
                        <a:spcAft>
                          <a:spcPts val="0"/>
                        </a:spcAft>
                        <a:buClrTx/>
                        <a:buSzTx/>
                        <a:buFont typeface="Arial"/>
                        <a:buChar char="•"/>
                        <a:tabLst/>
                        <a:defRPr/>
                      </a:pPr>
                      <a:r>
                        <a:rPr lang="en-US" sz="1800" b="0" kern="1200" dirty="0">
                          <a:solidFill>
                            <a:srgbClr val="000000"/>
                          </a:solidFill>
                          <a:latin typeface="+mn-lt"/>
                          <a:ea typeface="+mn-ea"/>
                          <a:cs typeface="+mn-cs"/>
                          <a:sym typeface="Symbol"/>
                        </a:rPr>
                        <a:t> Cost</a:t>
                      </a:r>
                      <a:endParaRPr lang="en-US" b="0" dirty="0">
                        <a:solidFill>
                          <a:srgbClr val="000000"/>
                        </a:solidFill>
                      </a:endParaRPr>
                    </a:p>
                  </a:txBody>
                  <a:tcPr marL="121920" marR="121920"/>
                </a:tc>
                <a:extLst>
                  <a:ext uri="{0D108BD9-81ED-4DB2-BD59-A6C34878D82A}">
                    <a16:rowId xmlns:a16="http://schemas.microsoft.com/office/drawing/2014/main" val="10005"/>
                  </a:ext>
                </a:extLst>
              </a:tr>
            </a:tbl>
          </a:graphicData>
        </a:graphic>
      </p:graphicFrame>
      <p:sp>
        <p:nvSpPr>
          <p:cNvPr id="6" name="TextBox 21"/>
          <p:cNvSpPr txBox="1">
            <a:spLocks noChangeArrowheads="1"/>
          </p:cNvSpPr>
          <p:nvPr/>
        </p:nvSpPr>
        <p:spPr bwMode="auto">
          <a:xfrm>
            <a:off x="6195737" y="6361108"/>
            <a:ext cx="5733025" cy="492434"/>
          </a:xfrm>
          <a:prstGeom prst="rect">
            <a:avLst/>
          </a:prstGeom>
          <a:noFill/>
          <a:ln w="9525">
            <a:noFill/>
            <a:miter lim="800000"/>
            <a:headEnd/>
            <a:tailEnd/>
          </a:ln>
        </p:spPr>
        <p:txBody>
          <a:bodyPr wrap="square" lIns="91431" tIns="45716" rIns="91431" bIns="45716">
            <a:prstTxWarp prst="textNoShape">
              <a:avLst/>
            </a:prstTxWarp>
            <a:spAutoFit/>
          </a:bodyPr>
          <a:lstStyle/>
          <a:p>
            <a:pPr algn="r" fontAlgn="base" hangingPunct="1">
              <a:spcBef>
                <a:spcPct val="0"/>
              </a:spcBef>
              <a:spcAft>
                <a:spcPct val="0"/>
              </a:spcAft>
              <a:defRPr/>
            </a:pPr>
            <a:r>
              <a:rPr lang="en-US" sz="1300" i="1" kern="1200" dirty="0">
                <a:latin typeface="Times"/>
                <a:ea typeface="Times New Roman" charset="0"/>
                <a:cs typeface="Times"/>
              </a:rPr>
              <a:t>Diabetes Care</a:t>
            </a:r>
            <a:r>
              <a:rPr lang="en-US" sz="1300" kern="1200" dirty="0">
                <a:latin typeface="Times"/>
                <a:ea typeface="Times New Roman" charset="0"/>
                <a:cs typeface="Times"/>
              </a:rPr>
              <a:t> 2015;38:140-149; </a:t>
            </a:r>
          </a:p>
          <a:p>
            <a:pPr algn="r" fontAlgn="base" hangingPunct="1">
              <a:spcBef>
                <a:spcPct val="0"/>
              </a:spcBef>
              <a:spcAft>
                <a:spcPct val="0"/>
              </a:spcAft>
              <a:defRPr/>
            </a:pPr>
            <a:r>
              <a:rPr lang="en-US" sz="1300" i="1" kern="1200" dirty="0" err="1">
                <a:latin typeface="Times"/>
                <a:ea typeface="Times New Roman" charset="0"/>
                <a:cs typeface="Times"/>
              </a:rPr>
              <a:t>Diabetologia</a:t>
            </a:r>
            <a:r>
              <a:rPr lang="en-US" sz="1300" kern="1200" dirty="0">
                <a:latin typeface="Times"/>
                <a:ea typeface="Times New Roman" charset="0"/>
                <a:cs typeface="Times"/>
              </a:rPr>
              <a:t> </a:t>
            </a:r>
            <a:r>
              <a:rPr lang="en-US" sz="1300" kern="1200" dirty="0">
                <a:latin typeface="Times New Roman" charset="0"/>
                <a:ea typeface="Times New Roman" charset="0"/>
                <a:cs typeface="Times New Roman" charset="0"/>
              </a:rPr>
              <a:t>2015;58:429-442</a:t>
            </a:r>
          </a:p>
        </p:txBody>
      </p:sp>
    </p:spTree>
    <p:extLst>
      <p:ext uri="{BB962C8B-B14F-4D97-AF65-F5344CB8AC3E}">
        <p14:creationId xmlns:p14="http://schemas.microsoft.com/office/powerpoint/2010/main" val="17953016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3583978088"/>
              </p:ext>
            </p:extLst>
          </p:nvPr>
        </p:nvGraphicFramePr>
        <p:xfrm>
          <a:off x="637333" y="817419"/>
          <a:ext cx="11040510" cy="5334000"/>
        </p:xfrm>
        <a:graphic>
          <a:graphicData uri="http://schemas.openxmlformats.org/drawingml/2006/table">
            <a:tbl>
              <a:tblPr firstRow="1" bandRow="1">
                <a:tableStyleId>{5C22544A-7EE6-4342-B048-85BDC9FD1C3A}</a:tableStyleId>
              </a:tblPr>
              <a:tblGrid>
                <a:gridCol w="1625577">
                  <a:extLst>
                    <a:ext uri="{9D8B030D-6E8A-4147-A177-3AD203B41FA5}">
                      <a16:colId xmlns:a16="http://schemas.microsoft.com/office/drawing/2014/main" val="20000"/>
                    </a:ext>
                  </a:extLst>
                </a:gridCol>
                <a:gridCol w="2912533">
                  <a:extLst>
                    <a:ext uri="{9D8B030D-6E8A-4147-A177-3AD203B41FA5}">
                      <a16:colId xmlns:a16="http://schemas.microsoft.com/office/drawing/2014/main" val="20001"/>
                    </a:ext>
                  </a:extLst>
                </a:gridCol>
                <a:gridCol w="3251200">
                  <a:extLst>
                    <a:ext uri="{9D8B030D-6E8A-4147-A177-3AD203B41FA5}">
                      <a16:colId xmlns:a16="http://schemas.microsoft.com/office/drawing/2014/main" val="20002"/>
                    </a:ext>
                  </a:extLst>
                </a:gridCol>
                <a:gridCol w="3251200">
                  <a:extLst>
                    <a:ext uri="{9D8B030D-6E8A-4147-A177-3AD203B41FA5}">
                      <a16:colId xmlns:a16="http://schemas.microsoft.com/office/drawing/2014/main" val="20003"/>
                    </a:ext>
                  </a:extLst>
                </a:gridCol>
              </a:tblGrid>
              <a:tr h="365213">
                <a:tc>
                  <a:txBody>
                    <a:bodyPr/>
                    <a:lstStyle/>
                    <a:p>
                      <a:pPr marL="0" marR="0" algn="ctr" eaLnBrk="0" fontAlgn="base" hangingPunct="0">
                        <a:spcBef>
                          <a:spcPts val="0"/>
                        </a:spcBef>
                        <a:spcAft>
                          <a:spcPts val="0"/>
                        </a:spcAft>
                      </a:pPr>
                      <a:r>
                        <a:rPr lang="en-US" sz="2200" b="1" kern="1200" dirty="0">
                          <a:solidFill>
                            <a:schemeClr val="bg1"/>
                          </a:solidFill>
                          <a:effectLst>
                            <a:outerShdw blurRad="38100" dist="38100" dir="2700000" algn="tl">
                              <a:srgbClr val="000000">
                                <a:alpha val="43137"/>
                              </a:srgbClr>
                            </a:outerShdw>
                          </a:effectLst>
                          <a:latin typeface="+mj-lt"/>
                          <a:ea typeface="MS PGothic"/>
                          <a:cs typeface="Arial"/>
                        </a:rPr>
                        <a:t>Injectable</a:t>
                      </a:r>
                    </a:p>
                    <a:p>
                      <a:pPr marL="0" marR="0" algn="ctr" eaLnBrk="0" fontAlgn="base" hangingPunct="0">
                        <a:spcBef>
                          <a:spcPts val="0"/>
                        </a:spcBef>
                        <a:spcAft>
                          <a:spcPts val="0"/>
                        </a:spcAft>
                      </a:pPr>
                      <a:r>
                        <a:rPr lang="en-US" sz="2200" b="1" kern="1200" dirty="0">
                          <a:solidFill>
                            <a:schemeClr val="bg1"/>
                          </a:solidFill>
                          <a:effectLst>
                            <a:outerShdw blurRad="38100" dist="38100" dir="2700000" algn="tl">
                              <a:srgbClr val="000000">
                                <a:alpha val="43137"/>
                              </a:srgbClr>
                            </a:outerShdw>
                          </a:effectLst>
                          <a:latin typeface="+mj-lt"/>
                          <a:ea typeface="MS PGothic"/>
                          <a:cs typeface="Arial"/>
                        </a:rPr>
                        <a:t>Class</a:t>
                      </a:r>
                      <a:endParaRPr lang="en-US" sz="2200" dirty="0">
                        <a:solidFill>
                          <a:schemeClr val="bg1"/>
                        </a:solidFill>
                        <a:effectLst>
                          <a:outerShdw blurRad="38100" dist="38100" dir="2700000" algn="tl">
                            <a:srgbClr val="000000">
                              <a:alpha val="43137"/>
                            </a:srgbClr>
                          </a:outerShdw>
                        </a:effectLst>
                        <a:latin typeface="+mj-lt"/>
                        <a:ea typeface="Cambria"/>
                        <a:cs typeface="Times New Roman"/>
                      </a:endParaRPr>
                    </a:p>
                  </a:txBody>
                  <a:tcPr marL="0" marR="0" marT="0" marB="0">
                    <a:solidFill>
                      <a:srgbClr val="00005C"/>
                    </a:solidFill>
                  </a:tcPr>
                </a:tc>
                <a:tc>
                  <a:txBody>
                    <a:bodyPr/>
                    <a:lstStyle/>
                    <a:p>
                      <a:pPr marL="0" marR="0" algn="ctr" fontAlgn="base">
                        <a:spcBef>
                          <a:spcPts val="0"/>
                        </a:spcBef>
                        <a:spcAft>
                          <a:spcPts val="0"/>
                        </a:spcAft>
                      </a:pPr>
                      <a:r>
                        <a:rPr lang="en-US" sz="2200" dirty="0">
                          <a:solidFill>
                            <a:schemeClr val="bg1"/>
                          </a:solidFill>
                          <a:effectLst>
                            <a:outerShdw blurRad="38100" dist="38100" dir="2700000" algn="tl">
                              <a:srgbClr val="000000">
                                <a:alpha val="43137"/>
                              </a:srgbClr>
                            </a:outerShdw>
                          </a:effectLst>
                          <a:latin typeface="+mj-lt"/>
                          <a:ea typeface="Cambria"/>
                          <a:cs typeface="Times New Roman"/>
                        </a:rPr>
                        <a:t>Mechanism</a:t>
                      </a:r>
                    </a:p>
                  </a:txBody>
                  <a:tcPr marL="0" marR="0" marT="0" marB="0">
                    <a:solidFill>
                      <a:srgbClr val="00005C"/>
                    </a:solidFill>
                  </a:tcPr>
                </a:tc>
                <a:tc>
                  <a:txBody>
                    <a:bodyPr/>
                    <a:lstStyle/>
                    <a:p>
                      <a:pPr marL="0" marR="0" algn="ctr" fontAlgn="base">
                        <a:spcBef>
                          <a:spcPts val="0"/>
                        </a:spcBef>
                        <a:spcAft>
                          <a:spcPts val="0"/>
                        </a:spcAft>
                      </a:pPr>
                      <a:r>
                        <a:rPr lang="en-US" sz="2200" dirty="0">
                          <a:solidFill>
                            <a:schemeClr val="bg1"/>
                          </a:solidFill>
                          <a:effectLst>
                            <a:outerShdw blurRad="38100" dist="38100" dir="2700000" algn="tl">
                              <a:srgbClr val="000000">
                                <a:alpha val="43137"/>
                              </a:srgbClr>
                            </a:outerShdw>
                          </a:effectLst>
                          <a:latin typeface="+mj-lt"/>
                          <a:ea typeface="Cambria"/>
                          <a:cs typeface="Times New Roman"/>
                        </a:rPr>
                        <a:t>Advantages</a:t>
                      </a:r>
                    </a:p>
                  </a:txBody>
                  <a:tcPr marL="0" marR="0" marT="0" marB="0">
                    <a:solidFill>
                      <a:srgbClr val="00005C"/>
                    </a:solidFill>
                  </a:tcPr>
                </a:tc>
                <a:tc>
                  <a:txBody>
                    <a:bodyPr/>
                    <a:lstStyle/>
                    <a:p>
                      <a:pPr marL="0" marR="0" algn="ctr" fontAlgn="base">
                        <a:spcBef>
                          <a:spcPts val="0"/>
                        </a:spcBef>
                        <a:spcAft>
                          <a:spcPts val="0"/>
                        </a:spcAft>
                      </a:pPr>
                      <a:r>
                        <a:rPr lang="en-US" sz="2200" dirty="0">
                          <a:solidFill>
                            <a:schemeClr val="bg1"/>
                          </a:solidFill>
                          <a:effectLst>
                            <a:outerShdw blurRad="38100" dist="38100" dir="2700000" algn="tl">
                              <a:srgbClr val="000000">
                                <a:alpha val="43137"/>
                              </a:srgbClr>
                            </a:outerShdw>
                          </a:effectLst>
                          <a:latin typeface="+mj-lt"/>
                          <a:ea typeface="Cambria"/>
                          <a:cs typeface="Times New Roman"/>
                        </a:rPr>
                        <a:t>Disadvantages</a:t>
                      </a:r>
                    </a:p>
                  </a:txBody>
                  <a:tcPr marL="0" marR="0" marT="0" marB="0">
                    <a:solidFill>
                      <a:srgbClr val="00005C"/>
                    </a:solidFill>
                  </a:tcPr>
                </a:tc>
                <a:extLst>
                  <a:ext uri="{0D108BD9-81ED-4DB2-BD59-A6C34878D82A}">
                    <a16:rowId xmlns:a16="http://schemas.microsoft.com/office/drawing/2014/main" val="10000"/>
                  </a:ext>
                </a:extLst>
              </a:tr>
              <a:tr h="900525">
                <a:tc>
                  <a:txBody>
                    <a:bodyPr/>
                    <a:lstStyle/>
                    <a:p>
                      <a:r>
                        <a:rPr lang="en-US" b="1" dirty="0" err="1">
                          <a:solidFill>
                            <a:srgbClr val="7F7F7F"/>
                          </a:solidFill>
                        </a:rPr>
                        <a:t>Amylin</a:t>
                      </a:r>
                      <a:r>
                        <a:rPr lang="en-US" b="1" dirty="0">
                          <a:solidFill>
                            <a:srgbClr val="7F7F7F"/>
                          </a:solidFill>
                        </a:rPr>
                        <a:t> </a:t>
                      </a:r>
                      <a:r>
                        <a:rPr lang="en-US" b="1" dirty="0" err="1">
                          <a:solidFill>
                            <a:srgbClr val="7F7F7F"/>
                          </a:solidFill>
                        </a:rPr>
                        <a:t>mimetics</a:t>
                      </a:r>
                      <a:endParaRPr lang="en-US" b="1" dirty="0">
                        <a:solidFill>
                          <a:srgbClr val="7F7F7F"/>
                        </a:solidFill>
                      </a:endParaRPr>
                    </a:p>
                  </a:txBody>
                  <a:tcPr marL="121920" marR="121920"/>
                </a:tc>
                <a:tc>
                  <a:txBody>
                    <a:bodyPr/>
                    <a:lstStyle/>
                    <a:p>
                      <a:pPr>
                        <a:buFont typeface="Arial"/>
                        <a:buChar char="•"/>
                      </a:pPr>
                      <a:r>
                        <a:rPr lang="en-US" dirty="0">
                          <a:solidFill>
                            <a:srgbClr val="7F7F7F"/>
                          </a:solidFill>
                        </a:rPr>
                        <a:t> Activates </a:t>
                      </a:r>
                      <a:r>
                        <a:rPr lang="en-US" dirty="0" err="1">
                          <a:solidFill>
                            <a:srgbClr val="7F7F7F"/>
                          </a:solidFill>
                        </a:rPr>
                        <a:t>amylin</a:t>
                      </a:r>
                      <a:r>
                        <a:rPr lang="en-US" baseline="0" dirty="0">
                          <a:solidFill>
                            <a:srgbClr val="7F7F7F"/>
                          </a:solidFill>
                        </a:rPr>
                        <a:t> receptor</a:t>
                      </a:r>
                      <a:endParaRPr lang="en-US" dirty="0">
                        <a:solidFill>
                          <a:srgbClr val="7F7F7F"/>
                        </a:solidFill>
                      </a:endParaRPr>
                    </a:p>
                    <a:p>
                      <a:pPr>
                        <a:buFont typeface="Arial"/>
                        <a:buChar char="•"/>
                      </a:pPr>
                      <a:r>
                        <a:rPr lang="en-US" dirty="0">
                          <a:solidFill>
                            <a:srgbClr val="7F7F7F"/>
                          </a:solidFill>
                        </a:rPr>
                        <a:t> </a:t>
                      </a:r>
                      <a:r>
                        <a:rPr lang="en-US" sz="1800" b="1" kern="1200" dirty="0" err="1">
                          <a:solidFill>
                            <a:srgbClr val="7F7F7F"/>
                          </a:solidFill>
                          <a:latin typeface="+mn-lt"/>
                          <a:ea typeface="+mn-ea"/>
                          <a:cs typeface="+mn-cs"/>
                          <a:sym typeface="Symbol"/>
                        </a:rPr>
                        <a:t></a:t>
                      </a:r>
                      <a:r>
                        <a:rPr lang="en-US" sz="1800" b="1" kern="1200" dirty="0">
                          <a:solidFill>
                            <a:srgbClr val="7F7F7F"/>
                          </a:solidFill>
                          <a:latin typeface="+mn-lt"/>
                          <a:ea typeface="+mn-ea"/>
                          <a:cs typeface="+mn-cs"/>
                          <a:sym typeface="Symbol"/>
                        </a:rPr>
                        <a:t> </a:t>
                      </a:r>
                      <a:r>
                        <a:rPr lang="en-US" sz="1800" b="0" kern="1200" dirty="0">
                          <a:solidFill>
                            <a:srgbClr val="7F7F7F"/>
                          </a:solidFill>
                          <a:latin typeface="+mn-lt"/>
                          <a:ea typeface="+mn-ea"/>
                          <a:cs typeface="+mn-cs"/>
                          <a:sym typeface="Symbol"/>
                        </a:rPr>
                        <a:t>glucagon</a:t>
                      </a:r>
                    </a:p>
                    <a:p>
                      <a:pPr>
                        <a:buFont typeface="Arial"/>
                        <a:buChar char="•"/>
                      </a:pPr>
                      <a:r>
                        <a:rPr lang="en-US" sz="1800" b="0" kern="1200" baseline="0" dirty="0">
                          <a:solidFill>
                            <a:srgbClr val="7F7F7F"/>
                          </a:solidFill>
                          <a:latin typeface="+mn-lt"/>
                          <a:ea typeface="+mn-ea"/>
                          <a:cs typeface="+mn-cs"/>
                          <a:sym typeface="Symbol"/>
                        </a:rPr>
                        <a:t> </a:t>
                      </a:r>
                      <a:r>
                        <a:rPr lang="en-US" sz="1800" b="1" kern="1200" dirty="0" err="1">
                          <a:solidFill>
                            <a:srgbClr val="7F7F7F"/>
                          </a:solidFill>
                          <a:latin typeface="+mn-lt"/>
                          <a:ea typeface="+mn-ea"/>
                          <a:cs typeface="+mn-cs"/>
                          <a:sym typeface="Symbol"/>
                        </a:rPr>
                        <a:t></a:t>
                      </a:r>
                      <a:r>
                        <a:rPr lang="en-US" sz="1800" b="1" kern="1200" dirty="0">
                          <a:solidFill>
                            <a:srgbClr val="7F7F7F"/>
                          </a:solidFill>
                          <a:latin typeface="+mn-lt"/>
                          <a:ea typeface="+mn-ea"/>
                          <a:cs typeface="+mn-cs"/>
                          <a:sym typeface="Symbol"/>
                        </a:rPr>
                        <a:t> </a:t>
                      </a:r>
                      <a:r>
                        <a:rPr lang="en-US" sz="1800" b="0" kern="1200" baseline="0" dirty="0">
                          <a:solidFill>
                            <a:srgbClr val="7F7F7F"/>
                          </a:solidFill>
                          <a:latin typeface="+mn-lt"/>
                          <a:ea typeface="+mn-ea"/>
                          <a:cs typeface="+mn-cs"/>
                          <a:sym typeface="Symbol"/>
                        </a:rPr>
                        <a:t>gastric emptying</a:t>
                      </a:r>
                    </a:p>
                    <a:p>
                      <a:pPr>
                        <a:buFont typeface="Arial"/>
                        <a:buChar char="•"/>
                      </a:pPr>
                      <a:r>
                        <a:rPr lang="en-US" sz="1800" b="0" kern="1200" baseline="0" dirty="0">
                          <a:solidFill>
                            <a:srgbClr val="7F7F7F"/>
                          </a:solidFill>
                          <a:latin typeface="+mn-lt"/>
                          <a:ea typeface="+mn-ea"/>
                          <a:cs typeface="+mn-cs"/>
                          <a:sym typeface="Symbol"/>
                        </a:rPr>
                        <a:t> </a:t>
                      </a:r>
                      <a:r>
                        <a:rPr lang="en-US" sz="1800" b="1" kern="1200" dirty="0" err="1">
                          <a:solidFill>
                            <a:srgbClr val="7F7F7F"/>
                          </a:solidFill>
                          <a:latin typeface="+mn-lt"/>
                          <a:ea typeface="+mn-ea"/>
                          <a:cs typeface="+mn-cs"/>
                          <a:sym typeface="Symbol"/>
                        </a:rPr>
                        <a:t></a:t>
                      </a:r>
                      <a:r>
                        <a:rPr lang="en-US" sz="1800" b="1" kern="1200" dirty="0">
                          <a:solidFill>
                            <a:srgbClr val="7F7F7F"/>
                          </a:solidFill>
                          <a:latin typeface="+mn-lt"/>
                          <a:ea typeface="+mn-ea"/>
                          <a:cs typeface="+mn-cs"/>
                          <a:sym typeface="Symbol"/>
                        </a:rPr>
                        <a:t> </a:t>
                      </a:r>
                      <a:r>
                        <a:rPr lang="en-US" sz="1800" b="0" kern="1200" baseline="0" dirty="0">
                          <a:solidFill>
                            <a:srgbClr val="7F7F7F"/>
                          </a:solidFill>
                          <a:latin typeface="+mn-lt"/>
                          <a:ea typeface="+mn-ea"/>
                          <a:cs typeface="+mn-cs"/>
                          <a:sym typeface="Symbol"/>
                        </a:rPr>
                        <a:t>satiety</a:t>
                      </a:r>
                      <a:endParaRPr lang="en-US" b="0" dirty="0">
                        <a:solidFill>
                          <a:srgbClr val="7F7F7F"/>
                        </a:solidFill>
                      </a:endParaRPr>
                    </a:p>
                  </a:txBody>
                  <a:tcPr marL="121920" marR="121920"/>
                </a:tc>
                <a:tc>
                  <a:txBody>
                    <a:bodyPr/>
                    <a:lstStyle/>
                    <a:p>
                      <a:pPr>
                        <a:buFont typeface="Arial"/>
                        <a:buChar char="•"/>
                      </a:pPr>
                      <a:r>
                        <a:rPr lang="en-US" dirty="0">
                          <a:solidFill>
                            <a:srgbClr val="7F7F7F"/>
                          </a:solidFill>
                        </a:rPr>
                        <a:t> </a:t>
                      </a:r>
                      <a:r>
                        <a:rPr lang="en-US" sz="1800" b="1" kern="1200" dirty="0">
                          <a:solidFill>
                            <a:srgbClr val="7F7F7F"/>
                          </a:solidFill>
                          <a:latin typeface="+mn-lt"/>
                          <a:ea typeface="+mn-ea"/>
                          <a:cs typeface="+mn-cs"/>
                          <a:sym typeface="Symbol"/>
                        </a:rPr>
                        <a:t> </a:t>
                      </a:r>
                      <a:r>
                        <a:rPr lang="en-US" dirty="0">
                          <a:solidFill>
                            <a:srgbClr val="7F7F7F"/>
                          </a:solidFill>
                        </a:rPr>
                        <a:t>Weight</a:t>
                      </a:r>
                    </a:p>
                    <a:p>
                      <a:pPr>
                        <a:buFont typeface="Arial"/>
                        <a:buChar char="•"/>
                      </a:pPr>
                      <a:r>
                        <a:rPr lang="en-US" sz="1800" b="0" kern="1200" baseline="0" dirty="0">
                          <a:solidFill>
                            <a:srgbClr val="7F7F7F"/>
                          </a:solidFill>
                          <a:latin typeface="+mn-lt"/>
                          <a:ea typeface="+mn-ea"/>
                          <a:cs typeface="+mn-cs"/>
                          <a:sym typeface="Symbol"/>
                        </a:rPr>
                        <a:t> </a:t>
                      </a:r>
                      <a:r>
                        <a:rPr lang="en-US" sz="1800" b="1" kern="1200" dirty="0">
                          <a:solidFill>
                            <a:srgbClr val="7F7F7F"/>
                          </a:solidFill>
                          <a:latin typeface="+mn-lt"/>
                          <a:ea typeface="+mn-ea"/>
                          <a:cs typeface="+mn-cs"/>
                          <a:sym typeface="Symbol"/>
                        </a:rPr>
                        <a:t></a:t>
                      </a:r>
                      <a:r>
                        <a:rPr lang="en-US" sz="1800" b="0" kern="1200" dirty="0">
                          <a:solidFill>
                            <a:srgbClr val="7F7F7F"/>
                          </a:solidFill>
                          <a:latin typeface="+mn-lt"/>
                          <a:ea typeface="+mn-ea"/>
                          <a:cs typeface="+mn-cs"/>
                          <a:sym typeface="Symbol"/>
                        </a:rPr>
                        <a:t> Postprandial glucose</a:t>
                      </a:r>
                    </a:p>
                  </a:txBody>
                  <a:tcPr marL="121920" marR="121920"/>
                </a:tc>
                <a:tc>
                  <a:txBody>
                    <a:bodyPr/>
                    <a:lstStyle/>
                    <a:p>
                      <a:pPr>
                        <a:buFont typeface="Arial"/>
                        <a:buChar char="•"/>
                      </a:pPr>
                      <a:r>
                        <a:rPr lang="en-US" dirty="0">
                          <a:solidFill>
                            <a:srgbClr val="7F7F7F"/>
                          </a:solidFill>
                        </a:rPr>
                        <a:t> Gastrointestinal</a:t>
                      </a:r>
                      <a:endParaRPr lang="en-US" baseline="0" dirty="0">
                        <a:solidFill>
                          <a:srgbClr val="7F7F7F"/>
                        </a:solidFill>
                      </a:endParaRPr>
                    </a:p>
                    <a:p>
                      <a:pPr>
                        <a:buFont typeface="Arial"/>
                        <a:buChar char="•"/>
                      </a:pPr>
                      <a:r>
                        <a:rPr lang="en-US" baseline="0" dirty="0">
                          <a:solidFill>
                            <a:srgbClr val="7F7F7F"/>
                          </a:solidFill>
                        </a:rPr>
                        <a:t> </a:t>
                      </a:r>
                      <a:r>
                        <a:rPr lang="en-US" dirty="0">
                          <a:solidFill>
                            <a:srgbClr val="7F7F7F"/>
                          </a:solidFill>
                        </a:rPr>
                        <a:t>Modest</a:t>
                      </a:r>
                      <a:r>
                        <a:rPr lang="en-US" baseline="0" dirty="0">
                          <a:solidFill>
                            <a:srgbClr val="7F7F7F"/>
                          </a:solidFill>
                        </a:rPr>
                        <a:t> </a:t>
                      </a:r>
                      <a:r>
                        <a:rPr lang="en-US" sz="1800" b="1" kern="1200" dirty="0" err="1">
                          <a:solidFill>
                            <a:srgbClr val="7F7F7F"/>
                          </a:solidFill>
                          <a:latin typeface="+mn-lt"/>
                          <a:ea typeface="+mn-ea"/>
                          <a:cs typeface="+mn-cs"/>
                          <a:sym typeface="Symbol"/>
                        </a:rPr>
                        <a:t></a:t>
                      </a:r>
                      <a:r>
                        <a:rPr lang="en-US" sz="1800" b="1" kern="1200" dirty="0">
                          <a:solidFill>
                            <a:srgbClr val="7F7F7F"/>
                          </a:solidFill>
                          <a:latin typeface="+mn-lt"/>
                          <a:ea typeface="+mn-ea"/>
                          <a:cs typeface="+mn-cs"/>
                          <a:sym typeface="Symbol"/>
                        </a:rPr>
                        <a:t> </a:t>
                      </a:r>
                      <a:r>
                        <a:rPr lang="en-US" baseline="0" dirty="0">
                          <a:solidFill>
                            <a:srgbClr val="7F7F7F"/>
                          </a:solidFill>
                        </a:rPr>
                        <a:t>A1c</a:t>
                      </a:r>
                      <a:r>
                        <a:rPr lang="en-US" dirty="0">
                          <a:solidFill>
                            <a:srgbClr val="7F7F7F"/>
                          </a:solidFill>
                        </a:rPr>
                        <a:t> </a:t>
                      </a:r>
                      <a:endParaRPr lang="en-US" baseline="0" dirty="0">
                        <a:solidFill>
                          <a:srgbClr val="7F7F7F"/>
                        </a:solidFill>
                      </a:endParaRPr>
                    </a:p>
                    <a:p>
                      <a:pPr>
                        <a:buFont typeface="Arial"/>
                        <a:buChar char="•"/>
                      </a:pPr>
                      <a:r>
                        <a:rPr lang="en-US" baseline="0" dirty="0">
                          <a:solidFill>
                            <a:srgbClr val="7F7F7F"/>
                          </a:solidFill>
                        </a:rPr>
                        <a:t>Hypoglycemia</a:t>
                      </a:r>
                    </a:p>
                    <a:p>
                      <a:pPr>
                        <a:buFont typeface="Arial"/>
                        <a:buChar char="•"/>
                      </a:pPr>
                      <a:r>
                        <a:rPr lang="en-US" baseline="0" dirty="0">
                          <a:solidFill>
                            <a:srgbClr val="7F7F7F"/>
                          </a:solidFill>
                        </a:rPr>
                        <a:t> </a:t>
                      </a:r>
                      <a:r>
                        <a:rPr lang="en-US" dirty="0">
                          <a:solidFill>
                            <a:srgbClr val="7F7F7F"/>
                          </a:solidFill>
                        </a:rPr>
                        <a:t>Dosing frequency</a:t>
                      </a:r>
                    </a:p>
                    <a:p>
                      <a:pPr>
                        <a:buFont typeface="Arial"/>
                        <a:buChar char="•"/>
                      </a:pPr>
                      <a:r>
                        <a:rPr lang="en-US" dirty="0">
                          <a:solidFill>
                            <a:srgbClr val="7F7F7F"/>
                          </a:solidFill>
                        </a:rPr>
                        <a:t> Training</a:t>
                      </a:r>
                      <a:r>
                        <a:rPr lang="en-US" baseline="0" dirty="0">
                          <a:solidFill>
                            <a:srgbClr val="7F7F7F"/>
                          </a:solidFill>
                        </a:rPr>
                        <a:t> requirements</a:t>
                      </a:r>
                    </a:p>
                    <a:p>
                      <a:pPr>
                        <a:buFont typeface="Arial"/>
                        <a:buChar char="•"/>
                      </a:pPr>
                      <a:r>
                        <a:rPr lang="en-US" baseline="0" dirty="0">
                          <a:solidFill>
                            <a:srgbClr val="7F7F7F"/>
                          </a:solidFill>
                        </a:rPr>
                        <a:t>Cost</a:t>
                      </a:r>
                      <a:endParaRPr lang="en-US" dirty="0">
                        <a:solidFill>
                          <a:srgbClr val="7F7F7F"/>
                        </a:solidFill>
                      </a:endParaRPr>
                    </a:p>
                  </a:txBody>
                  <a:tcPr marL="121920" marR="121920"/>
                </a:tc>
                <a:extLst>
                  <a:ext uri="{0D108BD9-81ED-4DB2-BD59-A6C34878D82A}">
                    <a16:rowId xmlns:a16="http://schemas.microsoft.com/office/drawing/2014/main" val="10001"/>
                  </a:ext>
                </a:extLst>
              </a:tr>
              <a:tr h="900525">
                <a:tc>
                  <a:txBody>
                    <a:bodyPr/>
                    <a:lstStyle/>
                    <a:p>
                      <a:r>
                        <a:rPr lang="en-US" b="1" dirty="0"/>
                        <a:t>GLP-1 receptor agonists</a:t>
                      </a:r>
                    </a:p>
                  </a:txBody>
                  <a:tcPr marL="121920" marR="121920"/>
                </a:tc>
                <a:tc>
                  <a:txBody>
                    <a:bodyPr/>
                    <a:lstStyle/>
                    <a:p>
                      <a:pPr>
                        <a:buFont typeface="Arial"/>
                        <a:buChar char="•"/>
                      </a:pPr>
                      <a:r>
                        <a:rPr lang="en-US" dirty="0"/>
                        <a:t> Activates GLP-1 R</a:t>
                      </a:r>
                    </a:p>
                    <a:p>
                      <a:pPr>
                        <a:buFont typeface="Arial"/>
                        <a:buChar char="•"/>
                      </a:pPr>
                      <a:r>
                        <a:rPr lang="en-US" dirty="0"/>
                        <a:t> </a:t>
                      </a:r>
                      <a:r>
                        <a:rPr lang="en-US" sz="1800" b="1" kern="1200" dirty="0" err="1">
                          <a:solidFill>
                            <a:schemeClr val="dk1"/>
                          </a:solidFill>
                          <a:latin typeface="+mn-lt"/>
                          <a:ea typeface="+mn-ea"/>
                          <a:cs typeface="+mn-cs"/>
                          <a:sym typeface="Symbol"/>
                        </a:rPr>
                        <a:t></a:t>
                      </a:r>
                      <a:r>
                        <a:rPr lang="en-US" b="1" dirty="0"/>
                        <a:t> </a:t>
                      </a:r>
                      <a:r>
                        <a:rPr lang="en-US" dirty="0"/>
                        <a:t>Insulin,</a:t>
                      </a:r>
                      <a:r>
                        <a:rPr lang="en-US" baseline="0" dirty="0"/>
                        <a:t> </a:t>
                      </a:r>
                      <a:r>
                        <a:rPr lang="en-US" sz="1800" b="1" kern="1200" dirty="0" err="1">
                          <a:solidFill>
                            <a:schemeClr val="dk1"/>
                          </a:solidFill>
                          <a:latin typeface="+mn-lt"/>
                          <a:ea typeface="+mn-ea"/>
                          <a:cs typeface="+mn-cs"/>
                          <a:sym typeface="Symbol"/>
                        </a:rPr>
                        <a:t></a:t>
                      </a:r>
                      <a:r>
                        <a:rPr lang="en-US" sz="1800" b="1" kern="1200" dirty="0">
                          <a:solidFill>
                            <a:schemeClr val="dk1"/>
                          </a:solidFill>
                          <a:latin typeface="+mn-lt"/>
                          <a:ea typeface="+mn-ea"/>
                          <a:cs typeface="+mn-cs"/>
                          <a:sym typeface="Symbol"/>
                        </a:rPr>
                        <a:t> </a:t>
                      </a:r>
                      <a:r>
                        <a:rPr lang="en-US" sz="1800" b="0" kern="1200" dirty="0">
                          <a:solidFill>
                            <a:schemeClr val="dk1"/>
                          </a:solidFill>
                          <a:latin typeface="+mn-lt"/>
                          <a:ea typeface="+mn-ea"/>
                          <a:cs typeface="+mn-cs"/>
                          <a:sym typeface="Symbol"/>
                        </a:rPr>
                        <a:t>glucagon</a:t>
                      </a:r>
                      <a:endParaRPr lang="en-US" sz="1800" b="0" kern="1200" baseline="0" dirty="0">
                        <a:solidFill>
                          <a:schemeClr val="dk1"/>
                        </a:solidFill>
                        <a:latin typeface="+mn-lt"/>
                        <a:ea typeface="+mn-ea"/>
                        <a:cs typeface="+mn-cs"/>
                        <a:sym typeface="Symbol"/>
                      </a:endParaRPr>
                    </a:p>
                    <a:p>
                      <a:pPr>
                        <a:buFont typeface="Arial"/>
                        <a:buChar char="•"/>
                      </a:pPr>
                      <a:r>
                        <a:rPr lang="en-US" sz="1800" b="0" kern="1200" baseline="0" dirty="0">
                          <a:solidFill>
                            <a:schemeClr val="dk1"/>
                          </a:solidFill>
                          <a:latin typeface="+mn-lt"/>
                          <a:ea typeface="+mn-ea"/>
                          <a:cs typeface="+mn-cs"/>
                          <a:sym typeface="Symbol"/>
                        </a:rPr>
                        <a:t> </a:t>
                      </a:r>
                      <a:r>
                        <a:rPr lang="en-US" sz="1800" b="1" kern="1200" dirty="0" err="1">
                          <a:solidFill>
                            <a:schemeClr val="dk1"/>
                          </a:solidFill>
                          <a:latin typeface="+mn-lt"/>
                          <a:ea typeface="+mn-ea"/>
                          <a:cs typeface="+mn-cs"/>
                          <a:sym typeface="Symbol"/>
                        </a:rPr>
                        <a:t></a:t>
                      </a:r>
                      <a:r>
                        <a:rPr lang="en-US" sz="1800" b="1" kern="1200" dirty="0">
                          <a:solidFill>
                            <a:schemeClr val="dk1"/>
                          </a:solidFill>
                          <a:latin typeface="+mn-lt"/>
                          <a:ea typeface="+mn-ea"/>
                          <a:cs typeface="+mn-cs"/>
                          <a:sym typeface="Symbol"/>
                        </a:rPr>
                        <a:t> </a:t>
                      </a:r>
                      <a:r>
                        <a:rPr lang="en-US" sz="1800" b="0" kern="1200" baseline="0" dirty="0">
                          <a:solidFill>
                            <a:schemeClr val="dk1"/>
                          </a:solidFill>
                          <a:latin typeface="+mn-lt"/>
                          <a:ea typeface="+mn-ea"/>
                          <a:cs typeface="+mn-cs"/>
                          <a:sym typeface="Symbol"/>
                        </a:rPr>
                        <a:t>gastric emptying</a:t>
                      </a:r>
                    </a:p>
                    <a:p>
                      <a:pPr>
                        <a:buFont typeface="Arial"/>
                        <a:buChar char="•"/>
                      </a:pPr>
                      <a:r>
                        <a:rPr lang="en-US" sz="1800" b="0" kern="1200" baseline="0" dirty="0">
                          <a:solidFill>
                            <a:schemeClr val="dk1"/>
                          </a:solidFill>
                          <a:latin typeface="+mn-lt"/>
                          <a:ea typeface="+mn-ea"/>
                          <a:cs typeface="+mn-cs"/>
                          <a:sym typeface="Symbol"/>
                        </a:rPr>
                        <a:t> </a:t>
                      </a:r>
                      <a:r>
                        <a:rPr lang="en-US" sz="1800" b="1" kern="1200" dirty="0" err="1">
                          <a:solidFill>
                            <a:schemeClr val="dk1"/>
                          </a:solidFill>
                          <a:latin typeface="+mn-lt"/>
                          <a:ea typeface="+mn-ea"/>
                          <a:cs typeface="+mn-cs"/>
                          <a:sym typeface="Symbol"/>
                        </a:rPr>
                        <a:t></a:t>
                      </a:r>
                      <a:r>
                        <a:rPr lang="en-US" sz="1800" b="1" kern="1200" dirty="0">
                          <a:solidFill>
                            <a:schemeClr val="dk1"/>
                          </a:solidFill>
                          <a:latin typeface="+mn-lt"/>
                          <a:ea typeface="+mn-ea"/>
                          <a:cs typeface="+mn-cs"/>
                          <a:sym typeface="Symbol"/>
                        </a:rPr>
                        <a:t> </a:t>
                      </a:r>
                      <a:r>
                        <a:rPr lang="en-US" sz="1800" b="0" kern="1200" baseline="0" dirty="0">
                          <a:solidFill>
                            <a:schemeClr val="dk1"/>
                          </a:solidFill>
                          <a:latin typeface="+mn-lt"/>
                          <a:ea typeface="+mn-ea"/>
                          <a:cs typeface="+mn-cs"/>
                          <a:sym typeface="Symbol"/>
                        </a:rPr>
                        <a:t>satiety</a:t>
                      </a:r>
                      <a:endParaRPr lang="en-US" b="0" dirty="0"/>
                    </a:p>
                  </a:txBody>
                  <a:tcPr marL="121920" marR="121920"/>
                </a:tc>
                <a:tc>
                  <a:txBody>
                    <a:bodyPr/>
                    <a:lstStyle/>
                    <a:p>
                      <a:pPr>
                        <a:buFont typeface="Arial"/>
                        <a:buChar char="•"/>
                      </a:pPr>
                      <a:r>
                        <a:rPr lang="en-US" dirty="0"/>
                        <a:t> </a:t>
                      </a:r>
                      <a:r>
                        <a:rPr lang="en-US" sz="1800" b="1" kern="1200" dirty="0">
                          <a:solidFill>
                            <a:schemeClr val="dk1"/>
                          </a:solidFill>
                          <a:latin typeface="+mn-lt"/>
                          <a:ea typeface="+mn-ea"/>
                          <a:cs typeface="+mn-cs"/>
                          <a:sym typeface="Symbol"/>
                        </a:rPr>
                        <a:t> </a:t>
                      </a:r>
                      <a:r>
                        <a:rPr lang="en-US" dirty="0"/>
                        <a:t>Weight</a:t>
                      </a:r>
                    </a:p>
                    <a:p>
                      <a:pPr>
                        <a:buFont typeface="Arial"/>
                        <a:buChar char="•"/>
                      </a:pPr>
                      <a:r>
                        <a:rPr lang="en-US" dirty="0"/>
                        <a:t> No hypoglycemia</a:t>
                      </a:r>
                    </a:p>
                    <a:p>
                      <a:pPr>
                        <a:buFont typeface="Arial"/>
                        <a:buChar char="•"/>
                      </a:pPr>
                      <a:r>
                        <a:rPr lang="en-US" dirty="0"/>
                        <a:t> </a:t>
                      </a:r>
                      <a:r>
                        <a:rPr lang="en-US" sz="1800" b="1" kern="1200" dirty="0">
                          <a:solidFill>
                            <a:schemeClr val="tx1"/>
                          </a:solidFill>
                          <a:latin typeface="+mn-lt"/>
                          <a:ea typeface="+mn-ea"/>
                          <a:cs typeface="+mn-cs"/>
                          <a:sym typeface="Symbol"/>
                        </a:rPr>
                        <a:t></a:t>
                      </a:r>
                      <a:r>
                        <a:rPr lang="en-US" sz="1800" b="0" kern="1200" dirty="0">
                          <a:solidFill>
                            <a:schemeClr val="tx1"/>
                          </a:solidFill>
                          <a:latin typeface="+mn-lt"/>
                          <a:ea typeface="+mn-ea"/>
                          <a:cs typeface="+mn-cs"/>
                          <a:sym typeface="Symbol"/>
                        </a:rPr>
                        <a:t> Postprandial glucose</a:t>
                      </a:r>
                    </a:p>
                    <a:p>
                      <a:pPr>
                        <a:buFont typeface="Arial"/>
                        <a:buChar char="•"/>
                      </a:pPr>
                      <a:r>
                        <a:rPr lang="en-US" dirty="0"/>
                        <a:t> </a:t>
                      </a:r>
                      <a:r>
                        <a:rPr lang="en-US" sz="1800" b="0" kern="1200" dirty="0">
                          <a:solidFill>
                            <a:schemeClr val="dk1"/>
                          </a:solidFill>
                          <a:latin typeface="+mn-lt"/>
                          <a:ea typeface="+mn-ea"/>
                          <a:cs typeface="+mn-cs"/>
                          <a:sym typeface="Symbol"/>
                        </a:rPr>
                        <a:t></a:t>
                      </a:r>
                      <a:r>
                        <a:rPr lang="en-US" dirty="0"/>
                        <a:t> Some CV risk factors</a:t>
                      </a:r>
                    </a:p>
                  </a:txBody>
                  <a:tcPr marL="121920" marR="121920"/>
                </a:tc>
                <a:tc>
                  <a:txBody>
                    <a:bodyPr/>
                    <a:lstStyle/>
                    <a:p>
                      <a:pPr>
                        <a:buFont typeface="Arial"/>
                        <a:buChar char="•"/>
                      </a:pPr>
                      <a:r>
                        <a:rPr lang="en-US" dirty="0"/>
                        <a:t> Gastrointestinal</a:t>
                      </a:r>
                    </a:p>
                    <a:p>
                      <a:pPr>
                        <a:buFont typeface="Arial"/>
                        <a:buChar char="•"/>
                      </a:pPr>
                      <a:r>
                        <a:rPr lang="en-US" dirty="0"/>
                        <a:t> ? Pancreatitis</a:t>
                      </a:r>
                    </a:p>
                    <a:p>
                      <a:pPr>
                        <a:buFont typeface="Arial"/>
                        <a:buChar char="•"/>
                      </a:pPr>
                      <a:r>
                        <a:rPr lang="en-US" dirty="0"/>
                        <a:t>Medullary</a:t>
                      </a:r>
                      <a:r>
                        <a:rPr lang="en-US" baseline="0" dirty="0"/>
                        <a:t> ca (rodents)</a:t>
                      </a:r>
                    </a:p>
                    <a:p>
                      <a:pPr>
                        <a:buFont typeface="Arial"/>
                        <a:buChar char="•"/>
                      </a:pPr>
                      <a:r>
                        <a:rPr lang="en-US" baseline="0" dirty="0"/>
                        <a:t>Training requirements</a:t>
                      </a:r>
                    </a:p>
                    <a:p>
                      <a:pPr>
                        <a:buFont typeface="Arial"/>
                        <a:buChar char="•"/>
                      </a:pPr>
                      <a:r>
                        <a:rPr lang="en-US" baseline="0" dirty="0"/>
                        <a:t>Cost</a:t>
                      </a:r>
                      <a:endParaRPr lang="en-US" dirty="0"/>
                    </a:p>
                  </a:txBody>
                  <a:tcPr marL="121920" marR="121920"/>
                </a:tc>
                <a:extLst>
                  <a:ext uri="{0D108BD9-81ED-4DB2-BD59-A6C34878D82A}">
                    <a16:rowId xmlns:a16="http://schemas.microsoft.com/office/drawing/2014/main" val="10002"/>
                  </a:ext>
                </a:extLst>
              </a:tr>
              <a:tr h="1446086">
                <a:tc>
                  <a:txBody>
                    <a:bodyPr/>
                    <a:lstStyle/>
                    <a:p>
                      <a:r>
                        <a:rPr lang="en-US" b="1" dirty="0"/>
                        <a:t>Insulin</a:t>
                      </a:r>
                    </a:p>
                  </a:txBody>
                  <a:tcPr marL="121920" marR="121920"/>
                </a:tc>
                <a:tc>
                  <a:txBody>
                    <a:bodyPr/>
                    <a:lstStyle/>
                    <a:p>
                      <a:pPr>
                        <a:buFont typeface="Arial"/>
                        <a:buChar char="•"/>
                      </a:pPr>
                      <a:r>
                        <a:rPr lang="en-US" dirty="0"/>
                        <a:t> Activates</a:t>
                      </a:r>
                      <a:r>
                        <a:rPr lang="en-US" baseline="0" dirty="0"/>
                        <a:t> insulin receptor</a:t>
                      </a:r>
                    </a:p>
                    <a:p>
                      <a:pPr>
                        <a:buFont typeface="Arial"/>
                        <a:buChar char="•"/>
                      </a:pPr>
                      <a:r>
                        <a:rPr lang="en-US" baseline="0" dirty="0"/>
                        <a:t> Myriad</a:t>
                      </a:r>
                    </a:p>
                    <a:p>
                      <a:pPr>
                        <a:buFont typeface="Arial"/>
                        <a:buNone/>
                      </a:pPr>
                      <a:endParaRPr lang="en-US" baseline="0" dirty="0"/>
                    </a:p>
                  </a:txBody>
                  <a:tcPr marL="121920" marR="121920"/>
                </a:tc>
                <a:tc>
                  <a:txBody>
                    <a:bodyPr/>
                    <a:lstStyle/>
                    <a:p>
                      <a:pPr marL="0" marR="0" indent="0" algn="l" defTabSz="457200" rtl="0" eaLnBrk="1" fontAlgn="auto" latinLnBrk="0" hangingPunct="1">
                        <a:lnSpc>
                          <a:spcPct val="100000"/>
                        </a:lnSpc>
                        <a:spcBef>
                          <a:spcPts val="0"/>
                        </a:spcBef>
                        <a:spcAft>
                          <a:spcPts val="0"/>
                        </a:spcAft>
                        <a:buClrTx/>
                        <a:buSzTx/>
                        <a:buFont typeface="Arial"/>
                        <a:buChar char="•"/>
                        <a:tabLst/>
                        <a:defRPr/>
                      </a:pPr>
                      <a:r>
                        <a:rPr lang="en-US" dirty="0"/>
                        <a:t> Universally</a:t>
                      </a:r>
                      <a:r>
                        <a:rPr lang="en-US" baseline="0" dirty="0"/>
                        <a:t> effective</a:t>
                      </a:r>
                      <a:endParaRPr lang="en-US" dirty="0"/>
                    </a:p>
                    <a:p>
                      <a:pPr>
                        <a:buFont typeface="Arial"/>
                        <a:buChar char="•"/>
                      </a:pPr>
                      <a:r>
                        <a:rPr lang="en-US" dirty="0"/>
                        <a:t> Unlimited</a:t>
                      </a:r>
                      <a:r>
                        <a:rPr lang="en-US" baseline="0" dirty="0"/>
                        <a:t> efficacy</a:t>
                      </a:r>
                    </a:p>
                    <a:p>
                      <a:pPr>
                        <a:buFont typeface="Arial"/>
                        <a:buChar char="•"/>
                      </a:pPr>
                      <a:r>
                        <a:rPr lang="en-US" baseline="0" dirty="0"/>
                        <a:t> </a:t>
                      </a:r>
                      <a:r>
                        <a:rPr lang="en-US" sz="1800" b="1" kern="1200" dirty="0" err="1">
                          <a:solidFill>
                            <a:schemeClr val="dk1"/>
                          </a:solidFill>
                          <a:latin typeface="+mn-lt"/>
                          <a:ea typeface="+mn-ea"/>
                          <a:cs typeface="+mn-cs"/>
                          <a:sym typeface="Symbol"/>
                        </a:rPr>
                        <a:t></a:t>
                      </a:r>
                      <a:r>
                        <a:rPr lang="en-US" sz="1800" b="1" kern="1200" dirty="0">
                          <a:solidFill>
                            <a:schemeClr val="dk1"/>
                          </a:solidFill>
                          <a:latin typeface="+mn-lt"/>
                          <a:ea typeface="+mn-ea"/>
                          <a:cs typeface="+mn-cs"/>
                          <a:sym typeface="Symbol"/>
                        </a:rPr>
                        <a:t> </a:t>
                      </a:r>
                      <a:r>
                        <a:rPr lang="en-US" dirty="0" err="1"/>
                        <a:t>Microvascular</a:t>
                      </a:r>
                      <a:r>
                        <a:rPr lang="en-US" dirty="0"/>
                        <a:t> risk</a:t>
                      </a:r>
                    </a:p>
                  </a:txBody>
                  <a:tcPr marL="121920" marR="121920"/>
                </a:tc>
                <a:tc>
                  <a:txBody>
                    <a:bodyPr/>
                    <a:lstStyle/>
                    <a:p>
                      <a:pPr>
                        <a:buFont typeface="Arial"/>
                        <a:buChar char="•"/>
                      </a:pPr>
                      <a:r>
                        <a:rPr lang="en-US" dirty="0"/>
                        <a:t> Hypoglycemia</a:t>
                      </a:r>
                    </a:p>
                    <a:p>
                      <a:pPr>
                        <a:buFont typeface="Arial"/>
                        <a:buChar char="•"/>
                      </a:pPr>
                      <a:r>
                        <a:rPr lang="en-US" dirty="0"/>
                        <a:t> Weight</a:t>
                      </a:r>
                      <a:r>
                        <a:rPr lang="en-US" baseline="0" dirty="0"/>
                        <a:t> gain</a:t>
                      </a:r>
                    </a:p>
                    <a:p>
                      <a:pPr>
                        <a:buFont typeface="Arial"/>
                        <a:buChar char="•"/>
                      </a:pPr>
                      <a:r>
                        <a:rPr lang="en-US" baseline="0" dirty="0"/>
                        <a:t>Patient reluctance</a:t>
                      </a:r>
                      <a:endParaRPr lang="en-US" dirty="0"/>
                    </a:p>
                    <a:p>
                      <a:pPr>
                        <a:buFont typeface="Arial"/>
                        <a:buChar char="•"/>
                      </a:pPr>
                      <a:r>
                        <a:rPr lang="en-US" baseline="0" dirty="0"/>
                        <a:t> Training requirements</a:t>
                      </a:r>
                    </a:p>
                    <a:p>
                      <a:pPr>
                        <a:buFont typeface="Arial"/>
                        <a:buChar char="•"/>
                      </a:pPr>
                      <a:r>
                        <a:rPr lang="en-US" baseline="0" dirty="0"/>
                        <a:t>Cost – for analogues</a:t>
                      </a:r>
                    </a:p>
                  </a:txBody>
                  <a:tcPr marL="121920" marR="121920"/>
                </a:tc>
                <a:extLst>
                  <a:ext uri="{0D108BD9-81ED-4DB2-BD59-A6C34878D82A}">
                    <a16:rowId xmlns:a16="http://schemas.microsoft.com/office/drawing/2014/main" val="10003"/>
                  </a:ext>
                </a:extLst>
              </a:tr>
            </a:tbl>
          </a:graphicData>
        </a:graphic>
      </p:graphicFrame>
      <p:sp>
        <p:nvSpPr>
          <p:cNvPr id="6" name="TextBox 21"/>
          <p:cNvSpPr txBox="1">
            <a:spLocks noChangeArrowheads="1"/>
          </p:cNvSpPr>
          <p:nvPr/>
        </p:nvSpPr>
        <p:spPr bwMode="auto">
          <a:xfrm>
            <a:off x="7963010" y="6378029"/>
            <a:ext cx="3924190" cy="523212"/>
          </a:xfrm>
          <a:prstGeom prst="rect">
            <a:avLst/>
          </a:prstGeom>
          <a:noFill/>
          <a:ln w="9525">
            <a:noFill/>
            <a:miter lim="800000"/>
            <a:headEnd/>
            <a:tailEnd/>
          </a:ln>
        </p:spPr>
        <p:txBody>
          <a:bodyPr wrap="square" lIns="91431" tIns="45716" rIns="91431" bIns="45716">
            <a:prstTxWarp prst="textNoShape">
              <a:avLst/>
            </a:prstTxWarp>
            <a:spAutoFit/>
          </a:bodyPr>
          <a:lstStyle/>
          <a:p>
            <a:pPr algn="r" fontAlgn="base" hangingPunct="1">
              <a:spcBef>
                <a:spcPct val="0"/>
              </a:spcBef>
              <a:spcAft>
                <a:spcPct val="0"/>
              </a:spcAft>
              <a:defRPr/>
            </a:pPr>
            <a:r>
              <a:rPr lang="en-US" sz="1400" i="1" kern="1200" dirty="0">
                <a:latin typeface="Times"/>
                <a:ea typeface="Times New Roman" charset="0"/>
                <a:cs typeface="Times"/>
              </a:rPr>
              <a:t>Diabetes Care</a:t>
            </a:r>
            <a:r>
              <a:rPr lang="en-US" sz="1400" kern="1200" dirty="0">
                <a:latin typeface="Times"/>
                <a:ea typeface="Times New Roman" charset="0"/>
                <a:cs typeface="Times"/>
              </a:rPr>
              <a:t> 2015;38:140-149; </a:t>
            </a:r>
          </a:p>
          <a:p>
            <a:pPr algn="r" fontAlgn="base" hangingPunct="1">
              <a:spcBef>
                <a:spcPct val="0"/>
              </a:spcBef>
              <a:spcAft>
                <a:spcPct val="0"/>
              </a:spcAft>
              <a:defRPr/>
            </a:pPr>
            <a:r>
              <a:rPr lang="en-US" sz="1400" i="1" kern="1200" dirty="0" err="1">
                <a:latin typeface="Times"/>
                <a:ea typeface="Times New Roman" charset="0"/>
                <a:cs typeface="Times"/>
              </a:rPr>
              <a:t>Diabetologia</a:t>
            </a:r>
            <a:r>
              <a:rPr lang="en-US" sz="1400" kern="1200" dirty="0">
                <a:latin typeface="Times"/>
                <a:ea typeface="Times New Roman" charset="0"/>
                <a:cs typeface="Times"/>
              </a:rPr>
              <a:t> </a:t>
            </a:r>
            <a:r>
              <a:rPr lang="en-US" sz="1400" kern="1200" dirty="0">
                <a:latin typeface="Times New Roman" charset="0"/>
                <a:ea typeface="Times New Roman" charset="0"/>
                <a:cs typeface="Times New Roman" charset="0"/>
              </a:rPr>
              <a:t>2015;58:429-442</a:t>
            </a:r>
          </a:p>
        </p:txBody>
      </p:sp>
    </p:spTree>
    <p:extLst>
      <p:ext uri="{BB962C8B-B14F-4D97-AF65-F5344CB8AC3E}">
        <p14:creationId xmlns:p14="http://schemas.microsoft.com/office/powerpoint/2010/main" val="28567106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9FF75-95E1-3331-0DB3-FB51EF092079}"/>
              </a:ext>
            </a:extLst>
          </p:cNvPr>
          <p:cNvSpPr>
            <a:spLocks noGrp="1"/>
          </p:cNvSpPr>
          <p:nvPr>
            <p:ph type="ctrTitle"/>
          </p:nvPr>
        </p:nvSpPr>
        <p:spPr/>
        <p:txBody>
          <a:bodyPr/>
          <a:lstStyle/>
          <a:p>
            <a:r>
              <a:rPr lang="en-US" dirty="0">
                <a:ea typeface="ＭＳ Ｐゴシック"/>
              </a:rPr>
              <a:t>Highlighting medications currently in common use</a:t>
            </a:r>
            <a:endParaRPr lang="en-US" dirty="0"/>
          </a:p>
        </p:txBody>
      </p:sp>
      <p:sp>
        <p:nvSpPr>
          <p:cNvPr id="3" name="Subtitle 2">
            <a:extLst>
              <a:ext uri="{FF2B5EF4-FFF2-40B4-BE49-F238E27FC236}">
                <a16:creationId xmlns:a16="http://schemas.microsoft.com/office/drawing/2014/main" id="{8F467891-E73C-47F0-5456-A1657E2B3853}"/>
              </a:ext>
            </a:extLst>
          </p:cNvPr>
          <p:cNvSpPr>
            <a:spLocks noGrp="1"/>
          </p:cNvSpPr>
          <p:nvPr>
            <p:ph type="subTitle" idx="1"/>
          </p:nvPr>
        </p:nvSpPr>
        <p:spPr/>
        <p:txBody>
          <a:bodyPr/>
          <a:lstStyle/>
          <a:p>
            <a:r>
              <a:rPr lang="en-US" dirty="0">
                <a:ea typeface="ＭＳ Ｐゴシック"/>
              </a:rPr>
              <a:t>American Diabetes Association 2024</a:t>
            </a:r>
            <a:endParaRPr lang="en-US" dirty="0"/>
          </a:p>
        </p:txBody>
      </p:sp>
    </p:spTree>
    <p:extLst>
      <p:ext uri="{BB962C8B-B14F-4D97-AF65-F5344CB8AC3E}">
        <p14:creationId xmlns:p14="http://schemas.microsoft.com/office/powerpoint/2010/main" val="2681719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19DE4C81-7A1C-128D-8031-ED6766D8CEDA}"/>
              </a:ext>
            </a:extLst>
          </p:cNvPr>
          <p:cNvGraphicFramePr>
            <a:graphicFrameLocks noGrp="1"/>
          </p:cNvGraphicFramePr>
          <p:nvPr>
            <p:extLst>
              <p:ext uri="{D42A27DB-BD31-4B8C-83A1-F6EECF244321}">
                <p14:modId xmlns:p14="http://schemas.microsoft.com/office/powerpoint/2010/main" val="1764120012"/>
              </p:ext>
            </p:extLst>
          </p:nvPr>
        </p:nvGraphicFramePr>
        <p:xfrm>
          <a:off x="786302" y="166322"/>
          <a:ext cx="11077946" cy="5996738"/>
        </p:xfrm>
        <a:graphic>
          <a:graphicData uri="http://schemas.openxmlformats.org/drawingml/2006/table">
            <a:tbl>
              <a:tblPr firstRow="1" bandRow="1">
                <a:tableStyleId>{5940675A-B579-460E-94D1-54222C63F5DA}</a:tableStyleId>
              </a:tblPr>
              <a:tblGrid>
                <a:gridCol w="1582565">
                  <a:extLst>
                    <a:ext uri="{9D8B030D-6E8A-4147-A177-3AD203B41FA5}">
                      <a16:colId xmlns:a16="http://schemas.microsoft.com/office/drawing/2014/main" val="635757123"/>
                    </a:ext>
                  </a:extLst>
                </a:gridCol>
                <a:gridCol w="1054229">
                  <a:extLst>
                    <a:ext uri="{9D8B030D-6E8A-4147-A177-3AD203B41FA5}">
                      <a16:colId xmlns:a16="http://schemas.microsoft.com/office/drawing/2014/main" val="616651835"/>
                    </a:ext>
                  </a:extLst>
                </a:gridCol>
                <a:gridCol w="1489100">
                  <a:extLst>
                    <a:ext uri="{9D8B030D-6E8A-4147-A177-3AD203B41FA5}">
                      <a16:colId xmlns:a16="http://schemas.microsoft.com/office/drawing/2014/main" val="3468301676"/>
                    </a:ext>
                  </a:extLst>
                </a:gridCol>
                <a:gridCol w="1699945">
                  <a:extLst>
                    <a:ext uri="{9D8B030D-6E8A-4147-A177-3AD203B41FA5}">
                      <a16:colId xmlns:a16="http://schemas.microsoft.com/office/drawing/2014/main" val="1612956259"/>
                    </a:ext>
                  </a:extLst>
                </a:gridCol>
                <a:gridCol w="1647234">
                  <a:extLst>
                    <a:ext uri="{9D8B030D-6E8A-4147-A177-3AD203B41FA5}">
                      <a16:colId xmlns:a16="http://schemas.microsoft.com/office/drawing/2014/main" val="3586641011"/>
                    </a:ext>
                  </a:extLst>
                </a:gridCol>
                <a:gridCol w="935629">
                  <a:extLst>
                    <a:ext uri="{9D8B030D-6E8A-4147-A177-3AD203B41FA5}">
                      <a16:colId xmlns:a16="http://schemas.microsoft.com/office/drawing/2014/main" val="1622496787"/>
                    </a:ext>
                  </a:extLst>
                </a:gridCol>
                <a:gridCol w="2669244">
                  <a:extLst>
                    <a:ext uri="{9D8B030D-6E8A-4147-A177-3AD203B41FA5}">
                      <a16:colId xmlns:a16="http://schemas.microsoft.com/office/drawing/2014/main" val="778645976"/>
                    </a:ext>
                  </a:extLst>
                </a:gridCol>
              </a:tblGrid>
              <a:tr h="940969">
                <a:tc>
                  <a:txBody>
                    <a:bodyPr/>
                    <a:lstStyle/>
                    <a:p>
                      <a:r>
                        <a:rPr lang="en-US" dirty="0"/>
                        <a:t>Drug </a:t>
                      </a:r>
                    </a:p>
                  </a:txBody>
                  <a:tcPr/>
                </a:tc>
                <a:tc>
                  <a:txBody>
                    <a:bodyPr/>
                    <a:lstStyle/>
                    <a:p>
                      <a:r>
                        <a:rPr lang="en-US" dirty="0"/>
                        <a:t>Efficacy</a:t>
                      </a:r>
                    </a:p>
                  </a:txBody>
                  <a:tcPr/>
                </a:tc>
                <a:tc>
                  <a:txBody>
                    <a:bodyPr/>
                    <a:lstStyle/>
                    <a:p>
                      <a:r>
                        <a:rPr lang="en-US" dirty="0"/>
                        <a:t>Hypoglycemia</a:t>
                      </a:r>
                    </a:p>
                  </a:txBody>
                  <a:tcPr/>
                </a:tc>
                <a:tc>
                  <a:txBody>
                    <a:bodyPr/>
                    <a:lstStyle/>
                    <a:p>
                      <a:r>
                        <a:rPr lang="en-US" dirty="0"/>
                        <a:t>weight</a:t>
                      </a:r>
                    </a:p>
                  </a:txBody>
                  <a:tcPr/>
                </a:tc>
                <a:tc>
                  <a:txBody>
                    <a:bodyPr/>
                    <a:lstStyle/>
                    <a:p>
                      <a:pPr lvl="0">
                        <a:buNone/>
                      </a:pPr>
                      <a:r>
                        <a:rPr lang="en-US" dirty="0"/>
                        <a:t>Cardiovascular</a:t>
                      </a:r>
                    </a:p>
                  </a:txBody>
                  <a:tcPr/>
                </a:tc>
                <a:tc>
                  <a:txBody>
                    <a:bodyPr/>
                    <a:lstStyle/>
                    <a:p>
                      <a:r>
                        <a:rPr lang="en-US" dirty="0"/>
                        <a:t>cost</a:t>
                      </a:r>
                    </a:p>
                  </a:txBody>
                  <a:tcPr/>
                </a:tc>
                <a:tc>
                  <a:txBody>
                    <a:bodyPr/>
                    <a:lstStyle/>
                    <a:p>
                      <a:r>
                        <a:rPr lang="en-US" dirty="0"/>
                        <a:t>Clinical considerations</a:t>
                      </a:r>
                    </a:p>
                  </a:txBody>
                  <a:tcPr/>
                </a:tc>
                <a:extLst>
                  <a:ext uri="{0D108BD9-81ED-4DB2-BD59-A6C34878D82A}">
                    <a16:rowId xmlns:a16="http://schemas.microsoft.com/office/drawing/2014/main" val="1769842504"/>
                  </a:ext>
                </a:extLst>
              </a:tr>
              <a:tr h="940969">
                <a:tc>
                  <a:txBody>
                    <a:bodyPr/>
                    <a:lstStyle/>
                    <a:p>
                      <a:r>
                        <a:rPr lang="en-US" dirty="0"/>
                        <a:t>Metformin</a:t>
                      </a:r>
                    </a:p>
                  </a:txBody>
                  <a:tcPr/>
                </a:tc>
                <a:tc>
                  <a:txBody>
                    <a:bodyPr/>
                    <a:lstStyle/>
                    <a:p>
                      <a:r>
                        <a:rPr lang="en-US" dirty="0"/>
                        <a:t>High</a:t>
                      </a:r>
                    </a:p>
                  </a:txBody>
                  <a:tcPr/>
                </a:tc>
                <a:tc>
                  <a:txBody>
                    <a:bodyPr/>
                    <a:lstStyle/>
                    <a:p>
                      <a:r>
                        <a:rPr lang="en-US" dirty="0"/>
                        <a:t>none</a:t>
                      </a:r>
                    </a:p>
                  </a:txBody>
                  <a:tcPr/>
                </a:tc>
                <a:tc>
                  <a:txBody>
                    <a:bodyPr/>
                    <a:lstStyle/>
                    <a:p>
                      <a:r>
                        <a:rPr lang="en-US" dirty="0"/>
                        <a:t>Mild </a:t>
                      </a:r>
                    </a:p>
                  </a:txBody>
                  <a:tcPr/>
                </a:tc>
                <a:tc>
                  <a:txBody>
                    <a:bodyPr/>
                    <a:lstStyle/>
                    <a:p>
                      <a:r>
                        <a:rPr lang="en-US" dirty="0"/>
                        <a:t>Neutral </a:t>
                      </a:r>
                    </a:p>
                  </a:txBody>
                  <a:tcPr/>
                </a:tc>
                <a:tc>
                  <a:txBody>
                    <a:bodyPr/>
                    <a:lstStyle/>
                    <a:p>
                      <a:r>
                        <a:rPr lang="en-US" dirty="0"/>
                        <a:t>Low </a:t>
                      </a:r>
                    </a:p>
                  </a:txBody>
                  <a:tcPr/>
                </a:tc>
                <a:tc>
                  <a:txBody>
                    <a:bodyPr/>
                    <a:lstStyle/>
                    <a:p>
                      <a:r>
                        <a:rPr lang="en-US" dirty="0"/>
                        <a:t>Diarrhea</a:t>
                      </a:r>
                    </a:p>
                    <a:p>
                      <a:pPr lvl="0">
                        <a:buNone/>
                      </a:pPr>
                      <a:r>
                        <a:rPr lang="en-US" dirty="0"/>
                        <a:t>B12 def</a:t>
                      </a:r>
                    </a:p>
                    <a:p>
                      <a:pPr lvl="0">
                        <a:buNone/>
                      </a:pPr>
                      <a:r>
                        <a:rPr lang="en-US" dirty="0"/>
                        <a:t>Avoid when ill( lactic acidosis)</a:t>
                      </a:r>
                    </a:p>
                  </a:txBody>
                  <a:tcPr/>
                </a:tc>
                <a:extLst>
                  <a:ext uri="{0D108BD9-81ED-4DB2-BD59-A6C34878D82A}">
                    <a16:rowId xmlns:a16="http://schemas.microsoft.com/office/drawing/2014/main" val="1031223890"/>
                  </a:ext>
                </a:extLst>
              </a:tr>
              <a:tr h="940969">
                <a:tc>
                  <a:txBody>
                    <a:bodyPr/>
                    <a:lstStyle/>
                    <a:p>
                      <a:r>
                        <a:rPr lang="en-US" dirty="0"/>
                        <a:t>SGLT2 </a:t>
                      </a:r>
                      <a:endParaRPr lang="en-US"/>
                    </a:p>
                    <a:p>
                      <a:pPr lvl="0">
                        <a:buNone/>
                      </a:pPr>
                      <a:r>
                        <a:rPr lang="en-US" dirty="0"/>
                        <a:t>inhibitors</a:t>
                      </a:r>
                    </a:p>
                  </a:txBody>
                  <a:tcPr/>
                </a:tc>
                <a:tc>
                  <a:txBody>
                    <a:bodyPr/>
                    <a:lstStyle/>
                    <a:p>
                      <a:r>
                        <a:rPr lang="en-US" dirty="0"/>
                        <a:t>High to medium</a:t>
                      </a:r>
                    </a:p>
                  </a:txBody>
                  <a:tcPr/>
                </a:tc>
                <a:tc>
                  <a:txBody>
                    <a:bodyPr/>
                    <a:lstStyle/>
                    <a:p>
                      <a:r>
                        <a:rPr lang="en-US" dirty="0"/>
                        <a:t>none</a:t>
                      </a:r>
                    </a:p>
                  </a:txBody>
                  <a:tcPr/>
                </a:tc>
                <a:tc>
                  <a:txBody>
                    <a:bodyPr/>
                    <a:lstStyle/>
                    <a:p>
                      <a:r>
                        <a:rPr lang="en-US" dirty="0"/>
                        <a:t>Mild to moderate</a:t>
                      </a:r>
                    </a:p>
                  </a:txBody>
                  <a:tcPr/>
                </a:tc>
                <a:tc>
                  <a:txBody>
                    <a:bodyPr/>
                    <a:lstStyle/>
                    <a:p>
                      <a:r>
                        <a:rPr lang="en-US" dirty="0"/>
                        <a:t>Yes </a:t>
                      </a:r>
                    </a:p>
                    <a:p>
                      <a:pPr lvl="0">
                        <a:buNone/>
                      </a:pPr>
                      <a:r>
                        <a:rPr lang="en-US" dirty="0"/>
                        <a:t>Renal protection</a:t>
                      </a:r>
                    </a:p>
                  </a:txBody>
                  <a:tcPr/>
                </a:tc>
                <a:tc>
                  <a:txBody>
                    <a:bodyPr/>
                    <a:lstStyle/>
                    <a:p>
                      <a:r>
                        <a:rPr lang="en-US" dirty="0"/>
                        <a:t>Medium </a:t>
                      </a:r>
                    </a:p>
                  </a:txBody>
                  <a:tcPr/>
                </a:tc>
                <a:tc>
                  <a:txBody>
                    <a:bodyPr/>
                    <a:lstStyle/>
                    <a:p>
                      <a:r>
                        <a:rPr lang="en-US" dirty="0"/>
                        <a:t>Genital yeast infection</a:t>
                      </a:r>
                    </a:p>
                    <a:p>
                      <a:pPr lvl="0">
                        <a:buNone/>
                      </a:pPr>
                      <a:r>
                        <a:rPr lang="en-US" dirty="0"/>
                        <a:t>Fournier gangrene</a:t>
                      </a:r>
                    </a:p>
                    <a:p>
                      <a:pPr lvl="0">
                        <a:buNone/>
                      </a:pPr>
                      <a:r>
                        <a:rPr lang="en-US" dirty="0"/>
                        <a:t>Stop when ill</a:t>
                      </a:r>
                    </a:p>
                    <a:p>
                      <a:pPr lvl="0">
                        <a:buNone/>
                      </a:pPr>
                      <a:r>
                        <a:rPr lang="en-US" dirty="0"/>
                        <a:t>Euglycemic DKA</a:t>
                      </a:r>
                    </a:p>
                  </a:txBody>
                  <a:tcPr/>
                </a:tc>
                <a:extLst>
                  <a:ext uri="{0D108BD9-81ED-4DB2-BD59-A6C34878D82A}">
                    <a16:rowId xmlns:a16="http://schemas.microsoft.com/office/drawing/2014/main" val="3358332250"/>
                  </a:ext>
                </a:extLst>
              </a:tr>
              <a:tr h="940969">
                <a:tc>
                  <a:txBody>
                    <a:bodyPr/>
                    <a:lstStyle/>
                    <a:p>
                      <a:r>
                        <a:rPr lang="en-US" dirty="0"/>
                        <a:t>GLP-1</a:t>
                      </a:r>
                    </a:p>
                    <a:p>
                      <a:pPr lvl="0">
                        <a:buNone/>
                      </a:pPr>
                      <a:r>
                        <a:rPr lang="en-US" dirty="0"/>
                        <a:t>agonist</a:t>
                      </a:r>
                    </a:p>
                  </a:txBody>
                  <a:tcPr/>
                </a:tc>
                <a:tc>
                  <a:txBody>
                    <a:bodyPr/>
                    <a:lstStyle/>
                    <a:p>
                      <a:r>
                        <a:rPr lang="en-US" dirty="0"/>
                        <a:t>High</a:t>
                      </a:r>
                    </a:p>
                  </a:txBody>
                  <a:tcPr/>
                </a:tc>
                <a:tc>
                  <a:txBody>
                    <a:bodyPr/>
                    <a:lstStyle/>
                    <a:p>
                      <a:r>
                        <a:rPr lang="en-US" dirty="0"/>
                        <a:t>none</a:t>
                      </a:r>
                    </a:p>
                  </a:txBody>
                  <a:tcPr/>
                </a:tc>
                <a:tc>
                  <a:txBody>
                    <a:bodyPr/>
                    <a:lstStyle/>
                    <a:p>
                      <a:r>
                        <a:rPr lang="en-US" dirty="0"/>
                        <a:t>Very High </a:t>
                      </a:r>
                    </a:p>
                  </a:txBody>
                  <a:tcPr/>
                </a:tc>
                <a:tc>
                  <a:txBody>
                    <a:bodyPr/>
                    <a:lstStyle/>
                    <a:p>
                      <a:r>
                        <a:rPr lang="en-US" dirty="0"/>
                        <a:t>Yes </a:t>
                      </a:r>
                    </a:p>
                  </a:txBody>
                  <a:tcPr/>
                </a:tc>
                <a:tc>
                  <a:txBody>
                    <a:bodyPr/>
                    <a:lstStyle/>
                    <a:p>
                      <a:r>
                        <a:rPr lang="en-US" dirty="0"/>
                        <a:t>High </a:t>
                      </a:r>
                    </a:p>
                  </a:txBody>
                  <a:tcPr/>
                </a:tc>
                <a:tc>
                  <a:txBody>
                    <a:bodyPr/>
                    <a:lstStyle/>
                    <a:p>
                      <a:r>
                        <a:rPr lang="en-US" dirty="0"/>
                        <a:t>Risk of medullary thyroid cancer in rats'</a:t>
                      </a:r>
                    </a:p>
                    <a:p>
                      <a:pPr lvl="0">
                        <a:buNone/>
                      </a:pPr>
                      <a:r>
                        <a:rPr lang="en-US" dirty="0"/>
                        <a:t>Cholecystitis/pancreatitis</a:t>
                      </a:r>
                    </a:p>
                    <a:p>
                      <a:pPr lvl="0">
                        <a:buNone/>
                      </a:pPr>
                      <a:r>
                        <a:rPr lang="en-US" dirty="0"/>
                        <a:t>GI side effect</a:t>
                      </a:r>
                    </a:p>
                    <a:p>
                      <a:pPr lvl="0">
                        <a:buNone/>
                      </a:pPr>
                      <a:r>
                        <a:rPr lang="en-US" dirty="0"/>
                        <a:t>Stop before any surgery x 1 week</a:t>
                      </a:r>
                    </a:p>
                  </a:txBody>
                  <a:tcPr/>
                </a:tc>
                <a:extLst>
                  <a:ext uri="{0D108BD9-81ED-4DB2-BD59-A6C34878D82A}">
                    <a16:rowId xmlns:a16="http://schemas.microsoft.com/office/drawing/2014/main" val="3348663791"/>
                  </a:ext>
                </a:extLst>
              </a:tr>
              <a:tr h="940969">
                <a:tc>
                  <a:txBody>
                    <a:bodyPr/>
                    <a:lstStyle/>
                    <a:p>
                      <a:r>
                        <a:rPr lang="en-US" dirty="0"/>
                        <a:t>DUAL</a:t>
                      </a:r>
                    </a:p>
                    <a:p>
                      <a:pPr lvl="0">
                        <a:buNone/>
                      </a:pPr>
                      <a:r>
                        <a:rPr lang="en-US" dirty="0"/>
                        <a:t>GLP1 ,GIP</a:t>
                      </a:r>
                    </a:p>
                    <a:p>
                      <a:pPr lvl="0">
                        <a:buNone/>
                      </a:pPr>
                      <a:r>
                        <a:rPr lang="en-US" dirty="0"/>
                        <a:t>agonist</a:t>
                      </a:r>
                    </a:p>
                  </a:txBody>
                  <a:tcPr/>
                </a:tc>
                <a:tc>
                  <a:txBody>
                    <a:bodyPr/>
                    <a:lstStyle/>
                    <a:p>
                      <a:r>
                        <a:rPr lang="en-US" dirty="0"/>
                        <a:t>High</a:t>
                      </a:r>
                    </a:p>
                  </a:txBody>
                  <a:tcPr/>
                </a:tc>
                <a:tc>
                  <a:txBody>
                    <a:bodyPr/>
                    <a:lstStyle/>
                    <a:p>
                      <a:r>
                        <a:rPr lang="en-US" dirty="0"/>
                        <a:t>none</a:t>
                      </a:r>
                    </a:p>
                  </a:txBody>
                  <a:tcPr/>
                </a:tc>
                <a:tc>
                  <a:txBody>
                    <a:bodyPr/>
                    <a:lstStyle/>
                    <a:p>
                      <a:r>
                        <a:rPr lang="en-US" dirty="0"/>
                        <a:t>Very High </a:t>
                      </a:r>
                    </a:p>
                  </a:txBody>
                  <a:tcPr/>
                </a:tc>
                <a:tc>
                  <a:txBody>
                    <a:bodyPr/>
                    <a:lstStyle/>
                    <a:p>
                      <a:r>
                        <a:rPr lang="en-US" dirty="0"/>
                        <a:t>Yes </a:t>
                      </a:r>
                    </a:p>
                  </a:txBody>
                  <a:tcPr/>
                </a:tc>
                <a:tc>
                  <a:txBody>
                    <a:bodyPr/>
                    <a:lstStyle/>
                    <a:p>
                      <a:r>
                        <a:rPr lang="en-US" dirty="0"/>
                        <a:t>High </a:t>
                      </a:r>
                    </a:p>
                  </a:txBody>
                  <a:tcPr/>
                </a:tc>
                <a:tc>
                  <a:txBody>
                    <a:bodyPr/>
                    <a:lstStyle/>
                    <a:p>
                      <a:r>
                        <a:rPr lang="en-US" dirty="0"/>
                        <a:t>As above</a:t>
                      </a:r>
                    </a:p>
                    <a:p>
                      <a:pPr lvl="0">
                        <a:buNone/>
                      </a:pPr>
                      <a:endParaRPr lang="en-US" dirty="0"/>
                    </a:p>
                  </a:txBody>
                  <a:tcPr/>
                </a:tc>
                <a:extLst>
                  <a:ext uri="{0D108BD9-81ED-4DB2-BD59-A6C34878D82A}">
                    <a16:rowId xmlns:a16="http://schemas.microsoft.com/office/drawing/2014/main" val="1550034129"/>
                  </a:ext>
                </a:extLst>
              </a:tr>
            </a:tbl>
          </a:graphicData>
        </a:graphic>
      </p:graphicFrame>
    </p:spTree>
    <p:extLst>
      <p:ext uri="{BB962C8B-B14F-4D97-AF65-F5344CB8AC3E}">
        <p14:creationId xmlns:p14="http://schemas.microsoft.com/office/powerpoint/2010/main" val="32131646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0D57446F-096E-1351-AA63-D614424216F6}"/>
              </a:ext>
            </a:extLst>
          </p:cNvPr>
          <p:cNvGraphicFramePr>
            <a:graphicFrameLocks noGrp="1"/>
          </p:cNvGraphicFramePr>
          <p:nvPr/>
        </p:nvGraphicFramePr>
        <p:xfrm>
          <a:off x="720810" y="1534297"/>
          <a:ext cx="10781790" cy="3754120"/>
        </p:xfrm>
        <a:graphic>
          <a:graphicData uri="http://schemas.openxmlformats.org/drawingml/2006/table">
            <a:tbl>
              <a:tblPr firstRow="1" bandRow="1">
                <a:tableStyleId>{5940675A-B579-460E-94D1-54222C63F5DA}</a:tableStyleId>
              </a:tblPr>
              <a:tblGrid>
                <a:gridCol w="1630968">
                  <a:extLst>
                    <a:ext uri="{9D8B030D-6E8A-4147-A177-3AD203B41FA5}">
                      <a16:colId xmlns:a16="http://schemas.microsoft.com/office/drawing/2014/main" val="433875918"/>
                    </a:ext>
                  </a:extLst>
                </a:gridCol>
                <a:gridCol w="1240215">
                  <a:extLst>
                    <a:ext uri="{9D8B030D-6E8A-4147-A177-3AD203B41FA5}">
                      <a16:colId xmlns:a16="http://schemas.microsoft.com/office/drawing/2014/main" val="2764372349"/>
                    </a:ext>
                  </a:extLst>
                </a:gridCol>
                <a:gridCol w="1749583">
                  <a:extLst>
                    <a:ext uri="{9D8B030D-6E8A-4147-A177-3AD203B41FA5}">
                      <a16:colId xmlns:a16="http://schemas.microsoft.com/office/drawing/2014/main" val="2030273482"/>
                    </a:ext>
                  </a:extLst>
                </a:gridCol>
                <a:gridCol w="1540256">
                  <a:extLst>
                    <a:ext uri="{9D8B030D-6E8A-4147-A177-3AD203B41FA5}">
                      <a16:colId xmlns:a16="http://schemas.microsoft.com/office/drawing/2014/main" val="1719166486"/>
                    </a:ext>
                  </a:extLst>
                </a:gridCol>
                <a:gridCol w="1540256">
                  <a:extLst>
                    <a:ext uri="{9D8B030D-6E8A-4147-A177-3AD203B41FA5}">
                      <a16:colId xmlns:a16="http://schemas.microsoft.com/office/drawing/2014/main" val="358293969"/>
                    </a:ext>
                  </a:extLst>
                </a:gridCol>
                <a:gridCol w="1540256">
                  <a:extLst>
                    <a:ext uri="{9D8B030D-6E8A-4147-A177-3AD203B41FA5}">
                      <a16:colId xmlns:a16="http://schemas.microsoft.com/office/drawing/2014/main" val="2142670298"/>
                    </a:ext>
                  </a:extLst>
                </a:gridCol>
                <a:gridCol w="1540256">
                  <a:extLst>
                    <a:ext uri="{9D8B030D-6E8A-4147-A177-3AD203B41FA5}">
                      <a16:colId xmlns:a16="http://schemas.microsoft.com/office/drawing/2014/main" val="3878672488"/>
                    </a:ext>
                  </a:extLst>
                </a:gridCol>
              </a:tblGrid>
              <a:tr h="370840">
                <a:tc>
                  <a:txBody>
                    <a:bodyPr/>
                    <a:lstStyle/>
                    <a:p>
                      <a:r>
                        <a:rPr lang="en-US" dirty="0"/>
                        <a:t>Drug </a:t>
                      </a:r>
                    </a:p>
                  </a:txBody>
                  <a:tcPr/>
                </a:tc>
                <a:tc>
                  <a:txBody>
                    <a:bodyPr/>
                    <a:lstStyle/>
                    <a:p>
                      <a:r>
                        <a:rPr lang="en-US" dirty="0"/>
                        <a:t>Efficacy</a:t>
                      </a:r>
                    </a:p>
                  </a:txBody>
                  <a:tcPr/>
                </a:tc>
                <a:tc>
                  <a:txBody>
                    <a:bodyPr/>
                    <a:lstStyle/>
                    <a:p>
                      <a:r>
                        <a:rPr lang="en-US" dirty="0"/>
                        <a:t>Hypoglycemia </a:t>
                      </a:r>
                    </a:p>
                  </a:txBody>
                  <a:tcPr/>
                </a:tc>
                <a:tc>
                  <a:txBody>
                    <a:bodyPr/>
                    <a:lstStyle/>
                    <a:p>
                      <a:r>
                        <a:rPr lang="en-US" dirty="0"/>
                        <a:t>weight</a:t>
                      </a:r>
                    </a:p>
                  </a:txBody>
                  <a:tcPr/>
                </a:tc>
                <a:tc>
                  <a:txBody>
                    <a:bodyPr/>
                    <a:lstStyle/>
                    <a:p>
                      <a:r>
                        <a:rPr lang="en-US" dirty="0"/>
                        <a:t>Cardiovascular benefit</a:t>
                      </a:r>
                    </a:p>
                  </a:txBody>
                  <a:tcPr/>
                </a:tc>
                <a:tc>
                  <a:txBody>
                    <a:bodyPr/>
                    <a:lstStyle/>
                    <a:p>
                      <a:r>
                        <a:rPr lang="en-US" dirty="0"/>
                        <a:t>cost</a:t>
                      </a:r>
                    </a:p>
                  </a:txBody>
                  <a:tcPr/>
                </a:tc>
                <a:tc>
                  <a:txBody>
                    <a:bodyPr/>
                    <a:lstStyle/>
                    <a:p>
                      <a:r>
                        <a:rPr lang="en-US" dirty="0"/>
                        <a:t>Clinical considerations</a:t>
                      </a:r>
                    </a:p>
                  </a:txBody>
                  <a:tcPr/>
                </a:tc>
                <a:extLst>
                  <a:ext uri="{0D108BD9-81ED-4DB2-BD59-A6C34878D82A}">
                    <a16:rowId xmlns:a16="http://schemas.microsoft.com/office/drawing/2014/main" val="3937851064"/>
                  </a:ext>
                </a:extLst>
              </a:tr>
              <a:tr h="370840">
                <a:tc>
                  <a:txBody>
                    <a:bodyPr/>
                    <a:lstStyle/>
                    <a:p>
                      <a:r>
                        <a:rPr lang="en-US" dirty="0"/>
                        <a:t>DPP4 inhibitor</a:t>
                      </a:r>
                    </a:p>
                  </a:txBody>
                  <a:tcPr/>
                </a:tc>
                <a:tc>
                  <a:txBody>
                    <a:bodyPr/>
                    <a:lstStyle/>
                    <a:p>
                      <a:r>
                        <a:rPr lang="en-US"/>
                        <a:t>Moderate </a:t>
                      </a:r>
                    </a:p>
                  </a:txBody>
                  <a:tcPr/>
                </a:tc>
                <a:tc>
                  <a:txBody>
                    <a:bodyPr/>
                    <a:lstStyle/>
                    <a:p>
                      <a:r>
                        <a:rPr lang="en-US" dirty="0"/>
                        <a:t>none</a:t>
                      </a:r>
                    </a:p>
                  </a:txBody>
                  <a:tcPr/>
                </a:tc>
                <a:tc>
                  <a:txBody>
                    <a:bodyPr/>
                    <a:lstStyle/>
                    <a:p>
                      <a:r>
                        <a:rPr lang="en-US" dirty="0"/>
                        <a:t>Neutral </a:t>
                      </a:r>
                    </a:p>
                  </a:txBody>
                  <a:tcPr/>
                </a:tc>
                <a:tc>
                  <a:txBody>
                    <a:bodyPr/>
                    <a:lstStyle/>
                    <a:p>
                      <a:r>
                        <a:rPr lang="en-US" dirty="0"/>
                        <a:t>Neutral </a:t>
                      </a:r>
                    </a:p>
                  </a:txBody>
                  <a:tcPr/>
                </a:tc>
                <a:tc>
                  <a:txBody>
                    <a:bodyPr/>
                    <a:lstStyle/>
                    <a:p>
                      <a:r>
                        <a:rPr lang="en-US" dirty="0"/>
                        <a:t>Medium </a:t>
                      </a:r>
                    </a:p>
                  </a:txBody>
                  <a:tcPr/>
                </a:tc>
                <a:tc>
                  <a:txBody>
                    <a:bodyPr/>
                    <a:lstStyle/>
                    <a:p>
                      <a:r>
                        <a:rPr lang="en-US" dirty="0"/>
                        <a:t>Pancreatitis </a:t>
                      </a:r>
                    </a:p>
                    <a:p>
                      <a:pPr lvl="0">
                        <a:buNone/>
                      </a:pPr>
                      <a:r>
                        <a:rPr lang="en-US" dirty="0"/>
                        <a:t>Rare- bullous </a:t>
                      </a:r>
                      <a:r>
                        <a:rPr lang="en-US"/>
                        <a:t>pemphigoid</a:t>
                      </a:r>
                      <a:endParaRPr lang="en-US" dirty="0"/>
                    </a:p>
                  </a:txBody>
                  <a:tcPr/>
                </a:tc>
                <a:extLst>
                  <a:ext uri="{0D108BD9-81ED-4DB2-BD59-A6C34878D82A}">
                    <a16:rowId xmlns:a16="http://schemas.microsoft.com/office/drawing/2014/main" val="1761338102"/>
                  </a:ext>
                </a:extLst>
              </a:tr>
              <a:tr h="370840">
                <a:tc>
                  <a:txBody>
                    <a:bodyPr/>
                    <a:lstStyle/>
                    <a:p>
                      <a:r>
                        <a:rPr lang="en-US" dirty="0"/>
                        <a:t>Sulfonylurea</a:t>
                      </a:r>
                    </a:p>
                  </a:txBody>
                  <a:tcPr/>
                </a:tc>
                <a:tc>
                  <a:txBody>
                    <a:bodyPr/>
                    <a:lstStyle/>
                    <a:p>
                      <a:r>
                        <a:rPr lang="en-US" dirty="0"/>
                        <a:t>High </a:t>
                      </a:r>
                    </a:p>
                  </a:txBody>
                  <a:tcPr/>
                </a:tc>
                <a:tc>
                  <a:txBody>
                    <a:bodyPr/>
                    <a:lstStyle/>
                    <a:p>
                      <a:r>
                        <a:rPr lang="en-US" dirty="0"/>
                        <a:t>High </a:t>
                      </a:r>
                    </a:p>
                  </a:txBody>
                  <a:tcPr/>
                </a:tc>
                <a:tc>
                  <a:txBody>
                    <a:bodyPr/>
                    <a:lstStyle/>
                    <a:p>
                      <a:r>
                        <a:rPr lang="en-US" dirty="0"/>
                        <a:t>Gain </a:t>
                      </a:r>
                    </a:p>
                  </a:txBody>
                  <a:tcPr/>
                </a:tc>
                <a:tc>
                  <a:txBody>
                    <a:bodyPr/>
                    <a:lstStyle/>
                    <a:p>
                      <a:r>
                        <a:rPr lang="en-US" dirty="0"/>
                        <a:t>Neutral </a:t>
                      </a:r>
                    </a:p>
                  </a:txBody>
                  <a:tcPr/>
                </a:tc>
                <a:tc>
                  <a:txBody>
                    <a:bodyPr/>
                    <a:lstStyle/>
                    <a:p>
                      <a:r>
                        <a:rPr lang="en-US" dirty="0"/>
                        <a:t>Low </a:t>
                      </a:r>
                    </a:p>
                  </a:txBody>
                  <a:tcPr/>
                </a:tc>
                <a:tc>
                  <a:txBody>
                    <a:bodyPr/>
                    <a:lstStyle/>
                    <a:p>
                      <a:r>
                        <a:rPr lang="en-US"/>
                        <a:t>Careful in chronic kidney disease</a:t>
                      </a:r>
                    </a:p>
                  </a:txBody>
                  <a:tcPr/>
                </a:tc>
                <a:extLst>
                  <a:ext uri="{0D108BD9-81ED-4DB2-BD59-A6C34878D82A}">
                    <a16:rowId xmlns:a16="http://schemas.microsoft.com/office/drawing/2014/main" val="3412111223"/>
                  </a:ext>
                </a:extLst>
              </a:tr>
              <a:tr h="370840">
                <a:tc>
                  <a:txBody>
                    <a:bodyPr/>
                    <a:lstStyle/>
                    <a:p>
                      <a:r>
                        <a:rPr lang="en-US" dirty="0" err="1"/>
                        <a:t>Thiazolidenediones</a:t>
                      </a:r>
                    </a:p>
                  </a:txBody>
                  <a:tcPr/>
                </a:tc>
                <a:tc>
                  <a:txBody>
                    <a:bodyPr/>
                    <a:lstStyle/>
                    <a:p>
                      <a:r>
                        <a:rPr lang="en-US" dirty="0"/>
                        <a:t>High </a:t>
                      </a:r>
                    </a:p>
                  </a:txBody>
                  <a:tcPr/>
                </a:tc>
                <a:tc>
                  <a:txBody>
                    <a:bodyPr/>
                    <a:lstStyle/>
                    <a:p>
                      <a:r>
                        <a:rPr lang="en-US" dirty="0"/>
                        <a:t>none</a:t>
                      </a:r>
                    </a:p>
                  </a:txBody>
                  <a:tcPr/>
                </a:tc>
                <a:tc>
                  <a:txBody>
                    <a:bodyPr/>
                    <a:lstStyle/>
                    <a:p>
                      <a:r>
                        <a:rPr lang="en-US" dirty="0"/>
                        <a:t>Gain </a:t>
                      </a:r>
                    </a:p>
                  </a:txBody>
                  <a:tcPr/>
                </a:tc>
                <a:tc>
                  <a:txBody>
                    <a:bodyPr/>
                    <a:lstStyle/>
                    <a:p>
                      <a:r>
                        <a:rPr lang="en-US" dirty="0"/>
                        <a:t>Increase risk of </a:t>
                      </a:r>
                      <a:r>
                        <a:rPr lang="en-US"/>
                        <a:t>heart failure </a:t>
                      </a:r>
                    </a:p>
                  </a:txBody>
                  <a:tcPr/>
                </a:tc>
                <a:tc>
                  <a:txBody>
                    <a:bodyPr/>
                    <a:lstStyle/>
                    <a:p>
                      <a:r>
                        <a:rPr lang="en-US" dirty="0"/>
                        <a:t>Medium </a:t>
                      </a:r>
                    </a:p>
                  </a:txBody>
                  <a:tcPr/>
                </a:tc>
                <a:tc>
                  <a:txBody>
                    <a:bodyPr/>
                    <a:lstStyle/>
                    <a:p>
                      <a:r>
                        <a:rPr lang="en-US" dirty="0"/>
                        <a:t>Benefit in Fatty liver </a:t>
                      </a:r>
                    </a:p>
                    <a:p>
                      <a:pPr lvl="0">
                        <a:buNone/>
                      </a:pPr>
                      <a:endParaRPr lang="en-US" dirty="0"/>
                    </a:p>
                  </a:txBody>
                  <a:tcPr/>
                </a:tc>
                <a:extLst>
                  <a:ext uri="{0D108BD9-81ED-4DB2-BD59-A6C34878D82A}">
                    <a16:rowId xmlns:a16="http://schemas.microsoft.com/office/drawing/2014/main" val="2829091396"/>
                  </a:ext>
                </a:extLst>
              </a:tr>
              <a:tr h="370840">
                <a:tc>
                  <a:txBody>
                    <a:bodyPr/>
                    <a:lstStyle/>
                    <a:p>
                      <a:r>
                        <a:rPr lang="en-US" dirty="0"/>
                        <a:t>Insulin </a:t>
                      </a:r>
                    </a:p>
                  </a:txBody>
                  <a:tcPr/>
                </a:tc>
                <a:tc>
                  <a:txBody>
                    <a:bodyPr/>
                    <a:lstStyle/>
                    <a:p>
                      <a:r>
                        <a:rPr lang="en-US" dirty="0"/>
                        <a:t>High </a:t>
                      </a:r>
                    </a:p>
                  </a:txBody>
                  <a:tcPr/>
                </a:tc>
                <a:tc>
                  <a:txBody>
                    <a:bodyPr/>
                    <a:lstStyle/>
                    <a:p>
                      <a:r>
                        <a:rPr lang="en-US" dirty="0"/>
                        <a:t>High </a:t>
                      </a:r>
                    </a:p>
                  </a:txBody>
                  <a:tcPr/>
                </a:tc>
                <a:tc>
                  <a:txBody>
                    <a:bodyPr/>
                    <a:lstStyle/>
                    <a:p>
                      <a:r>
                        <a:rPr lang="en-US" dirty="0"/>
                        <a:t>Gain </a:t>
                      </a:r>
                    </a:p>
                  </a:txBody>
                  <a:tcPr/>
                </a:tc>
                <a:tc>
                  <a:txBody>
                    <a:bodyPr/>
                    <a:lstStyle/>
                    <a:p>
                      <a:r>
                        <a:rPr lang="en-US" dirty="0"/>
                        <a:t>Neutral </a:t>
                      </a:r>
                    </a:p>
                  </a:txBody>
                  <a:tcPr/>
                </a:tc>
                <a:tc>
                  <a:txBody>
                    <a:bodyPr/>
                    <a:lstStyle/>
                    <a:p>
                      <a:r>
                        <a:rPr lang="en-US" dirty="0"/>
                        <a:t>Medium </a:t>
                      </a:r>
                    </a:p>
                  </a:txBody>
                  <a:tcPr/>
                </a:tc>
                <a:tc>
                  <a:txBody>
                    <a:bodyPr/>
                    <a:lstStyle/>
                    <a:p>
                      <a:endParaRPr lang="en-US"/>
                    </a:p>
                  </a:txBody>
                  <a:tcPr/>
                </a:tc>
                <a:extLst>
                  <a:ext uri="{0D108BD9-81ED-4DB2-BD59-A6C34878D82A}">
                    <a16:rowId xmlns:a16="http://schemas.microsoft.com/office/drawing/2014/main" val="4227254565"/>
                  </a:ext>
                </a:extLst>
              </a:tr>
            </a:tbl>
          </a:graphicData>
        </a:graphic>
      </p:graphicFrame>
    </p:spTree>
    <p:extLst>
      <p:ext uri="{BB962C8B-B14F-4D97-AF65-F5344CB8AC3E}">
        <p14:creationId xmlns:p14="http://schemas.microsoft.com/office/powerpoint/2010/main" val="4811674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Shape 116"/>
          <p:cNvSpPr>
            <a:spLocks noGrp="1"/>
          </p:cNvSpPr>
          <p:nvPr>
            <p:ph type="title"/>
          </p:nvPr>
        </p:nvSpPr>
        <p:spPr>
          <a:prstGeom prst="rect">
            <a:avLst/>
          </a:prstGeom>
        </p:spPr>
        <p:txBody>
          <a:bodyPr/>
          <a:lstStyle/>
          <a:p>
            <a:r>
              <a:rPr dirty="0"/>
              <a:t>Efficacy: </a:t>
            </a:r>
            <a:r>
              <a:rPr lang="en-US" dirty="0"/>
              <a:t>D</a:t>
            </a:r>
            <a:r>
              <a:rPr dirty="0"/>
              <a:t>ecrease in HbA1c</a:t>
            </a:r>
          </a:p>
        </p:txBody>
      </p:sp>
      <p:sp>
        <p:nvSpPr>
          <p:cNvPr id="117" name="Shape 117"/>
          <p:cNvSpPr/>
          <p:nvPr/>
        </p:nvSpPr>
        <p:spPr>
          <a:xfrm>
            <a:off x="2183297" y="3622262"/>
            <a:ext cx="7981123" cy="759182"/>
          </a:xfrm>
          <a:prstGeom prst="rect">
            <a:avLst/>
          </a:prstGeom>
          <a:solidFill>
            <a:srgbClr val="ADB9CA">
              <a:alpha val="40000"/>
            </a:srgbClr>
          </a:solidFill>
          <a:ln w="12700">
            <a:miter lim="400000"/>
          </a:ln>
          <a:extLst>
            <a:ext uri="{C572A759-6A51-4108-AA02-DFA0A04FC94B}">
              <ma14:wrappingTextBoxFlag xmlns:ma14="http://schemas.microsoft.com/office/mac/drawingml/2011/main" xmlns="" val="1"/>
            </a:ext>
          </a:extLst>
        </p:spPr>
        <p:txBody>
          <a:bodyPr lIns="101600" tIns="101600" rIns="101600" bIns="101600" anchor="t">
            <a:spAutoFit/>
          </a:bodyPr>
          <a:lstStyle>
            <a:lvl1pPr>
              <a:defRPr sz="3600">
                <a:latin typeface="Arial"/>
                <a:ea typeface="Arial"/>
                <a:cs typeface="Arial"/>
                <a:sym typeface="Arial"/>
              </a:defRPr>
            </a:lvl1pPr>
          </a:lstStyle>
          <a:p>
            <a:r>
              <a:rPr lang="en-US" dirty="0"/>
              <a:t> Most</a:t>
            </a:r>
            <a:r>
              <a:rPr dirty="0"/>
              <a:t> drugs			</a:t>
            </a:r>
            <a:r>
              <a:rPr lang="en-US" dirty="0"/>
              <a:t>    </a:t>
            </a:r>
            <a:r>
              <a:rPr dirty="0"/>
              <a:t> ≈ 1-1.5%</a:t>
            </a:r>
          </a:p>
        </p:txBody>
      </p:sp>
      <p:sp>
        <p:nvSpPr>
          <p:cNvPr id="118" name="Shape 118"/>
          <p:cNvSpPr/>
          <p:nvPr/>
        </p:nvSpPr>
        <p:spPr>
          <a:xfrm>
            <a:off x="2195998" y="4539974"/>
            <a:ext cx="7947871" cy="759182"/>
          </a:xfrm>
          <a:prstGeom prst="rect">
            <a:avLst/>
          </a:prstGeom>
          <a:solidFill>
            <a:srgbClr val="D6DCE5">
              <a:alpha val="40000"/>
            </a:srgbClr>
          </a:solidFill>
          <a:ln w="12700">
            <a:miter lim="400000"/>
          </a:ln>
          <a:extLst>
            <a:ext uri="{C572A759-6A51-4108-AA02-DFA0A04FC94B}">
              <ma14:wrappingTextBoxFlag xmlns:ma14="http://schemas.microsoft.com/office/mac/drawingml/2011/main" xmlns="" val="1"/>
            </a:ext>
          </a:extLst>
        </p:spPr>
        <p:txBody>
          <a:bodyPr lIns="101600" tIns="101600" rIns="101600" bIns="101600" anchor="t">
            <a:spAutoFit/>
          </a:bodyPr>
          <a:lstStyle>
            <a:lvl1pPr>
              <a:defRPr sz="3600">
                <a:latin typeface="Arial"/>
                <a:ea typeface="Arial"/>
                <a:cs typeface="Arial"/>
                <a:sym typeface="Arial"/>
              </a:defRPr>
            </a:lvl1pPr>
          </a:lstStyle>
          <a:p>
            <a:r>
              <a:rPr lang="en-US" dirty="0"/>
              <a:t>  </a:t>
            </a:r>
            <a:endParaRPr lang="en-US"/>
          </a:p>
        </p:txBody>
      </p:sp>
      <p:sp>
        <p:nvSpPr>
          <p:cNvPr id="119" name="Shape 119"/>
          <p:cNvSpPr/>
          <p:nvPr/>
        </p:nvSpPr>
        <p:spPr>
          <a:xfrm>
            <a:off x="2183297" y="2657062"/>
            <a:ext cx="7981123" cy="759182"/>
          </a:xfrm>
          <a:prstGeom prst="rect">
            <a:avLst/>
          </a:prstGeom>
          <a:solidFill>
            <a:srgbClr val="8497B0">
              <a:alpha val="40000"/>
            </a:srgbClr>
          </a:solidFill>
          <a:ln w="12700">
            <a:miter lim="400000"/>
          </a:ln>
          <a:extLst>
            <a:ext uri="{C572A759-6A51-4108-AA02-DFA0A04FC94B}">
              <ma14:wrappingTextBoxFlag xmlns:ma14="http://schemas.microsoft.com/office/mac/drawingml/2011/main" xmlns="" val="1"/>
            </a:ext>
          </a:extLst>
        </p:spPr>
        <p:txBody>
          <a:bodyPr lIns="101600" tIns="101600" rIns="101600" bIns="101600" anchor="t">
            <a:spAutoFit/>
          </a:bodyPr>
          <a:lstStyle>
            <a:lvl1pPr>
              <a:defRPr sz="3600">
                <a:latin typeface="Arial"/>
                <a:ea typeface="Arial"/>
                <a:cs typeface="Arial"/>
                <a:sym typeface="Arial"/>
              </a:defRPr>
            </a:lvl1pPr>
          </a:lstStyle>
          <a:p>
            <a:r>
              <a:rPr lang="en-US" dirty="0"/>
              <a:t> Insulin				    </a:t>
            </a:r>
            <a:r>
              <a:rPr dirty="0"/>
              <a:t> ≈1.5-3.5%</a:t>
            </a:r>
          </a:p>
        </p:txBody>
      </p:sp>
    </p:spTree>
  </p:cSld>
  <p:clrMapOvr>
    <a:masterClrMapping/>
  </p:clrMapOvr>
  <p:transition spd="slow"/>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2" nodeType="clickEffect">
                                  <p:stCondLst>
                                    <p:cond delay="0"/>
                                  </p:stCondLst>
                                  <p:iterate>
                                    <p:tmAbs val="0"/>
                                  </p:iterate>
                                  <p:childTnLst>
                                    <p:set>
                                      <p:cBhvr>
                                        <p:cTn id="10" fill="hold"/>
                                        <p:tgtEl>
                                          <p:spTgt spid="1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3" nodeType="clickEffect">
                                  <p:stCondLst>
                                    <p:cond delay="0"/>
                                  </p:stCondLst>
                                  <p:iterate>
                                    <p:tmAbs val="0"/>
                                  </p:iterate>
                                  <p:childTnLst>
                                    <p:set>
                                      <p:cBhvr>
                                        <p:cTn id="14" fill="hold"/>
                                        <p:tgtEl>
                                          <p:spTgt spid="1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 grpId="1" animBg="1" advAuto="0"/>
      <p:bldP spid="118" grpId="3" animBg="1" advAuto="0"/>
      <p:bldP spid="119" grpId="2" animBg="1" advAuto="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DD610-0690-FB22-5239-D81E04848F3F}"/>
              </a:ext>
            </a:extLst>
          </p:cNvPr>
          <p:cNvSpPr>
            <a:spLocks noGrp="1"/>
          </p:cNvSpPr>
          <p:nvPr>
            <p:ph type="title"/>
          </p:nvPr>
        </p:nvSpPr>
        <p:spPr/>
        <p:txBody>
          <a:bodyPr/>
          <a:lstStyle/>
          <a:p>
            <a:r>
              <a:rPr lang="en-US" dirty="0">
                <a:ea typeface="Calibri"/>
                <a:cs typeface="Calibri"/>
              </a:rPr>
              <a:t>Achievement of A1c goal</a:t>
            </a:r>
            <a:endParaRPr lang="en-US" dirty="0"/>
          </a:p>
        </p:txBody>
      </p:sp>
      <p:sp>
        <p:nvSpPr>
          <p:cNvPr id="3" name="Content Placeholder 2">
            <a:extLst>
              <a:ext uri="{FF2B5EF4-FFF2-40B4-BE49-F238E27FC236}">
                <a16:creationId xmlns:a16="http://schemas.microsoft.com/office/drawing/2014/main" id="{EC88BBC6-820B-E428-C60D-3DFCA2166FD6}"/>
              </a:ext>
            </a:extLst>
          </p:cNvPr>
          <p:cNvSpPr>
            <a:spLocks noGrp="1"/>
          </p:cNvSpPr>
          <p:nvPr>
            <p:ph idx="1"/>
          </p:nvPr>
        </p:nvSpPr>
        <p:spPr/>
        <p:txBody>
          <a:bodyPr vert="horz" lIns="91440" tIns="45720" rIns="91440" bIns="45720" rtlCol="0" anchor="t">
            <a:normAutofit fontScale="92500" lnSpcReduction="10000"/>
          </a:bodyPr>
          <a:lstStyle/>
          <a:p>
            <a:pPr marL="0" indent="0">
              <a:buNone/>
            </a:pPr>
            <a:r>
              <a:rPr lang="en-US" dirty="0">
                <a:ea typeface="Calibri"/>
                <a:cs typeface="Calibri"/>
              </a:rPr>
              <a:t>Very high efficiency</a:t>
            </a:r>
          </a:p>
          <a:p>
            <a:pPr lvl="1"/>
            <a:r>
              <a:rPr lang="en-US" dirty="0">
                <a:ea typeface="Calibri"/>
                <a:cs typeface="Calibri"/>
              </a:rPr>
              <a:t>Insulin</a:t>
            </a:r>
          </a:p>
          <a:p>
            <a:pPr lvl="1"/>
            <a:r>
              <a:rPr lang="en-US" dirty="0">
                <a:ea typeface="Calibri"/>
                <a:cs typeface="Calibri"/>
              </a:rPr>
              <a:t>Insulin with GLP1 receptor agonist</a:t>
            </a:r>
          </a:p>
          <a:p>
            <a:pPr lvl="1"/>
            <a:r>
              <a:rPr lang="en-US" dirty="0">
                <a:ea typeface="Calibri"/>
                <a:cs typeface="Calibri"/>
              </a:rPr>
              <a:t>High dose GLP1 receptor agonist</a:t>
            </a:r>
          </a:p>
          <a:p>
            <a:pPr marL="457200" lvl="1" indent="0">
              <a:buNone/>
            </a:pPr>
            <a:r>
              <a:rPr lang="en-US" dirty="0">
                <a:ea typeface="Calibri"/>
                <a:cs typeface="Calibri"/>
              </a:rPr>
              <a:t>Intermediate efficiency</a:t>
            </a:r>
          </a:p>
          <a:p>
            <a:pPr marL="457200" lvl="1" indent="0">
              <a:buNone/>
            </a:pPr>
            <a:r>
              <a:rPr lang="en-US" dirty="0">
                <a:ea typeface="Calibri"/>
                <a:cs typeface="Calibri"/>
              </a:rPr>
              <a:t>-GLP-R agonist medium doses</a:t>
            </a:r>
          </a:p>
          <a:p>
            <a:pPr marL="457200" lvl="1" indent="0">
              <a:buNone/>
            </a:pPr>
            <a:r>
              <a:rPr lang="en-US" dirty="0">
                <a:ea typeface="Calibri"/>
                <a:cs typeface="Calibri"/>
              </a:rPr>
              <a:t>-SGLT2 inhibitors</a:t>
            </a:r>
          </a:p>
          <a:p>
            <a:pPr marL="457200" lvl="1" indent="0">
              <a:buNone/>
            </a:pPr>
            <a:r>
              <a:rPr lang="en-US" dirty="0">
                <a:ea typeface="Calibri"/>
                <a:cs typeface="Calibri"/>
              </a:rPr>
              <a:t>Low to intermediate efficiency </a:t>
            </a:r>
          </a:p>
          <a:p>
            <a:pPr marL="457200" lvl="1" indent="0">
              <a:buNone/>
            </a:pPr>
            <a:r>
              <a:rPr lang="en-US" dirty="0">
                <a:ea typeface="Calibri"/>
                <a:cs typeface="Calibri"/>
              </a:rPr>
              <a:t>-Metformin --usually first choice or as part of combination therapy</a:t>
            </a:r>
          </a:p>
          <a:p>
            <a:pPr marL="457200" lvl="1" indent="0">
              <a:buNone/>
            </a:pPr>
            <a:r>
              <a:rPr lang="en-US" dirty="0">
                <a:ea typeface="Calibri"/>
                <a:cs typeface="Calibri"/>
              </a:rPr>
              <a:t>-DPP4 inhibitors</a:t>
            </a:r>
          </a:p>
          <a:p>
            <a:pPr marL="457200" lvl="1" indent="0">
              <a:buNone/>
            </a:pPr>
            <a:endParaRPr lang="en-US" dirty="0">
              <a:ea typeface="Calibri"/>
              <a:cs typeface="Calibri"/>
            </a:endParaRPr>
          </a:p>
          <a:p>
            <a:pPr marL="457200" lvl="1" indent="0">
              <a:buNone/>
            </a:pPr>
            <a:endParaRPr lang="en-US" dirty="0">
              <a:ea typeface="Calibri"/>
              <a:cs typeface="Calibri"/>
            </a:endParaRPr>
          </a:p>
          <a:p>
            <a:pPr marL="457200" lvl="1" indent="0">
              <a:buNone/>
            </a:pPr>
            <a:endParaRPr lang="en-US" dirty="0">
              <a:ea typeface="Calibri"/>
              <a:cs typeface="Calibri"/>
            </a:endParaRPr>
          </a:p>
          <a:p>
            <a:pPr marL="457200" lvl="1" indent="0">
              <a:buNone/>
            </a:pPr>
            <a:endParaRPr lang="en-US" dirty="0">
              <a:ea typeface="Calibri"/>
              <a:cs typeface="Calibri"/>
            </a:endParaRPr>
          </a:p>
        </p:txBody>
      </p:sp>
    </p:spTree>
    <p:extLst>
      <p:ext uri="{BB962C8B-B14F-4D97-AF65-F5344CB8AC3E}">
        <p14:creationId xmlns:p14="http://schemas.microsoft.com/office/powerpoint/2010/main" val="23689545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14EB3-2B3E-FD64-1F3E-E36EA9BFE4A9}"/>
              </a:ext>
            </a:extLst>
          </p:cNvPr>
          <p:cNvSpPr>
            <a:spLocks noGrp="1"/>
          </p:cNvSpPr>
          <p:nvPr>
            <p:ph type="title"/>
          </p:nvPr>
        </p:nvSpPr>
        <p:spPr/>
        <p:txBody>
          <a:bodyPr>
            <a:normAutofit fontScale="90000"/>
          </a:bodyPr>
          <a:lstStyle/>
          <a:p>
            <a:r>
              <a:rPr lang="en-US" dirty="0">
                <a:ea typeface="Calibri"/>
                <a:cs typeface="Calibri"/>
              </a:rPr>
              <a:t>Preferred medications in cardiorenal risk reduction in Type 2 diabetes</a:t>
            </a:r>
            <a:endParaRPr lang="en-US" dirty="0"/>
          </a:p>
        </p:txBody>
      </p:sp>
      <p:sp>
        <p:nvSpPr>
          <p:cNvPr id="3" name="Content Placeholder 2">
            <a:extLst>
              <a:ext uri="{FF2B5EF4-FFF2-40B4-BE49-F238E27FC236}">
                <a16:creationId xmlns:a16="http://schemas.microsoft.com/office/drawing/2014/main" id="{F7D519B7-0EB3-69A9-4E7F-DBC7BA16028A}"/>
              </a:ext>
            </a:extLst>
          </p:cNvPr>
          <p:cNvSpPr>
            <a:spLocks noGrp="1"/>
          </p:cNvSpPr>
          <p:nvPr>
            <p:ph idx="1"/>
          </p:nvPr>
        </p:nvSpPr>
        <p:spPr/>
        <p:txBody>
          <a:bodyPr vert="horz" lIns="91440" tIns="45720" rIns="91440" bIns="45720" rtlCol="0" anchor="t">
            <a:normAutofit/>
          </a:bodyPr>
          <a:lstStyle/>
          <a:p>
            <a:r>
              <a:rPr lang="en-US" dirty="0">
                <a:ea typeface="Calibri"/>
                <a:cs typeface="Calibri"/>
              </a:rPr>
              <a:t>- in addition to healthy lifestyle changes and statins</a:t>
            </a:r>
          </a:p>
          <a:p>
            <a:r>
              <a:rPr lang="en-US" dirty="0">
                <a:ea typeface="Calibri"/>
                <a:cs typeface="Calibri"/>
              </a:rPr>
              <a:t>Vascular disease (coronary disease, peripheral vascular, stroke)-SGLT2 inhibitors or GLP 1 R-agonist therapy</a:t>
            </a:r>
          </a:p>
          <a:p>
            <a:r>
              <a:rPr lang="en-US" dirty="0">
                <a:ea typeface="Calibri"/>
                <a:cs typeface="Calibri"/>
              </a:rPr>
              <a:t>Heart failure- SGLT2 inhibitor</a:t>
            </a:r>
          </a:p>
          <a:p>
            <a:r>
              <a:rPr lang="en-US" dirty="0">
                <a:ea typeface="Calibri"/>
                <a:cs typeface="Calibri"/>
              </a:rPr>
              <a:t>Preventing CKD progression- SGLT2 inhibitor ( if GFR permissible)</a:t>
            </a:r>
          </a:p>
          <a:p>
            <a:endParaRPr lang="en-US" dirty="0">
              <a:ea typeface="Calibri"/>
              <a:cs typeface="Calibri"/>
            </a:endParaRPr>
          </a:p>
        </p:txBody>
      </p:sp>
    </p:spTree>
    <p:extLst>
      <p:ext uri="{BB962C8B-B14F-4D97-AF65-F5344CB8AC3E}">
        <p14:creationId xmlns:p14="http://schemas.microsoft.com/office/powerpoint/2010/main" val="32070015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Shape 72"/>
          <p:cNvSpPr>
            <a:spLocks noGrp="1"/>
          </p:cNvSpPr>
          <p:nvPr>
            <p:ph type="title"/>
          </p:nvPr>
        </p:nvSpPr>
        <p:spPr>
          <a:prstGeom prst="rect">
            <a:avLst/>
          </a:prstGeom>
        </p:spPr>
        <p:txBody>
          <a:bodyPr/>
          <a:lstStyle/>
          <a:p>
            <a:r>
              <a:t>Hypoglycemia</a:t>
            </a:r>
          </a:p>
        </p:txBody>
      </p:sp>
      <p:graphicFrame>
        <p:nvGraphicFramePr>
          <p:cNvPr id="73" name="Table 73"/>
          <p:cNvGraphicFramePr/>
          <p:nvPr>
            <p:extLst>
              <p:ext uri="{D42A27DB-BD31-4B8C-83A1-F6EECF244321}">
                <p14:modId xmlns:p14="http://schemas.microsoft.com/office/powerpoint/2010/main" val="1490167505"/>
              </p:ext>
            </p:extLst>
          </p:nvPr>
        </p:nvGraphicFramePr>
        <p:xfrm>
          <a:off x="1639958" y="2242930"/>
          <a:ext cx="8935278" cy="3730453"/>
        </p:xfrm>
        <a:graphic>
          <a:graphicData uri="http://schemas.openxmlformats.org/drawingml/2006/table">
            <a:tbl>
              <a:tblPr firstRow="1" bandRow="1">
                <a:tableStyleId>{4C3C2611-4C71-4FC5-86AE-919BDF0F9419}</a:tableStyleId>
              </a:tblPr>
              <a:tblGrid>
                <a:gridCol w="4467639">
                  <a:extLst>
                    <a:ext uri="{9D8B030D-6E8A-4147-A177-3AD203B41FA5}">
                      <a16:colId xmlns:a16="http://schemas.microsoft.com/office/drawing/2014/main" val="20000"/>
                    </a:ext>
                  </a:extLst>
                </a:gridCol>
                <a:gridCol w="4467639">
                  <a:extLst>
                    <a:ext uri="{9D8B030D-6E8A-4147-A177-3AD203B41FA5}">
                      <a16:colId xmlns:a16="http://schemas.microsoft.com/office/drawing/2014/main" val="20001"/>
                    </a:ext>
                  </a:extLst>
                </a:gridCol>
              </a:tblGrid>
              <a:tr h="565538">
                <a:tc>
                  <a:txBody>
                    <a:bodyPr/>
                    <a:lstStyle/>
                    <a:p>
                      <a:pPr algn="l">
                        <a:defRPr sz="1800" b="0">
                          <a:solidFill>
                            <a:srgbClr val="000000"/>
                          </a:solidFill>
                        </a:defRPr>
                      </a:pPr>
                      <a:r>
                        <a:rPr sz="2800" b="1" dirty="0">
                          <a:solidFill>
                            <a:srgbClr val="FFFFFF"/>
                          </a:solidFill>
                          <a:sym typeface="Calibri"/>
                        </a:rPr>
                        <a:t>higher risk</a:t>
                      </a:r>
                    </a:p>
                  </a:txBody>
                  <a:tcPr marL="45720" marR="45720" anchor="ctr" horzOverflow="overflow"/>
                </a:tc>
                <a:tc>
                  <a:txBody>
                    <a:bodyPr/>
                    <a:lstStyle/>
                    <a:p>
                      <a:pPr algn="l">
                        <a:defRPr sz="1800" b="0">
                          <a:solidFill>
                            <a:srgbClr val="000000"/>
                          </a:solidFill>
                        </a:defRPr>
                      </a:pPr>
                      <a:r>
                        <a:rPr sz="2800" b="1" dirty="0">
                          <a:solidFill>
                            <a:srgbClr val="FFFFFF"/>
                          </a:solidFill>
                          <a:sym typeface="Calibri"/>
                        </a:rPr>
                        <a:t>lower risk</a:t>
                      </a:r>
                    </a:p>
                  </a:txBody>
                  <a:tcPr marL="45720" marR="45720" anchor="ctr" horzOverflow="overflow"/>
                </a:tc>
                <a:extLst>
                  <a:ext uri="{0D108BD9-81ED-4DB2-BD59-A6C34878D82A}">
                    <a16:rowId xmlns:a16="http://schemas.microsoft.com/office/drawing/2014/main" val="10000"/>
                  </a:ext>
                </a:extLst>
              </a:tr>
              <a:tr h="565538">
                <a:tc>
                  <a:txBody>
                    <a:bodyPr/>
                    <a:lstStyle/>
                    <a:p>
                      <a:pPr algn="l">
                        <a:defRPr sz="1800"/>
                      </a:pPr>
                      <a:r>
                        <a:rPr sz="2800" dirty="0">
                          <a:sym typeface="Calibri"/>
                        </a:rPr>
                        <a:t>insulin</a:t>
                      </a:r>
                    </a:p>
                  </a:txBody>
                  <a:tcPr marL="45720" marR="45720" anchor="ctr" horzOverflow="overflow"/>
                </a:tc>
                <a:tc>
                  <a:txBody>
                    <a:bodyPr/>
                    <a:lstStyle/>
                    <a:p>
                      <a:pPr algn="l">
                        <a:defRPr sz="1800"/>
                      </a:pPr>
                      <a:r>
                        <a:rPr sz="2800" dirty="0">
                          <a:sym typeface="Calibri"/>
                        </a:rPr>
                        <a:t>metformin</a:t>
                      </a:r>
                    </a:p>
                  </a:txBody>
                  <a:tcPr marL="45720" marR="45720" anchor="ctr" horzOverflow="overflow"/>
                </a:tc>
                <a:extLst>
                  <a:ext uri="{0D108BD9-81ED-4DB2-BD59-A6C34878D82A}">
                    <a16:rowId xmlns:a16="http://schemas.microsoft.com/office/drawing/2014/main" val="10001"/>
                  </a:ext>
                </a:extLst>
              </a:tr>
              <a:tr h="551499">
                <a:tc>
                  <a:txBody>
                    <a:bodyPr/>
                    <a:lstStyle/>
                    <a:p>
                      <a:pPr algn="l">
                        <a:defRPr sz="1800"/>
                      </a:pPr>
                      <a:r>
                        <a:rPr sz="2800" dirty="0">
                          <a:sym typeface="Calibri"/>
                        </a:rPr>
                        <a:t>sulfonylureas</a:t>
                      </a:r>
                    </a:p>
                  </a:txBody>
                  <a:tcPr marL="45720" marR="45720" anchor="ctr" horzOverflow="overflow"/>
                </a:tc>
                <a:tc>
                  <a:txBody>
                    <a:bodyPr/>
                    <a:lstStyle/>
                    <a:p>
                      <a:pPr algn="l">
                        <a:defRPr sz="1800"/>
                      </a:pPr>
                      <a:r>
                        <a:rPr sz="2800" dirty="0">
                          <a:sym typeface="Calibri"/>
                        </a:rPr>
                        <a:t>thiazolidinediones</a:t>
                      </a:r>
                    </a:p>
                  </a:txBody>
                  <a:tcPr marL="45720" marR="45720" anchor="ctr" horzOverflow="overflow"/>
                </a:tc>
                <a:extLst>
                  <a:ext uri="{0D108BD9-81ED-4DB2-BD59-A6C34878D82A}">
                    <a16:rowId xmlns:a16="http://schemas.microsoft.com/office/drawing/2014/main" val="10002"/>
                  </a:ext>
                </a:extLst>
              </a:tr>
              <a:tr h="551499">
                <a:tc>
                  <a:txBody>
                    <a:bodyPr/>
                    <a:lstStyle/>
                    <a:p>
                      <a:pPr algn="l">
                        <a:defRPr sz="1800"/>
                      </a:pPr>
                      <a:r>
                        <a:rPr sz="2800" dirty="0">
                          <a:sym typeface="Calibri"/>
                        </a:rPr>
                        <a:t>glinides</a:t>
                      </a:r>
                    </a:p>
                  </a:txBody>
                  <a:tcPr marL="45720" marR="45720" anchor="ctr" horzOverflow="overflow"/>
                </a:tc>
                <a:tc>
                  <a:txBody>
                    <a:bodyPr/>
                    <a:lstStyle/>
                    <a:p>
                      <a:pPr algn="l"/>
                      <a:r>
                        <a:rPr sz="2800" dirty="0">
                          <a:sym typeface="Calibri"/>
                        </a:rPr>
                        <a:t>incretin mimetics</a:t>
                      </a:r>
                      <a:r>
                        <a:rPr lang="en-US" sz="2800" dirty="0"/>
                        <a:t>/ GLp1 R agonist</a:t>
                      </a:r>
                      <a:endParaRPr sz="2800" dirty="0">
                        <a:sym typeface="Calibri"/>
                      </a:endParaRPr>
                    </a:p>
                  </a:txBody>
                  <a:tcPr marL="45720" marR="45720" anchor="ctr" horzOverflow="overflow"/>
                </a:tc>
                <a:extLst>
                  <a:ext uri="{0D108BD9-81ED-4DB2-BD59-A6C34878D82A}">
                    <a16:rowId xmlns:a16="http://schemas.microsoft.com/office/drawing/2014/main" val="10003"/>
                  </a:ext>
                </a:extLst>
              </a:tr>
              <a:tr h="551499">
                <a:tc>
                  <a:txBody>
                    <a:bodyPr/>
                    <a:lstStyle/>
                    <a:p>
                      <a:pPr algn="l">
                        <a:defRPr sz="2800">
                          <a:sym typeface="Calibri"/>
                        </a:defRPr>
                      </a:pPr>
                      <a:r>
                        <a:rPr dirty="0"/>
                        <a:t>pramlintide </a:t>
                      </a:r>
                      <a:r>
                        <a:rPr sz="2400" dirty="0"/>
                        <a:t>(with insulin)</a:t>
                      </a:r>
                    </a:p>
                  </a:txBody>
                  <a:tcPr marL="45720" marR="45720" anchor="ctr" horzOverflow="overflow"/>
                </a:tc>
                <a:tc>
                  <a:txBody>
                    <a:bodyPr/>
                    <a:lstStyle/>
                    <a:p>
                      <a:pPr algn="l">
                        <a:defRPr sz="2800">
                          <a:sym typeface="Calibri"/>
                        </a:defRPr>
                      </a:pPr>
                      <a:r>
                        <a:rPr dirty="0"/>
                        <a:t>α-glucosidase inhibitors</a:t>
                      </a:r>
                    </a:p>
                  </a:txBody>
                  <a:tcPr marL="45720" marR="45720" anchor="ctr" horzOverflow="overflow"/>
                </a:tc>
                <a:extLst>
                  <a:ext uri="{0D108BD9-81ED-4DB2-BD59-A6C34878D82A}">
                    <a16:rowId xmlns:a16="http://schemas.microsoft.com/office/drawing/2014/main" val="10004"/>
                  </a:ext>
                </a:extLst>
              </a:tr>
              <a:tr h="551499">
                <a:tc>
                  <a:txBody>
                    <a:bodyPr/>
                    <a:lstStyle/>
                    <a:p>
                      <a:pPr algn="l">
                        <a:defRPr sz="2800">
                          <a:sym typeface="Calibri"/>
                        </a:defRPr>
                      </a:pPr>
                      <a:endParaRPr/>
                    </a:p>
                  </a:txBody>
                  <a:tcPr marL="45720" marR="45720" anchor="ctr" horzOverflow="overflow"/>
                </a:tc>
                <a:tc>
                  <a:txBody>
                    <a:bodyPr/>
                    <a:lstStyle/>
                    <a:p>
                      <a:pPr algn="l">
                        <a:defRPr sz="1800"/>
                      </a:pPr>
                      <a:r>
                        <a:rPr sz="2800" dirty="0">
                          <a:sym typeface="Calibri"/>
                        </a:rPr>
                        <a:t>SGLT2 inhibitors</a:t>
                      </a:r>
                    </a:p>
                  </a:txBody>
                  <a:tcPr marL="45720" marR="45720" anchor="ctr" horzOverflow="overflow"/>
                </a:tc>
                <a:extLst>
                  <a:ext uri="{0D108BD9-81ED-4DB2-BD59-A6C34878D82A}">
                    <a16:rowId xmlns:a16="http://schemas.microsoft.com/office/drawing/2014/main" val="10005"/>
                  </a:ext>
                </a:extLst>
              </a:tr>
            </a:tbl>
          </a:graphicData>
        </a:graphic>
      </p:graphicFrame>
      <p:sp>
        <p:nvSpPr>
          <p:cNvPr id="74" name="Shape 74"/>
          <p:cNvSpPr/>
          <p:nvPr/>
        </p:nvSpPr>
        <p:spPr>
          <a:xfrm>
            <a:off x="1637647" y="3348188"/>
            <a:ext cx="4454985" cy="609601"/>
          </a:xfrm>
          <a:prstGeom prst="rect">
            <a:avLst/>
          </a:prstGeom>
          <a:ln w="114300">
            <a:solidFill>
              <a:srgbClr val="42719B">
                <a:alpha val="50000"/>
              </a:srgbClr>
            </a:solidFill>
            <a:miter/>
          </a:ln>
        </p:spPr>
        <p:txBody>
          <a:bodyPr lIns="45719" rIns="45719" anchor="ctr"/>
          <a:lstStyle/>
          <a:p>
            <a:pPr algn="ctr">
              <a:defRPr>
                <a:solidFill>
                  <a:srgbClr val="FFFFFF"/>
                </a:solidFill>
                <a:latin typeface="Arial"/>
                <a:ea typeface="Arial"/>
                <a:cs typeface="Arial"/>
                <a:sym typeface="Arial"/>
              </a:defRPr>
            </a:pPr>
            <a:endParaRPr/>
          </a:p>
        </p:txBody>
      </p:sp>
    </p:spTree>
  </p:cSld>
  <p:clrMapOvr>
    <a:masterClrMapping/>
  </p:clrMapOvr>
  <p:transition spd="slow"/>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1" animBg="1" advAuto="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1A0DB-7C83-D792-5CA9-CF4212E2E1AA}"/>
              </a:ext>
            </a:extLst>
          </p:cNvPr>
          <p:cNvSpPr>
            <a:spLocks noGrp="1"/>
          </p:cNvSpPr>
          <p:nvPr>
            <p:ph type="title"/>
          </p:nvPr>
        </p:nvSpPr>
        <p:spPr/>
        <p:txBody>
          <a:bodyPr>
            <a:normAutofit fontScale="90000"/>
          </a:bodyPr>
          <a:lstStyle/>
          <a:p>
            <a:r>
              <a:rPr lang="en-US" dirty="0">
                <a:ea typeface="Calibri"/>
                <a:cs typeface="Calibri"/>
              </a:rPr>
              <a:t>Glucagon for severe hypoglycemia treatment</a:t>
            </a:r>
            <a:br>
              <a:rPr lang="en-US" dirty="0">
                <a:ea typeface="Calibri"/>
                <a:cs typeface="Calibri"/>
              </a:rPr>
            </a:br>
            <a:endParaRPr lang="en-US"/>
          </a:p>
        </p:txBody>
      </p:sp>
      <p:graphicFrame>
        <p:nvGraphicFramePr>
          <p:cNvPr id="5" name="Content Placeholder 4">
            <a:extLst>
              <a:ext uri="{FF2B5EF4-FFF2-40B4-BE49-F238E27FC236}">
                <a16:creationId xmlns:a16="http://schemas.microsoft.com/office/drawing/2014/main" id="{C463D837-92F3-B62B-1D16-1AEEFB1EFF2F}"/>
              </a:ext>
            </a:extLst>
          </p:cNvPr>
          <p:cNvGraphicFramePr>
            <a:graphicFrameLocks noGrp="1"/>
          </p:cNvGraphicFramePr>
          <p:nvPr>
            <p:ph idx="1"/>
            <p:extLst>
              <p:ext uri="{D42A27DB-BD31-4B8C-83A1-F6EECF244321}">
                <p14:modId xmlns:p14="http://schemas.microsoft.com/office/powerpoint/2010/main" val="142023190"/>
              </p:ext>
            </p:extLst>
          </p:nvPr>
        </p:nvGraphicFramePr>
        <p:xfrm>
          <a:off x="609600" y="1600200"/>
          <a:ext cx="10972796" cy="2468880"/>
        </p:xfrm>
        <a:graphic>
          <a:graphicData uri="http://schemas.openxmlformats.org/drawingml/2006/table">
            <a:tbl>
              <a:tblPr bandRow="1">
                <a:tableStyleId>{5940675A-B579-460E-94D1-54222C63F5DA}</a:tableStyleId>
              </a:tblPr>
              <a:tblGrid>
                <a:gridCol w="2194560">
                  <a:extLst>
                    <a:ext uri="{9D8B030D-6E8A-4147-A177-3AD203B41FA5}">
                      <a16:colId xmlns:a16="http://schemas.microsoft.com/office/drawing/2014/main" val="2626749368"/>
                    </a:ext>
                  </a:extLst>
                </a:gridCol>
                <a:gridCol w="4168071">
                  <a:extLst>
                    <a:ext uri="{9D8B030D-6E8A-4147-A177-3AD203B41FA5}">
                      <a16:colId xmlns:a16="http://schemas.microsoft.com/office/drawing/2014/main" val="2485928024"/>
                    </a:ext>
                  </a:extLst>
                </a:gridCol>
                <a:gridCol w="221046">
                  <a:extLst>
                    <a:ext uri="{9D8B030D-6E8A-4147-A177-3AD203B41FA5}">
                      <a16:colId xmlns:a16="http://schemas.microsoft.com/office/drawing/2014/main" val="3739166171"/>
                    </a:ext>
                  </a:extLst>
                </a:gridCol>
                <a:gridCol w="208280">
                  <a:extLst>
                    <a:ext uri="{9D8B030D-6E8A-4147-A177-3AD203B41FA5}">
                      <a16:colId xmlns:a16="http://schemas.microsoft.com/office/drawing/2014/main" val="2306508952"/>
                    </a:ext>
                  </a:extLst>
                </a:gridCol>
                <a:gridCol w="4180839">
                  <a:extLst>
                    <a:ext uri="{9D8B030D-6E8A-4147-A177-3AD203B41FA5}">
                      <a16:colId xmlns:a16="http://schemas.microsoft.com/office/drawing/2014/main" val="1270107609"/>
                    </a:ext>
                  </a:extLst>
                </a:gridCol>
              </a:tblGrid>
              <a:tr h="0">
                <a:tc>
                  <a:txBody>
                    <a:bodyPr/>
                    <a:lstStyle/>
                    <a:p>
                      <a:endParaRPr lang="en-US"/>
                    </a:p>
                  </a:txBody>
                  <a:tcPr>
                    <a:lnB w="9525" cap="flat" cmpd="sng" algn="ctr">
                      <a:solidFill>
                        <a:srgbClr val="1A1A1A"/>
                      </a:solidFill>
                      <a:prstDash val="solid"/>
                      <a:round/>
                      <a:headEnd type="none" w="med" len="med"/>
                      <a:tailEnd type="none" w="med" len="med"/>
                    </a:lnB>
                  </a:tcPr>
                </a:tc>
                <a:tc>
                  <a:txBody>
                    <a:bodyPr/>
                    <a:lstStyle/>
                    <a:p>
                      <a:endParaRPr lang="en-US"/>
                    </a:p>
                  </a:txBody>
                  <a:tcPr>
                    <a:lnB w="9525" cap="flat" cmpd="sng" algn="ctr">
                      <a:solidFill>
                        <a:srgbClr val="1A1A1A"/>
                      </a:solidFill>
                      <a:prstDash val="solid"/>
                      <a:round/>
                      <a:headEnd type="none" w="med" len="med"/>
                      <a:tailEnd type="none" w="med" len="med"/>
                    </a:lnB>
                  </a:tcPr>
                </a:tc>
                <a:tc>
                  <a:txBody>
                    <a:bodyPr/>
                    <a:lstStyle/>
                    <a:p>
                      <a:endParaRPr lang="en-US"/>
                    </a:p>
                  </a:txBody>
                  <a:tcPr>
                    <a:lnB w="9525" cap="flat" cmpd="sng" algn="ctr">
                      <a:solidFill>
                        <a:srgbClr val="1A1A1A"/>
                      </a:solidFill>
                      <a:prstDash val="solid"/>
                      <a:round/>
                      <a:headEnd type="none" w="med" len="med"/>
                      <a:tailEnd type="none" w="med" len="med"/>
                    </a:lnB>
                  </a:tcPr>
                </a:tc>
                <a:tc>
                  <a:txBody>
                    <a:bodyPr/>
                    <a:lstStyle/>
                    <a:p>
                      <a:endParaRPr lang="en-US"/>
                    </a:p>
                  </a:txBody>
                  <a:tcPr>
                    <a:lnB w="9525" cap="flat" cmpd="sng" algn="ctr">
                      <a:solidFill>
                        <a:srgbClr val="1A1A1A"/>
                      </a:solidFill>
                      <a:prstDash val="solid"/>
                      <a:round/>
                      <a:headEnd type="none" w="med" len="med"/>
                      <a:tailEnd type="none" w="med" len="med"/>
                    </a:lnB>
                  </a:tcPr>
                </a:tc>
                <a:tc>
                  <a:txBody>
                    <a:bodyPr/>
                    <a:lstStyle/>
                    <a:p>
                      <a:endParaRPr lang="en-US"/>
                    </a:p>
                  </a:txBody>
                  <a:tcPr>
                    <a:lnB w="9525" cap="flat" cmpd="sng" algn="ctr">
                      <a:solidFill>
                        <a:srgbClr val="1A1A1A"/>
                      </a:solidFill>
                      <a:prstDash val="solid"/>
                      <a:round/>
                      <a:headEnd type="none" w="med" len="med"/>
                      <a:tailEnd type="none" w="med" len="med"/>
                    </a:lnB>
                  </a:tcPr>
                </a:tc>
                <a:extLst>
                  <a:ext uri="{0D108BD9-81ED-4DB2-BD59-A6C34878D82A}">
                    <a16:rowId xmlns:a16="http://schemas.microsoft.com/office/drawing/2014/main" val="1071610702"/>
                  </a:ext>
                </a:extLst>
              </a:tr>
              <a:tr h="0">
                <a:tc>
                  <a:txBody>
                    <a:bodyPr/>
                    <a:lstStyle/>
                    <a:p>
                      <a:pPr algn="l" fontAlgn="t"/>
                      <a:r>
                        <a:rPr lang="en-US" b="1" dirty="0">
                          <a:effectLst/>
                          <a:highlight>
                            <a:srgbClr val="FAFAFA"/>
                          </a:highlight>
                        </a:rPr>
                        <a:t>Product</a:t>
                      </a: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AFAFA"/>
                    </a:solidFill>
                  </a:tcPr>
                </a:tc>
                <a:tc>
                  <a:txBody>
                    <a:bodyPr/>
                    <a:lstStyle/>
                    <a:p>
                      <a:pPr algn="l" fontAlgn="t"/>
                      <a:r>
                        <a:rPr lang="en-US" b="1" dirty="0">
                          <a:effectLst/>
                          <a:highlight>
                            <a:srgbClr val="FAFAFA"/>
                          </a:highlight>
                        </a:rPr>
                        <a:t>Form(s)</a:t>
                      </a: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AFAFA"/>
                    </a:solidFill>
                  </a:tcPr>
                </a:tc>
                <a:tc>
                  <a:txBody>
                    <a:bodyPr/>
                    <a:lstStyle/>
                    <a:p>
                      <a:pPr algn="l" fontAlgn="t"/>
                      <a:endParaRPr lang="en-US" b="1" dirty="0">
                        <a:effectLst/>
                        <a:highlight>
                          <a:srgbClr val="FAFAFA"/>
                        </a:highlight>
                      </a:endParaRP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AFAFA"/>
                    </a:solidFill>
                  </a:tcPr>
                </a:tc>
                <a:tc>
                  <a:txBody>
                    <a:bodyPr/>
                    <a:lstStyle/>
                    <a:p>
                      <a:pPr algn="l" fontAlgn="t"/>
                      <a:endParaRPr lang="en-US" b="1" dirty="0">
                        <a:effectLst/>
                        <a:highlight>
                          <a:srgbClr val="FAFAFA"/>
                        </a:highlight>
                      </a:endParaRP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AFAFA"/>
                    </a:solidFill>
                  </a:tcPr>
                </a:tc>
                <a:tc>
                  <a:txBody>
                    <a:bodyPr/>
                    <a:lstStyle/>
                    <a:p>
                      <a:pPr algn="l" fontAlgn="t"/>
                      <a:r>
                        <a:rPr lang="en-US" b="1" dirty="0">
                          <a:effectLst/>
                          <a:highlight>
                            <a:srgbClr val="FAFAFA"/>
                          </a:highlight>
                        </a:rPr>
                        <a:t>Dosage(s)</a:t>
                      </a: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AFAFA"/>
                    </a:solidFill>
                  </a:tcPr>
                </a:tc>
                <a:extLst>
                  <a:ext uri="{0D108BD9-81ED-4DB2-BD59-A6C34878D82A}">
                    <a16:rowId xmlns:a16="http://schemas.microsoft.com/office/drawing/2014/main" val="2218990177"/>
                  </a:ext>
                </a:extLst>
              </a:tr>
              <a:tr h="0">
                <a:tc>
                  <a:txBody>
                    <a:bodyPr/>
                    <a:lstStyle/>
                    <a:p>
                      <a:pPr algn="l" fontAlgn="t"/>
                      <a:r>
                        <a:rPr lang="en-US" dirty="0">
                          <a:effectLst/>
                        </a:rPr>
                        <a:t>Glucagon </a:t>
                      </a: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l" fontAlgn="t"/>
                      <a:r>
                        <a:rPr lang="en-US" dirty="0">
                          <a:effectLst/>
                        </a:rPr>
                        <a:t>Injection powder with diluent for reconstitution </a:t>
                      </a: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l" fontAlgn="t"/>
                      <a:endParaRPr lang="en-US" dirty="0">
                        <a:effectLst/>
                      </a:endParaRP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l" fontAlgn="t"/>
                      <a:endParaRPr lang="en-US" dirty="0">
                        <a:effectLst/>
                      </a:endParaRP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l" fontAlgn="t"/>
                      <a:r>
                        <a:rPr lang="en-US" dirty="0">
                          <a:effectLst/>
                        </a:rPr>
                        <a:t>1 mg </a:t>
                      </a: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extLst>
                  <a:ext uri="{0D108BD9-81ED-4DB2-BD59-A6C34878D82A}">
                    <a16:rowId xmlns:a16="http://schemas.microsoft.com/office/drawing/2014/main" val="1260149012"/>
                  </a:ext>
                </a:extLst>
              </a:tr>
              <a:tr h="0">
                <a:tc>
                  <a:txBody>
                    <a:bodyPr/>
                    <a:lstStyle/>
                    <a:p>
                      <a:pPr algn="l" fontAlgn="t"/>
                      <a:r>
                        <a:rPr lang="en-US" dirty="0">
                          <a:effectLst/>
                        </a:rPr>
                        <a:t>Glucagon </a:t>
                      </a: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l" fontAlgn="t"/>
                      <a:r>
                        <a:rPr lang="en-US" dirty="0">
                          <a:effectLst/>
                        </a:rPr>
                        <a:t>Nasal powder </a:t>
                      </a: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l" fontAlgn="t"/>
                      <a:endParaRPr lang="en-US" dirty="0">
                        <a:effectLst/>
                      </a:endParaRP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l" fontAlgn="t"/>
                      <a:endParaRPr lang="en-US" dirty="0">
                        <a:effectLst/>
                      </a:endParaRP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l" fontAlgn="t"/>
                      <a:r>
                        <a:rPr lang="en-US" dirty="0">
                          <a:effectLst/>
                        </a:rPr>
                        <a:t>3 mg </a:t>
                      </a: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extLst>
                  <a:ext uri="{0D108BD9-81ED-4DB2-BD59-A6C34878D82A}">
                    <a16:rowId xmlns:a16="http://schemas.microsoft.com/office/drawing/2014/main" val="1863413804"/>
                  </a:ext>
                </a:extLst>
              </a:tr>
              <a:tr h="0">
                <a:tc>
                  <a:txBody>
                    <a:bodyPr/>
                    <a:lstStyle/>
                    <a:p>
                      <a:pPr algn="l" fontAlgn="t"/>
                      <a:r>
                        <a:rPr lang="en-US" dirty="0">
                          <a:effectLst/>
                        </a:rPr>
                        <a:t>Glucagon </a:t>
                      </a: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l" fontAlgn="t"/>
                      <a:r>
                        <a:rPr lang="en-US" dirty="0">
                          <a:effectLst/>
                        </a:rPr>
                        <a:t>Prefilled pen, prefilled syringe </a:t>
                      </a: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l" fontAlgn="t"/>
                      <a:endParaRPr lang="en-US" dirty="0">
                        <a:effectLst/>
                      </a:endParaRP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l" fontAlgn="t"/>
                      <a:endParaRPr lang="en-US" dirty="0">
                        <a:effectLst/>
                      </a:endParaRP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l" fontAlgn="t"/>
                      <a:r>
                        <a:rPr lang="en-US" dirty="0">
                          <a:effectLst/>
                        </a:rPr>
                        <a:t>0.5 mg, 1 mg </a:t>
                      </a: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extLst>
                  <a:ext uri="{0D108BD9-81ED-4DB2-BD59-A6C34878D82A}">
                    <a16:rowId xmlns:a16="http://schemas.microsoft.com/office/drawing/2014/main" val="1410845861"/>
                  </a:ext>
                </a:extLst>
              </a:tr>
              <a:tr h="0">
                <a:tc>
                  <a:txBody>
                    <a:bodyPr/>
                    <a:lstStyle/>
                    <a:p>
                      <a:pPr algn="l" fontAlgn="t"/>
                      <a:endParaRPr lang="en-US" dirty="0">
                        <a:effectLst/>
                      </a:endParaRP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pPr algn="l" fontAlgn="t"/>
                      <a:endParaRPr lang="en-US" dirty="0">
                        <a:effectLst/>
                      </a:endParaRPr>
                    </a:p>
                  </a:txBody>
                  <a:tcP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FFFFF"/>
                    </a:solidFill>
                  </a:tcPr>
                </a:tc>
                <a:tc>
                  <a:txBody>
                    <a:bodyPr/>
                    <a:lstStyle/>
                    <a:p>
                      <a:endParaRPr lang="en-US"/>
                    </a:p>
                  </a:txBody>
                  <a:tcPr>
                    <a:lnL w="9525" cap="flat" cmpd="sng" algn="ctr">
                      <a:solidFill>
                        <a:srgbClr val="1A1A1A"/>
                      </a:solidFill>
                      <a:prstDash val="solid"/>
                      <a:round/>
                      <a:headEnd type="none" w="med" len="med"/>
                      <a:tailEnd type="none" w="med" len="med"/>
                    </a:lnL>
                    <a:lnT w="9525" cap="flat" cmpd="sng" algn="ctr">
                      <a:solidFill>
                        <a:srgbClr val="1A1A1A"/>
                      </a:solidFill>
                      <a:prstDash val="solid"/>
                      <a:round/>
                      <a:headEnd type="none" w="med" len="med"/>
                      <a:tailEnd type="none" w="med" len="med"/>
                    </a:lnT>
                  </a:tcPr>
                </a:tc>
                <a:tc>
                  <a:txBody>
                    <a:bodyPr/>
                    <a:lstStyle/>
                    <a:p>
                      <a:endParaRPr lang="en-US"/>
                    </a:p>
                  </a:txBody>
                  <a:tcPr>
                    <a:lnT w="9525" cap="flat" cmpd="sng" algn="ctr">
                      <a:solidFill>
                        <a:srgbClr val="1A1A1A"/>
                      </a:solidFill>
                      <a:prstDash val="solid"/>
                      <a:round/>
                      <a:headEnd type="none" w="med" len="med"/>
                      <a:tailEnd type="none" w="med" len="med"/>
                    </a:lnT>
                  </a:tcPr>
                </a:tc>
                <a:tc>
                  <a:txBody>
                    <a:bodyPr/>
                    <a:lstStyle/>
                    <a:p>
                      <a:endParaRPr lang="en-US"/>
                    </a:p>
                  </a:txBody>
                  <a:tcPr>
                    <a:lnT w="9525" cap="flat" cmpd="sng" algn="ctr">
                      <a:solidFill>
                        <a:srgbClr val="1A1A1A"/>
                      </a:solidFill>
                      <a:prstDash val="solid"/>
                      <a:round/>
                      <a:headEnd type="none" w="med" len="med"/>
                      <a:tailEnd type="none" w="med" len="med"/>
                    </a:lnT>
                  </a:tcPr>
                </a:tc>
                <a:extLst>
                  <a:ext uri="{0D108BD9-81ED-4DB2-BD59-A6C34878D82A}">
                    <a16:rowId xmlns:a16="http://schemas.microsoft.com/office/drawing/2014/main" val="2593577572"/>
                  </a:ext>
                </a:extLst>
              </a:tr>
            </a:tbl>
          </a:graphicData>
        </a:graphic>
      </p:graphicFrame>
    </p:spTree>
    <p:extLst>
      <p:ext uri="{BB962C8B-B14F-4D97-AF65-F5344CB8AC3E}">
        <p14:creationId xmlns:p14="http://schemas.microsoft.com/office/powerpoint/2010/main" val="3509807226"/>
      </p:ext>
    </p:extLst>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5B9BD5"/>
      </a:accent1>
      <a:accent2>
        <a:srgbClr val="ED7D31"/>
      </a:accent2>
      <a:accent3>
        <a:srgbClr val="A5A5A5"/>
      </a:accent3>
      <a:accent4>
        <a:srgbClr val="FFC000"/>
      </a:accent4>
      <a:accent5>
        <a:srgbClr val="4472C4"/>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Default Design">
  <a:themeElements>
    <a:clrScheme name="">
      <a:dk1>
        <a:srgbClr val="333333"/>
      </a:dk1>
      <a:lt1>
        <a:srgbClr val="BDD7E5"/>
      </a:lt1>
      <a:dk2>
        <a:srgbClr val="004C2B"/>
      </a:dk2>
      <a:lt2>
        <a:srgbClr val="578963"/>
      </a:lt2>
      <a:accent1>
        <a:srgbClr val="FFCCCC"/>
      </a:accent1>
      <a:accent2>
        <a:srgbClr val="B3E1B3"/>
      </a:accent2>
      <a:accent3>
        <a:srgbClr val="DBE8F0"/>
      </a:accent3>
      <a:accent4>
        <a:srgbClr val="2A2A2A"/>
      </a:accent4>
      <a:accent5>
        <a:srgbClr val="FFE2E2"/>
      </a:accent5>
      <a:accent6>
        <a:srgbClr val="A2CCA2"/>
      </a:accent6>
      <a:hlink>
        <a:srgbClr val="BDD7E5"/>
      </a:hlink>
      <a:folHlink>
        <a:srgbClr val="D2AAD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6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5B9BD5"/>
      </a:accent1>
      <a:accent2>
        <a:srgbClr val="ED7D31"/>
      </a:accent2>
      <a:accent3>
        <a:srgbClr val="A5A5A5"/>
      </a:accent3>
      <a:accent4>
        <a:srgbClr val="FFC000"/>
      </a:accent4>
      <a:accent5>
        <a:srgbClr val="4472C4"/>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433</TotalTime>
  <Words>933</Words>
  <Application>Microsoft Office PowerPoint</Application>
  <PresentationFormat>Widescreen</PresentationFormat>
  <Paragraphs>234</Paragraphs>
  <Slides>28</Slides>
  <Notes>6</Notes>
  <HiddenSlides>0</HiddenSlides>
  <MMClips>0</MMClips>
  <ScaleCrop>false</ScaleCrop>
  <HeadingPairs>
    <vt:vector size="4" baseType="variant">
      <vt:variant>
        <vt:lpstr>Theme</vt:lpstr>
      </vt:variant>
      <vt:variant>
        <vt:i4>4</vt:i4>
      </vt:variant>
      <vt:variant>
        <vt:lpstr>Slide Titles</vt:lpstr>
      </vt:variant>
      <vt:variant>
        <vt:i4>28</vt:i4>
      </vt:variant>
    </vt:vector>
  </HeadingPairs>
  <TitlesOfParts>
    <vt:vector size="32" baseType="lpstr">
      <vt:lpstr>Office Theme</vt:lpstr>
      <vt:lpstr>Default Design</vt:lpstr>
      <vt:lpstr>1_Office Theme</vt:lpstr>
      <vt:lpstr>6_Office Theme</vt:lpstr>
      <vt:lpstr>Pharmacotherapy of Type 2 Diabetes</vt:lpstr>
      <vt:lpstr>Learning Objectives</vt:lpstr>
      <vt:lpstr>     Type 2 DM Medications: Sites of Action of Therapeutic agents</vt:lpstr>
      <vt:lpstr>PowerPoint Presentation</vt:lpstr>
      <vt:lpstr>PowerPoint Presentation</vt:lpstr>
      <vt:lpstr>Proposed mechanisms of action</vt:lpstr>
      <vt:lpstr>PowerPoint Presentation</vt:lpstr>
      <vt:lpstr>PowerPoint Presentation</vt:lpstr>
      <vt:lpstr>Lactic acidosis</vt:lpstr>
      <vt:lpstr>Sulfonylureas- Glipizide, Glimepiride,Glyburide</vt:lpstr>
      <vt:lpstr>Thiazolidinediones- Pioglitazone </vt:lpstr>
      <vt:lpstr>SGLT-2 inhibitors- glucose excretion can be induced by blocking the activity of the renal sodium-glucose cotransporter 2 (SGLT-2). This causes reabsorption of glucose at proximal renal tubule. This causes glucosuria and corrects hyperglycemia without stimulating release of insulin.</vt:lpstr>
      <vt:lpstr>PowerPoint Presentation</vt:lpstr>
      <vt:lpstr>GLP 1 agonist- Dulaglutide, Semaglutide, Liraglutide GLP1+ GIP agonist - Tirzepatide</vt:lpstr>
      <vt:lpstr>DPP 4 inhibitor-Sitagliptin,Linagliptin</vt:lpstr>
      <vt:lpstr>Insulin </vt:lpstr>
      <vt:lpstr>Insulin </vt:lpstr>
      <vt:lpstr>PowerPoint Presentation</vt:lpstr>
      <vt:lpstr>PowerPoint Presentation</vt:lpstr>
      <vt:lpstr>PowerPoint Presentation</vt:lpstr>
      <vt:lpstr>Highlighting medications currently in common use</vt:lpstr>
      <vt:lpstr>PowerPoint Presentation</vt:lpstr>
      <vt:lpstr>PowerPoint Presentation</vt:lpstr>
      <vt:lpstr>Efficacy: Decrease in HbA1c</vt:lpstr>
      <vt:lpstr>Achievement of A1c goal</vt:lpstr>
      <vt:lpstr>Preferred medications in cardiorenal risk reduction in Type 2 diabetes</vt:lpstr>
      <vt:lpstr>Hypoglycemia</vt:lpstr>
      <vt:lpstr>Glucagon for severe hypoglycemia treatment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Pharmacotherapy of type 2 diabetes</dc:title>
  <dc:creator>Goedde, Michael</dc:creator>
  <cp:lastModifiedBy>Pecenka, Christopher D</cp:lastModifiedBy>
  <cp:revision>478</cp:revision>
  <dcterms:modified xsi:type="dcterms:W3CDTF">2025-05-31T13:48:05Z</dcterms:modified>
</cp:coreProperties>
</file>