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310" r:id="rId4"/>
    <p:sldId id="311" r:id="rId5"/>
    <p:sldId id="316" r:id="rId6"/>
    <p:sldId id="263" r:id="rId7"/>
    <p:sldId id="265" r:id="rId8"/>
    <p:sldId id="261" r:id="rId9"/>
    <p:sldId id="262" r:id="rId10"/>
    <p:sldId id="264" r:id="rId11"/>
    <p:sldId id="267" r:id="rId12"/>
    <p:sldId id="266" r:id="rId13"/>
    <p:sldId id="300" r:id="rId14"/>
    <p:sldId id="269" r:id="rId15"/>
    <p:sldId id="268" r:id="rId16"/>
    <p:sldId id="301" r:id="rId17"/>
    <p:sldId id="302" r:id="rId18"/>
    <p:sldId id="270" r:id="rId19"/>
    <p:sldId id="271" r:id="rId20"/>
    <p:sldId id="272" r:id="rId21"/>
    <p:sldId id="273" r:id="rId22"/>
    <p:sldId id="274" r:id="rId23"/>
    <p:sldId id="277" r:id="rId24"/>
    <p:sldId id="278" r:id="rId25"/>
    <p:sldId id="282" r:id="rId26"/>
    <p:sldId id="281" r:id="rId27"/>
    <p:sldId id="285" r:id="rId28"/>
    <p:sldId id="303" r:id="rId29"/>
    <p:sldId id="286" r:id="rId30"/>
    <p:sldId id="287" r:id="rId31"/>
    <p:sldId id="304" r:id="rId32"/>
    <p:sldId id="308" r:id="rId33"/>
    <p:sldId id="306" r:id="rId34"/>
    <p:sldId id="305" r:id="rId35"/>
    <p:sldId id="307" r:id="rId36"/>
    <p:sldId id="288" r:id="rId37"/>
    <p:sldId id="290" r:id="rId38"/>
    <p:sldId id="291" r:id="rId39"/>
    <p:sldId id="292" r:id="rId40"/>
    <p:sldId id="293" r:id="rId41"/>
    <p:sldId id="295" r:id="rId42"/>
    <p:sldId id="317" r:id="rId43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87942"/>
  </p:normalViewPr>
  <p:slideViewPr>
    <p:cSldViewPr snapToGrid="0">
      <p:cViewPr varScale="1">
        <p:scale>
          <a:sx n="92" d="100"/>
          <a:sy n="92" d="100"/>
        </p:scale>
        <p:origin x="176" y="1200"/>
      </p:cViewPr>
      <p:guideLst/>
    </p:cSldViewPr>
  </p:slideViewPr>
  <p:outlineViewPr>
    <p:cViewPr>
      <p:scale>
        <a:sx n="33" d="100"/>
        <a:sy n="33" d="100"/>
      </p:scale>
      <p:origin x="0" y="-3271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A9DE7-98A2-2C44-91F4-35303CAD836A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105F8-8FA9-5642-A8DE-499269EAAC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13164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55228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11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5438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6426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24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61249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27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83683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30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41958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31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9857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Joffe trial, n=339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36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31378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05F8-8FA9-5642-A8DE-499269EAAC76}" type="slidenum">
              <a:rPr lang="en-AE" smtClean="0"/>
              <a:t>40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5793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2A31-56F6-1A9B-524F-13833D07B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0CAA5-7869-AB1F-E922-F7B435DEC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7A7EC-4C52-42E1-A0DF-610DC21E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01410-FC78-B8CE-C2E9-75222176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54FA-08C7-F271-20FF-4789E957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1814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3C34-1ECE-6975-CAE2-AA81452F4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E5B38-49E8-6D67-68AB-83471B28A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EC712-CA70-6B3E-BA09-4607DF9B5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F3DDA-34C0-33EB-8033-299B6BC87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EC639-9573-3921-95FA-EEC0B267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7110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306D-01EF-EEDF-9CCC-128F9D39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1AB94-0541-829C-2F3A-F0223E882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38069-8C8B-1D94-0650-E0E3BE02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012-09C2-1932-8F79-53DE44C8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74A2E-DE71-FD08-8EEA-78065250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621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0435-7998-9B30-1230-7BC01B0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663B2-170D-3D5C-93CE-E61FF16FB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C3242-77D5-CEF0-E361-41122485F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64F52-449C-85C7-78FD-BAE7C819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9811C-E123-8A4E-83EB-EFDE714E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7BF9C-6FD1-0059-FB07-21380585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8857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AE3-3A0E-6C60-3FAB-8131E6E3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7A9AA-70F6-E0BC-C171-E5638A979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9E4EE-8640-3A1F-FA4B-21B97036A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CFB3B2-8B3B-A87F-E9FA-93FC62F74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60C42-98D1-5201-CFE4-3F734E099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4163D-DF79-3E86-C822-F3D24C77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9570D0-32D6-63C2-A8FE-3A9B4FD5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415EB-B630-A36D-B34E-5E798E89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821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4B466-B25B-FF72-51D3-0F254B30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66F5D-1C1A-06C9-73C4-0171C00C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D3112-BBBC-C79C-7536-F2B42E721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8A402-AD2D-C10E-B85D-156B5011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5123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02542-1DFD-7031-78C1-2C27F908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F0F58-E9E2-D2AE-85FB-F45BFFBF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886DA-7D2E-7109-4852-AB95BDC46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7444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C387-3B53-0FD4-FF75-88312FCF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5BA3-EC45-9F83-0788-3E421906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4DE34-0A5C-32E8-BB69-A9E9D16B6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18A03-543D-F211-2F41-56353CBC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5E5CB-1CA5-6345-2AC2-7DEEC0D1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C40D5-E896-2CC5-4868-3FC87DE5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8584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2EB9-707E-F523-D159-1C032285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7A40A-E633-F104-F264-0F29E7FAA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EAC47-58C0-C36A-AA82-BABA0DF81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A4459-AF35-E342-21C5-C7BBDAA1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F38BB-422F-2013-D3B6-559AFB97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9006A-F3A7-9266-21D2-2BDB085B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8167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33057-F832-4B8F-840D-99A783B7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AE701-4FFC-599A-E039-DFCB7FC03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6F2D7-C770-1315-DA9C-8A447AA0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22072-EEB0-AED9-0DCA-82E0AE2E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D62C6-A8C6-CD78-EB70-C19BC360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67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42CED2-2003-59A6-E4A7-380E49B5C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EFC74-7F44-E4A0-9DB9-2E5696624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7075-9811-914E-AEDC-48C69E78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8051A-1505-B119-ACD2-C51065EA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514C1-3F4B-383D-6040-288137E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5020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203201" y="6477001"/>
            <a:ext cx="1114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Copyrights apply</a:t>
            </a:r>
          </a:p>
        </p:txBody>
      </p:sp>
    </p:spTree>
    <p:extLst>
      <p:ext uri="{BB962C8B-B14F-4D97-AF65-F5344CB8AC3E}">
        <p14:creationId xmlns:p14="http://schemas.microsoft.com/office/powerpoint/2010/main" val="421577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4664E-2713-66CC-FCDD-E7BB40C7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7793F-C220-F3B0-81F5-3917A8185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8AD42-0FD7-7F3B-D80E-6FF8AADA7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0FC23-0330-7547-9284-C587E4A37D30}" type="datetimeFigureOut">
              <a:rPr lang="en-AE" smtClean="0"/>
              <a:t>10/09/2026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0CDF-F329-4EFF-784A-09AC1B4B9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2AEA8-F8F5-DFE4-46FE-78B111901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D49A3-C99F-2D46-90A6-D23D84C9C51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7414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eg"/><Relationship Id="rId5" Type="http://schemas.openxmlformats.org/officeDocument/2006/relationships/tags" Target="../tags/tag5.xml"/><Relationship Id="rId10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F455-41C7-1625-8344-806987CA6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E" b="1" dirty="0"/>
              <a:t>Menopause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A2EB9-CBD2-E3B3-8882-D7090D0B0C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E" sz="4000" b="1" dirty="0">
                <a:solidFill>
                  <a:srgbClr val="C00000"/>
                </a:solidFill>
              </a:rPr>
              <a:t>Pharmacology</a:t>
            </a:r>
          </a:p>
        </p:txBody>
      </p:sp>
    </p:spTree>
    <p:extLst>
      <p:ext uri="{BB962C8B-B14F-4D97-AF65-F5344CB8AC3E}">
        <p14:creationId xmlns:p14="http://schemas.microsoft.com/office/powerpoint/2010/main" val="3386377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EFA0-0526-4E3B-ED0B-D4DBFDD2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>
                <a:solidFill>
                  <a:srgbClr val="C00000"/>
                </a:solidFill>
              </a:rPr>
              <a:t>Session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FE42-1347-BD66-F48D-616D973C3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Differentiate the clinical indications, contraindications, and adverse effects of estrogen-only versus combined estrogen-progestin therapy.</a:t>
            </a:r>
          </a:p>
          <a:p>
            <a:r>
              <a:rPr lang="en-US" dirty="0"/>
              <a:t>Explain the main mechanisms, risks, and clinical utility of some non-hormonal pharmacological therapies utilized for menopausal vasomotor symptoms.</a:t>
            </a:r>
          </a:p>
          <a:p>
            <a:r>
              <a:rPr lang="en-US" dirty="0"/>
              <a:t>Select the most appropriate menopausal pharmacotherapy for a patient by analyzing comorbid conditions and individual risk stratification.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3176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D192-1DCC-4A6D-6631-BA152D48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Roadmap: Menopausal Pharmacotherapy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DBF87-E586-22F5-8EF2-63B1CBBA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Pharmacological Principles &amp; Hormone Regimens</a:t>
            </a:r>
          </a:p>
          <a:p>
            <a:pPr marL="514350" indent="-514350">
              <a:buAutoNum type="arabicPeriod"/>
            </a:pPr>
            <a:r>
              <a:rPr lang="en-US" dirty="0"/>
              <a:t>Evidence-Based Safety &amp; Risk Stratification-The WHI Vs. E3N</a:t>
            </a:r>
          </a:p>
          <a:p>
            <a:pPr marL="514350" indent="-514350">
              <a:buAutoNum type="arabicPeriod"/>
            </a:pPr>
            <a:r>
              <a:rPr lang="en-US" dirty="0"/>
              <a:t>Special Populations &amp; Non-Hormonal Pharmacology</a:t>
            </a:r>
          </a:p>
          <a:p>
            <a:pPr marL="514350" indent="-514350">
              <a:buAutoNum type="arabicPeriod"/>
            </a:pPr>
            <a:r>
              <a:rPr lang="en-US" dirty="0"/>
              <a:t>Applications-Questions (lecture day)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088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B081-66C6-0DDB-BB67-0221EFA4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A568A1-2E68-1198-BE90-81DBB2832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E" b="1" dirty="0">
                <a:solidFill>
                  <a:srgbClr val="C00000"/>
                </a:solidFill>
              </a:rPr>
              <a:t>Why Treat? </a:t>
            </a:r>
            <a:endParaRPr lang="en-AE" dirty="0">
              <a:solidFill>
                <a:srgbClr val="C0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EB7FD2-9E6E-E9B2-2574-EC6F69DE75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15821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093F-E60C-C704-D2F6-CAF8C3BF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35788-03C6-47F1-A184-8094DB729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E" b="1" dirty="0"/>
              <a:t>Why Not Treat?</a:t>
            </a:r>
            <a:endParaRPr lang="en-AE" dirty="0">
              <a:solidFill>
                <a:srgbClr val="C0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C9C7F4C-3BB7-6880-510E-F7360B044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</a:rPr>
              <a:t>The 2002 WHI Misinterpretation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5625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090E24-8EFA-AF9D-0F8B-7EA747324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E" b="1" dirty="0"/>
              <a:t>Estrogen and Progestogen in </a:t>
            </a:r>
            <a:r>
              <a:rPr lang="en-AE" b="1" dirty="0">
                <a:solidFill>
                  <a:srgbClr val="C00000"/>
                </a:solidFill>
              </a:rPr>
              <a:t>Menopause</a:t>
            </a:r>
            <a:endParaRPr lang="en-AE" dirty="0">
              <a:solidFill>
                <a:srgbClr val="C0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D2D542-D16E-3F8C-01AF-90C60B7DFF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6863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7" name="Graphic 4" descr="Title ">
            <a:extLst>
              <a:ext uri="{FF2B5EF4-FFF2-40B4-BE49-F238E27FC236}">
                <a16:creationId xmlns:a16="http://schemas.microsoft.com/office/drawing/2014/main" id="{7D5DB5C0-184B-3616-DBB0-8687DC2164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07950"/>
            <a:ext cx="2057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Rectangle 10">
            <a:extLst>
              <a:ext uri="{FF2B5EF4-FFF2-40B4-BE49-F238E27FC236}">
                <a16:creationId xmlns:a16="http://schemas.microsoft.com/office/drawing/2014/main" id="{C86A05D3-43D3-F075-E19D-1B238666D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687388"/>
            <a:ext cx="9144000" cy="914400"/>
          </a:xfrm>
          <a:prstGeom prst="rect">
            <a:avLst/>
          </a:prstGeom>
          <a:solidFill>
            <a:srgbClr val="64B744">
              <a:alpha val="1882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>
              <a:buSzTx/>
              <a:defRPr kumimoji="0" sz="18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Wingdings" charset="2"/>
              </a:defRPr>
            </a:pPr>
            <a:endParaRPr lang="en-US">
              <a:solidFill>
                <a:schemeClr val="lt1"/>
              </a:solidFill>
              <a:sym typeface="Wingdings" charset="2"/>
            </a:endParaRPr>
          </a:p>
        </p:txBody>
      </p:sp>
      <p:sp>
        <p:nvSpPr>
          <p:cNvPr id="16389" name="Text Placeholder 2">
            <a:extLst>
              <a:ext uri="{FF2B5EF4-FFF2-40B4-BE49-F238E27FC236}">
                <a16:creationId xmlns:a16="http://schemas.microsoft.com/office/drawing/2014/main" id="{2F463719-35B4-7941-4BB3-9975D3C71AF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1524000" y="692150"/>
            <a:ext cx="9144000" cy="508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254000" tIns="63500" rIns="127000" bIns="0"/>
          <a:lstStyle/>
          <a:p>
            <a:pPr>
              <a:buSzTx/>
              <a:defRPr kumimoji="0" sz="18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Arial"/>
                <a:sym typeface="Wingdings" charset="2"/>
              </a:defRPr>
            </a:pPr>
            <a:r>
              <a:rPr lang="en-US" sz="1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Helvetica" charset="0"/>
                <a:ea typeface="Arial"/>
                <a:cs typeface="Helvetica"/>
                <a:sym typeface="Wingdings"/>
              </a:rPr>
              <a:t>From: </a:t>
            </a:r>
            <a:r>
              <a:rPr lang="en-US" sz="1300"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Helvetica" charset="0"/>
                <a:ea typeface="Arial"/>
                <a:cs typeface="Helvetica"/>
                <a:sym typeface="Wingdings"/>
              </a:rPr>
              <a:t>25 Estrogens, Progestogens, and Androgens</a:t>
            </a:r>
          </a:p>
        </p:txBody>
      </p:sp>
      <p:sp>
        <p:nvSpPr>
          <p:cNvPr id="16394" name="Text Placeholder 2">
            <a:extLst>
              <a:ext uri="{FF2B5EF4-FFF2-40B4-BE49-F238E27FC236}">
                <a16:creationId xmlns:a16="http://schemas.microsoft.com/office/drawing/2014/main" id="{DCBF63E7-D416-9C29-22F2-589A20882C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1524000" y="1282700"/>
            <a:ext cx="9144000" cy="3175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254000" tIns="0" rIns="127000" bIns="635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AE" sz="1100">
                <a:solidFill>
                  <a:schemeClr val="bg1"/>
                </a:solidFill>
                <a:latin typeface="Helvetica" pitchFamily="2" charset="0"/>
              </a:rPr>
              <a:t>Lippincott ® Illustrated Reviews: Pharmacology, 8e,  2023</a:t>
            </a:r>
          </a:p>
        </p:txBody>
      </p:sp>
      <p:pic>
        <p:nvPicPr>
          <p:cNvPr id="14348" name="New picture" descr="Diagram showing steroid hormone regulation of gene transcription. Hormone binding changes the receptor’s shape, exposing its DNA-binding domain and forming a receptor dimer. The complex binds an estrogen response element (ERE) on DNA and recruits coactivators, the basal transcription complex, and RNA polymerase II to regulate target gene transcription.">
            <a:extLst>
              <a:ext uri="{FF2B5EF4-FFF2-40B4-BE49-F238E27FC236}">
                <a16:creationId xmlns:a16="http://schemas.microsoft.com/office/drawing/2014/main" id="{D99B2BC2-6023-DFA5-68AA-41336B6F1023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596" y="2057400"/>
            <a:ext cx="8357861" cy="3063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4344" name="TextBox 11">
            <a:extLst>
              <a:ext uri="{FF2B5EF4-FFF2-40B4-BE49-F238E27FC236}">
                <a16:creationId xmlns:a16="http://schemas.microsoft.com/office/drawing/2014/main" id="{48690960-95AA-9B3D-94C3-3400091378D3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6"/>
            </p:custDataLst>
          </p:nvPr>
        </p:nvSpPr>
        <p:spPr bwMode="auto">
          <a:xfrm>
            <a:off x="1524000" y="5305426"/>
            <a:ext cx="9144000" cy="263525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254000" tIns="0" rIns="0" bIns="635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+mn-cs"/>
              </a:rPr>
              <a:t>Legend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16391" name="Text Placeholder 2">
            <a:extLst>
              <a:ext uri="{FF2B5EF4-FFF2-40B4-BE49-F238E27FC236}">
                <a16:creationId xmlns:a16="http://schemas.microsoft.com/office/drawing/2014/main" id="{29430596-E574-BF15-6755-0C560706B74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524000" y="5575300"/>
            <a:ext cx="9144000" cy="635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254000" tIns="0" rIns="0" bIns="63500"/>
          <a:lstStyle/>
          <a:p>
            <a:pPr>
              <a:spcBef>
                <a:spcPct val="20000"/>
              </a:spcBef>
              <a:buSzTx/>
              <a:defRPr kumimoji="0" sz="18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Arial"/>
                <a:sym typeface="Wingdings" charset="2"/>
              </a:defRPr>
            </a:pPr>
            <a:r>
              <a:rPr lang="en-US" sz="1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Helvetica" charset="0"/>
                <a:ea typeface="Arial"/>
                <a:cs typeface="Helvetica"/>
                <a:sym typeface="Wingdings"/>
              </a:rPr>
              <a:t>Transcriptional regulation by intracellular steroid hormone receptors.</a:t>
            </a: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9EB504CB-9863-5BC3-B1B0-80E4898D2A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idx="4294967295"/>
            <p:custDataLst>
              <p:tags r:id="rId8"/>
            </p:custDataLst>
          </p:nvPr>
        </p:nvSpPr>
        <p:spPr>
          <a:xfrm>
            <a:off x="4495800" y="6223000"/>
            <a:ext cx="3200400" cy="635000"/>
          </a:xfrm>
          <a:ln>
            <a:miter lim="800000"/>
          </a:ln>
        </p:spPr>
        <p:txBody>
          <a:bodyPr>
            <a:no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999999"/>
                </a:solidFill>
                <a:latin typeface="Helvetica" pitchFamily="2" charset="0"/>
              </a:rPr>
              <a:t>Copyright © Wolters Kluwer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C36B-9BDA-BFAD-DAFD-260D5B23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17" y="237109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AE" b="1" dirty="0"/>
            </a:br>
            <a:r>
              <a:rPr lang="en-US" b="1" dirty="0"/>
              <a:t>Estrogen</a:t>
            </a:r>
            <a:br>
              <a:rPr lang="en-US" b="1" dirty="0"/>
            </a:b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4126E-FC0A-EE8F-4B92-2CBBC0DB3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88" y="1818704"/>
            <a:ext cx="8200591" cy="4802187"/>
          </a:xfrm>
        </p:spPr>
        <p:txBody>
          <a:bodyPr>
            <a:normAutofit/>
          </a:bodyPr>
          <a:lstStyle/>
          <a:p>
            <a:r>
              <a:rPr lang="en-US" sz="2400" dirty="0"/>
              <a:t>Binds intracellular estrogen receptors ER</a:t>
            </a:r>
            <a:r>
              <a:rPr lang="el-GR" sz="2400" dirty="0"/>
              <a:t>α </a:t>
            </a:r>
            <a:r>
              <a:rPr lang="en-US" sz="2400" dirty="0"/>
              <a:t>and ER</a:t>
            </a:r>
            <a:r>
              <a:rPr lang="el-GR" sz="2400" dirty="0"/>
              <a:t>β.</a:t>
            </a:r>
            <a:endParaRPr lang="en-US" sz="2400" dirty="0"/>
          </a:p>
          <a:p>
            <a:pPr marL="0" indent="0">
              <a:buNone/>
            </a:pPr>
            <a:endParaRPr lang="el-GR" sz="2400" dirty="0"/>
          </a:p>
          <a:p>
            <a:r>
              <a:rPr lang="en-US" sz="2400" dirty="0"/>
              <a:t>The hormone–receptor complex binds DNA response elements and alters transcription.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Stabilizes hypothalamic thermoregulation.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Stimulates endometrial proliferation.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Reduces osteoclast-mediated bone resorption.</a:t>
            </a:r>
          </a:p>
          <a:p>
            <a:pPr marL="0" indent="0">
              <a:buNone/>
            </a:pPr>
            <a:endParaRPr lang="en-AE" sz="2400" dirty="0"/>
          </a:p>
        </p:txBody>
      </p:sp>
      <p:pic>
        <p:nvPicPr>
          <p:cNvPr id="4" name="Picture 3" descr="Infographic of estrogen molecular mechanisms and systemic effects on the brain, uterus, and bones.">
            <a:extLst>
              <a:ext uri="{FF2B5EF4-FFF2-40B4-BE49-F238E27FC236}">
                <a16:creationId xmlns:a16="http://schemas.microsoft.com/office/drawing/2014/main" id="{3C712E2F-F1AA-A99B-E660-990F8886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93" b="3458"/>
          <a:stretch>
            <a:fillRect/>
          </a:stretch>
        </p:blipFill>
        <p:spPr>
          <a:xfrm>
            <a:off x="8364279" y="783736"/>
            <a:ext cx="3827721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57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AA75-F028-A628-6AFA-523BAF6A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Progestogen</a:t>
            </a:r>
            <a:br>
              <a:rPr lang="en-US" sz="4000" b="1" dirty="0"/>
            </a:br>
            <a:endParaRPr lang="en-AE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AF0E1-2F28-07FA-44D2-D74701A65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Progestogen includes endogenous progesterone and synthetic progestins such as medroxyprogesterone acetate.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Binds intracellular progesterone receptors.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Opposes estrogen-induced endometrial proliferation.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Promotes secretory endometrial differentiation.</a:t>
            </a:r>
          </a:p>
          <a:p>
            <a:pPr marL="0" indent="0">
              <a:buNone/>
            </a:pP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72897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838F-8204-DF41-348C-533B8B75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fontAlgn="ctr"/>
            <a:r>
              <a:rPr lang="en-AE" b="1" dirty="0"/>
              <a:t>Characteristic</a:t>
            </a:r>
            <a:br>
              <a:rPr lang="en-AE" dirty="0"/>
            </a:br>
            <a:r>
              <a:rPr lang="en-AE" b="1" dirty="0"/>
              <a:t>Estrogen only</a:t>
            </a:r>
            <a:br>
              <a:rPr lang="en-AE" dirty="0"/>
            </a:br>
            <a:r>
              <a:rPr lang="en-AE" b="1" dirty="0"/>
              <a:t>Estrogen plus progestogen</a:t>
            </a:r>
            <a:br>
              <a:rPr lang="en-AE" dirty="0"/>
            </a:b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A2CD8F-9AD9-B702-6FE3-300BD9AD6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976868"/>
              </p:ext>
            </p:extLst>
          </p:nvPr>
        </p:nvGraphicFramePr>
        <p:xfrm>
          <a:off x="367638" y="1004872"/>
          <a:ext cx="11704320" cy="3563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01440">
                  <a:extLst>
                    <a:ext uri="{9D8B030D-6E8A-4147-A177-3AD203B41FA5}">
                      <a16:colId xmlns:a16="http://schemas.microsoft.com/office/drawing/2014/main" val="3082021353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3074644056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3876822381"/>
                    </a:ext>
                  </a:extLst>
                </a:gridCol>
              </a:tblGrid>
              <a:tr h="36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solidFill>
                            <a:srgbClr val="C00000"/>
                          </a:solidFill>
                          <a:effectLst/>
                        </a:rPr>
                        <a:t>Characteristic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solidFill>
                            <a:srgbClr val="C00000"/>
                          </a:solidFill>
                          <a:effectLst/>
                        </a:rPr>
                        <a:t>Estrogen only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solidFill>
                            <a:srgbClr val="C00000"/>
                          </a:solidFill>
                          <a:effectLst/>
                        </a:rPr>
                        <a:t>Estrogen plus progestogen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707477"/>
                  </a:ext>
                </a:extLst>
              </a:tr>
              <a:tr h="36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Appropriate patient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Prior hysterectomy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Intact uterus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577305"/>
                  </a:ext>
                </a:extLst>
              </a:tr>
              <a:tr h="607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Primary indication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Moderate-to-severe VMS when systemic HT is appropriate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Same, with endometrial protection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440445"/>
                  </a:ext>
                </a:extLst>
              </a:tr>
              <a:tr h="845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Major benefit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Most effective VMS treatment without unnecessary progestogen exposure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VMS relief while preventing endometrial hyperplasia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884370"/>
                  </a:ext>
                </a:extLst>
              </a:tr>
              <a:tr h="845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Principal unique risk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Endometrial hyperplasia and cancer if used with an intact uterus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Additional bleeding, breast tenderness, bloating, and possible mood effects</a:t>
                      </a:r>
                    </a:p>
                  </a:txBody>
                  <a:tcPr marL="77334" marR="77334" marT="51556" marB="51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14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87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D1A5-F4CB-4000-BC27-E81E11E0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Endometrial protection</a:t>
            </a:r>
            <a:br>
              <a:rPr lang="en-US" b="1" dirty="0"/>
            </a:b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1E104-2390-2E4E-849D-06756BEDD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Continuous</a:t>
            </a:r>
            <a:r>
              <a:rPr lang="en-US" dirty="0"/>
              <a:t> combined: estrogen and progestogen daily</a:t>
            </a:r>
          </a:p>
          <a:p>
            <a:r>
              <a:rPr lang="en-US" b="1" dirty="0">
                <a:solidFill>
                  <a:srgbClr val="C00000"/>
                </a:solidFill>
              </a:rPr>
              <a:t>Cyclic</a:t>
            </a:r>
            <a:r>
              <a:rPr lang="en-US" dirty="0"/>
              <a:t>: estrogen daily with progestogen for approximately 12–14 days each month</a:t>
            </a:r>
          </a:p>
          <a:p>
            <a:r>
              <a:rPr lang="en-US" dirty="0"/>
              <a:t>Conjugated estrogen plus bazedoxifene: bazedoxifene acts as the endometrial antagonist</a:t>
            </a:r>
          </a:p>
          <a:p>
            <a:r>
              <a:rPr lang="en-US" dirty="0"/>
              <a:t>Levonorgestrel intrauterine system may provide endometrial protection in selected patients, depending on product and clinical context</a:t>
            </a:r>
          </a:p>
          <a:p>
            <a:pPr marL="0" indent="0">
              <a:buNone/>
            </a:pPr>
            <a:r>
              <a:rPr lang="en-US" sz="2000" dirty="0"/>
              <a:t>Cyclic regimens usually produce scheduled withdrawal bleeding. Continuous regimens may cause initial unscheduled bleeding followed by amenorrhea.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22104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240C-A059-F9C7-54E4-3AD8BD568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Estrogen routes</a:t>
            </a:r>
            <a:br>
              <a:rPr lang="en-US" b="1" dirty="0"/>
            </a:b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D655-8B4A-B612-1E4B-985BEB03B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Oral estradiol or conjugated equine estrogen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Transdermal estradiol patch, gel, or spray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Vaginal estrogen for GSM, not VMS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37128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55F44-4665-2C51-86B7-72AE7028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Local (Vaginal) Estrogen &amp; Genitourinary Syndrome of Menopause (</a:t>
            </a:r>
            <a:r>
              <a:rPr lang="en-US" sz="4000" b="1" dirty="0">
                <a:solidFill>
                  <a:srgbClr val="C00000"/>
                </a:solidFill>
              </a:rPr>
              <a:t>GSM</a:t>
            </a:r>
            <a:r>
              <a:rPr lang="en-US" sz="4000" dirty="0"/>
              <a:t>)</a:t>
            </a:r>
            <a:endParaRPr lang="en-A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94186-C447-A461-FC79-94BC1B4EE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Clinical Indication:</a:t>
            </a:r>
          </a:p>
          <a:p>
            <a:r>
              <a:rPr lang="en-US" dirty="0"/>
              <a:t>Specifically indicated for GSM: vaginal dryness, dyspareunia, urinary urgency, and recurrent UTIs</a:t>
            </a:r>
          </a:p>
          <a:p>
            <a:pPr marL="0" indent="0">
              <a:buNone/>
            </a:pPr>
            <a:r>
              <a:rPr lang="en-US" b="1" dirty="0"/>
              <a:t>Pharmacokinetics &amp; Systemic Exposure:</a:t>
            </a:r>
          </a:p>
          <a:p>
            <a:r>
              <a:rPr lang="en-US" dirty="0"/>
              <a:t>Low-dose vaginal formulations (creams, inserts/tablets, low-dose rings) maintain serum estradiol within the postmenopausal basal range (4-14pg/mL) </a:t>
            </a:r>
          </a:p>
          <a:p>
            <a:r>
              <a:rPr lang="en-US" dirty="0"/>
              <a:t>Negligible systemic absorption; no observed increased risk of VTE, stroke, CHD, or breast cancer recurrence</a:t>
            </a:r>
          </a:p>
          <a:p>
            <a:pPr marL="0" indent="0">
              <a:buNone/>
            </a:pPr>
            <a:r>
              <a:rPr lang="en-US" b="1" dirty="0"/>
              <a:t>Endometrial Safety:</a:t>
            </a:r>
          </a:p>
          <a:p>
            <a:r>
              <a:rPr lang="en-US" dirty="0"/>
              <a:t>Opposing progestogen therapy is NOT required for low-dose local vaginal estrogen.</a:t>
            </a:r>
          </a:p>
          <a:p>
            <a:pPr marL="0" indent="0">
              <a:buNone/>
            </a:pPr>
            <a:r>
              <a:rPr lang="en-US" b="1" dirty="0"/>
              <a:t>Clinical Utility:</a:t>
            </a:r>
          </a:p>
          <a:p>
            <a:r>
              <a:rPr lang="en-US" dirty="0"/>
              <a:t>Can be continued long-term and used safely even when systemic MHT is contraindicated or discontinued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52002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0F09-6A1A-9B1E-EB95-A80D4817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Transdermal therapy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BFE8D-F302-CE83-097B-3564C95BE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may be </a:t>
            </a:r>
            <a:r>
              <a:rPr lang="en-US" b="1" dirty="0">
                <a:solidFill>
                  <a:srgbClr val="C00000"/>
                </a:solidFill>
              </a:rPr>
              <a:t>preferred</a:t>
            </a:r>
            <a:r>
              <a:rPr lang="en-US" dirty="0"/>
              <a:t> when systemic HT remains appropriate in patients with:</a:t>
            </a:r>
          </a:p>
          <a:p>
            <a:r>
              <a:rPr lang="en-US" dirty="0"/>
              <a:t>Hypertriglyceridemia</a:t>
            </a:r>
          </a:p>
          <a:p>
            <a:r>
              <a:rPr lang="en-US" dirty="0"/>
              <a:t>Gallbladder disease</a:t>
            </a:r>
          </a:p>
          <a:p>
            <a:r>
              <a:rPr lang="en-US" dirty="0"/>
              <a:t>Migraine</a:t>
            </a:r>
          </a:p>
          <a:p>
            <a:r>
              <a:rPr lang="en-US" dirty="0"/>
              <a:t>Moderate cardiometabolic or VTE risk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88680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37F5-46DA-29A2-1146-0BADDA0A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Oral and transdermal estrogen</a:t>
            </a:r>
            <a:br>
              <a:rPr lang="en-US" sz="4000" dirty="0"/>
            </a:br>
            <a:endParaRPr lang="en-AE" sz="4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B87524-60A9-EB5F-5E4A-453804C9BE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2703704"/>
              </p:ext>
            </p:extLst>
          </p:nvPr>
        </p:nvGraphicFramePr>
        <p:xfrm>
          <a:off x="838199" y="1807130"/>
          <a:ext cx="10515600" cy="2987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837865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7649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b="1" dirty="0">
                          <a:solidFill>
                            <a:srgbClr val="C00000"/>
                          </a:solidFill>
                          <a:effectLst/>
                        </a:rPr>
                        <a:t>Oral estrogen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b="1" dirty="0">
                          <a:solidFill>
                            <a:srgbClr val="C00000"/>
                          </a:solidFill>
                          <a:effectLst/>
                        </a:rPr>
                        <a:t>Transdermal estradiol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060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Undergoes hepatic first-pass metabolism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Largely bypasses hepatic first-pass exposure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875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effectLst/>
                        </a:rPr>
                        <a:t>Increases hepatic clotting-factor production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Less hepatic effect on coagulation proteins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42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Increases triglycerides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Less effect on triglycerides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799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Increases SHBG, TBG and CBG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effectLst/>
                        </a:rPr>
                        <a:t>Smaller effect on binding proteins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26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Greater gallbladder effect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effectLst/>
                        </a:rPr>
                        <a:t>Lower observed gallbladder risk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242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effectLst/>
                        </a:rPr>
                        <a:t>Higher observed VTE risk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effectLst/>
                        </a:rPr>
                        <a:t>Lower VTE risk in observational studies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2067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ED83B46-C960-8560-31B5-E7A23DCE5D29}"/>
              </a:ext>
            </a:extLst>
          </p:cNvPr>
          <p:cNvSpPr txBox="1"/>
          <p:nvPr/>
        </p:nvSpPr>
        <p:spPr>
          <a:xfrm>
            <a:off x="838200" y="5846544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Transdermal estrogen as risk-free. The route evidence comes mainly from observational studies.</a:t>
            </a:r>
          </a:p>
        </p:txBody>
      </p:sp>
    </p:spTree>
    <p:extLst>
      <p:ext uri="{BB962C8B-B14F-4D97-AF65-F5344CB8AC3E}">
        <p14:creationId xmlns:p14="http://schemas.microsoft.com/office/powerpoint/2010/main" val="1531729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8784-1096-B138-9AFA-3166AAAC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Modern MHT Dosing Strategy: "Start Low, Titrate Up”</a:t>
            </a:r>
            <a:endParaRPr lang="en-A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11945-DDA5-7122-2AED-97791364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Shift in Clinical Practice: Historical Approach: Fixed "standard" starting doses (e.g., CEE 0.625mg/day or oral estradiol 1mg/day).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>
                <a:solidFill>
                  <a:srgbClr val="C00000"/>
                </a:solidFill>
              </a:rPr>
              <a:t>Current</a:t>
            </a:r>
            <a:r>
              <a:rPr lang="en-US" sz="2400" dirty="0"/>
              <a:t> Guideline Approach: Initiate therapy at </a:t>
            </a:r>
            <a:r>
              <a:rPr lang="en-US" sz="2400" b="1" dirty="0">
                <a:solidFill>
                  <a:srgbClr val="C00000"/>
                </a:solidFill>
              </a:rPr>
              <a:t>lower doses </a:t>
            </a:r>
            <a:r>
              <a:rPr lang="en-US" sz="2400" dirty="0"/>
              <a:t>(e.g., transdermal estradiol 0.025mg/day or oral estradiol 0.5 mg/day) and titrate upward based on symptom response</a:t>
            </a:r>
          </a:p>
          <a:p>
            <a:endParaRPr lang="en-US" sz="2400" dirty="0"/>
          </a:p>
          <a:p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2446642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C767-621E-0F60-4222-0A302DCA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F132F-4024-B079-38FA-9F92D33C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Modern MHT Dosing Strategy: "Start Low, Titrate Up”- (Continued)</a:t>
            </a:r>
            <a:endParaRPr lang="en-A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873F1-9BB8-7CED-0FD3-CF3C3D724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Clinical </a:t>
            </a:r>
            <a:r>
              <a:rPr lang="en-US" sz="2400" b="1" dirty="0">
                <a:solidFill>
                  <a:srgbClr val="C00000"/>
                </a:solidFill>
              </a:rPr>
              <a:t>Advantages</a:t>
            </a:r>
            <a:r>
              <a:rPr lang="en-US" sz="2400" dirty="0"/>
              <a:t> of Low-Dose Initiation:</a:t>
            </a:r>
          </a:p>
          <a:p>
            <a:pPr lvl="1"/>
            <a:r>
              <a:rPr lang="en-US" dirty="0"/>
              <a:t>Effectively eliminates or reduces vasomotor symptoms in the majority of patients.</a:t>
            </a:r>
          </a:p>
          <a:p>
            <a:pPr lvl="1"/>
            <a:r>
              <a:rPr lang="en-US" dirty="0"/>
              <a:t>Lower adverse effect profile: Significantly reduces rates of breast tenderness, fluid retention, and unscheduled vaginal bleeding.</a:t>
            </a:r>
          </a:p>
          <a:p>
            <a:pPr lvl="1"/>
            <a:r>
              <a:rPr lang="en-US" dirty="0"/>
              <a:t>Improved safety markers: Exerts fewer effects on hepatic coagulation factors and inflammatory markers.</a:t>
            </a:r>
          </a:p>
          <a:p>
            <a:pPr marL="0" indent="0">
              <a:buNone/>
            </a:pPr>
            <a:r>
              <a:rPr lang="en-US" sz="2400" dirty="0"/>
              <a:t>Duration &amp; Tapering:</a:t>
            </a:r>
          </a:p>
          <a:p>
            <a:r>
              <a:rPr lang="en-US" sz="2400" dirty="0"/>
              <a:t>Re-evaluate periodically; when discontinuing, taper gradually (e.g., reducing by 1 pill/patch increment per week) to minimize rebound hot flashes</a:t>
            </a:r>
          </a:p>
          <a:p>
            <a:endParaRPr lang="en-US" sz="2400" dirty="0"/>
          </a:p>
          <a:p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2983578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372B-398C-F5F0-D998-6280F0F8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Contraindications to systemic hormone therapy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669D-C0F4-CCF9-D972-3147C6672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E" dirty="0"/>
              <a:t>Systemic HT should generally be avoided with:</a:t>
            </a:r>
          </a:p>
          <a:p>
            <a:pPr lvl="1"/>
            <a:r>
              <a:rPr lang="en-AE" dirty="0"/>
              <a:t>Current or previous breast cancer</a:t>
            </a:r>
          </a:p>
          <a:p>
            <a:pPr lvl="1"/>
            <a:r>
              <a:rPr lang="en-AE" dirty="0"/>
              <a:t>Known coronary heart disease</a:t>
            </a:r>
          </a:p>
          <a:p>
            <a:pPr lvl="1"/>
            <a:r>
              <a:rPr lang="en-AE" dirty="0"/>
              <a:t>Previous stroke or TIA</a:t>
            </a:r>
          </a:p>
          <a:p>
            <a:pPr lvl="1"/>
            <a:r>
              <a:rPr lang="en-AE" dirty="0"/>
              <a:t>Previous VTE or a major thrombophilia</a:t>
            </a:r>
          </a:p>
          <a:p>
            <a:pPr lvl="1"/>
            <a:r>
              <a:rPr lang="en-AE" dirty="0"/>
              <a:t>Active liver disease</a:t>
            </a:r>
          </a:p>
          <a:p>
            <a:pPr lvl="1"/>
            <a:r>
              <a:rPr lang="en-AE" dirty="0"/>
              <a:t>Unexplained vaginal bleeding until evaluated</a:t>
            </a:r>
          </a:p>
          <a:p>
            <a:pPr lvl="1"/>
            <a:r>
              <a:rPr lang="en-AE" dirty="0"/>
              <a:t>High-risk endometrial cancer</a:t>
            </a:r>
          </a:p>
          <a:p>
            <a:pPr lvl="1"/>
            <a:r>
              <a:rPr lang="en-AE" dirty="0"/>
              <a:t>Pregnancy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85719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4889-5BCD-D59C-D2F3-21983E8C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Contraindications to systemic hormone therapy-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6AA6A-57EE-C19C-9EBE-A3C16327B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A different route does not automatically overcome a major contraindication.</a:t>
            </a:r>
          </a:p>
          <a:p>
            <a:pPr marL="0" indent="0">
              <a:buNone/>
            </a:pPr>
            <a:endParaRPr lang="en-AE" dirty="0"/>
          </a:p>
          <a:p>
            <a:r>
              <a:rPr lang="en-AE" dirty="0"/>
              <a:t>Low-dose vaginal estrogen has low, formulation-dependent systemic absorption. It should be distinguished from systemic therapy, but decisions in patients with estrogen-dependent cancer require individualized discussion.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31448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77E6-42BD-B594-DD80-9333B077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Adverse effects and monitoring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2744-0A83-133F-D8C1-7D578C4FE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658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Common </a:t>
            </a:r>
            <a:r>
              <a:rPr lang="en-US" sz="3200" b="1" dirty="0">
                <a:solidFill>
                  <a:srgbClr val="C00000"/>
                </a:solidFill>
              </a:rPr>
              <a:t>estrogen</a:t>
            </a:r>
            <a:r>
              <a:rPr lang="en-US" sz="3200" dirty="0"/>
              <a:t> effects</a:t>
            </a:r>
          </a:p>
          <a:p>
            <a:pPr lvl="1"/>
            <a:r>
              <a:rPr lang="en-US" sz="2800" dirty="0"/>
              <a:t>Breast tenderness</a:t>
            </a:r>
          </a:p>
          <a:p>
            <a:pPr lvl="1"/>
            <a:r>
              <a:rPr lang="en-US" sz="2800" dirty="0"/>
              <a:t>Nausea</a:t>
            </a:r>
          </a:p>
          <a:p>
            <a:pPr lvl="1"/>
            <a:r>
              <a:rPr lang="en-US" sz="2800" dirty="0"/>
              <a:t>Headache</a:t>
            </a:r>
          </a:p>
          <a:p>
            <a:pPr lvl="1"/>
            <a:r>
              <a:rPr lang="en-US" sz="2800" dirty="0"/>
              <a:t>Fluid retention</a:t>
            </a:r>
          </a:p>
          <a:p>
            <a:pPr lvl="1"/>
            <a:r>
              <a:rPr lang="en-US" sz="2800" dirty="0"/>
              <a:t>Vaginal bleeding</a:t>
            </a:r>
          </a:p>
          <a:p>
            <a:endParaRPr lang="en-AE" sz="3200" dirty="0"/>
          </a:p>
        </p:txBody>
      </p:sp>
    </p:spTree>
    <p:extLst>
      <p:ext uri="{BB962C8B-B14F-4D97-AF65-F5344CB8AC3E}">
        <p14:creationId xmlns:p14="http://schemas.microsoft.com/office/powerpoint/2010/main" val="2320436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8902F-3CB8-B8B2-EA92-DAC9F04F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7E36-0997-D79B-2F61-53E18604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Adverse effects and monitoring-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BE4FF-8C64-67E6-40DA-7022BF450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Progestogen</a:t>
            </a:r>
            <a:r>
              <a:rPr lang="en-US" sz="3200" dirty="0"/>
              <a:t>-related effects</a:t>
            </a:r>
          </a:p>
          <a:p>
            <a:pPr lvl="1"/>
            <a:r>
              <a:rPr lang="en-US" sz="2800" dirty="0"/>
              <a:t>Breakthrough or withdrawal bleeding</a:t>
            </a:r>
          </a:p>
          <a:p>
            <a:pPr lvl="1"/>
            <a:r>
              <a:rPr lang="en-US" sz="2800" dirty="0"/>
              <a:t>Breast tenderness</a:t>
            </a:r>
          </a:p>
          <a:p>
            <a:pPr lvl="1"/>
            <a:r>
              <a:rPr lang="en-US" sz="2800" dirty="0"/>
              <a:t>Bloating</a:t>
            </a:r>
          </a:p>
          <a:p>
            <a:pPr lvl="1"/>
            <a:r>
              <a:rPr lang="en-US" sz="2800" dirty="0"/>
              <a:t>Mood symptoms</a:t>
            </a:r>
          </a:p>
          <a:p>
            <a:pPr marL="0" indent="0">
              <a:buNone/>
            </a:pPr>
            <a:endParaRPr lang="en-AE" sz="3200" dirty="0"/>
          </a:p>
          <a:p>
            <a:pPr marL="0" indent="0">
              <a:buNone/>
            </a:pPr>
            <a:endParaRPr lang="en-AE" sz="3200" dirty="0"/>
          </a:p>
        </p:txBody>
      </p:sp>
    </p:spTree>
    <p:extLst>
      <p:ext uri="{BB962C8B-B14F-4D97-AF65-F5344CB8AC3E}">
        <p14:creationId xmlns:p14="http://schemas.microsoft.com/office/powerpoint/2010/main" val="2250356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31B65-28AA-D5D8-89F9-77410544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Risks</a:t>
            </a:r>
            <a:br>
              <a:rPr lang="en-US" b="1" dirty="0"/>
            </a:b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C3E23-2D68-1F0F-8B58-A7172EDCD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VTE and pulmonary embolism</a:t>
            </a:r>
          </a:p>
          <a:p>
            <a:r>
              <a:rPr lang="en-US" dirty="0"/>
              <a:t>Ischemic stroke</a:t>
            </a:r>
          </a:p>
          <a:p>
            <a:r>
              <a:rPr lang="en-US" dirty="0"/>
              <a:t>Gallbladder disease</a:t>
            </a:r>
          </a:p>
          <a:p>
            <a:r>
              <a:rPr lang="en-US" dirty="0"/>
              <a:t>Endometrial hyperplasia or cancer with unopposed systemic estrogen</a:t>
            </a:r>
          </a:p>
          <a:p>
            <a:r>
              <a:rPr lang="en-US" dirty="0"/>
              <a:t>Regimen- and duration-dependent breast-cancer risk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r>
              <a:rPr lang="en-US" dirty="0"/>
              <a:t>New or persistent bleeding after initial treatment adjustment requires evaluation rather than automatic attribution to hormone therapy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24481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A47C-DD86-5CA5-B6B9-C0BBAD40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WHI actually tested</a:t>
            </a:r>
            <a:br>
              <a:rPr lang="en-US" dirty="0"/>
            </a:b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121E91-0BB6-32CE-4D7C-9F1A95905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265995"/>
              </p:ext>
            </p:extLst>
          </p:nvPr>
        </p:nvGraphicFramePr>
        <p:xfrm>
          <a:off x="838200" y="2133600"/>
          <a:ext cx="10515600" cy="2590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378721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37162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56111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>
                          <a:solidFill>
                            <a:srgbClr val="C00000"/>
                          </a:solidFill>
                          <a:effectLst/>
                        </a:rPr>
                        <a:t>WHI hormone trial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>
                          <a:solidFill>
                            <a:srgbClr val="C00000"/>
                          </a:solidFill>
                          <a:effectLst/>
                        </a:rPr>
                        <a:t>Population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 dirty="0">
                          <a:solidFill>
                            <a:srgbClr val="C00000"/>
                          </a:solidFill>
                          <a:effectLst/>
                        </a:rPr>
                        <a:t>Tested regimen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637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Combined trial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Intact uterus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>
                          <a:effectLst/>
                        </a:rPr>
                        <a:t>Oral CEE 0.625 mg + MPA 2.5 mg daily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>
                          <a:effectLst/>
                        </a:rPr>
                        <a:t>Estrogen-alone trial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>
                          <a:effectLst/>
                        </a:rPr>
                        <a:t>Prior hysterectomy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Oral CEE 0.625 mg daily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952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733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7CB0-705F-6EAE-452F-6CAB556B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WHI outcomes in women aged 50–59</a:t>
            </a:r>
            <a:br>
              <a:rPr lang="en-AE" b="1" dirty="0"/>
            </a:b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E2768-3724-3508-C49C-11D91DE82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0292164"/>
              </p:ext>
            </p:extLst>
          </p:nvPr>
        </p:nvGraphicFramePr>
        <p:xfrm>
          <a:off x="838200" y="2148840"/>
          <a:ext cx="1051560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94896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480123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865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>
                          <a:solidFill>
                            <a:srgbClr val="C00000"/>
                          </a:solidFill>
                          <a:effectLst/>
                        </a:rPr>
                        <a:t>Outcome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>
                          <a:solidFill>
                            <a:srgbClr val="C00000"/>
                          </a:solidFill>
                          <a:effectLst/>
                        </a:rPr>
                        <a:t>CEE + MPA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solidFill>
                            <a:srgbClr val="C00000"/>
                          </a:solidFill>
                          <a:effectLst/>
                        </a:rPr>
                        <a:t>CEE alone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01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Coronary events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+2.5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−5.5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77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Invasive breast cancer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+3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−2.5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59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Stroke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+2.5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−0.5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429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Pulmonary embolism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+3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+1.5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866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All-cause mortality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chemeClr val="tx1"/>
                          </a:solidFill>
                          <a:effectLst/>
                        </a:rPr>
                        <a:t>−5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chemeClr val="tx1"/>
                          </a:solidFill>
                          <a:effectLst/>
                        </a:rPr>
                        <a:t>−5.5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61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85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7894-F892-0DD7-D44A-00933D87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87866A-0DF5-3616-D776-9E33666748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AE" dirty="0"/>
              <a:t>Risks and Ben</a:t>
            </a:r>
            <a:r>
              <a:rPr lang="en-US" dirty="0"/>
              <a:t>e</a:t>
            </a:r>
            <a:r>
              <a:rPr lang="en-AE" dirty="0"/>
              <a:t>fits of MHT</a:t>
            </a:r>
          </a:p>
        </p:txBody>
      </p:sp>
      <p:pic>
        <p:nvPicPr>
          <p:cNvPr id="2" name="Picture 2" descr="Bar chart showing estimated risks and benefits of menopausal hormone therapy per 1,000 women aged 50–59 over five years. Blue bars represent estrogen alone after hysterectomy; beige bars represent estrogen plus progestogen with an intact uterus. Bars extending left indicate additional adverse events; bars extending right indicate fewer events. Outcomes include cardiovascular disease, cancers, fractures, mortality, and diabetes. ">
            <a:extLst>
              <a:ext uri="{FF2B5EF4-FFF2-40B4-BE49-F238E27FC236}">
                <a16:creationId xmlns:a16="http://schemas.microsoft.com/office/drawing/2014/main" id="{80F17BBB-C5F8-DA1F-EAB7-12132352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2" b="56379"/>
          <a:stretch>
            <a:fillRect/>
          </a:stretch>
        </p:blipFill>
        <p:spPr>
          <a:xfrm>
            <a:off x="2758441" y="381000"/>
            <a:ext cx="7026828" cy="614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87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5723-470C-B684-0915-BCF1E4BA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03" y="-152400"/>
            <a:ext cx="11980817" cy="1325563"/>
          </a:xfrm>
        </p:spPr>
        <p:txBody>
          <a:bodyPr>
            <a:normAutofit/>
          </a:bodyPr>
          <a:lstStyle/>
          <a:p>
            <a:r>
              <a:rPr lang="en-US" sz="4000" dirty="0"/>
              <a:t>Breast cancer and formulation evidence</a:t>
            </a:r>
            <a:br>
              <a:rPr lang="en-US" dirty="0"/>
            </a:br>
            <a:r>
              <a:rPr lang="en-US" sz="3100" dirty="0"/>
              <a:t>WHI randomized trial</a:t>
            </a: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24A378-CC92-058E-1D1B-7C18BBFAC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698786"/>
              </p:ext>
            </p:extLst>
          </p:nvPr>
        </p:nvGraphicFramePr>
        <p:xfrm>
          <a:off x="256903" y="1036955"/>
          <a:ext cx="11678193" cy="545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92731">
                  <a:extLst>
                    <a:ext uri="{9D8B030D-6E8A-4147-A177-3AD203B41FA5}">
                      <a16:colId xmlns:a16="http://schemas.microsoft.com/office/drawing/2014/main" val="1542981306"/>
                    </a:ext>
                  </a:extLst>
                </a:gridCol>
                <a:gridCol w="3892731">
                  <a:extLst>
                    <a:ext uri="{9D8B030D-6E8A-4147-A177-3AD203B41FA5}">
                      <a16:colId xmlns:a16="http://schemas.microsoft.com/office/drawing/2014/main" val="1861205069"/>
                    </a:ext>
                  </a:extLst>
                </a:gridCol>
                <a:gridCol w="3892731">
                  <a:extLst>
                    <a:ext uri="{9D8B030D-6E8A-4147-A177-3AD203B41FA5}">
                      <a16:colId xmlns:a16="http://schemas.microsoft.com/office/drawing/2014/main" val="3000734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>
                          <a:solidFill>
                            <a:srgbClr val="C00000"/>
                          </a:solidFill>
                          <a:effectLst/>
                        </a:rPr>
                        <a:t>Regimen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>
                          <a:solidFill>
                            <a:srgbClr val="C00000"/>
                          </a:solidFill>
                          <a:effectLst/>
                        </a:rPr>
                        <a:t>Breast-cancer incidence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 dirty="0">
                          <a:solidFill>
                            <a:srgbClr val="C00000"/>
                          </a:solidFill>
                          <a:effectLst/>
                        </a:rPr>
                        <a:t>Breast-cancer deaths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49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CEE alone after hysterectomy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30 vs 37 with placebo: approximately 7 fewer cases 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800" dirty="0">
                          <a:effectLst/>
                        </a:rPr>
                        <a:t>3 vs 5 with placebo: approximately 2 fewer deaths </a:t>
                      </a:r>
                      <a:endParaRPr lang="en-AE" sz="2800" dirty="0"/>
                    </a:p>
                    <a:p>
                      <a:endParaRPr lang="en-AE" sz="2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986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CEE + MPA with an intact uterus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45 vs 36 with placebo: approximately 9 additional cases </a:t>
                      </a:r>
                    </a:p>
                  </a:txBody>
                  <a:tcPr marL="114300" marR="114300" marT="76200" marB="762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800" dirty="0">
                          <a:effectLst/>
                        </a:rPr>
                        <a:t>5 vs 4 with placebo: approximately 1 additional death, but this difference was not statistically significant </a:t>
                      </a:r>
                    </a:p>
                    <a:p>
                      <a:endParaRPr lang="en-AE" sz="2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393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954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AFF3-3912-7AF9-BB94-D7520062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E3N observational cohort</a:t>
            </a:r>
            <a:br>
              <a:rPr lang="en-US" sz="4000" dirty="0"/>
            </a:br>
            <a:endParaRPr lang="en-A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FE87-B965-78C0-4402-59812B394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Estrogen plus micronized progesterone:</a:t>
            </a:r>
          </a:p>
          <a:p>
            <a:r>
              <a:rPr lang="en-US" dirty="0"/>
              <a:t>Estrogen plus </a:t>
            </a:r>
            <a:r>
              <a:rPr lang="en-US" dirty="0" err="1"/>
              <a:t>dydrogesterone</a:t>
            </a:r>
            <a:endParaRPr lang="en-US" dirty="0"/>
          </a:p>
          <a:p>
            <a:r>
              <a:rPr lang="en-US" dirty="0"/>
              <a:t>Estrogen plus other progestogens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Progestogen type may matter but cannot establish that micronized progesterone carries no breast-cancer risk.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78833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1926F-B2D6-0AD6-C387-CE2C2927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Custom-Compounded Bioidentical Hormone Therapy (</a:t>
            </a:r>
            <a:r>
              <a:rPr lang="en-US" dirty="0" err="1"/>
              <a:t>cBHT</a:t>
            </a:r>
            <a:r>
              <a:rPr lang="en-US" dirty="0"/>
              <a:t>)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5B4D1-F4CE-2730-9C10-129B77955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2"/>
            <a:ext cx="10515600" cy="49981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Defining Terms:</a:t>
            </a:r>
          </a:p>
          <a:p>
            <a:r>
              <a:rPr lang="en-US" sz="2400" dirty="0"/>
              <a:t>FDA-Approved Bioidenticals: Structurally identical to endogenous human hormones (17beta-estradiol, micronized progesterone) available in regulated commercial products</a:t>
            </a:r>
          </a:p>
          <a:p>
            <a:r>
              <a:rPr lang="en-US" sz="2400" dirty="0"/>
              <a:t>Custom-Compounded (</a:t>
            </a:r>
            <a:r>
              <a:rPr lang="en-US" sz="2400" dirty="0" err="1"/>
              <a:t>cBHT</a:t>
            </a:r>
            <a:r>
              <a:rPr lang="en-US" sz="2400" dirty="0"/>
              <a:t>): Non-FDA-approved multi-hormone mixtures (creams, pellets, sublinguals) adjusted via salivary testing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Safety &amp; Quality Concerns:</a:t>
            </a:r>
          </a:p>
          <a:p>
            <a:r>
              <a:rPr lang="en-US" sz="2400" dirty="0"/>
              <a:t>Lack of regulatory oversight for purity, potency, and batch consistency (tested potencies range from 67.5% to 268%of labeled strength)</a:t>
            </a:r>
          </a:p>
          <a:p>
            <a:r>
              <a:rPr lang="en-US" sz="2400" dirty="0"/>
              <a:t>Unpredictable bioavailability and variable progestogen absorption, predisposing patients to unintended endometrial hyperplasia and carcinoma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Professional Guidelines:</a:t>
            </a:r>
          </a:p>
          <a:p>
            <a:r>
              <a:rPr lang="en-US" sz="2400" dirty="0"/>
              <a:t>The Menopause Society, Endocrine Society, and ACOG strongly advise against </a:t>
            </a:r>
            <a:r>
              <a:rPr lang="en-US" sz="2400" dirty="0" err="1"/>
              <a:t>cBHT</a:t>
            </a:r>
            <a:r>
              <a:rPr lang="en-US" sz="2400" dirty="0"/>
              <a:t> when FDA-approved options are available</a:t>
            </a:r>
          </a:p>
          <a:p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1260178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A849-653E-BFA4-D36D-75204E94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risk stratification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3EF6-D7FB-A754-A065-AAAEA58A1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E" dirty="0"/>
              <a:t>Before systemic HT:</a:t>
            </a:r>
          </a:p>
          <a:p>
            <a:pPr lvl="1"/>
            <a:r>
              <a:rPr lang="en-AE" dirty="0"/>
              <a:t>Confirm that symptoms warrant systemic treatment.</a:t>
            </a:r>
          </a:p>
          <a:p>
            <a:pPr lvl="1"/>
            <a:r>
              <a:rPr lang="en-AE" dirty="0"/>
              <a:t>Determine uterine status.</a:t>
            </a:r>
          </a:p>
          <a:p>
            <a:pPr lvl="1"/>
            <a:r>
              <a:rPr lang="en-AE" dirty="0"/>
              <a:t>Evaluate unexplained bleeding.</a:t>
            </a:r>
          </a:p>
          <a:p>
            <a:pPr lvl="1"/>
            <a:r>
              <a:rPr lang="en-AE" dirty="0"/>
              <a:t>Review breast-cancer and cardiovascular history.</a:t>
            </a:r>
          </a:p>
          <a:p>
            <a:pPr lvl="1"/>
            <a:r>
              <a:rPr lang="en-AE" dirty="0"/>
              <a:t>Measure blood pressure.</a:t>
            </a:r>
          </a:p>
          <a:p>
            <a:pPr lvl="1"/>
            <a:r>
              <a:rPr lang="en-AE" dirty="0"/>
              <a:t>Assess smoking, diabetes and lipid profile.</a:t>
            </a:r>
          </a:p>
          <a:p>
            <a:pPr lvl="1"/>
            <a:r>
              <a:rPr lang="en-AE" dirty="0"/>
              <a:t>Review VTE history and thrombophilia.</a:t>
            </a:r>
          </a:p>
          <a:p>
            <a:pPr lvl="1"/>
            <a:r>
              <a:rPr lang="en-AE" dirty="0"/>
              <a:t>Assess liver disease.</a:t>
            </a:r>
          </a:p>
          <a:p>
            <a:pPr lvl="1"/>
            <a:r>
              <a:rPr lang="en-AE" dirty="0"/>
              <a:t>Review current medications and interactions.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81621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3E79-087D-0E4A-D665-2410617EC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General principle:</a:t>
            </a:r>
            <a:br>
              <a:rPr lang="en-AE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5043C-3E71-5871-CEE8-02004A904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AE" dirty="0"/>
              <a:t>For appropriate candidates, benefit–risk is generally most favorable before age 60 or within 10 years of menopause.</a:t>
            </a:r>
          </a:p>
          <a:p>
            <a:pPr lvl="0"/>
            <a:r>
              <a:rPr lang="en-AE" dirty="0"/>
              <a:t>Age and timing do not override contraindications.</a:t>
            </a:r>
          </a:p>
          <a:p>
            <a:pPr lvl="0"/>
            <a:r>
              <a:rPr lang="en-AE" dirty="0"/>
              <a:t>10-year CVD risk below 5%: generally low</a:t>
            </a:r>
          </a:p>
          <a:p>
            <a:pPr lvl="0"/>
            <a:r>
              <a:rPr lang="en-AE" dirty="0"/>
              <a:t>5–10%: intermediate; consider transdermal therapy if HT remains appropriate</a:t>
            </a:r>
          </a:p>
          <a:p>
            <a:pPr lvl="0"/>
            <a:r>
              <a:rPr lang="en-AE" dirty="0"/>
              <a:t>Above 10%: generally favor nonhormonal treatment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2847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7766-D4F3-4036-0C29-94DF894F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Special Populations: Primary Ovarian Insufficiency (POI) &amp; Surgical Menopause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08F81-A0BF-0952-BE3E-8854FB7B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360"/>
            <a:ext cx="10774680" cy="5136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Clinical Definitions:</a:t>
            </a:r>
          </a:p>
          <a:p>
            <a:pPr lvl="1"/>
            <a:r>
              <a:rPr lang="en-US" sz="2000" dirty="0"/>
              <a:t>Primary Ovarian Insufficiency (POI): Loss of ovarian function before age 40.</a:t>
            </a:r>
          </a:p>
          <a:p>
            <a:pPr lvl="1"/>
            <a:r>
              <a:rPr lang="en-US" sz="2000" dirty="0"/>
              <a:t>Early/Surgical Menopause: Menopause or bilateral oophorectomy before age 45</a:t>
            </a:r>
          </a:p>
          <a:p>
            <a:pPr marL="0" indent="0">
              <a:buNone/>
            </a:pPr>
            <a:r>
              <a:rPr lang="en-US" sz="2000" dirty="0"/>
              <a:t>Dosing &amp; Therapeutic Goals:</a:t>
            </a:r>
          </a:p>
          <a:p>
            <a:r>
              <a:rPr lang="en-US" sz="2000" dirty="0"/>
              <a:t>Require higher replacement doses (e.g., transdermal estradiol 0.1mg/day or oral estradiol 2mg/day) to restore physiological premenopausal levels.</a:t>
            </a:r>
          </a:p>
          <a:p>
            <a:r>
              <a:rPr lang="en-US" sz="2000" dirty="0"/>
              <a:t>Terminology: Classically termed Hormone Replacement Therapy (HRT) rather than MHT</a:t>
            </a:r>
          </a:p>
          <a:p>
            <a:pPr marL="0" indent="0">
              <a:buNone/>
            </a:pPr>
            <a:r>
              <a:rPr lang="en-US" sz="2000" dirty="0"/>
              <a:t>Recommended Duration:</a:t>
            </a:r>
          </a:p>
          <a:p>
            <a:r>
              <a:rPr lang="en-US" sz="2000" dirty="0"/>
              <a:t>Continue therapy until at least the average age of natural menopause ( 50-51years).</a:t>
            </a:r>
          </a:p>
          <a:p>
            <a:pPr marL="0" indent="0">
              <a:buNone/>
            </a:pPr>
            <a:r>
              <a:rPr lang="en-US" sz="2000" dirty="0"/>
              <a:t>Primary Indications:</a:t>
            </a:r>
          </a:p>
          <a:p>
            <a:r>
              <a:rPr lang="en-US" sz="2000" dirty="0"/>
              <a:t>Essential for primary prevention of premature bone loss, coronary heart disease, ischemic stroke, and cognitive impairment.</a:t>
            </a:r>
          </a:p>
          <a:p>
            <a:r>
              <a:rPr lang="en-US" sz="2000" dirty="0"/>
              <a:t>Crucial Distinction: WHI safety risks in older women (mean age 63) do NOT apply to POI</a:t>
            </a:r>
          </a:p>
          <a:p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2504045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72D2-9B93-68CE-92D7-D68E3055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Selective Estrogen Receptor Modulators (SERMs)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723AC-9023-57BC-874A-4F3D24360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53949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Mechanism of Action:</a:t>
            </a:r>
          </a:p>
          <a:p>
            <a:r>
              <a:rPr lang="en-US" dirty="0"/>
              <a:t>Bind intracellular estrogen receptors, displaying tissue-selective agonism or antagonism depending on target organ expression.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High-Yield SERM Agents:</a:t>
            </a:r>
          </a:p>
          <a:p>
            <a:r>
              <a:rPr lang="en-US" dirty="0"/>
              <a:t>Raloxifene: Estrogen agonist in bone (increases bone mineral density, reduces vertebral fractures) and antagonist in breast &amp; endometrium. Approved for postmenopausal osteoporosis and breast cancer risk reduction. (No increased risk of endometrial cancer).</a:t>
            </a:r>
          </a:p>
          <a:p>
            <a:r>
              <a:rPr lang="en-US" dirty="0"/>
              <a:t>Tamoxifen: Estrogen antagonist in breast, but partial agonist in endometrium and bone. Used in ER+ breast cancer. (Carries increased risk of endometrial hyperplasia/carcinoma and VTE).</a:t>
            </a:r>
          </a:p>
          <a:p>
            <a:r>
              <a:rPr lang="en-US" dirty="0"/>
              <a:t>Bazedoxifene (+ CEE): Estrogen antagonist in the uterus; protects the endometrium without requiring a progestogen.</a:t>
            </a:r>
          </a:p>
          <a:p>
            <a:r>
              <a:rPr lang="en-US" dirty="0"/>
              <a:t>Clomiphene: Hypothalamic estrogen receptor antagonist; blocks negative feedback to increase GnRH, LH, and FSH to induce ovulation.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Shared Adverse Effects:</a:t>
            </a:r>
          </a:p>
          <a:p>
            <a:r>
              <a:rPr lang="en-US" dirty="0"/>
              <a:t>Increased risk of venous thromboembolism (VTE) and hot flashes (except bazedoxifene + CEE)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21592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B0CE-82D0-3DF2-7C3C-4CC20D39C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AE" dirty="0"/>
              <a:t>Menopause, MHT, &amp; Bone Health</a:t>
            </a:r>
            <a:br>
              <a:rPr lang="en-AE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2C2E-6116-EFC1-8886-F734CFF5B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7906"/>
            <a:ext cx="11430000" cy="5231003"/>
          </a:xfrm>
        </p:spPr>
        <p:txBody>
          <a:bodyPr>
            <a:noAutofit/>
          </a:bodyPr>
          <a:lstStyle/>
          <a:p>
            <a:pPr lvl="0"/>
            <a:r>
              <a:rPr lang="en-AE" sz="2000" b="1" dirty="0">
                <a:solidFill>
                  <a:srgbClr val="C00000"/>
                </a:solidFill>
              </a:rPr>
              <a:t>Bone Loss Trajectory</a:t>
            </a:r>
            <a:r>
              <a:rPr lang="en-AE" sz="2000" dirty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en-AE" sz="2000" dirty="0"/>
              <a:t>Estrogen depletion accelerates RANKL-mediated osteoclast resorption, leading to a loss of </a:t>
            </a:r>
            <a:r>
              <a:rPr lang="en-AE" sz="2000" b="1" dirty="0"/>
              <a:t>15–20% of bone density</a:t>
            </a:r>
            <a:r>
              <a:rPr lang="en-AE" sz="2000" dirty="0"/>
              <a:t> in the 5–7 years surrounding the menopausal transition.</a:t>
            </a:r>
          </a:p>
          <a:p>
            <a:pPr lvl="0"/>
            <a:r>
              <a:rPr lang="en-AE" sz="2000" b="1" dirty="0">
                <a:solidFill>
                  <a:srgbClr val="C00000"/>
                </a:solidFill>
              </a:rPr>
              <a:t>Fracture Reduction Efficacy</a:t>
            </a:r>
            <a:r>
              <a:rPr lang="en-AE" sz="2000" dirty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en-AE" sz="2000" dirty="0"/>
              <a:t>Systemic MHT reduces vertebral, hip, and total osteoporotic fractures by </a:t>
            </a:r>
            <a:r>
              <a:rPr lang="en-AE" sz="2000" b="1" dirty="0"/>
              <a:t>30–50%</a:t>
            </a:r>
            <a:r>
              <a:rPr lang="en-AE" sz="2000" dirty="0"/>
              <a:t> during active treatment.</a:t>
            </a:r>
          </a:p>
          <a:p>
            <a:pPr lvl="0"/>
            <a:r>
              <a:rPr lang="en-AE" sz="2000" b="1" dirty="0">
                <a:solidFill>
                  <a:srgbClr val="C00000"/>
                </a:solidFill>
              </a:rPr>
              <a:t>Guideline </a:t>
            </a:r>
            <a:r>
              <a:rPr lang="en-AE" sz="2000" dirty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en-AE" sz="2000" b="1" dirty="0"/>
              <a:t>Secondary Benefit</a:t>
            </a:r>
            <a:r>
              <a:rPr lang="en-AE" sz="2000" dirty="0"/>
              <a:t>: Bone preservation is a valuable secondary benefit when treating VMS.</a:t>
            </a:r>
          </a:p>
          <a:p>
            <a:pPr lvl="1"/>
            <a:r>
              <a:rPr lang="en-AE" sz="2000" b="1" dirty="0"/>
              <a:t>Not First-Line Solely for Osteoporosis</a:t>
            </a:r>
            <a:r>
              <a:rPr lang="en-AE" sz="2000" dirty="0"/>
              <a:t>: MHT is </a:t>
            </a:r>
            <a:r>
              <a:rPr lang="en-AE" sz="2000" b="1" dirty="0"/>
              <a:t>not</a:t>
            </a:r>
            <a:r>
              <a:rPr lang="en-AE" sz="2000" dirty="0"/>
              <a:t> recommended as first-line primary therapy solely for isolated chronic osteoporosis prevention in asymptomatic women (bisphosphonates preferred).</a:t>
            </a:r>
          </a:p>
          <a:p>
            <a:pPr lvl="1"/>
            <a:r>
              <a:rPr lang="en-AE" sz="2000" b="1" dirty="0"/>
              <a:t>Rebound Loss</a:t>
            </a:r>
            <a:r>
              <a:rPr lang="en-AE" sz="2000" dirty="0"/>
              <a:t>: Discontinuing MHT leads to rapid resumption of bone loss, returning to untreated baseline trajectory within a few years.</a:t>
            </a:r>
          </a:p>
          <a:p>
            <a:pPr lvl="0"/>
            <a:r>
              <a:rPr lang="en-AE" sz="2000" b="1" dirty="0">
                <a:solidFill>
                  <a:srgbClr val="C00000"/>
                </a:solidFill>
              </a:rPr>
              <a:t>Selective Estrogen Receptor Modulators (SERMs)</a:t>
            </a:r>
            <a:r>
              <a:rPr lang="en-AE" sz="2000" dirty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en-AE" sz="2000" b="1" dirty="0"/>
              <a:t>Raloxifene</a:t>
            </a:r>
            <a:r>
              <a:rPr lang="en-AE" sz="2000" dirty="0"/>
              <a:t>: Estrogen agonist in bone (increases BMD, reduces vertebral fractures) and antagonist in breast/endometrium.</a:t>
            </a:r>
          </a:p>
          <a:p>
            <a:pPr lvl="1"/>
            <a:r>
              <a:rPr lang="en-AE" sz="2000" b="1" dirty="0"/>
              <a:t>CEE + Bazedoxifene</a:t>
            </a:r>
            <a:r>
              <a:rPr lang="en-AE" sz="2000" dirty="0"/>
              <a:t>: Preserves bone density and protects the endometrium without requiring a progestogen</a:t>
            </a:r>
          </a:p>
          <a:p>
            <a:pPr marL="0" indent="0">
              <a:buNone/>
            </a:pP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995756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0393-6888-3C58-06E3-79CB36AE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Androgen Therapy in Menopausal Pharmacology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FF98-E2E3-806F-41CC-6EA7BA258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80160"/>
            <a:ext cx="11049000" cy="5212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Physiologic Context:</a:t>
            </a:r>
          </a:p>
          <a:p>
            <a:pPr lvl="1"/>
            <a:r>
              <a:rPr lang="en-US" sz="2000" dirty="0"/>
              <a:t>Endogenous testosterone levels decline gradually with age and sharply after bilateral oophorectomy.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Primary Clinical Indication:</a:t>
            </a:r>
          </a:p>
          <a:p>
            <a:pPr lvl="1"/>
            <a:r>
              <a:rPr lang="en-US" sz="2000" dirty="0"/>
              <a:t>Hypoactive Sexual Desire Disorder (HSDD) in postmenopausal women when MHT alone provides incomplete relief.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Regulatory Status &amp; Prescribing:</a:t>
            </a:r>
          </a:p>
          <a:p>
            <a:pPr lvl="1"/>
            <a:r>
              <a:rPr lang="en-US" sz="2000" dirty="0"/>
              <a:t>No FDA-approved female testosterone product currently exists in the US (approved in UK/Australia).</a:t>
            </a:r>
          </a:p>
          <a:p>
            <a:r>
              <a:rPr lang="en-US" sz="2400" dirty="0"/>
              <a:t>Clinical practice utilizes off-label micro-dosing of transdermal male preparations or compounded products under specialist care.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Adverse Effects &amp; Safety:</a:t>
            </a:r>
          </a:p>
          <a:p>
            <a:r>
              <a:rPr lang="en-US" sz="2400" dirty="0"/>
              <a:t>Potential Effects: Acne, hirsutism, fluid retention, and adverse lipid changes (decreased HDL, increased LDL).</a:t>
            </a:r>
          </a:p>
          <a:p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1710864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B803B7-4345-BE89-AFD2-691C27619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Non</a:t>
            </a:r>
            <a:r>
              <a:rPr lang="en-US" dirty="0"/>
              <a:t>-Hormonal Therapies</a:t>
            </a:r>
            <a:endParaRPr lang="en-A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324654-73A2-7E29-BAAC-12E923ADC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3889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BCD0-5975-B2F5-9230-124256B10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SSRIs and SNRIs</a:t>
            </a:r>
            <a:br>
              <a:rPr lang="en-AE" b="1" dirty="0"/>
            </a:b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884757-36B4-01D5-287D-41FE0CAD8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085349"/>
              </p:ext>
            </p:extLst>
          </p:nvPr>
        </p:nvGraphicFramePr>
        <p:xfrm>
          <a:off x="838200" y="1027906"/>
          <a:ext cx="10515600" cy="499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793827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175013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22526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 b="1" dirty="0">
                          <a:solidFill>
                            <a:srgbClr val="C00000"/>
                          </a:solidFill>
                          <a:effectLst/>
                        </a:rPr>
                        <a:t>Therapy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 b="1">
                          <a:solidFill>
                            <a:srgbClr val="C00000"/>
                          </a:solidFill>
                          <a:effectLst/>
                        </a:rPr>
                        <a:t>Mechanism and utility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 b="1" dirty="0">
                          <a:solidFill>
                            <a:srgbClr val="C00000"/>
                          </a:solidFill>
                          <a:effectLst/>
                        </a:rPr>
                        <a:t>Important risks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65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>
                          <a:effectLst/>
                        </a:rPr>
                        <a:t>Paroxetine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>
                          <a:effectLst/>
                        </a:rPr>
                        <a:t>Serotonin reuptake inhibition; low-dose paroxetine is FDA-approved for VMS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>
                          <a:effectLst/>
                        </a:rPr>
                        <a:t>Sexual dysfunction, nausea, withdrawal; strong CYP2D6 inhibition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30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>
                          <a:effectLst/>
                        </a:rPr>
                        <a:t>Escitalopram or citalopram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>
                          <a:effectLst/>
                        </a:rPr>
                        <a:t>Serotonin reuptake inhibition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>
                          <a:effectLst/>
                        </a:rPr>
                        <a:t>Sexual dysfunction, nausea, QT concerns with higher citalopram doses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21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 dirty="0">
                          <a:effectLst/>
                        </a:rPr>
                        <a:t>Venlafaxine or desvenlafaxine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>
                          <a:effectLst/>
                        </a:rPr>
                        <a:t>Serotonin and norepinephrine reuptake inhibition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400" dirty="0">
                          <a:effectLst/>
                        </a:rPr>
                        <a:t>Nausea, BP elevation, withdrawal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077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139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49E9-316D-CAF0-934F-3F20B6B1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Gabapentin</a:t>
            </a:r>
            <a:br>
              <a:rPr lang="en-US" sz="4000" dirty="0"/>
            </a:br>
            <a:endParaRPr lang="en-A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96156-EC63-123F-06DD-52FA033E5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Binds the auxiliary subunit of voltage-gated calcium channels.</a:t>
            </a:r>
          </a:p>
          <a:p>
            <a:r>
              <a:rPr lang="en-US" dirty="0"/>
              <a:t>The precise mechanism for VMS relief remains uncertain.</a:t>
            </a:r>
          </a:p>
          <a:p>
            <a:r>
              <a:rPr lang="en-US" dirty="0"/>
              <a:t>Useful for predominantly nocturnal VMS, insomnia, or concurrent neuropathic pain.</a:t>
            </a:r>
          </a:p>
          <a:p>
            <a:r>
              <a:rPr lang="en-US" dirty="0"/>
              <a:t>Risks: sedation, dizziness and ataxia.</a:t>
            </a:r>
          </a:p>
          <a:p>
            <a:r>
              <a:rPr lang="en-US" dirty="0"/>
              <a:t>Requires renal dose adjustment.</a:t>
            </a:r>
          </a:p>
          <a:p>
            <a:r>
              <a:rPr lang="en-US" dirty="0"/>
              <a:t>It is not a GABA-receptor agonist.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1170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E67F-CBE4-F8DE-7C1C-5FBBFCF1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Oxybutynin</a:t>
            </a:r>
            <a:br>
              <a:rPr lang="en-US" sz="4000" dirty="0"/>
            </a:br>
            <a:endParaRPr lang="en-A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BBA5-8833-83C1-511F-A9D7419B2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Competitive muscarinic-receptor antagonist.</a:t>
            </a:r>
          </a:p>
          <a:p>
            <a:r>
              <a:rPr lang="en-US" dirty="0"/>
              <a:t>Can reduce VMS and may benefit concurrent overactive bladder.</a:t>
            </a:r>
          </a:p>
          <a:p>
            <a:r>
              <a:rPr lang="en-US" dirty="0"/>
              <a:t>Risks: dry mouth, constipation, urinary retention and cognitive adverse effects.</a:t>
            </a:r>
          </a:p>
          <a:p>
            <a:r>
              <a:rPr lang="en-US" dirty="0"/>
              <a:t>Avoid or minimize in older adults with high anticholinergic burden.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735973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1589-A888-24A6-61F9-FFC8D618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Clonidine</a:t>
            </a:r>
            <a:br>
              <a:rPr lang="en-US" sz="4000" dirty="0"/>
            </a:br>
            <a:endParaRPr lang="en-A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F6321-6265-F944-8F7E-332D747C1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 </a:t>
            </a:r>
            <a:r>
              <a:rPr lang="el-GR" dirty="0"/>
              <a:t>α2-</a:t>
            </a:r>
            <a:r>
              <a:rPr lang="en-US" dirty="0"/>
              <a:t>adrenergic agonist.</a:t>
            </a:r>
          </a:p>
          <a:p>
            <a:r>
              <a:rPr lang="en-US" dirty="0"/>
              <a:t>Modest efficacy with hypotension, dry mouth, sedation and rebound hypertension.</a:t>
            </a:r>
          </a:p>
          <a:p>
            <a:r>
              <a:rPr lang="en-US" dirty="0"/>
              <a:t>Generally not recommended routinely for VMS.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00247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4F2A-63D3-2075-1FC9-D9223DA6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973"/>
            <a:ext cx="10515600" cy="1325563"/>
          </a:xfrm>
        </p:spPr>
        <p:txBody>
          <a:bodyPr/>
          <a:lstStyle/>
          <a:p>
            <a:r>
              <a:rPr lang="en-US" dirty="0"/>
              <a:t>Neurokinin-receptor antagonists</a:t>
            </a:r>
            <a:br>
              <a:rPr lang="en-US" dirty="0"/>
            </a:br>
            <a:endParaRPr lang="en-AE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9ADF04-0250-BD1F-5364-CF65D7EDF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545364"/>
              </p:ext>
            </p:extLst>
          </p:nvPr>
        </p:nvGraphicFramePr>
        <p:xfrm>
          <a:off x="243840" y="1056187"/>
          <a:ext cx="11704320" cy="5577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01440">
                  <a:extLst>
                    <a:ext uri="{9D8B030D-6E8A-4147-A177-3AD203B41FA5}">
                      <a16:colId xmlns:a16="http://schemas.microsoft.com/office/drawing/2014/main" val="4147011424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524589184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1029895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>
                          <a:solidFill>
                            <a:srgbClr val="C00000"/>
                          </a:solidFill>
                          <a:effectLst/>
                        </a:rPr>
                        <a:t>Drug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>
                          <a:solidFill>
                            <a:srgbClr val="C00000"/>
                          </a:solidFill>
                          <a:effectLst/>
                        </a:rPr>
                        <a:t>Pharmacology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b="1" dirty="0">
                          <a:solidFill>
                            <a:srgbClr val="C00000"/>
                          </a:solidFill>
                          <a:effectLst/>
                        </a:rPr>
                        <a:t>Major safety considerations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816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Fezolinetant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NK3-receptor antagonist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>
                          <a:effectLst/>
                        </a:rPr>
                        <a:t>Hepatotoxicity warning, CYP1A2 interactions, cirrhosis and severe renal impairment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682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>
                          <a:effectLst/>
                        </a:rPr>
                        <a:t>Elinzanetant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Dual NK1/NK3 antagonist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800" dirty="0">
                          <a:effectLst/>
                        </a:rPr>
                        <a:t>Sedation, hepatic-enzyme elevation, CYP3A4 interactions, pregnancy contraindication and seizure warning</a:t>
                      </a:r>
                    </a:p>
                  </a:txBody>
                  <a:tcPr marL="114300" marR="114300" marT="76200" marB="762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37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079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B103-C859-4447-ED4D-37C0F082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Comorbidity-based</a:t>
            </a:r>
            <a:r>
              <a:rPr lang="en-US" dirty="0"/>
              <a:t> treatment selection</a:t>
            </a:r>
            <a:br>
              <a:rPr lang="en-US" dirty="0"/>
            </a:b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CE2A0A-1007-CCE6-87BB-37F0D21EF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58840"/>
              </p:ext>
            </p:extLst>
          </p:nvPr>
        </p:nvGraphicFramePr>
        <p:xfrm>
          <a:off x="113211" y="662781"/>
          <a:ext cx="11965578" cy="59309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82789">
                  <a:extLst>
                    <a:ext uri="{9D8B030D-6E8A-4147-A177-3AD203B41FA5}">
                      <a16:colId xmlns:a16="http://schemas.microsoft.com/office/drawing/2014/main" val="2211211105"/>
                    </a:ext>
                  </a:extLst>
                </a:gridCol>
                <a:gridCol w="5982789">
                  <a:extLst>
                    <a:ext uri="{9D8B030D-6E8A-4147-A177-3AD203B41FA5}">
                      <a16:colId xmlns:a16="http://schemas.microsoft.com/office/drawing/2014/main" val="135662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solidFill>
                            <a:srgbClr val="C00000"/>
                          </a:solidFill>
                          <a:effectLst/>
                        </a:rPr>
                        <a:t>Clinical situation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solidFill>
                            <a:srgbClr val="C00000"/>
                          </a:solidFill>
                          <a:effectLst/>
                        </a:rPr>
                        <a:t>Most appropriate direction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627047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Healthy patient with prior hysterectomy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Estrogen alone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941578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Intact uterus and appropriate HT candidate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Estrogen plus endometrial protection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593244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Previous breast cancer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Nonhormonal treatment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857786"/>
                  </a:ext>
                </a:extLst>
              </a:tr>
              <a:tr h="490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effectLst/>
                        </a:rPr>
                        <a:t>Tamoxifen treatment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effectLst/>
                        </a:rPr>
                        <a:t>Venlafaxine, gabapentin, or appropriate neurokinin antagonist; avoid paroxetine/fluoxetine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971017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Previous VTE, stroke, or CHD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Generally avoid systemic HT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845486"/>
                  </a:ext>
                </a:extLst>
              </a:tr>
              <a:tr h="490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effectLst/>
                        </a:rPr>
                        <a:t>Hypertriglyceridemia or gallbladder risk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Transdermal rather than oral estrogen if HT remains appropriate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534032"/>
                  </a:ext>
                </a:extLst>
              </a:tr>
              <a:tr h="490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Uncontrolled hypertension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Control BP before systemic HT; use SNRIs cautiously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265473"/>
                  </a:ext>
                </a:extLst>
              </a:tr>
              <a:tr h="490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Liver disease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Avoid systemic HT; assess restrictions for neurokinin antagonists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983679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Severe renal impairment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Renally adjust gabapentin; avoid fezolinetant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069549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High anticholinergic burden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effectLst/>
                        </a:rPr>
                        <a:t>Avoid oxybutynin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33282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effectLst/>
                        </a:rPr>
                        <a:t>Nocturnal VMS with neuropathic pain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effectLst/>
                        </a:rPr>
                        <a:t>Gabapentin may be useful</a:t>
                      </a:r>
                    </a:p>
                  </a:txBody>
                  <a:tcPr marL="79988" marR="79988" marT="53325" marB="533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425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7812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22AC16-BB3E-B7C4-AB94-AA74B7535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E" dirty="0"/>
              <a:t>Questions</a:t>
            </a:r>
            <a:r>
              <a:rPr lang="en-AE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1198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2298</Words>
  <Application>Microsoft Macintosh PowerPoint</Application>
  <PresentationFormat>Widescreen</PresentationFormat>
  <Paragraphs>337</Paragraphs>
  <Slides>42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Helvetica</vt:lpstr>
      <vt:lpstr>Wingdings</vt:lpstr>
      <vt:lpstr>Office Theme</vt:lpstr>
      <vt:lpstr>Menopause</vt:lpstr>
      <vt:lpstr>Session Objectives</vt:lpstr>
      <vt:lpstr>Session Roadmap: Menopausal Pharmacotherapy </vt:lpstr>
      <vt:lpstr>Why Treat? </vt:lpstr>
      <vt:lpstr>Why Not Treat?</vt:lpstr>
      <vt:lpstr>Estrogen and Progestogen in Menopause</vt:lpstr>
      <vt:lpstr>Legend:</vt:lpstr>
      <vt:lpstr> Estrogen </vt:lpstr>
      <vt:lpstr>Progestogen </vt:lpstr>
      <vt:lpstr>Characteristic Estrogen only Estrogen plus progestogen </vt:lpstr>
      <vt:lpstr>Endometrial protection </vt:lpstr>
      <vt:lpstr>Estrogen routes </vt:lpstr>
      <vt:lpstr>Local (Vaginal) Estrogen &amp; Genitourinary Syndrome of Menopause (GSM)</vt:lpstr>
      <vt:lpstr>Transdermal therapy </vt:lpstr>
      <vt:lpstr>Oral and transdermal estrogen </vt:lpstr>
      <vt:lpstr>Modern MHT Dosing Strategy: "Start Low, Titrate Up”</vt:lpstr>
      <vt:lpstr>Modern MHT Dosing Strategy: "Start Low, Titrate Up”- (Continued)</vt:lpstr>
      <vt:lpstr>Contraindications to systemic hormone therapy </vt:lpstr>
      <vt:lpstr>Contraindications to systemic hormone therapy- </vt:lpstr>
      <vt:lpstr>Adverse effects and monitoring </vt:lpstr>
      <vt:lpstr>Adverse effects and monitoring- </vt:lpstr>
      <vt:lpstr>Risks </vt:lpstr>
      <vt:lpstr>What the WHI actually tested </vt:lpstr>
      <vt:lpstr>WHI outcomes in women aged 50–59 </vt:lpstr>
      <vt:lpstr>Risks and Benefits of MHT</vt:lpstr>
      <vt:lpstr>Breast cancer and formulation evidence WHI randomized trial</vt:lpstr>
      <vt:lpstr>E3N observational cohort </vt:lpstr>
      <vt:lpstr>Custom-Compounded Bioidentical Hormone Therapy (cBHT) </vt:lpstr>
      <vt:lpstr>Individual risk stratification </vt:lpstr>
      <vt:lpstr>General principle: </vt:lpstr>
      <vt:lpstr>Special Populations: Primary Ovarian Insufficiency (POI) &amp; Surgical Menopause </vt:lpstr>
      <vt:lpstr>Selective Estrogen Receptor Modulators (SERMs) </vt:lpstr>
      <vt:lpstr>Menopause, MHT, &amp; Bone Health </vt:lpstr>
      <vt:lpstr>Androgen Therapy in Menopausal Pharmacology </vt:lpstr>
      <vt:lpstr>Non-Hormonal Therapies</vt:lpstr>
      <vt:lpstr>SSRIs and SNRIs </vt:lpstr>
      <vt:lpstr>Gabapentin </vt:lpstr>
      <vt:lpstr>Oxybutynin </vt:lpstr>
      <vt:lpstr>Clonidine </vt:lpstr>
      <vt:lpstr>Neurokinin-receptor antagonists </vt:lpstr>
      <vt:lpstr>Comorbidity-based treatment selection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Alefishat, Eman Ahmad Ali</dc:creator>
  <cp:lastModifiedBy>Alefishat, Eman Ahmad Ali</cp:lastModifiedBy>
  <cp:revision>23</cp:revision>
  <dcterms:created xsi:type="dcterms:W3CDTF">2026-09-09T19:17:13Z</dcterms:created>
  <dcterms:modified xsi:type="dcterms:W3CDTF">2026-09-10T19:24:58Z</dcterms:modified>
</cp:coreProperties>
</file>